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58410dbfb564d85" /><Relationship Type="http://schemas.openxmlformats.org/officeDocument/2006/relationships/extended-properties" Target="/docProps/app.xml" Id="R01a4412494ed4fe4" /><Relationship Type="http://schemas.openxmlformats.org/officeDocument/2006/relationships/officeDocument" Target="/ppt/presentation.xml" Id="R43637f5c8b8b4d62" /></Relationships>
</file>

<file path=ppt/presentation.xml><?xml version="1.0" encoding="utf-8"?>
<p:presentation xmlns:p="http://schemas.openxmlformats.org/presentationml/2006/main">
  <p:sldMasterIdLst>
    <p:sldMasterId xmlns:r="http://schemas.openxmlformats.org/officeDocument/2006/relationships" id="2147483648" r:id="Rc6206ce97f044c52"/>
  </p:sldMasterIdLst>
  <p:notesMasterIdLst>
    <p:notesMasterId xmlns:r="http://schemas.openxmlformats.org/officeDocument/2006/relationships" r:id="R29bdb349efd640c8"/>
  </p:notesMasterIdLst>
  <p:sldIdLst>
    <p:sldId xmlns:r="http://schemas.openxmlformats.org/officeDocument/2006/relationships" id="256" r:id="Ra701674095cd415a"/>
    <p:sldId xmlns:r="http://schemas.openxmlformats.org/officeDocument/2006/relationships" id="257" r:id="Rcd934589f4194035"/>
    <p:sldId xmlns:r="http://schemas.openxmlformats.org/officeDocument/2006/relationships" id="258" r:id="R50ce08f3144049e7"/>
    <p:sldId xmlns:r="http://schemas.openxmlformats.org/officeDocument/2006/relationships" id="259" r:id="Reb72344360904799"/>
    <p:sldId xmlns:r="http://schemas.openxmlformats.org/officeDocument/2006/relationships" id="260" r:id="R2a03895fdb5d4575"/>
    <p:sldId xmlns:r="http://schemas.openxmlformats.org/officeDocument/2006/relationships" id="261" r:id="R862e26500d804015"/>
    <p:sldId xmlns:r="http://schemas.openxmlformats.org/officeDocument/2006/relationships" id="262" r:id="R1af4a6e8fa10478e"/>
    <p:sldId xmlns:r="http://schemas.openxmlformats.org/officeDocument/2006/relationships" id="263" r:id="Rc22154e73fa248cf"/>
    <p:sldId xmlns:r="http://schemas.openxmlformats.org/officeDocument/2006/relationships" id="264" r:id="R8514e3913c1643fb"/>
    <p:sldId xmlns:r="http://schemas.openxmlformats.org/officeDocument/2006/relationships" id="265" r:id="Rc9eb05a4c1bb4bdb"/>
    <p:sldId xmlns:r="http://schemas.openxmlformats.org/officeDocument/2006/relationships" id="266" r:id="Rae2ee54bf4ed491c"/>
    <p:sldId xmlns:r="http://schemas.openxmlformats.org/officeDocument/2006/relationships" id="267" r:id="R08bcb057b6744dea"/>
    <p:sldId xmlns:r="http://schemas.openxmlformats.org/officeDocument/2006/relationships" id="268" r:id="R94afbe5744434c79"/>
    <p:sldId xmlns:r="http://schemas.openxmlformats.org/officeDocument/2006/relationships" id="269" r:id="R74563481f838454d"/>
    <p:sldId xmlns:r="http://schemas.openxmlformats.org/officeDocument/2006/relationships" id="270" r:id="Rf5455837157349cd"/>
    <p:sldId xmlns:r="http://schemas.openxmlformats.org/officeDocument/2006/relationships" id="271" r:id="R7e3d2cc98e114c88"/>
    <p:sldId xmlns:r="http://schemas.openxmlformats.org/officeDocument/2006/relationships" id="272" r:id="Rf807da62de7a4568"/>
    <p:sldId xmlns:r="http://schemas.openxmlformats.org/officeDocument/2006/relationships" id="273" r:id="R4a22b8e586f7432c"/>
    <p:sldId xmlns:r="http://schemas.openxmlformats.org/officeDocument/2006/relationships" id="274" r:id="R2bd21add4591450a"/>
    <p:sldId xmlns:r="http://schemas.openxmlformats.org/officeDocument/2006/relationships" id="275" r:id="R26b2a5e71a3249d4"/>
    <p:sldId xmlns:r="http://schemas.openxmlformats.org/officeDocument/2006/relationships" id="276" r:id="R5da41224243d478f"/>
    <p:sldId xmlns:r="http://schemas.openxmlformats.org/officeDocument/2006/relationships" id="277" r:id="Rf7236ac1858a434c"/>
    <p:sldId xmlns:r="http://schemas.openxmlformats.org/officeDocument/2006/relationships" id="278" r:id="Rdcc110ec9a3f4502"/>
    <p:sldId xmlns:r="http://schemas.openxmlformats.org/officeDocument/2006/relationships" id="279" r:id="Red3c168a67da484e"/>
    <p:sldId xmlns:r="http://schemas.openxmlformats.org/officeDocument/2006/relationships" id="280" r:id="Re6a178ff928c48eb"/>
    <p:sldId xmlns:r="http://schemas.openxmlformats.org/officeDocument/2006/relationships" id="281" r:id="Rd917b71facf5440a"/>
    <p:sldId xmlns:r="http://schemas.openxmlformats.org/officeDocument/2006/relationships" id="282" r:id="R6cbc3f91751b4d15"/>
    <p:sldId xmlns:r="http://schemas.openxmlformats.org/officeDocument/2006/relationships" id="283" r:id="R35b74b0ce4fa4255"/>
    <p:sldId xmlns:r="http://schemas.openxmlformats.org/officeDocument/2006/relationships" id="284" r:id="R7e1447352efc41e9"/>
    <p:sldId xmlns:r="http://schemas.openxmlformats.org/officeDocument/2006/relationships" id="285" r:id="Rcb427b20b6394bf2"/>
    <p:sldId xmlns:r="http://schemas.openxmlformats.org/officeDocument/2006/relationships" id="286" r:id="R8780df1bfeb34991"/>
    <p:sldId xmlns:r="http://schemas.openxmlformats.org/officeDocument/2006/relationships" id="287" r:id="R8738313cacb74776"/>
    <p:sldId xmlns:r="http://schemas.openxmlformats.org/officeDocument/2006/relationships" id="288" r:id="R42b6efb7405e43aa"/>
    <p:sldId xmlns:r="http://schemas.openxmlformats.org/officeDocument/2006/relationships" id="289" r:id="R0cc0eb9b291c4a47"/>
    <p:sldId xmlns:r="http://schemas.openxmlformats.org/officeDocument/2006/relationships" id="290" r:id="R69c15a8352b24519"/>
    <p:sldId xmlns:r="http://schemas.openxmlformats.org/officeDocument/2006/relationships" id="291" r:id="R71d8499448774417"/>
    <p:sldId xmlns:r="http://schemas.openxmlformats.org/officeDocument/2006/relationships" id="292" r:id="R555de88e4e014e9b"/>
    <p:sldId xmlns:r="http://schemas.openxmlformats.org/officeDocument/2006/relationships" id="293" r:id="R96c1fd5338764d6c"/>
    <p:sldId xmlns:r="http://schemas.openxmlformats.org/officeDocument/2006/relationships" id="294" r:id="R8f76a98fb1c641e7"/>
    <p:sldId xmlns:r="http://schemas.openxmlformats.org/officeDocument/2006/relationships" id="295" r:id="R852f924bfab549e6"/>
    <p:sldId xmlns:r="http://schemas.openxmlformats.org/officeDocument/2006/relationships" id="296" r:id="R15e0dad710204439"/>
    <p:sldId xmlns:r="http://schemas.openxmlformats.org/officeDocument/2006/relationships" id="297" r:id="R0804160ecf354e11"/>
    <p:sldId xmlns:r="http://schemas.openxmlformats.org/officeDocument/2006/relationships" id="298" r:id="Rb4ad416b47594f63"/>
    <p:sldId xmlns:r="http://schemas.openxmlformats.org/officeDocument/2006/relationships" id="299" r:id="R72352a7a82904ecb"/>
    <p:sldId xmlns:r="http://schemas.openxmlformats.org/officeDocument/2006/relationships" id="300" r:id="Rd8361e4e1d114bf4"/>
    <p:sldId xmlns:r="http://schemas.openxmlformats.org/officeDocument/2006/relationships" id="301" r:id="R679f0c8db46c42d4"/>
    <p:sldId xmlns:r="http://schemas.openxmlformats.org/officeDocument/2006/relationships" id="302" r:id="R243478962f3f4814"/>
    <p:sldId xmlns:r="http://schemas.openxmlformats.org/officeDocument/2006/relationships" id="303" r:id="Rea4bd44a3d654ffc"/>
    <p:sldId xmlns:r="http://schemas.openxmlformats.org/officeDocument/2006/relationships" id="304" r:id="R2960aa780f1943c1"/>
    <p:sldId xmlns:r="http://schemas.openxmlformats.org/officeDocument/2006/relationships" id="305" r:id="R172cbbf5e8504207"/>
    <p:sldId xmlns:r="http://schemas.openxmlformats.org/officeDocument/2006/relationships" id="306" r:id="R1e8b0dbf9f52456b"/>
    <p:sldId xmlns:r="http://schemas.openxmlformats.org/officeDocument/2006/relationships" id="307" r:id="Ra3ca0360fdaf4c73"/>
    <p:sldId xmlns:r="http://schemas.openxmlformats.org/officeDocument/2006/relationships" id="308" r:id="R8dfae93f5c0e4897"/>
    <p:sldId xmlns:r="http://schemas.openxmlformats.org/officeDocument/2006/relationships" id="309" r:id="R427e478b5d2543aa"/>
    <p:sldId xmlns:r="http://schemas.openxmlformats.org/officeDocument/2006/relationships" id="310" r:id="Rbd3c9a94c8e34ab6"/>
    <p:sldId xmlns:r="http://schemas.openxmlformats.org/officeDocument/2006/relationships" id="311" r:id="R79c84094f1d34496"/>
    <p:sldId xmlns:r="http://schemas.openxmlformats.org/officeDocument/2006/relationships" id="312" r:id="R4c19f2e5d4b342b2"/>
    <p:sldId xmlns:r="http://schemas.openxmlformats.org/officeDocument/2006/relationships" id="313" r:id="R56386975456c42e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c4bdcd49a5646eb" /><Relationship Type="http://schemas.openxmlformats.org/officeDocument/2006/relationships/slideMaster" Target="/ppt/slideMasters/slideMaster1.xml" Id="Rc6206ce97f044c52" /><Relationship Type="http://schemas.openxmlformats.org/officeDocument/2006/relationships/notesMaster" Target="/ppt/notesMasters/notesMaster1.xml" Id="R29bdb349efd640c8" /><Relationship Type="http://schemas.openxmlformats.org/officeDocument/2006/relationships/presProps" Target="/ppt/presProps.xml" Id="R89fc6a445fa74df2" /><Relationship Type="http://schemas.openxmlformats.org/officeDocument/2006/relationships/tableStyles" Target="/ppt/tableStyles.xml" Id="R3ed3730e3ea44c7e" /><Relationship Type="http://schemas.openxmlformats.org/officeDocument/2006/relationships/slide" Target="/ppt/slides/slide1.xml" Id="Ra701674095cd415a" /><Relationship Type="http://schemas.openxmlformats.org/officeDocument/2006/relationships/slide" Target="/ppt/slides/slide2.xml" Id="Rcd934589f4194035" /><Relationship Type="http://schemas.openxmlformats.org/officeDocument/2006/relationships/slide" Target="/ppt/slides/slide3.xml" Id="R50ce08f3144049e7" /><Relationship Type="http://schemas.openxmlformats.org/officeDocument/2006/relationships/slide" Target="/ppt/slides/slide4.xml" Id="Reb72344360904799" /><Relationship Type="http://schemas.openxmlformats.org/officeDocument/2006/relationships/slide" Target="/ppt/slides/slide5.xml" Id="R2a03895fdb5d4575" /><Relationship Type="http://schemas.openxmlformats.org/officeDocument/2006/relationships/slide" Target="/ppt/slides/slide6.xml" Id="R862e26500d804015" /><Relationship Type="http://schemas.openxmlformats.org/officeDocument/2006/relationships/slide" Target="/ppt/slides/slide7.xml" Id="R1af4a6e8fa10478e" /><Relationship Type="http://schemas.openxmlformats.org/officeDocument/2006/relationships/slide" Target="/ppt/slides/slide8.xml" Id="Rc22154e73fa248cf" /><Relationship Type="http://schemas.openxmlformats.org/officeDocument/2006/relationships/slide" Target="/ppt/slides/slide9.xml" Id="R8514e3913c1643fb" /><Relationship Type="http://schemas.openxmlformats.org/officeDocument/2006/relationships/slide" Target="/ppt/slides/slide10.xml" Id="Rc9eb05a4c1bb4bdb" /><Relationship Type="http://schemas.openxmlformats.org/officeDocument/2006/relationships/slide" Target="/ppt/slides/slide11.xml" Id="Rae2ee54bf4ed491c" /><Relationship Type="http://schemas.openxmlformats.org/officeDocument/2006/relationships/slide" Target="/ppt/slides/slide12.xml" Id="R08bcb057b6744dea" /><Relationship Type="http://schemas.openxmlformats.org/officeDocument/2006/relationships/slide" Target="/ppt/slides/slide13.xml" Id="R94afbe5744434c79" /><Relationship Type="http://schemas.openxmlformats.org/officeDocument/2006/relationships/slide" Target="/ppt/slides/slide14.xml" Id="R74563481f838454d" /><Relationship Type="http://schemas.openxmlformats.org/officeDocument/2006/relationships/slide" Target="/ppt/slides/slide15.xml" Id="Rf5455837157349cd" /><Relationship Type="http://schemas.openxmlformats.org/officeDocument/2006/relationships/slide" Target="/ppt/slides/slide16.xml" Id="R7e3d2cc98e114c88" /><Relationship Type="http://schemas.openxmlformats.org/officeDocument/2006/relationships/slide" Target="/ppt/slides/slide17.xml" Id="Rf807da62de7a4568" /><Relationship Type="http://schemas.openxmlformats.org/officeDocument/2006/relationships/slide" Target="/ppt/slides/slide18.xml" Id="R4a22b8e586f7432c" /><Relationship Type="http://schemas.openxmlformats.org/officeDocument/2006/relationships/slide" Target="/ppt/slides/slide19.xml" Id="R2bd21add4591450a" /><Relationship Type="http://schemas.openxmlformats.org/officeDocument/2006/relationships/slide" Target="/ppt/slides/slide20.xml" Id="R26b2a5e71a3249d4" /><Relationship Type="http://schemas.openxmlformats.org/officeDocument/2006/relationships/slide" Target="/ppt/slides/slide21.xml" Id="R5da41224243d478f" /><Relationship Type="http://schemas.openxmlformats.org/officeDocument/2006/relationships/slide" Target="/ppt/slides/slide22.xml" Id="Rf7236ac1858a434c" /><Relationship Type="http://schemas.openxmlformats.org/officeDocument/2006/relationships/slide" Target="/ppt/slides/slide23.xml" Id="Rdcc110ec9a3f4502" /><Relationship Type="http://schemas.openxmlformats.org/officeDocument/2006/relationships/slide" Target="/ppt/slides/slide24.xml" Id="Red3c168a67da484e" /><Relationship Type="http://schemas.openxmlformats.org/officeDocument/2006/relationships/slide" Target="/ppt/slides/slide25.xml" Id="Re6a178ff928c48eb" /><Relationship Type="http://schemas.openxmlformats.org/officeDocument/2006/relationships/slide" Target="/ppt/slides/slide26.xml" Id="Rd917b71facf5440a" /><Relationship Type="http://schemas.openxmlformats.org/officeDocument/2006/relationships/slide" Target="/ppt/slides/slide27.xml" Id="R6cbc3f91751b4d15" /><Relationship Type="http://schemas.openxmlformats.org/officeDocument/2006/relationships/slide" Target="/ppt/slides/slide28.xml" Id="R35b74b0ce4fa4255" /><Relationship Type="http://schemas.openxmlformats.org/officeDocument/2006/relationships/slide" Target="/ppt/slides/slide29.xml" Id="R7e1447352efc41e9" /><Relationship Type="http://schemas.openxmlformats.org/officeDocument/2006/relationships/slide" Target="/ppt/slides/slide30.xml" Id="Rcb427b20b6394bf2" /><Relationship Type="http://schemas.openxmlformats.org/officeDocument/2006/relationships/slide" Target="/ppt/slides/slide31.xml" Id="R8780df1bfeb34991" /><Relationship Type="http://schemas.openxmlformats.org/officeDocument/2006/relationships/slide" Target="/ppt/slides/slide32.xml" Id="R8738313cacb74776" /><Relationship Type="http://schemas.openxmlformats.org/officeDocument/2006/relationships/slide" Target="/ppt/slides/slide33.xml" Id="R42b6efb7405e43aa" /><Relationship Type="http://schemas.openxmlformats.org/officeDocument/2006/relationships/slide" Target="/ppt/slides/slide34.xml" Id="R0cc0eb9b291c4a47" /><Relationship Type="http://schemas.openxmlformats.org/officeDocument/2006/relationships/slide" Target="/ppt/slides/slide35.xml" Id="R69c15a8352b24519" /><Relationship Type="http://schemas.openxmlformats.org/officeDocument/2006/relationships/slide" Target="/ppt/slides/slide36.xml" Id="R71d8499448774417" /><Relationship Type="http://schemas.openxmlformats.org/officeDocument/2006/relationships/slide" Target="/ppt/slides/slide37.xml" Id="R555de88e4e014e9b" /><Relationship Type="http://schemas.openxmlformats.org/officeDocument/2006/relationships/slide" Target="/ppt/slides/slide38.xml" Id="R96c1fd5338764d6c" /><Relationship Type="http://schemas.openxmlformats.org/officeDocument/2006/relationships/slide" Target="/ppt/slides/slide39.xml" Id="R8f76a98fb1c641e7" /><Relationship Type="http://schemas.openxmlformats.org/officeDocument/2006/relationships/slide" Target="/ppt/slides/slide40.xml" Id="R852f924bfab549e6" /><Relationship Type="http://schemas.openxmlformats.org/officeDocument/2006/relationships/slide" Target="/ppt/slides/slide41.xml" Id="R15e0dad710204439" /><Relationship Type="http://schemas.openxmlformats.org/officeDocument/2006/relationships/slide" Target="/ppt/slides/slide42.xml" Id="R0804160ecf354e11" /><Relationship Type="http://schemas.openxmlformats.org/officeDocument/2006/relationships/slide" Target="/ppt/slides/slide43.xml" Id="Rb4ad416b47594f63" /><Relationship Type="http://schemas.openxmlformats.org/officeDocument/2006/relationships/slide" Target="/ppt/slides/slide44.xml" Id="R72352a7a82904ecb" /><Relationship Type="http://schemas.openxmlformats.org/officeDocument/2006/relationships/slide" Target="/ppt/slides/slide45.xml" Id="Rd8361e4e1d114bf4" /><Relationship Type="http://schemas.openxmlformats.org/officeDocument/2006/relationships/slide" Target="/ppt/slides/slide46.xml" Id="R679f0c8db46c42d4" /><Relationship Type="http://schemas.openxmlformats.org/officeDocument/2006/relationships/slide" Target="/ppt/slides/slide47.xml" Id="R243478962f3f4814" /><Relationship Type="http://schemas.openxmlformats.org/officeDocument/2006/relationships/slide" Target="/ppt/slides/slide48.xml" Id="Rea4bd44a3d654ffc" /><Relationship Type="http://schemas.openxmlformats.org/officeDocument/2006/relationships/slide" Target="/ppt/slides/slide49.xml" Id="R2960aa780f1943c1" /><Relationship Type="http://schemas.openxmlformats.org/officeDocument/2006/relationships/slide" Target="/ppt/slides/slide50.xml" Id="R172cbbf5e8504207" /><Relationship Type="http://schemas.openxmlformats.org/officeDocument/2006/relationships/slide" Target="/ppt/slides/slide51.xml" Id="R1e8b0dbf9f52456b" /><Relationship Type="http://schemas.openxmlformats.org/officeDocument/2006/relationships/slide" Target="/ppt/slides/slide52.xml" Id="Ra3ca0360fdaf4c73" /><Relationship Type="http://schemas.openxmlformats.org/officeDocument/2006/relationships/slide" Target="/ppt/slides/slide53.xml" Id="R8dfae93f5c0e4897" /><Relationship Type="http://schemas.openxmlformats.org/officeDocument/2006/relationships/slide" Target="/ppt/slides/slide54.xml" Id="R427e478b5d2543aa" /><Relationship Type="http://schemas.openxmlformats.org/officeDocument/2006/relationships/slide" Target="/ppt/slides/slide55.xml" Id="Rbd3c9a94c8e34ab6" /><Relationship Type="http://schemas.openxmlformats.org/officeDocument/2006/relationships/slide" Target="/ppt/slides/slide56.xml" Id="R79c84094f1d34496" /><Relationship Type="http://schemas.openxmlformats.org/officeDocument/2006/relationships/slide" Target="/ppt/slides/slide57.xml" Id="R4c19f2e5d4b342b2" /><Relationship Type="http://schemas.openxmlformats.org/officeDocument/2006/relationships/slide" Target="/ppt/slides/slide58.xml" Id="R56386975456c42e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61d3e94494649d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74a2db477ae4920" /><Relationship Type="http://schemas.openxmlformats.org/officeDocument/2006/relationships/notesMaster" Target="/ppt/notesMasters/notesMaster1.xml" Id="R1d30c4631c9f4f64" /></Relationships>
</file>

<file path=ppt/notesSlides/_rels/notesSlide2.xml.rels>&#65279;<?xml version="1.0" encoding="utf-8"?><Relationships xmlns="http://schemas.openxmlformats.org/package/2006/relationships"><Relationship Type="http://schemas.openxmlformats.org/officeDocument/2006/relationships/slide" Target="/ppt/slides/slide2.xml" Id="Re8a3d95b7d624a2f" /><Relationship Type="http://schemas.openxmlformats.org/officeDocument/2006/relationships/notesMaster" Target="/ppt/notesMasters/notesMaster1.xml" Id="Rf2b9a1fb63f8464d" /></Relationships>
</file>

<file path=ppt/notesSlides/_rels/notesSlide3.xml.rels>&#65279;<?xml version="1.0" encoding="utf-8"?><Relationships xmlns="http://schemas.openxmlformats.org/package/2006/relationships"><Relationship Type="http://schemas.openxmlformats.org/officeDocument/2006/relationships/slide" Target="/ppt/slides/slide3.xml" Id="Rb2511bdda6cc48f8" /><Relationship Type="http://schemas.openxmlformats.org/officeDocument/2006/relationships/notesMaster" Target="/ppt/notesMasters/notesMaster1.xml" Id="R5f18cae4cf544124" /></Relationships>
</file>

<file path=ppt/notesSlides/_rels/notesSlide4.xml.rels>&#65279;<?xml version="1.0" encoding="utf-8"?><Relationships xmlns="http://schemas.openxmlformats.org/package/2006/relationships"><Relationship Type="http://schemas.openxmlformats.org/officeDocument/2006/relationships/slide" Target="/ppt/slides/slide4.xml" Id="R41acfac917534481" /><Relationship Type="http://schemas.openxmlformats.org/officeDocument/2006/relationships/notesMaster" Target="/ppt/notesMasters/notesMaster1.xml" Id="Ra74f575736924a62" /></Relationships>
</file>

<file path=ppt/notesSlides/_rels/notesSlide5.xml.rels>&#65279;<?xml version="1.0" encoding="utf-8"?><Relationships xmlns="http://schemas.openxmlformats.org/package/2006/relationships"><Relationship Type="http://schemas.openxmlformats.org/officeDocument/2006/relationships/slide" Target="/ppt/slides/slide5.xml" Id="R5382e1b1c74c46f2" /><Relationship Type="http://schemas.openxmlformats.org/officeDocument/2006/relationships/notesMaster" Target="/ppt/notesMasters/notesMaster1.xml" Id="R939baaa026dc4b2f" /></Relationships>
</file>

<file path=ppt/notesSlides/_rels/notesSlide6.xml.rels>&#65279;<?xml version="1.0" encoding="utf-8"?><Relationships xmlns="http://schemas.openxmlformats.org/package/2006/relationships"><Relationship Type="http://schemas.openxmlformats.org/officeDocument/2006/relationships/slide" Target="/ppt/slides/slide6.xml" Id="Rdf121da06fcd4ef7" /><Relationship Type="http://schemas.openxmlformats.org/officeDocument/2006/relationships/notesMaster" Target="/ppt/notesMasters/notesMaster1.xml" Id="R58a64ab2095b41cd" /></Relationships>
</file>

<file path=ppt/notesSlides/_rels/notesSlide7.xml.rels>&#65279;<?xml version="1.0" encoding="utf-8"?><Relationships xmlns="http://schemas.openxmlformats.org/package/2006/relationships"><Relationship Type="http://schemas.openxmlformats.org/officeDocument/2006/relationships/slide" Target="/ppt/slides/slide7.xml" Id="Rdaf881481f7c4169" /><Relationship Type="http://schemas.openxmlformats.org/officeDocument/2006/relationships/notesMaster" Target="/ppt/notesMasters/notesMaster1.xml" Id="R08ed0965c3bc4358" /></Relationships>
</file>

<file path=ppt/notesSlides/_rels/notesSlide8.xml.rels>&#65279;<?xml version="1.0" encoding="utf-8"?><Relationships xmlns="http://schemas.openxmlformats.org/package/2006/relationships"><Relationship Type="http://schemas.openxmlformats.org/officeDocument/2006/relationships/slide" Target="/ppt/slides/slide8.xml" Id="Rb3999c6115dd4daa" /><Relationship Type="http://schemas.openxmlformats.org/officeDocument/2006/relationships/notesMaster" Target="/ppt/notesMasters/notesMaster1.xml" Id="Re010a10cce8e452b" /></Relationships>
</file>

<file path=ppt/notesSlides/_rels/notesSlide9.xml.rels>&#65279;<?xml version="1.0" encoding="utf-8"?><Relationships xmlns="http://schemas.openxmlformats.org/package/2006/relationships"><Relationship Type="http://schemas.openxmlformats.org/officeDocument/2006/relationships/slide" Target="/ppt/slides/slide9.xml" Id="R9237bc74be1840d8" /><Relationship Type="http://schemas.openxmlformats.org/officeDocument/2006/relationships/notesMaster" Target="/ppt/notesMasters/notesMaster1.xml" Id="R36fb9aabc7b7468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5d0641042a3462b" /><Relationship Type="http://schemas.openxmlformats.org/officeDocument/2006/relationships/notesMaster" Target="/ppt/notesMasters/notesMaster1.xml" Id="R08c670e832994e4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7a42e9ea9c14f70" /><Relationship Type="http://schemas.openxmlformats.org/officeDocument/2006/relationships/notesMaster" Target="/ppt/notesMasters/notesMaster1.xml" Id="R01714c554af14ec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63880fb0dbf4edc" /><Relationship Type="http://schemas.openxmlformats.org/officeDocument/2006/relationships/notesMaster" Target="/ppt/notesMasters/notesMaster1.xml" Id="R0f34d2d515e246f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b640c080bcf491e" /><Relationship Type="http://schemas.openxmlformats.org/officeDocument/2006/relationships/notesMaster" Target="/ppt/notesMasters/notesMaster1.xml" Id="R23f029be62c04ae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3dcf750c4f04ae4" /><Relationship Type="http://schemas.openxmlformats.org/officeDocument/2006/relationships/notesMaster" Target="/ppt/notesMasters/notesMaster1.xml" Id="Rd0497ac1ed354e6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0e6a0abd50c4698" /><Relationship Type="http://schemas.openxmlformats.org/officeDocument/2006/relationships/notesMaster" Target="/ppt/notesMasters/notesMaster1.xml" Id="R1d31e4862ff747f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c40932811b249d4" /><Relationship Type="http://schemas.openxmlformats.org/officeDocument/2006/relationships/notesMaster" Target="/ppt/notesMasters/notesMaster1.xml" Id="R5da75c4143ad441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64d667908f847e5" /><Relationship Type="http://schemas.openxmlformats.org/officeDocument/2006/relationships/notesMaster" Target="/ppt/notesMasters/notesMaster1.xml" Id="R7b5a49d5c3314d3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e866f5ae7d747bd" /><Relationship Type="http://schemas.openxmlformats.org/officeDocument/2006/relationships/notesMaster" Target="/ppt/notesMasters/notesMaster1.xml" Id="R1986de9c6c3d40e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1e2040838164044" /><Relationship Type="http://schemas.openxmlformats.org/officeDocument/2006/relationships/notesMaster" Target="/ppt/notesMasters/notesMaster1.xml" Id="R55b5bf441e21407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2b431626b8542fb" /><Relationship Type="http://schemas.openxmlformats.org/officeDocument/2006/relationships/notesMaster" Target="/ppt/notesMasters/notesMaster1.xml" Id="R58261f797ff54d7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193daf7f4a14fc8" /><Relationship Type="http://schemas.openxmlformats.org/officeDocument/2006/relationships/notesMaster" Target="/ppt/notesMasters/notesMaster1.xml" Id="R80e8ef165c804e4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56a16c731994715" /><Relationship Type="http://schemas.openxmlformats.org/officeDocument/2006/relationships/notesMaster" Target="/ppt/notesMasters/notesMaster1.xml" Id="R8112fd0c668d4ba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cf298a74b31400a" /><Relationship Type="http://schemas.openxmlformats.org/officeDocument/2006/relationships/notesMaster" Target="/ppt/notesMasters/notesMaster1.xml" Id="R31b8b3d5f44548d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2ce029db4174e7f" /><Relationship Type="http://schemas.openxmlformats.org/officeDocument/2006/relationships/notesMaster" Target="/ppt/notesMasters/notesMaster1.xml" Id="R7f62ddd944734ff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49ef8e18b394292" /><Relationship Type="http://schemas.openxmlformats.org/officeDocument/2006/relationships/notesMaster" Target="/ppt/notesMasters/notesMaster1.xml" Id="R29721d09737642b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4ccb9952430e49d3" /><Relationship Type="http://schemas.openxmlformats.org/officeDocument/2006/relationships/notesMaster" Target="/ppt/notesMasters/notesMaster1.xml" Id="R4e386c0883c74b5d"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7084084bcb914faa" /><Relationship Type="http://schemas.openxmlformats.org/officeDocument/2006/relationships/notesMaster" Target="/ppt/notesMasters/notesMaster1.xml" Id="R25752081801a47e2"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bc5fb4df79754685" /><Relationship Type="http://schemas.openxmlformats.org/officeDocument/2006/relationships/notesMaster" Target="/ppt/notesMasters/notesMaster1.xml" Id="Re637580abdc244c2"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a27385f757214cea" /><Relationship Type="http://schemas.openxmlformats.org/officeDocument/2006/relationships/notesMaster" Target="/ppt/notesMasters/notesMaster1.xml" Id="Raabc44a0c14840a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e92b82f0962847c1" /><Relationship Type="http://schemas.openxmlformats.org/officeDocument/2006/relationships/notesMaster" Target="/ppt/notesMasters/notesMaster1.xml" Id="Rfe1e8d2a8e824e89"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75fee59c6c7d413f" /><Relationship Type="http://schemas.openxmlformats.org/officeDocument/2006/relationships/notesMaster" Target="/ppt/notesMasters/notesMaster1.xml" Id="Rc771ded71e924300"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0bb1580d9b634350" /><Relationship Type="http://schemas.openxmlformats.org/officeDocument/2006/relationships/notesMaster" Target="/ppt/notesMasters/notesMaster1.xml" Id="Rc7b4d77c50404d74"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1bfe888e25c8485c" /><Relationship Type="http://schemas.openxmlformats.org/officeDocument/2006/relationships/notesMaster" Target="/ppt/notesMasters/notesMaster1.xml" Id="R90bc2fa15cac46e5"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91758368fbbc4c96" /><Relationship Type="http://schemas.openxmlformats.org/officeDocument/2006/relationships/notesMaster" Target="/ppt/notesMasters/notesMaster1.xml" Id="Rad17387ff7c44084"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328e2a38a65840c6" /><Relationship Type="http://schemas.openxmlformats.org/officeDocument/2006/relationships/notesMaster" Target="/ppt/notesMasters/notesMaster1.xml" Id="R45d5ac26925d434c"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394395d733334129" /><Relationship Type="http://schemas.openxmlformats.org/officeDocument/2006/relationships/notesMaster" Target="/ppt/notesMasters/notesMaster1.xml" Id="R80cfb95106544eff"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32396e341ffc4d52" /><Relationship Type="http://schemas.openxmlformats.org/officeDocument/2006/relationships/notesMaster" Target="/ppt/notesMasters/notesMaster1.xml" Id="Rffde0ef69f4c45ec"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b73116287b764f88" /><Relationship Type="http://schemas.openxmlformats.org/officeDocument/2006/relationships/notesMaster" Target="/ppt/notesMasters/notesMaster1.xml" Id="R723a235302324148"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99729e6b5e8b46e6" /><Relationship Type="http://schemas.openxmlformats.org/officeDocument/2006/relationships/notesMaster" Target="/ppt/notesMasters/notesMaster1.xml" Id="R7e409e0efd4f4649"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3f7d589b657e4fe5" /><Relationship Type="http://schemas.openxmlformats.org/officeDocument/2006/relationships/notesMaster" Target="/ppt/notesMasters/notesMaster1.xml" Id="R7aaeebc1f80c496b"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00cf2942dc274fe3" /><Relationship Type="http://schemas.openxmlformats.org/officeDocument/2006/relationships/notesMaster" Target="/ppt/notesMasters/notesMaster1.xml" Id="R90bc408cd5084bd6"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5ad26e420a384c10" /><Relationship Type="http://schemas.openxmlformats.org/officeDocument/2006/relationships/notesMaster" Target="/ppt/notesMasters/notesMaster1.xml" Id="Rc47b4ae7936a4b10"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900cdf6b46504a12" /><Relationship Type="http://schemas.openxmlformats.org/officeDocument/2006/relationships/notesMaster" Target="/ppt/notesMasters/notesMaster1.xml" Id="R5c345beeb4ad40d0"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573e5b41e9ba47be" /><Relationship Type="http://schemas.openxmlformats.org/officeDocument/2006/relationships/notesMaster" Target="/ppt/notesMasters/notesMaster1.xml" Id="R4e4354c6546a4461"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77d1f56c15df4d92" /><Relationship Type="http://schemas.openxmlformats.org/officeDocument/2006/relationships/notesMaster" Target="/ppt/notesMasters/notesMaster1.xml" Id="R9cf56587b3d149e6"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31bdd39782de4510" /><Relationship Type="http://schemas.openxmlformats.org/officeDocument/2006/relationships/notesMaster" Target="/ppt/notesMasters/notesMaster1.xml" Id="R9ae9f2368b6a4fc9"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e8bdb085f5514df4" /><Relationship Type="http://schemas.openxmlformats.org/officeDocument/2006/relationships/notesMaster" Target="/ppt/notesMasters/notesMaster1.xml" Id="Rba2081f25ea8478e"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6d279dd4f87a42e7" /><Relationship Type="http://schemas.openxmlformats.org/officeDocument/2006/relationships/notesMaster" Target="/ppt/notesMasters/notesMaster1.xml" Id="Rffd2483dc76b4c50"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13686f54ef0542f5" /><Relationship Type="http://schemas.openxmlformats.org/officeDocument/2006/relationships/notesMaster" Target="/ppt/notesMasters/notesMaster1.xml" Id="Rdc0fa9e5b9d14f0c"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6eca44e8cd924c5c" /><Relationship Type="http://schemas.openxmlformats.org/officeDocument/2006/relationships/notesMaster" Target="/ppt/notesMasters/notesMaster1.xml" Id="Rcddd4bcc0beb45bd"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dd3bd5865bf14d26" /><Relationship Type="http://schemas.openxmlformats.org/officeDocument/2006/relationships/notesMaster" Target="/ppt/notesMasters/notesMaster1.xml" Id="Rb905948203a745e6"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c858379083a1421b" /><Relationship Type="http://schemas.openxmlformats.org/officeDocument/2006/relationships/notesMaster" Target="/ppt/notesMasters/notesMaster1.xml" Id="R01470bee9f314428"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090d1b6850c94bc3" /><Relationship Type="http://schemas.openxmlformats.org/officeDocument/2006/relationships/notesMaster" Target="/ppt/notesMasters/notesMaster1.xml" Id="R321ad5abb1f243ee"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eb8a0b4da0d242b7" /><Relationship Type="http://schemas.openxmlformats.org/officeDocument/2006/relationships/notesMaster" Target="/ppt/notesMasters/notesMaster1.xml" Id="R706874824ec9438a"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5784b7d80533490f" /><Relationship Type="http://schemas.openxmlformats.org/officeDocument/2006/relationships/notesMaster" Target="/ppt/notesMasters/notesMaster1.xml" Id="R9bb550ea2abf44fd"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2f50717524b14e80" /><Relationship Type="http://schemas.openxmlformats.org/officeDocument/2006/relationships/notesMaster" Target="/ppt/notesMasters/notesMaster1.xml" Id="Re7114d7a35534c86"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7f4f6c16bd1749da" /><Relationship Type="http://schemas.openxmlformats.org/officeDocument/2006/relationships/notesMaster" Target="/ppt/notesMasters/notesMaster1.xml" Id="Rd76a65b8e46a458a"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e98a836cd7af4da5" /><Relationship Type="http://schemas.openxmlformats.org/officeDocument/2006/relationships/notesMaster" Target="/ppt/notesMasters/notesMaster1.xml" Id="R57ba56a843ea483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1. 교직원 AI 업무 실습</a:t>
            </a:r>
          </a:p>
          <a:p xmlns:a="http://schemas.openxmlformats.org/drawingml/2006/main">
            <a:r>
              <a:t/>
            </a:r>
          </a:p>
          <a:p xmlns:a="http://schemas.openxmlformats.org/drawingml/2006/main">
            <a:r>
              <a:t>시간: 시작 후 0–1분, 1분 진행.</a:t>
            </a:r>
          </a:p>
          <a:p xmlns:a="http://schemas.openxmlformats.org/drawingml/2006/main">
            <a:r>
              <a:t/>
            </a:r>
          </a:p>
          <a:p xmlns:a="http://schemas.openxmlformats.org/drawingml/2006/main">
            <a:r>
              <a:t>말할 내용: 오늘은 기능 설명을 듣는 데서 끝내지 않고, 긴 업무 자료에서 필요한 내용을 골라 산출물을 만듭니다. 웹 강의의 질문과 원문을 사용하므로 화면을 그대로 받아 적을 필요가 없습니다.</a:t>
            </a:r>
          </a:p>
          <a:p xmlns:a="http://schemas.openxmlformats.org/drawingml/2006/main">
            <a:r>
              <a:t/>
            </a:r>
          </a:p>
          <a:p xmlns:a="http://schemas.openxmlformats.org/drawingml/2006/main">
            <a:r>
              <a:t>참가자에게 할 질문: 최근 가장 자주 작성한 문서는 무엇인가요?</a:t>
            </a:r>
          </a:p>
          <a:p xmlns:a="http://schemas.openxmlformats.org/drawingml/2006/main">
            <a:r>
              <a:t/>
            </a:r>
          </a:p>
          <a:p xmlns:a="http://schemas.openxmlformats.org/drawingml/2006/main">
            <a:r>
              <a:t>예상 오류와 대응: 수업용 가상 기관의 규칙을 실제 소속 기관의 규칙과 혼동하지 않도록 시작 때 분명히 설명합니다.</a:t>
            </a:r>
          </a:p>
          <a:p xmlns:a="http://schemas.openxmlformats.org/drawingml/2006/main">
            <a:r>
              <a:t/>
            </a:r>
          </a:p>
          <a:p xmlns:a="http://schemas.openxmlformats.org/drawingml/2006/main">
            <a:r>
              <a:t>수업 링크: https://zeusk302-png.github.io/gyeongnam-ai-workshop/#orientation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2. 강사 김세영</a:t>
            </a:r>
          </a:p>
          <a:p xmlns:a="http://schemas.openxmlformats.org/drawingml/2006/main">
            <a:r>
              <a:t/>
            </a:r>
          </a:p>
          <a:p xmlns:a="http://schemas.openxmlformats.org/drawingml/2006/main">
            <a:r>
              <a:t>시간: 시작 후 1–3분, 2분 진행.</a:t>
            </a:r>
          </a:p>
          <a:p xmlns:a="http://schemas.openxmlformats.org/drawingml/2006/main">
            <a:r>
              <a:t/>
            </a:r>
          </a:p>
          <a:p xmlns:a="http://schemas.openxmlformats.org/drawingml/2006/main">
            <a:r>
              <a:t>말할 내용: 기술을 구현한 뒤 결과가 맞는지 확인하는 일을 해 왔습니다. 오늘도 AI가 쓴 글을 결과물로 삼기 전에 날짜, 숫자, 승인 상태를 확인하는 방식으로 진행하겠습니다. 경력 세부 내용은 강사 소개 페이지에서 볼 수 있습니다.</a:t>
            </a:r>
          </a:p>
          <a:p xmlns:a="http://schemas.openxmlformats.org/drawingml/2006/main">
            <a:r>
              <a:t/>
            </a:r>
          </a:p>
          <a:p xmlns:a="http://schemas.openxmlformats.org/drawingml/2006/main">
            <a:r>
              <a:t>참가자에게 할 질문: 작성 시간과 검토 시간 중 어느 쪽이 더 많이 드나요?</a:t>
            </a:r>
          </a:p>
          <a:p xmlns:a="http://schemas.openxmlformats.org/drawingml/2006/main">
            <a:r>
              <a:t/>
            </a:r>
          </a:p>
          <a:p xmlns:a="http://schemas.openxmlformats.org/drawingml/2006/main">
            <a:r>
              <a:t>예상 오류와 대응: 기술 경력을 도구별 성능 보장이나 특정 기관의 공식 정책으로 연결하지 않습니다.</a:t>
            </a:r>
          </a:p>
          <a:p xmlns:a="http://schemas.openxmlformats.org/drawingml/2006/main">
            <a:r>
              <a:t/>
            </a:r>
          </a:p>
          <a:p xmlns:a="http://schemas.openxmlformats.org/drawingml/2006/main">
            <a:r>
              <a:t>수업 링크: https://zeusk302-png.github.io/gyeongnam-ai-workshop/#instructor</a:t>
            </a:r>
          </a:p>
          <a:p xmlns:a="http://schemas.openxmlformats.org/drawingml/2006/main">
            <a:r>
              <a:t/>
            </a:r>
          </a:p>
          <a:p xmlns:a="http://schemas.openxmlformats.org/drawingml/2006/main">
            <a:r>
              <a:t>화면 설명: R&amp;D 엔지니어 · 기술교육자</a:t>
            </a:r>
          </a:p>
          <a:p xmlns:a="http://schemas.openxmlformats.org/drawingml/2006/main">
            <a:r>
              <a:t/>
            </a:r>
          </a:p>
          <a:p xmlns:a="http://schemas.openxmlformats.org/drawingml/2006/main">
            <a:r>
              <a:t>화면 원본: assets/instructor/kim-seyoung.jpg</a:t>
            </a:r>
          </a:p>
          <a:p xmlns:a="http://schemas.openxmlformats.org/drawingml/2006/main">
            <a:r>
              <a:t/>
            </a:r>
          </a:p>
          <a:p xmlns:a="http://schemas.openxmlformats.org/drawingml/2006/main">
            <a:r>
              <a:t>강사 소개 근거: https://zeusk302-png.github.io/gyeongnam-ai-workshop/#instructor</a:t>
            </a:r>
          </a:p>
          <a:p xmlns:a="http://schemas.openxmlformats.org/drawingml/2006/main">
            <a:r>
              <a:t/>
            </a:r>
          </a:p>
          <a:p xmlns:a="http://schemas.openxmlformats.org/drawingml/2006/main">
            <a:r>
              <a:t>강사 웹사이트: https://hugoworld.kr/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3. 오늘 만들고 검토할 업무 묶음</a:t>
            </a:r>
          </a:p>
          <a:p xmlns:a="http://schemas.openxmlformats.org/drawingml/2006/main">
            <a:r>
              <a:t/>
            </a:r>
          </a:p>
          <a:p xmlns:a="http://schemas.openxmlformats.org/drawingml/2006/main">
            <a:r>
              <a:t>시간: 시작 후 3–5분, 2분 진행.</a:t>
            </a:r>
          </a:p>
          <a:p xmlns:a="http://schemas.openxmlformats.org/drawingml/2006/main">
            <a:r>
              <a:t/>
            </a:r>
          </a:p>
          <a:p xmlns:a="http://schemas.openxmlformats.org/drawingml/2006/main">
            <a:r>
              <a:t>말할 내용: 짧은 문장 하나를 고칠 때는 직접 쓰는 편이 편할 수 있습니다. 오늘은 여러 메일, 규정, 승인 기록을 오가며 업무 묶음을 만드는 일을 선택했습니다. 입력 준비, 응답 대기, 원문 대조, 수정 시간을 함께 기록합니다. 대표 실습은 전체 30행을 초안으로 만들고 Q01·Q04·Q12 세 건을 검토합니다. 나머지 27행과 긴 답장·공지는 미검토로 남깁니다. 도구별 원자료는 독립된 업무 상황입니다. 대표 문의는 11월 20일 공동연수이고, 뒤의 10월 30일 워크숍 조건을 섞지 않습니다.</a:t>
            </a:r>
          </a:p>
          <a:p xmlns:a="http://schemas.openxmlformats.org/drawingml/2006/main">
            <a:r>
              <a:t/>
            </a:r>
          </a:p>
          <a:p xmlns:a="http://schemas.openxmlformats.org/drawingml/2006/main">
            <a:r>
              <a:t>참가자에게 할 질문: 오늘 산출물 중 내가 검토 책임을 질 수 있는 것은 무엇인가요?</a:t>
            </a:r>
          </a:p>
          <a:p xmlns:a="http://schemas.openxmlformats.org/drawingml/2006/main">
            <a:r>
              <a:t/>
            </a:r>
          </a:p>
          <a:p xmlns:a="http://schemas.openxmlformats.org/drawingml/2006/main">
            <a:r>
              <a:t>예상 오류와 대응: 결과물 개수를 학습 효과나 업무 성과의 정량 증거로 설명하지 않습니다.</a:t>
            </a:r>
          </a:p>
          <a:p xmlns:a="http://schemas.openxmlformats.org/drawingml/2006/main">
            <a:r>
              <a:t/>
            </a:r>
          </a:p>
          <a:p xmlns:a="http://schemas.openxmlformats.org/drawingml/2006/main">
            <a:r>
              <a:t>수업 링크: https://zeusk302-png.github.io/gyeongnam-ai-workshop/#resources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4. AI를 쓰기 전에 고를 일</a:t>
            </a:r>
          </a:p>
          <a:p xmlns:a="http://schemas.openxmlformats.org/drawingml/2006/main">
            <a:r>
              <a:t/>
            </a:r>
          </a:p>
          <a:p xmlns:a="http://schemas.openxmlformats.org/drawingml/2006/main">
            <a:r>
              <a:t>시간: 시작 후 5–8분, 3분 진행.</a:t>
            </a:r>
          </a:p>
          <a:p xmlns:a="http://schemas.openxmlformats.org/drawingml/2006/main">
            <a:r>
              <a:t/>
            </a:r>
          </a:p>
          <a:p xmlns:a="http://schemas.openxmlformats.org/drawingml/2006/main">
            <a:r>
              <a:t>말할 내용: AI 사용 이유는 자료의 길이만이 아닙니다. 여러 출처에서 같은 건을 연결하고 문서 형식을 갖추는 반복이 있는지 봅니다. 합계는 스프레드시트가 더 직접적이고 재현 가능합니다. AI에 분류와 문장 초안을 맡기더라도 승인 판단과 수치는 직접 확인합니다. 세 도구의 역할은 수업의 학습 초점이며 독점 기능을 뜻하지 않습니다.</a:t>
            </a:r>
          </a:p>
          <a:p xmlns:a="http://schemas.openxmlformats.org/drawingml/2006/main">
            <a:r>
              <a:t/>
            </a:r>
          </a:p>
          <a:p xmlns:a="http://schemas.openxmlformats.org/drawingml/2006/main">
            <a:r>
              <a:t>참가자에게 할 질문: 내 업무는 계산, 반복 서식, 여러 문서 대조 중 어디에 가깝나요?</a:t>
            </a:r>
          </a:p>
          <a:p xmlns:a="http://schemas.openxmlformats.org/drawingml/2006/main">
            <a:r>
              <a:t/>
            </a:r>
          </a:p>
          <a:p xmlns:a="http://schemas.openxmlformats.org/drawingml/2006/main">
            <a:r>
              <a:t>예상 오류와 대응: 간단한 답장이나 정해진 계산까지 반드시 AI로 해야 한다고 설명하지 않습니다.</a:t>
            </a:r>
          </a:p>
          <a:p xmlns:a="http://schemas.openxmlformats.org/drawingml/2006/main">
            <a:r>
              <a:t/>
            </a:r>
          </a:p>
          <a:p xmlns:a="http://schemas.openxmlformats.org/drawingml/2006/main">
            <a:r>
              <a:t>수업 링크: https://zeusk302-png.github.io/gyeongnam-ai-workshop/#orientation</a:t>
            </a:r>
          </a:p>
          <a:p xmlns:a="http://schemas.openxmlformats.org/drawingml/2006/main">
            <a:r>
              <a:t/>
            </a:r>
          </a:p>
          <a:p xmlns:a="http://schemas.openxmlformats.org/drawingml/2006/main">
            <a:r>
              <a:t>화면의 표는 원자료를 바탕으로 정리한 설명·검토 예시입니다. 실제 AI 응답 캡처가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5. 대표 업무실습과 짧은 연습예제</a:t>
            </a:r>
          </a:p>
          <a:p xmlns:a="http://schemas.openxmlformats.org/drawingml/2006/main">
            <a:r>
              <a:t/>
            </a:r>
          </a:p>
          <a:p xmlns:a="http://schemas.openxmlformats.org/drawingml/2006/main">
            <a:r>
              <a:t>시간: 시작 후 8–10분, 2분 진행.</a:t>
            </a:r>
          </a:p>
          <a:p xmlns:a="http://schemas.openxmlformats.org/drawingml/2006/main">
            <a:r>
              <a:t/>
            </a:r>
          </a:p>
          <a:p xmlns:a="http://schemas.openxmlformats.org/drawingml/2006/main">
            <a:r>
              <a:t>말할 내용: 여섯 건의 기존 자료는 조작을 익히는 연습예제로 유지합니다. 대표 실습은 여러 메시지를 서른 건의 접수번호에 연결하고 최신 기록을 확인하는 일입니다. 같은 수업 시간에 모든 자료를 다시 입력하지 않습니다. NotebookLM과 Claude에서는 해당 단계의 문서와 대장만 사용합니다.</a:t>
            </a:r>
          </a:p>
          <a:p xmlns:a="http://schemas.openxmlformats.org/drawingml/2006/main">
            <a:r>
              <a:t/>
            </a:r>
          </a:p>
          <a:p xmlns:a="http://schemas.openxmlformats.org/drawingml/2006/main">
            <a:r>
              <a:t>참가자에게 할 질문: 현재 자료가 대표 실습인지 짧은 연습예제인지 확인했나요?</a:t>
            </a:r>
          </a:p>
          <a:p xmlns:a="http://schemas.openxmlformats.org/drawingml/2006/main">
            <a:r>
              <a:t/>
            </a:r>
          </a:p>
          <a:p xmlns:a="http://schemas.openxmlformats.org/drawingml/2006/main">
            <a:r>
              <a:t>예상 오류와 대응: 과거 6건의 접수번호, 정책 적용 시점, 답장을 새30건의 결과로 제시하지 않습니다.</a:t>
            </a:r>
          </a:p>
          <a:p xmlns:a="http://schemas.openxmlformats.org/drawingml/2006/main">
            <a:r>
              <a:t/>
            </a:r>
          </a:p>
          <a:p xmlns:a="http://schemas.openxmlformats.org/drawingml/2006/main">
            <a:r>
              <a:t>수업 링크: https://zeusk302-png.github.io/gyeongnam-ai-workshop/#resources</a:t>
            </a:r>
          </a:p>
          <a:p xmlns:a="http://schemas.openxmlformats.org/drawingml/2006/main">
            <a:r>
              <a:t/>
            </a:r>
          </a:p>
          <a:p xmlns:a="http://schemas.openxmlformats.org/drawingml/2006/main">
            <a:r>
              <a:t>원자료·대조 기준: https://zeusk302-png.github.io/gyeongnam-ai-workshop/downloads/%ED%99%95%EC%9E%A5/00_%ED%99%95%EC%9E%A5%EB%B3%B8_%EC%82%AC%EC%9A%A9%EC%95%88%EB%82%B4.md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6. 검토가 끝난 문서의 조건</a:t>
            </a:r>
          </a:p>
          <a:p xmlns:a="http://schemas.openxmlformats.org/drawingml/2006/main">
            <a:r>
              <a:t/>
            </a:r>
          </a:p>
          <a:p xmlns:a="http://schemas.openxmlformats.org/drawingml/2006/main">
            <a:r>
              <a:t>시간: 시작 후 10–12분, 2분 진행.</a:t>
            </a:r>
          </a:p>
          <a:p xmlns:a="http://schemas.openxmlformats.org/drawingml/2006/main">
            <a:r>
              <a:t/>
            </a:r>
          </a:p>
          <a:p xmlns:a="http://schemas.openxmlformats.org/drawingml/2006/main">
            <a:r>
              <a:t>말할 내용: 확인해야 할 범위가 남은 문서는 미완료로 기록합니다. 세 건을 표본으로 확인했다고 나머지 스물일곱 건까지 확인했다고 표시하지 않습니다. 숫자는 가능하면 스프레드시트에서 원자료 행을 세고 합계와 비율을 재계산합니다. 가상 자료만 사용하고 실제 발송·신청·지급은 하지 않습니다.</a:t>
            </a:r>
          </a:p>
          <a:p xmlns:a="http://schemas.openxmlformats.org/drawingml/2006/main">
            <a:r>
              <a:t/>
            </a:r>
          </a:p>
          <a:p xmlns:a="http://schemas.openxmlformats.org/drawingml/2006/main">
            <a:r>
              <a:t>참가자에게 할 질문: 원문 ID가 없는 답장을 바로 사용해도 될까요?</a:t>
            </a:r>
          </a:p>
          <a:p xmlns:a="http://schemas.openxmlformats.org/drawingml/2006/main">
            <a:r>
              <a:t/>
            </a:r>
          </a:p>
          <a:p xmlns:a="http://schemas.openxmlformats.org/drawingml/2006/main">
            <a:r>
              <a:t>예상 오류와 대응: 이름만 지운 실제 참가자 메일을 실습에 넣지 않도록 제공된 가상 자료 사용을 안내합니다.</a:t>
            </a:r>
          </a:p>
          <a:p xmlns:a="http://schemas.openxmlformats.org/drawingml/2006/main">
            <a:r>
              <a:t/>
            </a:r>
          </a:p>
          <a:p xmlns:a="http://schemas.openxmlformats.org/drawingml/2006/main">
            <a:r>
              <a:t>수업 링크: https://zeusk302-png.github.io/gyeongnam-ai-workshop/#orientation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7. 무료 계정의 현재 사용량</a:t>
            </a:r>
          </a:p>
          <a:p xmlns:a="http://schemas.openxmlformats.org/drawingml/2006/main">
            <a:r>
              <a:t/>
            </a:r>
          </a:p>
          <a:p xmlns:a="http://schemas.openxmlformats.org/drawingml/2006/main">
            <a:r>
              <a:t>시간: 시작 후 12–15분, 3분 진행.</a:t>
            </a:r>
          </a:p>
          <a:p xmlns:a="http://schemas.openxmlformats.org/drawingml/2006/main">
            <a:r>
              <a:t/>
            </a:r>
          </a:p>
          <a:p xmlns:a="http://schemas.openxmlformats.org/drawingml/2006/main">
            <a:r>
              <a:t>말할 내용: 무료 계정의 남은 사용량은 사람마다 다릅니다. Gemini와 NotebookLM은 계산량 기반 안내를 확인하고, Claude는 길이와 사용 조건에 따라 메시지 수가 달라집니다. 공개된 옛 일일 횟수를 오늘의 사용 보장으로 안내하지 않습니다. 웹 무료 가이드에서 도구별 공식 출처를 열 수 있습니다.</a:t>
            </a:r>
          </a:p>
          <a:p xmlns:a="http://schemas.openxmlformats.org/drawingml/2006/main">
            <a:r>
              <a:t/>
            </a:r>
          </a:p>
          <a:p xmlns:a="http://schemas.openxmlformats.org/drawingml/2006/main">
            <a:r>
              <a:t>참가자에게 할 질문: 화면에 한도 또는 재개 시각이 보이나요?</a:t>
            </a:r>
          </a:p>
          <a:p xmlns:a="http://schemas.openxmlformats.org/drawingml/2006/main">
            <a:r>
              <a:t/>
            </a:r>
          </a:p>
          <a:p xmlns:a="http://schemas.openxmlformats.org/drawingml/2006/main">
            <a:r>
              <a:t>예상 오류와 대응: 시험한 계정에서 성공했다는 이유로 모두 같은 횟수를 쓸 수 있다고 약속하지 않습니다.</a:t>
            </a:r>
          </a:p>
          <a:p xmlns:a="http://schemas.openxmlformats.org/drawingml/2006/main">
            <a:r>
              <a:t/>
            </a:r>
          </a:p>
          <a:p xmlns:a="http://schemas.openxmlformats.org/drawingml/2006/main">
            <a:r>
              <a:t>수업 링크: https://zeusk302-png.github.io/gyeongnam-ai-workshop/#free-guide</a:t>
            </a:r>
          </a:p>
          <a:p xmlns:a="http://schemas.openxmlformats.org/drawingml/2006/main">
            <a:r>
              <a:t/>
            </a:r>
          </a:p>
          <a:p xmlns:a="http://schemas.openxmlformats.org/drawingml/2006/main">
            <a:r>
              <a:t>화면의 표는 원자료를 바탕으로 정리한 설명·검토 예시입니다. 실제 AI 응답 캡처가 아닙니다.</a:t>
            </a:r>
          </a:p>
          <a:p xmlns:a="http://schemas.openxmlformats.org/drawingml/2006/main">
            <a:r>
              <a:t/>
            </a:r>
          </a:p>
          <a:p xmlns:a="http://schemas.openxmlformats.org/drawingml/2006/main">
            <a:r>
              <a:t>원자료·대조 기준: https://zeusk302-png.github.io/gyeongnam-ai-workshop/downloads/10_%EB%AC%B4%EB%A3%8C%EA%B3%84%EC%A0%95_%ED%95%9C%EB%8F%84%EC%99%80_%EC%8B%A4%EC%8A%B5%EC%82%AC%EC%9A%A9%EB%B2%95.md</a:t>
            </a:r>
          </a:p>
          <a:p xmlns:a="http://schemas.openxmlformats.org/drawingml/2006/main">
            <a:r>
              <a:t/>
            </a:r>
          </a:p>
          <a:p xmlns:a="http://schemas.openxmlformats.org/drawingml/2006/main">
            <a:r>
              <a:t>공식 정책 확인일: 2026-09-27. 이 날짜의 안내를 정리했으며 당일 계정 표시와 최신 원문을 확인합니다.</a:t>
            </a:r>
          </a:p>
          <a:p xmlns:a="http://schemas.openxmlformats.org/drawingml/2006/main">
            <a:r>
              <a:t/>
            </a:r>
          </a:p>
          <a:p xmlns:a="http://schemas.openxmlformats.org/drawingml/2006/main">
            <a:r>
              <a:t>Gemini 공식 출처: https://support.google.com/gemini/answer/16275805?hl=ko</a:t>
            </a:r>
          </a:p>
          <a:p xmlns:a="http://schemas.openxmlformats.org/drawingml/2006/main">
            <a:r>
              <a:t/>
            </a:r>
          </a:p>
          <a:p xmlns:a="http://schemas.openxmlformats.org/drawingml/2006/main">
            <a:r>
              <a:t>Gemini 공식 출처: https://support.google.com/gemini/answer/17004136?hl=ko</a:t>
            </a:r>
          </a:p>
          <a:p xmlns:a="http://schemas.openxmlformats.org/drawingml/2006/main">
            <a:r>
              <a:t/>
            </a:r>
          </a:p>
          <a:p xmlns:a="http://schemas.openxmlformats.org/drawingml/2006/main">
            <a:r>
              <a:t>NotebookLM · Gemini Notebook 공식 출처: https://support.google.com/gemininotebook/answer/17670842?hl=ko</a:t>
            </a:r>
          </a:p>
          <a:p xmlns:a="http://schemas.openxmlformats.org/drawingml/2006/main">
            <a:r>
              <a:t/>
            </a:r>
          </a:p>
          <a:p xmlns:a="http://schemas.openxmlformats.org/drawingml/2006/main">
            <a:r>
              <a:t>NotebookLM · Gemini Notebook 공식 출처: https://support.google.com/gemininotebook/answer/16213268?hl=ko</a:t>
            </a:r>
          </a:p>
          <a:p xmlns:a="http://schemas.openxmlformats.org/drawingml/2006/main">
            <a:r>
              <a:t/>
            </a:r>
          </a:p>
          <a:p xmlns:a="http://schemas.openxmlformats.org/drawingml/2006/main">
            <a:r>
              <a:t>NotebookLM · Gemini Notebook 공식 출처: https://support.google.com/gemininotebook/answer/16215270?hl=ko</a:t>
            </a:r>
          </a:p>
          <a:p xmlns:a="http://schemas.openxmlformats.org/drawingml/2006/main">
            <a:r>
              <a:t/>
            </a:r>
          </a:p>
          <a:p xmlns:a="http://schemas.openxmlformats.org/drawingml/2006/main">
            <a:r>
              <a:t>Claude Free 공식 출처: https://support.claude.com/en/articles/8114491-get-started-with-claude</a:t>
            </a:r>
          </a:p>
          <a:p xmlns:a="http://schemas.openxmlformats.org/drawingml/2006/main">
            <a:r>
              <a:t/>
            </a:r>
          </a:p>
          <a:p xmlns:a="http://schemas.openxmlformats.org/drawingml/2006/main">
            <a:r>
              <a:t>Claude Free 공식 출처: https://support.claude.com/en/articles/11647753-how-do-usage-and-length-limits-work</a:t>
            </a:r>
          </a:p>
          <a:p xmlns:a="http://schemas.openxmlformats.org/drawingml/2006/main">
            <a:r>
              <a:t/>
            </a:r>
          </a:p>
          <a:p xmlns:a="http://schemas.openxmlformats.org/drawingml/2006/main">
            <a:r>
              <a:t>Claude Free 공식 출처: https://support.claude.com/en/articles/12466728-troubleshoot-claude-error-messages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8. 사용량이 부족할 때의 참여 방법</a:t>
            </a:r>
          </a:p>
          <a:p xmlns:a="http://schemas.openxmlformats.org/drawingml/2006/main">
            <a:r>
              <a:t/>
            </a:r>
          </a:p>
          <a:p xmlns:a="http://schemas.openxmlformats.org/drawingml/2006/main">
            <a:r>
              <a:t>시간: 시작 후 15–17분, 2분 진행.</a:t>
            </a:r>
          </a:p>
          <a:p xmlns:a="http://schemas.openxmlformats.org/drawingml/2006/main">
            <a:r>
              <a:t/>
            </a:r>
          </a:p>
          <a:p xmlns:a="http://schemas.openxmlformats.org/drawingml/2006/main">
            <a:r>
              <a:t>말할 내용: 제한이 생겼을 때 새 대화에 같은 요청을 반복하지 않습니다. 새 대화는 자료를 구분하는 용도이며 계정 한도를 초기화하지 않습니다. 짝 실습에서도 각자 확인한 문장과 숫자를 남깁니다. 결제나 체험 등록은 수업을 마치기 위한 조건이 아닙니다.</a:t>
            </a:r>
          </a:p>
          <a:p xmlns:a="http://schemas.openxmlformats.org/drawingml/2006/main">
            <a:r>
              <a:t/>
            </a:r>
          </a:p>
          <a:p xmlns:a="http://schemas.openxmlformats.org/drawingml/2006/main">
            <a:r>
              <a:t>참가자에게 할 질문: 한도에 걸려도 지금 진행할 수 있는 확인 작업은 무엇인가요?</a:t>
            </a:r>
          </a:p>
          <a:p xmlns:a="http://schemas.openxmlformats.org/drawingml/2006/main">
            <a:r>
              <a:t/>
            </a:r>
          </a:p>
          <a:p xmlns:a="http://schemas.openxmlformats.org/drawingml/2006/main">
            <a:r>
              <a:t>예상 오류와 대응: 비밀번호를 공유하거나 다른 사람의 계정으로 대신 로그인하지 않습니다.</a:t>
            </a:r>
          </a:p>
          <a:p xmlns:a="http://schemas.openxmlformats.org/drawingml/2006/main">
            <a:r>
              <a:t/>
            </a:r>
          </a:p>
          <a:p xmlns:a="http://schemas.openxmlformats.org/drawingml/2006/main">
            <a:r>
              <a:t>수업 링크: https://zeusk302-png.github.io/gyeongnam-ai-workshop/#free-guide</a:t>
            </a:r>
          </a:p>
          <a:p xmlns:a="http://schemas.openxmlformats.org/drawingml/2006/main">
            <a:r>
              <a:t/>
            </a:r>
          </a:p>
          <a:p xmlns:a="http://schemas.openxmlformats.org/drawingml/2006/main">
            <a:r>
              <a:t>원자료·대조 기준: https://zeusk302-png.github.io/gyeongnam-ai-workshop/downloads/10_%EB%AC%B4%EB%A3%8C%EA%B3%84%EC%A0%95_%ED%95%9C%EB%8F%84%EC%99%80_%EC%8B%A4%EC%8A%B5%EC%82%AC%EC%9A%A9%EB%B2%95.md</a:t>
            </a:r>
          </a:p>
          <a:p xmlns:a="http://schemas.openxmlformats.org/drawingml/2006/main">
            <a:r>
              <a:t/>
            </a:r>
          </a:p>
          <a:p xmlns:a="http://schemas.openxmlformats.org/drawingml/2006/main">
            <a:r>
              <a:t>공식 정책 확인일: 2026-09-27. 이 날짜의 안내를 정리했으며 당일 계정 표시와 최신 원문을 확인합니다.</a:t>
            </a:r>
          </a:p>
          <a:p xmlns:a="http://schemas.openxmlformats.org/drawingml/2006/main">
            <a:r>
              <a:t/>
            </a:r>
          </a:p>
          <a:p xmlns:a="http://schemas.openxmlformats.org/drawingml/2006/main">
            <a:r>
              <a:t>Gemini 공식 출처: https://support.google.com/gemini/answer/16275805?hl=ko</a:t>
            </a:r>
          </a:p>
          <a:p xmlns:a="http://schemas.openxmlformats.org/drawingml/2006/main">
            <a:r>
              <a:t/>
            </a:r>
          </a:p>
          <a:p xmlns:a="http://schemas.openxmlformats.org/drawingml/2006/main">
            <a:r>
              <a:t>Gemini 공식 출처: https://support.google.com/gemini/answer/17004136?hl=ko</a:t>
            </a:r>
          </a:p>
          <a:p xmlns:a="http://schemas.openxmlformats.org/drawingml/2006/main">
            <a:r>
              <a:t/>
            </a:r>
          </a:p>
          <a:p xmlns:a="http://schemas.openxmlformats.org/drawingml/2006/main">
            <a:r>
              <a:t>NotebookLM · Gemini Notebook 공식 출처: https://support.google.com/gemininotebook/answer/17670842?hl=ko</a:t>
            </a:r>
          </a:p>
          <a:p xmlns:a="http://schemas.openxmlformats.org/drawingml/2006/main">
            <a:r>
              <a:t/>
            </a:r>
          </a:p>
          <a:p xmlns:a="http://schemas.openxmlformats.org/drawingml/2006/main">
            <a:r>
              <a:t>NotebookLM · Gemini Notebook 공식 출처: https://support.google.com/gemininotebook/answer/16213268?hl=ko</a:t>
            </a:r>
          </a:p>
          <a:p xmlns:a="http://schemas.openxmlformats.org/drawingml/2006/main">
            <a:r>
              <a:t/>
            </a:r>
          </a:p>
          <a:p xmlns:a="http://schemas.openxmlformats.org/drawingml/2006/main">
            <a:r>
              <a:t>NotebookLM · Gemini Notebook 공식 출처: https://support.google.com/gemininotebook/answer/16215270?hl=ko</a:t>
            </a:r>
          </a:p>
          <a:p xmlns:a="http://schemas.openxmlformats.org/drawingml/2006/main">
            <a:r>
              <a:t/>
            </a:r>
          </a:p>
          <a:p xmlns:a="http://schemas.openxmlformats.org/drawingml/2006/main">
            <a:r>
              <a:t>Claude Free 공식 출처: https://support.claude.com/en/articles/8114491-get-started-with-claude</a:t>
            </a:r>
          </a:p>
          <a:p xmlns:a="http://schemas.openxmlformats.org/drawingml/2006/main">
            <a:r>
              <a:t/>
            </a:r>
          </a:p>
          <a:p xmlns:a="http://schemas.openxmlformats.org/drawingml/2006/main">
            <a:r>
              <a:t>Claude Free 공식 출처: https://support.claude.com/en/articles/11647753-how-do-usage-and-length-limits-work</a:t>
            </a:r>
          </a:p>
          <a:p xmlns:a="http://schemas.openxmlformats.org/drawingml/2006/main">
            <a:r>
              <a:t/>
            </a:r>
          </a:p>
          <a:p xmlns:a="http://schemas.openxmlformats.org/drawingml/2006/main">
            <a:r>
              <a:t>Claude Free 공식 출처: https://support.claude.com/en/articles/12466728-troubleshoot-claude-error-messages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9. 업무를 맡기는 질문의 구성</a:t>
            </a:r>
          </a:p>
          <a:p xmlns:a="http://schemas.openxmlformats.org/drawingml/2006/main">
            <a:r>
              <a:t/>
            </a:r>
          </a:p>
          <a:p xmlns:a="http://schemas.openxmlformats.org/drawingml/2006/main">
            <a:r>
              <a:t>시간: 시작 후 17–20분, 3분 진행.</a:t>
            </a:r>
          </a:p>
          <a:p xmlns:a="http://schemas.openxmlformats.org/drawingml/2006/main">
            <a:r>
              <a:t/>
            </a:r>
          </a:p>
          <a:p xmlns:a="http://schemas.openxmlformats.org/drawingml/2006/main">
            <a:r>
              <a:t>말할 내용: 웹에서 37번 합본 파일과 짧은 지시를 준비합니다. 합본에는 31~34번 원문 네 문서가 포함됩니다. 원문 전체를 채팅창에 길게 붙여넣는 대신 TXT 파일 1개를 첨부하고 지시만 입력합니다. 준비와 첨부 시간도 작업 시간입니다. 파일명과 끝부분을 확인하고 한 번 전송합니다. 승인의 범위를 질문에 명시해도 결과는 원문으로 검토해야 합니다.</a:t>
            </a:r>
          </a:p>
          <a:p xmlns:a="http://schemas.openxmlformats.org/drawingml/2006/main">
            <a:r>
              <a:t/>
            </a:r>
          </a:p>
          <a:p xmlns:a="http://schemas.openxmlformats.org/drawingml/2006/main">
            <a:r>
              <a:t>참가자에게 할 질문: 어떤 문서로 신청 상태를 확인하도록 요구했나요?</a:t>
            </a:r>
          </a:p>
          <a:p xmlns:a="http://schemas.openxmlformats.org/drawingml/2006/main">
            <a:r>
              <a:t/>
            </a:r>
          </a:p>
          <a:p xmlns:a="http://schemas.openxmlformats.org/drawingml/2006/main">
            <a:r>
              <a:t>예상 오류와 대응: 자료 일부만 복사하거나 지시문만 보내는 오류를 확인합니다.</a:t>
            </a:r>
          </a:p>
          <a:p xmlns:a="http://schemas.openxmlformats.org/drawingml/2006/main">
            <a:r>
              <a:t/>
            </a:r>
          </a:p>
          <a:p xmlns:a="http://schemas.openxmlformats.org/drawingml/2006/main">
            <a:r>
              <a:t>수업 링크: https://zeusk302-png.github.io/gyeongnam-ai-workshop/#orientation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10. 같은 세 건을 먼저 직접 처리</a:t>
            </a:r>
          </a:p>
          <a:p xmlns:a="http://schemas.openxmlformats.org/drawingml/2006/main">
            <a:r>
              <a:t/>
            </a:r>
          </a:p>
          <a:p xmlns:a="http://schemas.openxmlformats.org/drawingml/2006/main">
            <a:r>
              <a:t>시간: 시작 후 20–23분, 3분 진행.</a:t>
            </a:r>
          </a:p>
          <a:p xmlns:a="http://schemas.openxmlformats.org/drawingml/2006/main">
            <a:r>
              <a:t/>
            </a:r>
          </a:p>
          <a:p xmlns:a="http://schemas.openxmlformats.org/drawingml/2006/main">
            <a:r>
              <a:t>말할 내용: 35번 비교 샘플을 열고 3분 동안 Q01·Q04·Q12의 처리표 세 행을 직접 작성합니다. 문의 ID / 최신 요청 / 확인된 상태 / 지금 안내할 한 문장 / 추가 확인 / 근거 ID 여섯 열을 사용합니다. 긴 답장을 따로 쓰지 않습니다. 정책·승인·메일·대장의 원문 발췌를 읽고 확인한 위치를 적습니다. 시간 안에 끝내지 못하면 미완료 칸과 확인한 범위를 그대로 남깁니다. 뒤에서는 AI 30행 중 같은 세 행을 추출해 대조합니다.</a:t>
            </a:r>
          </a:p>
          <a:p xmlns:a="http://schemas.openxmlformats.org/drawingml/2006/main">
            <a:r>
              <a:t/>
            </a:r>
          </a:p>
          <a:p xmlns:a="http://schemas.openxmlformats.org/drawingml/2006/main">
            <a:r>
              <a:t>참가자에게 할 질문: 승인 기록과 참가자 진술 중 어느 쪽이 현재 상태를 결정하나요?</a:t>
            </a:r>
          </a:p>
          <a:p xmlns:a="http://schemas.openxmlformats.org/drawingml/2006/main">
            <a:r>
              <a:t/>
            </a:r>
          </a:p>
          <a:p xmlns:a="http://schemas.openxmlformats.org/drawingml/2006/main">
            <a:r>
              <a:t>예상 오류와 대응: 직접 작성이 미완료라는 사실을 숨기거나 AI와 비교하려고 결과를 나중에 고쳐 적지 않습니다.</a:t>
            </a:r>
          </a:p>
          <a:p xmlns:a="http://schemas.openxmlformats.org/drawingml/2006/main">
            <a:r>
              <a:t/>
            </a:r>
          </a:p>
          <a:p xmlns:a="http://schemas.openxmlformats.org/drawingml/2006/main">
            <a:r>
              <a:t>수업 링크: https://zeusk302-png.github.io/gyeongnam-ai-workshop/#g-email</a:t>
            </a:r>
          </a:p>
          <a:p xmlns:a="http://schemas.openxmlformats.org/drawingml/2006/main">
            <a:r>
              <a:t/>
            </a:r>
          </a:p>
          <a:p xmlns:a="http://schemas.openxmlformats.org/drawingml/2006/main">
            <a:r>
              <a:t>실습 안내: Q01·Q04·Q12를 같은 6개 열의 처리표 3행으로 직접 씁니다.</a:t>
            </a:r>
          </a:p>
          <a:p xmlns:a="http://schemas.openxmlformats.org/drawingml/2006/main">
            <a:r>
              <a:t/>
            </a:r>
          </a:p>
          <a:p xmlns:a="http://schemas.openxmlformats.org/drawingml/2006/main">
            <a:r>
              <a:t>진행 순서: 문의 ID·최신 요청·확인된 상태를 기록 / 안내할 한 문장·추가 확인·근거 ID를 기록 / 끝내지 못한 칸은 미완성으로 남김</a:t>
            </a:r>
          </a:p>
          <a:p xmlns:a="http://schemas.openxmlformats.org/drawingml/2006/main">
            <a:r>
              <a:t/>
            </a:r>
          </a:p>
          <a:p xmlns:a="http://schemas.openxmlformats.org/drawingml/2006/main">
            <a:r>
              <a:t>남길 결과: 같은 처리표 3행과 미완료 범위</a:t>
            </a:r>
          </a:p>
          <a:p xmlns:a="http://schemas.openxmlformats.org/drawingml/2006/main">
            <a:r>
              <a:t/>
            </a:r>
          </a:p>
          <a:p xmlns:a="http://schemas.openxmlformats.org/drawingml/2006/main">
            <a:r>
              <a:t>원자료·대조 기준: https://zeusk302-png.github.io/gyeongnam-ai-workshop/downloads/%EC%97%85%EB%AC%B4%EB%AC%B6%EC%9D%8C/31_%EA%B5%90%EC%A7%81%EC%9B%90%EC%97%B0%EC%88%98_%EC%9A%B4%EC%98%81%EA%B8%B0%EC%A4%80.txt</a:t>
            </a:r>
          </a:p>
          <a:p xmlns:a="http://schemas.openxmlformats.org/drawingml/2006/main">
            <a:r>
              <a:t/>
            </a:r>
          </a:p>
          <a:p xmlns:a="http://schemas.openxmlformats.org/drawingml/2006/main">
            <a:r>
              <a:t>원자료·대조 기준: https://zeusk302-png.github.io/gyeongnam-ai-workshop/downloads/%EC%97%85%EB%AC%B4%EB%AC%B6%EC%9D%8C/32_%EB%B3%80%EA%B2%BD%EC%8A%B9%EC%9D%B8_%EC%97%85%EB%AC%B4%ED%9A%8C%EC%8B%A0.txt</a:t>
            </a:r>
          </a:p>
          <a:p xmlns:a="http://schemas.openxmlformats.org/drawingml/2006/main">
            <a:r>
              <a:t/>
            </a:r>
          </a:p>
          <a:p xmlns:a="http://schemas.openxmlformats.org/drawingml/2006/main">
            <a:r>
              <a:t>원자료·대조 기준: https://zeusk302-png.github.io/gyeongnam-ai-workshop/downloads/%EC%97%85%EB%AC%B4%EB%AC%B6%EC%9D%8C/33_%EB%AC%B8%EC%9D%98%EB%A9%94%EC%9D%BC_60%EA%B0%9C.txt</a:t>
            </a:r>
          </a:p>
          <a:p xmlns:a="http://schemas.openxmlformats.org/drawingml/2006/main">
            <a:r>
              <a:t/>
            </a:r>
          </a:p>
          <a:p xmlns:a="http://schemas.openxmlformats.org/drawingml/2006/main">
            <a:r>
              <a:t>원자료·대조 기준: https://zeusk302-png.github.io/gyeongnam-ai-workshop/downloads/%EC%97%85%EB%AC%B4%EB%AC%B6%EC%9D%8C/34_%EC%A0%91%EC%88%98%EC%A2%8C%EC%84%9D_%ED%99%95%EC%9D%B8%EB%8C%80%EC%9E%A5.txt</a:t>
            </a:r>
          </a:p>
          <a:p xmlns:a="http://schemas.openxmlformats.org/drawingml/2006/main">
            <a:r>
              <a:t/>
            </a:r>
          </a:p>
          <a:p xmlns:a="http://schemas.openxmlformats.org/drawingml/2006/main">
            <a:r>
              <a:t>원자료·대조 기준: https://zeusk302-png.github.io/gyeongnam-ai-workshop/downloads/%EC%97%85%EB%AC%B4%EB%AC%B6%EC%9D%8C/36_%EB%B3%B5%EC%82%AC%EC%9A%A9_%EC%A7%88%EB%AC%B8.txt</a:t>
            </a:r>
          </a:p>
          <a:p xmlns:a="http://schemas.openxmlformats.org/drawingml/2006/main">
            <a:r>
              <a:t/>
            </a:r>
          </a:p>
          <a:p xmlns:a="http://schemas.openxmlformats.org/drawingml/2006/main">
            <a:r>
              <a:t>원자료·대조 기준: https://zeusk302-png.github.io/gyeongnam-ai-workshop/downloads/%EC%97%85%EB%AC%B4%EB%AC%B6%EC%9D%8C/37_%EC%9B%90%EB%AC%B8%EB%84%A4%EA%B0%9C_%ED%95%A9%EB%B3%B8.txt</a:t>
            </a:r>
          </a:p>
          <a:p xmlns:a="http://schemas.openxmlformats.org/drawingml/2006/main">
            <a:r>
              <a:t/>
            </a:r>
          </a:p>
          <a:p xmlns:a="http://schemas.openxmlformats.org/drawingml/2006/main">
            <a:r>
              <a:t>원자료·대조 기준: https://zeusk302-png.github.io/gyeongnam-ai-workshop/downloads/%EC%97%85%EB%AC%B4%EB%AC%B6%EC%9D%8C/35_%EB%B9%84%EA%B5%90%EC%83%98%ED%94%8C_%EC%84%B8%EA%B1%B4.txt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11. AI에 맡길 전체 초안의 범위</a:t>
            </a:r>
          </a:p>
          <a:p xmlns:a="http://schemas.openxmlformats.org/drawingml/2006/main">
            <a:r>
              <a:t/>
            </a:r>
          </a:p>
          <a:p xmlns:a="http://schemas.openxmlformats.org/drawingml/2006/main">
            <a:r>
              <a:t>시간: 시작 후 23–24분, 1분 진행.</a:t>
            </a:r>
          </a:p>
          <a:p xmlns:a="http://schemas.openxmlformats.org/drawingml/2006/main">
            <a:r>
              <a:t/>
            </a:r>
          </a:p>
          <a:p xmlns:a="http://schemas.openxmlformats.org/drawingml/2006/main">
            <a:r>
              <a:t>말할 내용: AI 전체 5분의 첫 1분입니다. 네 문서를 담은 37번 합본을 준비하고 산출물의 범위를 확인합니다. 처리표 30행, 우선 답장 5건, 담당 역할별 확인 요청, 구공지 수정표 3행을 받되 이 결과는 모두 초안입니다. 같은 3행을 제외한 내용은 이번 시간에 검토를 마친 것으로 표시하지 않습니다.</a:t>
            </a:r>
          </a:p>
          <a:p xmlns:a="http://schemas.openxmlformats.org/drawingml/2006/main">
            <a:r>
              <a:t/>
            </a:r>
          </a:p>
          <a:p xmlns:a="http://schemas.openxmlformats.org/drawingml/2006/main">
            <a:r>
              <a:t>참가자에게 할 질문: 접수번호 하나에 메시지가 여러 개라면 무엇을 기준으로 묶을까요?</a:t>
            </a:r>
          </a:p>
          <a:p xmlns:a="http://schemas.openxmlformats.org/drawingml/2006/main">
            <a:r>
              <a:t/>
            </a:r>
          </a:p>
          <a:p xmlns:a="http://schemas.openxmlformats.org/drawingml/2006/main">
            <a:r>
              <a:t>예상 오류와 대응: 메시지 수를 문의 건수로 세거나 미발송 초안을 발송 기록으로 쓰지 않습니다.</a:t>
            </a:r>
          </a:p>
          <a:p xmlns:a="http://schemas.openxmlformats.org/drawingml/2006/main">
            <a:r>
              <a:t/>
            </a:r>
          </a:p>
          <a:p xmlns:a="http://schemas.openxmlformats.org/drawingml/2006/main">
            <a:r>
              <a:t>수업 링크: https://zeusk302-png.github.io/gyeongnam-ai-workshop/#g-email</a:t>
            </a:r>
          </a:p>
          <a:p xmlns:a="http://schemas.openxmlformats.org/drawingml/2006/main">
            <a:r>
              <a:t/>
            </a:r>
          </a:p>
          <a:p xmlns:a="http://schemas.openxmlformats.org/drawingml/2006/main">
            <a:r>
              <a:t>화면의 표는 원자료를 바탕으로 정리한 설명·검토 예시입니다. 실제 AI 응답 캡처가 아닙니다.</a:t>
            </a:r>
          </a:p>
          <a:p xmlns:a="http://schemas.openxmlformats.org/drawingml/2006/main">
            <a:r>
              <a:t/>
            </a:r>
          </a:p>
          <a:p xmlns:a="http://schemas.openxmlformats.org/drawingml/2006/main">
            <a:r>
              <a:t>원자료·대조 기준: https://zeusk302-png.github.io/gyeongnam-ai-workshop/downloads/%EC%97%85%EB%AC%B4%EB%AC%B6%EC%9D%8C/31_%EA%B5%90%EC%A7%81%EC%9B%90%EC%97%B0%EC%88%98_%EC%9A%B4%EC%98%81%EA%B8%B0%EC%A4%80.txt</a:t>
            </a:r>
          </a:p>
          <a:p xmlns:a="http://schemas.openxmlformats.org/drawingml/2006/main">
            <a:r>
              <a:t/>
            </a:r>
          </a:p>
          <a:p xmlns:a="http://schemas.openxmlformats.org/drawingml/2006/main">
            <a:r>
              <a:t>원자료·대조 기준: https://zeusk302-png.github.io/gyeongnam-ai-workshop/downloads/%EC%97%85%EB%AC%B4%EB%AC%B6%EC%9D%8C/32_%EB%B3%80%EA%B2%BD%EC%8A%B9%EC%9D%B8_%EC%97%85%EB%AC%B4%ED%9A%8C%EC%8B%A0.txt</a:t>
            </a:r>
          </a:p>
          <a:p xmlns:a="http://schemas.openxmlformats.org/drawingml/2006/main">
            <a:r>
              <a:t/>
            </a:r>
          </a:p>
          <a:p xmlns:a="http://schemas.openxmlformats.org/drawingml/2006/main">
            <a:r>
              <a:t>원자료·대조 기준: https://zeusk302-png.github.io/gyeongnam-ai-workshop/downloads/%EC%97%85%EB%AC%B4%EB%AC%B6%EC%9D%8C/33_%EB%AC%B8%EC%9D%98%EB%A9%94%EC%9D%BC_60%EA%B0%9C.txt</a:t>
            </a:r>
          </a:p>
          <a:p xmlns:a="http://schemas.openxmlformats.org/drawingml/2006/main">
            <a:r>
              <a:t/>
            </a:r>
          </a:p>
          <a:p xmlns:a="http://schemas.openxmlformats.org/drawingml/2006/main">
            <a:r>
              <a:t>원자료·대조 기준: https://zeusk302-png.github.io/gyeongnam-ai-workshop/downloads/%EC%97%85%EB%AC%B4%EB%AC%B6%EC%9D%8C/34_%EC%A0%91%EC%88%98%EC%A2%8C%EC%84%9D_%ED%99%95%EC%9D%B8%EB%8C%80%EC%9E%A5.txt</a:t>
            </a:r>
          </a:p>
          <a:p xmlns:a="http://schemas.openxmlformats.org/drawingml/2006/main">
            <a:r>
              <a:t/>
            </a:r>
          </a:p>
          <a:p xmlns:a="http://schemas.openxmlformats.org/drawingml/2006/main">
            <a:r>
              <a:t>원자료·대조 기준: https://zeusk302-png.github.io/gyeongnam-ai-workshop/downloads/%EC%97%85%EB%AC%B4%EB%AC%B6%EC%9D%8C/36_%EB%B3%B5%EC%82%AC%EC%9A%A9_%EC%A7%88%EB%AC%B8.txt</a:t>
            </a:r>
          </a:p>
          <a:p xmlns:a="http://schemas.openxmlformats.org/drawingml/2006/main">
            <a:r>
              <a:t/>
            </a:r>
          </a:p>
          <a:p xmlns:a="http://schemas.openxmlformats.org/drawingml/2006/main">
            <a:r>
              <a:t>원자료·대조 기준: https://zeusk302-png.github.io/gyeongnam-ai-workshop/downloads/%EC%97%85%EB%AC%B4%EB%AC%B6%EC%9D%8C/37_%EC%9B%90%EB%AC%B8%EB%84%A4%EA%B0%9C_%ED%95%A9%EB%B3%B8.txt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12. 합본 파일 첨부와 입력 확인</a:t>
            </a:r>
          </a:p>
          <a:p xmlns:a="http://schemas.openxmlformats.org/drawingml/2006/main">
            <a:r>
              <a:t/>
            </a:r>
          </a:p>
          <a:p xmlns:a="http://schemas.openxmlformats.org/drawingml/2006/main">
            <a:r>
              <a:t>시간: 시작 후 24–26분, 2분 진행.</a:t>
            </a:r>
          </a:p>
          <a:p xmlns:a="http://schemas.openxmlformats.org/drawingml/2006/main">
            <a:r>
              <a:t/>
            </a:r>
          </a:p>
          <a:p xmlns:a="http://schemas.openxmlformats.org/drawingml/2006/main">
            <a:r>
              <a:t>말할 내용: AI 전체 5분 가운데 파일 준비와 입력에 쓰는 2분입니다. 37_원문네개_합본.txt 하나를 첨부하고 웹의 짧은 지시만 복사합니다. 첨부 파일명과 원문의 마지막 메일 ML060, 마지막 문단 L9를 직접 확인합니다. 실제 긴 붙여넣기 시험에서는 Q29 중간 이후가 누락됐는데도 AI가 60개 메일을 모두 검토했다고 답한 사례가 있었습니다. 자동화 입력과 서비스 중 원인은 확인하지 않았으므로 서비스의 글자 제한 정책으로 단정하지 않습니다. AI의 모두 읽었다는 말만으로 입력이 완전하다고 판단하지 않습니다. 파일 준비·전송·대기 시간을 기록합니다. 2026-09-28 실제 실행 시험에서는 합본 첨부와 약 1,320자 전체 지시를 보낸 요청이 도움 불가 응답으로 끝났습니다. 후속 파일 읽기 확인과 세 행 추출에서는 ML060이 Q30에 해당하고 L9가 담당 교대 메모임을 확인했으며, Q01 확정·Q04 취소·Q12 대기는 대장과 맞았습니다. 그러나 전체 30행만 다시 요청한 시험도 Q01~Q07 도중 첨부가 없다는 문구와 함께 중단되어 30행 일괄 생성은 완료되지 않았습니다. 원인이나 도구의 일반적 한도로 단정하지 않습니다. 수업에서도 입력·대기 5분 안에 실패하면 반복 생성하지 않고 90번 교사 예시 중 Q01·Q04·Q12와 원문을 대조하는 활동으로 전환합니다. 교사 예시는 AI 출력이 아닙니다.</a:t>
            </a:r>
          </a:p>
          <a:p xmlns:a="http://schemas.openxmlformats.org/drawingml/2006/main">
            <a:r>
              <a:t/>
            </a:r>
          </a:p>
          <a:p xmlns:a="http://schemas.openxmlformats.org/drawingml/2006/main">
            <a:r>
              <a:t>참가자에게 할 질문: 원문 묶음의 처음과 마지막 부분이 모두 들어갔나요?</a:t>
            </a:r>
          </a:p>
          <a:p xmlns:a="http://schemas.openxmlformats.org/drawingml/2006/main">
            <a:r>
              <a:t/>
            </a:r>
          </a:p>
          <a:p xmlns:a="http://schemas.openxmlformats.org/drawingml/2006/main">
            <a:r>
              <a:t>예상 오류와 대응: 긴 원문 전체를 채팅창에 다시 붙여넣거나 AI의 전체 검토 선언을 입력 완전성의 증거로 삼지 않습니다.</a:t>
            </a:r>
          </a:p>
          <a:p xmlns:a="http://schemas.openxmlformats.org/drawingml/2006/main">
            <a:r>
              <a:t/>
            </a:r>
          </a:p>
          <a:p xmlns:a="http://schemas.openxmlformats.org/drawingml/2006/main">
            <a:r>
              <a:t>수업 링크: https://zeusk302-png.github.io/gyeongnam-ai-workshop/#g-email</a:t>
            </a:r>
          </a:p>
          <a:p xmlns:a="http://schemas.openxmlformats.org/drawingml/2006/main">
            <a:r>
              <a:t/>
            </a:r>
          </a:p>
          <a:p xmlns:a="http://schemas.openxmlformats.org/drawingml/2006/main">
            <a:r>
              <a:t>화면 설명: 2026-09-28 실제 입력 화면 일부 확대. 첨부와 전송 준비 화면이며 전체 검토 완료를 뜻하지 않습니다.</a:t>
            </a:r>
          </a:p>
          <a:p xmlns:a="http://schemas.openxmlformats.org/drawingml/2006/main">
            <a:r>
              <a:t/>
            </a:r>
          </a:p>
          <a:p xmlns:a="http://schemas.openxmlformats.org/drawingml/2006/main">
            <a:r>
              <a:t>화면 원본: assets/captures/w06-gemini-batch30-upload.png</a:t>
            </a:r>
          </a:p>
          <a:p xmlns:a="http://schemas.openxmlformats.org/drawingml/2006/main">
            <a:r>
              <a:t/>
            </a:r>
          </a:p>
          <a:p xmlns:a="http://schemas.openxmlformats.org/drawingml/2006/main">
            <a:r>
              <a:t>원자료·대조 기준: https://zeusk302-png.github.io/gyeongnam-ai-workshop/downloads/%EC%97%85%EB%AC%B4%EB%AC%B6%EC%9D%8C/31_%EA%B5%90%EC%A7%81%EC%9B%90%EC%97%B0%EC%88%98_%EC%9A%B4%EC%98%81%EA%B8%B0%EC%A4%80.txt</a:t>
            </a:r>
          </a:p>
          <a:p xmlns:a="http://schemas.openxmlformats.org/drawingml/2006/main">
            <a:r>
              <a:t/>
            </a:r>
          </a:p>
          <a:p xmlns:a="http://schemas.openxmlformats.org/drawingml/2006/main">
            <a:r>
              <a:t>원자료·대조 기준: https://zeusk302-png.github.io/gyeongnam-ai-workshop/downloads/%EC%97%85%EB%AC%B4%EB%AC%B6%EC%9D%8C/32_%EB%B3%80%EA%B2%BD%EC%8A%B9%EC%9D%B8_%EC%97%85%EB%AC%B4%ED%9A%8C%EC%8B%A0.txt</a:t>
            </a:r>
          </a:p>
          <a:p xmlns:a="http://schemas.openxmlformats.org/drawingml/2006/main">
            <a:r>
              <a:t/>
            </a:r>
          </a:p>
          <a:p xmlns:a="http://schemas.openxmlformats.org/drawingml/2006/main">
            <a:r>
              <a:t>원자료·대조 기준: https://zeusk302-png.github.io/gyeongnam-ai-workshop/downloads/%EC%97%85%EB%AC%B4%EB%AC%B6%EC%9D%8C/33_%EB%AC%B8%EC%9D%98%EB%A9%94%EC%9D%BC_60%EA%B0%9C.txt</a:t>
            </a:r>
          </a:p>
          <a:p xmlns:a="http://schemas.openxmlformats.org/drawingml/2006/main">
            <a:r>
              <a:t/>
            </a:r>
          </a:p>
          <a:p xmlns:a="http://schemas.openxmlformats.org/drawingml/2006/main">
            <a:r>
              <a:t>원자료·대조 기준: https://zeusk302-png.github.io/gyeongnam-ai-workshop/downloads/%EC%97%85%EB%AC%B4%EB%AC%B6%EC%9D%8C/34_%EC%A0%91%EC%88%98%EC%A2%8C%EC%84%9D_%ED%99%95%EC%9D%B8%EB%8C%80%EC%9E%A5.txt</a:t>
            </a:r>
          </a:p>
          <a:p xmlns:a="http://schemas.openxmlformats.org/drawingml/2006/main">
            <a:r>
              <a:t/>
            </a:r>
          </a:p>
          <a:p xmlns:a="http://schemas.openxmlformats.org/drawingml/2006/main">
            <a:r>
              <a:t>원자료·대조 기준: https://zeusk302-png.github.io/gyeongnam-ai-workshop/downloads/%EC%97%85%EB%AC%B4%EB%AC%B6%EC%9D%8C/36_%EB%B3%B5%EC%82%AC%EC%9A%A9_%EC%A7%88%EB%AC%B8.txt</a:t>
            </a:r>
          </a:p>
          <a:p xmlns:a="http://schemas.openxmlformats.org/drawingml/2006/main">
            <a:r>
              <a:t/>
            </a:r>
          </a:p>
          <a:p xmlns:a="http://schemas.openxmlformats.org/drawingml/2006/main">
            <a:r>
              <a:t>원자료·대조 기준: https://zeusk302-png.github.io/gyeongnam-ai-workshop/downloads/%EC%97%85%EB%AC%B4%EB%AC%B6%EC%9D%8C/37_%EC%9B%90%EB%AC%B8%EB%84%A4%EA%B0%9C_%ED%95%A9%EB%B3%B8.txt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13. 응답 범위 확인과 검토 전환</a:t>
            </a:r>
          </a:p>
          <a:p xmlns:a="http://schemas.openxmlformats.org/drawingml/2006/main">
            <a:r>
              <a:t/>
            </a:r>
          </a:p>
          <a:p xmlns:a="http://schemas.openxmlformats.org/drawingml/2006/main">
            <a:r>
              <a:t>시간: 시작 후 26–28분, 2분 진행.</a:t>
            </a:r>
          </a:p>
          <a:p xmlns:a="http://schemas.openxmlformats.org/drawingml/2006/main">
            <a:r>
              <a:t/>
            </a:r>
          </a:p>
          <a:p xmlns:a="http://schemas.openxmlformats.org/drawingml/2006/main">
            <a:r>
              <a:t>말할 내용: AI 전체 5분 중 남은 2분입니다. ID 목록을 보고 누락과 중복을 먼저 확인합니다. 행 수 확인은 사실 검증 완료를 뜻하지 않습니다. 전송했으나 결과를 받지 못했거나 결과가 잘린 경우도 그대로 기록하고 확보한 답변을 원문과 대조합니다. 우선 답장 다섯 개는 각각 250~400자이며 같은 세 행 비교의 산출물에 포함하지 않습니다. 긴 답장을 생성했다고 내용까지 검토 완료한 것은 아닙니다. 첫 질문은 C12의 구공지 N01·N02·N03 수정표도 요구합니다. 수정안을 만들었다는 사실을 게시 완료로 바꾸지 않습니다. 실제 실행 시험에서 전체 30행 일괄 생성은 완료되지 않았습니다. 파일 준비·입력·대기를 포함한 5분 안에 실패하면 반복 생성하지 않습니다. 90_대표실습_해설.md에서 Q01·Q04·Q12 세 행만 열고 35번 원문 발췌 및 원문 문단과 대조합니다. 교사 예시는 교사가 작성한 검토용 자료이며 실제 AI 출력이 아닙니다. 실패 시 전체 산출물은 미완료로 표시하고 받은 부분만 보관합니다. 교사 예시를 AI에게 입력하지 않습니다.</a:t>
            </a:r>
          </a:p>
          <a:p xmlns:a="http://schemas.openxmlformats.org/drawingml/2006/main">
            <a:r>
              <a:t/>
            </a:r>
          </a:p>
          <a:p xmlns:a="http://schemas.openxmlformats.org/drawingml/2006/main">
            <a:r>
              <a:t>참가자에게 할 질문: 문장은 길어도 처리표에서 빠진 접수번호는 없나요?</a:t>
            </a:r>
          </a:p>
          <a:p xmlns:a="http://schemas.openxmlformats.org/drawingml/2006/main">
            <a:r>
              <a:t/>
            </a:r>
          </a:p>
          <a:p xmlns:a="http://schemas.openxmlformats.org/drawingml/2006/main">
            <a:r>
              <a:t>예상 오류와 대응: 실행 시험의 세 행 조회 성공을 전체 30행 생성 성공으로 말하지 않습니다. 교사 예시를 실제 AI 답변으로 기록하지 않습니다.</a:t>
            </a:r>
          </a:p>
          <a:p xmlns:a="http://schemas.openxmlformats.org/drawingml/2006/main">
            <a:r>
              <a:t/>
            </a:r>
          </a:p>
          <a:p xmlns:a="http://schemas.openxmlformats.org/drawingml/2006/main">
            <a:r>
              <a:t>수업 링크: https://zeusk302-png.github.io/gyeongnam-ai-workshop/#g-email</a:t>
            </a:r>
          </a:p>
          <a:p xmlns:a="http://schemas.openxmlformats.org/drawingml/2006/main">
            <a:r>
              <a:t/>
            </a:r>
          </a:p>
          <a:p xmlns:a="http://schemas.openxmlformats.org/drawingml/2006/main">
            <a:r>
              <a:t>실습 안내: 받은 응답을 저장합니다. 실패하면 같은 세 건의 교사 예시로 전환합니다.</a:t>
            </a:r>
          </a:p>
          <a:p xmlns:a="http://schemas.openxmlformats.org/drawingml/2006/main">
            <a:r>
              <a:t/>
            </a:r>
          </a:p>
          <a:p xmlns:a="http://schemas.openxmlformats.org/drawingml/2006/main">
            <a:r>
              <a:t>진행 순서: 받은 처리표의 건수와 중복·누락 확인 / 답장 5건·담당 확인·공지 수정 3행 분리 / 비교는 Q01·Q04·Q12의 같은 3행만 / 실패하면 90번 교사 예시 세 행으로 전환</a:t>
            </a:r>
          </a:p>
          <a:p xmlns:a="http://schemas.openxmlformats.org/drawingml/2006/main">
            <a:r>
              <a:t/>
            </a:r>
          </a:p>
          <a:p xmlns:a="http://schemas.openxmlformats.org/drawingml/2006/main">
            <a:r>
              <a:t>남길 결과: 확보한 응답·실패 기록·미완료 범위</a:t>
            </a:r>
          </a:p>
          <a:p xmlns:a="http://schemas.openxmlformats.org/drawingml/2006/main">
            <a:r>
              <a:t/>
            </a:r>
          </a:p>
          <a:p xmlns:a="http://schemas.openxmlformats.org/drawingml/2006/main">
            <a:r>
              <a:t>원자료·대조 기준: https://zeusk302-png.github.io/gyeongnam-ai-workshop/downloads/%EC%97%85%EB%AC%B4%EB%AC%B6%EC%9D%8C/31_%EA%B5%90%EC%A7%81%EC%9B%90%EC%97%B0%EC%88%98_%EC%9A%B4%EC%98%81%EA%B8%B0%EC%A4%80.txt</a:t>
            </a:r>
          </a:p>
          <a:p xmlns:a="http://schemas.openxmlformats.org/drawingml/2006/main">
            <a:r>
              <a:t/>
            </a:r>
          </a:p>
          <a:p xmlns:a="http://schemas.openxmlformats.org/drawingml/2006/main">
            <a:r>
              <a:t>원자료·대조 기준: https://zeusk302-png.github.io/gyeongnam-ai-workshop/downloads/%EC%97%85%EB%AC%B4%EB%AC%B6%EC%9D%8C/32_%EB%B3%80%EA%B2%BD%EC%8A%B9%EC%9D%B8_%EC%97%85%EB%AC%B4%ED%9A%8C%EC%8B%A0.txt</a:t>
            </a:r>
          </a:p>
          <a:p xmlns:a="http://schemas.openxmlformats.org/drawingml/2006/main">
            <a:r>
              <a:t/>
            </a:r>
          </a:p>
          <a:p xmlns:a="http://schemas.openxmlformats.org/drawingml/2006/main">
            <a:r>
              <a:t>원자료·대조 기준: https://zeusk302-png.github.io/gyeongnam-ai-workshop/downloads/%EC%97%85%EB%AC%B4%EB%AC%B6%EC%9D%8C/33_%EB%AC%B8%EC%9D%98%EB%A9%94%EC%9D%BC_60%EA%B0%9C.txt</a:t>
            </a:r>
          </a:p>
          <a:p xmlns:a="http://schemas.openxmlformats.org/drawingml/2006/main">
            <a:r>
              <a:t/>
            </a:r>
          </a:p>
          <a:p xmlns:a="http://schemas.openxmlformats.org/drawingml/2006/main">
            <a:r>
              <a:t>원자료·대조 기준: https://zeusk302-png.github.io/gyeongnam-ai-workshop/downloads/%EC%97%85%EB%AC%B4%EB%AC%B6%EC%9D%8C/34_%EC%A0%91%EC%88%98%EC%A2%8C%EC%84%9D_%ED%99%95%EC%9D%B8%EB%8C%80%EC%9E%A5.txt</a:t>
            </a:r>
          </a:p>
          <a:p xmlns:a="http://schemas.openxmlformats.org/drawingml/2006/main">
            <a:r>
              <a:t/>
            </a:r>
          </a:p>
          <a:p xmlns:a="http://schemas.openxmlformats.org/drawingml/2006/main">
            <a:r>
              <a:t>원자료·대조 기준: https://zeusk302-png.github.io/gyeongnam-ai-workshop/downloads/%EC%97%85%EB%AC%B4%EB%AC%B6%EC%9D%8C/36_%EB%B3%B5%EC%82%AC%EC%9A%A9_%EC%A7%88%EB%AC%B8.txt</a:t>
            </a:r>
          </a:p>
          <a:p xmlns:a="http://schemas.openxmlformats.org/drawingml/2006/main">
            <a:r>
              <a:t/>
            </a:r>
          </a:p>
          <a:p xmlns:a="http://schemas.openxmlformats.org/drawingml/2006/main">
            <a:r>
              <a:t>원자료·대조 기준: https://zeusk302-png.github.io/gyeongnam-ai-workshop/downloads/%EC%97%85%EB%AC%B4%EB%AC%B6%EC%9D%8C/37_%EC%9B%90%EB%AC%B8%EB%84%A4%EA%B0%9C_%ED%95%A9%EB%B3%B8.txt</a:t>
            </a:r>
          </a:p>
          <a:p xmlns:a="http://schemas.openxmlformats.org/drawingml/2006/main">
            <a:r>
              <a:t/>
            </a:r>
          </a:p>
          <a:p xmlns:a="http://schemas.openxmlformats.org/drawingml/2006/main">
            <a:r>
              <a:t>원자료·대조 기준: https://zeusk302-png.github.io/gyeongnam-ai-workshop/downloads/%EC%97%85%EB%AC%B4%EB%AC%B6%EC%9D%8C/90_%EB%8C%80%ED%91%9C%EC%8B%A4%EC%8A%B5_%ED%95%B4%EC%84%A4.md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14. 같은 세 건의 근거 대조</a:t>
            </a:r>
          </a:p>
          <a:p xmlns:a="http://schemas.openxmlformats.org/drawingml/2006/main">
            <a:r>
              <a:t/>
            </a:r>
          </a:p>
          <a:p xmlns:a="http://schemas.openxmlformats.org/drawingml/2006/main">
            <a:r>
              <a:t>시간: 시작 후 28–33분, 5분 진행.</a:t>
            </a:r>
          </a:p>
          <a:p xmlns:a="http://schemas.openxmlformats.org/drawingml/2006/main">
            <a:r>
              <a:t/>
            </a:r>
          </a:p>
          <a:p xmlns:a="http://schemas.openxmlformats.org/drawingml/2006/main">
            <a:r>
              <a:t>말할 내용: AI 답변을 확보했다면 교사 예시를 먼저 열지 않습니다. 5분 안에 생성이 실패한 경우에는 90번 교사 예시 중 Q01·Q04·Q12로 원문 검토를 계속합니다. 교사 예시는 실제 AI 출력이 아니며, 이 경우 AI 결과의 품질을 비교했다고 기록하지 않습니다. 직접 처리한 동일한 세 건만 원문 위치를 찾아 검토합니다. 수작업 초안과 AI 초안 모두 틀릴 수 있습니다. 어떤 방식이 더 편했는지는 검토와 수정이 끝난 다음 판단합니다. Q01은 11월 20일 14~17시, 202호, 개인 노트북과 충전기, 기존 확정자의 재신청 불필요를 확인합니다. Q04는 15:35 복구 요청과 14:10 취소 반영을 구분하고 복구가 승인됐다고 쓰지 않습니다. Q12는 15:35 추가 추천·기관 간 배정의 검토 요청과 승인 결정을 구분합니다. 기관별 기한을 전체 연장으로 넓히지 않습니다. 기존 10월 30일 행사 조건은 이 답변의 근거가 아닙니다. Q01의 A001 확정과 Q04의 A024 취소, Q12의 A038 대기는 34번 L2와 함께 대조합니다. 추가 회신의 15:55 시점과 대장 15:50 시점을 구분합니다.</a:t>
            </a:r>
          </a:p>
          <a:p xmlns:a="http://schemas.openxmlformats.org/drawingml/2006/main">
            <a:r>
              <a:t/>
            </a:r>
          </a:p>
          <a:p xmlns:a="http://schemas.openxmlformats.org/drawingml/2006/main">
            <a:r>
              <a:t>참가자에게 할 질문: 현재 상태와 참가자의 마지막 요청을 혼동한 문장은 없나요?</a:t>
            </a:r>
          </a:p>
          <a:p xmlns:a="http://schemas.openxmlformats.org/drawingml/2006/main">
            <a:r>
              <a:t/>
            </a:r>
          </a:p>
          <a:p xmlns:a="http://schemas.openxmlformats.org/drawingml/2006/main">
            <a:r>
              <a:t>예상 오류와 대응: 표본3건 확인을 전체 30건의 정확도나 모든 업무의 효율 수치로 일반화하지 않습니다.</a:t>
            </a:r>
          </a:p>
          <a:p xmlns:a="http://schemas.openxmlformats.org/drawingml/2006/main">
            <a:r>
              <a:t/>
            </a:r>
          </a:p>
          <a:p xmlns:a="http://schemas.openxmlformats.org/drawingml/2006/main">
            <a:r>
              <a:t>수업 링크: https://zeusk302-png.github.io/gyeongnam-ai-workshop/#g-email</a:t>
            </a:r>
          </a:p>
          <a:p xmlns:a="http://schemas.openxmlformats.org/drawingml/2006/main">
            <a:r>
              <a:t/>
            </a:r>
          </a:p>
          <a:p xmlns:a="http://schemas.openxmlformats.org/drawingml/2006/main">
            <a:r>
              <a:t>실습 안내: 수작업 3행과 AI 답변 또는 교사 예시를 원문으로 대조합니다.</a:t>
            </a:r>
          </a:p>
          <a:p xmlns:a="http://schemas.openxmlformats.org/drawingml/2006/main">
            <a:r>
              <a:t/>
            </a:r>
          </a:p>
          <a:p xmlns:a="http://schemas.openxmlformats.org/drawingml/2006/main">
            <a:r>
              <a:t>진행 순서: 마지막 요청과 대장 상태를 각각 확인 / 확정 표현마다 승인 문단 ID 찾기 / 안내할 한 문장과 추가 확인을 구분 / 같은 6개 열의 누락·오판·추가를 기록</a:t>
            </a:r>
          </a:p>
          <a:p xmlns:a="http://schemas.openxmlformats.org/drawingml/2006/main">
            <a:r>
              <a:t/>
            </a:r>
          </a:p>
          <a:p xmlns:a="http://schemas.openxmlformats.org/drawingml/2006/main">
            <a:r>
              <a:t>남길 결과: 3건 검토표와 고쳐야 할 문장</a:t>
            </a:r>
          </a:p>
          <a:p xmlns:a="http://schemas.openxmlformats.org/drawingml/2006/main">
            <a:r>
              <a:t/>
            </a:r>
          </a:p>
          <a:p xmlns:a="http://schemas.openxmlformats.org/drawingml/2006/main">
            <a:r>
              <a:t>원자료·대조 기준: https://zeusk302-png.github.io/gyeongnam-ai-workshop/downloads/%EC%97%85%EB%AC%B4%EB%AC%B6%EC%9D%8C/31_%EA%B5%90%EC%A7%81%EC%9B%90%EC%97%B0%EC%88%98_%EC%9A%B4%EC%98%81%EA%B8%B0%EC%A4%80.txt</a:t>
            </a:r>
          </a:p>
          <a:p xmlns:a="http://schemas.openxmlformats.org/drawingml/2006/main">
            <a:r>
              <a:t/>
            </a:r>
          </a:p>
          <a:p xmlns:a="http://schemas.openxmlformats.org/drawingml/2006/main">
            <a:r>
              <a:t>원자료·대조 기준: https://zeusk302-png.github.io/gyeongnam-ai-workshop/downloads/%EC%97%85%EB%AC%B4%EB%AC%B6%EC%9D%8C/32_%EB%B3%80%EA%B2%BD%EC%8A%B9%EC%9D%B8_%EC%97%85%EB%AC%B4%ED%9A%8C%EC%8B%A0.txt</a:t>
            </a:r>
          </a:p>
          <a:p xmlns:a="http://schemas.openxmlformats.org/drawingml/2006/main">
            <a:r>
              <a:t/>
            </a:r>
          </a:p>
          <a:p xmlns:a="http://schemas.openxmlformats.org/drawingml/2006/main">
            <a:r>
              <a:t>원자료·대조 기준: https://zeusk302-png.github.io/gyeongnam-ai-workshop/downloads/%EC%97%85%EB%AC%B4%EB%AC%B6%EC%9D%8C/33_%EB%AC%B8%EC%9D%98%EB%A9%94%EC%9D%BC_60%EA%B0%9C.txt</a:t>
            </a:r>
          </a:p>
          <a:p xmlns:a="http://schemas.openxmlformats.org/drawingml/2006/main">
            <a:r>
              <a:t/>
            </a:r>
          </a:p>
          <a:p xmlns:a="http://schemas.openxmlformats.org/drawingml/2006/main">
            <a:r>
              <a:t>원자료·대조 기준: https://zeusk302-png.github.io/gyeongnam-ai-workshop/downloads/%EC%97%85%EB%AC%B4%EB%AC%B6%EC%9D%8C/34_%EC%A0%91%EC%88%98%EC%A2%8C%EC%84%9D_%ED%99%95%EC%9D%B8%EB%8C%80%EC%9E%A5.txt</a:t>
            </a:r>
          </a:p>
          <a:p xmlns:a="http://schemas.openxmlformats.org/drawingml/2006/main">
            <a:r>
              <a:t/>
            </a:r>
          </a:p>
          <a:p xmlns:a="http://schemas.openxmlformats.org/drawingml/2006/main">
            <a:r>
              <a:t>원자료·대조 기준: https://zeusk302-png.github.io/gyeongnam-ai-workshop/downloads/%EC%97%85%EB%AC%B4%EB%AC%B6%EC%9D%8C/36_%EB%B3%B5%EC%82%AC%EC%9A%A9_%EC%A7%88%EB%AC%B8.txt</a:t>
            </a:r>
          </a:p>
          <a:p xmlns:a="http://schemas.openxmlformats.org/drawingml/2006/main">
            <a:r>
              <a:t/>
            </a:r>
          </a:p>
          <a:p xmlns:a="http://schemas.openxmlformats.org/drawingml/2006/main">
            <a:r>
              <a:t>원자료·대조 기준: https://zeusk302-png.github.io/gyeongnam-ai-workshop/downloads/%EC%97%85%EB%AC%B4%EB%AC%B6%EC%9D%8C/37_%EC%9B%90%EB%AC%B8%EB%84%A4%EA%B0%9C_%ED%95%A9%EB%B3%B8.txt</a:t>
            </a:r>
          </a:p>
          <a:p xmlns:a="http://schemas.openxmlformats.org/drawingml/2006/main">
            <a:r>
              <a:t/>
            </a:r>
          </a:p>
          <a:p xmlns:a="http://schemas.openxmlformats.org/drawingml/2006/main">
            <a:r>
              <a:t>원자료·대조 기준: https://zeusk302-png.github.io/gyeongnam-ai-workshop/downloads/%EC%97%85%EB%AC%B4%EB%AC%B6%EC%9D%8C/90_%EB%8C%80%ED%91%9C%EC%8B%A4%EC%8A%B5_%ED%95%B4%EC%84%A4.md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15. 수정 후 AI 사용 여부 판단</a:t>
            </a:r>
          </a:p>
          <a:p xmlns:a="http://schemas.openxmlformats.org/drawingml/2006/main">
            <a:r>
              <a:t/>
            </a:r>
          </a:p>
          <a:p xmlns:a="http://schemas.openxmlformats.org/drawingml/2006/main">
            <a:r>
              <a:t>시간: 시작 후 33–38분, 5분 진행.</a:t>
            </a:r>
          </a:p>
          <a:p xmlns:a="http://schemas.openxmlformats.org/drawingml/2006/main">
            <a:r>
              <a:t/>
            </a:r>
          </a:p>
          <a:p xmlns:a="http://schemas.openxmlformats.org/drawingml/2006/main">
            <a:r>
              <a:t>말할 내용: 5분 동안 필요한 문장을 직접 수정하고 사용 여부를 판단합니다. AI가 만든 초안을 줄여야 했는지, 근거를 찾는 시간이 얼마나 들었는지, 수작업에서 빠진 조건을 찾았는지 기록합니다. 단일 연습의 시간을 일반적인 생산성 향상으로 발표하지 않습니다. 전체 30행과 우선 답장 다섯 개는 초안 생성입니다. 같은 세 행을 대조해도 남은 27행과 아직 대조하지 않은 긴 답장·공지는 미검토로 표시합니다. 이 실습은 실제 업무 완료 또는 발송 승인이 아닙니다. 교사 예시로 전환한 경우에는 AI 실행 미완료를 기록합니다. 교사 예시를 검토한 결과로 AI 출력의 정확도나 효율을 판단하지 않습니다. 원문 검토에서 확인한 내용과 남은 실행 과제를 따로 남깁니다.</a:t>
            </a:r>
          </a:p>
          <a:p xmlns:a="http://schemas.openxmlformats.org/drawingml/2006/main">
            <a:r>
              <a:t/>
            </a:r>
          </a:p>
          <a:p xmlns:a="http://schemas.openxmlformats.org/drawingml/2006/main">
            <a:r>
              <a:t>참가자에게 할 질문: 다음에 같은 업무가 오면 어떤 방식과 어떤 검토 절차를 선택하겠습니까?</a:t>
            </a:r>
          </a:p>
          <a:p xmlns:a="http://schemas.openxmlformats.org/drawingml/2006/main">
            <a:r>
              <a:t/>
            </a:r>
          </a:p>
          <a:p xmlns:a="http://schemas.openxmlformats.org/drawingml/2006/main">
            <a:r>
              <a:t>예상 오류와 대응: 효용을 설명하기 위해 추정 절감률이나 확인하지 않은 정확도 수치를 만들지 않습니다.</a:t>
            </a:r>
          </a:p>
          <a:p xmlns:a="http://schemas.openxmlformats.org/drawingml/2006/main">
            <a:r>
              <a:t/>
            </a:r>
          </a:p>
          <a:p xmlns:a="http://schemas.openxmlformats.org/drawingml/2006/main">
            <a:r>
              <a:t>수업 링크: https://zeusk302-png.github.io/gyeongnam-ai-workshop/#g-email</a:t>
            </a:r>
          </a:p>
          <a:p xmlns:a="http://schemas.openxmlformats.org/drawingml/2006/main">
            <a:r>
              <a:t/>
            </a:r>
          </a:p>
          <a:p xmlns:a="http://schemas.openxmlformats.org/drawingml/2006/main">
            <a:r>
              <a:t>화면의 표는 원자료를 바탕으로 정리한 설명·검토 예시입니다. 실제 AI 응답 캡처가 아닙니다.</a:t>
            </a:r>
          </a:p>
          <a:p xmlns:a="http://schemas.openxmlformats.org/drawingml/2006/main">
            <a:r>
              <a:t/>
            </a:r>
          </a:p>
          <a:p xmlns:a="http://schemas.openxmlformats.org/drawingml/2006/main">
            <a:r>
              <a:t>원자료·대조 기준: https://zeusk302-png.github.io/gyeongnam-ai-workshop/downloads/%EC%97%85%EB%AC%B4%EB%AC%B6%EC%9D%8C/31_%EA%B5%90%EC%A7%81%EC%9B%90%EC%97%B0%EC%88%98_%EC%9A%B4%EC%98%81%EA%B8%B0%EC%A4%80.txt</a:t>
            </a:r>
          </a:p>
          <a:p xmlns:a="http://schemas.openxmlformats.org/drawingml/2006/main">
            <a:r>
              <a:t/>
            </a:r>
          </a:p>
          <a:p xmlns:a="http://schemas.openxmlformats.org/drawingml/2006/main">
            <a:r>
              <a:t>원자료·대조 기준: https://zeusk302-png.github.io/gyeongnam-ai-workshop/downloads/%EC%97%85%EB%AC%B4%EB%AC%B6%EC%9D%8C/32_%EB%B3%80%EA%B2%BD%EC%8A%B9%EC%9D%B8_%EC%97%85%EB%AC%B4%ED%9A%8C%EC%8B%A0.txt</a:t>
            </a:r>
          </a:p>
          <a:p xmlns:a="http://schemas.openxmlformats.org/drawingml/2006/main">
            <a:r>
              <a:t/>
            </a:r>
          </a:p>
          <a:p xmlns:a="http://schemas.openxmlformats.org/drawingml/2006/main">
            <a:r>
              <a:t>원자료·대조 기준: https://zeusk302-png.github.io/gyeongnam-ai-workshop/downloads/%EC%97%85%EB%AC%B4%EB%AC%B6%EC%9D%8C/33_%EB%AC%B8%EC%9D%98%EB%A9%94%EC%9D%BC_60%EA%B0%9C.txt</a:t>
            </a:r>
          </a:p>
          <a:p xmlns:a="http://schemas.openxmlformats.org/drawingml/2006/main">
            <a:r>
              <a:t/>
            </a:r>
          </a:p>
          <a:p xmlns:a="http://schemas.openxmlformats.org/drawingml/2006/main">
            <a:r>
              <a:t>원자료·대조 기준: https://zeusk302-png.github.io/gyeongnam-ai-workshop/downloads/%EC%97%85%EB%AC%B4%EB%AC%B6%EC%9D%8C/34_%EC%A0%91%EC%88%98%EC%A2%8C%EC%84%9D_%ED%99%95%EC%9D%B8%EB%8C%80%EC%9E%A5.txt</a:t>
            </a:r>
          </a:p>
          <a:p xmlns:a="http://schemas.openxmlformats.org/drawingml/2006/main">
            <a:r>
              <a:t/>
            </a:r>
          </a:p>
          <a:p xmlns:a="http://schemas.openxmlformats.org/drawingml/2006/main">
            <a:r>
              <a:t>원자료·대조 기준: https://zeusk302-png.github.io/gyeongnam-ai-workshop/downloads/%EC%97%85%EB%AC%B4%EB%AC%B6%EC%9D%8C/36_%EB%B3%B5%EC%82%AC%EC%9A%A9_%EC%A7%88%EB%AC%B8.txt</a:t>
            </a:r>
          </a:p>
          <a:p xmlns:a="http://schemas.openxmlformats.org/drawingml/2006/main">
            <a:r>
              <a:t/>
            </a:r>
          </a:p>
          <a:p xmlns:a="http://schemas.openxmlformats.org/drawingml/2006/main">
            <a:r>
              <a:t>원자료·대조 기준: https://zeusk302-png.github.io/gyeongnam-ai-workshop/downloads/%EC%97%85%EB%AC%B4%EB%AC%B6%EC%9D%8C/37_%EC%9B%90%EB%AC%B8%EB%84%A4%EA%B0%9C_%ED%95%A9%EB%B3%B8.txt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16. 긴 회의에서 필요한 정정 기록</a:t>
            </a:r>
          </a:p>
          <a:p xmlns:a="http://schemas.openxmlformats.org/drawingml/2006/main">
            <a:r>
              <a:t/>
            </a:r>
          </a:p>
          <a:p xmlns:a="http://schemas.openxmlformats.org/drawingml/2006/main">
            <a:r>
              <a:t>시간: 시작 후 38–40분, 2분 진행.</a:t>
            </a:r>
          </a:p>
          <a:p xmlns:a="http://schemas.openxmlformats.org/drawingml/2006/main">
            <a:r>
              <a:t/>
            </a:r>
          </a:p>
          <a:p xmlns:a="http://schemas.openxmlformats.org/drawingml/2006/main">
            <a:r>
              <a:t>말할 내용: 이제 별도 10월 30일 워크숍 자료로 전환합니다. 앞의 11월 20일 공동연수와 날짜·장소·승인 규칙을 섞지 않습니다. 회의록은 길이를 줄이기보다 현재 적용할 내용을 정하는 일이 중요합니다. 같은 업무의 날짜가 두 번 나왔을 때는 마지막 정정의 범위를 확인합니다. 이 회의의 신청 마감은 10월 23일이며, 다음 실습의 연장 승인을 이 회의에 섞지 않습니다. AI를 사용하는 지점은 발언을 예쁘게 줄이는 일이 아니라 같은 업무의 정정 전후를 연결하고 담당·마감 표의 초안을 만드는 일입니다. 정정 근거가 보이지 않으면 원문에서 다시 찾습니다.</a:t>
            </a:r>
          </a:p>
          <a:p xmlns:a="http://schemas.openxmlformats.org/drawingml/2006/main">
            <a:r>
              <a:t/>
            </a:r>
          </a:p>
          <a:p xmlns:a="http://schemas.openxmlformats.org/drawingml/2006/main">
            <a:r>
              <a:t>참가자에게 할 질문: 시설 점검은 두 번 하는 일인가요, 같은 일을 정정한 것인가요?</a:t>
            </a:r>
          </a:p>
          <a:p xmlns:a="http://schemas.openxmlformats.org/drawingml/2006/main">
            <a:r>
              <a:t/>
            </a:r>
          </a:p>
          <a:p xmlns:a="http://schemas.openxmlformats.org/drawingml/2006/main">
            <a:r>
              <a:t>예상 오류와 대응: 정정 전 날짜를 일정표에 남기거나 두 개 업무로 세는 오류를 확인합니다.</a:t>
            </a:r>
          </a:p>
          <a:p xmlns:a="http://schemas.openxmlformats.org/drawingml/2006/main">
            <a:r>
              <a:t/>
            </a:r>
          </a:p>
          <a:p xmlns:a="http://schemas.openxmlformats.org/drawingml/2006/main">
            <a:r>
              <a:t>수업 링크: https://zeusk302-png.github.io/gyeongnam-ai-workshop/#g-meeting</a:t>
            </a:r>
          </a:p>
          <a:p xmlns:a="http://schemas.openxmlformats.org/drawingml/2006/main">
            <a:r>
              <a:t/>
            </a:r>
          </a:p>
          <a:p xmlns:a="http://schemas.openxmlformats.org/drawingml/2006/main">
            <a:r>
              <a:t>원자료·대조 기준: https://zeusk302-png.github.io/gyeongnam-ai-workshop/downloads/%ED%99%95%EC%9E%A5/12_Gemini_%EC%9A%B4%EC%98%81%ED%9A%8C%EC%9D%98_%EC%83%81%EC%84%B8%EA%B8%B0%EB%A1%9D.txt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17. 다음 주 업무회의용 인계표</a:t>
            </a:r>
          </a:p>
          <a:p xmlns:a="http://schemas.openxmlformats.org/drawingml/2006/main">
            <a:r>
              <a:t/>
            </a:r>
          </a:p>
          <a:p xmlns:a="http://schemas.openxmlformats.org/drawingml/2006/main">
            <a:r>
              <a:t>시간: 시작 후 40–44분, 4분 진행.</a:t>
            </a:r>
          </a:p>
          <a:p xmlns:a="http://schemas.openxmlformats.org/drawingml/2006/main">
            <a:r>
              <a:t/>
            </a:r>
          </a:p>
          <a:p xmlns:a="http://schemas.openxmlformats.org/drawingml/2006/main">
            <a:r>
              <a:t>말할 내용: 웹 질문을 복사해 회의 전체를 넣습니다. 모든 발언을 요약하게 하기보다 다음 주에 누가 무슨 일을 할지 보이는 표를 받습니다. 응답을 받으면 시설 점검과 로그인 안내 날짜부터 확인하세요. 읽기만으로 쉽게 정리되는 짧은 회의라면 직접 표에 적어도 됩니다. 이번에는 여러 발언에 흩어진 아홉 업무의 누락과 변경을 검토합니다.</a:t>
            </a:r>
          </a:p>
          <a:p xmlns:a="http://schemas.openxmlformats.org/drawingml/2006/main">
            <a:r>
              <a:t/>
            </a:r>
          </a:p>
          <a:p xmlns:a="http://schemas.openxmlformats.org/drawingml/2006/main">
            <a:r>
              <a:t>참가자에게 할 질문: 담당자가 같고 마감일이 같으면 같은 업무인가요?</a:t>
            </a:r>
          </a:p>
          <a:p xmlns:a="http://schemas.openxmlformats.org/drawingml/2006/main">
            <a:r>
              <a:t/>
            </a:r>
          </a:p>
          <a:p xmlns:a="http://schemas.openxmlformats.org/drawingml/2006/main">
            <a:r>
              <a:t>예상 오류와 대응: 수정 예산표 공유와 장비 예약 확인을 하나로 합쳐 누락하지 않도록 봅니다.</a:t>
            </a:r>
          </a:p>
          <a:p xmlns:a="http://schemas.openxmlformats.org/drawingml/2006/main">
            <a:r>
              <a:t/>
            </a:r>
          </a:p>
          <a:p xmlns:a="http://schemas.openxmlformats.org/drawingml/2006/main">
            <a:r>
              <a:t>수업 링크: https://zeusk302-png.github.io/gyeongnam-ai-workshop/#g-meeting</a:t>
            </a:r>
          </a:p>
          <a:p xmlns:a="http://schemas.openxmlformats.org/drawingml/2006/main">
            <a:r>
              <a:t/>
            </a:r>
          </a:p>
          <a:p xmlns:a="http://schemas.openxmlformats.org/drawingml/2006/main">
            <a:r>
              <a:t>실습 안내: 회의 원문을 새 대화에 넣어 최종 결정과 후속 업무를 정리합니다.</a:t>
            </a:r>
          </a:p>
          <a:p xmlns:a="http://schemas.openxmlformats.org/drawingml/2006/main">
            <a:r>
              <a:t/>
            </a:r>
          </a:p>
          <a:p xmlns:a="http://schemas.openxmlformats.org/drawingml/2006/main">
            <a:r>
              <a:t>진행 순서: 최종 결정은 주제별로 6개 이내 / 보류·미승인·담당 미정은 별도 목록 / 업무마다 담당, 마감일, 선행 확인과 발언 시각</a:t>
            </a:r>
          </a:p>
          <a:p xmlns:a="http://schemas.openxmlformats.org/drawingml/2006/main">
            <a:r>
              <a:t/>
            </a:r>
          </a:p>
          <a:p xmlns:a="http://schemas.openxmlformats.org/drawingml/2006/main">
            <a:r>
              <a:t>남길 결과: 후속 업무표와 정정 전후 기록</a:t>
            </a:r>
          </a:p>
          <a:p xmlns:a="http://schemas.openxmlformats.org/drawingml/2006/main">
            <a:r>
              <a:t/>
            </a:r>
          </a:p>
          <a:p xmlns:a="http://schemas.openxmlformats.org/drawingml/2006/main">
            <a:r>
              <a:t>원자료·대조 기준: https://zeusk302-png.github.io/gyeongnam-ai-workshop/downloads/%ED%99%95%EC%9E%A5/12_Gemini_%EC%9A%B4%EC%98%81%ED%9A%8C%EC%9D%98_%EC%83%81%EC%84%B8%EA%B8%B0%EB%A1%9D.txt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18. 회의 후속 업무 9건</a:t>
            </a:r>
          </a:p>
          <a:p xmlns:a="http://schemas.openxmlformats.org/drawingml/2006/main">
            <a:r>
              <a:t/>
            </a:r>
          </a:p>
          <a:p xmlns:a="http://schemas.openxmlformats.org/drawingml/2006/main">
            <a:r>
              <a:t>시간: 시작 후 44–48분, 4분 진행.</a:t>
            </a:r>
          </a:p>
          <a:p xmlns:a="http://schemas.openxmlformats.org/drawingml/2006/main">
            <a:r>
              <a:t/>
            </a:r>
          </a:p>
          <a:p xmlns:a="http://schemas.openxmlformats.org/drawingml/2006/main">
            <a:r>
              <a:t>말할 내용: 각자 만든 표와 아홉 건을 대조합니다. 문구가 같을 필요는 없지만 담당, 마감, 업무 범위가 달라서는 안 됩니다. 누락된 업무 한 개를 발견하면 원문 시각을 찾아 자신의 표에 반영하게 합니다.</a:t>
            </a:r>
          </a:p>
          <a:p xmlns:a="http://schemas.openxmlformats.org/drawingml/2006/main">
            <a:r>
              <a:t/>
            </a:r>
          </a:p>
          <a:p xmlns:a="http://schemas.openxmlformats.org/drawingml/2006/main">
            <a:r>
              <a:t>참가자에게 할 질문: 내 표에서 빠진 업무와 그 발언 시각은 무엇인가요?</a:t>
            </a:r>
          </a:p>
          <a:p xmlns:a="http://schemas.openxmlformats.org/drawingml/2006/main">
            <a:r>
              <a:t/>
            </a:r>
          </a:p>
          <a:p xmlns:a="http://schemas.openxmlformats.org/drawingml/2006/main">
            <a:r>
              <a:t>예상 오류와 대응: 모든 업무를 완료로 표시하거나, 보류 안건에 담당과 날짜를 임의로 배정하는 오류를 봅니다.</a:t>
            </a:r>
          </a:p>
          <a:p xmlns:a="http://schemas.openxmlformats.org/drawingml/2006/main">
            <a:r>
              <a:t/>
            </a:r>
          </a:p>
          <a:p xmlns:a="http://schemas.openxmlformats.org/drawingml/2006/main">
            <a:r>
              <a:t>수업 링크: https://zeusk302-png.github.io/gyeongnam-ai-workshop/#g-meeting</a:t>
            </a:r>
          </a:p>
          <a:p xmlns:a="http://schemas.openxmlformats.org/drawingml/2006/main">
            <a:r>
              <a:t/>
            </a:r>
          </a:p>
          <a:p xmlns:a="http://schemas.openxmlformats.org/drawingml/2006/main">
            <a:r>
              <a:t>화면의 표는 원자료를 바탕으로 정리한 설명·검토 예시입니다. 실제 AI 응답 캡처가 아닙니다.</a:t>
            </a:r>
          </a:p>
          <a:p xmlns:a="http://schemas.openxmlformats.org/drawingml/2006/main">
            <a:r>
              <a:t/>
            </a:r>
          </a:p>
          <a:p xmlns:a="http://schemas.openxmlformats.org/drawingml/2006/main">
            <a:r>
              <a:t>원자료·대조 기준: https://zeusk302-png.github.io/gyeongnam-ai-workshop/downloads/%ED%99%95%EC%9E%A5/12_Gemini_%EC%9A%B4%EC%98%81%ED%9A%8C%EC%9D%98_%EC%83%81%EC%84%B8%EA%B8%B0%EB%A1%9D.txt</a:t>
            </a:r>
          </a:p>
          <a:p xmlns:a="http://schemas.openxmlformats.org/drawingml/2006/main">
            <a:r>
              <a:t/>
            </a:r>
          </a:p>
          <a:p xmlns:a="http://schemas.openxmlformats.org/drawingml/2006/main">
            <a:r>
              <a:t>원자료·대조 기준: https://zeusk302-png.github.io/gyeongnam-ai-workshop/downloads/%ED%99%95%EC%9E%A5/17_%ED%99%95%EC%9E%A5%EB%B3%B8_%EA%B2%80%ED%86%A0%EA%B8%B0%EC%A4%80.md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19. 결정·보류·완료의 구분</a:t>
            </a:r>
          </a:p>
          <a:p xmlns:a="http://schemas.openxmlformats.org/drawingml/2006/main">
            <a:r>
              <a:t/>
            </a:r>
          </a:p>
          <a:p xmlns:a="http://schemas.openxmlformats.org/drawingml/2006/main">
            <a:r>
              <a:t>시간: 시작 후 48–51분, 3분 진행.</a:t>
            </a:r>
          </a:p>
          <a:p xmlns:a="http://schemas.openxmlformats.org/drawingml/2006/main">
            <a:r>
              <a:t/>
            </a:r>
          </a:p>
          <a:p xmlns:a="http://schemas.openxmlformats.org/drawingml/2006/main">
            <a:r>
              <a:t>말할 내용: 결정과 완료는 서로 다른 축입니다. 예산을 정했다고 돈을 지급한 것이 아니며, 담당과 마감일이 있다고 업무가 끝난 것도 아닙니다. 표의 상태 표현을 참가자가 직접 읽고 원문으로 설명하게 합니다.</a:t>
            </a:r>
          </a:p>
          <a:p xmlns:a="http://schemas.openxmlformats.org/drawingml/2006/main">
            <a:r>
              <a:t/>
            </a:r>
          </a:p>
          <a:p xmlns:a="http://schemas.openxmlformats.org/drawingml/2006/main">
            <a:r>
              <a:t>참가자에게 할 질문: “결정됨”을 “완료됨”으로 바꿀 수 있는 추가 기록은 무엇일까요?</a:t>
            </a:r>
          </a:p>
          <a:p xmlns:a="http://schemas.openxmlformats.org/drawingml/2006/main">
            <a:r>
              <a:t/>
            </a:r>
          </a:p>
          <a:p xmlns:a="http://schemas.openxmlformats.org/drawingml/2006/main">
            <a:r>
              <a:t>예상 오류와 대응: 보류를 취소로 바꾸거나 미승인을 영구 불가로 바꾸지 않습니다.</a:t>
            </a:r>
          </a:p>
          <a:p xmlns:a="http://schemas.openxmlformats.org/drawingml/2006/main">
            <a:r>
              <a:t/>
            </a:r>
          </a:p>
          <a:p xmlns:a="http://schemas.openxmlformats.org/drawingml/2006/main">
            <a:r>
              <a:t>수업 링크: https://zeusk302-png.github.io/gyeongnam-ai-workshop/#g-meeting</a:t>
            </a:r>
          </a:p>
          <a:p xmlns:a="http://schemas.openxmlformats.org/drawingml/2006/main">
            <a:r>
              <a:t/>
            </a:r>
          </a:p>
          <a:p xmlns:a="http://schemas.openxmlformats.org/drawingml/2006/main">
            <a:r>
              <a:t>화면의 표는 원자료를 바탕으로 정리한 설명·검토 예시입니다. 실제 AI 응답 캡처가 아닙니다.</a:t>
            </a:r>
          </a:p>
          <a:p xmlns:a="http://schemas.openxmlformats.org/drawingml/2006/main">
            <a:r>
              <a:t/>
            </a:r>
          </a:p>
          <a:p xmlns:a="http://schemas.openxmlformats.org/drawingml/2006/main">
            <a:r>
              <a:t>원자료·대조 기준: https://zeusk302-png.github.io/gyeongnam-ai-workshop/downloads/%ED%99%95%EC%9E%A5/12_Gemini_%EC%9A%B4%EC%98%81%ED%9A%8C%EC%9D%98_%EC%83%81%EC%84%B8%EA%B8%B0%EB%A1%9D.txt</a:t>
            </a:r>
          </a:p>
          <a:p xmlns:a="http://schemas.openxmlformats.org/drawingml/2006/main">
            <a:r>
              <a:t/>
            </a:r>
          </a:p>
          <a:p xmlns:a="http://schemas.openxmlformats.org/drawingml/2006/main">
            <a:r>
              <a:t>원자료·대조 기준: https://zeusk302-png.github.io/gyeongnam-ai-workshop/downloads/%ED%99%95%EC%9E%A5/17_%ED%99%95%EC%9E%A5%EB%B3%B8_%EA%B2%80%ED%86%A0%EA%B8%B0%EC%A4%80.md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20. 문서 판단과 24행 계산의 분리</a:t>
            </a:r>
          </a:p>
          <a:p xmlns:a="http://schemas.openxmlformats.org/drawingml/2006/main">
            <a:r>
              <a:t/>
            </a:r>
          </a:p>
          <a:p xmlns:a="http://schemas.openxmlformats.org/drawingml/2006/main">
            <a:r>
              <a:t>시간: 시작 후 51–54분, 3분 진행.</a:t>
            </a:r>
          </a:p>
          <a:p xmlns:a="http://schemas.openxmlformats.org/drawingml/2006/main">
            <a:r>
              <a:t/>
            </a:r>
          </a:p>
          <a:p xmlns:a="http://schemas.openxmlformats.org/drawingml/2006/main">
            <a:r>
              <a:t>말할 내용: 앞의 여섯 행 예산과 달리 이번에는 세 행사의 24행을 검토합니다. 곱셈만 맞아도 중복이나 취소가 있으면 지급 검토액은 달라집니다. 원본 행 ID를 남겨 수정 이유를 추적할 수 있게 합니다. AI는 승인 단가·중복·취소·대기 기록을 행에 연결하는 초안을 만듭니다. 수량×단가와 행사별 합계는 스프레드시트에서 다시 계산합니다. 합계가 맞더라도 승인되지 않은 행을 포함하면 틀린 결과입니다.</a:t>
            </a:r>
          </a:p>
          <a:p xmlns:a="http://schemas.openxmlformats.org/drawingml/2006/main">
            <a:r>
              <a:t/>
            </a:r>
          </a:p>
          <a:p xmlns:a="http://schemas.openxmlformats.org/drawingml/2006/main">
            <a:r>
              <a:t>참가자에게 할 질문: 견적을 받았다는 기록만으로 지급 검토액에 포함할 수 있나요?</a:t>
            </a:r>
          </a:p>
          <a:p xmlns:a="http://schemas.openxmlformats.org/drawingml/2006/main">
            <a:r>
              <a:t/>
            </a:r>
          </a:p>
          <a:p xmlns:a="http://schemas.openxmlformats.org/drawingml/2006/main">
            <a:r>
              <a:t>예상 오류와 대응: A행사 운영 장비를 참가자 대여 노트북으로 바꾸거나 취소 범위를 넓히지 않습니다.</a:t>
            </a:r>
          </a:p>
          <a:p xmlns:a="http://schemas.openxmlformats.org/drawingml/2006/main">
            <a:r>
              <a:t/>
            </a:r>
          </a:p>
          <a:p xmlns:a="http://schemas.openxmlformats.org/drawingml/2006/main">
            <a:r>
              <a:t>수업 링크: https://zeusk302-png.github.io/gyeongnam-ai-workshop/#g-budget</a:t>
            </a:r>
          </a:p>
          <a:p xmlns:a="http://schemas.openxmlformats.org/drawingml/2006/main">
            <a:r>
              <a:t/>
            </a:r>
          </a:p>
          <a:p xmlns:a="http://schemas.openxmlformats.org/drawingml/2006/main">
            <a:r>
              <a:t>화면의 표는 원자료를 바탕으로 정리한 설명·검토 예시입니다. 실제 AI 응답 캡처가 아닙니다.</a:t>
            </a:r>
          </a:p>
          <a:p xmlns:a="http://schemas.openxmlformats.org/drawingml/2006/main">
            <a:r>
              <a:t/>
            </a:r>
          </a:p>
          <a:p xmlns:a="http://schemas.openxmlformats.org/drawingml/2006/main">
            <a:r>
              <a:t>원자료·대조 기준: https://zeusk302-png.github.io/gyeongnam-ai-workshop/downloads/%ED%99%95%EC%9E%A5/13_Gemini_%EC%98%88%EC%82%B0%EA%B2%80%ED%86%A0_%EC%A7%91%ED%96%89%EC%A4%80%EB%B9%84%EC%9E%90%EB%A3%8C.txt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21. 스프레드시트로 다시 계산할 합계</a:t>
            </a:r>
          </a:p>
          <a:p xmlns:a="http://schemas.openxmlformats.org/drawingml/2006/main">
            <a:r>
              <a:t/>
            </a:r>
          </a:p>
          <a:p xmlns:a="http://schemas.openxmlformats.org/drawingml/2006/main">
            <a:r>
              <a:t>시간: 시작 후 54–58분, 4분 진행.</a:t>
            </a:r>
          </a:p>
          <a:p xmlns:a="http://schemas.openxmlformats.org/drawingml/2006/main">
            <a:r>
              <a:t/>
            </a:r>
          </a:p>
          <a:p xmlns:a="http://schemas.openxmlformats.org/drawingml/2006/main">
            <a:r>
              <a:t>말할 내용: 응답을 받으면 A06과 B09를 직접 곱하고, B08과 C05의 근거 문서를 확인합니다. C09는 견적을 지우거나 단가를 0으로 바꾸지 말고 이번 반영액만 0으로 분리합니다. 기다리는 동안 각자 원문에서 확인할 행을 표시합니다. 검산할 때 원문을 스프레드시트에 옮기고 행별 곱셈과 합계 수식을 남깁니다. AI가 쓴 계산식을 다시 AI에게 확인받는 것만으로 검산을 마치지 않습니다. 별도 검산용 XLSX 파일은 제공되지 않습니다. 원자료의 24행 구매표를 사용자가 스프레드시트에 옮기고 행별 계산과 합계 수식을 남깁니다.</a:t>
            </a:r>
          </a:p>
          <a:p xmlns:a="http://schemas.openxmlformats.org/drawingml/2006/main">
            <a:r>
              <a:t/>
            </a:r>
          </a:p>
          <a:p xmlns:a="http://schemas.openxmlformats.org/drawingml/2006/main">
            <a:r>
              <a:t>참가자에게 할 질문: C09의 0원은 무료 계약인가요, 이번 합계의 반영액인가요?</a:t>
            </a:r>
          </a:p>
          <a:p xmlns:a="http://schemas.openxmlformats.org/drawingml/2006/main">
            <a:r>
              <a:t/>
            </a:r>
          </a:p>
          <a:p xmlns:a="http://schemas.openxmlformats.org/drawingml/2006/main">
            <a:r>
              <a:t>예상 오류와 대응: 세 합계를 이름 없이 하나의 총액으로 출력하거나 승인 단가 적용과 단순 곱셈을 혼동하는 오류를 봅니다.</a:t>
            </a:r>
          </a:p>
          <a:p xmlns:a="http://schemas.openxmlformats.org/drawingml/2006/main">
            <a:r>
              <a:t/>
            </a:r>
          </a:p>
          <a:p xmlns:a="http://schemas.openxmlformats.org/drawingml/2006/main">
            <a:r>
              <a:t>수업 링크: https://zeusk302-png.github.io/gyeongnam-ai-workshop/#g-budget</a:t>
            </a:r>
          </a:p>
          <a:p xmlns:a="http://schemas.openxmlformats.org/drawingml/2006/main">
            <a:r>
              <a:t/>
            </a:r>
          </a:p>
          <a:p xmlns:a="http://schemas.openxmlformats.org/drawingml/2006/main">
            <a:r>
              <a:t>실습 안내: 24행 검토 질문을 전송하고 합계의 이름과 적용 규칙을 확인합니다.</a:t>
            </a:r>
          </a:p>
          <a:p xmlns:a="http://schemas.openxmlformats.org/drawingml/2006/main">
            <a:r>
              <a:t/>
            </a:r>
          </a:p>
          <a:p xmlns:a="http://schemas.openxmlformats.org/drawingml/2006/main">
            <a:r>
              <a:t>진행 순서: 기재금액 그대로 더한 합계 / 원표 수량과 표 단가로 곱한 합계 / 승인·중복·취소·대기를 반영한 합계</a:t>
            </a:r>
          </a:p>
          <a:p xmlns:a="http://schemas.openxmlformats.org/drawingml/2006/main">
            <a:r>
              <a:t/>
            </a:r>
          </a:p>
          <a:p xmlns:a="http://schemas.openxmlformats.org/drawingml/2006/main">
            <a:r>
              <a:t>남길 결과: 24행 검토표, 행사별 합계, 보완 요청문</a:t>
            </a:r>
          </a:p>
          <a:p xmlns:a="http://schemas.openxmlformats.org/drawingml/2006/main">
            <a:r>
              <a:t/>
            </a:r>
          </a:p>
          <a:p xmlns:a="http://schemas.openxmlformats.org/drawingml/2006/main">
            <a:r>
              <a:t>원자료·대조 기준: https://zeusk302-png.github.io/gyeongnam-ai-workshop/downloads/%ED%99%95%EC%9E%A5/13_Gemini_%EC%98%88%EC%82%B0%EA%B2%80%ED%86%A0_%EC%A7%91%ED%96%89%EC%A4%80%EB%B9%84%EC%9E%90%EB%A3%8C.txt</a:t>
            </a:r>
          </a:p>
          <a:p xmlns:a="http://schemas.openxmlformats.org/drawingml/2006/main">
            <a:r>
              <a:t/>
            </a:r>
          </a:p>
          <a:p xmlns:a="http://schemas.openxmlformats.org/drawingml/2006/main">
            <a:r>
              <a:t>원자료·대조 기준: https://zeusk302-png.github.io/gyeongnam-ai-workshop/downloads/%ED%99%95%EC%9E%A5/17_%ED%99%95%EC%9E%A5%EB%B3%B8_%EA%B2%80%ED%86%A0%EA%B8%B0%EC%A4%80.md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22. 행사별 한도까지 확인한 결과</a:t>
            </a:r>
          </a:p>
          <a:p xmlns:a="http://schemas.openxmlformats.org/drawingml/2006/main">
            <a:r>
              <a:t/>
            </a:r>
          </a:p>
          <a:p xmlns:a="http://schemas.openxmlformats.org/drawingml/2006/main">
            <a:r>
              <a:t>시간: 시작 후 58–65분, 7분 진행.</a:t>
            </a:r>
          </a:p>
          <a:p xmlns:a="http://schemas.openxmlformats.org/drawingml/2006/main">
            <a:r>
              <a:t/>
            </a:r>
          </a:p>
          <a:p xmlns:a="http://schemas.openxmlformats.org/drawingml/2006/main">
            <a:r>
              <a:t>말할 내용: 7분 중 앞의 3분은 계산기로 표를 대조하고 다음 2분은 보완 요청문을 작성하며 마지막 2분은 짝과 비교합니다. 최종 조정 합계는 2,530,000원입니다. B의 초과를 A나 C의 잔액으로 자동 충당할 승인은 없습니다. C09가 추후 승인될 때의 가정값을 현재 확정액과 섞지 않습니다. 계산 결과를 보기 전에 각자 시트의 행별 수식과 합계 범위를 확인하게 합니다. 전체 잔액은 B행사의 한도 초과를 승인해 주지 않습니다.</a:t>
            </a:r>
          </a:p>
          <a:p xmlns:a="http://schemas.openxmlformats.org/drawingml/2006/main">
            <a:r>
              <a:t/>
            </a:r>
          </a:p>
          <a:p xmlns:a="http://schemas.openxmlformats.org/drawingml/2006/main">
            <a:r>
              <a:t>참가자에게 할 질문: 전체 예산이 남는데도 B에 보완 요청을 해야 하는 이유는 무엇인가요?</a:t>
            </a:r>
          </a:p>
          <a:p xmlns:a="http://schemas.openxmlformats.org/drawingml/2006/main">
            <a:r>
              <a:t/>
            </a:r>
          </a:p>
          <a:p xmlns:a="http://schemas.openxmlformats.org/drawingml/2006/main">
            <a:r>
              <a:t>예상 오류와 대응: 원금액을 삭제하거나 한도에 맞게 수량을 임의 조정하지 않도록 봅니다.</a:t>
            </a:r>
          </a:p>
          <a:p xmlns:a="http://schemas.openxmlformats.org/drawingml/2006/main">
            <a:r>
              <a:t/>
            </a:r>
          </a:p>
          <a:p xmlns:a="http://schemas.openxmlformats.org/drawingml/2006/main">
            <a:r>
              <a:t>수업 링크: https://zeusk302-png.github.io/gyeongnam-ai-workshop/#g-budget</a:t>
            </a:r>
          </a:p>
          <a:p xmlns:a="http://schemas.openxmlformats.org/drawingml/2006/main">
            <a:r>
              <a:t/>
            </a:r>
          </a:p>
          <a:p xmlns:a="http://schemas.openxmlformats.org/drawingml/2006/main">
            <a:r>
              <a:t>화면의 표는 원자료를 바탕으로 정리한 설명·검토 예시입니다. 실제 AI 응답 캡처가 아닙니다.</a:t>
            </a:r>
          </a:p>
          <a:p xmlns:a="http://schemas.openxmlformats.org/drawingml/2006/main">
            <a:r>
              <a:t/>
            </a:r>
          </a:p>
          <a:p xmlns:a="http://schemas.openxmlformats.org/drawingml/2006/main">
            <a:r>
              <a:t>원자료·대조 기준: https://zeusk302-png.github.io/gyeongnam-ai-workshop/downloads/%ED%99%95%EC%9E%A5/13_Gemini_%EC%98%88%EC%82%B0%EA%B2%80%ED%86%A0_%EC%A7%91%ED%96%89%EC%A4%80%EB%B9%84%EC%9E%90%EB%A3%8C.txt</a:t>
            </a:r>
          </a:p>
          <a:p xmlns:a="http://schemas.openxmlformats.org/drawingml/2006/main">
            <a:r>
              <a:t/>
            </a:r>
          </a:p>
          <a:p xmlns:a="http://schemas.openxmlformats.org/drawingml/2006/main">
            <a:r>
              <a:t>원자료·대조 기준: https://zeusk302-png.github.io/gyeongnam-ai-workshop/downloads/%ED%99%95%EC%9E%A5/17_%ED%99%95%EC%9E%A5%EB%B3%B8_%EA%B2%80%ED%86%A0%EA%B8%B0%EC%A4%80.md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23. 휴식</a:t>
            </a:r>
          </a:p>
          <a:p xmlns:a="http://schemas.openxmlformats.org/drawingml/2006/main">
            <a:r>
              <a:t/>
            </a:r>
          </a:p>
          <a:p xmlns:a="http://schemas.openxmlformats.org/drawingml/2006/main">
            <a:r>
              <a:t>시간: 시작 후 65–70분, 5분 진행.</a:t>
            </a:r>
          </a:p>
          <a:p xmlns:a="http://schemas.openxmlformats.org/drawingml/2006/main">
            <a:r>
              <a:t/>
            </a:r>
          </a:p>
          <a:p xmlns:a="http://schemas.openxmlformats.org/drawingml/2006/main">
            <a:r>
              <a:t>말할 내용: 쉬기 전에 파일이 저장됐는지 확인하게 합니다. 다음 구간에는 네 문서를 별도 소스로 넣습니다. 로그인 문제를 해결하지 못한 참가자는 짝 실습이나 원문 대조 방식으로 이어가도록 안내합니다.</a:t>
            </a:r>
          </a:p>
          <a:p xmlns:a="http://schemas.openxmlformats.org/drawingml/2006/main">
            <a:r>
              <a:t/>
            </a:r>
          </a:p>
          <a:p xmlns:a="http://schemas.openxmlformats.org/drawingml/2006/main">
            <a:r>
              <a:t>참가자에게 할 질문: 저장한 결과를 다시 열 수 있나요?</a:t>
            </a:r>
          </a:p>
          <a:p xmlns:a="http://schemas.openxmlformats.org/drawingml/2006/main">
            <a:r>
              <a:t/>
            </a:r>
          </a:p>
          <a:p xmlns:a="http://schemas.openxmlformats.org/drawingml/2006/main">
            <a:r>
              <a:t>예상 오류와 대응: 쉬는 시간에 추가 생성 요청을 반복하다 사용량을 소모하지 않도록 안내합니다.</a:t>
            </a:r>
          </a:p>
          <a:p xmlns:a="http://schemas.openxmlformats.org/drawingml/2006/main">
            <a:r>
              <a:t/>
            </a:r>
          </a:p>
          <a:p xmlns:a="http://schemas.openxmlformats.org/drawingml/2006/main">
            <a:r>
              <a:t>수업 링크: https://zeusk302-png.github.io/gyeongnam-ai-workshop/#g-budget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24. 네 문서를 왕복하며 확인할 일</a:t>
            </a:r>
          </a:p>
          <a:p xmlns:a="http://schemas.openxmlformats.org/drawingml/2006/main">
            <a:r>
              <a:t/>
            </a:r>
          </a:p>
          <a:p xmlns:a="http://schemas.openxmlformats.org/drawingml/2006/main">
            <a:r>
              <a:t>시간: 시작 후 70–73분, 3분 진행.</a:t>
            </a:r>
          </a:p>
          <a:p xmlns:a="http://schemas.openxmlformats.org/drawingml/2006/main">
            <a:r>
              <a:t/>
            </a:r>
          </a:p>
          <a:p xmlns:a="http://schemas.openxmlformats.org/drawingml/2006/main">
            <a:r>
              <a:t>말할 내용: 문서 한 개의 단순 요약이라면 직접 읽을 수 있습니다. 여기서는 네 문서의 날짜와 승인 범위를 오가며 현재 안내를 만들어야 합니다. NotebookLM은 관련 문장과 인용을 한곳에 모으는 데 시험합니다. 읽을 근거를 찾는 시간이 줄었는지는 검토까지 마친 뒤 직접 기록합니다.</a:t>
            </a:r>
          </a:p>
          <a:p xmlns:a="http://schemas.openxmlformats.org/drawingml/2006/main">
            <a:r>
              <a:t/>
            </a:r>
          </a:p>
          <a:p xmlns:a="http://schemas.openxmlformats.org/drawingml/2006/main">
            <a:r>
              <a:t>참가자에게 할 질문: 최신 문서에 적힌 모든 문장을 공지에 반영해도 될까요?</a:t>
            </a:r>
          </a:p>
          <a:p xmlns:a="http://schemas.openxmlformats.org/drawingml/2006/main">
            <a:r>
              <a:t/>
            </a:r>
          </a:p>
          <a:p xmlns:a="http://schemas.openxmlformats.org/drawingml/2006/main">
            <a:r>
              <a:t>예상 오류와 대응: 기존 기본연습의 두 소스만 넣고 새 질문을 실행하는 오류를 확인합니다.</a:t>
            </a:r>
          </a:p>
          <a:p xmlns:a="http://schemas.openxmlformats.org/drawingml/2006/main">
            <a:r>
              <a:t/>
            </a:r>
          </a:p>
          <a:p xmlns:a="http://schemas.openxmlformats.org/drawingml/2006/main">
            <a:r>
              <a:t>수업 링크: https://zeusk302-png.github.io/gyeongnam-ai-workshop/#n-create</a:t>
            </a:r>
          </a:p>
          <a:p xmlns:a="http://schemas.openxmlformats.org/drawingml/2006/main">
            <a:r>
              <a:t/>
            </a:r>
          </a:p>
          <a:p xmlns:a="http://schemas.openxmlformats.org/drawingml/2006/main">
            <a:r>
              <a:t>원자료·대조 기준: https://zeusk302-png.github.io/gyeongnam-ai-workshop/downloads/%ED%99%95%EC%9E%A5/14A_NotebookLM_%EA%B5%90%EC%9C%A1%EC%9A%B4%EC%98%81%EC%95%88%EB%82%B4_%EC%83%81%EC%84%B8.txt</a:t>
            </a:r>
          </a:p>
          <a:p xmlns:a="http://schemas.openxmlformats.org/drawingml/2006/main">
            <a:r>
              <a:t/>
            </a:r>
          </a:p>
          <a:p xmlns:a="http://schemas.openxmlformats.org/drawingml/2006/main">
            <a:r>
              <a:t>원자료·대조 기준: https://zeusk302-png.github.io/gyeongnam-ai-workshop/downloads/%ED%99%95%EC%9E%A5/14B_NotebookLM_%EC%9A%B4%EC%98%81%ED%9A%8C%EC%9D%98_%EC%97%85%EB%AC%B4%EC%9D%B8%EA%B3%84.txt</a:t>
            </a:r>
          </a:p>
          <a:p xmlns:a="http://schemas.openxmlformats.org/drawingml/2006/main">
            <a:r>
              <a:t/>
            </a:r>
          </a:p>
          <a:p xmlns:a="http://schemas.openxmlformats.org/drawingml/2006/main">
            <a:r>
              <a:t>원자료·대조 기준: https://zeusk302-png.github.io/gyeongnam-ai-workshop/downloads/%ED%99%95%EC%9E%A5/14C_%EB%B3%80%EA%B2%BD%EA%B3%B5%EC%A7%80%EC%99%80_%EC%8A%B9%EC%9D%B8%EA%B8%B0%EB%A1%9D.txt</a:t>
            </a:r>
          </a:p>
          <a:p xmlns:a="http://schemas.openxmlformats.org/drawingml/2006/main">
            <a:r>
              <a:t/>
            </a:r>
          </a:p>
          <a:p xmlns:a="http://schemas.openxmlformats.org/drawingml/2006/main">
            <a:r>
              <a:t>원자료·대조 기준: https://zeusk302-png.github.io/gyeongnam-ai-workshop/downloads/%ED%99%95%EC%9E%A5/14D_%EC%B0%B8%EA%B0%80%EB%AC%B8%EC%9D%98_%EC%A0%91%EC%88%98%EB%AA%A9%EB%A1%9D.txt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25. 인수인계 문서 네 개</a:t>
            </a:r>
          </a:p>
          <a:p xmlns:a="http://schemas.openxmlformats.org/drawingml/2006/main">
            <a:r>
              <a:t/>
            </a:r>
          </a:p>
          <a:p xmlns:a="http://schemas.openxmlformats.org/drawingml/2006/main">
            <a:r>
              <a:t>시간: 시작 후 73–77분, 4분 진행.</a:t>
            </a:r>
          </a:p>
          <a:p xmlns:a="http://schemas.openxmlformats.org/drawingml/2006/main">
            <a:r>
              <a:t/>
            </a:r>
          </a:p>
          <a:p xmlns:a="http://schemas.openxmlformats.org/drawingml/2006/main">
            <a:r>
              <a:t>말할 내용: 네 파일의 이름과 첫머리 날짜를 함께 읽습니다. 14A에서 최초 기준을 찾고 14C에서 무엇을 바꾸었는지 확인합니다. 14D의 D15는 문의 한 건이 아니라 공통 회신 확인 항목입니다. 소스 개수와 문의 건수를 따로 확인합니다.</a:t>
            </a:r>
          </a:p>
          <a:p xmlns:a="http://schemas.openxmlformats.org/drawingml/2006/main">
            <a:r>
              <a:t/>
            </a:r>
          </a:p>
          <a:p xmlns:a="http://schemas.openxmlformats.org/drawingml/2006/main">
            <a:r>
              <a:t>참가자에게 할 질문: 네 문서 중 승인 여부를 확인할 문서는 무엇인가요?</a:t>
            </a:r>
          </a:p>
          <a:p xmlns:a="http://schemas.openxmlformats.org/drawingml/2006/main">
            <a:r>
              <a:t/>
            </a:r>
          </a:p>
          <a:p xmlns:a="http://schemas.openxmlformats.org/drawingml/2006/main">
            <a:r>
              <a:t>예상 오류와 대응: D15를 열다섯 번째 문의로 세거나 답안 파일을 소스로 올리는 오류를 봅니다.</a:t>
            </a:r>
          </a:p>
          <a:p xmlns:a="http://schemas.openxmlformats.org/drawingml/2006/main">
            <a:r>
              <a:t/>
            </a:r>
          </a:p>
          <a:p xmlns:a="http://schemas.openxmlformats.org/drawingml/2006/main">
            <a:r>
              <a:t>수업 링크: https://zeusk302-png.github.io/gyeongnam-ai-workshop/#n-sources</a:t>
            </a:r>
          </a:p>
          <a:p xmlns:a="http://schemas.openxmlformats.org/drawingml/2006/main">
            <a:r>
              <a:t/>
            </a:r>
          </a:p>
          <a:p xmlns:a="http://schemas.openxmlformats.org/drawingml/2006/main">
            <a:r>
              <a:t>화면의 표는 원자료를 바탕으로 정리한 설명·검토 예시입니다. 실제 AI 응답 캡처가 아닙니다.</a:t>
            </a:r>
          </a:p>
          <a:p xmlns:a="http://schemas.openxmlformats.org/drawingml/2006/main">
            <a:r>
              <a:t/>
            </a:r>
          </a:p>
          <a:p xmlns:a="http://schemas.openxmlformats.org/drawingml/2006/main">
            <a:r>
              <a:t>원자료·대조 기준: https://zeusk302-png.github.io/gyeongnam-ai-workshop/downloads/%ED%99%95%EC%9E%A5/14A_NotebookLM_%EA%B5%90%EC%9C%A1%EC%9A%B4%EC%98%81%EC%95%88%EB%82%B4_%EC%83%81%EC%84%B8.txt</a:t>
            </a:r>
          </a:p>
          <a:p xmlns:a="http://schemas.openxmlformats.org/drawingml/2006/main">
            <a:r>
              <a:t/>
            </a:r>
          </a:p>
          <a:p xmlns:a="http://schemas.openxmlformats.org/drawingml/2006/main">
            <a:r>
              <a:t>원자료·대조 기준: https://zeusk302-png.github.io/gyeongnam-ai-workshop/downloads/%ED%99%95%EC%9E%A5/14B_NotebookLM_%EC%9A%B4%EC%98%81%ED%9A%8C%EC%9D%98_%EC%97%85%EB%AC%B4%EC%9D%B8%EA%B3%84.txt</a:t>
            </a:r>
          </a:p>
          <a:p xmlns:a="http://schemas.openxmlformats.org/drawingml/2006/main">
            <a:r>
              <a:t/>
            </a:r>
          </a:p>
          <a:p xmlns:a="http://schemas.openxmlformats.org/drawingml/2006/main">
            <a:r>
              <a:t>원자료·대조 기준: https://zeusk302-png.github.io/gyeongnam-ai-workshop/downloads/%ED%99%95%EC%9E%A5/14C_%EB%B3%80%EA%B2%BD%EA%B3%B5%EC%A7%80%EC%99%80_%EC%8A%B9%EC%9D%B8%EA%B8%B0%EB%A1%9D.txt</a:t>
            </a:r>
          </a:p>
          <a:p xmlns:a="http://schemas.openxmlformats.org/drawingml/2006/main">
            <a:r>
              <a:t/>
            </a:r>
          </a:p>
          <a:p xmlns:a="http://schemas.openxmlformats.org/drawingml/2006/main">
            <a:r>
              <a:t>원자료·대조 기준: https://zeusk302-png.github.io/gyeongnam-ai-workshop/downloads/%ED%99%95%EC%9E%A5/14D_%EC%B0%B8%EA%B0%80%EB%AC%B8%EC%9D%98_%EC%A0%91%EC%88%98%EB%AA%A9%EB%A1%9D.txt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26. 소스 추가와 목록 확인</a:t>
            </a:r>
          </a:p>
          <a:p xmlns:a="http://schemas.openxmlformats.org/drawingml/2006/main">
            <a:r>
              <a:t/>
            </a:r>
          </a:p>
          <a:p xmlns:a="http://schemas.openxmlformats.org/drawingml/2006/main">
            <a:r>
              <a:t>시간: 시작 후 77–80분, 3분 진행.</a:t>
            </a:r>
          </a:p>
          <a:p xmlns:a="http://schemas.openxmlformats.org/drawingml/2006/main">
            <a:r>
              <a:t/>
            </a:r>
          </a:p>
          <a:p xmlns:a="http://schemas.openxmlformats.org/drawingml/2006/main">
            <a:r>
              <a:t>말할 내용: 이 참고 화면은 소스를 추가하는 위치를 보여 줍니다. 화면 안의 2/50은 과거 기본연습의 표시이며 오늘 소스 개수를 뜻하지 않습니다. 같은 내용을 두 번 넣지 말고 네 파일이 각각 하나씩 보이는지 확인하세요.</a:t>
            </a:r>
          </a:p>
          <a:p xmlns:a="http://schemas.openxmlformats.org/drawingml/2006/main">
            <a:r>
              <a:t/>
            </a:r>
          </a:p>
          <a:p xmlns:a="http://schemas.openxmlformats.org/drawingml/2006/main">
            <a:r>
              <a:t>참가자에게 할 질문: 목록에 14A, 14B, 14C, 14D가 모두 보이나요?</a:t>
            </a:r>
          </a:p>
          <a:p xmlns:a="http://schemas.openxmlformats.org/drawingml/2006/main">
            <a:r>
              <a:t/>
            </a:r>
          </a:p>
          <a:p xmlns:a="http://schemas.openxmlformats.org/drawingml/2006/main">
            <a:r>
              <a:t>예상 오류와 대응: 네 문서를 한 소스로 합치거나 소스 추가 완료 전 질문을 보내지 않도록 봅니다.</a:t>
            </a:r>
          </a:p>
          <a:p xmlns:a="http://schemas.openxmlformats.org/drawingml/2006/main">
            <a:r>
              <a:t/>
            </a:r>
          </a:p>
          <a:p xmlns:a="http://schemas.openxmlformats.org/drawingml/2006/main">
            <a:r>
              <a:t>수업 링크: https://zeusk302-png.github.io/gyeongnam-ai-workshop/#n-sources</a:t>
            </a:r>
          </a:p>
          <a:p xmlns:a="http://schemas.openxmlformats.org/drawingml/2006/main">
            <a:r>
              <a:t/>
            </a:r>
          </a:p>
          <a:p xmlns:a="http://schemas.openxmlformats.org/drawingml/2006/main">
            <a:r>
              <a:t>화면 설명: 기본연습의 소스 추가 화면 참고. 오늘은 14A~14D 네 파일을 각각 넣습니다.</a:t>
            </a:r>
          </a:p>
          <a:p xmlns:a="http://schemas.openxmlformats.org/drawingml/2006/main">
            <a:r>
              <a:t/>
            </a:r>
          </a:p>
          <a:p xmlns:a="http://schemas.openxmlformats.org/drawingml/2006/main">
            <a:r>
              <a:t>화면 원본: assets/captures/n02-upload.png</a:t>
            </a:r>
          </a:p>
          <a:p xmlns:a="http://schemas.openxmlformats.org/drawingml/2006/main">
            <a:r>
              <a:t/>
            </a:r>
          </a:p>
          <a:p xmlns:a="http://schemas.openxmlformats.org/drawingml/2006/main">
            <a:r>
              <a:t>원자료·대조 기준: https://zeusk302-png.github.io/gyeongnam-ai-workshop/downloads/%ED%99%95%EC%9E%A5/14A_NotebookLM_%EA%B5%90%EC%9C%A1%EC%9A%B4%EC%98%81%EC%95%88%EB%82%B4_%EC%83%81%EC%84%B8.txt</a:t>
            </a:r>
          </a:p>
          <a:p xmlns:a="http://schemas.openxmlformats.org/drawingml/2006/main">
            <a:r>
              <a:t/>
            </a:r>
          </a:p>
          <a:p xmlns:a="http://schemas.openxmlformats.org/drawingml/2006/main">
            <a:r>
              <a:t>원자료·대조 기준: https://zeusk302-png.github.io/gyeongnam-ai-workshop/downloads/%ED%99%95%EC%9E%A5/14B_NotebookLM_%EC%9A%B4%EC%98%81%ED%9A%8C%EC%9D%98_%EC%97%85%EB%AC%B4%EC%9D%B8%EA%B3%84.txt</a:t>
            </a:r>
          </a:p>
          <a:p xmlns:a="http://schemas.openxmlformats.org/drawingml/2006/main">
            <a:r>
              <a:t/>
            </a:r>
          </a:p>
          <a:p xmlns:a="http://schemas.openxmlformats.org/drawingml/2006/main">
            <a:r>
              <a:t>원자료·대조 기준: https://zeusk302-png.github.io/gyeongnam-ai-workshop/downloads/%ED%99%95%EC%9E%A5/14C_%EB%B3%80%EA%B2%BD%EA%B3%B5%EC%A7%80%EC%99%80_%EC%8A%B9%EC%9D%B8%EA%B8%B0%EB%A1%9D.txt</a:t>
            </a:r>
          </a:p>
          <a:p xmlns:a="http://schemas.openxmlformats.org/drawingml/2006/main">
            <a:r>
              <a:t/>
            </a:r>
          </a:p>
          <a:p xmlns:a="http://schemas.openxmlformats.org/drawingml/2006/main">
            <a:r>
              <a:t>원자료·대조 기준: https://zeusk302-png.github.io/gyeongnam-ai-workshop/downloads/%ED%99%95%EC%9E%A5/14D_%EC%B0%B8%EA%B0%80%EB%AC%B8%EC%9D%98_%EC%A0%91%EC%88%98%EB%AA%A9%EB%A1%9D.txt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27. 승인된 변경의 범위</a:t>
            </a:r>
          </a:p>
          <a:p xmlns:a="http://schemas.openxmlformats.org/drawingml/2006/main">
            <a:r>
              <a:t/>
            </a:r>
          </a:p>
          <a:p xmlns:a="http://schemas.openxmlformats.org/drawingml/2006/main">
            <a:r>
              <a:t>시간: 시작 후 80–83분, 3분 진행.</a:t>
            </a:r>
          </a:p>
          <a:p xmlns:a="http://schemas.openxmlformats.org/drawingml/2006/main">
            <a:r>
              <a:t/>
            </a:r>
          </a:p>
          <a:p xmlns:a="http://schemas.openxmlformats.org/drawingml/2006/main">
            <a:r>
              <a:t>말할 내용: 신청 마감만 연장됐고 취소 기한은 그대로입니다. 장소는 추가 확인 요청을 받았지만 승인되지 않았습니다. 네 대는 총 확보량이므로 잔여량이나 특정 참가자의 배정 보장이 아닙니다.</a:t>
            </a:r>
          </a:p>
          <a:p xmlns:a="http://schemas.openxmlformats.org/drawingml/2006/main">
            <a:r>
              <a:t/>
            </a:r>
          </a:p>
          <a:p xmlns:a="http://schemas.openxmlformats.org/drawingml/2006/main">
            <a:r>
              <a:t>참가자에게 할 질문: 신청 마감이 3일 연장되면 취소 기한도 3일 늘어나나요?</a:t>
            </a:r>
          </a:p>
          <a:p xmlns:a="http://schemas.openxmlformats.org/drawingml/2006/main">
            <a:r>
              <a:t/>
            </a:r>
          </a:p>
          <a:p xmlns:a="http://schemas.openxmlformats.org/drawingml/2006/main">
            <a:r>
              <a:t>예상 오류와 대응: 최신 문서에 등장한 301호를 확정 장소로 쓰지 않도록 확인합니다.</a:t>
            </a:r>
          </a:p>
          <a:p xmlns:a="http://schemas.openxmlformats.org/drawingml/2006/main">
            <a:r>
              <a:t/>
            </a:r>
          </a:p>
          <a:p xmlns:a="http://schemas.openxmlformats.org/drawingml/2006/main">
            <a:r>
              <a:t>수업 링크: https://zeusk302-png.github.io/gyeongnam-ai-workshop/#n-summary</a:t>
            </a:r>
          </a:p>
          <a:p xmlns:a="http://schemas.openxmlformats.org/drawingml/2006/main">
            <a:r>
              <a:t/>
            </a:r>
          </a:p>
          <a:p xmlns:a="http://schemas.openxmlformats.org/drawingml/2006/main">
            <a:r>
              <a:t>화면의 표는 원자료를 바탕으로 정리한 설명·검토 예시입니다. 실제 AI 응답 캡처가 아닙니다.</a:t>
            </a:r>
          </a:p>
          <a:p xmlns:a="http://schemas.openxmlformats.org/drawingml/2006/main">
            <a:r>
              <a:t/>
            </a:r>
          </a:p>
          <a:p xmlns:a="http://schemas.openxmlformats.org/drawingml/2006/main">
            <a:r>
              <a:t>원자료·대조 기준: https://zeusk302-png.github.io/gyeongnam-ai-workshop/downloads/%ED%99%95%EC%9E%A5/14C_%EB%B3%80%EA%B2%BD%EA%B3%B5%EC%A7%80%EC%99%80_%EC%8A%B9%EC%9D%B8%EA%B8%B0%EB%A1%9D.txt</a:t>
            </a:r>
          </a:p>
          <a:p xmlns:a="http://schemas.openxmlformats.org/drawingml/2006/main">
            <a:r>
              <a:t/>
            </a:r>
          </a:p>
          <a:p xmlns:a="http://schemas.openxmlformats.org/drawingml/2006/main">
            <a:r>
              <a:t>원자료·대조 기준: https://zeusk302-png.github.io/gyeongnam-ai-workshop/downloads/%ED%99%95%EC%9E%A5/17_%ED%99%95%EC%9E%A5%EB%B3%B8_%EA%B2%80%ED%86%A0%EA%B8%B0%EC%A4%80.md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28. 바꿀 공지 세 곳과 남은 업무</a:t>
            </a:r>
          </a:p>
          <a:p xmlns:a="http://schemas.openxmlformats.org/drawingml/2006/main">
            <a:r>
              <a:t/>
            </a:r>
          </a:p>
          <a:p xmlns:a="http://schemas.openxmlformats.org/drawingml/2006/main">
            <a:r>
              <a:t>시간: 시작 후 83–87분, 4분 진행.</a:t>
            </a:r>
          </a:p>
          <a:p xmlns:a="http://schemas.openxmlformats.org/drawingml/2006/main">
            <a:r>
              <a:t/>
            </a:r>
          </a:p>
          <a:p xmlns:a="http://schemas.openxmlformats.org/drawingml/2006/main">
            <a:r>
              <a:t>말할 내용: 첫 질문은 현재 담당자가 무엇을 고쳐야 하는지 알 수 있는 표를 만듭니다. 승인 기록과 담당을 붙이도록 하고 문장만 고쳤다고 실제 게시 완료로 적지 않게 합니다. 답변에 인용이 없으면 그 행을 확인 필요로 표시하세요. 문서 세 곳을 사람이 각각 찾아야 하는 과정을 AI의 후보 목록과 비교합니다. AI가 제시한 위치 중 실제로 수정 대상인 문장이 몇 개인지 직접 확인합니다.</a:t>
            </a:r>
          </a:p>
          <a:p xmlns:a="http://schemas.openxmlformats.org/drawingml/2006/main">
            <a:r>
              <a:t/>
            </a:r>
          </a:p>
          <a:p xmlns:a="http://schemas.openxmlformats.org/drawingml/2006/main">
            <a:r>
              <a:t>참가자에게 할 질문: 세 곳 중 한 곳만 고친 기록으로 전체 완료를 표시할 수 있나요?</a:t>
            </a:r>
          </a:p>
          <a:p xmlns:a="http://schemas.openxmlformats.org/drawingml/2006/main">
            <a:r>
              <a:t/>
            </a:r>
          </a:p>
          <a:p xmlns:a="http://schemas.openxmlformats.org/drawingml/2006/main">
            <a:r>
              <a:t>예상 오류와 대응: 변경 승인과 공지 수정 완료를 같은 상태로 묶는 오류를 봅니다.</a:t>
            </a:r>
          </a:p>
          <a:p xmlns:a="http://schemas.openxmlformats.org/drawingml/2006/main">
            <a:r>
              <a:t/>
            </a:r>
          </a:p>
          <a:p xmlns:a="http://schemas.openxmlformats.org/drawingml/2006/main">
            <a:r>
              <a:t>수업 링크: https://zeusk302-png.github.io/gyeongnam-ai-workshop/#n-summary</a:t>
            </a:r>
          </a:p>
          <a:p xmlns:a="http://schemas.openxmlformats.org/drawingml/2006/main">
            <a:r>
              <a:t/>
            </a:r>
          </a:p>
          <a:p xmlns:a="http://schemas.openxmlformats.org/drawingml/2006/main">
            <a:r>
              <a:t>실습 안내: 첫 질문으로 최신 운영 조건과 구공지 수정표를 만듭니다.</a:t>
            </a:r>
          </a:p>
          <a:p xmlns:a="http://schemas.openxmlformats.org/drawingml/2006/main">
            <a:r>
              <a:t/>
            </a:r>
          </a:p>
          <a:p xmlns:a="http://schemas.openxmlformats.org/drawingml/2006/main">
            <a:r>
              <a:t>진행 순서: A3의 신청 마감 문장 / A5-2의 부서 전달용 문안 / C5에 보관된 포털 요약 문안 / 수정 요청과 수정 완료 회신을 구분</a:t>
            </a:r>
          </a:p>
          <a:p xmlns:a="http://schemas.openxmlformats.org/drawingml/2006/main">
            <a:r>
              <a:t/>
            </a:r>
          </a:p>
          <a:p xmlns:a="http://schemas.openxmlformats.org/drawingml/2006/main">
            <a:r>
              <a:t>남길 결과: 수정표 3행과 미완료 업무 5행 이내</a:t>
            </a:r>
          </a:p>
          <a:p xmlns:a="http://schemas.openxmlformats.org/drawingml/2006/main">
            <a:r>
              <a:t/>
            </a:r>
          </a:p>
          <a:p xmlns:a="http://schemas.openxmlformats.org/drawingml/2006/main">
            <a:r>
              <a:t>원자료·대조 기준: https://zeusk302-png.github.io/gyeongnam-ai-workshop/downloads/%ED%99%95%EC%9E%A5/14A_NotebookLM_%EA%B5%90%EC%9C%A1%EC%9A%B4%EC%98%81%EC%95%88%EB%82%B4_%EC%83%81%EC%84%B8.txt</a:t>
            </a:r>
          </a:p>
          <a:p xmlns:a="http://schemas.openxmlformats.org/drawingml/2006/main">
            <a:r>
              <a:t/>
            </a:r>
          </a:p>
          <a:p xmlns:a="http://schemas.openxmlformats.org/drawingml/2006/main">
            <a:r>
              <a:t>원자료·대조 기준: https://zeusk302-png.github.io/gyeongnam-ai-workshop/downloads/%ED%99%95%EC%9E%A5/14B_NotebookLM_%EC%9A%B4%EC%98%81%ED%9A%8C%EC%9D%98_%EC%97%85%EB%AC%B4%EC%9D%B8%EA%B3%84.txt</a:t>
            </a:r>
          </a:p>
          <a:p xmlns:a="http://schemas.openxmlformats.org/drawingml/2006/main">
            <a:r>
              <a:t/>
            </a:r>
          </a:p>
          <a:p xmlns:a="http://schemas.openxmlformats.org/drawingml/2006/main">
            <a:r>
              <a:t>원자료·대조 기준: https://zeusk302-png.github.io/gyeongnam-ai-workshop/downloads/%ED%99%95%EC%9E%A5/14C_%EB%B3%80%EA%B2%BD%EA%B3%B5%EC%A7%80%EC%99%80_%EC%8A%B9%EC%9D%B8%EA%B8%B0%EB%A1%9D.txt</a:t>
            </a:r>
          </a:p>
          <a:p xmlns:a="http://schemas.openxmlformats.org/drawingml/2006/main">
            <a:r>
              <a:t/>
            </a:r>
          </a:p>
          <a:p xmlns:a="http://schemas.openxmlformats.org/drawingml/2006/main">
            <a:r>
              <a:t>원자료·대조 기준: https://zeusk302-png.github.io/gyeongnam-ai-workshop/downloads/%ED%99%95%EC%9E%A5/14D_%EC%B0%B8%EA%B0%80%EB%AC%B8%EC%9D%98_%EC%A0%91%EC%88%98%EB%AA%A9%EB%A1%9D.txt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29. 네 소스를 사용한 실제 인계표</a:t>
            </a:r>
          </a:p>
          <a:p xmlns:a="http://schemas.openxmlformats.org/drawingml/2006/main">
            <a:r>
              <a:t/>
            </a:r>
          </a:p>
          <a:p xmlns:a="http://schemas.openxmlformats.org/drawingml/2006/main">
            <a:r>
              <a:t>시간: 시작 후 87–89분, 2분 진행.</a:t>
            </a:r>
          </a:p>
          <a:p xmlns:a="http://schemas.openxmlformats.org/drawingml/2006/main">
            <a:r>
              <a:t/>
            </a:r>
          </a:p>
          <a:p xmlns:a="http://schemas.openxmlformats.org/drawingml/2006/main">
            <a:r>
              <a:t>말할 내용: 실제 응답에서 인용 번호와 문단 ID를 함께 볼 수 있습니다. 문단 ID를 잘 적었다고 인용이 항상 맞는 것은 아니므로 직접 눌러 봅니다. 담당자에게 요구한 확인 시한을 참가자에게 회신을 보장한 시각으로 바꾸지 않습니다.</a:t>
            </a:r>
          </a:p>
          <a:p xmlns:a="http://schemas.openxmlformats.org/drawingml/2006/main">
            <a:r>
              <a:t/>
            </a:r>
          </a:p>
          <a:p xmlns:a="http://schemas.openxmlformats.org/drawingml/2006/main">
            <a:r>
              <a:t>참가자에게 할 질문: 이 표에 쓰인 “해야 함”은 현재 완료 상태인가요?</a:t>
            </a:r>
          </a:p>
          <a:p xmlns:a="http://schemas.openxmlformats.org/drawingml/2006/main">
            <a:r>
              <a:t/>
            </a:r>
          </a:p>
          <a:p xmlns:a="http://schemas.openxmlformats.org/drawingml/2006/main">
            <a:r>
              <a:t>예상 오류와 대응: 실행 요청문을 완료 증빙으로 읽지 않도록 합니다.</a:t>
            </a:r>
          </a:p>
          <a:p xmlns:a="http://schemas.openxmlformats.org/drawingml/2006/main">
            <a:r>
              <a:t/>
            </a:r>
          </a:p>
          <a:p xmlns:a="http://schemas.openxmlformats.org/drawingml/2006/main">
            <a:r>
              <a:t>수업 링크: https://zeusk302-png.github.io/gyeongnam-ai-workshop/#n-summary</a:t>
            </a:r>
          </a:p>
          <a:p xmlns:a="http://schemas.openxmlformats.org/drawingml/2006/main">
            <a:r>
              <a:t/>
            </a:r>
          </a:p>
          <a:p xmlns:a="http://schemas.openxmlformats.org/drawingml/2006/main">
            <a:r>
              <a:t>화면 설명: 업무실습 실제 응답 일부 확대. 확보, 배정, 회신의 상태를 따로 읽습니다.</a:t>
            </a:r>
          </a:p>
          <a:p xmlns:a="http://schemas.openxmlformats.org/drawingml/2006/main">
            <a:r>
              <a:t/>
            </a:r>
          </a:p>
          <a:p xmlns:a="http://schemas.openxmlformats.org/drawingml/2006/main">
            <a:r>
              <a:t>화면 원본: assets/captures/w02-notebook-handoff.png</a:t>
            </a:r>
          </a:p>
          <a:p xmlns:a="http://schemas.openxmlformats.org/drawingml/2006/main">
            <a:r>
              <a:t/>
            </a:r>
          </a:p>
          <a:p xmlns:a="http://schemas.openxmlformats.org/drawingml/2006/main">
            <a:r>
              <a:t>원자료·대조 기준: https://zeusk302-png.github.io/gyeongnam-ai-workshop/downloads/%ED%99%95%EC%9E%A5/14A_NotebookLM_%EA%B5%90%EC%9C%A1%EC%9A%B4%EC%98%81%EC%95%88%EB%82%B4_%EC%83%81%EC%84%B8.txt</a:t>
            </a:r>
          </a:p>
          <a:p xmlns:a="http://schemas.openxmlformats.org/drawingml/2006/main">
            <a:r>
              <a:t/>
            </a:r>
          </a:p>
          <a:p xmlns:a="http://schemas.openxmlformats.org/drawingml/2006/main">
            <a:r>
              <a:t>원자료·대조 기준: https://zeusk302-png.github.io/gyeongnam-ai-workshop/downloads/%ED%99%95%EC%9E%A5/14B_NotebookLM_%EC%9A%B4%EC%98%81%ED%9A%8C%EC%9D%98_%EC%97%85%EB%AC%B4%EC%9D%B8%EA%B3%84.txt</a:t>
            </a:r>
          </a:p>
          <a:p xmlns:a="http://schemas.openxmlformats.org/drawingml/2006/main">
            <a:r>
              <a:t/>
            </a:r>
          </a:p>
          <a:p xmlns:a="http://schemas.openxmlformats.org/drawingml/2006/main">
            <a:r>
              <a:t>원자료·대조 기준: https://zeusk302-png.github.io/gyeongnam-ai-workshop/downloads/%ED%99%95%EC%9E%A5/14C_%EB%B3%80%EA%B2%BD%EA%B3%B5%EC%A7%80%EC%99%80_%EC%8A%B9%EC%9D%B8%EA%B8%B0%EB%A1%9D.txt</a:t>
            </a:r>
          </a:p>
          <a:p xmlns:a="http://schemas.openxmlformats.org/drawingml/2006/main">
            <a:r>
              <a:t/>
            </a:r>
          </a:p>
          <a:p xmlns:a="http://schemas.openxmlformats.org/drawingml/2006/main">
            <a:r>
              <a:t>원자료·대조 기준: https://zeusk302-png.github.io/gyeongnam-ai-workshop/downloads/%ED%99%95%EC%9E%A5/14D_%EC%B0%B8%EA%B0%80%EB%AC%B8%EC%9D%98_%EC%A0%91%EC%88%98%EB%AA%A9%EB%A1%9D.txt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30. 인용을 열어 원문 확인</a:t>
            </a:r>
          </a:p>
          <a:p xmlns:a="http://schemas.openxmlformats.org/drawingml/2006/main">
            <a:r>
              <a:t/>
            </a:r>
          </a:p>
          <a:p xmlns:a="http://schemas.openxmlformats.org/drawingml/2006/main">
            <a:r>
              <a:t>시간: 시작 후 89–92분, 3분 진행.</a:t>
            </a:r>
          </a:p>
          <a:p xmlns:a="http://schemas.openxmlformats.org/drawingml/2006/main">
            <a:r>
              <a:t/>
            </a:r>
          </a:p>
          <a:p xmlns:a="http://schemas.openxmlformats.org/drawingml/2006/main">
            <a:r>
              <a:t>말할 내용: 인용을 누르면 짧은 원문이나 소스 패널이 열립니다. 기본연습 화면의 날짜를 오늘 답으로 쓰지 말고 네 소스의 C2를 확인하세요. 문장 일부만 떼어 읽으면 취소 기한이나 적용 범위를 놓칠 수 있습니다.</a:t>
            </a:r>
          </a:p>
          <a:p xmlns:a="http://schemas.openxmlformats.org/drawingml/2006/main">
            <a:r>
              <a:t/>
            </a:r>
          </a:p>
          <a:p xmlns:a="http://schemas.openxmlformats.org/drawingml/2006/main">
            <a:r>
              <a:t>참가자에게 할 질문: 인용 문장의 앞뒤에서 달라지지 않은 조건은 무엇인가요?</a:t>
            </a:r>
          </a:p>
          <a:p xmlns:a="http://schemas.openxmlformats.org/drawingml/2006/main">
            <a:r>
              <a:t/>
            </a:r>
          </a:p>
          <a:p xmlns:a="http://schemas.openxmlformats.org/drawingml/2006/main">
            <a:r>
              <a:t>예상 오류와 대응: 인용 표시가 있다는 사실만으로 정확하다고 결론 내리지 않습니다.</a:t>
            </a:r>
          </a:p>
          <a:p xmlns:a="http://schemas.openxmlformats.org/drawingml/2006/main">
            <a:r>
              <a:t/>
            </a:r>
          </a:p>
          <a:p xmlns:a="http://schemas.openxmlformats.org/drawingml/2006/main">
            <a:r>
              <a:t>수업 링크: https://zeusk302-png.github.io/gyeongnam-ai-workshop/#n-citation</a:t>
            </a:r>
          </a:p>
          <a:p xmlns:a="http://schemas.openxmlformats.org/drawingml/2006/main">
            <a:r>
              <a:t/>
            </a:r>
          </a:p>
          <a:p xmlns:a="http://schemas.openxmlformats.org/drawingml/2006/main">
            <a:r>
              <a:t>화면 설명: 기본연습의 인용 열기 조작 참고. 화면의 10월 23일은 구기한이며 오늘의 최신 마감이 아닙니다.</a:t>
            </a:r>
          </a:p>
          <a:p xmlns:a="http://schemas.openxmlformats.org/drawingml/2006/main">
            <a:r>
              <a:t/>
            </a:r>
          </a:p>
          <a:p xmlns:a="http://schemas.openxmlformats.org/drawingml/2006/main">
            <a:r>
              <a:t>화면 원본: assets/captures/n09-citation-a3.png</a:t>
            </a:r>
          </a:p>
          <a:p xmlns:a="http://schemas.openxmlformats.org/drawingml/2006/main">
            <a:r>
              <a:t/>
            </a:r>
          </a:p>
          <a:p xmlns:a="http://schemas.openxmlformats.org/drawingml/2006/main">
            <a:r>
              <a:t>원자료·대조 기준: https://zeusk302-png.github.io/gyeongnam-ai-workshop/downloads/%ED%99%95%EC%9E%A5/14A_NotebookLM_%EA%B5%90%EC%9C%A1%EC%9A%B4%EC%98%81%EC%95%88%EB%82%B4_%EC%83%81%EC%84%B8.txt</a:t>
            </a:r>
          </a:p>
          <a:p xmlns:a="http://schemas.openxmlformats.org/drawingml/2006/main">
            <a:r>
              <a:t/>
            </a:r>
          </a:p>
          <a:p xmlns:a="http://schemas.openxmlformats.org/drawingml/2006/main">
            <a:r>
              <a:t>원자료·대조 기준: https://zeusk302-png.github.io/gyeongnam-ai-workshop/downloads/%ED%99%95%EC%9E%A5/14B_NotebookLM_%EC%9A%B4%EC%98%81%ED%9A%8C%EC%9D%98_%EC%97%85%EB%AC%B4%EC%9D%B8%EA%B3%84.txt</a:t>
            </a:r>
          </a:p>
          <a:p xmlns:a="http://schemas.openxmlformats.org/drawingml/2006/main">
            <a:r>
              <a:t/>
            </a:r>
          </a:p>
          <a:p xmlns:a="http://schemas.openxmlformats.org/drawingml/2006/main">
            <a:r>
              <a:t>원자료·대조 기준: https://zeusk302-png.github.io/gyeongnam-ai-workshop/downloads/%ED%99%95%EC%9E%A5/14C_%EB%B3%80%EA%B2%BD%EA%B3%B5%EC%A7%80%EC%99%80_%EC%8A%B9%EC%9D%B8%EA%B8%B0%EB%A1%9D.txt</a:t>
            </a:r>
          </a:p>
          <a:p xmlns:a="http://schemas.openxmlformats.org/drawingml/2006/main">
            <a:r>
              <a:t/>
            </a:r>
          </a:p>
          <a:p xmlns:a="http://schemas.openxmlformats.org/drawingml/2006/main">
            <a:r>
              <a:t>원자료·대조 기준: https://zeusk302-png.github.io/gyeongnam-ai-workshop/downloads/%ED%99%95%EC%9E%A5/14D_%EC%B0%B8%EA%B0%80%EB%AC%B8%EC%9D%98_%EC%A0%91%EC%88%98%EB%AA%A9%EB%A1%9D.txt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31. 참가자 FAQ 여섯 항목</a:t>
            </a:r>
          </a:p>
          <a:p xmlns:a="http://schemas.openxmlformats.org/drawingml/2006/main">
            <a:r>
              <a:t/>
            </a:r>
          </a:p>
          <a:p xmlns:a="http://schemas.openxmlformats.org/drawingml/2006/main">
            <a:r>
              <a:t>시간: 시작 후 92–96분, 4분 진행.</a:t>
            </a:r>
          </a:p>
          <a:p xmlns:a="http://schemas.openxmlformats.org/drawingml/2006/main">
            <a:r>
              <a:t/>
            </a:r>
          </a:p>
          <a:p xmlns:a="http://schemas.openxmlformats.org/drawingml/2006/main">
            <a:r>
              <a:t>말할 내용: 두 번째 질문으로 참가자에게 보낼 표를 만듭니다. 내부 예산이나 담당자 메모가 섞이면 외부 안내에서 덜어냅니다. 표를 짧게 줄이더라도 참가 확정과 개인별 배정의 조건은 남겨야 합니다. FAQ를 읽기 쉬운 문장으로 만드는 작업과 안내의 조건이 맞는지 검증하는 작업을 분리합니다. 참가자에게 불필요한 내부 사정은 답변에서 덜어냅니다.</a:t>
            </a:r>
          </a:p>
          <a:p xmlns:a="http://schemas.openxmlformats.org/drawingml/2006/main">
            <a:r>
              <a:t/>
            </a:r>
          </a:p>
          <a:p xmlns:a="http://schemas.openxmlformats.org/drawingml/2006/main">
            <a:r>
              <a:t>참가자에게 할 질문: 참가자에게 필요한 안내와 내부 인계 내용은 어떻게 다를까요?</a:t>
            </a:r>
          </a:p>
          <a:p xmlns:a="http://schemas.openxmlformats.org/drawingml/2006/main">
            <a:r>
              <a:t/>
            </a:r>
          </a:p>
          <a:p xmlns:a="http://schemas.openxmlformats.org/drawingml/2006/main">
            <a:r>
              <a:t>예상 오류와 대응: 내부 검토 메모를 답장 본문에 붙이거나 주차를 무료라고 확장하지 않도록 봅니다.</a:t>
            </a:r>
          </a:p>
          <a:p xmlns:a="http://schemas.openxmlformats.org/drawingml/2006/main">
            <a:r>
              <a:t/>
            </a:r>
          </a:p>
          <a:p xmlns:a="http://schemas.openxmlformats.org/drawingml/2006/main">
            <a:r>
              <a:t>수업 링크: https://zeusk302-png.github.io/gyeongnam-ai-workshop/#n-citation</a:t>
            </a:r>
          </a:p>
          <a:p xmlns:a="http://schemas.openxmlformats.org/drawingml/2006/main">
            <a:r>
              <a:t/>
            </a:r>
          </a:p>
          <a:p xmlns:a="http://schemas.openxmlformats.org/drawingml/2006/main">
            <a:r>
              <a:t>화면의 표는 원자료를 바탕으로 정리한 설명·검토 예시입니다. 실제 AI 응답 캡처가 아닙니다.</a:t>
            </a:r>
          </a:p>
          <a:p xmlns:a="http://schemas.openxmlformats.org/drawingml/2006/main">
            <a:r>
              <a:t/>
            </a:r>
          </a:p>
          <a:p xmlns:a="http://schemas.openxmlformats.org/drawingml/2006/main">
            <a:r>
              <a:t>원자료·대조 기준: https://zeusk302-png.github.io/gyeongnam-ai-workshop/downloads/%ED%99%95%EC%9E%A5/14A_NotebookLM_%EA%B5%90%EC%9C%A1%EC%9A%B4%EC%98%81%EC%95%88%EB%82%B4_%EC%83%81%EC%84%B8.txt</a:t>
            </a:r>
          </a:p>
          <a:p xmlns:a="http://schemas.openxmlformats.org/drawingml/2006/main">
            <a:r>
              <a:t/>
            </a:r>
          </a:p>
          <a:p xmlns:a="http://schemas.openxmlformats.org/drawingml/2006/main">
            <a:r>
              <a:t>원자료·대조 기준: https://zeusk302-png.github.io/gyeongnam-ai-workshop/downloads/%ED%99%95%EC%9E%A5/14B_NotebookLM_%EC%9A%B4%EC%98%81%ED%9A%8C%EC%9D%98_%EC%97%85%EB%AC%B4%EC%9D%B8%EA%B3%84.txt</a:t>
            </a:r>
          </a:p>
          <a:p xmlns:a="http://schemas.openxmlformats.org/drawingml/2006/main">
            <a:r>
              <a:t/>
            </a:r>
          </a:p>
          <a:p xmlns:a="http://schemas.openxmlformats.org/drawingml/2006/main">
            <a:r>
              <a:t>원자료·대조 기준: https://zeusk302-png.github.io/gyeongnam-ai-workshop/downloads/%ED%99%95%EC%9E%A5/14C_%EB%B3%80%EA%B2%BD%EA%B3%B5%EC%A7%80%EC%99%80_%EC%8A%B9%EC%9D%B8%EA%B8%B0%EB%A1%9D.txt</a:t>
            </a:r>
          </a:p>
          <a:p xmlns:a="http://schemas.openxmlformats.org/drawingml/2006/main">
            <a:r>
              <a:t/>
            </a:r>
          </a:p>
          <a:p xmlns:a="http://schemas.openxmlformats.org/drawingml/2006/main">
            <a:r>
              <a:t>원자료·대조 기준: https://zeusk302-png.github.io/gyeongnam-ai-workshop/downloads/%ED%99%95%EC%9E%A5/14D_%EC%B0%B8%EA%B0%80%EB%AC%B8%EC%9D%98_%EC%A0%91%EC%88%98%EB%AA%A9%EB%A1%9D.txt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32. 실제 FAQ에서 마지막으로 고칠 것</a:t>
            </a:r>
          </a:p>
          <a:p xmlns:a="http://schemas.openxmlformats.org/drawingml/2006/main">
            <a:r>
              <a:t/>
            </a:r>
          </a:p>
          <a:p xmlns:a="http://schemas.openxmlformats.org/drawingml/2006/main">
            <a:r>
              <a:t>시간: 시작 후 96–100분, 4분 진행.</a:t>
            </a:r>
          </a:p>
          <a:p xmlns:a="http://schemas.openxmlformats.org/drawingml/2006/main">
            <a:r>
              <a:t/>
            </a:r>
          </a:p>
          <a:p xmlns:a="http://schemas.openxmlformats.org/drawingml/2006/main">
            <a:r>
              <a:t>말할 내용: 내용이 근거와 맞아도 그대로 보내기 어려운 출력이 있습니다. 화면에는 줄바꿈 태그와 내부 검토 설명이 남았습니다. 참가자는 필요한 답변만 읽도록 정리하고 근거는 담당자 확인란으로 분리합니다. 짝과 답변 한 행을 함께 고쳐 봅니다.</a:t>
            </a:r>
          </a:p>
          <a:p xmlns:a="http://schemas.openxmlformats.org/drawingml/2006/main">
            <a:r>
              <a:t/>
            </a:r>
          </a:p>
          <a:p xmlns:a="http://schemas.openxmlformats.org/drawingml/2006/main">
            <a:r>
              <a:t>참가자에게 할 질문: 형식을 정리하면서 사라지면 안 되는 조건은 무엇인가요?</a:t>
            </a:r>
          </a:p>
          <a:p xmlns:a="http://schemas.openxmlformats.org/drawingml/2006/main">
            <a:r>
              <a:t/>
            </a:r>
          </a:p>
          <a:p xmlns:a="http://schemas.openxmlformats.org/drawingml/2006/main">
            <a:r>
              <a:t>예상 오류와 대응: 보기 좋게 줄이는 과정에서 미확정 조건까지 지우지 않도록 확인합니다.</a:t>
            </a:r>
          </a:p>
          <a:p xmlns:a="http://schemas.openxmlformats.org/drawingml/2006/main">
            <a:r>
              <a:t/>
            </a:r>
          </a:p>
          <a:p xmlns:a="http://schemas.openxmlformats.org/drawingml/2006/main">
            <a:r>
              <a:t>수업 링크: https://zeusk302-png.github.io/gyeongnam-ai-workshop/#n-citation</a:t>
            </a:r>
          </a:p>
          <a:p xmlns:a="http://schemas.openxmlformats.org/drawingml/2006/main">
            <a:r>
              <a:t/>
            </a:r>
          </a:p>
          <a:p xmlns:a="http://schemas.openxmlformats.org/drawingml/2006/main">
            <a:r>
              <a:t>화면 설명: 업무실습 실제 응답 일부 확대. 사실 확인 뒤 문장과 표 형식도 정리합니다.</a:t>
            </a:r>
          </a:p>
          <a:p xmlns:a="http://schemas.openxmlformats.org/drawingml/2006/main">
            <a:r>
              <a:t/>
            </a:r>
          </a:p>
          <a:p xmlns:a="http://schemas.openxmlformats.org/drawingml/2006/main">
            <a:r>
              <a:t>화면 원본: assets/captures/w03-notebook-faq.png</a:t>
            </a:r>
          </a:p>
          <a:p xmlns:a="http://schemas.openxmlformats.org/drawingml/2006/main">
            <a:r>
              <a:t/>
            </a:r>
          </a:p>
          <a:p xmlns:a="http://schemas.openxmlformats.org/drawingml/2006/main">
            <a:r>
              <a:t>원자료·대조 기준: https://zeusk302-png.github.io/gyeongnam-ai-workshop/downloads/%ED%99%95%EC%9E%A5/14A_NotebookLM_%EA%B5%90%EC%9C%A1%EC%9A%B4%EC%98%81%EC%95%88%EB%82%B4_%EC%83%81%EC%84%B8.txt</a:t>
            </a:r>
          </a:p>
          <a:p xmlns:a="http://schemas.openxmlformats.org/drawingml/2006/main">
            <a:r>
              <a:t/>
            </a:r>
          </a:p>
          <a:p xmlns:a="http://schemas.openxmlformats.org/drawingml/2006/main">
            <a:r>
              <a:t>원자료·대조 기준: https://zeusk302-png.github.io/gyeongnam-ai-workshop/downloads/%ED%99%95%EC%9E%A5/14B_NotebookLM_%EC%9A%B4%EC%98%81%ED%9A%8C%EC%9D%98_%EC%97%85%EB%AC%B4%EC%9D%B8%EA%B3%84.txt</a:t>
            </a:r>
          </a:p>
          <a:p xmlns:a="http://schemas.openxmlformats.org/drawingml/2006/main">
            <a:r>
              <a:t/>
            </a:r>
          </a:p>
          <a:p xmlns:a="http://schemas.openxmlformats.org/drawingml/2006/main">
            <a:r>
              <a:t>원자료·대조 기준: https://zeusk302-png.github.io/gyeongnam-ai-workshop/downloads/%ED%99%95%EC%9E%A5/14C_%EB%B3%80%EA%B2%BD%EA%B3%B5%EC%A7%80%EC%99%80_%EC%8A%B9%EC%9D%B8%EA%B8%B0%EB%A1%9D.txt</a:t>
            </a:r>
          </a:p>
          <a:p xmlns:a="http://schemas.openxmlformats.org/drawingml/2006/main">
            <a:r>
              <a:t/>
            </a:r>
          </a:p>
          <a:p xmlns:a="http://schemas.openxmlformats.org/drawingml/2006/main">
            <a:r>
              <a:t>원자료·대조 기준: https://zeusk302-png.github.io/gyeongnam-ai-workshop/downloads/%ED%99%95%EC%9E%A5/14D_%EC%B0%B8%EA%B0%80%EB%AC%B8%EC%9D%98_%EC%A0%91%EC%88%98%EB%AA%A9%EB%A1%9D.txt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33. 답변 대기 문의 14건</a:t>
            </a:r>
          </a:p>
          <a:p xmlns:a="http://schemas.openxmlformats.org/drawingml/2006/main">
            <a:r>
              <a:t/>
            </a:r>
          </a:p>
          <a:p xmlns:a="http://schemas.openxmlformats.org/drawingml/2006/main">
            <a:r>
              <a:t>시간: 시작 후 100–105분, 5분 진행.</a:t>
            </a:r>
          </a:p>
          <a:p xmlns:a="http://schemas.openxmlformats.org/drawingml/2006/main">
            <a:r>
              <a:t/>
            </a:r>
          </a:p>
          <a:p xmlns:a="http://schemas.openxmlformats.org/drawingml/2006/main">
            <a:r>
              <a:t>말할 내용: 각 문의에 답할 내용과 확인할 내용이 함께 있을 수 있습니다. 하나의 상태만 고르더라도 확인할 항목 칸에서 남은 질문을 구체적으로 적게 합니다. 전체를 꼼꼼히 읽기 어려우면 D05, D08, D13을 우선 대조합니다. 문의14건의 ID를 유지해야 행 누락과 수신 범위 오류를 발견할 수 있습니다. 참가자 회신과 내부 확인 요청을 같은 문단에 합치지 않습니다.</a:t>
            </a:r>
          </a:p>
          <a:p xmlns:a="http://schemas.openxmlformats.org/drawingml/2006/main">
            <a:r>
              <a:t/>
            </a:r>
          </a:p>
          <a:p xmlns:a="http://schemas.openxmlformats.org/drawingml/2006/main">
            <a:r>
              <a:t>참가자에게 할 질문: 담당 확인이라고만 쓴 표를 다음 담당자가 바로 처리할 수 있나요?</a:t>
            </a:r>
          </a:p>
          <a:p xmlns:a="http://schemas.openxmlformats.org/drawingml/2006/main">
            <a:r>
              <a:t/>
            </a:r>
          </a:p>
          <a:p xmlns:a="http://schemas.openxmlformats.org/drawingml/2006/main">
            <a:r>
              <a:t>예상 오류와 대응: 누구에게 무엇을 물을지 없이 확인 필요만 반복하거나 D15를 새 문의로 세지 않도록 봅니다.</a:t>
            </a:r>
          </a:p>
          <a:p xmlns:a="http://schemas.openxmlformats.org/drawingml/2006/main">
            <a:r>
              <a:t/>
            </a:r>
          </a:p>
          <a:p xmlns:a="http://schemas.openxmlformats.org/drawingml/2006/main">
            <a:r>
              <a:t>수업 링크: https://zeusk302-png.github.io/gyeongnam-ai-workshop/#n-missing</a:t>
            </a:r>
          </a:p>
          <a:p xmlns:a="http://schemas.openxmlformats.org/drawingml/2006/main">
            <a:r>
              <a:t/>
            </a:r>
          </a:p>
          <a:p xmlns:a="http://schemas.openxmlformats.org/drawingml/2006/main">
            <a:r>
              <a:t>실습 안내: 세 번째 질문으로 문의별 답변과 담당자에게 확인할 질문을 나눕니다.</a:t>
            </a:r>
          </a:p>
          <a:p xmlns:a="http://schemas.openxmlformats.org/drawingml/2006/main">
            <a:r>
              <a:t/>
            </a:r>
          </a:p>
          <a:p xmlns:a="http://schemas.openxmlformats.org/drawingml/2006/main">
            <a:r>
              <a:t>진행 순서: D01~D14를 중복 없이 처리표에 포함 / D01~D12 참가자 문의와 D13·D14 내부 문의 구분 / 답변 가능, 조건부 안내, 담당 확인을 선택 / 상태 옆에 무엇이 불확실한지 구체적으로 기록</a:t>
            </a:r>
          </a:p>
          <a:p xmlns:a="http://schemas.openxmlformats.org/drawingml/2006/main">
            <a:r>
              <a:t/>
            </a:r>
          </a:p>
          <a:p xmlns:a="http://schemas.openxmlformats.org/drawingml/2006/main">
            <a:r>
              <a:t>남길 결과: 문의 처리표 14행</a:t>
            </a:r>
          </a:p>
          <a:p xmlns:a="http://schemas.openxmlformats.org/drawingml/2006/main">
            <a:r>
              <a:t/>
            </a:r>
          </a:p>
          <a:p xmlns:a="http://schemas.openxmlformats.org/drawingml/2006/main">
            <a:r>
              <a:t>원자료·대조 기준: https://zeusk302-png.github.io/gyeongnam-ai-workshop/downloads/%ED%99%95%EC%9E%A5/14A_NotebookLM_%EA%B5%90%EC%9C%A1%EC%9A%B4%EC%98%81%EC%95%88%EB%82%B4_%EC%83%81%EC%84%B8.txt</a:t>
            </a:r>
          </a:p>
          <a:p xmlns:a="http://schemas.openxmlformats.org/drawingml/2006/main">
            <a:r>
              <a:t/>
            </a:r>
          </a:p>
          <a:p xmlns:a="http://schemas.openxmlformats.org/drawingml/2006/main">
            <a:r>
              <a:t>원자료·대조 기준: https://zeusk302-png.github.io/gyeongnam-ai-workshop/downloads/%ED%99%95%EC%9E%A5/14B_NotebookLM_%EC%9A%B4%EC%98%81%ED%9A%8C%EC%9D%98_%EC%97%85%EB%AC%B4%EC%9D%B8%EA%B3%84.txt</a:t>
            </a:r>
          </a:p>
          <a:p xmlns:a="http://schemas.openxmlformats.org/drawingml/2006/main">
            <a:r>
              <a:t/>
            </a:r>
          </a:p>
          <a:p xmlns:a="http://schemas.openxmlformats.org/drawingml/2006/main">
            <a:r>
              <a:t>원자료·대조 기준: https://zeusk302-png.github.io/gyeongnam-ai-workshop/downloads/%ED%99%95%EC%9E%A5/14C_%EB%B3%80%EA%B2%BD%EA%B3%B5%EC%A7%80%EC%99%80_%EC%8A%B9%EC%9D%B8%EA%B8%B0%EB%A1%9D.txt</a:t>
            </a:r>
          </a:p>
          <a:p xmlns:a="http://schemas.openxmlformats.org/drawingml/2006/main">
            <a:r>
              <a:t/>
            </a:r>
          </a:p>
          <a:p xmlns:a="http://schemas.openxmlformats.org/drawingml/2006/main">
            <a:r>
              <a:t>원자료·대조 기준: https://zeusk302-png.github.io/gyeongnam-ai-workshop/downloads/%ED%99%95%EC%9E%A5/14D_%EC%B0%B8%EA%B0%80%EB%AC%B8%EC%9D%98_%EC%A0%91%EC%88%98%EB%AA%A9%EB%A1%9D.txt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34. 자료 없음·미정·조건부 안내</a:t>
            </a:r>
          </a:p>
          <a:p xmlns:a="http://schemas.openxmlformats.org/drawingml/2006/main">
            <a:r>
              <a:t/>
            </a:r>
          </a:p>
          <a:p xmlns:a="http://schemas.openxmlformats.org/drawingml/2006/main">
            <a:r>
              <a:t>시간: 시작 후 105–108분, 3분 진행.</a:t>
            </a:r>
          </a:p>
          <a:p xmlns:a="http://schemas.openxmlformats.org/drawingml/2006/main">
            <a:r>
              <a:t/>
            </a:r>
          </a:p>
          <a:p xmlns:a="http://schemas.openxmlformats.org/drawingml/2006/main">
            <a:r>
              <a:t>말할 내용: 주차는 요금표가 없고 녹화는 결정이 미정입니다. 대여 기기는 일부 조건은 확정됐지만 개별 배정은 아직입니다. 각각의 답변에서 알고 있는 범위까지는 안내하고 남은 항목을 담당자에게 넘깁니다.</a:t>
            </a:r>
          </a:p>
          <a:p xmlns:a="http://schemas.openxmlformats.org/drawingml/2006/main">
            <a:r>
              <a:t/>
            </a:r>
          </a:p>
          <a:p xmlns:a="http://schemas.openxmlformats.org/drawingml/2006/main">
            <a:r>
              <a:t>참가자에게 할 질문: “녹화본을 제공하지 않습니다”로 바꿔도 될까요?</a:t>
            </a:r>
          </a:p>
          <a:p xmlns:a="http://schemas.openxmlformats.org/drawingml/2006/main">
            <a:r>
              <a:t/>
            </a:r>
          </a:p>
          <a:p xmlns:a="http://schemas.openxmlformats.org/drawingml/2006/main">
            <a:r>
              <a:t>예상 오류와 대응: 미정을 불가로, 자료 없음을 실제 없음으로 바꾸지 않도록 봅니다.</a:t>
            </a:r>
          </a:p>
          <a:p xmlns:a="http://schemas.openxmlformats.org/drawingml/2006/main">
            <a:r>
              <a:t/>
            </a:r>
          </a:p>
          <a:p xmlns:a="http://schemas.openxmlformats.org/drawingml/2006/main">
            <a:r>
              <a:t>수업 링크: https://zeusk302-png.github.io/gyeongnam-ai-workshop/#n-missing</a:t>
            </a:r>
          </a:p>
          <a:p xmlns:a="http://schemas.openxmlformats.org/drawingml/2006/main">
            <a:r>
              <a:t/>
            </a:r>
          </a:p>
          <a:p xmlns:a="http://schemas.openxmlformats.org/drawingml/2006/main">
            <a:r>
              <a:t>화면의 표는 원자료를 바탕으로 정리한 설명·검토 예시입니다. 실제 AI 응답 캡처가 아닙니다.</a:t>
            </a:r>
          </a:p>
          <a:p xmlns:a="http://schemas.openxmlformats.org/drawingml/2006/main">
            <a:r>
              <a:t/>
            </a:r>
          </a:p>
          <a:p xmlns:a="http://schemas.openxmlformats.org/drawingml/2006/main">
            <a:r>
              <a:t>원자료·대조 기준: https://zeusk302-png.github.io/gyeongnam-ai-workshop/downloads/%ED%99%95%EC%9E%A5/14A_NotebookLM_%EA%B5%90%EC%9C%A1%EC%9A%B4%EC%98%81%EC%95%88%EB%82%B4_%EC%83%81%EC%84%B8.txt</a:t>
            </a:r>
          </a:p>
          <a:p xmlns:a="http://schemas.openxmlformats.org/drawingml/2006/main">
            <a:r>
              <a:t/>
            </a:r>
          </a:p>
          <a:p xmlns:a="http://schemas.openxmlformats.org/drawingml/2006/main">
            <a:r>
              <a:t>원자료·대조 기준: https://zeusk302-png.github.io/gyeongnam-ai-workshop/downloads/%ED%99%95%EC%9E%A5/14B_NotebookLM_%EC%9A%B4%EC%98%81%ED%9A%8C%EC%9D%98_%EC%97%85%EB%AC%B4%EC%9D%B8%EA%B3%84.txt</a:t>
            </a:r>
          </a:p>
          <a:p xmlns:a="http://schemas.openxmlformats.org/drawingml/2006/main">
            <a:r>
              <a:t/>
            </a:r>
          </a:p>
          <a:p xmlns:a="http://schemas.openxmlformats.org/drawingml/2006/main">
            <a:r>
              <a:t>원자료·대조 기준: https://zeusk302-png.github.io/gyeongnam-ai-workshop/downloads/%ED%99%95%EC%9E%A5/14C_%EB%B3%80%EA%B2%BD%EA%B3%B5%EC%A7%80%EC%99%80_%EC%8A%B9%EC%9D%B8%EA%B8%B0%EB%A1%9D.txt</a:t>
            </a:r>
          </a:p>
          <a:p xmlns:a="http://schemas.openxmlformats.org/drawingml/2006/main">
            <a:r>
              <a:t/>
            </a:r>
          </a:p>
          <a:p xmlns:a="http://schemas.openxmlformats.org/drawingml/2006/main">
            <a:r>
              <a:t>원자료·대조 기준: https://zeusk302-png.github.io/gyeongnam-ai-workshop/downloads/%ED%99%95%EC%9E%A5/14D_%EC%B0%B8%EA%B0%80%EB%AC%B8%EC%9D%98_%EC%A0%91%EC%88%98%EB%AA%A9%EB%A1%9D.txt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35. 완료 기록은 업무별로 다릅니다</a:t>
            </a:r>
          </a:p>
          <a:p xmlns:a="http://schemas.openxmlformats.org/drawingml/2006/main">
            <a:r>
              <a:t/>
            </a:r>
          </a:p>
          <a:p xmlns:a="http://schemas.openxmlformats.org/drawingml/2006/main">
            <a:r>
              <a:t>시간: 시작 후 108–111분, 3분 진행.</a:t>
            </a:r>
          </a:p>
          <a:p xmlns:a="http://schemas.openxmlformats.org/drawingml/2006/main">
            <a:r>
              <a:t/>
            </a:r>
          </a:p>
          <a:p xmlns:a="http://schemas.openxmlformats.org/drawingml/2006/main">
            <a:r>
              <a:t>말할 내용: 기본연습에서는 안내문 완료 기록이 없었지만 오늘 업무실습에는 최초 안내문 정리 완료 기록이 있습니다. 다만 변경 반영은 별도 업무이므로 모두 완료라고 합치지 않습니다. 문서 버전이 바뀌었을 때 답도 달라질 수 있음을 확인합니다.</a:t>
            </a:r>
          </a:p>
          <a:p xmlns:a="http://schemas.openxmlformats.org/drawingml/2006/main">
            <a:r>
              <a:t/>
            </a:r>
          </a:p>
          <a:p xmlns:a="http://schemas.openxmlformats.org/drawingml/2006/main">
            <a:r>
              <a:t>참가자에게 할 질문: 최초 안내문 작성 완료가 변경 공지 수정 완료까지 뜻하나요?</a:t>
            </a:r>
          </a:p>
          <a:p xmlns:a="http://schemas.openxmlformats.org/drawingml/2006/main">
            <a:r>
              <a:t/>
            </a:r>
          </a:p>
          <a:p xmlns:a="http://schemas.openxmlformats.org/drawingml/2006/main">
            <a:r>
              <a:t>예상 오류와 대응: 옛 기본연습의 정답을 새로운 원문에 그대로 적용하지 않습니다.</a:t>
            </a:r>
          </a:p>
          <a:p xmlns:a="http://schemas.openxmlformats.org/drawingml/2006/main">
            <a:r>
              <a:t/>
            </a:r>
          </a:p>
          <a:p xmlns:a="http://schemas.openxmlformats.org/drawingml/2006/main">
            <a:r>
              <a:t>수업 링크: https://zeusk302-png.github.io/gyeongnam-ai-workshop/#n-missing</a:t>
            </a:r>
          </a:p>
          <a:p xmlns:a="http://schemas.openxmlformats.org/drawingml/2006/main">
            <a:r>
              <a:t/>
            </a:r>
          </a:p>
          <a:p xmlns:a="http://schemas.openxmlformats.org/drawingml/2006/main">
            <a:r>
              <a:t>화면의 표는 원자료를 바탕으로 정리한 설명·검토 예시입니다. 실제 AI 응답 캡처가 아닙니다.</a:t>
            </a:r>
          </a:p>
          <a:p xmlns:a="http://schemas.openxmlformats.org/drawingml/2006/main">
            <a:r>
              <a:t/>
            </a:r>
          </a:p>
          <a:p xmlns:a="http://schemas.openxmlformats.org/drawingml/2006/main">
            <a:r>
              <a:t>원자료·대조 기준: https://zeusk302-png.github.io/gyeongnam-ai-workshop/downloads/%ED%99%95%EC%9E%A5/14A_NotebookLM_%EA%B5%90%EC%9C%A1%EC%9A%B4%EC%98%81%EC%95%88%EB%82%B4_%EC%83%81%EC%84%B8.txt</a:t>
            </a:r>
          </a:p>
          <a:p xmlns:a="http://schemas.openxmlformats.org/drawingml/2006/main">
            <a:r>
              <a:t/>
            </a:r>
          </a:p>
          <a:p xmlns:a="http://schemas.openxmlformats.org/drawingml/2006/main">
            <a:r>
              <a:t>원자료·대조 기준: https://zeusk302-png.github.io/gyeongnam-ai-workshop/downloads/%ED%99%95%EC%9E%A5/14B_NotebookLM_%EC%9A%B4%EC%98%81%ED%9A%8C%EC%9D%98_%EC%97%85%EB%AC%B4%EC%9D%B8%EA%B3%84.txt</a:t>
            </a:r>
          </a:p>
          <a:p xmlns:a="http://schemas.openxmlformats.org/drawingml/2006/main">
            <a:r>
              <a:t/>
            </a:r>
          </a:p>
          <a:p xmlns:a="http://schemas.openxmlformats.org/drawingml/2006/main">
            <a:r>
              <a:t>원자료·대조 기준: https://zeusk302-png.github.io/gyeongnam-ai-workshop/downloads/%ED%99%95%EC%9E%A5/14C_%EB%B3%80%EA%B2%BD%EA%B3%B5%EC%A7%80%EC%99%80_%EC%8A%B9%EC%9D%B8%EA%B8%B0%EB%A1%9D.txt</a:t>
            </a:r>
          </a:p>
          <a:p xmlns:a="http://schemas.openxmlformats.org/drawingml/2006/main">
            <a:r>
              <a:t/>
            </a:r>
          </a:p>
          <a:p xmlns:a="http://schemas.openxmlformats.org/drawingml/2006/main">
            <a:r>
              <a:t>원자료·대조 기준: https://zeusk302-png.github.io/gyeongnam-ai-workshop/downloads/%ED%99%95%EC%9E%A5/14D_%EC%B0%B8%EA%B0%80%EB%AC%B8%EC%9D%98_%EC%A0%91%EC%88%98%EB%AA%A9%EB%A1%9D.txt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36. 30초 인계와 짝 확인</a:t>
            </a:r>
          </a:p>
          <a:p xmlns:a="http://schemas.openxmlformats.org/drawingml/2006/main">
            <a:r>
              <a:t/>
            </a:r>
          </a:p>
          <a:p xmlns:a="http://schemas.openxmlformats.org/drawingml/2006/main">
            <a:r>
              <a:t>시간: 시작 후 111–115분, 4분 진행.</a:t>
            </a:r>
          </a:p>
          <a:p xmlns:a="http://schemas.openxmlformats.org/drawingml/2006/main">
            <a:r>
              <a:t/>
            </a:r>
          </a:p>
          <a:p xmlns:a="http://schemas.openxmlformats.org/drawingml/2006/main">
            <a:r>
              <a:t>말할 내용: 앞의 1분은 준비하고 각자 30초씩 설명합니다. 나머지 시간은 빠진 조건을 확인하고 파일을 저장합니다. 오디오 생성이 지연되면 기다리지 않고 텍스트 인계로 마칩니다. 오디오를 들었다면 오래된 신청 기한이 나오는지도 확인해야 합니다. 인용을 찾아 헤맨 구간과 직접 확인한 구간을 기록합니다. 이번 문서 묶음에서 NotebookLM을 다시 쓸지, 원문 검색만으로 충분할지도 짝에게 설명합니다.</a:t>
            </a:r>
          </a:p>
          <a:p xmlns:a="http://schemas.openxmlformats.org/drawingml/2006/main">
            <a:r>
              <a:t/>
            </a:r>
          </a:p>
          <a:p xmlns:a="http://schemas.openxmlformats.org/drawingml/2006/main">
            <a:r>
              <a:t>참가자에게 할 질문: 30초 안에 꼭 남겨야 할 조건은 무엇인가요?</a:t>
            </a:r>
          </a:p>
          <a:p xmlns:a="http://schemas.openxmlformats.org/drawingml/2006/main">
            <a:r>
              <a:t/>
            </a:r>
          </a:p>
          <a:p xmlns:a="http://schemas.openxmlformats.org/drawingml/2006/main">
            <a:r>
              <a:t>예상 오류와 대응: 오디오 생성 성공을 필수 완료 기준으로 삼지 않습니다.</a:t>
            </a:r>
          </a:p>
          <a:p xmlns:a="http://schemas.openxmlformats.org/drawingml/2006/main">
            <a:r>
              <a:t/>
            </a:r>
          </a:p>
          <a:p xmlns:a="http://schemas.openxmlformats.org/drawingml/2006/main">
            <a:r>
              <a:t>수업 링크: https://zeusk302-png.github.io/gyeongnam-ai-workshop/#n-audio</a:t>
            </a:r>
          </a:p>
          <a:p xmlns:a="http://schemas.openxmlformats.org/drawingml/2006/main">
            <a:r>
              <a:t/>
            </a:r>
          </a:p>
          <a:p xmlns:a="http://schemas.openxmlformats.org/drawingml/2006/main">
            <a:r>
              <a:t>실습 안내: 최신 신청 마감과 남은 확인 두 가지를 옆 사람과 번갈아 설명합니다.</a:t>
            </a:r>
          </a:p>
          <a:p xmlns:a="http://schemas.openxmlformats.org/drawingml/2006/main">
            <a:r>
              <a:t/>
            </a:r>
          </a:p>
          <a:p xmlns:a="http://schemas.openxmlformats.org/drawingml/2006/main">
            <a:r>
              <a:t>진행 순서: 듣는 사람은 원문에서 근거 문단 찾기 / 설명에서 빠진 조건 한 가지 알려 주기 / 각자 확인한 문장과 문단 ID 기록</a:t>
            </a:r>
          </a:p>
          <a:p xmlns:a="http://schemas.openxmlformats.org/drawingml/2006/main">
            <a:r>
              <a:t/>
            </a:r>
          </a:p>
          <a:p xmlns:a="http://schemas.openxmlformats.org/drawingml/2006/main">
            <a:r>
              <a:t>남길 결과: 짧은 인계 설명과 원문 확인 기록</a:t>
            </a:r>
          </a:p>
          <a:p xmlns:a="http://schemas.openxmlformats.org/drawingml/2006/main">
            <a:r>
              <a:t/>
            </a:r>
          </a:p>
          <a:p xmlns:a="http://schemas.openxmlformats.org/drawingml/2006/main">
            <a:r>
              <a:t>원자료·대조 기준: https://zeusk302-png.github.io/gyeongnam-ai-workshop/downloads/%ED%99%95%EC%9E%A5/14A_NotebookLM_%EA%B5%90%EC%9C%A1%EC%9A%B4%EC%98%81%EC%95%88%EB%82%B4_%EC%83%81%EC%84%B8.txt</a:t>
            </a:r>
          </a:p>
          <a:p xmlns:a="http://schemas.openxmlformats.org/drawingml/2006/main">
            <a:r>
              <a:t/>
            </a:r>
          </a:p>
          <a:p xmlns:a="http://schemas.openxmlformats.org/drawingml/2006/main">
            <a:r>
              <a:t>원자료·대조 기준: https://zeusk302-png.github.io/gyeongnam-ai-workshop/downloads/%ED%99%95%EC%9E%A5/14B_NotebookLM_%EC%9A%B4%EC%98%81%ED%9A%8C%EC%9D%98_%EC%97%85%EB%AC%B4%EC%9D%B8%EA%B3%84.txt</a:t>
            </a:r>
          </a:p>
          <a:p xmlns:a="http://schemas.openxmlformats.org/drawingml/2006/main">
            <a:r>
              <a:t/>
            </a:r>
          </a:p>
          <a:p xmlns:a="http://schemas.openxmlformats.org/drawingml/2006/main">
            <a:r>
              <a:t>원자료·대조 기준: https://zeusk302-png.github.io/gyeongnam-ai-workshop/downloads/%ED%99%95%EC%9E%A5/14C_%EB%B3%80%EA%B2%BD%EA%B3%B5%EC%A7%80%EC%99%80_%EC%8A%B9%EC%9D%B8%EA%B8%B0%EB%A1%9D.txt</a:t>
            </a:r>
          </a:p>
          <a:p xmlns:a="http://schemas.openxmlformats.org/drawingml/2006/main">
            <a:r>
              <a:t/>
            </a:r>
          </a:p>
          <a:p xmlns:a="http://schemas.openxmlformats.org/drawingml/2006/main">
            <a:r>
              <a:t>원자료·대조 기준: https://zeusk302-png.github.io/gyeongnam-ai-workshop/downloads/%ED%99%95%EC%9E%A5/14D_%EC%B0%B8%EA%B0%80%EB%AC%B8%EC%9D%98_%EC%A0%91%EC%88%98%EB%AA%A9%EB%A1%9D.txt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37. 휴식</a:t>
            </a:r>
          </a:p>
          <a:p xmlns:a="http://schemas.openxmlformats.org/drawingml/2006/main">
            <a:r>
              <a:t/>
            </a:r>
          </a:p>
          <a:p xmlns:a="http://schemas.openxmlformats.org/drawingml/2006/main">
            <a:r>
              <a:t>시간: 시작 후 115–120분, 5분 진행.</a:t>
            </a:r>
          </a:p>
          <a:p xmlns:a="http://schemas.openxmlformats.org/drawingml/2006/main">
            <a:r>
              <a:t/>
            </a:r>
          </a:p>
          <a:p xmlns:a="http://schemas.openxmlformats.org/drawingml/2006/main">
            <a:r>
              <a:t>말할 내용: 다음 구간에는 행사 후 자료를 씁니다. NotebookLM의 행사 전 자료를 Claude에 함께 넣지 않도록 파일 번호를 안내합니다. 접속이 어려운 참가자는 제공된 원문과 계산표 검토에 참여할 수 있습니다.</a:t>
            </a:r>
          </a:p>
          <a:p xmlns:a="http://schemas.openxmlformats.org/drawingml/2006/main">
            <a:r>
              <a:t/>
            </a:r>
          </a:p>
          <a:p xmlns:a="http://schemas.openxmlformats.org/drawingml/2006/main">
            <a:r>
              <a:t>참가자에게 할 질문: 현재 결과에서 인용한 문서를 다시 찾을 수 있나요?</a:t>
            </a:r>
          </a:p>
          <a:p xmlns:a="http://schemas.openxmlformats.org/drawingml/2006/main">
            <a:r>
              <a:t/>
            </a:r>
          </a:p>
          <a:p xmlns:a="http://schemas.openxmlformats.org/drawingml/2006/main">
            <a:r>
              <a:t>예상 오류와 대응: 네 소스의 미정 상태를 행사 종료 후 실제 결과로 옮겨 쓰지 않도록 예고합니다.</a:t>
            </a:r>
          </a:p>
          <a:p xmlns:a="http://schemas.openxmlformats.org/drawingml/2006/main">
            <a:r>
              <a:t/>
            </a:r>
          </a:p>
          <a:p xmlns:a="http://schemas.openxmlformats.org/drawingml/2006/main">
            <a:r>
              <a:t>수업 링크: https://zeusk302-png.github.io/gyeongnam-ai-workshop/#n-audio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38. 대장과 설문을 근거로 쓰는 보고서</a:t>
            </a:r>
          </a:p>
          <a:p xmlns:a="http://schemas.openxmlformats.org/drawingml/2006/main">
            <a:r>
              <a:t/>
            </a:r>
          </a:p>
          <a:p xmlns:a="http://schemas.openxmlformats.org/drawingml/2006/main">
            <a:r>
              <a:t>시간: 시작 후 120–123분, 3분 진행.</a:t>
            </a:r>
          </a:p>
          <a:p xmlns:a="http://schemas.openxmlformats.org/drawingml/2006/main">
            <a:r>
              <a:t/>
            </a:r>
          </a:p>
          <a:p xmlns:a="http://schemas.openxmlformats.org/drawingml/2006/main">
            <a:r>
              <a:t>말할 내용: Claude 사용 이유는 숫자를 믿고 받아쓰기 위해서가 아닙니다. 여러 자료의 집계 조건을 명시하고, 확인한 수치를 결재자가 읽는 보고서로 구성합니다. 대장과 점수 행은 스프레드시트에서 중복·누락과 분모를 직접 확인한 뒤 문서에 넣습니다.</a:t>
            </a:r>
          </a:p>
          <a:p xmlns:a="http://schemas.openxmlformats.org/drawingml/2006/main">
            <a:r>
              <a:t/>
            </a:r>
          </a:p>
          <a:p xmlns:a="http://schemas.openxmlformats.org/drawingml/2006/main">
            <a:r>
              <a:t>참가자에게 할 질문: 부서장이 이 보고서에서 결정해야 하는 일은 무엇인가요?</a:t>
            </a:r>
          </a:p>
          <a:p xmlns:a="http://schemas.openxmlformats.org/drawingml/2006/main">
            <a:r>
              <a:t/>
            </a:r>
          </a:p>
          <a:p xmlns:a="http://schemas.openxmlformats.org/drawingml/2006/main">
            <a:r>
              <a:t>예상 오류와 대응: 기본연습의 500~700자 보고서 조건이나 09번 답안을 적용하지 않습니다.</a:t>
            </a:r>
          </a:p>
          <a:p xmlns:a="http://schemas.openxmlformats.org/drawingml/2006/main">
            <a:r>
              <a:t/>
            </a:r>
          </a:p>
          <a:p xmlns:a="http://schemas.openxmlformats.org/drawingml/2006/main">
            <a:r>
              <a:t>수업 링크: https://zeusk302-png.github.io/gyeongnam-ai-workshop/#c-outline</a:t>
            </a:r>
          </a:p>
          <a:p xmlns:a="http://schemas.openxmlformats.org/drawingml/2006/main">
            <a:r>
              <a:t/>
            </a:r>
          </a:p>
          <a:p xmlns:a="http://schemas.openxmlformats.org/drawingml/2006/main">
            <a:r>
              <a:t>원자료·대조 기준: https://zeusk302-png.github.io/gyeongnam-ai-workshop/downloads/%ED%99%95%EC%9E%A5/15_Claude_%EC%9A%B4%EC%98%81%EA%B2%B0%EA%B3%BC_%EC%A7%91%EA%B3%84%EC%99%80%ED%98%84%EC%9E%A5%EB%A9%94%EB%AA%A8.txt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39. 임시 집계와 확정 대장</a:t>
            </a:r>
          </a:p>
          <a:p xmlns:a="http://schemas.openxmlformats.org/drawingml/2006/main">
            <a:r>
              <a:t/>
            </a:r>
          </a:p>
          <a:p xmlns:a="http://schemas.openxmlformats.org/drawingml/2006/main">
            <a:r>
              <a:t>시간: 시작 후 123–127분, 4분 진행.</a:t>
            </a:r>
          </a:p>
          <a:p xmlns:a="http://schemas.openxmlformats.org/drawingml/2006/main">
            <a:r>
              <a:t/>
            </a:r>
          </a:p>
          <a:p xmlns:a="http://schemas.openxmlformats.org/drawingml/2006/main">
            <a:r>
              <a:t>말할 내용: 참가자에게 원자료에서 P16과 P22 설명을 찾게 합니다. 임시 숫자가 틀린 숫자라는 뜻보다 무엇을 세었는지가 다른 것입니다. 설문은 마감 시각을 기준으로 최종 원응답을 사용하고 이전 회차에는 응답별 점수가 첨부되지 않았다는 범위를 구분합니다. 출석30행과 설문 25행을 시트에서 직접 확인합니다. 서명 줄 수와 사람 수, 제출 묶음 수와 이수자 수를 같은 기준으로 세지 않습니다. 별도 XLSX 파일이 준비된 것으로 설명하지 않습니다. 제공 원자료의 대장 30행과 설문 25행을 시트에 옮겨 확인합니다.</a:t>
            </a:r>
          </a:p>
          <a:p xmlns:a="http://schemas.openxmlformats.org/drawingml/2006/main">
            <a:r>
              <a:t/>
            </a:r>
          </a:p>
          <a:p xmlns:a="http://schemas.openxmlformats.org/drawingml/2006/main">
            <a:r>
              <a:t>참가자에게 할 질문: 29줄을 29명으로 쓸 수 없는 이유는 무엇인가요?</a:t>
            </a:r>
          </a:p>
          <a:p xmlns:a="http://schemas.openxmlformats.org/drawingml/2006/main">
            <a:r>
              <a:t/>
            </a:r>
          </a:p>
          <a:p xmlns:a="http://schemas.openxmlformats.org/drawingml/2006/main">
            <a:r>
              <a:t>예상 오류와 대응: 입장 시각으로 로그인 지연 시간을 추정하거나 설문 S번호를 출석 P번호와 연결하지 않습니다.</a:t>
            </a:r>
          </a:p>
          <a:p xmlns:a="http://schemas.openxmlformats.org/drawingml/2006/main">
            <a:r>
              <a:t/>
            </a:r>
          </a:p>
          <a:p xmlns:a="http://schemas.openxmlformats.org/drawingml/2006/main">
            <a:r>
              <a:t>수업 링크: https://zeusk302-png.github.io/gyeongnam-ai-workshop/#c-outline</a:t>
            </a:r>
          </a:p>
          <a:p xmlns:a="http://schemas.openxmlformats.org/drawingml/2006/main">
            <a:r>
              <a:t/>
            </a:r>
          </a:p>
          <a:p xmlns:a="http://schemas.openxmlformats.org/drawingml/2006/main">
            <a:r>
              <a:t>화면의 표는 원자료를 바탕으로 정리한 설명·검토 예시입니다. 실제 AI 응답 캡처가 아닙니다.</a:t>
            </a:r>
          </a:p>
          <a:p xmlns:a="http://schemas.openxmlformats.org/drawingml/2006/main">
            <a:r>
              <a:t/>
            </a:r>
          </a:p>
          <a:p xmlns:a="http://schemas.openxmlformats.org/drawingml/2006/main">
            <a:r>
              <a:t>원자료·대조 기준: https://zeusk302-png.github.io/gyeongnam-ai-workshop/downloads/%ED%99%95%EC%9E%A5/15_Claude_%EC%9A%B4%EC%98%81%EA%B2%B0%EA%B3%BC_%EC%A7%91%EA%B3%84%EC%99%80%ED%98%84%EC%9E%A5%EB%A9%94%EB%AA%A8.txt</a:t>
            </a:r>
          </a:p>
          <a:p xmlns:a="http://schemas.openxmlformats.org/drawingml/2006/main">
            <a:r>
              <a:t/>
            </a:r>
          </a:p>
          <a:p xmlns:a="http://schemas.openxmlformats.org/drawingml/2006/main">
            <a:r>
              <a:t>원자료·대조 기준: https://zeusk302-png.github.io/gyeongnam-ai-workshop/downloads/%ED%99%95%EC%9E%A5/17_%ED%99%95%EC%9E%A5%EB%B3%B8_%EA%B2%80%ED%86%A0%EA%B8%B0%EC%A4%80.md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40. 보고서 목차와 결정 요청</a:t>
            </a:r>
          </a:p>
          <a:p xmlns:a="http://schemas.openxmlformats.org/drawingml/2006/main">
            <a:r>
              <a:t/>
            </a:r>
          </a:p>
          <a:p xmlns:a="http://schemas.openxmlformats.org/drawingml/2006/main">
            <a:r>
              <a:t>시간: 시작 후 127–131분, 4분 진행.</a:t>
            </a:r>
          </a:p>
          <a:p xmlns:a="http://schemas.openxmlformats.org/drawingml/2006/main">
            <a:r>
              <a:t/>
            </a:r>
          </a:p>
          <a:p xmlns:a="http://schemas.openxmlformats.org/drawingml/2006/main">
            <a:r>
              <a:t>말할 내용: 목차를 받기 전에 자료 접수표와 부서장 요청을 읽습니다. 숫자만 나열하지 말고 부서장이 무엇을 결정해야 하는지 목차에 연결합니다. 이미 보충 회차를 승인했거나 추가 예산이 확정됐다고 쓰면 원문으로 돌아갑니다. 목차만 잘 나왔다고 업무가 끝나지 않습니다. 부서장이 결정을 내릴 두 안건에 필요한 근거와 아직 없는 정보를 함께 표시해야 합니다.</a:t>
            </a:r>
          </a:p>
          <a:p xmlns:a="http://schemas.openxmlformats.org/drawingml/2006/main">
            <a:r>
              <a:t/>
            </a:r>
          </a:p>
          <a:p xmlns:a="http://schemas.openxmlformats.org/drawingml/2006/main">
            <a:r>
              <a:t>참가자에게 할 질문: 제안과 확정된 업무를 표에서 어떻게 표시할까요?</a:t>
            </a:r>
          </a:p>
          <a:p xmlns:a="http://schemas.openxmlformats.org/drawingml/2006/main">
            <a:r>
              <a:t/>
            </a:r>
          </a:p>
          <a:p xmlns:a="http://schemas.openxmlformats.org/drawingml/2006/main">
            <a:r>
              <a:t>예상 오류와 대응: 없는 담당자·날짜·예산을 구체적인 계획처럼 만드는 오류를 봅니다.</a:t>
            </a:r>
          </a:p>
          <a:p xmlns:a="http://schemas.openxmlformats.org/drawingml/2006/main">
            <a:r>
              <a:t/>
            </a:r>
          </a:p>
          <a:p xmlns:a="http://schemas.openxmlformats.org/drawingml/2006/main">
            <a:r>
              <a:t>수업 링크: https://zeusk302-png.github.io/gyeongnam-ai-workshop/#c-outline</a:t>
            </a:r>
          </a:p>
          <a:p xmlns:a="http://schemas.openxmlformats.org/drawingml/2006/main">
            <a:r>
              <a:t/>
            </a:r>
          </a:p>
          <a:p xmlns:a="http://schemas.openxmlformats.org/drawingml/2006/main">
            <a:r>
              <a:t>실습 안내: 전체 자료와 첫 질문을 입력해 사용할 자료와 목차를 정리합니다.</a:t>
            </a:r>
          </a:p>
          <a:p xmlns:a="http://schemas.openxmlformats.org/drawingml/2006/main">
            <a:r>
              <a:t/>
            </a:r>
          </a:p>
          <a:p xmlns:a="http://schemas.openxmlformats.org/drawingml/2006/main">
            <a:r>
              <a:t>진행 순서: 확정 자료와 제외할 중간 집계 구분 / 계산할 지표의 분모 표시 / 보고서 목차 네 개 작성 / 로그인 점검 절차와 보충 실습 안내 안건 포함</a:t>
            </a:r>
          </a:p>
          <a:p xmlns:a="http://schemas.openxmlformats.org/drawingml/2006/main">
            <a:r>
              <a:t/>
            </a:r>
          </a:p>
          <a:p xmlns:a="http://schemas.openxmlformats.org/drawingml/2006/main">
            <a:r>
              <a:t>남길 결과: 자료 목록, 계산 기준, 목차와 결정 요청 2건</a:t>
            </a:r>
          </a:p>
          <a:p xmlns:a="http://schemas.openxmlformats.org/drawingml/2006/main">
            <a:r>
              <a:t/>
            </a:r>
          </a:p>
          <a:p xmlns:a="http://schemas.openxmlformats.org/drawingml/2006/main">
            <a:r>
              <a:t>원자료·대조 기준: https://zeusk302-png.github.io/gyeongnam-ai-workshop/downloads/%ED%99%95%EC%9E%A5/15_Claude_%EC%9A%B4%EC%98%81%EA%B2%B0%EA%B3%BC_%EC%A7%91%EA%B3%84%EC%99%80%ED%98%84%EC%9E%A5%EB%A9%94%EB%AA%A8.txt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41. 집계표를 포함한 보고서 초안</a:t>
            </a:r>
          </a:p>
          <a:p xmlns:a="http://schemas.openxmlformats.org/drawingml/2006/main">
            <a:r>
              <a:t/>
            </a:r>
          </a:p>
          <a:p xmlns:a="http://schemas.openxmlformats.org/drawingml/2006/main">
            <a:r>
              <a:t>시간: 시작 후 131–137분, 6분 진행.</a:t>
            </a:r>
          </a:p>
          <a:p xmlns:a="http://schemas.openxmlformats.org/drawingml/2006/main">
            <a:r>
              <a:t/>
            </a:r>
          </a:p>
          <a:p xmlns:a="http://schemas.openxmlformats.org/drawingml/2006/main">
            <a:r>
              <a:t>말할 내용: 응답 대기 중에는 원자료의 설문 점수 25개와 지출 6행을 확인합니다. 비교 표의 참여 인원과 이수 인원이 맞는지 먼저 보고, 이수율의 분모가 실제 참여자인지 봅니다. 글자 수나 분량보다 필요한 결정 요청과 표가 빠지지 않는 것이 먼저입니다. 이미 사람이 확인한 계산표가 있으면 그 값을 기준으로 제공합니다. AI가 다시 바꾼 수치는 원본 시트와 대조합니다.</a:t>
            </a:r>
          </a:p>
          <a:p xmlns:a="http://schemas.openxmlformats.org/drawingml/2006/main">
            <a:r>
              <a:t/>
            </a:r>
          </a:p>
          <a:p xmlns:a="http://schemas.openxmlformats.org/drawingml/2006/main">
            <a:r>
              <a:t>참가자에게 할 질문: 이번 만족도 평균의 분모와 이수율의 분모는 각각 무엇인가요?</a:t>
            </a:r>
          </a:p>
          <a:p xmlns:a="http://schemas.openxmlformats.org/drawingml/2006/main">
            <a:r>
              <a:t/>
            </a:r>
          </a:p>
          <a:p xmlns:a="http://schemas.openxmlformats.org/drawingml/2006/main">
            <a:r>
              <a:t>예상 오류와 대응: 자유 의견 일부를 전체 참가자의 평가나 만족도 변화 원인으로 일반화하지 않습니다.</a:t>
            </a:r>
          </a:p>
          <a:p xmlns:a="http://schemas.openxmlformats.org/drawingml/2006/main">
            <a:r>
              <a:t/>
            </a:r>
          </a:p>
          <a:p xmlns:a="http://schemas.openxmlformats.org/drawingml/2006/main">
            <a:r>
              <a:t>수업 링크: https://zeusk302-png.github.io/gyeongnam-ai-workshop/#c-draft</a:t>
            </a:r>
          </a:p>
          <a:p xmlns:a="http://schemas.openxmlformats.org/drawingml/2006/main">
            <a:r>
              <a:t/>
            </a:r>
          </a:p>
          <a:p xmlns:a="http://schemas.openxmlformats.org/drawingml/2006/main">
            <a:r>
              <a:t>실습 안내: 같은 대화에서 부서장 보고서 초안을 요청합니다.</a:t>
            </a:r>
          </a:p>
          <a:p xmlns:a="http://schemas.openxmlformats.org/drawingml/2006/main">
            <a:r>
              <a:t/>
            </a:r>
          </a:p>
          <a:p xmlns:a="http://schemas.openxmlformats.org/drawingml/2006/main">
            <a:r>
              <a:t>진행 순서: 핵심 결과와 이전·이번 지표 비교표 / 운영 관찰과 결정 요청 2건 / 담당 부서·할 일·협의할 기한을 담은 후속 업무표 / 계산식과 사용 문서 ID를 별도 메모</a:t>
            </a:r>
          </a:p>
          <a:p xmlns:a="http://schemas.openxmlformats.org/drawingml/2006/main">
            <a:r>
              <a:t/>
            </a:r>
          </a:p>
          <a:p xmlns:a="http://schemas.openxmlformats.org/drawingml/2006/main">
            <a:r>
              <a:t>남길 결과: 본문 1,200~1,600자, 표와 계산 메모 별도</a:t>
            </a:r>
          </a:p>
          <a:p xmlns:a="http://schemas.openxmlformats.org/drawingml/2006/main">
            <a:r>
              <a:t/>
            </a:r>
          </a:p>
          <a:p xmlns:a="http://schemas.openxmlformats.org/drawingml/2006/main">
            <a:r>
              <a:t>원자료·대조 기준: https://zeusk302-png.github.io/gyeongnam-ai-workshop/downloads/%ED%99%95%EC%9E%A5/15_Claude_%EC%9A%B4%EC%98%81%EA%B2%B0%EA%B3%BC_%EC%A7%91%EA%B3%84%EC%99%80%ED%98%84%EC%9E%A5%EB%A9%94%EB%AA%A8.txt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42. 실제 계산 메모를 시트와 대조</a:t>
            </a:r>
          </a:p>
          <a:p xmlns:a="http://schemas.openxmlformats.org/drawingml/2006/main">
            <a:r>
              <a:t/>
            </a:r>
          </a:p>
          <a:p xmlns:a="http://schemas.openxmlformats.org/drawingml/2006/main">
            <a:r>
              <a:t>시간: 시작 후 137–142분, 5분 진행.</a:t>
            </a:r>
          </a:p>
          <a:p xmlns:a="http://schemas.openxmlformats.org/drawingml/2006/main">
            <a:r>
              <a:t/>
            </a:r>
          </a:p>
          <a:p xmlns:a="http://schemas.openxmlformats.org/drawingml/2006/main">
            <a:r>
              <a:t>말할 내용: 화면은 실제 AI 응답이지만 계산의 정답 증명은 아닙니다. 원자료를 스프레드시트에 넣고 대장의 기준과 점수 합계, 지출 합계를 직접 확인합니다. 특히 평균4.5에25를 곱하지 말고 원점수의 합계를 구합니다. 계산 도구가 익숙하지 않다면 계산기로 한 지표를 확인하고 미검증 범위를 남깁니다.</a:t>
            </a:r>
          </a:p>
          <a:p xmlns:a="http://schemas.openxmlformats.org/drawingml/2006/main">
            <a:r>
              <a:t/>
            </a:r>
          </a:p>
          <a:p xmlns:a="http://schemas.openxmlformats.org/drawingml/2006/main">
            <a:r>
              <a:t>참가자에게 할 질문: AI 답변과 별개로 다시 계산할 수 있는 원자료와 수식이 있나요?</a:t>
            </a:r>
          </a:p>
          <a:p xmlns:a="http://schemas.openxmlformats.org/drawingml/2006/main">
            <a:r>
              <a:t/>
            </a:r>
          </a:p>
          <a:p xmlns:a="http://schemas.openxmlformats.org/drawingml/2006/main">
            <a:r>
              <a:t>예상 오류와 대응: 표시 평균 4.5를 원점수 평균과 같게 취급하거나 반올림한 금액을 다음 계산의 기준으로 쓰지 않습니다.</a:t>
            </a:r>
          </a:p>
          <a:p xmlns:a="http://schemas.openxmlformats.org/drawingml/2006/main">
            <a:r>
              <a:t/>
            </a:r>
          </a:p>
          <a:p xmlns:a="http://schemas.openxmlformats.org/drawingml/2006/main">
            <a:r>
              <a:t>수업 링크: https://zeusk302-png.github.io/gyeongnam-ai-workshop/#c-draft</a:t>
            </a:r>
          </a:p>
          <a:p xmlns:a="http://schemas.openxmlformats.org/drawingml/2006/main">
            <a:r>
              <a:t/>
            </a:r>
          </a:p>
          <a:p xmlns:a="http://schemas.openxmlformats.org/drawingml/2006/main">
            <a:r>
              <a:t>화면 설명: 업무실습 실제 응답 일부 확대. 계산 메모의 숫자를 원자료로 다시 확인합니다.</a:t>
            </a:r>
          </a:p>
          <a:p xmlns:a="http://schemas.openxmlformats.org/drawingml/2006/main">
            <a:r>
              <a:t/>
            </a:r>
          </a:p>
          <a:p xmlns:a="http://schemas.openxmlformats.org/drawingml/2006/main">
            <a:r>
              <a:t>화면 원본: assets/captures/w04-claude-calculation.png</a:t>
            </a:r>
          </a:p>
          <a:p xmlns:a="http://schemas.openxmlformats.org/drawingml/2006/main">
            <a:r>
              <a:t/>
            </a:r>
          </a:p>
          <a:p xmlns:a="http://schemas.openxmlformats.org/drawingml/2006/main">
            <a:r>
              <a:t>원자료·대조 기준: https://zeusk302-png.github.io/gyeongnam-ai-workshop/downloads/%ED%99%95%EC%9E%A5/15_Claude_%EC%9A%B4%EC%98%81%EA%B2%B0%EA%B3%BC_%EC%A7%91%EA%B3%84%EC%99%80%ED%98%84%EC%9E%A5%EB%A9%94%EB%AA%A8.txt</a:t>
            </a:r>
          </a:p>
          <a:p xmlns:a="http://schemas.openxmlformats.org/drawingml/2006/main">
            <a:r>
              <a:t/>
            </a:r>
          </a:p>
          <a:p xmlns:a="http://schemas.openxmlformats.org/drawingml/2006/main">
            <a:r>
              <a:t>원자료·대조 기준: https://zeusk302-png.github.io/gyeongnam-ai-workshop/downloads/%ED%99%95%EC%9E%A5/17_%ED%99%95%EC%9E%A5%EB%B3%B8_%EA%B2%80%ED%86%A0%EA%B8%B0%EC%A4%80.md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43. 결재자가 판단할 문장</a:t>
            </a:r>
          </a:p>
          <a:p xmlns:a="http://schemas.openxmlformats.org/drawingml/2006/main">
            <a:r>
              <a:t/>
            </a:r>
          </a:p>
          <a:p xmlns:a="http://schemas.openxmlformats.org/drawingml/2006/main">
            <a:r>
              <a:t>시간: 시작 후 142–147분, 5분 진행.</a:t>
            </a:r>
          </a:p>
          <a:p xmlns:a="http://schemas.openxmlformats.org/drawingml/2006/main">
            <a:r>
              <a:t/>
            </a:r>
          </a:p>
          <a:p xmlns:a="http://schemas.openxmlformats.org/drawingml/2006/main">
            <a:r>
              <a:t>말할 내용: 세 번째 요청은 문체뿐 아니라 판단할 정보가 보이는 구조로 바꾸는 것입니다. 두 안건마다 선택지, 기대하는 효과, 추가 준비와 확인 조건을 남깁니다. 효과는 기대라고 표시하고 원문에 없는 필요 인력과 금액을 확정하지 않습니다.</a:t>
            </a:r>
          </a:p>
          <a:p xmlns:a="http://schemas.openxmlformats.org/drawingml/2006/main">
            <a:r>
              <a:t/>
            </a:r>
          </a:p>
          <a:p xmlns:a="http://schemas.openxmlformats.org/drawingml/2006/main">
            <a:r>
              <a:t>참가자에게 할 질문: 좋아졌다는 평가를 어떤 확인 가능한 사실로 바꿀 수 있나요?</a:t>
            </a:r>
          </a:p>
          <a:p xmlns:a="http://schemas.openxmlformats.org/drawingml/2006/main">
            <a:r>
              <a:t/>
            </a:r>
          </a:p>
          <a:p xmlns:a="http://schemas.openxmlformats.org/drawingml/2006/main">
            <a:r>
              <a:t>예상 오류와 대응: 기록 없음과 미시행을 같은 말로 쓰거나 개선 제안을 완료된 성과로 쓰지 않습니다.</a:t>
            </a:r>
          </a:p>
          <a:p xmlns:a="http://schemas.openxmlformats.org/drawingml/2006/main">
            <a:r>
              <a:t/>
            </a:r>
          </a:p>
          <a:p xmlns:a="http://schemas.openxmlformats.org/drawingml/2006/main">
            <a:r>
              <a:t>수업 링크: https://zeusk302-png.github.io/gyeongnam-ai-workshop/#c-revise-tone</a:t>
            </a:r>
          </a:p>
          <a:p xmlns:a="http://schemas.openxmlformats.org/drawingml/2006/main">
            <a:r>
              <a:t/>
            </a:r>
          </a:p>
          <a:p xmlns:a="http://schemas.openxmlformats.org/drawingml/2006/main">
            <a:r>
              <a:t>화면의 표는 원자료를 바탕으로 정리한 설명·검토 예시입니다. 실제 AI 응답 캡처가 아닙니다.</a:t>
            </a:r>
          </a:p>
          <a:p xmlns:a="http://schemas.openxmlformats.org/drawingml/2006/main">
            <a:r>
              <a:t/>
            </a:r>
          </a:p>
          <a:p xmlns:a="http://schemas.openxmlformats.org/drawingml/2006/main">
            <a:r>
              <a:t>원자료·대조 기준: https://zeusk302-png.github.io/gyeongnam-ai-workshop/downloads/%ED%99%95%EC%9E%A5/15_Claude_%EC%9A%B4%EC%98%81%EA%B2%B0%EA%B3%BC_%EC%A7%91%EA%B3%84%EC%99%80%ED%98%84%EC%9E%A5%EB%A9%94%EB%AA%A8.txt</a:t>
            </a:r>
          </a:p>
          <a:p xmlns:a="http://schemas.openxmlformats.org/drawingml/2006/main">
            <a:r>
              <a:t/>
            </a:r>
          </a:p>
          <a:p xmlns:a="http://schemas.openxmlformats.org/drawingml/2006/main">
            <a:r>
              <a:t>원자료·대조 기준: https://zeusk302-png.github.io/gyeongnam-ai-workshop/downloads/%ED%99%95%EC%9E%A5/17_%ED%99%95%EC%9E%A5%EB%B3%B8_%EA%B2%80%ED%86%A0%EA%B8%B0%EC%A4%80.md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44. 전체 보고서와 전달 메일</a:t>
            </a:r>
          </a:p>
          <a:p xmlns:a="http://schemas.openxmlformats.org/drawingml/2006/main">
            <a:r>
              <a:t/>
            </a:r>
          </a:p>
          <a:p xmlns:a="http://schemas.openxmlformats.org/drawingml/2006/main">
            <a:r>
              <a:t>시간: 시작 후 147–151분, 4분 진행.</a:t>
            </a:r>
          </a:p>
          <a:p xmlns:a="http://schemas.openxmlformats.org/drawingml/2006/main">
            <a:r>
              <a:t/>
            </a:r>
          </a:p>
          <a:p xmlns:a="http://schemas.openxmlformats.org/drawingml/2006/main">
            <a:r>
              <a:t>말할 내용: 네 번째 요청은 전체 보고서를 줄여 덮어쓰는 것이 아니라 전달 메일을 따로 작성하는 일입니다. 메일에 남긴 수치가 보고서와 같은지 보세요. 첨부 파일을 만들거나 실제로 보냈다고 쓴 문장은 초안 목적에 맞게 고칩니다.</a:t>
            </a:r>
          </a:p>
          <a:p xmlns:a="http://schemas.openxmlformats.org/drawingml/2006/main">
            <a:r>
              <a:t/>
            </a:r>
          </a:p>
          <a:p xmlns:a="http://schemas.openxmlformats.org/drawingml/2006/main">
            <a:r>
              <a:t>참가자에게 할 질문: 메일만 읽어도 부서장이 결정할 두 안건을 알 수 있나요?</a:t>
            </a:r>
          </a:p>
          <a:p xmlns:a="http://schemas.openxmlformats.org/drawingml/2006/main">
            <a:r>
              <a:t/>
            </a:r>
          </a:p>
          <a:p xmlns:a="http://schemas.openxmlformats.org/drawingml/2006/main">
            <a:r>
              <a:t>예상 오류와 대응: 전체 보고서를 삭제하고 짧은 메일만 남기거나 수치·결정 요청이 서로 달라지는 오류를 봅니다.</a:t>
            </a:r>
          </a:p>
          <a:p xmlns:a="http://schemas.openxmlformats.org/drawingml/2006/main">
            <a:r>
              <a:t/>
            </a:r>
          </a:p>
          <a:p xmlns:a="http://schemas.openxmlformats.org/drawingml/2006/main">
            <a:r>
              <a:t>수업 링크: https://zeusk302-png.github.io/gyeongnam-ai-workshop/#c-revise-length</a:t>
            </a:r>
          </a:p>
          <a:p xmlns:a="http://schemas.openxmlformats.org/drawingml/2006/main">
            <a:r>
              <a:t/>
            </a:r>
          </a:p>
          <a:p xmlns:a="http://schemas.openxmlformats.org/drawingml/2006/main">
            <a:r>
              <a:t>원자료·대조 기준: https://zeusk302-png.github.io/gyeongnam-ai-workshop/downloads/%ED%99%95%EC%9E%A5/15_Claude_%EC%9A%B4%EC%98%81%EA%B2%B0%EA%B3%BC_%EC%A7%91%EA%B3%84%EC%99%80%ED%98%84%EC%9E%A5%EB%A9%94%EB%AA%A8.txt</a:t>
            </a:r>
          </a:p>
          <a:p xmlns:a="http://schemas.openxmlformats.org/drawingml/2006/main">
            <a:r>
              <a:t/>
            </a:r>
          </a:p>
          <a:p xmlns:a="http://schemas.openxmlformats.org/drawingml/2006/main">
            <a:r>
              <a:t>원자료·대조 기준: https://zeusk302-png.github.io/gyeongnam-ai-workshop/downloads/%ED%99%95%EC%9E%A5/17_%ED%99%95%EC%9E%A5%EB%B3%B8_%EA%B2%80%ED%86%A0%EA%B8%B0%EC%A4%80.md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45. 스프레드시트로 확인할 핵심 수치</a:t>
            </a:r>
          </a:p>
          <a:p xmlns:a="http://schemas.openxmlformats.org/drawingml/2006/main">
            <a:r>
              <a:t/>
            </a:r>
          </a:p>
          <a:p xmlns:a="http://schemas.openxmlformats.org/drawingml/2006/main">
            <a:r>
              <a:t>시간: 시작 후 151–156분, 5분 진행.</a:t>
            </a:r>
          </a:p>
          <a:p xmlns:a="http://schemas.openxmlformats.org/drawingml/2006/main">
            <a:r>
              <a:t/>
            </a:r>
          </a:p>
          <a:p xmlns:a="http://schemas.openxmlformats.org/drawingml/2006/main">
            <a:r>
              <a:t>말할 내용: 5분 동안 시트의 원자료와 수식을 확인합니다. 대장에서는 실제 참여와 이수 상태를 조건별로 세고, 설문에서는 원점수를 합산합니다. 비율은 각 지표의 분모로 계산합니다. 짝은 수식이 참조한 범위와 중복·누락을 확인합니다. 표시값은 마지막에 반올림합니다. 이전 평균의 원점수가 없어 표시 평균의 차이0.3점을 정확한 원평균 차이로 표현하지 않습니다. 현재 제공물에는 별도 XLSX가 없으므로 참가자가 원자료를 시트로 옮겨 수식을 작성합니다.</a:t>
            </a:r>
          </a:p>
          <a:p xmlns:a="http://schemas.openxmlformats.org/drawingml/2006/main">
            <a:r>
              <a:t/>
            </a:r>
          </a:p>
          <a:p xmlns:a="http://schemas.openxmlformats.org/drawingml/2006/main">
            <a:r>
              <a:t>참가자에게 할 질문: 평균 수식이 25개 점수만 참조하는지 확인했나요?</a:t>
            </a:r>
          </a:p>
          <a:p xmlns:a="http://schemas.openxmlformats.org/drawingml/2006/main">
            <a:r>
              <a:t/>
            </a:r>
          </a:p>
          <a:p xmlns:a="http://schemas.openxmlformats.org/drawingml/2006/main">
            <a:r>
              <a:t>예상 오류와 대응: 신청자 30명을 이수율 분모로 쓰거나 표시 평균으로 원점수 합계를 역산하지 않습니다.</a:t>
            </a:r>
          </a:p>
          <a:p xmlns:a="http://schemas.openxmlformats.org/drawingml/2006/main">
            <a:r>
              <a:t/>
            </a:r>
          </a:p>
          <a:p xmlns:a="http://schemas.openxmlformats.org/drawingml/2006/main">
            <a:r>
              <a:t>수업 링크: https://zeusk302-png.github.io/gyeongnam-ai-workshop/#c-verify</a:t>
            </a:r>
          </a:p>
          <a:p xmlns:a="http://schemas.openxmlformats.org/drawingml/2006/main">
            <a:r>
              <a:t/>
            </a:r>
          </a:p>
          <a:p xmlns:a="http://schemas.openxmlformats.org/drawingml/2006/main">
            <a:r>
              <a:t>화면의 표는 원자료를 바탕으로 정리한 설명·검토 예시입니다. 실제 AI 응답 캡처가 아닙니다.</a:t>
            </a:r>
          </a:p>
          <a:p xmlns:a="http://schemas.openxmlformats.org/drawingml/2006/main">
            <a:r>
              <a:t/>
            </a:r>
          </a:p>
          <a:p xmlns:a="http://schemas.openxmlformats.org/drawingml/2006/main">
            <a:r>
              <a:t>원자료·대조 기준: https://zeusk302-png.github.io/gyeongnam-ai-workshop/downloads/%ED%99%95%EC%9E%A5/15_Claude_%EC%9A%B4%EC%98%81%EA%B2%B0%EA%B3%BC_%EC%A7%91%EA%B3%84%EC%99%80%ED%98%84%EC%9E%A5%EB%A9%94%EB%AA%A8.txt</a:t>
            </a:r>
          </a:p>
          <a:p xmlns:a="http://schemas.openxmlformats.org/drawingml/2006/main">
            <a:r>
              <a:t/>
            </a:r>
          </a:p>
          <a:p xmlns:a="http://schemas.openxmlformats.org/drawingml/2006/main">
            <a:r>
              <a:t>원자료·대조 기준: https://zeusk302-png.github.io/gyeongnam-ai-workshop/downloads/%ED%99%95%EC%9E%A5/17_%ED%99%95%EC%9E%A5%EB%B3%B8_%EA%B2%80%ED%86%A0%EA%B8%B0%EC%A4%80.md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46. 보고서에서 확인할 수 없는 내용</a:t>
            </a:r>
          </a:p>
          <a:p xmlns:a="http://schemas.openxmlformats.org/drawingml/2006/main">
            <a:r>
              <a:t/>
            </a:r>
          </a:p>
          <a:p xmlns:a="http://schemas.openxmlformats.org/drawingml/2006/main">
            <a:r>
              <a:t>시간: 시작 후 156–160분, 4분 진행.</a:t>
            </a:r>
          </a:p>
          <a:p xmlns:a="http://schemas.openxmlformats.org/drawingml/2006/main">
            <a:r>
              <a:t/>
            </a:r>
          </a:p>
          <a:p xmlns:a="http://schemas.openxmlformats.org/drawingml/2006/main">
            <a:r>
              <a:t>말할 내용: 사실이 몇 개 맞는다고 원인까지 증명된 것은 아닙니다. 특히 참가자당 비용 감소는 교육 효과를 직접 보여 주지 않습니다. 보고서와 메일에서 단정한 원인 문장을 찾아 확인 가능한 범위로 바꾸게 합니다.</a:t>
            </a:r>
          </a:p>
          <a:p xmlns:a="http://schemas.openxmlformats.org/drawingml/2006/main">
            <a:r>
              <a:t/>
            </a:r>
          </a:p>
          <a:p xmlns:a="http://schemas.openxmlformats.org/drawingml/2006/main">
            <a:r>
              <a:t>참가자에게 할 질문: 내 보고서의 “때문에” 문장에는 원자료 근거가 있나요?</a:t>
            </a:r>
          </a:p>
          <a:p xmlns:a="http://schemas.openxmlformats.org/drawingml/2006/main">
            <a:r>
              <a:t/>
            </a:r>
          </a:p>
          <a:p xmlns:a="http://schemas.openxmlformats.org/drawingml/2006/main">
            <a:r>
              <a:t>예상 오류와 대응: 이번 설문도 원자료 미제공이라고 쓰는 옛 기본연습 문장을 그대로 쓰지 않습니다.</a:t>
            </a:r>
          </a:p>
          <a:p xmlns:a="http://schemas.openxmlformats.org/drawingml/2006/main">
            <a:r>
              <a:t/>
            </a:r>
          </a:p>
          <a:p xmlns:a="http://schemas.openxmlformats.org/drawingml/2006/main">
            <a:r>
              <a:t>수업 링크: https://zeusk302-png.github.io/gyeongnam-ai-workshop/#c-verify</a:t>
            </a:r>
          </a:p>
          <a:p xmlns:a="http://schemas.openxmlformats.org/drawingml/2006/main">
            <a:r>
              <a:t/>
            </a:r>
          </a:p>
          <a:p xmlns:a="http://schemas.openxmlformats.org/drawingml/2006/main">
            <a:r>
              <a:t>화면의 표는 원자료를 바탕으로 정리한 설명·검토 예시입니다. 실제 AI 응답 캡처가 아닙니다.</a:t>
            </a:r>
          </a:p>
          <a:p xmlns:a="http://schemas.openxmlformats.org/drawingml/2006/main">
            <a:r>
              <a:t/>
            </a:r>
          </a:p>
          <a:p xmlns:a="http://schemas.openxmlformats.org/drawingml/2006/main">
            <a:r>
              <a:t>원자료·대조 기준: https://zeusk302-png.github.io/gyeongnam-ai-workshop/downloads/%ED%99%95%EC%9E%A5/15_Claude_%EC%9A%B4%EC%98%81%EA%B2%B0%EA%B3%BC_%EC%A7%91%EA%B3%84%EC%99%80%ED%98%84%EC%9E%A5%EB%A9%94%EB%AA%A8.txt</a:t>
            </a:r>
          </a:p>
          <a:p xmlns:a="http://schemas.openxmlformats.org/drawingml/2006/main">
            <a:r>
              <a:t/>
            </a:r>
          </a:p>
          <a:p xmlns:a="http://schemas.openxmlformats.org/drawingml/2006/main">
            <a:r>
              <a:t>원자료·대조 기준: https://zeusk302-png.github.io/gyeongnam-ai-workshop/downloads/%ED%99%95%EC%9E%A5/17_%ED%99%95%EC%9E%A5%EB%B3%B8_%EA%B2%80%ED%86%A0%EA%B8%B0%EC%A4%80.md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47. 보고서와 메일의 짝 검토</a:t>
            </a:r>
          </a:p>
          <a:p xmlns:a="http://schemas.openxmlformats.org/drawingml/2006/main">
            <a:r>
              <a:t/>
            </a:r>
          </a:p>
          <a:p xmlns:a="http://schemas.openxmlformats.org/drawingml/2006/main">
            <a:r>
              <a:t>시간: 시작 후 160–165분, 5분 진행.</a:t>
            </a:r>
          </a:p>
          <a:p xmlns:a="http://schemas.openxmlformats.org/drawingml/2006/main">
            <a:r>
              <a:t/>
            </a:r>
          </a:p>
          <a:p xmlns:a="http://schemas.openxmlformats.org/drawingml/2006/main">
            <a:r>
              <a:t>말할 내용: 짝 검토는 초안의 잘못을 지적하는 데서 끝내지 않고 수정할 문장을 정하는 활동입니다. 결과를 받은 시각과 검토·수정 시간을 기록합니다. 질문을 더 보내지 않아도 됩니다. 사람이 고친 최종본을 따로 저장하게 합니다. 검토와 수정을 포함해 실제로 남긴 시간 기록을 봅니다. 보고서의 표현을 다듬는 데 도움을 받았는지, 오류 수정 부담이 더 컸는지, 다음에도 적용할 범위가 무엇인지 한 줄로 적습니다.</a:t>
            </a:r>
          </a:p>
          <a:p xmlns:a="http://schemas.openxmlformats.org/drawingml/2006/main">
            <a:r>
              <a:t/>
            </a:r>
          </a:p>
          <a:p xmlns:a="http://schemas.openxmlformats.org/drawingml/2006/main">
            <a:r>
              <a:t>참가자에게 할 질문: 내 문서에서 다른 사람이 찾아 준 오류는 무엇이었나요?</a:t>
            </a:r>
          </a:p>
          <a:p xmlns:a="http://schemas.openxmlformats.org/drawingml/2006/main">
            <a:r>
              <a:t/>
            </a:r>
          </a:p>
          <a:p xmlns:a="http://schemas.openxmlformats.org/drawingml/2006/main">
            <a:r>
              <a:t>예상 오류와 대응: AI가 검증 완료라고 선언한 문장이나 자체 글자 수를 최종 확인으로 대신하지 않습니다.</a:t>
            </a:r>
          </a:p>
          <a:p xmlns:a="http://schemas.openxmlformats.org/drawingml/2006/main">
            <a:r>
              <a:t/>
            </a:r>
          </a:p>
          <a:p xmlns:a="http://schemas.openxmlformats.org/drawingml/2006/main">
            <a:r>
              <a:t>수업 링크: https://zeusk302-png.github.io/gyeongnam-ai-workshop/#c-verify</a:t>
            </a:r>
          </a:p>
          <a:p xmlns:a="http://schemas.openxmlformats.org/drawingml/2006/main">
            <a:r>
              <a:t/>
            </a:r>
          </a:p>
          <a:p xmlns:a="http://schemas.openxmlformats.org/drawingml/2006/main">
            <a:r>
              <a:t>실습 안내: 서로의 보고서에서 숫자 한 곳과 확정 표현 한 곳을 확인합니다.</a:t>
            </a:r>
          </a:p>
          <a:p xmlns:a="http://schemas.openxmlformats.org/drawingml/2006/main">
            <a:r>
              <a:t/>
            </a:r>
          </a:p>
          <a:p xmlns:a="http://schemas.openxmlformats.org/drawingml/2006/main">
            <a:r>
              <a:t>진행 순서: 최종 대장의 집계와 비교표 수치 맞추기 / 보고서와 전달 메일의 결정 요청 2건 비교 / 제안한 담당·기한을 확정된 값과 구분 / 바꾼 문장과 아직 확인할 항목 기록</a:t>
            </a:r>
          </a:p>
          <a:p xmlns:a="http://schemas.openxmlformats.org/drawingml/2006/main">
            <a:r>
              <a:t/>
            </a:r>
          </a:p>
          <a:p xmlns:a="http://schemas.openxmlformats.org/drawingml/2006/main">
            <a:r>
              <a:t>남길 결과: 보고서·전달 메일·계산표·확인 메모</a:t>
            </a:r>
          </a:p>
          <a:p xmlns:a="http://schemas.openxmlformats.org/drawingml/2006/main">
            <a:r>
              <a:t/>
            </a:r>
          </a:p>
          <a:p xmlns:a="http://schemas.openxmlformats.org/drawingml/2006/main">
            <a:r>
              <a:t>원자료·대조 기준: https://zeusk302-png.github.io/gyeongnam-ai-workshop/downloads/%ED%99%95%EC%9E%A5/15_Claude_%EC%9A%B4%EC%98%81%EA%B2%B0%EA%B3%BC_%EC%A7%91%EA%B3%84%EC%99%80%ED%98%84%EC%9E%A5%EB%A9%94%EB%AA%A8.txt</a:t>
            </a:r>
          </a:p>
          <a:p xmlns:a="http://schemas.openxmlformats.org/drawingml/2006/main">
            <a:r>
              <a:t/>
            </a:r>
          </a:p>
          <a:p xmlns:a="http://schemas.openxmlformats.org/drawingml/2006/main">
            <a:r>
              <a:t>원자료·대조 기준: https://zeusk302-png.github.io/gyeongnam-ai-workshop/downloads/%ED%99%95%EC%9E%A5/17_%ED%99%95%EC%9E%A5%EB%B3%B8_%EA%B2%80%ED%86%A0%EA%B8%B0%EC%A4%80.md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48. 결과와 작업 시간 기록 저장</a:t>
            </a:r>
          </a:p>
          <a:p xmlns:a="http://schemas.openxmlformats.org/drawingml/2006/main">
            <a:r>
              <a:t/>
            </a:r>
          </a:p>
          <a:p xmlns:a="http://schemas.openxmlformats.org/drawingml/2006/main">
            <a:r>
              <a:t>시간: 시작 후 165–169분, 4분 진행.</a:t>
            </a:r>
          </a:p>
          <a:p xmlns:a="http://schemas.openxmlformats.org/drawingml/2006/main">
            <a:r>
              <a:t/>
            </a:r>
          </a:p>
          <a:p xmlns:a="http://schemas.openxmlformats.org/drawingml/2006/main">
            <a:r>
              <a:t>말할 내용: 웹의 기록을 내려받고 실제 내용이 있는지 확인합니다. 문서가 길어도 확인하지 않은 부분은 검토 대기입니다. 입력 준비, 기다림, 검토, 수정에 쓴 시간이 빠지지 않았는지 봅니다. 시연 관찰, 짝 활동, 본인 실행을 구분하고 파일명에 자료 버전을 남깁니다.</a:t>
            </a:r>
          </a:p>
          <a:p xmlns:a="http://schemas.openxmlformats.org/drawingml/2006/main">
            <a:r>
              <a:t/>
            </a:r>
          </a:p>
          <a:p xmlns:a="http://schemas.openxmlformats.org/drawingml/2006/main">
            <a:r>
              <a:t>참가자에게 할 질문: 파일을 받은 뒤 내용까지 확인했나요?</a:t>
            </a:r>
          </a:p>
          <a:p xmlns:a="http://schemas.openxmlformats.org/drawingml/2006/main">
            <a:r>
              <a:t/>
            </a:r>
          </a:p>
          <a:p xmlns:a="http://schemas.openxmlformats.org/drawingml/2006/main">
            <a:r>
              <a:t>예상 오류와 대응: 다운로드 버튼을 눌렀다는 사실만으로 파일이 저장됐다고 끝내지 않습니다.</a:t>
            </a:r>
          </a:p>
          <a:p xmlns:a="http://schemas.openxmlformats.org/drawingml/2006/main">
            <a:r>
              <a:t/>
            </a:r>
          </a:p>
          <a:p xmlns:a="http://schemas.openxmlformats.org/drawingml/2006/main">
            <a:r>
              <a:t>수업 링크: https://zeusk302-png.github.io/gyeongnam-ai-workshop/#wrap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49. 내 업무에서의 사용 여부 판단</a:t>
            </a:r>
          </a:p>
          <a:p xmlns:a="http://schemas.openxmlformats.org/drawingml/2006/main">
            <a:r>
              <a:t/>
            </a:r>
          </a:p>
          <a:p xmlns:a="http://schemas.openxmlformats.org/drawingml/2006/main">
            <a:r>
              <a:t>시간: 시작 후 169–175분, 6분 진행.</a:t>
            </a:r>
          </a:p>
          <a:p xmlns:a="http://schemas.openxmlformats.org/drawingml/2006/main">
            <a:r>
              <a:t/>
            </a:r>
          </a:p>
          <a:p xmlns:a="http://schemas.openxmlformats.org/drawingml/2006/main">
            <a:r>
              <a:t>말할 내용: 모든 업무에 AI를 넣을 필요는 없습니다. 직접 작성, 기존 서식, 스프레드시트, AI 중 선택하고 이유를 적습니다. AI를 고른 업무는 입력해도 되는 자료와 사람이 끝까지 확인할 범위를 구체적으로 정합니다. 오늘의 결과를 일반적인 효율 보장으로 쓰지 않습니다.</a:t>
            </a:r>
          </a:p>
          <a:p xmlns:a="http://schemas.openxmlformats.org/drawingml/2006/main">
            <a:r>
              <a:t/>
            </a:r>
          </a:p>
          <a:p xmlns:a="http://schemas.openxmlformats.org/drawingml/2006/main">
            <a:r>
              <a:t>참가자에게 할 질문: 한 번의 실행에서 완성할 수 있는 작은 결과물은 무엇인가요?</a:t>
            </a:r>
          </a:p>
          <a:p xmlns:a="http://schemas.openxmlformats.org/drawingml/2006/main">
            <a:r>
              <a:t/>
            </a:r>
          </a:p>
          <a:p xmlns:a="http://schemas.openxmlformats.org/drawingml/2006/main">
            <a:r>
              <a:t>예상 오류와 대응: 전 부서 업무 자동화처럼 큰 목표를 잡거나 발송·승인을 검토 없이 자동 실행하는 계획으로 넓히지 않습니다.</a:t>
            </a:r>
          </a:p>
          <a:p xmlns:a="http://schemas.openxmlformats.org/drawingml/2006/main">
            <a:r>
              <a:t/>
            </a:r>
          </a:p>
          <a:p xmlns:a="http://schemas.openxmlformats.org/drawingml/2006/main">
            <a:r>
              <a:t>수업 링크: https://zeusk302-png.github.io/gyeongnam-ai-workshop/#wrap</a:t>
            </a:r>
          </a:p>
          <a:p xmlns:a="http://schemas.openxmlformats.org/drawingml/2006/main">
            <a:r>
              <a:t/>
            </a:r>
          </a:p>
          <a:p xmlns:a="http://schemas.openxmlformats.org/drawingml/2006/main">
            <a:r>
              <a:t>실습 안내: 반복 업무 세 가지에 가장 알맞은 방법과 검토 기준을 적습니다.</a:t>
            </a:r>
          </a:p>
          <a:p xmlns:a="http://schemas.openxmlformats.org/drawingml/2006/main">
            <a:r>
              <a:t/>
            </a:r>
          </a:p>
          <a:p xmlns:a="http://schemas.openxmlformats.org/drawingml/2006/main">
            <a:r>
              <a:t>진행 순서: 직접 작성·기존 서식으로 충분한지 판단 / 숫자는 스프레드시트 수식으로 확인 / AI가 필요한 분류·대조·문장 범위 정하기 / 검토 책임과 중단·재확인 조건 정하기</a:t>
            </a:r>
          </a:p>
          <a:p xmlns:a="http://schemas.openxmlformats.org/drawingml/2006/main">
            <a:r>
              <a:t/>
            </a:r>
          </a:p>
          <a:p xmlns:a="http://schemas.openxmlformats.org/drawingml/2006/main">
            <a:r>
              <a:t>남길 결과: 업무별 사용 여부와 검토 계획 3행</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50. 수업 후 반복과 판단 기준</a:t>
            </a:r>
          </a:p>
          <a:p xmlns:a="http://schemas.openxmlformats.org/drawingml/2006/main">
            <a:r>
              <a:t/>
            </a:r>
          </a:p>
          <a:p xmlns:a="http://schemas.openxmlformats.org/drawingml/2006/main">
            <a:r>
              <a:t>시간: 시작 후 175–180분, 5분 진행.</a:t>
            </a:r>
          </a:p>
          <a:p xmlns:a="http://schemas.openxmlformats.org/drawingml/2006/main">
            <a:r>
              <a:t/>
            </a:r>
          </a:p>
          <a:p xmlns:a="http://schemas.openxmlformats.org/drawingml/2006/main">
            <a:r>
              <a:t>말할 내용: 마지막 5분에는 고친 문장 하나와 다음에 AI를 사용할지에 대한 판단을 공유합니다. 본수업에서 먼저 마친 사람은 웹의 짧은 직접 수정 활동을 선택할 수 있습니다. 추가8개과제는 본수업 밖의 복습 또는 별도 심화입니다. 수작업3건과AI전체 30건의 시간을 단순히 나눠 절감률을 계산하지 않습니다.</a:t>
            </a:r>
          </a:p>
          <a:p xmlns:a="http://schemas.openxmlformats.org/drawingml/2006/main">
            <a:r>
              <a:t/>
            </a:r>
          </a:p>
          <a:p xmlns:a="http://schemas.openxmlformats.org/drawingml/2006/main">
            <a:r>
              <a:t>참가자에게 할 질문: 어떤 업무에서는 AI를 쓰지 않기로 했나요?</a:t>
            </a:r>
          </a:p>
          <a:p xmlns:a="http://schemas.openxmlformats.org/drawingml/2006/main">
            <a:r>
              <a:t/>
            </a:r>
          </a:p>
          <a:p xmlns:a="http://schemas.openxmlformats.org/drawingml/2006/main">
            <a:r>
              <a:t>예상 오류와 대응: 처리 건수와 난도가 다른 활동의 시간을 바로 비교해 생산성 개선 수치로 만들지 않습니다.</a:t>
            </a:r>
          </a:p>
          <a:p xmlns:a="http://schemas.openxmlformats.org/drawingml/2006/main">
            <a:r>
              <a:t/>
            </a:r>
          </a:p>
          <a:p xmlns:a="http://schemas.openxmlformats.org/drawingml/2006/main">
            <a:r>
              <a:t>수업 링크: https://zeusk302-png.github.io/gyeongnam-ai-workshop/#practice-bank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51. 선택 1. 추가 회신 12건과 신청 상태 갱신</a:t>
            </a:r>
          </a:p>
          <a:p xmlns:a="http://schemas.openxmlformats.org/drawingml/2006/main">
            <a:r>
              <a:t/>
            </a:r>
          </a:p>
          <a:p xmlns:a="http://schemas.openxmlformats.org/drawingml/2006/main">
            <a:r>
              <a:t>시간: 선택 활동 15분. 본수업 180분에는 포함하지 않습니다. 수업 후 복습 또는 별도 심화 수업에서 선택합니다.</a:t>
            </a:r>
          </a:p>
          <a:p xmlns:a="http://schemas.openxmlformats.org/drawingml/2006/main">
            <a:r>
              <a:t/>
            </a:r>
          </a:p>
          <a:p xmlns:a="http://schemas.openxmlformats.org/drawingml/2006/main">
            <a:r>
              <a:t>말할 내용: 같은 학생의 추가 메일과 담당 조회가 섞여 도착했습니다. 다음 날 근무자가 원래 문의와 최신 신청 상태를 혼동하지 않도록 정리합니다. 권장 배분: 읽기 3분, 작성 4분, 대조 6분, 저장 2분. 원래 6건 중 이번에 변경 없는 3건을 재작성하지 않습니다. 해설은 첫 초안 저장 후 공개합니다.</a:t>
            </a:r>
          </a:p>
          <a:p xmlns:a="http://schemas.openxmlformats.org/drawingml/2006/main">
            <a:r>
              <a:t/>
            </a:r>
          </a:p>
          <a:p xmlns:a="http://schemas.openxmlformats.org/drawingml/2006/main">
            <a:r>
              <a:t>참가자에게 할 질문: 12건을 신규 학생 12명으로 세지 않았는가</a:t>
            </a:r>
          </a:p>
          <a:p xmlns:a="http://schemas.openxmlformats.org/drawingml/2006/main">
            <a:r>
              <a:t/>
            </a:r>
          </a:p>
          <a:p xmlns:a="http://schemas.openxmlformats.org/drawingml/2006/main">
            <a:r>
              <a:t>예상 오류와 대응: S01의 담당 조회와 학생 진술을 구별했는가 S03·S05 검토 접수를 신청 완료나 불승인으로 바꾸지 않았는가 기준일이 바뀌었는데 오늘 18시까지 신청하라고 쓰지 않았는가</a:t>
            </a:r>
          </a:p>
          <a:p xmlns:a="http://schemas.openxmlformats.org/drawingml/2006/main">
            <a:r>
              <a:t/>
            </a:r>
          </a:p>
          <a:p xmlns:a="http://schemas.openxmlformats.org/drawingml/2006/main">
            <a:r>
              <a:t>수업 링크: https://zeusk302-png.github.io/gyeongnam-ai-workshop/#practice-p01</a:t>
            </a:r>
          </a:p>
          <a:p xmlns:a="http://schemas.openxmlformats.org/drawingml/2006/main">
            <a:r>
              <a:t/>
            </a:r>
          </a:p>
          <a:p xmlns:a="http://schemas.openxmlformats.org/drawingml/2006/main">
            <a:r>
              <a:t>실습 안내: 같은 학생의 후속 메일을</a:t>
            </a:r>
          </a:p>
          <a:p xmlns:a="http://schemas.openxmlformats.org/drawingml/2006/main">
            <a:r>
              <a:t>최신 상태로 정리</a:t>
            </a:r>
          </a:p>
          <a:p xmlns:a="http://schemas.openxmlformats.org/drawingml/2006/main">
            <a:r>
              <a:t/>
            </a:r>
          </a:p>
          <a:p xmlns:a="http://schemas.openxmlformats.org/drawingml/2006/main">
            <a:r>
              <a:t>진행 순서: 원문 11·21을 대조해 기준 시각 표시 / 회신 12건을 기존 학생 ID에 연결 / 최신 상태 3행과 답장 3건 작성 / 신청 완료·기술 접수·검토 접수 대조</a:t>
            </a:r>
          </a:p>
          <a:p xmlns:a="http://schemas.openxmlformats.org/drawingml/2006/main">
            <a:r>
              <a:t/>
            </a:r>
          </a:p>
          <a:p xmlns:a="http://schemas.openxmlformats.org/drawingml/2006/main">
            <a:r>
              <a:t>남길 결과: 변경 이력 12행 · 최신 상태 3행 · 답장 3건</a:t>
            </a:r>
          </a:p>
          <a:p xmlns:a="http://schemas.openxmlformats.org/drawingml/2006/main">
            <a:r>
              <a:t/>
            </a:r>
          </a:p>
          <a:p xmlns:a="http://schemas.openxmlformats.org/drawingml/2006/main">
            <a:r>
              <a:t>원자료·대조 기준: https://zeusk302-png.github.io/gyeongnam-ai-workshop/downloads/%ED%99%95%EC%9E%A5/11_Gemini_%ED%95%99%EC%83%9D%EB%AC%B8%EC%9D%98_%EB%A9%94%EC%9D%BC%EA%B3%BC%EC%97%85%EB%AC%B4%EC%95%88%EB%82%B4.txt</a:t>
            </a:r>
          </a:p>
          <a:p xmlns:a="http://schemas.openxmlformats.org/drawingml/2006/main">
            <a:r>
              <a:t/>
            </a:r>
          </a:p>
          <a:p xmlns:a="http://schemas.openxmlformats.org/drawingml/2006/main">
            <a:r>
              <a:t>원자료·대조 기준: https://zeusk302-png.github.io/gyeongnam-ai-workshop/downloads/%EC%B6%94%EA%B0%80%EC%8B%A4%EC%8A%B5/21_Gemini_%EC%A0%91%EC%88%98%EB%B3%80%EA%B2%BD_12%EA%B1%B4.txt</a:t>
            </a:r>
          </a:p>
          <a:p xmlns:a="http://schemas.openxmlformats.org/drawingml/2006/main">
            <a:r>
              <a:t/>
            </a:r>
          </a:p>
          <a:p xmlns:a="http://schemas.openxmlformats.org/drawingml/2006/main">
            <a:r>
              <a:t>추가 진행 참고: 산출물: 변경 이력 12행(F01~F12) / 최신 상태표 3행(S01·S03·S05) / 학생 답장 초안 3건(각 250~400자)</a:t>
            </a:r>
          </a:p>
          <a:p xmlns:a="http://schemas.openxmlformats.org/drawingml/2006/main">
            <a:r>
              <a:t>통과 기준: 12건을 신규 학생 12명으로 세지 않았는가 / S01의 담당 조회와 학생 진술을 구별했는가 / S03·S05 검토 접수를 신청 완료나 불승인으로 바꾸지 않았는가 / 기준일이 바뀌었는데 오늘 18시까지 신청하라고 쓰지 않았는가</a:t>
            </a:r>
          </a:p>
          <a:p xmlns:a="http://schemas.openxmlformats.org/drawingml/2006/main">
            <a:r>
              <a:t>웹 실습에서 해당 질문과 원문을 제공합니다. 해설은 초안과 직접 검토를 마친 뒤 확인합니다.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52. 선택 2. 준비 업무 9건의 상태 갱신</a:t>
            </a:r>
          </a:p>
          <a:p xmlns:a="http://schemas.openxmlformats.org/drawingml/2006/main">
            <a:r>
              <a:t/>
            </a:r>
          </a:p>
          <a:p xmlns:a="http://schemas.openxmlformats.org/drawingml/2006/main">
            <a:r>
              <a:t>시간: 선택 활동 15분. 본수업 180분에는 포함하지 않습니다. 수업 후 복습 또는 별도 심화 수업에서 선택합니다.</a:t>
            </a:r>
          </a:p>
          <a:p xmlns:a="http://schemas.openxmlformats.org/drawingml/2006/main">
            <a:r>
              <a:t/>
            </a:r>
          </a:p>
          <a:p xmlns:a="http://schemas.openxmlformats.org/drawingml/2006/main">
            <a:r>
              <a:t>말할 내용: 회의에서 정한 할 일에 완료 회신·지연·재검증 요청이 도착했습니다. 최초 마감과 변경 승인을 보존한 최신 인계표가 필요합니다. 읽기 3분, 생성 4분, 상태와 날짜 대조 6분, 저장 2분. 22번만으로도 핵심 변경은 읽을 수 있지만 웹에서는 최초 회의 원문도 함께 제공합니다.</a:t>
            </a:r>
          </a:p>
          <a:p xmlns:a="http://schemas.openxmlformats.org/drawingml/2006/main">
            <a:r>
              <a:t/>
            </a:r>
          </a:p>
          <a:p xmlns:a="http://schemas.openxmlformats.org/drawingml/2006/main">
            <a:r>
              <a:t>참가자에게 할 질문: 아홉 업무를 합치거나 새 업무로 늘리지 않았는가</a:t>
            </a:r>
          </a:p>
          <a:p xmlns:a="http://schemas.openxmlformats.org/drawingml/2006/main">
            <a:r>
              <a:t/>
            </a:r>
          </a:p>
          <a:p xmlns:a="http://schemas.openxmlformats.org/drawingml/2006/main">
            <a:r>
              <a:t>예상 오류와 대응: 최초 마감과 승인된 새 기한을 별도 보존했는가 T05·T06의 보완을 현재 완료로 적지 않았는가 행사 전 명단 30명을 실제 참석 실적으로 쓰지 않았는가</a:t>
            </a:r>
          </a:p>
          <a:p xmlns:a="http://schemas.openxmlformats.org/drawingml/2006/main">
            <a:r>
              <a:t/>
            </a:r>
          </a:p>
          <a:p xmlns:a="http://schemas.openxmlformats.org/drawingml/2006/main">
            <a:r>
              <a:t>수업 링크: https://zeusk302-png.github.io/gyeongnam-ai-workshop/#practice-p02</a:t>
            </a:r>
          </a:p>
          <a:p xmlns:a="http://schemas.openxmlformats.org/drawingml/2006/main">
            <a:r>
              <a:t/>
            </a:r>
          </a:p>
          <a:p xmlns:a="http://schemas.openxmlformats.org/drawingml/2006/main">
            <a:r>
              <a:t>실습 안내: 아홉 업무의</a:t>
            </a:r>
          </a:p>
          <a:p xmlns:a="http://schemas.openxmlformats.org/drawingml/2006/main">
            <a:r>
              <a:t>완료·보완 상태 갱신</a:t>
            </a:r>
          </a:p>
          <a:p xmlns:a="http://schemas.openxmlformats.org/drawingml/2006/main">
            <a:r>
              <a:t/>
            </a:r>
          </a:p>
          <a:p xmlns:a="http://schemas.openxmlformats.org/drawingml/2006/main">
            <a:r>
              <a:t>진행 순서: 원문 12·22의 같은 업무끼리 연결 / 최초 마감과 승인된 새 기한 보존 / 완료·진행·보완을 근거로 분류 / 남은 세 업무와 인계 메일 작성</a:t>
            </a:r>
          </a:p>
          <a:p xmlns:a="http://schemas.openxmlformats.org/drawingml/2006/main">
            <a:r>
              <a:t/>
            </a:r>
          </a:p>
          <a:p xmlns:a="http://schemas.openxmlformats.org/drawingml/2006/main">
            <a:r>
              <a:t>남길 결과: 상태표 9행 · 우선 확인 3건 · 인계 메일</a:t>
            </a:r>
          </a:p>
          <a:p xmlns:a="http://schemas.openxmlformats.org/drawingml/2006/main">
            <a:r>
              <a:t/>
            </a:r>
          </a:p>
          <a:p xmlns:a="http://schemas.openxmlformats.org/drawingml/2006/main">
            <a:r>
              <a:t>원자료·대조 기준: https://zeusk302-png.github.io/gyeongnam-ai-workshop/downloads/%ED%99%95%EC%9E%A5/12_Gemini_%EC%9A%B4%EC%98%81%ED%9A%8C%EC%9D%98_%EC%83%81%EC%84%B8%EA%B8%B0%EB%A1%9D.txt</a:t>
            </a:r>
          </a:p>
          <a:p xmlns:a="http://schemas.openxmlformats.org/drawingml/2006/main">
            <a:r>
              <a:t/>
            </a:r>
          </a:p>
          <a:p xmlns:a="http://schemas.openxmlformats.org/drawingml/2006/main">
            <a:r>
              <a:t>원자료·대조 기준: https://zeusk302-png.github.io/gyeongnam-ai-workshop/downloads/%EC%B6%94%EA%B0%80%EC%8B%A4%EC%8A%B5/22_Gemini_%ED%9A%8C%EC%9D%98%ED%9B%84%EC%86%8D_%EC%83%81%ED%83%9C%ED%9A%8C%EC%8B%A0.txt</a:t>
            </a:r>
          </a:p>
          <a:p xmlns:a="http://schemas.openxmlformats.org/drawingml/2006/main">
            <a:r>
              <a:t/>
            </a:r>
          </a:p>
          <a:p xmlns:a="http://schemas.openxmlformats.org/drawingml/2006/main">
            <a:r>
              <a:t>추가 진행 참고: 산출물: 업무 상태표 9행(T01~T09) / 우선 확인 목록 3건 / 준비팀 인계 메일 본문 250~350자</a:t>
            </a:r>
          </a:p>
          <a:p xmlns:a="http://schemas.openxmlformats.org/drawingml/2006/main">
            <a:r>
              <a:t>통과 기준: 아홉 업무를 합치거나 새 업무로 늘리지 않았는가 / 최초 마감과 승인된 새 기한을 별도 보존했는가 / T05·T06의 보완을 현재 완료로 적지 않았는가 / 행사 전 명단 30명을 실제 참석 실적으로 쓰지 않았는가</a:t>
            </a:r>
          </a:p>
          <a:p xmlns:a="http://schemas.openxmlformats.org/drawingml/2006/main">
            <a:r>
              <a:t>웹 실습에서 해당 질문과 원문을 제공합니다. 해설은 초안과 직접 검토를 마친 뒤 확인합니다.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53. 선택 3. 수정 견적과 승인 변경 재검토</a:t>
            </a:r>
          </a:p>
          <a:p xmlns:a="http://schemas.openxmlformats.org/drawingml/2006/main">
            <a:r>
              <a:t/>
            </a:r>
          </a:p>
          <a:p xmlns:a="http://schemas.openxmlformats.org/drawingml/2006/main">
            <a:r>
              <a:t>시간: 선택 활동 20분. 본수업 180분에는 포함하지 않습니다. 수업 후 복습 또는 별도 심화 수업에서 선택합니다.</a:t>
            </a:r>
          </a:p>
          <a:p xmlns:a="http://schemas.openxmlformats.org/drawingml/2006/main">
            <a:r>
              <a:t/>
            </a:r>
          </a:p>
          <a:p xmlns:a="http://schemas.openxmlformats.org/drawingml/2006/main">
            <a:r>
              <a:t>말할 내용: 처음 검산한 표에 더 싼 견적·수량 변경·사진 승인·자동 재전송이 추가됐습니다. 승인된 조건만 반영하여 24행을 다시 검토합니다. 읽기 4분, 생성 4분, 24행 검산 10분, 저장 2분. 합계만 정답이어도 행 상태가 틀리면 통과시키지 않습니다. 정답 예시의 숫자는 계산기·표 계산으로 재확인합니다.</a:t>
            </a:r>
          </a:p>
          <a:p xmlns:a="http://schemas.openxmlformats.org/drawingml/2006/main">
            <a:r>
              <a:t/>
            </a:r>
          </a:p>
          <a:p xmlns:a="http://schemas.openxmlformats.org/drawingml/2006/main">
            <a:r>
              <a:t>참가자에게 할 질문: 24행과 중복·취소 이력을 유지했는가</a:t>
            </a:r>
          </a:p>
          <a:p xmlns:a="http://schemas.openxmlformats.org/drawingml/2006/main">
            <a:r>
              <a:t/>
            </a:r>
          </a:p>
          <a:p xmlns:a="http://schemas.openxmlformats.org/drawingml/2006/main">
            <a:r>
              <a:t>예상 오류와 대응: B04는 승인된 수량·구성을 적용했는가 C09 최신 승인 범위와 미집행 상태를 구별했는가 전체 잔액과 개별 한도 준수를 별도로 확인했는가</a:t>
            </a:r>
          </a:p>
          <a:p xmlns:a="http://schemas.openxmlformats.org/drawingml/2006/main">
            <a:r>
              <a:t/>
            </a:r>
          </a:p>
          <a:p xmlns:a="http://schemas.openxmlformats.org/drawingml/2006/main">
            <a:r>
              <a:t>수업 링크: https://zeusk302-png.github.io/gyeongnam-ai-workshop/#practice-p03</a:t>
            </a:r>
          </a:p>
          <a:p xmlns:a="http://schemas.openxmlformats.org/drawingml/2006/main">
            <a:r>
              <a:t/>
            </a:r>
          </a:p>
          <a:p xmlns:a="http://schemas.openxmlformats.org/drawingml/2006/main">
            <a:r>
              <a:t>실습 안내: 새 견적과 승인을</a:t>
            </a:r>
          </a:p>
          <a:p xmlns:a="http://schemas.openxmlformats.org/drawingml/2006/main">
            <a:r>
              <a:t>구매표에 반영</a:t>
            </a:r>
          </a:p>
          <a:p xmlns:a="http://schemas.openxmlformats.org/drawingml/2006/main">
            <a:r>
              <a:t/>
            </a:r>
          </a:p>
          <a:p xmlns:a="http://schemas.openxmlformats.org/drawingml/2006/main">
            <a:r>
              <a:t>진행 순서: 원문 13·23에서 승인 조건 표시 / 중복·취소를 포함해 24행 유지 / 수정 5행과 행사별 한도 계산 / 계산기로 재검산 후 확인 메모 작성</a:t>
            </a:r>
          </a:p>
          <a:p xmlns:a="http://schemas.openxmlformats.org/drawingml/2006/main">
            <a:r>
              <a:t/>
            </a:r>
          </a:p>
          <a:p xmlns:a="http://schemas.openxmlformats.org/drawingml/2006/main">
            <a:r>
              <a:t>남길 결과: 구매표 24행 · 행사별 한도 · 변경표 5행</a:t>
            </a:r>
          </a:p>
          <a:p xmlns:a="http://schemas.openxmlformats.org/drawingml/2006/main">
            <a:r>
              <a:t/>
            </a:r>
          </a:p>
          <a:p xmlns:a="http://schemas.openxmlformats.org/drawingml/2006/main">
            <a:r>
              <a:t>원자료·대조 기준: https://zeusk302-png.github.io/gyeongnam-ai-workshop/downloads/%ED%99%95%EC%9E%A5/13_Gemini_%EC%98%88%EC%82%B0%EA%B2%80%ED%86%A0_%EC%A7%91%ED%96%89%EC%A4%80%EB%B9%84%EC%9E%90%EB%A3%8C.txt</a:t>
            </a:r>
          </a:p>
          <a:p xmlns:a="http://schemas.openxmlformats.org/drawingml/2006/main">
            <a:r>
              <a:t/>
            </a:r>
          </a:p>
          <a:p xmlns:a="http://schemas.openxmlformats.org/drawingml/2006/main">
            <a:r>
              <a:t>원자료·대조 기준: https://zeusk302-png.github.io/gyeongnam-ai-workshop/downloads/%EC%B6%94%EA%B0%80%EC%8B%A4%EC%8A%B5/23_Gemini_%EA%B5%AC%EB%A7%A424%ED%96%89_%EC%88%98%EC%A0%95%EA%B2%AC%EC%A0%81.txt</a:t>
            </a:r>
          </a:p>
          <a:p xmlns:a="http://schemas.openxmlformats.org/drawingml/2006/main">
            <a:r>
              <a:t/>
            </a:r>
          </a:p>
          <a:p xmlns:a="http://schemas.openxmlformats.org/drawingml/2006/main">
            <a:r>
              <a:t>추가 진행 참고: 산출물: 구매 검토표 24행 / 행사별 한도 비교표 3행 / 직전 검토 대비 변경표 5행과 구매담당 확인 메모</a:t>
            </a:r>
          </a:p>
          <a:p xmlns:a="http://schemas.openxmlformats.org/drawingml/2006/main">
            <a:r>
              <a:t>통과 기준: 24행과 중복·취소 이력을 유지했는가 / B04는 승인된 수량·구성을 적용했는가 / C09 최신 승인 범위와 미집행 상태를 구별했는가 / 전체 잔액과 개별 한도 준수를 별도로 확인했는가</a:t>
            </a:r>
          </a:p>
          <a:p xmlns:a="http://schemas.openxmlformats.org/drawingml/2006/main">
            <a:r>
              <a:t>웹 실습에서 해당 질문과 원문을 제공합니다. 해설은 초안과 직접 검토를 마친 뒤 확인합니다.</a:t>
            </a:r>
          </a:p>
          <a:p xmlns:a="http://schemas.openxmlformats.org/drawingml/2006/main">
            <a:r>
              <a:t>웹의 새 실제 Gemini 실행 오류 화면(w05)을 열고 전체 합계를 재검산합니다. 행사별 A 845,000원, B 950,000원, C 838,000원이 맞아도 전체합계를 2,538,000원으로 잘못 썼습니다. 올바른 합계는 2,633,000원입니다. 원표 기재합계는 2,882,000원, 원표 수량×단가 합계는 2,867,000원입니다. 표의 부분 값과 전체 합계를 각각 확인합니다.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54. 선택 4. 새 공지를 반영한 참가 안내 갱신</a:t>
            </a:r>
          </a:p>
          <a:p xmlns:a="http://schemas.openxmlformats.org/drawingml/2006/main">
            <a:r>
              <a:t/>
            </a:r>
          </a:p>
          <a:p xmlns:a="http://schemas.openxmlformats.org/drawingml/2006/main">
            <a:r>
              <a:t>시간: 선택 활동 15분. 본수업 180분에는 포함하지 않습니다. 수업 후 복습 또는 별도 심화 수업에서 선택합니다.</a:t>
            </a:r>
          </a:p>
          <a:p xmlns:a="http://schemas.openxmlformats.org/drawingml/2006/main">
            <a:r>
              <a:t/>
            </a:r>
          </a:p>
          <a:p xmlns:a="http://schemas.openxmlformats.org/drawingml/2006/main">
            <a:r>
              <a:t>말할 내용: 기존 네 소스에서 미정이던 배정·주차·녹화 내용의 후속 공지가 도착했습니다. 새 사실과 여전히 모르는 내용을 구별하며 참가 공지를 고칩니다. 소스 추가 3분, 질문·작성 4분, 인용 2곳과 공지 검토 6분, 저장 2분. 원문 문단 ID를 함께 기록하면 응답별로 인용 번호가 달라도 비교할 수 있습니다.</a:t>
            </a:r>
          </a:p>
          <a:p xmlns:a="http://schemas.openxmlformats.org/drawingml/2006/main">
            <a:r>
              <a:t/>
            </a:r>
          </a:p>
          <a:p xmlns:a="http://schemas.openxmlformats.org/drawingml/2006/main">
            <a:r>
              <a:t>참가자에게 할 질문: 과거에는 미정이었지만 새 문서가 결정한 내용을 갱신했는가</a:t>
            </a:r>
          </a:p>
          <a:p xmlns:a="http://schemas.openxmlformats.org/drawingml/2006/main">
            <a:r>
              <a:t/>
            </a:r>
          </a:p>
          <a:p xmlns:a="http://schemas.openxmlformats.org/drawingml/2006/main">
            <a:r>
              <a:t>예상 오류와 대응: 네 대 확보·네 대 배정·남은 네 대를 구별했는가 등록 완료 조건과 참가비 무료를 섞지 않았는가 해결되지 않은 이수·발급·공식 경로 등을 남겼는가</a:t>
            </a:r>
          </a:p>
          <a:p xmlns:a="http://schemas.openxmlformats.org/drawingml/2006/main">
            <a:r>
              <a:t/>
            </a:r>
          </a:p>
          <a:p xmlns:a="http://schemas.openxmlformats.org/drawingml/2006/main">
            <a:r>
              <a:t>수업 링크: https://zeusk302-png.github.io/gyeongnam-ai-workshop/#practice-p04</a:t>
            </a:r>
          </a:p>
          <a:p xmlns:a="http://schemas.openxmlformats.org/drawingml/2006/main">
            <a:r>
              <a:t/>
            </a:r>
          </a:p>
          <a:p xmlns:a="http://schemas.openxmlformats.org/drawingml/2006/main">
            <a:r>
              <a:t>실습 안내: 새 공지로</a:t>
            </a:r>
          </a:p>
          <a:p xmlns:a="http://schemas.openxmlformats.org/drawingml/2006/main">
            <a:r>
              <a:t>참가 안내 갱신</a:t>
            </a:r>
          </a:p>
          <a:p xmlns:a="http://schemas.openxmlformats.org/drawingml/2006/main">
            <a:r>
              <a:t/>
            </a:r>
          </a:p>
          <a:p xmlns:a="http://schemas.openxmlformats.org/drawingml/2006/main">
            <a:r>
              <a:t>진행 순서: 기존 14A~D와 새 24번 소스 추가 / 주차·녹화·개인 배정의 변경 확인 / 공지 500~700자와 남은 확인 작성 / 새 결정 인용 2곳을 원문과 대조</a:t>
            </a:r>
          </a:p>
          <a:p xmlns:a="http://schemas.openxmlformats.org/drawingml/2006/main">
            <a:r>
              <a:t/>
            </a:r>
          </a:p>
          <a:p xmlns:a="http://schemas.openxmlformats.org/drawingml/2006/main">
            <a:r>
              <a:t>남길 결과: 변경표 5행 · 공지 · 인용 확인 2건</a:t>
            </a:r>
          </a:p>
          <a:p xmlns:a="http://schemas.openxmlformats.org/drawingml/2006/main">
            <a:r>
              <a:t/>
            </a:r>
          </a:p>
          <a:p xmlns:a="http://schemas.openxmlformats.org/drawingml/2006/main">
            <a:r>
              <a:t>원자료·대조 기준: https://zeusk302-png.github.io/gyeongnam-ai-workshop/downloads/%ED%99%95%EC%9E%A5/14A_NotebookLM_%EA%B5%90%EC%9C%A1%EC%9A%B4%EC%98%81%EC%95%88%EB%82%B4_%EC%83%81%EC%84%B8.txt</a:t>
            </a:r>
          </a:p>
          <a:p xmlns:a="http://schemas.openxmlformats.org/drawingml/2006/main">
            <a:r>
              <a:t/>
            </a:r>
          </a:p>
          <a:p xmlns:a="http://schemas.openxmlformats.org/drawingml/2006/main">
            <a:r>
              <a:t>원자료·대조 기준: https://zeusk302-png.github.io/gyeongnam-ai-workshop/downloads/%ED%99%95%EC%9E%A5/14B_NotebookLM_%EC%9A%B4%EC%98%81%ED%9A%8C%EC%9D%98_%EC%97%85%EB%AC%B4%EC%9D%B8%EA%B3%84.txt</a:t>
            </a:r>
          </a:p>
          <a:p xmlns:a="http://schemas.openxmlformats.org/drawingml/2006/main">
            <a:r>
              <a:t/>
            </a:r>
          </a:p>
          <a:p xmlns:a="http://schemas.openxmlformats.org/drawingml/2006/main">
            <a:r>
              <a:t>원자료·대조 기준: https://zeusk302-png.github.io/gyeongnam-ai-workshop/downloads/%ED%99%95%EC%9E%A5/14C_%EB%B3%80%EA%B2%BD%EA%B3%B5%EC%A7%80%EC%99%80_%EC%8A%B9%EC%9D%B8%EA%B8%B0%EB%A1%9D.txt</a:t>
            </a:r>
          </a:p>
          <a:p xmlns:a="http://schemas.openxmlformats.org/drawingml/2006/main">
            <a:r>
              <a:t/>
            </a:r>
          </a:p>
          <a:p xmlns:a="http://schemas.openxmlformats.org/drawingml/2006/main">
            <a:r>
              <a:t>원자료·대조 기준: https://zeusk302-png.github.io/gyeongnam-ai-workshop/downloads/%ED%99%95%EC%9E%A5/14D_%EC%B0%B8%EA%B0%80%EB%AC%B8%EC%9D%98_%EC%A0%91%EC%88%98%EB%AA%A9%EB%A1%9D.txt</a:t>
            </a:r>
          </a:p>
          <a:p xmlns:a="http://schemas.openxmlformats.org/drawingml/2006/main">
            <a:r>
              <a:t/>
            </a:r>
          </a:p>
          <a:p xmlns:a="http://schemas.openxmlformats.org/drawingml/2006/main">
            <a:r>
              <a:t>원자료·대조 기준: https://zeusk302-png.github.io/gyeongnam-ai-workshop/downloads/%EC%B6%94%EA%B0%80%EC%8B%A4%EC%8A%B5/24_NotebookLM_%ED%9B%84%EC%86%8D%EC%8A%B9%EC%9D%B8_%EB%B0%B0%EC%A0%95_%EC%A3%BC%EC%B0%A8.txt</a:t>
            </a:r>
          </a:p>
          <a:p xmlns:a="http://schemas.openxmlformats.org/drawingml/2006/main">
            <a:r>
              <a:t/>
            </a:r>
          </a:p>
          <a:p xmlns:a="http://schemas.openxmlformats.org/drawingml/2006/main">
            <a:r>
              <a:t>추가 진행 참고: 산출물: 이전 기록→최신 상태 비교표 5행 / 참가자 공지 본문 500~700자 / 남은 확인 5개와 원문 인용 확인 기록 2건</a:t>
            </a:r>
          </a:p>
          <a:p xmlns:a="http://schemas.openxmlformats.org/drawingml/2006/main">
            <a:r>
              <a:t>통과 기준: 과거에는 미정이었지만 새 문서가 결정한 내용을 갱신했는가 / 네 대 확보·네 대 배정·남은 네 대를 구별했는가 / 등록 완료 조건과 참가비 무료를 섞지 않았는가 / 해결되지 않은 이수·발급·공식 경로 등을 남겼는가</a:t>
            </a:r>
          </a:p>
          <a:p xmlns:a="http://schemas.openxmlformats.org/drawingml/2006/main">
            <a:r>
              <a:t>웹 실습에서 해당 질문과 원문을 제공합니다. 해설은 초안과 직접 검토를 마친 뒤 확인합니다.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55. 선택 5. 부서별 안내와 답변 3종</a:t>
            </a:r>
          </a:p>
          <a:p xmlns:a="http://schemas.openxmlformats.org/drawingml/2006/main">
            <a:r>
              <a:t/>
            </a:r>
          </a:p>
          <a:p xmlns:a="http://schemas.openxmlformats.org/drawingml/2006/main">
            <a:r>
              <a:t>시간: 선택 활동 15분. 본수업 180분에는 포함하지 않습니다. 수업 후 복습 또는 별도 심화 수업에서 선택합니다.</a:t>
            </a:r>
          </a:p>
          <a:p xmlns:a="http://schemas.openxmlformats.org/drawingml/2006/main">
            <a:r>
              <a:t/>
            </a:r>
          </a:p>
          <a:p xmlns:a="http://schemas.openxmlformats.org/drawingml/2006/main">
            <a:r>
              <a:t>말할 내용: 홍보·연구지원·회계지원팀이 서로 다른 결정을 기다립니다. 공통 사실을 유지하면서 대상에게 필요한 정보만 남기는 회신을 작성합니다. 소스·질문 4분, 작성 3분, 수신 범위와 수치 대조 6분, 저장 2분. p04를 먼저 했다면 같은 노트북에 25번만 추가합니다. 독립 시작을 위한 전체 소스 목록도 제공합니다.</a:t>
            </a:r>
          </a:p>
          <a:p xmlns:a="http://schemas.openxmlformats.org/drawingml/2006/main">
            <a:r>
              <a:t/>
            </a:r>
          </a:p>
          <a:p xmlns:a="http://schemas.openxmlformats.org/drawingml/2006/main">
            <a:r>
              <a:t>참가자에게 할 질문: 세 부서별 필요한 행동과 수신 범위가 다른가</a:t>
            </a:r>
          </a:p>
          <a:p xmlns:a="http://schemas.openxmlformats.org/drawingml/2006/main">
            <a:r>
              <a:t/>
            </a:r>
          </a:p>
          <a:p xmlns:a="http://schemas.openxmlformats.org/drawingml/2006/main">
            <a:r>
              <a:t>예상 오류와 대응: 대기 1순위를 참가 확정으로 바꾸지 않았는가 V01은 등록 완료 조건으로 계산하고 V02 금액은 미확정으로 두었는가 주차 시간과 30분 단위 올림을 직접 계산했는가</a:t>
            </a:r>
          </a:p>
          <a:p xmlns:a="http://schemas.openxmlformats.org/drawingml/2006/main">
            <a:r>
              <a:t/>
            </a:r>
          </a:p>
          <a:p xmlns:a="http://schemas.openxmlformats.org/drawingml/2006/main">
            <a:r>
              <a:t>수업 링크: https://zeusk302-png.github.io/gyeongnam-ai-workshop/#practice-p05</a:t>
            </a:r>
          </a:p>
          <a:p xmlns:a="http://schemas.openxmlformats.org/drawingml/2006/main">
            <a:r>
              <a:t/>
            </a:r>
          </a:p>
          <a:p xmlns:a="http://schemas.openxmlformats.org/drawingml/2006/main">
            <a:r>
              <a:t>실습 안내: 수신 부서에 맞춘</a:t>
            </a:r>
          </a:p>
          <a:p xmlns:a="http://schemas.openxmlformats.org/drawingml/2006/main">
            <a:r>
              <a:t>회신 세 개 작성</a:t>
            </a:r>
          </a:p>
          <a:p xmlns:a="http://schemas.openxmlformats.org/drawingml/2006/main">
            <a:r>
              <a:t/>
            </a:r>
          </a:p>
          <a:p xmlns:a="http://schemas.openxmlformats.org/drawingml/2006/main">
            <a:r>
              <a:t>진행 순서: 기존 14A~D와 새 24·25번 추가 / 부서별 필요한 행동을 한 줄로 정리 / 세 회신과 내부 근거 검토표 분리 / 주차 계산과 수신 범위를 짝과 대조</a:t>
            </a:r>
          </a:p>
          <a:p xmlns:a="http://schemas.openxmlformats.org/drawingml/2006/main">
            <a:r>
              <a:t/>
            </a:r>
          </a:p>
          <a:p xmlns:a="http://schemas.openxmlformats.org/drawingml/2006/main">
            <a:r>
              <a:t>남길 결과: 부서별 회신 3건 · 근거 6행 · 공통 사실표</a:t>
            </a:r>
          </a:p>
          <a:p xmlns:a="http://schemas.openxmlformats.org/drawingml/2006/main">
            <a:r>
              <a:t/>
            </a:r>
          </a:p>
          <a:p xmlns:a="http://schemas.openxmlformats.org/drawingml/2006/main">
            <a:r>
              <a:t>원자료·대조 기준: https://zeusk302-png.github.io/gyeongnam-ai-workshop/downloads/%ED%99%95%EC%9E%A5/14A_NotebookLM_%EA%B5%90%EC%9C%A1%EC%9A%B4%EC%98%81%EC%95%88%EB%82%B4_%EC%83%81%EC%84%B8.txt</a:t>
            </a:r>
          </a:p>
          <a:p xmlns:a="http://schemas.openxmlformats.org/drawingml/2006/main">
            <a:r>
              <a:t/>
            </a:r>
          </a:p>
          <a:p xmlns:a="http://schemas.openxmlformats.org/drawingml/2006/main">
            <a:r>
              <a:t>원자료·대조 기준: https://zeusk302-png.github.io/gyeongnam-ai-workshop/downloads/%ED%99%95%EC%9E%A5/14B_NotebookLM_%EC%9A%B4%EC%98%81%ED%9A%8C%EC%9D%98_%EC%97%85%EB%AC%B4%EC%9D%B8%EA%B3%84.txt</a:t>
            </a:r>
          </a:p>
          <a:p xmlns:a="http://schemas.openxmlformats.org/drawingml/2006/main">
            <a:r>
              <a:t/>
            </a:r>
          </a:p>
          <a:p xmlns:a="http://schemas.openxmlformats.org/drawingml/2006/main">
            <a:r>
              <a:t>원자료·대조 기준: https://zeusk302-png.github.io/gyeongnam-ai-workshop/downloads/%ED%99%95%EC%9E%A5/14C_%EB%B3%80%EA%B2%BD%EA%B3%B5%EC%A7%80%EC%99%80_%EC%8A%B9%EC%9D%B8%EA%B8%B0%EB%A1%9D.txt</a:t>
            </a:r>
          </a:p>
          <a:p xmlns:a="http://schemas.openxmlformats.org/drawingml/2006/main">
            <a:r>
              <a:t/>
            </a:r>
          </a:p>
          <a:p xmlns:a="http://schemas.openxmlformats.org/drawingml/2006/main">
            <a:r>
              <a:t>원자료·대조 기준: https://zeusk302-png.github.io/gyeongnam-ai-workshop/downloads/%ED%99%95%EC%9E%A5/14D_%EC%B0%B8%EA%B0%80%EB%AC%B8%EC%9D%98_%EC%A0%91%EC%88%98%EB%AA%A9%EB%A1%9D.txt</a:t>
            </a:r>
          </a:p>
          <a:p xmlns:a="http://schemas.openxmlformats.org/drawingml/2006/main">
            <a:r>
              <a:t/>
            </a:r>
          </a:p>
          <a:p xmlns:a="http://schemas.openxmlformats.org/drawingml/2006/main">
            <a:r>
              <a:t>원자료·대조 기준: https://zeusk302-png.github.io/gyeongnam-ai-workshop/downloads/%EC%B6%94%EA%B0%80%EC%8B%A4%EC%8A%B5/24_NotebookLM_%ED%9B%84%EC%86%8D%EC%8A%B9%EC%9D%B8_%EB%B0%B0%EC%A0%95_%EC%A3%BC%EC%B0%A8.txt</a:t>
            </a:r>
          </a:p>
          <a:p xmlns:a="http://schemas.openxmlformats.org/drawingml/2006/main">
            <a:r>
              <a:t/>
            </a:r>
          </a:p>
          <a:p xmlns:a="http://schemas.openxmlformats.org/drawingml/2006/main">
            <a:r>
              <a:t>원자료·대조 기준: https://zeusk302-png.github.io/gyeongnam-ai-workshop/downloads/%EC%B6%94%EA%B0%80%EC%8B%A4%EC%8A%B5/25_NotebookLM_%EB%B6%80%EC%84%9C%EB%B3%84%EC%95%88%EB%82%B4_%EC%9A%94%EC%B2%AD.txt</a:t>
            </a:r>
          </a:p>
          <a:p xmlns:a="http://schemas.openxmlformats.org/drawingml/2006/main">
            <a:r>
              <a:t/>
            </a:r>
          </a:p>
          <a:p xmlns:a="http://schemas.openxmlformats.org/drawingml/2006/main">
            <a:r>
              <a:t>추가 진행 참고: 산출물: 홍보·연구지원·회계지원팀 회신 각 250~400자 / 근거 검토표 6행(부서별 2행) / 세 문서 공통 사실 대조표</a:t>
            </a:r>
          </a:p>
          <a:p xmlns:a="http://schemas.openxmlformats.org/drawingml/2006/main">
            <a:r>
              <a:t>통과 기준: 세 부서별 필요한 행동과 수신 범위가 다른가 / 대기 1순위를 참가 확정으로 바꾸지 않았는가 / V01은 등록 완료 조건으로 계산하고 V02 금액은 미확정으로 두었는가 / 주차 시간과 30분 단위 올림을 직접 계산했는가</a:t>
            </a:r>
          </a:p>
          <a:p xmlns:a="http://schemas.openxmlformats.org/drawingml/2006/main">
            <a:r>
              <a:t>웹 실습에서 해당 질문과 원문을 제공합니다. 해설은 초안과 직접 검토를 마친 뒤 확인합니다.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56. 선택 6. 보완 대장과 설문 10건 재집계</a:t>
            </a:r>
          </a:p>
          <a:p xmlns:a="http://schemas.openxmlformats.org/drawingml/2006/main">
            <a:r>
              <a:t/>
            </a:r>
          </a:p>
          <a:p xmlns:a="http://schemas.openxmlformats.org/drawingml/2006/main">
            <a:r>
              <a:t>시간: 선택 활동 20분. 본수업 180분에는 포함하지 않습니다. 수업 후 복습 또는 별도 심화 수업에서 선택합니다.</a:t>
            </a:r>
          </a:p>
          <a:p xmlns:a="http://schemas.openxmlformats.org/drawingml/2006/main">
            <a:r>
              <a:t/>
            </a:r>
          </a:p>
          <a:p xmlns:a="http://schemas.openxmlformats.org/drawingml/2006/main">
            <a:r>
              <a:t>말할 내용: 출석 누락 정정, 제출 승인, 설문 교체·추가가 도착했습니다. 접수 문서 수를 사람 수에 더하지 않고 실제 원점수와 대장을 다시 집계합니다. 읽기 4분, 생성 4분, 원점수·대장·계산 대조 10분, 저장 2분. 기존 기재가 당시 틀렸다는 결론이 아니라 새 증거로 정정한 이력을 가르칩니다.</a:t>
            </a:r>
          </a:p>
          <a:p xmlns:a="http://schemas.openxmlformats.org/drawingml/2006/main">
            <a:r>
              <a:t/>
            </a:r>
          </a:p>
          <a:p xmlns:a="http://schemas.openxmlformats.org/drawingml/2006/main">
            <a:r>
              <a:t>참가자에게 할 질문: 교체 7건과 추가 3건을 구별했는가</a:t>
            </a:r>
          </a:p>
          <a:p xmlns:a="http://schemas.openxmlformats.org/drawingml/2006/main">
            <a:r>
              <a:t/>
            </a:r>
          </a:p>
          <a:p xmlns:a="http://schemas.openxmlformats.org/drawingml/2006/main">
            <a:r>
              <a:t>예상 오류와 대응: 수신만 된 제출물을 승인된 이수로 바꾸지 않았는가 참여자와 신청자 분모를 바꿔 쓰지 않았는가 점수 합계에서 평균을 구하고 P·S·F번호를 연결하지 않았는가</a:t>
            </a:r>
          </a:p>
          <a:p xmlns:a="http://schemas.openxmlformats.org/drawingml/2006/main">
            <a:r>
              <a:t/>
            </a:r>
          </a:p>
          <a:p xmlns:a="http://schemas.openxmlformats.org/drawingml/2006/main">
            <a:r>
              <a:t>수업 링크: https://zeusk302-png.github.io/gyeongnam-ai-workshop/#practice-p06</a:t>
            </a:r>
          </a:p>
          <a:p xmlns:a="http://schemas.openxmlformats.org/drawingml/2006/main">
            <a:r>
              <a:t/>
            </a:r>
          </a:p>
          <a:p xmlns:a="http://schemas.openxmlformats.org/drawingml/2006/main">
            <a:r>
              <a:t>실습 안내: 대장과 원점수를</a:t>
            </a:r>
          </a:p>
          <a:p xmlns:a="http://schemas.openxmlformats.org/drawingml/2006/main">
            <a:r>
              <a:t>보완 근거로 재집계</a:t>
            </a:r>
          </a:p>
          <a:p xmlns:a="http://schemas.openxmlformats.org/drawingml/2006/main">
            <a:r>
              <a:t/>
            </a:r>
          </a:p>
          <a:p xmlns:a="http://schemas.openxmlformats.org/drawingml/2006/main">
            <a:r>
              <a:t>진행 순서: 원문 15·26의 승인 기준일 확인 / 출석·제출 승인과 접수만 된 건 구분 / 설문 교체 7건과 추가 3건 재집계 / 최종 점수·분모·정정 문장 직접 대조</a:t>
            </a:r>
          </a:p>
          <a:p xmlns:a="http://schemas.openxmlformats.org/drawingml/2006/main">
            <a:r>
              <a:t/>
            </a:r>
          </a:p>
          <a:p xmlns:a="http://schemas.openxmlformats.org/drawingml/2006/main">
            <a:r>
              <a:t>남길 결과: 점수 28행 · 지표 13행 · 정정 보고</a:t>
            </a:r>
          </a:p>
          <a:p xmlns:a="http://schemas.openxmlformats.org/drawingml/2006/main">
            <a:r>
              <a:t/>
            </a:r>
          </a:p>
          <a:p xmlns:a="http://schemas.openxmlformats.org/drawingml/2006/main">
            <a:r>
              <a:t>원자료·대조 기준: https://zeusk302-png.github.io/gyeongnam-ai-workshop/downloads/%ED%99%95%EC%9E%A5/15_Claude_%EC%9A%B4%EC%98%81%EA%B2%B0%EA%B3%BC_%EC%A7%91%EA%B3%84%EC%99%80%ED%98%84%EC%9E%A5%EB%A9%94%EB%AA%A8.txt</a:t>
            </a:r>
          </a:p>
          <a:p xmlns:a="http://schemas.openxmlformats.org/drawingml/2006/main">
            <a:r>
              <a:t/>
            </a:r>
          </a:p>
          <a:p xmlns:a="http://schemas.openxmlformats.org/drawingml/2006/main">
            <a:r>
              <a:t>원자료·대조 기준: https://zeusk302-png.github.io/gyeongnam-ai-workshop/downloads/%EC%B6%94%EA%B0%80%EC%8B%A4%EC%8A%B5/26_Claude_%EB%B3%B4%EC%99%84%EB%8C%80%EC%9E%A5%EA%B3%BC_%EC%84%A4%EB%AC%B810%EA%B1%B4.txt</a:t>
            </a:r>
          </a:p>
          <a:p xmlns:a="http://schemas.openxmlformats.org/drawingml/2006/main">
            <a:r>
              <a:t/>
            </a:r>
          </a:p>
          <a:p xmlns:a="http://schemas.openxmlformats.org/drawingml/2006/main">
            <a:r>
              <a:t>추가 진행 참고: 산출물: 출석·제출 변경표 6행 / 최종 설문 원점수 28행과 접수 이력 10건 / 전후 지표표 13행과 정정 보고 본문 400~550자</a:t>
            </a:r>
          </a:p>
          <a:p xmlns:a="http://schemas.openxmlformats.org/drawingml/2006/main">
            <a:r>
              <a:t>통과 기준: 교체 7건과 추가 3건을 구별했는가 / 수신만 된 제출물을 승인된 이수로 바꾸지 않았는가 / 참여자와 신청자 분모를 바꿔 쓰지 않았는가 / 점수 합계에서 평균을 구하고 P·S·F번호를 연결하지 않았는가</a:t>
            </a:r>
          </a:p>
          <a:p xmlns:a="http://schemas.openxmlformats.org/drawingml/2006/main">
            <a:r>
              <a:t>웹 실습에서 해당 질문과 원문을 제공합니다. 해설은 초안과 직접 검토를 마친 뒤 확인합니다.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57. 선택 7. 부서장 보완 요청 3문서 동시 반영</a:t>
            </a:r>
          </a:p>
          <a:p xmlns:a="http://schemas.openxmlformats.org/drawingml/2006/main">
            <a:r>
              <a:t/>
            </a:r>
          </a:p>
          <a:p xmlns:a="http://schemas.openxmlformats.org/drawingml/2006/main">
            <a:r>
              <a:t>시간: 선택 활동 20분. 본수업 180분에는 포함하지 않습니다. 수업 후 복습 또는 별도 심화 수업에서 선택합니다.</a:t>
            </a:r>
          </a:p>
          <a:p xmlns:a="http://schemas.openxmlformats.org/drawingml/2006/main">
            <a:r>
              <a:t/>
            </a:r>
          </a:p>
          <a:p xmlns:a="http://schemas.openxmlformats.org/drawingml/2006/main">
            <a:r>
              <a:t>말할 내용: 보고서만 고치고 메일과 업무표가 남으면 잘못된 결정이 전달됩니다. 승인 범위와 정정 수치를 세 문서에 일관되게 반영합니다. 지시·초안 읽기 4분, 작성 5분, 3문서 대조 9분, 저장 2분. p06 결과가 있더라도 원문 보완 승인 자료를 함께 제공합니다. 제안이 승인된 범위를 넘어 완료로 바뀌지 않도록 확인합니다.</a:t>
            </a:r>
          </a:p>
          <a:p xmlns:a="http://schemas.openxmlformats.org/drawingml/2006/main">
            <a:r>
              <a:t/>
            </a:r>
          </a:p>
          <a:p xmlns:a="http://schemas.openxmlformats.org/drawingml/2006/main">
            <a:r>
              <a:t>참가자에게 할 질문: 세 문서의 참여·이수·설문 수치가 일치하는가</a:t>
            </a:r>
          </a:p>
          <a:p xmlns:a="http://schemas.openxmlformats.org/drawingml/2006/main">
            <a:r>
              <a:t/>
            </a:r>
          </a:p>
          <a:p xmlns:a="http://schemas.openxmlformats.org/drawingml/2006/main">
            <a:r>
              <a:t>예상 오류와 대응: 초안의 시행 완료를 승인·착수 전 상태로 바로잡았는가 11월 4일 안내와 11월 6일 제출, 11월 9일 검토를 구별했는가 %와 %p, 표시 평균 차이와 정확한 원평균 차이를 구별했는가</a:t>
            </a:r>
          </a:p>
          <a:p xmlns:a="http://schemas.openxmlformats.org/drawingml/2006/main">
            <a:r>
              <a:t/>
            </a:r>
          </a:p>
          <a:p xmlns:a="http://schemas.openxmlformats.org/drawingml/2006/main">
            <a:r>
              <a:t>수업 링크: https://zeusk302-png.github.io/gyeongnam-ai-workshop/#practice-p07</a:t>
            </a:r>
          </a:p>
          <a:p xmlns:a="http://schemas.openxmlformats.org/drawingml/2006/main">
            <a:r>
              <a:t/>
            </a:r>
          </a:p>
          <a:p xmlns:a="http://schemas.openxmlformats.org/drawingml/2006/main">
            <a:r>
              <a:t>실습 안내: 세 문서의</a:t>
            </a:r>
          </a:p>
          <a:p xmlns:a="http://schemas.openxmlformats.org/drawingml/2006/main">
            <a:r>
              <a:t>수치와 결정 통일</a:t>
            </a:r>
          </a:p>
          <a:p xmlns:a="http://schemas.openxmlformats.org/drawingml/2006/main">
            <a:r>
              <a:t/>
            </a:r>
          </a:p>
          <a:p xmlns:a="http://schemas.openxmlformats.org/drawingml/2006/main">
            <a:r>
              <a:t>진행 순서: 원문 15·26·27과 잘못된 초안 비교 / 보고서·메일·업무표를 함께 수정 / 승인된 담당과 기한·상태 보존 / 공통 수치·기준일·결정 상태 대조</a:t>
            </a:r>
          </a:p>
          <a:p xmlns:a="http://schemas.openxmlformats.org/drawingml/2006/main">
            <a:r>
              <a:t/>
            </a:r>
          </a:p>
          <a:p xmlns:a="http://schemas.openxmlformats.org/drawingml/2006/main">
            <a:r>
              <a:t>남길 결과: 보고서 · 전달 메일 · 후속 업무표 3행</a:t>
            </a:r>
          </a:p>
          <a:p xmlns:a="http://schemas.openxmlformats.org/drawingml/2006/main">
            <a:r>
              <a:t/>
            </a:r>
          </a:p>
          <a:p xmlns:a="http://schemas.openxmlformats.org/drawingml/2006/main">
            <a:r>
              <a:t>원자료·대조 기준: https://zeusk302-png.github.io/gyeongnam-ai-workshop/downloads/%ED%99%95%EC%9E%A5/15_Claude_%EC%9A%B4%EC%98%81%EA%B2%B0%EA%B3%BC_%EC%A7%91%EA%B3%84%EC%99%80%ED%98%84%EC%9E%A5%EB%A9%94%EB%AA%A8.txt</a:t>
            </a:r>
          </a:p>
          <a:p xmlns:a="http://schemas.openxmlformats.org/drawingml/2006/main">
            <a:r>
              <a:t/>
            </a:r>
          </a:p>
          <a:p xmlns:a="http://schemas.openxmlformats.org/drawingml/2006/main">
            <a:r>
              <a:t>원자료·대조 기준: https://zeusk302-png.github.io/gyeongnam-ai-workshop/downloads/%EC%B6%94%EA%B0%80%EC%8B%A4%EC%8A%B5/26_Claude_%EB%B3%B4%EC%99%84%EB%8C%80%EC%9E%A5%EA%B3%BC_%EC%84%A4%EB%AC%B810%EA%B1%B4.txt</a:t>
            </a:r>
          </a:p>
          <a:p xmlns:a="http://schemas.openxmlformats.org/drawingml/2006/main">
            <a:r>
              <a:t/>
            </a:r>
          </a:p>
          <a:p xmlns:a="http://schemas.openxmlformats.org/drawingml/2006/main">
            <a:r>
              <a:t>원자료·대조 기준: https://zeusk302-png.github.io/gyeongnam-ai-workshop/downloads/%EC%B6%94%EA%B0%80%EC%8B%A4%EC%8A%B5/27_Claude_%EB%B6%80%EC%84%9C%EC%9E%A5%EB%B3%B4%EC%99%84_%EB%AC%B8%EC%84%9C3%EC%A2%85.txt</a:t>
            </a:r>
          </a:p>
          <a:p xmlns:a="http://schemas.openxmlformats.org/drawingml/2006/main">
            <a:r>
              <a:t/>
            </a:r>
          </a:p>
          <a:p xmlns:a="http://schemas.openxmlformats.org/drawingml/2006/main">
            <a:r>
              <a:t>추가 진행 참고: 산출물: 보고 본문 800~1,000자와 이전 회차 비교표 / 전달 메일 본문 300~450자 / 후속 업무표 3행과 공통 사실 대조표</a:t>
            </a:r>
          </a:p>
          <a:p xmlns:a="http://schemas.openxmlformats.org/drawingml/2006/main">
            <a:r>
              <a:t>통과 기준: 세 문서의 참여·이수·설문 수치가 일치하는가 / 초안의 시행 완료를 승인·착수 전 상태로 바로잡았는가 / 11월 4일 안내와 11월 6일 제출, 11월 9일 검토를 구별했는가 / %와 %p, 표시 평균 차이와 정확한 원평균 차이를 구별했는가</a:t>
            </a:r>
          </a:p>
          <a:p xmlns:a="http://schemas.openxmlformats.org/drawingml/2006/main">
            <a:r>
              <a:t>웹 실습에서 해당 질문과 원문을 제공합니다. 해설은 초안과 직접 검토를 마친 뒤 확인합니다.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58. 선택 8. 새 행사 운영 묶음 완성</a:t>
            </a:r>
          </a:p>
          <a:p xmlns:a="http://schemas.openxmlformats.org/drawingml/2006/main">
            <a:r>
              <a:t/>
            </a:r>
          </a:p>
          <a:p xmlns:a="http://schemas.openxmlformats.org/drawingml/2006/main">
            <a:r>
              <a:t>시간: 선택 활동 25분. 본수업 180분에는 포함하지 않습니다. 수업 후 복습 또는 별도 심화 수업에서 선택합니다.</a:t>
            </a:r>
          </a:p>
          <a:p xmlns:a="http://schemas.openxmlformats.org/drawingml/2006/main">
            <a:r>
              <a:t/>
            </a:r>
          </a:p>
          <a:p xmlns:a="http://schemas.openxmlformats.org/drawingml/2006/main">
            <a:r>
              <a:t>말할 내용: 독립된 2시간 행사에 대해 문의 응대→근거 있는 안내→준비 보고를 연결합니다. 이전 행사의 장소·예산·주차 조건을 가져오는 오류를 막습니다. 권장 25분(7+7+8+3). 수업 후 종합 복습 또는 별도 심화 수업에서 별도 심화 수업에서 선택해 진행합니다. 세 도구에 한 질문을 무조건 전송하지 않고 해당 단계의 질문만 선택합니다. 제한 발생 시 앞서 받은 결과를 원문과 대조하며 같은 산출물을 작성합니다.</a:t>
            </a:r>
          </a:p>
          <a:p xmlns:a="http://schemas.openxmlformats.org/drawingml/2006/main">
            <a:r>
              <a:t/>
            </a:r>
          </a:p>
          <a:p xmlns:a="http://schemas.openxmlformats.org/drawingml/2006/main">
            <a:r>
              <a:t>참가자에게 할 질문: 신규 행사의 승인 날짜·202호·2시간을 적용했는가</a:t>
            </a:r>
          </a:p>
          <a:p xmlns:a="http://schemas.openxmlformats.org/drawingml/2006/main">
            <a:r>
              <a:t/>
            </a:r>
          </a:p>
          <a:p xmlns:a="http://schemas.openxmlformats.org/drawingml/2006/main">
            <a:r>
              <a:t>예상 오류와 대응: 확정과 검토 중을 실제 출석·이수로 바꾸지 않았는가 미승인 편집 제안을 승인 합계와 분리했는가 세 도구 결과를 앞 단계 글만 믿지 않고 원문에 다시 연결했는가</a:t>
            </a:r>
          </a:p>
          <a:p xmlns:a="http://schemas.openxmlformats.org/drawingml/2006/main">
            <a:r>
              <a:t/>
            </a:r>
          </a:p>
          <a:p xmlns:a="http://schemas.openxmlformats.org/drawingml/2006/main">
            <a:r>
              <a:t>수업 링크: https://zeusk302-png.github.io/gyeongnam-ai-workshop/#practice-p08</a:t>
            </a:r>
          </a:p>
          <a:p xmlns:a="http://schemas.openxmlformats.org/drawingml/2006/main">
            <a:r>
              <a:t/>
            </a:r>
          </a:p>
          <a:p xmlns:a="http://schemas.openxmlformats.org/drawingml/2006/main">
            <a:r>
              <a:t>실습 안내: 독립된 새 행사의</a:t>
            </a:r>
          </a:p>
          <a:p xmlns:a="http://schemas.openxmlformats.org/drawingml/2006/main">
            <a:r>
              <a:t>운영 묶음 완성</a:t>
            </a:r>
          </a:p>
          <a:p xmlns:a="http://schemas.openxmlformats.org/drawingml/2006/main">
            <a:r>
              <a:t/>
            </a:r>
          </a:p>
          <a:p xmlns:a="http://schemas.openxmlformats.org/drawingml/2006/main">
            <a:r>
              <a:t>진행 순서: Gemini 7분: 업무표와 회신 작성 / NotebookLM 7분: FAQ와 인용 확인 / Claude 8분: 준비 보고와 예산 검토 / 마지막 3분: 세 결과와 원문 대조</a:t>
            </a:r>
          </a:p>
          <a:p xmlns:a="http://schemas.openxmlformats.org/drawingml/2006/main">
            <a:r>
              <a:t/>
            </a:r>
          </a:p>
          <a:p xmlns:a="http://schemas.openxmlformats.org/drawingml/2006/main">
            <a:r>
              <a:t>남길 결과: 업무표와 회신 · FAQ · 준비 보고와 예산표</a:t>
            </a:r>
          </a:p>
          <a:p xmlns:a="http://schemas.openxmlformats.org/drawingml/2006/main">
            <a:r>
              <a:t/>
            </a:r>
          </a:p>
          <a:p xmlns:a="http://schemas.openxmlformats.org/drawingml/2006/main">
            <a:r>
              <a:t>원자료·대조 기준: https://zeusk302-png.github.io/gyeongnam-ai-workshop/downloads/%EC%B6%94%EA%B0%80%EC%8B%A4%EC%8A%B5/28_%EC%A2%85%ED%95%A9_%EC%83%88%ED%96%89%EC%82%AC_%EC%9A%B4%EC%98%81%EB%AC%B8%EC%84%9C%EB%AC%B6%EC%9D%8C.txt</a:t>
            </a:r>
          </a:p>
          <a:p xmlns:a="http://schemas.openxmlformats.org/drawingml/2006/main">
            <a:r>
              <a:t/>
            </a:r>
          </a:p>
          <a:p xmlns:a="http://schemas.openxmlformats.org/drawingml/2006/main">
            <a:r>
              <a:t>추가 진행 참고: 산출물: Gemini: 준비 업무표 4행과 문의 회신 4건 / NotebookLM: FAQ 6행과 원문 인용 확인 2건 / Claude: 준비 보고 600~800자와 승인 구매표 6행·한도 대조표</a:t>
            </a:r>
          </a:p>
          <a:p xmlns:a="http://schemas.openxmlformats.org/drawingml/2006/main">
            <a:r>
              <a:t>통과 기준: 신규 행사의 승인 날짜·202호·2시간을 적용했는가 / 확정과 검토 중을 실제 출석·이수로 바꾸지 않았는가 / 미승인 편집 제안을 승인 합계와 분리했는가 / 세 도구 결과를 앞 단계 글만 믿지 않고 원문에 다시 연결했는가</a:t>
            </a:r>
          </a:p>
          <a:p xmlns:a="http://schemas.openxmlformats.org/drawingml/2006/main">
            <a:r>
              <a:t>웹 실습에서 해당 질문과 원문을 제공합니다. 해설은 초안과 직접 검토를 마친 뒤 확인합니다.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58e257de06c4b3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db861653fd5489e" /><Relationship Type="http://schemas.openxmlformats.org/officeDocument/2006/relationships/slideLayout" Target="/ppt/slideLayouts/slideLayout1.xml" Id="R94f94d01e431462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4f94d01e431462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11c8164b5114a64" /><Relationship Type="http://schemas.openxmlformats.org/officeDocument/2006/relationships/hyperlink" Target="https://zeusk302-png.github.io/gyeongnam-ai-workshop/" TargetMode="External" Id="R8ac4956928044135" /><Relationship Type="http://schemas.openxmlformats.org/officeDocument/2006/relationships/notesSlide" Target="/ppt/notesSlides/notesSlide1.xml" Id="Raa25e337881a42e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9f6b9977b084858" /><Relationship Type="http://schemas.openxmlformats.org/officeDocument/2006/relationships/image" Target="/ppt/media/image.jpeg" Id="Re442b60353cb42d9" /><Relationship Type="http://schemas.openxmlformats.org/officeDocument/2006/relationships/hyperlink" Target="https://zeusk302-png.github.io/gyeongnam-ai-workshop/#instructor" TargetMode="External" Id="R0bce08895b774e45" /><Relationship Type="http://schemas.openxmlformats.org/officeDocument/2006/relationships/notesSlide" Target="/ppt/notesSlides/notesSlide2.xml" Id="R5af72fcb175e4ca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90a5d29926c4018" /><Relationship Type="http://schemas.openxmlformats.org/officeDocument/2006/relationships/hyperlink" Target="https://zeusk302-png.github.io/gyeongnam-ai-workshop/#resources" TargetMode="External" Id="R6c678095eb664861" /><Relationship Type="http://schemas.openxmlformats.org/officeDocument/2006/relationships/notesSlide" Target="/ppt/notesSlides/notesSlide3.xml" Id="R60162b581d944e6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5c8483741514e0f" /><Relationship Type="http://schemas.openxmlformats.org/officeDocument/2006/relationships/hyperlink" Target="https://zeusk302-png.github.io/gyeongnam-ai-workshop/#orientation" TargetMode="External" Id="R14e3445341334c7d" /><Relationship Type="http://schemas.openxmlformats.org/officeDocument/2006/relationships/notesSlide" Target="/ppt/notesSlides/notesSlide4.xml" Id="Rcd8e879803d74ee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82e2c472e6d445b" /><Relationship Type="http://schemas.openxmlformats.org/officeDocument/2006/relationships/hyperlink" Target="https://zeusk302-png.github.io/gyeongnam-ai-workshop/#resources" TargetMode="External" Id="Rc6a7516ed3f0484c" /><Relationship Type="http://schemas.openxmlformats.org/officeDocument/2006/relationships/notesSlide" Target="/ppt/notesSlides/notesSlide5.xml" Id="Rca7ba59461c04f2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20c20050d13425b" /><Relationship Type="http://schemas.openxmlformats.org/officeDocument/2006/relationships/hyperlink" Target="https://zeusk302-png.github.io/gyeongnam-ai-workshop/#orientation" TargetMode="External" Id="Rbf0a2faf86d545d8" /><Relationship Type="http://schemas.openxmlformats.org/officeDocument/2006/relationships/notesSlide" Target="/ppt/notesSlides/notesSlide6.xml" Id="Rd4d5b2183cd44fb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a429b473de64899" /><Relationship Type="http://schemas.openxmlformats.org/officeDocument/2006/relationships/hyperlink" Target="https://zeusk302-png.github.io/gyeongnam-ai-workshop/#free-guide" TargetMode="External" Id="Rd748ca15024c4eaf" /><Relationship Type="http://schemas.openxmlformats.org/officeDocument/2006/relationships/notesSlide" Target="/ppt/notesSlides/notesSlide7.xml" Id="Rb585387c145a46f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ddbee9039d54526" /><Relationship Type="http://schemas.openxmlformats.org/officeDocument/2006/relationships/hyperlink" Target="https://zeusk302-png.github.io/gyeongnam-ai-workshop/#free-guide" TargetMode="External" Id="R4ed4a56186854e40" /><Relationship Type="http://schemas.openxmlformats.org/officeDocument/2006/relationships/notesSlide" Target="/ppt/notesSlides/notesSlide8.xml" Id="Rb11d6bf7e5e7489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bb4c45e9444445b" /><Relationship Type="http://schemas.openxmlformats.org/officeDocument/2006/relationships/hyperlink" Target="https://zeusk302-png.github.io/gyeongnam-ai-workshop/#orientation" TargetMode="External" Id="R6d17fbff61b24fad" /><Relationship Type="http://schemas.openxmlformats.org/officeDocument/2006/relationships/notesSlide" Target="/ppt/notesSlides/notesSlide9.xml" Id="Rdb2b225ae2ee4dc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321db5a17a44df6" /><Relationship Type="http://schemas.openxmlformats.org/officeDocument/2006/relationships/hyperlink" Target="https://zeusk302-png.github.io/gyeongnam-ai-workshop/#g-email" TargetMode="External" Id="Recc398582dc943fb" /><Relationship Type="http://schemas.openxmlformats.org/officeDocument/2006/relationships/notesSlide" Target="/ppt/notesSlides/notesSlide10.xml" Id="R7a348587da624a5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bdd1797e5fe49de" /><Relationship Type="http://schemas.openxmlformats.org/officeDocument/2006/relationships/hyperlink" Target="https://zeusk302-png.github.io/gyeongnam-ai-workshop/#g-email" TargetMode="External" Id="R64a1889303c54266" /><Relationship Type="http://schemas.openxmlformats.org/officeDocument/2006/relationships/notesSlide" Target="/ppt/notesSlides/notesSlide11.xml" Id="R14305ab8758a401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52b8a2cbf4e493a" /><Relationship Type="http://schemas.openxmlformats.org/officeDocument/2006/relationships/image" Target="/ppt/media/image2.jpeg" Id="R2686fe96e1ca4d31" /><Relationship Type="http://schemas.openxmlformats.org/officeDocument/2006/relationships/hyperlink" Target="https://zeusk302-png.github.io/gyeongnam-ai-workshop/#g-email" TargetMode="External" Id="R51f5480cb8104c18" /><Relationship Type="http://schemas.openxmlformats.org/officeDocument/2006/relationships/notesSlide" Target="/ppt/notesSlides/notesSlide12.xml" Id="R2e4329e741c2410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06b1c3dbce44d01" /><Relationship Type="http://schemas.openxmlformats.org/officeDocument/2006/relationships/hyperlink" Target="https://zeusk302-png.github.io/gyeongnam-ai-workshop/#g-email" TargetMode="External" Id="R287bef812f50424b" /><Relationship Type="http://schemas.openxmlformats.org/officeDocument/2006/relationships/notesSlide" Target="/ppt/notesSlides/notesSlide13.xml" Id="R7a69dc1f3846401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bc46b3efe2d4946" /><Relationship Type="http://schemas.openxmlformats.org/officeDocument/2006/relationships/hyperlink" Target="https://zeusk302-png.github.io/gyeongnam-ai-workshop/#g-email" TargetMode="External" Id="Rdc8bdf1cd34f45bd" /><Relationship Type="http://schemas.openxmlformats.org/officeDocument/2006/relationships/notesSlide" Target="/ppt/notesSlides/notesSlide14.xml" Id="R2b69f609935e409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8d13afca90b4ac9" /><Relationship Type="http://schemas.openxmlformats.org/officeDocument/2006/relationships/hyperlink" Target="https://zeusk302-png.github.io/gyeongnam-ai-workshop/#g-email" TargetMode="External" Id="R6745dc64c68e4363" /><Relationship Type="http://schemas.openxmlformats.org/officeDocument/2006/relationships/notesSlide" Target="/ppt/notesSlides/notesSlide15.xml" Id="R297221788034498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659a41ef24c4ffc" /><Relationship Type="http://schemas.openxmlformats.org/officeDocument/2006/relationships/hyperlink" Target="https://zeusk302-png.github.io/gyeongnam-ai-workshop/#g-meeting" TargetMode="External" Id="R2f000f24060c4452" /><Relationship Type="http://schemas.openxmlformats.org/officeDocument/2006/relationships/notesSlide" Target="/ppt/notesSlides/notesSlide16.xml" Id="Ra56fb48c5900471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8d2818656744365" /><Relationship Type="http://schemas.openxmlformats.org/officeDocument/2006/relationships/hyperlink" Target="https://zeusk302-png.github.io/gyeongnam-ai-workshop/#g-meeting" TargetMode="External" Id="R7c2216df18004b90" /><Relationship Type="http://schemas.openxmlformats.org/officeDocument/2006/relationships/notesSlide" Target="/ppt/notesSlides/notesSlide17.xml" Id="R25b87a0062ea434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c1aee001eec4572" /><Relationship Type="http://schemas.openxmlformats.org/officeDocument/2006/relationships/hyperlink" Target="https://zeusk302-png.github.io/gyeongnam-ai-workshop/#g-meeting" TargetMode="External" Id="R101b87ef619345f7" /><Relationship Type="http://schemas.openxmlformats.org/officeDocument/2006/relationships/notesSlide" Target="/ppt/notesSlides/notesSlide18.xml" Id="R27ca372f4f97497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3b65bfe651fc4215" /><Relationship Type="http://schemas.openxmlformats.org/officeDocument/2006/relationships/hyperlink" Target="https://zeusk302-png.github.io/gyeongnam-ai-workshop/#g-meeting" TargetMode="External" Id="Rd71398b344b84c93" /><Relationship Type="http://schemas.openxmlformats.org/officeDocument/2006/relationships/notesSlide" Target="/ppt/notesSlides/notesSlide19.xml" Id="R9599b44b4e21468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7c193e4598164748" /><Relationship Type="http://schemas.openxmlformats.org/officeDocument/2006/relationships/hyperlink" Target="https://zeusk302-png.github.io/gyeongnam-ai-workshop/#g-budget" TargetMode="External" Id="Rb7c96bb96b054bcb" /><Relationship Type="http://schemas.openxmlformats.org/officeDocument/2006/relationships/notesSlide" Target="/ppt/notesSlides/notesSlide20.xml" Id="Rd5f453d3b6ad4b8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b6154dcc7aa94285" /><Relationship Type="http://schemas.openxmlformats.org/officeDocument/2006/relationships/hyperlink" Target="https://zeusk302-png.github.io/gyeongnam-ai-workshop/#g-budget" TargetMode="External" Id="Rf0b52c74ba014759" /><Relationship Type="http://schemas.openxmlformats.org/officeDocument/2006/relationships/notesSlide" Target="/ppt/notesSlides/notesSlide21.xml" Id="Rd7441c4a88254c6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b8de47b6744c450f" /><Relationship Type="http://schemas.openxmlformats.org/officeDocument/2006/relationships/hyperlink" Target="https://zeusk302-png.github.io/gyeongnam-ai-workshop/#g-budget" TargetMode="External" Id="R99db920f21054a6d" /><Relationship Type="http://schemas.openxmlformats.org/officeDocument/2006/relationships/notesSlide" Target="/ppt/notesSlides/notesSlide22.xml" Id="Rb238134c247a453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2991b63ad8ff4d05" /><Relationship Type="http://schemas.openxmlformats.org/officeDocument/2006/relationships/hyperlink" Target="https://zeusk302-png.github.io/gyeongnam-ai-workshop/#g-budget" TargetMode="External" Id="R5dfb6bb51d504bcc" /><Relationship Type="http://schemas.openxmlformats.org/officeDocument/2006/relationships/notesSlide" Target="/ppt/notesSlides/notesSlide23.xml" Id="Re9d26fcf2d98418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8aaaa707b1f14f0d" /><Relationship Type="http://schemas.openxmlformats.org/officeDocument/2006/relationships/hyperlink" Target="https://zeusk302-png.github.io/gyeongnam-ai-workshop/#n-create" TargetMode="External" Id="Rb416bda2f69e470d" /><Relationship Type="http://schemas.openxmlformats.org/officeDocument/2006/relationships/notesSlide" Target="/ppt/notesSlides/notesSlide24.xml" Id="Rffaff20deaed424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db2b45bc5f5a46c0" /><Relationship Type="http://schemas.openxmlformats.org/officeDocument/2006/relationships/hyperlink" Target="https://zeusk302-png.github.io/gyeongnam-ai-workshop/#n-sources" TargetMode="External" Id="R81403cb2ccb54ae9" /><Relationship Type="http://schemas.openxmlformats.org/officeDocument/2006/relationships/notesSlide" Target="/ppt/notesSlides/notesSlide25.xml" Id="Rbf9a7e1fb1664fc0"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6ec81f7f83304ca3" /><Relationship Type="http://schemas.openxmlformats.org/officeDocument/2006/relationships/image" Target="/ppt/media/image.png" Id="R7cdeef786cea4661" /><Relationship Type="http://schemas.openxmlformats.org/officeDocument/2006/relationships/hyperlink" Target="https://zeusk302-png.github.io/gyeongnam-ai-workshop/#n-sources" TargetMode="External" Id="R78cee12fe46d436e" /><Relationship Type="http://schemas.openxmlformats.org/officeDocument/2006/relationships/notesSlide" Target="/ppt/notesSlides/notesSlide26.xml" Id="R787488ef92604e45"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9c918fcc4b744091" /><Relationship Type="http://schemas.openxmlformats.org/officeDocument/2006/relationships/hyperlink" Target="https://zeusk302-png.github.io/gyeongnam-ai-workshop/#n-summary" TargetMode="External" Id="Rbe90110260074c37" /><Relationship Type="http://schemas.openxmlformats.org/officeDocument/2006/relationships/notesSlide" Target="/ppt/notesSlides/notesSlide27.xml" Id="Rc8e1e612bc44417f"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aab01f7bafb54d70" /><Relationship Type="http://schemas.openxmlformats.org/officeDocument/2006/relationships/hyperlink" Target="https://zeusk302-png.github.io/gyeongnam-ai-workshop/#n-summary" TargetMode="External" Id="Ra6cfcf0b9f524264" /><Relationship Type="http://schemas.openxmlformats.org/officeDocument/2006/relationships/notesSlide" Target="/ppt/notesSlides/notesSlide28.xml" Id="R2a8d54148171438c"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c2dc40ab6b1a4f80" /><Relationship Type="http://schemas.openxmlformats.org/officeDocument/2006/relationships/image" Target="/ppt/media/image2.png" Id="R62ef0efc960c4ac8" /><Relationship Type="http://schemas.openxmlformats.org/officeDocument/2006/relationships/hyperlink" Target="https://zeusk302-png.github.io/gyeongnam-ai-workshop/#n-summary" TargetMode="External" Id="R3d07c6e208a44972" /><Relationship Type="http://schemas.openxmlformats.org/officeDocument/2006/relationships/notesSlide" Target="/ppt/notesSlides/notesSlide29.xml" Id="R8b06473fdd584417"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47d611f43b16436a" /><Relationship Type="http://schemas.openxmlformats.org/officeDocument/2006/relationships/image" Target="/ppt/media/image3.png" Id="R1a2d948ab2e54555" /><Relationship Type="http://schemas.openxmlformats.org/officeDocument/2006/relationships/hyperlink" Target="https://zeusk302-png.github.io/gyeongnam-ai-workshop/#n-citation" TargetMode="External" Id="Re685907aa3cd4a3b" /><Relationship Type="http://schemas.openxmlformats.org/officeDocument/2006/relationships/notesSlide" Target="/ppt/notesSlides/notesSlide30.xml" Id="Rb976a1735bd443b4"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838f761488554eed" /><Relationship Type="http://schemas.openxmlformats.org/officeDocument/2006/relationships/hyperlink" Target="https://zeusk302-png.github.io/gyeongnam-ai-workshop/#n-citation" TargetMode="External" Id="Rdde81bd2489f4ea5" /><Relationship Type="http://schemas.openxmlformats.org/officeDocument/2006/relationships/notesSlide" Target="/ppt/notesSlides/notesSlide31.xml" Id="Rd21b951fad094ce7"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b8c068afdee7448b" /><Relationship Type="http://schemas.openxmlformats.org/officeDocument/2006/relationships/image" Target="/ppt/media/image4.png" Id="R4ec7b82c17234f44" /><Relationship Type="http://schemas.openxmlformats.org/officeDocument/2006/relationships/hyperlink" Target="https://zeusk302-png.github.io/gyeongnam-ai-workshop/#n-citation" TargetMode="External" Id="Rac8d8df0e9a84e38" /><Relationship Type="http://schemas.openxmlformats.org/officeDocument/2006/relationships/notesSlide" Target="/ppt/notesSlides/notesSlide32.xml" Id="R9534fc895d294c62"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76c99b1fb1bb4aa5" /><Relationship Type="http://schemas.openxmlformats.org/officeDocument/2006/relationships/hyperlink" Target="https://zeusk302-png.github.io/gyeongnam-ai-workshop/#n-missing" TargetMode="External" Id="R61016888d666447c" /><Relationship Type="http://schemas.openxmlformats.org/officeDocument/2006/relationships/notesSlide" Target="/ppt/notesSlides/notesSlide33.xml" Id="Ra48b521a541f41b4"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005cd14163bb463e" /><Relationship Type="http://schemas.openxmlformats.org/officeDocument/2006/relationships/hyperlink" Target="https://zeusk302-png.github.io/gyeongnam-ai-workshop/#n-missing" TargetMode="External" Id="R25575e89a5ac4323" /><Relationship Type="http://schemas.openxmlformats.org/officeDocument/2006/relationships/notesSlide" Target="/ppt/notesSlides/notesSlide34.xml" Id="R3a210c9569cd4b2b"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043791981b1c4a42" /><Relationship Type="http://schemas.openxmlformats.org/officeDocument/2006/relationships/hyperlink" Target="https://zeusk302-png.github.io/gyeongnam-ai-workshop/#n-missing" TargetMode="External" Id="R37bd225484bb4f30" /><Relationship Type="http://schemas.openxmlformats.org/officeDocument/2006/relationships/notesSlide" Target="/ppt/notesSlides/notesSlide35.xml" Id="Re842084a8d57439c"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1c1adf539d8444e8" /><Relationship Type="http://schemas.openxmlformats.org/officeDocument/2006/relationships/hyperlink" Target="https://zeusk302-png.github.io/gyeongnam-ai-workshop/#n-audio" TargetMode="External" Id="Rdc9b0b83e02c40db" /><Relationship Type="http://schemas.openxmlformats.org/officeDocument/2006/relationships/notesSlide" Target="/ppt/notesSlides/notesSlide36.xml" Id="Rd4be2f20767a4123"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31148de1f5004ea7" /><Relationship Type="http://schemas.openxmlformats.org/officeDocument/2006/relationships/hyperlink" Target="https://zeusk302-png.github.io/gyeongnam-ai-workshop/#n-audio" TargetMode="External" Id="Rfad48b19598d47d2" /><Relationship Type="http://schemas.openxmlformats.org/officeDocument/2006/relationships/notesSlide" Target="/ppt/notesSlides/notesSlide37.xml" Id="Rda57eb7d13c44cd3"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5b3dff6be7934b36" /><Relationship Type="http://schemas.openxmlformats.org/officeDocument/2006/relationships/hyperlink" Target="https://zeusk302-png.github.io/gyeongnam-ai-workshop/#c-outline" TargetMode="External" Id="Rdae1af9afc0f46b0" /><Relationship Type="http://schemas.openxmlformats.org/officeDocument/2006/relationships/notesSlide" Target="/ppt/notesSlides/notesSlide38.xml" Id="R23e963efc82b4366"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97d58b7c3ffb44a2" /><Relationship Type="http://schemas.openxmlformats.org/officeDocument/2006/relationships/hyperlink" Target="https://zeusk302-png.github.io/gyeongnam-ai-workshop/#c-outline" TargetMode="External" Id="R817f21c3ab694259" /><Relationship Type="http://schemas.openxmlformats.org/officeDocument/2006/relationships/notesSlide" Target="/ppt/notesSlides/notesSlide39.xml" Id="Rc464319cbe4f466b"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fc1a549e48304a6e" /><Relationship Type="http://schemas.openxmlformats.org/officeDocument/2006/relationships/hyperlink" Target="https://zeusk302-png.github.io/gyeongnam-ai-workshop/#c-outline" TargetMode="External" Id="R143ddfbb97fe4753" /><Relationship Type="http://schemas.openxmlformats.org/officeDocument/2006/relationships/notesSlide" Target="/ppt/notesSlides/notesSlide40.xml" Id="Rc7dce15891894474"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f1279c9e9b8b48b9" /><Relationship Type="http://schemas.openxmlformats.org/officeDocument/2006/relationships/hyperlink" Target="https://zeusk302-png.github.io/gyeongnam-ai-workshop/#c-draft" TargetMode="External" Id="R79e65329936f4359" /><Relationship Type="http://schemas.openxmlformats.org/officeDocument/2006/relationships/notesSlide" Target="/ppt/notesSlides/notesSlide41.xml" Id="R234c6f1323c24d70"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90d2102589d646e6" /><Relationship Type="http://schemas.openxmlformats.org/officeDocument/2006/relationships/image" Target="/ppt/media/image5.png" Id="Rdd306ff4955f4874" /><Relationship Type="http://schemas.openxmlformats.org/officeDocument/2006/relationships/hyperlink" Target="https://zeusk302-png.github.io/gyeongnam-ai-workshop/#c-draft" TargetMode="External" Id="Rc041f2c723c849d3" /><Relationship Type="http://schemas.openxmlformats.org/officeDocument/2006/relationships/notesSlide" Target="/ppt/notesSlides/notesSlide42.xml" Id="R66ed8a4f5d4f494b"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55b188ca48404d97" /><Relationship Type="http://schemas.openxmlformats.org/officeDocument/2006/relationships/hyperlink" Target="https://zeusk302-png.github.io/gyeongnam-ai-workshop/#c-revise-tone" TargetMode="External" Id="R86dd66b9a9444da2" /><Relationship Type="http://schemas.openxmlformats.org/officeDocument/2006/relationships/notesSlide" Target="/ppt/notesSlides/notesSlide43.xml" Id="R3c484701869443a3"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c5e66d4f53ae46e9" /><Relationship Type="http://schemas.openxmlformats.org/officeDocument/2006/relationships/hyperlink" Target="https://zeusk302-png.github.io/gyeongnam-ai-workshop/#c-revise-length" TargetMode="External" Id="R2427178c432b4d4a" /><Relationship Type="http://schemas.openxmlformats.org/officeDocument/2006/relationships/notesSlide" Target="/ppt/notesSlides/notesSlide44.xml" Id="R1641b0c1441b41e2"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08b55af7ad9249fe" /><Relationship Type="http://schemas.openxmlformats.org/officeDocument/2006/relationships/hyperlink" Target="https://zeusk302-png.github.io/gyeongnam-ai-workshop/#c-verify" TargetMode="External" Id="Rc86d247fe0924a8d" /><Relationship Type="http://schemas.openxmlformats.org/officeDocument/2006/relationships/notesSlide" Target="/ppt/notesSlides/notesSlide45.xml" Id="R0b48dbcc99f149a7"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682ef38d3e22401b" /><Relationship Type="http://schemas.openxmlformats.org/officeDocument/2006/relationships/hyperlink" Target="https://zeusk302-png.github.io/gyeongnam-ai-workshop/#c-verify" TargetMode="External" Id="R7b5d0ae0aefd48b8" /><Relationship Type="http://schemas.openxmlformats.org/officeDocument/2006/relationships/notesSlide" Target="/ppt/notesSlides/notesSlide46.xml" Id="R56f7e80659b649fb"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80db2869dfc04811" /><Relationship Type="http://schemas.openxmlformats.org/officeDocument/2006/relationships/hyperlink" Target="https://zeusk302-png.github.io/gyeongnam-ai-workshop/#c-verify" TargetMode="External" Id="R31175fef193d483d" /><Relationship Type="http://schemas.openxmlformats.org/officeDocument/2006/relationships/notesSlide" Target="/ppt/notesSlides/notesSlide47.xml" Id="R016abb0dc0f24382"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93faf67ea3524a07" /><Relationship Type="http://schemas.openxmlformats.org/officeDocument/2006/relationships/hyperlink" Target="https://zeusk302-png.github.io/gyeongnam-ai-workshop/#wrap" TargetMode="External" Id="Rc4464d83eb5a4fc2" /><Relationship Type="http://schemas.openxmlformats.org/officeDocument/2006/relationships/notesSlide" Target="/ppt/notesSlides/notesSlide48.xml" Id="Rc708009025724b78"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5b3a224d1a6e4e75" /><Relationship Type="http://schemas.openxmlformats.org/officeDocument/2006/relationships/hyperlink" Target="https://zeusk302-png.github.io/gyeongnam-ai-workshop/#wrap" TargetMode="External" Id="Re968fa07ac3b48b8" /><Relationship Type="http://schemas.openxmlformats.org/officeDocument/2006/relationships/notesSlide" Target="/ppt/notesSlides/notesSlide49.xml" Id="R7e61983d9acd4772"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0cdbf9e6c40c4eda" /><Relationship Type="http://schemas.openxmlformats.org/officeDocument/2006/relationships/hyperlink" Target="https://zeusk302-png.github.io/gyeongnam-ai-workshop/#practice-bank" TargetMode="External" Id="R7af68cbbb37d4a6e" /><Relationship Type="http://schemas.openxmlformats.org/officeDocument/2006/relationships/notesSlide" Target="/ppt/notesSlides/notesSlide50.xml" Id="Rc859b0e6f9214b4f"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482f2e9ad0844e4c" /><Relationship Type="http://schemas.openxmlformats.org/officeDocument/2006/relationships/hyperlink" Target="https://zeusk302-png.github.io/gyeongnam-ai-workshop/#practice-p01" TargetMode="External" Id="R9ba75c52ebf44c89" /><Relationship Type="http://schemas.openxmlformats.org/officeDocument/2006/relationships/notesSlide" Target="/ppt/notesSlides/notesSlide51.xml" Id="Rf52754b9dd9d470b"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808eeb95e92e4468" /><Relationship Type="http://schemas.openxmlformats.org/officeDocument/2006/relationships/hyperlink" Target="https://zeusk302-png.github.io/gyeongnam-ai-workshop/#practice-p02" TargetMode="External" Id="R61dad74ef55e49eb" /><Relationship Type="http://schemas.openxmlformats.org/officeDocument/2006/relationships/notesSlide" Target="/ppt/notesSlides/notesSlide52.xml" Id="R3156ca738348447e"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09d7db51e57a4014" /><Relationship Type="http://schemas.openxmlformats.org/officeDocument/2006/relationships/hyperlink" Target="https://zeusk302-png.github.io/gyeongnam-ai-workshop/#practice-p03" TargetMode="External" Id="R896100314ab74652" /><Relationship Type="http://schemas.openxmlformats.org/officeDocument/2006/relationships/notesSlide" Target="/ppt/notesSlides/notesSlide53.xml" Id="R9bbc4611c51c435a"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ad1464f021c84d7e" /><Relationship Type="http://schemas.openxmlformats.org/officeDocument/2006/relationships/hyperlink" Target="https://zeusk302-png.github.io/gyeongnam-ai-workshop/#practice-p04" TargetMode="External" Id="R695bd7bd445b4bf9" /><Relationship Type="http://schemas.openxmlformats.org/officeDocument/2006/relationships/notesSlide" Target="/ppt/notesSlides/notesSlide54.xml" Id="R3171e30a1aaf4d08"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c598f9bf1dd44f72" /><Relationship Type="http://schemas.openxmlformats.org/officeDocument/2006/relationships/hyperlink" Target="https://zeusk302-png.github.io/gyeongnam-ai-workshop/#practice-p05" TargetMode="External" Id="Rc2205845b3f74a68" /><Relationship Type="http://schemas.openxmlformats.org/officeDocument/2006/relationships/notesSlide" Target="/ppt/notesSlides/notesSlide55.xml" Id="R69be294dd088432c"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f3bfd1f5b77d463a" /><Relationship Type="http://schemas.openxmlformats.org/officeDocument/2006/relationships/hyperlink" Target="https://zeusk302-png.github.io/gyeongnam-ai-workshop/#practice-p06" TargetMode="External" Id="R10578bee96ad42ea" /><Relationship Type="http://schemas.openxmlformats.org/officeDocument/2006/relationships/notesSlide" Target="/ppt/notesSlides/notesSlide56.xml" Id="Rd470c931385a44c8"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67380f0d43ac4e57" /><Relationship Type="http://schemas.openxmlformats.org/officeDocument/2006/relationships/hyperlink" Target="https://zeusk302-png.github.io/gyeongnam-ai-workshop/#practice-p07" TargetMode="External" Id="Rb992d74497724c7f" /><Relationship Type="http://schemas.openxmlformats.org/officeDocument/2006/relationships/notesSlide" Target="/ppt/notesSlides/notesSlide57.xml" Id="R1bad72023ab64311"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bc88424b312744e1" /><Relationship Type="http://schemas.openxmlformats.org/officeDocument/2006/relationships/hyperlink" Target="https://zeusk302-png.github.io/gyeongnam-ai-workshop/#practice-p08" TargetMode="External" Id="R5ea5718ff58f4334" /><Relationship Type="http://schemas.openxmlformats.org/officeDocument/2006/relationships/notesSlide" Target="/ppt/notesSlides/notesSlide58.xml" Id="Rde263bb2df944724"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교직원 AI 업무 실습">
            <a:extLst xmlns:a="http://schemas.openxmlformats.org/drawingml/2006/main">
              <a:ext uri="{FF2B5EF4-FFF2-40B4-BE49-F238E27FC236}">
                <a16:creationId xmlns:a16="http://schemas.microsoft.com/office/drawing/2014/main" id="{F1D31E8F-A6DF-481C-9206-B251723CD60C}"/>
              </a:ext>
            </a:extLst>
          </p:cNvPr>
          <p:cNvSpPr>
            <a:spLocks xmlns:a="http://schemas.openxmlformats.org/drawingml/2006/main" noGrp="1"/>
          </p:cNvSpPr>
          <p:nvPr/>
        </p:nvSpPr>
        <p:spPr>
          <a:xfrm xmlns:a="http://schemas.openxmlformats.org/drawingml/2006/main">
            <a:off x="685800" y="1476375"/>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5100" b="1">
                <a:solidFill>
                  <a:srgbClr val="20212A"/>
                </a:solidFill>
                <a:latin typeface="Malgun Gothic"/>
                <a:ea typeface="Malgun Gothic"/>
                <a:cs typeface="Malgun Gothic"/>
              </a:defRPr>
            </a:pPr>
            <a:r>
              <a:rPr sz="5100" b="1">
                <a:solidFill>
                  <a:srgbClr val="20212A"/>
                </a:solidFill>
                <a:latin typeface="Malgun Gothic"/>
                <a:ea typeface="Malgun Gothic"/>
                <a:cs typeface="Malgun Gothic"/>
              </a:rPr>
              <a:t>교직원 AI 업무 실습</a:t>
            </a:r>
          </a:p>
        </p:txBody>
      </p:sp>
      <p:sp>
        <p:nvSpPr>
          <p:cNvPr id="2" name="답장부터 인수인계와 결과 보고까지">
            <a:extLst xmlns:a="http://schemas.openxmlformats.org/drawingml/2006/main">
              <a:ext uri="{FF2B5EF4-FFF2-40B4-BE49-F238E27FC236}">
                <a16:creationId xmlns:a16="http://schemas.microsoft.com/office/drawing/2014/main" id="{6BE2A071-003B-45EC-BA31-59114EA52177}"/>
              </a:ext>
            </a:extLst>
          </p:cNvPr>
          <p:cNvSpPr>
            <a:spLocks xmlns:a="http://schemas.openxmlformats.org/drawingml/2006/main" noGrp="1"/>
          </p:cNvSpPr>
          <p:nvPr/>
        </p:nvSpPr>
        <p:spPr>
          <a:xfrm xmlns:a="http://schemas.openxmlformats.org/drawingml/2006/main">
            <a:off x="723900" y="2638425"/>
            <a:ext cx="1038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925" b="0">
                <a:solidFill>
                  <a:srgbClr val="6B43C7"/>
                </a:solidFill>
                <a:latin typeface="Malgun Gothic"/>
                <a:ea typeface="Malgun Gothic"/>
                <a:cs typeface="Malgun Gothic"/>
              </a:defRPr>
            </a:pPr>
            <a:r>
              <a:rPr sz="2925" b="0">
                <a:solidFill>
                  <a:srgbClr val="6B43C7"/>
                </a:solidFill>
                <a:latin typeface="Malgun Gothic"/>
                <a:ea typeface="Malgun Gothic"/>
                <a:cs typeface="Malgun Gothic"/>
              </a:rPr>
              <a:t>답장부터 인수인계와 결과 보고까지</a:t>
            </a:r>
          </a:p>
        </p:txBody>
      </p:sp>
      <p:sp>
        <p:nvSpPr>
          <p:cNvPr id="3" name="김세영  /  ㈜파운드리머 기업부설연구소 연구소장">
            <a:extLst xmlns:a="http://schemas.openxmlformats.org/drawingml/2006/main">
              <a:ext uri="{FF2B5EF4-FFF2-40B4-BE49-F238E27FC236}">
                <a16:creationId xmlns:a16="http://schemas.microsoft.com/office/drawing/2014/main" id="{D50C1DF8-64F7-4836-BC9F-DD16263C7CED}"/>
              </a:ext>
            </a:extLst>
          </p:cNvPr>
          <p:cNvSpPr>
            <a:spLocks xmlns:a="http://schemas.openxmlformats.org/drawingml/2006/main" noGrp="1"/>
          </p:cNvSpPr>
          <p:nvPr/>
        </p:nvSpPr>
        <p:spPr>
          <a:xfrm xmlns:a="http://schemas.openxmlformats.org/drawingml/2006/main">
            <a:off x="723900" y="419100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75" b="0">
                <a:solidFill>
                  <a:srgbClr val="606170"/>
                </a:solidFill>
                <a:latin typeface="Malgun Gothic"/>
                <a:ea typeface="Malgun Gothic"/>
                <a:cs typeface="Malgun Gothic"/>
              </a:defRPr>
            </a:pPr>
            <a:r>
              <a:rPr sz="1875" b="0">
                <a:solidFill>
                  <a:srgbClr val="606170"/>
                </a:solidFill>
                <a:latin typeface="Malgun Gothic"/>
                <a:ea typeface="Malgun Gothic"/>
                <a:cs typeface="Malgun Gothic"/>
              </a:rPr>
              <a:t>김세영  /  ㈜파운드리머 기업부설연구소 연구소장</a:t>
            </a:r>
          </a:p>
        </p:txBody>
      </p:sp>
      <p:sp>
        <p:nvSpPr>
          <p:cNvPr id="4" name="3시간  ·  가상 자료로 직접 작성하고 원문으로 ">
            <a:extLst xmlns:a="http://schemas.openxmlformats.org/drawingml/2006/main">
              <a:ext uri="{FF2B5EF4-FFF2-40B4-BE49-F238E27FC236}">
                <a16:creationId xmlns:a16="http://schemas.microsoft.com/office/drawing/2014/main" id="{A58DD761-D2D4-4829-882B-C96536B731F7}"/>
              </a:ext>
            </a:extLst>
          </p:cNvPr>
          <p:cNvSpPr>
            <a:spLocks xmlns:a="http://schemas.openxmlformats.org/drawingml/2006/main" noGrp="1"/>
          </p:cNvSpPr>
          <p:nvPr/>
        </p:nvSpPr>
        <p:spPr>
          <a:xfrm xmlns:a="http://schemas.openxmlformats.org/drawingml/2006/main">
            <a:off x="723900" y="509587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950" b="0">
                <a:solidFill>
                  <a:srgbClr val="20212A"/>
                </a:solidFill>
                <a:latin typeface="Malgun Gothic"/>
                <a:ea typeface="Malgun Gothic"/>
                <a:cs typeface="Malgun Gothic"/>
              </a:defRPr>
            </a:pPr>
            <a:r>
              <a:rPr sz="1950" b="0">
                <a:solidFill>
                  <a:srgbClr val="20212A"/>
                </a:solidFill>
                <a:latin typeface="Malgun Gothic"/>
                <a:ea typeface="Malgun Gothic"/>
                <a:cs typeface="Malgun Gothic"/>
              </a:rPr>
              <a:t>3시간  ·  가상 자료로 직접 작성하고 원문으로 확인합니다</a:t>
            </a:r>
          </a:p>
        </p:txBody>
      </p:sp>
      <p:sp>
        <p:nvSpPr>
          <p:cNvPr id="5" name="https://zeusk302-png.github.">
            <a:extLst xmlns:a="http://schemas.openxmlformats.org/drawingml/2006/main">
              <a:ext uri="{FF2B5EF4-FFF2-40B4-BE49-F238E27FC236}">
                <a16:creationId xmlns:a16="http://schemas.microsoft.com/office/drawing/2014/main" id="{CE1B754B-9A85-469A-AC77-7AC95C3534F8}"/>
              </a:ext>
            </a:extLst>
          </p:cNvPr>
          <p:cNvSpPr>
            <a:spLocks xmlns:a="http://schemas.openxmlformats.org/drawingml/2006/main" noGrp="1"/>
          </p:cNvSpPr>
          <p:nvPr/>
        </p:nvSpPr>
        <p:spPr>
          <a:xfrm xmlns:a="http://schemas.openxmlformats.org/drawingml/2006/main">
            <a:off x="723900" y="5857875"/>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75" b="1">
                <a:solidFill>
                  <a:srgbClr val="6B43C7"/>
                </a:solidFill>
                <a:latin typeface="Malgun Gothic"/>
                <a:ea typeface="Malgun Gothic"/>
                <a:cs typeface="Malgun Gothic"/>
              </a:defRPr>
            </a:pPr>
            <a:r>
              <a:rPr sz="1575" b="1">
                <a:solidFill>
                  <a:srgbClr val="6B43C7"/>
                </a:solidFill>
                <a:latin typeface="Malgun Gothic"/>
                <a:ea typeface="Malgun Gothic"/>
                <a:cs typeface="Malgun Gothic"/>
                <a:hlinkClick xmlns:r="http://schemas.openxmlformats.org/officeDocument/2006/relationships" r:id="R8ac4956928044135"/>
              </a:rPr>
              <a:t>https://zeusk302-png.github.io/gyeongnam-ai-workshop/</a:t>
            </a:r>
          </a:p>
        </p:txBody>
      </p:sp>
    </p:spTree>
    <p:extLst>
      <p:ext uri="{BB962C8B-B14F-4D97-AF65-F5344CB8AC3E}">
        <p14:creationId xmlns:p14="http://schemas.microsoft.com/office/powerpoint/2010/main" val="152961218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강사 김세영">
            <a:extLst xmlns:a="http://schemas.openxmlformats.org/drawingml/2006/main">
              <a:ext uri="{FF2B5EF4-FFF2-40B4-BE49-F238E27FC236}">
                <a16:creationId xmlns:a16="http://schemas.microsoft.com/office/drawing/2014/main" id="{BC4EFEEC-0E5B-4D0F-9D1C-818C2EE2D3BD}"/>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강사 김세영</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e442b60353cb42d9"/>
          <a:stretch xmlns:a="http://schemas.openxmlformats.org/drawingml/2006/main"/>
        </p:blipFill>
        <p:spPr>
          <a:xfrm xmlns:a="http://schemas.openxmlformats.org/drawingml/2006/main">
            <a:off x="8429625" y="1854994"/>
            <a:ext cx="2952750" cy="3690938"/>
          </a:xfrm>
          <a:prstGeom xmlns:a="http://schemas.openxmlformats.org/drawingml/2006/main" prst="rect">
            <a:avLst/>
          </a:prstGeom>
        </p:spPr>
      </p:pic>
      <p:sp>
        <p:nvSpPr>
          <p:cNvPr id="3" name="R&amp;D 엔지니어 · 기술교육자">
            <a:extLst xmlns:a="http://schemas.openxmlformats.org/drawingml/2006/main">
              <a:ext uri="{FF2B5EF4-FFF2-40B4-BE49-F238E27FC236}">
                <a16:creationId xmlns:a16="http://schemas.microsoft.com/office/drawing/2014/main" id="{AB455C99-BF7C-431E-B553-5C2FC31A0307}"/>
              </a:ext>
            </a:extLst>
          </p:cNvPr>
          <p:cNvSpPr>
            <a:spLocks xmlns:a="http://schemas.openxmlformats.org/drawingml/2006/main" noGrp="1"/>
          </p:cNvSpPr>
          <p:nvPr/>
        </p:nvSpPr>
        <p:spPr>
          <a:xfrm xmlns:a="http://schemas.openxmlformats.org/drawingml/2006/main">
            <a:off x="685800" y="1666875"/>
            <a:ext cx="723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400" b="1">
                <a:solidFill>
                  <a:srgbClr val="6B43C7"/>
                </a:solidFill>
                <a:latin typeface="Malgun Gothic"/>
                <a:ea typeface="Malgun Gothic"/>
                <a:cs typeface="Malgun Gothic"/>
              </a:defRPr>
            </a:pPr>
            <a:r>
              <a:rPr sz="2400" b="1">
                <a:solidFill>
                  <a:srgbClr val="6B43C7"/>
                </a:solidFill>
                <a:latin typeface="Malgun Gothic"/>
                <a:ea typeface="Malgun Gothic"/>
                <a:cs typeface="Malgun Gothic"/>
              </a:rPr>
              <a:t>R&amp;D 엔지니어 · 기술교육자</a:t>
            </a:r>
          </a:p>
        </p:txBody>
      </p:sp>
      <p:sp>
        <p:nvSpPr>
          <p:cNvPr id="4" name="">
            <a:extLst xmlns:a="http://schemas.openxmlformats.org/drawingml/2006/main">
              <a:ext uri="{FF2B5EF4-FFF2-40B4-BE49-F238E27FC236}">
                <a16:creationId xmlns:a16="http://schemas.microsoft.com/office/drawing/2014/main" id="{04F51E54-CB66-4C19-A3A3-E6BF2705A1DB}"/>
              </a:ext>
            </a:extLst>
          </p:cNvPr>
          <p:cNvSpPr>
            <a:spLocks xmlns:a="http://schemas.openxmlformats.org/drawingml/2006/main" noGrp="1"/>
          </p:cNvSpPr>
          <p:nvPr/>
        </p:nvSpPr>
        <p:spPr>
          <a:xfrm xmlns:a="http://schemas.openxmlformats.org/drawingml/2006/main">
            <a:off x="685800" y="2438400"/>
            <a:ext cx="7096125"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27000" algn="l">
              <a:spcAft>
                <a:spcPts val="2000"/>
              </a:spcAft>
              <a:buChar char="•"/>
              <a:defRPr sz="2100" b="0">
                <a:solidFill>
                  <a:srgbClr val="20212A"/>
                </a:solidFill>
                <a:latin typeface="Malgun Gothic"/>
                <a:ea typeface="Malgun Gothic"/>
                <a:cs typeface="Malgun Gothic"/>
              </a:defRPr>
            </a:pPr>
            <a:r>
              <a:t>㈜파운드리머 기업부설연구소 연구소장</a:t>
            </a:r>
          </a:p>
          <a:p xmlns:a="http://schemas.openxmlformats.org/drawingml/2006/main">
            <a:pPr marL="228600" indent="-127000" algn="l">
              <a:spcAft>
                <a:spcPts val="2000"/>
              </a:spcAft>
              <a:buChar char="•"/>
              <a:defRPr sz="2100" b="0">
                <a:solidFill>
                  <a:srgbClr val="20212A"/>
                </a:solidFill>
                <a:latin typeface="Malgun Gothic"/>
                <a:ea typeface="Malgun Gothic"/>
                <a:cs typeface="Malgun Gothic"/>
              </a:defRPr>
            </a:pPr>
            <a:r>
              <a:t>산업용 AI와 임베디드 소프트웨어 개발</a:t>
            </a:r>
          </a:p>
          <a:p xmlns:a="http://schemas.openxmlformats.org/drawingml/2006/main">
            <a:pPr marL="228600" indent="-127000" algn="l">
              <a:spcAft>
                <a:spcPts val="2000"/>
              </a:spcAft>
              <a:buChar char="•"/>
              <a:defRPr sz="2100" b="0">
                <a:solidFill>
                  <a:srgbClr val="20212A"/>
                </a:solidFill>
                <a:latin typeface="Malgun Gothic"/>
                <a:ea typeface="Malgun Gothic"/>
                <a:cs typeface="Malgun Gothic"/>
              </a:defRPr>
            </a:pPr>
            <a:r>
              <a:t>시스템 설계, 시험·검증, 기술 문서 작성</a:t>
            </a:r>
          </a:p>
          <a:p xmlns:a="http://schemas.openxmlformats.org/drawingml/2006/main">
            <a:pPr marL="228600" indent="-127000" algn="l">
              <a:spcAft>
                <a:spcPts val="2000"/>
              </a:spcAft>
              <a:buChar char="•"/>
              <a:defRPr sz="2100" b="0">
                <a:solidFill>
                  <a:srgbClr val="20212A"/>
                </a:solidFill>
                <a:latin typeface="Malgun Gothic"/>
                <a:ea typeface="Malgun Gothic"/>
                <a:cs typeface="Malgun Gothic"/>
              </a:defRPr>
            </a:pPr>
            <a:r>
              <a:t>부산대학교 대학원 정보융합학과 인공지능 전공</a:t>
            </a:r>
          </a:p>
        </p:txBody>
      </p:sp>
      <p:sp>
        <p:nvSpPr>
          <p:cNvPr id="5" name="1–3분">
            <a:extLst xmlns:a="http://schemas.openxmlformats.org/drawingml/2006/main">
              <a:ext uri="{FF2B5EF4-FFF2-40B4-BE49-F238E27FC236}">
                <a16:creationId xmlns:a16="http://schemas.microsoft.com/office/drawing/2014/main" id="{2C8AEBCC-6DD1-447E-9E75-2E406BB5BDCD}"/>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1–3분</a:t>
            </a:r>
          </a:p>
        </p:txBody>
      </p:sp>
      <p:sp>
        <p:nvSpPr>
          <p:cNvPr id="6" name="웹 실습 열기">
            <a:extLst xmlns:a="http://schemas.openxmlformats.org/drawingml/2006/main">
              <a:ext uri="{FF2B5EF4-FFF2-40B4-BE49-F238E27FC236}">
                <a16:creationId xmlns:a16="http://schemas.microsoft.com/office/drawing/2014/main" id="{9CAA6B3F-0CC6-490E-8D9E-7ED9C60BACF4}"/>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0bce08895b774e45"/>
              </a:rPr>
              <a:t>웹 실습 열기</a:t>
            </a:r>
          </a:p>
        </p:txBody>
      </p:sp>
      <p:sp>
        <p:nvSpPr>
          <p:cNvPr id="7" name="02">
            <a:extLst xmlns:a="http://schemas.openxmlformats.org/drawingml/2006/main">
              <a:ext uri="{FF2B5EF4-FFF2-40B4-BE49-F238E27FC236}">
                <a16:creationId xmlns:a16="http://schemas.microsoft.com/office/drawing/2014/main" id="{6AF81C1A-3554-4C38-8BC5-50FF05301FD8}"/>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02</a:t>
            </a:r>
          </a:p>
        </p:txBody>
      </p:sp>
    </p:spTree>
    <p:extLst>
      <p:ext uri="{BB962C8B-B14F-4D97-AF65-F5344CB8AC3E}">
        <p14:creationId xmlns:p14="http://schemas.microsoft.com/office/powerpoint/2010/main" val="194089339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오늘 만들고 검토할 업무 묶음">
            <a:extLst xmlns:a="http://schemas.openxmlformats.org/drawingml/2006/main">
              <a:ext uri="{FF2B5EF4-FFF2-40B4-BE49-F238E27FC236}">
                <a16:creationId xmlns:a16="http://schemas.microsoft.com/office/drawing/2014/main" id="{0483576D-9F2F-422A-B6C4-23D4CC74FF78}"/>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오늘 만들고 검토할 업무 묶음</a:t>
            </a:r>
          </a:p>
        </p:txBody>
      </p:sp>
      <p:sp>
        <p:nvSpPr>
          <p:cNvPr id="2" name="">
            <a:extLst xmlns:a="http://schemas.openxmlformats.org/drawingml/2006/main">
              <a:ext uri="{FF2B5EF4-FFF2-40B4-BE49-F238E27FC236}">
                <a16:creationId xmlns:a16="http://schemas.microsoft.com/office/drawing/2014/main" id="{617F3809-DFD9-404D-B1A8-14B8601F9858}"/>
              </a:ext>
            </a:extLst>
          </p:cNvPr>
          <p:cNvSpPr>
            <a:spLocks xmlns:a="http://schemas.openxmlformats.org/drawingml/2006/main" noGrp="1"/>
          </p:cNvSpPr>
          <p:nvPr/>
        </p:nvSpPr>
        <p:spPr>
          <a:xfrm xmlns:a="http://schemas.openxmlformats.org/drawingml/2006/main">
            <a:off x="742950" y="1724025"/>
            <a:ext cx="106680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27000" algn="l">
              <a:spcAft>
                <a:spcPts val="2200"/>
              </a:spcAft>
              <a:buChar char="•"/>
              <a:defRPr sz="2400" b="0">
                <a:solidFill>
                  <a:srgbClr val="20212A"/>
                </a:solidFill>
                <a:latin typeface="Malgun Gothic"/>
                <a:ea typeface="Malgun Gothic"/>
                <a:cs typeface="Malgun Gothic"/>
              </a:defRPr>
            </a:pPr>
            <a:r>
              <a:t>문의 30행·답장 5건·확인 요청·공지 수정 초안</a:t>
            </a:r>
          </a:p>
          <a:p xmlns:a="http://schemas.openxmlformats.org/drawingml/2006/main">
            <a:pPr marL="228600" indent="-127000" algn="l">
              <a:spcAft>
                <a:spcPts val="2200"/>
              </a:spcAft>
              <a:buChar char="•"/>
              <a:defRPr sz="2400" b="0">
                <a:solidFill>
                  <a:srgbClr val="20212A"/>
                </a:solidFill>
                <a:latin typeface="Malgun Gothic"/>
                <a:ea typeface="Malgun Gothic"/>
                <a:cs typeface="Malgun Gothic"/>
              </a:defRPr>
            </a:pPr>
            <a:r>
              <a:t>회의 후속 업무표와 구매 검토표</a:t>
            </a:r>
          </a:p>
          <a:p xmlns:a="http://schemas.openxmlformats.org/drawingml/2006/main">
            <a:pPr marL="228600" indent="-127000" algn="l">
              <a:spcAft>
                <a:spcPts val="2200"/>
              </a:spcAft>
              <a:buChar char="•"/>
              <a:defRPr sz="2400" b="0">
                <a:solidFill>
                  <a:srgbClr val="20212A"/>
                </a:solidFill>
                <a:latin typeface="Malgun Gothic"/>
                <a:ea typeface="Malgun Gothic"/>
                <a:cs typeface="Malgun Gothic"/>
              </a:defRPr>
            </a:pPr>
            <a:r>
              <a:t>변경 근거가 있는 인계표와 참가자 FAQ</a:t>
            </a:r>
          </a:p>
          <a:p xmlns:a="http://schemas.openxmlformats.org/drawingml/2006/main">
            <a:pPr marL="228600" indent="-127000" algn="l">
              <a:spcAft>
                <a:spcPts val="2200"/>
              </a:spcAft>
              <a:buChar char="•"/>
              <a:defRPr sz="2400" b="0">
                <a:solidFill>
                  <a:srgbClr val="20212A"/>
                </a:solidFill>
                <a:latin typeface="Malgun Gothic"/>
                <a:ea typeface="Malgun Gothic"/>
                <a:cs typeface="Malgun Gothic"/>
              </a:defRPr>
            </a:pPr>
            <a:r>
              <a:t>결과 보고서, 전달 메일, 직접 확인한 계산표</a:t>
            </a:r>
          </a:p>
        </p:txBody>
      </p:sp>
      <p:sp>
        <p:nvSpPr>
          <p:cNvPr id="3" name="대표 세 건을 검토하며 나머지는 미검토로 남깁니다">
            <a:extLst xmlns:a="http://schemas.openxmlformats.org/drawingml/2006/main">
              <a:ext uri="{FF2B5EF4-FFF2-40B4-BE49-F238E27FC236}">
                <a16:creationId xmlns:a16="http://schemas.microsoft.com/office/drawing/2014/main" id="{990E8548-3312-4C91-AD52-AE79C5DD6312}"/>
              </a:ext>
            </a:extLst>
          </p:cNvPr>
          <p:cNvSpPr>
            <a:spLocks xmlns:a="http://schemas.openxmlformats.org/drawingml/2006/main" noGrp="1"/>
          </p:cNvSpPr>
          <p:nvPr/>
        </p:nvSpPr>
        <p:spPr>
          <a:xfrm xmlns:a="http://schemas.openxmlformats.org/drawingml/2006/main">
            <a:off x="742950" y="54102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100" b="1">
                <a:solidFill>
                  <a:srgbClr val="6B43C7"/>
                </a:solidFill>
                <a:latin typeface="Malgun Gothic"/>
                <a:ea typeface="Malgun Gothic"/>
                <a:cs typeface="Malgun Gothic"/>
              </a:defRPr>
            </a:pPr>
            <a:r>
              <a:rPr sz="2100" b="1">
                <a:solidFill>
                  <a:srgbClr val="6B43C7"/>
                </a:solidFill>
                <a:latin typeface="Malgun Gothic"/>
                <a:ea typeface="Malgun Gothic"/>
                <a:cs typeface="Malgun Gothic"/>
              </a:rPr>
              <a:t>대표 세 건을 검토하며 나머지는 미검토로 남깁니다</a:t>
            </a:r>
          </a:p>
        </p:txBody>
      </p:sp>
      <p:sp>
        <p:nvSpPr>
          <p:cNvPr id="4" name="3–5분">
            <a:extLst xmlns:a="http://schemas.openxmlformats.org/drawingml/2006/main">
              <a:ext uri="{FF2B5EF4-FFF2-40B4-BE49-F238E27FC236}">
                <a16:creationId xmlns:a16="http://schemas.microsoft.com/office/drawing/2014/main" id="{1EBA7EF8-05B1-414E-A1C4-8567C826FE86}"/>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3–5분</a:t>
            </a:r>
          </a:p>
        </p:txBody>
      </p:sp>
      <p:sp>
        <p:nvSpPr>
          <p:cNvPr id="5" name="웹 실습 열기">
            <a:extLst xmlns:a="http://schemas.openxmlformats.org/drawingml/2006/main">
              <a:ext uri="{FF2B5EF4-FFF2-40B4-BE49-F238E27FC236}">
                <a16:creationId xmlns:a16="http://schemas.microsoft.com/office/drawing/2014/main" id="{D3189FB1-76A6-4672-9B0A-C8EB798FF932}"/>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6c678095eb664861"/>
              </a:rPr>
              <a:t>웹 실습 열기</a:t>
            </a:r>
          </a:p>
        </p:txBody>
      </p:sp>
      <p:sp>
        <p:nvSpPr>
          <p:cNvPr id="6" name="03">
            <a:extLst xmlns:a="http://schemas.openxmlformats.org/drawingml/2006/main">
              <a:ext uri="{FF2B5EF4-FFF2-40B4-BE49-F238E27FC236}">
                <a16:creationId xmlns:a16="http://schemas.microsoft.com/office/drawing/2014/main" id="{69DEFEAF-1CFD-475C-A050-75673FFBCB4B}"/>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03</a:t>
            </a:r>
          </a:p>
        </p:txBody>
      </p:sp>
    </p:spTree>
    <p:extLst>
      <p:ext uri="{BB962C8B-B14F-4D97-AF65-F5344CB8AC3E}">
        <p14:creationId xmlns:p14="http://schemas.microsoft.com/office/powerpoint/2010/main" val="5122645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AI를 쓰기 전에 고를 일">
            <a:extLst xmlns:a="http://schemas.openxmlformats.org/drawingml/2006/main">
              <a:ext uri="{FF2B5EF4-FFF2-40B4-BE49-F238E27FC236}">
                <a16:creationId xmlns:a16="http://schemas.microsoft.com/office/drawing/2014/main" id="{85C37F08-061F-47C2-96F4-BBE7BA473B4D}"/>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AI를 쓰기 전에 고를 일</a:t>
            </a:r>
          </a:p>
        </p:txBody>
      </p:sp>
      <p:graphicFrame>
        <p:nvGraphicFramePr>
          <p:cNvPr id="8" name=""/>
          <p:cNvGraphicFramePr/>
          <p:nvPr/>
        </p:nvGraphicFramePr>
        <p:xfrm>
          <a:off xmlns:a="http://schemas.openxmlformats.org/drawingml/2006/main" x="685800" y="1543050"/>
          <a:ext xmlns:a="http://schemas.openxmlformats.org/drawingml/2006/main" cx="10820400" cy="2952750"/>
        </p:xfrm>
        <a:graphic xmlns:a="http://schemas.openxmlformats.org/drawingml/2006/main">
          <a:graphicData uri="http://schemas.openxmlformats.org/drawingml/2006/table">
            <a:tbl>
              <a:tblPr firstRow="1" bandRow="0"/>
              <a:tblGrid>
                <a:gridCol w="2857500"/>
                <a:gridCol w="3238500"/>
                <a:gridCol w="4667250"/>
              </a:tblGrid>
              <a:tr h="590550">
                <a:tc>
                  <a:txBody>
                    <a:bodyPr lIns="114300" tIns="66675" rIns="114300" bIns="57150">
                      <a:noAutofit/>
                    </a:bodyPr>
                    <a:lstStyle/>
                    <a:p>
                      <a:pPr algn="l"/>
                      <a:r>
                        <a:rPr sz="1875" b="1">
                          <a:solidFill>
                            <a:srgbClr val="FFFFFF"/>
                          </a:solidFill>
                          <a:latin typeface="Malgun Gothic"/>
                          <a:ea typeface="Malgun Gothic"/>
                          <a:cs typeface="Malgun Gothic"/>
                        </a:rPr>
                        <a:t>일의 성격</a:t>
                      </a:r>
                    </a:p>
                  </a:txBody>
                  <a:tcPr marL="91440" marR="91440" marT="45720" marB="45720" anchor="ctr">
                    <a:solidFill>
                      <a:srgbClr val="6B43C7"/>
                    </a:solidFill>
                  </a:tcPr>
                </a:tc>
                <a:tc>
                  <a:txBody>
                    <a:bodyPr lIns="114300" tIns="66675" rIns="114300" bIns="57150">
                      <a:noAutofit/>
                    </a:bodyPr>
                    <a:lstStyle/>
                    <a:p>
                      <a:pPr algn="l"/>
                      <a:r>
                        <a:rPr sz="1875" b="1">
                          <a:solidFill>
                            <a:srgbClr val="FFFFFF"/>
                          </a:solidFill>
                          <a:latin typeface="Malgun Gothic"/>
                          <a:ea typeface="Malgun Gothic"/>
                          <a:cs typeface="Malgun Gothic"/>
                        </a:rPr>
                        <a:t>기본 수단</a:t>
                      </a:r>
                    </a:p>
                  </a:txBody>
                  <a:tcPr marL="91440" marR="91440" marT="45720" marB="45720" anchor="ctr">
                    <a:solidFill>
                      <a:srgbClr val="6B43C7"/>
                    </a:solidFill>
                  </a:tcPr>
                </a:tc>
                <a:tc>
                  <a:txBody>
                    <a:bodyPr lIns="114300" tIns="66675" rIns="114300" bIns="57150">
                      <a:noAutofit/>
                    </a:bodyPr>
                    <a:lstStyle/>
                    <a:p>
                      <a:pPr algn="l"/>
                      <a:r>
                        <a:rPr sz="1875" b="1">
                          <a:solidFill>
                            <a:srgbClr val="FFFFFF"/>
                          </a:solidFill>
                          <a:latin typeface="Malgun Gothic"/>
                          <a:ea typeface="Malgun Gothic"/>
                          <a:cs typeface="Malgun Gothic"/>
                        </a:rPr>
                        <a:t>AI를 시험할 지점</a:t>
                      </a:r>
                    </a:p>
                  </a:txBody>
                  <a:tcPr marL="91440" marR="91440" marT="45720" marB="45720" anchor="ctr">
                    <a:solidFill>
                      <a:srgbClr val="6B43C7"/>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짧고 정형적인 답장</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직접 작성·기존 서식</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반복할 이유가 있을 때만</a:t>
                      </a:r>
                    </a:p>
                  </a:txBody>
                  <a:tcPr marL="91440" marR="91440" marT="45720" marB="45720" anchor="ctr">
                    <a:solidFill>
                      <a:srgbClr val="FFFFFF"/>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합계와 비율 계산</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스프레드시트 수식</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집계 조건 정리와 보고 문장</a:t>
                      </a:r>
                    </a:p>
                  </a:txBody>
                  <a:tcPr marL="91440" marR="91440" marT="45720" marB="45720" anchor="ctr">
                    <a:solidFill>
                      <a:srgbClr val="F5F2FC"/>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여러 문의와 승인 기록</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원문·대장 대조</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건별 마지막 요청과 상태 분류</a:t>
                      </a:r>
                    </a:p>
                  </a:txBody>
                  <a:tcPr marL="91440" marR="91440" marT="45720" marB="45720" anchor="ctr">
                    <a:solidFill>
                      <a:srgbClr val="FFFFFF"/>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수정된 규정 여러 개</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승인 범위 확인</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충돌 문장·근거 위치 찾기</a:t>
                      </a:r>
                    </a:p>
                  </a:txBody>
                  <a:tcPr marL="91440" marR="91440" marT="45720" marB="45720" anchor="ctr">
                    <a:solidFill>
                      <a:srgbClr val="F5F2FC"/>
                    </a:solidFill>
                  </a:tcPr>
                </a:tc>
              </a:tr>
            </a:tbl>
          </a:graphicData>
        </a:graphic>
      </p:graphicFrame>
      <p:sp>
        <p:nvSpPr>
          <p:cNvPr id="3" name="도구를 썼다는 사실보다 확인 가능한 산출물과 전체 ">
            <a:extLst xmlns:a="http://schemas.openxmlformats.org/drawingml/2006/main">
              <a:ext uri="{FF2B5EF4-FFF2-40B4-BE49-F238E27FC236}">
                <a16:creationId xmlns:a16="http://schemas.microsoft.com/office/drawing/2014/main" id="{0E231074-3634-499A-B954-C15856A7C794}"/>
              </a:ext>
            </a:extLst>
          </p:cNvPr>
          <p:cNvSpPr>
            <a:spLocks xmlns:a="http://schemas.openxmlformats.org/drawingml/2006/main" noGrp="1"/>
          </p:cNvSpPr>
          <p:nvPr/>
        </p:nvSpPr>
        <p:spPr>
          <a:xfrm xmlns:a="http://schemas.openxmlformats.org/drawingml/2006/main">
            <a:off x="685800" y="581025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도구를 썼다는 사실보다 확인 가능한 산출물과 전체 작업 부담을 비교합니다.</a:t>
            </a:r>
          </a:p>
        </p:txBody>
      </p:sp>
      <p:sp>
        <p:nvSpPr>
          <p:cNvPr id="4" name="5–8분">
            <a:extLst xmlns:a="http://schemas.openxmlformats.org/drawingml/2006/main">
              <a:ext uri="{FF2B5EF4-FFF2-40B4-BE49-F238E27FC236}">
                <a16:creationId xmlns:a16="http://schemas.microsoft.com/office/drawing/2014/main" id="{077507E4-DB1D-44F1-9B41-FAD2C7605A7C}"/>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5–8분</a:t>
            </a:r>
          </a:p>
        </p:txBody>
      </p:sp>
      <p:sp>
        <p:nvSpPr>
          <p:cNvPr id="5" name="웹 실습 열기">
            <a:extLst xmlns:a="http://schemas.openxmlformats.org/drawingml/2006/main">
              <a:ext uri="{FF2B5EF4-FFF2-40B4-BE49-F238E27FC236}">
                <a16:creationId xmlns:a16="http://schemas.microsoft.com/office/drawing/2014/main" id="{A7DAFA0D-7A59-47B3-BC0A-B503558D5F2C}"/>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14e3445341334c7d"/>
              </a:rPr>
              <a:t>웹 실습 열기</a:t>
            </a:r>
          </a:p>
        </p:txBody>
      </p:sp>
      <p:sp>
        <p:nvSpPr>
          <p:cNvPr id="6" name="04">
            <a:extLst xmlns:a="http://schemas.openxmlformats.org/drawingml/2006/main">
              <a:ext uri="{FF2B5EF4-FFF2-40B4-BE49-F238E27FC236}">
                <a16:creationId xmlns:a16="http://schemas.microsoft.com/office/drawing/2014/main" id="{971EE5CC-A406-42A6-A2A1-BAB193C6808F}"/>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04</a:t>
            </a:r>
          </a:p>
        </p:txBody>
      </p:sp>
    </p:spTree>
    <p:extLst>
      <p:ext uri="{BB962C8B-B14F-4D97-AF65-F5344CB8AC3E}">
        <p14:creationId xmlns:p14="http://schemas.microsoft.com/office/powerpoint/2010/main" val="122132388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대표 업무실습과 짧은 연습예제">
            <a:extLst xmlns:a="http://schemas.openxmlformats.org/drawingml/2006/main">
              <a:ext uri="{FF2B5EF4-FFF2-40B4-BE49-F238E27FC236}">
                <a16:creationId xmlns:a16="http://schemas.microsoft.com/office/drawing/2014/main" id="{18DAF6B4-44C7-4B55-AC6B-77B84DC3F52F}"/>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대표 업무실습과 짧은 연습예제</a:t>
            </a:r>
          </a:p>
        </p:txBody>
      </p:sp>
      <p:sp>
        <p:nvSpPr>
          <p:cNvPr id="2" name="대표 업무실습">
            <a:extLst xmlns:a="http://schemas.openxmlformats.org/drawingml/2006/main">
              <a:ext uri="{FF2B5EF4-FFF2-40B4-BE49-F238E27FC236}">
                <a16:creationId xmlns:a16="http://schemas.microsoft.com/office/drawing/2014/main" id="{A1A5D942-96C2-421D-90B8-EC58A3C63E73}"/>
              </a:ext>
            </a:extLst>
          </p:cNvPr>
          <p:cNvSpPr>
            <a:spLocks xmlns:a="http://schemas.openxmlformats.org/drawingml/2006/main" noGrp="1"/>
          </p:cNvSpPr>
          <p:nvPr/>
        </p:nvSpPr>
        <p:spPr>
          <a:xfrm xmlns:a="http://schemas.openxmlformats.org/drawingml/2006/main">
            <a:off x="685800" y="1666875"/>
            <a:ext cx="5105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400" b="1">
                <a:solidFill>
                  <a:srgbClr val="6B43C7"/>
                </a:solidFill>
                <a:latin typeface="Malgun Gothic"/>
                <a:ea typeface="Malgun Gothic"/>
                <a:cs typeface="Malgun Gothic"/>
              </a:defRPr>
            </a:pPr>
            <a:r>
              <a:rPr sz="2400" b="1">
                <a:solidFill>
                  <a:srgbClr val="6B43C7"/>
                </a:solidFill>
                <a:latin typeface="Malgun Gothic"/>
                <a:ea typeface="Malgun Gothic"/>
                <a:cs typeface="Malgun Gothic"/>
              </a:rPr>
              <a:t>대표 업무실습</a:t>
            </a:r>
          </a:p>
        </p:txBody>
      </p:sp>
      <p:sp>
        <p:nvSpPr>
          <p:cNvPr id="3" name="짧은 연습예제">
            <a:extLst xmlns:a="http://schemas.openxmlformats.org/drawingml/2006/main">
              <a:ext uri="{FF2B5EF4-FFF2-40B4-BE49-F238E27FC236}">
                <a16:creationId xmlns:a16="http://schemas.microsoft.com/office/drawing/2014/main" id="{6BA26321-5808-4F4A-9D1E-8AD6916D3E85}"/>
              </a:ext>
            </a:extLst>
          </p:cNvPr>
          <p:cNvSpPr>
            <a:spLocks xmlns:a="http://schemas.openxmlformats.org/drawingml/2006/main" noGrp="1"/>
          </p:cNvSpPr>
          <p:nvPr/>
        </p:nvSpPr>
        <p:spPr>
          <a:xfrm xmlns:a="http://schemas.openxmlformats.org/drawingml/2006/main">
            <a:off x="6400800" y="1666875"/>
            <a:ext cx="5105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400" b="1">
                <a:solidFill>
                  <a:srgbClr val="6B43C7"/>
                </a:solidFill>
                <a:latin typeface="Malgun Gothic"/>
                <a:ea typeface="Malgun Gothic"/>
                <a:cs typeface="Malgun Gothic"/>
              </a:defRPr>
            </a:pPr>
            <a:r>
              <a:rPr sz="2400" b="1">
                <a:solidFill>
                  <a:srgbClr val="6B43C7"/>
                </a:solidFill>
                <a:latin typeface="Malgun Gothic"/>
                <a:ea typeface="Malgun Gothic"/>
                <a:cs typeface="Malgun Gothic"/>
              </a:rPr>
              <a:t>짧은 연습예제</a:t>
            </a:r>
          </a:p>
        </p:txBody>
      </p:sp>
      <p:sp>
        <p:nvSpPr>
          <p:cNvPr id="4" name="">
            <a:extLst xmlns:a="http://schemas.openxmlformats.org/drawingml/2006/main">
              <a:ext uri="{FF2B5EF4-FFF2-40B4-BE49-F238E27FC236}">
                <a16:creationId xmlns:a16="http://schemas.microsoft.com/office/drawing/2014/main" id="{540A1A0F-55A9-4E08-AC23-73FD2CAF816B}"/>
              </a:ext>
            </a:extLst>
          </p:cNvPr>
          <p:cNvSpPr>
            <a:spLocks xmlns:a="http://schemas.openxmlformats.org/drawingml/2006/main" noGrp="1"/>
          </p:cNvSpPr>
          <p:nvPr/>
        </p:nvSpPr>
        <p:spPr>
          <a:xfrm xmlns:a="http://schemas.openxmlformats.org/drawingml/2006/main">
            <a:off x="723900" y="2476500"/>
            <a:ext cx="5048250" cy="2905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27000" algn="l">
              <a:spcAft>
                <a:spcPts val="1800"/>
              </a:spcAft>
              <a:buChar char="•"/>
              <a:defRPr sz="2100" b="0">
                <a:solidFill>
                  <a:srgbClr val="20212A"/>
                </a:solidFill>
                <a:latin typeface="Malgun Gothic"/>
                <a:ea typeface="Malgun Gothic"/>
                <a:cs typeface="Malgun Gothic"/>
              </a:defRPr>
            </a:pPr>
            <a:r>
              <a:t>문의 30건과 후속 메시지를 한 묶음으로</a:t>
            </a:r>
          </a:p>
          <a:p xmlns:a="http://schemas.openxmlformats.org/drawingml/2006/main">
            <a:pPr marL="228600" indent="-127000" algn="l">
              <a:spcAft>
                <a:spcPts val="1800"/>
              </a:spcAft>
              <a:buChar char="•"/>
              <a:defRPr sz="2100" b="0">
                <a:solidFill>
                  <a:srgbClr val="20212A"/>
                </a:solidFill>
                <a:latin typeface="Malgun Gothic"/>
                <a:ea typeface="Malgun Gothic"/>
                <a:cs typeface="Malgun Gothic"/>
              </a:defRPr>
            </a:pPr>
            <a:r>
              <a:t>정책·승인·접수대장으로 상태 결정</a:t>
            </a:r>
          </a:p>
          <a:p xmlns:a="http://schemas.openxmlformats.org/drawingml/2006/main">
            <a:pPr marL="228600" indent="-127000" algn="l">
              <a:spcAft>
                <a:spcPts val="1800"/>
              </a:spcAft>
              <a:buChar char="•"/>
              <a:defRPr sz="2100" b="0">
                <a:solidFill>
                  <a:srgbClr val="20212A"/>
                </a:solidFill>
                <a:latin typeface="Malgun Gothic"/>
                <a:ea typeface="Malgun Gothic"/>
                <a:cs typeface="Malgun Gothic"/>
              </a:defRPr>
            </a:pPr>
            <a:r>
              <a:t>원문과 처리표·답장·확인 요청 대조</a:t>
            </a:r>
          </a:p>
        </p:txBody>
      </p:sp>
      <p:sp>
        <p:nvSpPr>
          <p:cNvPr id="5" name="">
            <a:extLst xmlns:a="http://schemas.openxmlformats.org/drawingml/2006/main">
              <a:ext uri="{FF2B5EF4-FFF2-40B4-BE49-F238E27FC236}">
                <a16:creationId xmlns:a16="http://schemas.microsoft.com/office/drawing/2014/main" id="{01C0D120-2F9D-4F29-82A3-D5B6CD9D0C32}"/>
              </a:ext>
            </a:extLst>
          </p:cNvPr>
          <p:cNvSpPr>
            <a:spLocks xmlns:a="http://schemas.openxmlformats.org/drawingml/2006/main" noGrp="1"/>
          </p:cNvSpPr>
          <p:nvPr/>
        </p:nvSpPr>
        <p:spPr>
          <a:xfrm xmlns:a="http://schemas.openxmlformats.org/drawingml/2006/main">
            <a:off x="6438900" y="2476500"/>
            <a:ext cx="5010150" cy="2905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27000" algn="l">
              <a:spcAft>
                <a:spcPts val="1800"/>
              </a:spcAft>
              <a:buChar char="•"/>
              <a:defRPr sz="2100" b="0">
                <a:solidFill>
                  <a:srgbClr val="20212A"/>
                </a:solidFill>
                <a:latin typeface="Malgun Gothic"/>
                <a:ea typeface="Malgun Gothic"/>
                <a:cs typeface="Malgun Gothic"/>
              </a:defRPr>
            </a:pPr>
            <a:r>
              <a:t>기존 6건으로 입력과 수정 방법 연습</a:t>
            </a:r>
          </a:p>
          <a:p xmlns:a="http://schemas.openxmlformats.org/drawingml/2006/main">
            <a:pPr marL="228600" indent="-127000" algn="l">
              <a:spcAft>
                <a:spcPts val="1800"/>
              </a:spcAft>
              <a:buChar char="•"/>
              <a:defRPr sz="2100" b="0">
                <a:solidFill>
                  <a:srgbClr val="20212A"/>
                </a:solidFill>
                <a:latin typeface="Malgun Gothic"/>
                <a:ea typeface="Malgun Gothic"/>
                <a:cs typeface="Malgun Gothic"/>
              </a:defRPr>
            </a:pPr>
            <a:r>
              <a:t>조작이 낯설 때 작은 범위부터 시작</a:t>
            </a:r>
          </a:p>
          <a:p xmlns:a="http://schemas.openxmlformats.org/drawingml/2006/main">
            <a:pPr marL="228600" indent="-127000" algn="l">
              <a:spcAft>
                <a:spcPts val="1800"/>
              </a:spcAft>
              <a:buChar char="•"/>
              <a:defRPr sz="2100" b="0">
                <a:solidFill>
                  <a:srgbClr val="20212A"/>
                </a:solidFill>
                <a:latin typeface="Malgun Gothic"/>
                <a:ea typeface="Malgun Gothic"/>
                <a:cs typeface="Malgun Gothic"/>
              </a:defRPr>
            </a:pPr>
            <a:r>
              <a:t>대표 30건의 결과와 별도 보관</a:t>
            </a:r>
          </a:p>
        </p:txBody>
      </p:sp>
      <p:sp>
        <p:nvSpPr>
          <p:cNvPr id="6" name="본수업은 대표 업무실습을 사용합니다. 완성하지 못한">
            <a:extLst xmlns:a="http://schemas.openxmlformats.org/drawingml/2006/main">
              <a:ext uri="{FF2B5EF4-FFF2-40B4-BE49-F238E27FC236}">
                <a16:creationId xmlns:a16="http://schemas.microsoft.com/office/drawing/2014/main" id="{93189ABB-894A-4D36-98F8-306BD1B0A211}"/>
              </a:ext>
            </a:extLst>
          </p:cNvPr>
          <p:cNvSpPr>
            <a:spLocks xmlns:a="http://schemas.openxmlformats.org/drawingml/2006/main" noGrp="1"/>
          </p:cNvSpPr>
          <p:nvPr/>
        </p:nvSpPr>
        <p:spPr>
          <a:xfrm xmlns:a="http://schemas.openxmlformats.org/drawingml/2006/main">
            <a:off x="685800" y="5791200"/>
            <a:ext cx="10820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본수업은 대표 업무실습을 사용합니다. 완성하지 못한 부분도 기록합니다.</a:t>
            </a:r>
          </a:p>
        </p:txBody>
      </p:sp>
      <p:sp>
        <p:nvSpPr>
          <p:cNvPr id="7" name="8–10분">
            <a:extLst xmlns:a="http://schemas.openxmlformats.org/drawingml/2006/main">
              <a:ext uri="{FF2B5EF4-FFF2-40B4-BE49-F238E27FC236}">
                <a16:creationId xmlns:a16="http://schemas.microsoft.com/office/drawing/2014/main" id="{0332FE92-6F75-4C73-A3C7-E06D5E61610A}"/>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8–10분</a:t>
            </a:r>
          </a:p>
        </p:txBody>
      </p:sp>
      <p:sp>
        <p:nvSpPr>
          <p:cNvPr id="8" name="웹 실습 열기">
            <a:extLst xmlns:a="http://schemas.openxmlformats.org/drawingml/2006/main">
              <a:ext uri="{FF2B5EF4-FFF2-40B4-BE49-F238E27FC236}">
                <a16:creationId xmlns:a16="http://schemas.microsoft.com/office/drawing/2014/main" id="{A58E5BCE-C6A0-4605-B0A2-1E52AE55B0C2}"/>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c6a7516ed3f0484c"/>
              </a:rPr>
              <a:t>웹 실습 열기</a:t>
            </a:r>
          </a:p>
        </p:txBody>
      </p:sp>
      <p:sp>
        <p:nvSpPr>
          <p:cNvPr id="9" name="05">
            <a:extLst xmlns:a="http://schemas.openxmlformats.org/drawingml/2006/main">
              <a:ext uri="{FF2B5EF4-FFF2-40B4-BE49-F238E27FC236}">
                <a16:creationId xmlns:a16="http://schemas.microsoft.com/office/drawing/2014/main" id="{9038A671-0CC0-4FF0-A51E-4AE651E0A86D}"/>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05</a:t>
            </a:r>
          </a:p>
        </p:txBody>
      </p:sp>
    </p:spTree>
    <p:extLst>
      <p:ext uri="{BB962C8B-B14F-4D97-AF65-F5344CB8AC3E}">
        <p14:creationId xmlns:p14="http://schemas.microsoft.com/office/powerpoint/2010/main" val="126111769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검토가 끝난 문서의 조건">
            <a:extLst xmlns:a="http://schemas.openxmlformats.org/drawingml/2006/main">
              <a:ext uri="{FF2B5EF4-FFF2-40B4-BE49-F238E27FC236}">
                <a16:creationId xmlns:a16="http://schemas.microsoft.com/office/drawing/2014/main" id="{410674B1-BDA5-45C0-B7FA-94F9F0507368}"/>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검토가 끝난 문서의 조건</a:t>
            </a:r>
          </a:p>
        </p:txBody>
      </p:sp>
      <p:sp>
        <p:nvSpPr>
          <p:cNvPr id="2" name="">
            <a:extLst xmlns:a="http://schemas.openxmlformats.org/drawingml/2006/main">
              <a:ext uri="{FF2B5EF4-FFF2-40B4-BE49-F238E27FC236}">
                <a16:creationId xmlns:a16="http://schemas.microsoft.com/office/drawing/2014/main" id="{445F5DCC-53EF-4170-99A5-EB62CF7866EF}"/>
              </a:ext>
            </a:extLst>
          </p:cNvPr>
          <p:cNvSpPr>
            <a:spLocks xmlns:a="http://schemas.openxmlformats.org/drawingml/2006/main" noGrp="1"/>
          </p:cNvSpPr>
          <p:nvPr/>
        </p:nvSpPr>
        <p:spPr>
          <a:xfrm xmlns:a="http://schemas.openxmlformats.org/drawingml/2006/main">
            <a:off x="742950" y="1724025"/>
            <a:ext cx="106680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27000" algn="l">
              <a:spcAft>
                <a:spcPts val="2200"/>
              </a:spcAft>
              <a:buChar char="•"/>
              <a:defRPr sz="2400" b="0">
                <a:solidFill>
                  <a:srgbClr val="20212A"/>
                </a:solidFill>
                <a:latin typeface="Malgun Gothic"/>
                <a:ea typeface="Malgun Gothic"/>
                <a:cs typeface="Malgun Gothic"/>
              </a:defRPr>
            </a:pPr>
            <a:r>
              <a:t>건수: 중복·누락 없이 원문 ID와 연결</a:t>
            </a:r>
          </a:p>
          <a:p xmlns:a="http://schemas.openxmlformats.org/drawingml/2006/main">
            <a:pPr marL="228600" indent="-127000" algn="l">
              <a:spcAft>
                <a:spcPts val="2200"/>
              </a:spcAft>
              <a:buChar char="•"/>
              <a:defRPr sz="2400" b="0">
                <a:solidFill>
                  <a:srgbClr val="20212A"/>
                </a:solidFill>
                <a:latin typeface="Malgun Gothic"/>
                <a:ea typeface="Malgun Gothic"/>
                <a:cs typeface="Malgun Gothic"/>
              </a:defRPr>
            </a:pPr>
            <a:r>
              <a:t>시점: 최신 의사와 승인된 변경을 구분</a:t>
            </a:r>
          </a:p>
          <a:p xmlns:a="http://schemas.openxmlformats.org/drawingml/2006/main">
            <a:pPr marL="228600" indent="-127000" algn="l">
              <a:spcAft>
                <a:spcPts val="2200"/>
              </a:spcAft>
              <a:buChar char="•"/>
              <a:defRPr sz="2400" b="0">
                <a:solidFill>
                  <a:srgbClr val="20212A"/>
                </a:solidFill>
                <a:latin typeface="Malgun Gothic"/>
                <a:ea typeface="Malgun Gothic"/>
                <a:cs typeface="Malgun Gothic"/>
              </a:defRPr>
            </a:pPr>
            <a:r>
              <a:t>숫자: 집계 기준·분모·수식으로 다시 확인</a:t>
            </a:r>
          </a:p>
          <a:p xmlns:a="http://schemas.openxmlformats.org/drawingml/2006/main">
            <a:pPr marL="228600" indent="-127000" algn="l">
              <a:spcAft>
                <a:spcPts val="2200"/>
              </a:spcAft>
              <a:buChar char="•"/>
              <a:defRPr sz="2400" b="0">
                <a:solidFill>
                  <a:srgbClr val="20212A"/>
                </a:solidFill>
                <a:latin typeface="Malgun Gothic"/>
                <a:ea typeface="Malgun Gothic"/>
                <a:cs typeface="Malgun Gothic"/>
              </a:defRPr>
            </a:pPr>
            <a:r>
              <a:t>표현: 사실·제안·미정·자료 없음을 구분</a:t>
            </a:r>
          </a:p>
        </p:txBody>
      </p:sp>
      <p:sp>
        <p:nvSpPr>
          <p:cNvPr id="3" name="참가자에게 보낼 문장과 내부 확인 요청을 분리합니다">
            <a:extLst xmlns:a="http://schemas.openxmlformats.org/drawingml/2006/main">
              <a:ext uri="{FF2B5EF4-FFF2-40B4-BE49-F238E27FC236}">
                <a16:creationId xmlns:a16="http://schemas.microsoft.com/office/drawing/2014/main" id="{F32F30D2-A546-453E-9F64-33A9923BB797}"/>
              </a:ext>
            </a:extLst>
          </p:cNvPr>
          <p:cNvSpPr>
            <a:spLocks xmlns:a="http://schemas.openxmlformats.org/drawingml/2006/main" noGrp="1"/>
          </p:cNvSpPr>
          <p:nvPr/>
        </p:nvSpPr>
        <p:spPr>
          <a:xfrm xmlns:a="http://schemas.openxmlformats.org/drawingml/2006/main">
            <a:off x="742950" y="54102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100" b="1">
                <a:solidFill>
                  <a:srgbClr val="6B43C7"/>
                </a:solidFill>
                <a:latin typeface="Malgun Gothic"/>
                <a:ea typeface="Malgun Gothic"/>
                <a:cs typeface="Malgun Gothic"/>
              </a:defRPr>
            </a:pPr>
            <a:r>
              <a:rPr sz="2100" b="1">
                <a:solidFill>
                  <a:srgbClr val="6B43C7"/>
                </a:solidFill>
                <a:latin typeface="Malgun Gothic"/>
                <a:ea typeface="Malgun Gothic"/>
                <a:cs typeface="Malgun Gothic"/>
              </a:rPr>
              <a:t>참가자에게 보낼 문장과 내부 확인 요청을 분리합니다</a:t>
            </a:r>
          </a:p>
        </p:txBody>
      </p:sp>
      <p:sp>
        <p:nvSpPr>
          <p:cNvPr id="4" name="10–12분">
            <a:extLst xmlns:a="http://schemas.openxmlformats.org/drawingml/2006/main">
              <a:ext uri="{FF2B5EF4-FFF2-40B4-BE49-F238E27FC236}">
                <a16:creationId xmlns:a16="http://schemas.microsoft.com/office/drawing/2014/main" id="{9F4D708E-64AC-4298-804F-221991F29131}"/>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10–12분</a:t>
            </a:r>
          </a:p>
        </p:txBody>
      </p:sp>
      <p:sp>
        <p:nvSpPr>
          <p:cNvPr id="5" name="웹 실습 열기">
            <a:extLst xmlns:a="http://schemas.openxmlformats.org/drawingml/2006/main">
              <a:ext uri="{FF2B5EF4-FFF2-40B4-BE49-F238E27FC236}">
                <a16:creationId xmlns:a16="http://schemas.microsoft.com/office/drawing/2014/main" id="{5DCD5E34-A14B-46B9-8D18-CA4692C42411}"/>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bf0a2faf86d545d8"/>
              </a:rPr>
              <a:t>웹 실습 열기</a:t>
            </a:r>
          </a:p>
        </p:txBody>
      </p:sp>
      <p:sp>
        <p:nvSpPr>
          <p:cNvPr id="6" name="06">
            <a:extLst xmlns:a="http://schemas.openxmlformats.org/drawingml/2006/main">
              <a:ext uri="{FF2B5EF4-FFF2-40B4-BE49-F238E27FC236}">
                <a16:creationId xmlns:a16="http://schemas.microsoft.com/office/drawing/2014/main" id="{61DFADA7-69A5-4E74-839B-36C8FDA2660A}"/>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06</a:t>
            </a:r>
          </a:p>
        </p:txBody>
      </p:sp>
    </p:spTree>
    <p:extLst>
      <p:ext uri="{BB962C8B-B14F-4D97-AF65-F5344CB8AC3E}">
        <p14:creationId xmlns:p14="http://schemas.microsoft.com/office/powerpoint/2010/main" val="36704209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무료 계정의 현재 사용량">
            <a:extLst xmlns:a="http://schemas.openxmlformats.org/drawingml/2006/main">
              <a:ext uri="{FF2B5EF4-FFF2-40B4-BE49-F238E27FC236}">
                <a16:creationId xmlns:a16="http://schemas.microsoft.com/office/drawing/2014/main" id="{EF40CD9E-E692-4AE3-884F-FFEB5BECA8B9}"/>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무료 계정의 현재 사용량</a:t>
            </a:r>
          </a:p>
        </p:txBody>
      </p:sp>
      <p:graphicFrame>
        <p:nvGraphicFramePr>
          <p:cNvPr id="8" name=""/>
          <p:cNvGraphicFramePr/>
          <p:nvPr/>
        </p:nvGraphicFramePr>
        <p:xfrm>
          <a:off xmlns:a="http://schemas.openxmlformats.org/drawingml/2006/main" x="685800" y="1543050"/>
          <a:ext xmlns:a="http://schemas.openxmlformats.org/drawingml/2006/main" cx="10820400" cy="2381250"/>
        </p:xfrm>
        <a:graphic xmlns:a="http://schemas.openxmlformats.org/drawingml/2006/main">
          <a:graphicData uri="http://schemas.openxmlformats.org/drawingml/2006/table">
            <a:tbl>
              <a:tblPr firstRow="1" bandRow="0"/>
              <a:tblGrid>
                <a:gridCol w="2190750"/>
                <a:gridCol w="4476750"/>
                <a:gridCol w="4095750"/>
              </a:tblGrid>
              <a:tr h="595313">
                <a:tc>
                  <a:txBody>
                    <a:bodyPr lIns="114300" tIns="66675" rIns="114300" bIns="57150">
                      <a:noAutofit/>
                    </a:bodyPr>
                    <a:lstStyle/>
                    <a:p>
                      <a:pPr algn="l"/>
                      <a:r>
                        <a:rPr sz="1875" b="1">
                          <a:solidFill>
                            <a:srgbClr val="FFFFFF"/>
                          </a:solidFill>
                          <a:latin typeface="Malgun Gothic"/>
                          <a:ea typeface="Malgun Gothic"/>
                          <a:cs typeface="Malgun Gothic"/>
                        </a:rPr>
                        <a:t>도구</a:t>
                      </a:r>
                    </a:p>
                  </a:txBody>
                  <a:tcPr marL="91440" marR="91440" marT="45720" marB="45720" anchor="ctr">
                    <a:solidFill>
                      <a:srgbClr val="6B43C7"/>
                    </a:solidFill>
                  </a:tcPr>
                </a:tc>
                <a:tc>
                  <a:txBody>
                    <a:bodyPr lIns="114300" tIns="66675" rIns="114300" bIns="57150">
                      <a:noAutofit/>
                    </a:bodyPr>
                    <a:lstStyle/>
                    <a:p>
                      <a:pPr algn="l"/>
                      <a:r>
                        <a:rPr sz="1875" b="1">
                          <a:solidFill>
                            <a:srgbClr val="FFFFFF"/>
                          </a:solidFill>
                          <a:latin typeface="Malgun Gothic"/>
                          <a:ea typeface="Malgun Gothic"/>
                          <a:cs typeface="Malgun Gothic"/>
                        </a:rPr>
                        <a:t>공식 안내 확인 기준</a:t>
                      </a:r>
                    </a:p>
                  </a:txBody>
                  <a:tcPr marL="91440" marR="91440" marT="45720" marB="45720" anchor="ctr">
                    <a:solidFill>
                      <a:srgbClr val="6B43C7"/>
                    </a:solidFill>
                  </a:tcPr>
                </a:tc>
                <a:tc>
                  <a:txBody>
                    <a:bodyPr lIns="114300" tIns="66675" rIns="114300" bIns="57150">
                      <a:noAutofit/>
                    </a:bodyPr>
                    <a:lstStyle/>
                    <a:p>
                      <a:pPr algn="l"/>
                      <a:r>
                        <a:rPr sz="1875" b="1">
                          <a:solidFill>
                            <a:srgbClr val="FFFFFF"/>
                          </a:solidFill>
                          <a:latin typeface="Malgun Gothic"/>
                          <a:ea typeface="Malgun Gothic"/>
                          <a:cs typeface="Malgun Gothic"/>
                        </a:rPr>
                        <a:t>수업에서 볼 곳</a:t>
                      </a:r>
                    </a:p>
                  </a:txBody>
                  <a:tcPr marL="91440" marR="91440" marT="45720" marB="45720" anchor="ctr">
                    <a:solidFill>
                      <a:srgbClr val="6B43C7"/>
                    </a:solidFill>
                  </a:tcPr>
                </a:tc>
              </a:tr>
              <a:tr h="595313">
                <a:tc>
                  <a:txBody>
                    <a:bodyPr lIns="114300" tIns="66675" rIns="114300" bIns="57150">
                      <a:noAutofit/>
                    </a:bodyPr>
                    <a:lstStyle/>
                    <a:p>
                      <a:pPr algn="l"/>
                      <a:r>
                        <a:rPr sz="1875" b="0">
                          <a:solidFill>
                            <a:srgbClr val="20212A"/>
                          </a:solidFill>
                          <a:latin typeface="Malgun Gothic"/>
                          <a:ea typeface="Malgun Gothic"/>
                          <a:cs typeface="Malgun Gothic"/>
                        </a:rPr>
                        <a:t>Gemini</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5시간 갱신과 주간 한도</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사용량 메뉴 또는 제한 알림</a:t>
                      </a:r>
                    </a:p>
                  </a:txBody>
                  <a:tcPr marL="91440" marR="91440" marT="45720" marB="45720" anchor="ctr">
                    <a:solidFill>
                      <a:srgbClr val="FFFFFF"/>
                    </a:solidFill>
                  </a:tcPr>
                </a:tc>
              </a:tr>
              <a:tr h="595313">
                <a:tc>
                  <a:txBody>
                    <a:bodyPr lIns="114300" tIns="66675" rIns="114300" bIns="57150">
                      <a:noAutofit/>
                    </a:bodyPr>
                    <a:lstStyle/>
                    <a:p>
                      <a:pPr algn="l"/>
                      <a:r>
                        <a:rPr sz="1875" b="0">
                          <a:solidFill>
                            <a:srgbClr val="20212A"/>
                          </a:solidFill>
                          <a:latin typeface="Malgun Gothic"/>
                          <a:ea typeface="Malgun Gothic"/>
                          <a:cs typeface="Malgun Gothic"/>
                        </a:rPr>
                        <a:t>NotebookLM</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9월 2일 계산량 기준 전환 안내</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사용량 메뉴와 생성 예상 사용량</a:t>
                      </a:r>
                    </a:p>
                  </a:txBody>
                  <a:tcPr marL="91440" marR="91440" marT="45720" marB="45720" anchor="ctr">
                    <a:solidFill>
                      <a:srgbClr val="F5F2FC"/>
                    </a:solidFill>
                  </a:tcPr>
                </a:tc>
              </a:tr>
              <a:tr h="595313">
                <a:tc>
                  <a:txBody>
                    <a:bodyPr lIns="114300" tIns="66675" rIns="114300" bIns="57150">
                      <a:noAutofit/>
                    </a:bodyPr>
                    <a:lstStyle/>
                    <a:p>
                      <a:pPr algn="l"/>
                      <a:r>
                        <a:rPr sz="1875" b="0">
                          <a:solidFill>
                            <a:srgbClr val="20212A"/>
                          </a:solidFill>
                          <a:latin typeface="Malgun Gothic"/>
                          <a:ea typeface="Malgun Gothic"/>
                          <a:cs typeface="Malgun Gothic"/>
                        </a:rPr>
                        <a:t>Claude</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5시간 세션, 메시지 수는 가변</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대화의 제한 경고와 재개 시각</a:t>
                      </a:r>
                    </a:p>
                  </a:txBody>
                  <a:tcPr marL="91440" marR="91440" marT="45720" marB="45720" anchor="ctr">
                    <a:solidFill>
                      <a:srgbClr val="FFFFFF"/>
                    </a:solidFill>
                  </a:tcPr>
                </a:tc>
              </a:tr>
            </a:tbl>
          </a:graphicData>
        </a:graphic>
      </p:graphicFrame>
      <p:sp>
        <p:nvSpPr>
          <p:cNvPr id="3" name="정책 확인 2026-09-27. NotebookLM">
            <a:extLst xmlns:a="http://schemas.openxmlformats.org/drawingml/2006/main">
              <a:ext uri="{FF2B5EF4-FFF2-40B4-BE49-F238E27FC236}">
                <a16:creationId xmlns:a16="http://schemas.microsoft.com/office/drawing/2014/main" id="{D42C9E27-F2AB-4F20-8311-6A177F51FCAE}"/>
              </a:ext>
            </a:extLst>
          </p:cNvPr>
          <p:cNvSpPr>
            <a:spLocks xmlns:a="http://schemas.openxmlformats.org/drawingml/2006/main" noGrp="1"/>
          </p:cNvSpPr>
          <p:nvPr/>
        </p:nvSpPr>
        <p:spPr>
          <a:xfrm xmlns:a="http://schemas.openxmlformats.org/drawingml/2006/main">
            <a:off x="685800" y="581025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정책 확인 2026-09-27. NotebookLM의 과거 일일 횟수 표와 새 안내가 다르므로 실제 계정 표시를 함께 봅니다.</a:t>
            </a:r>
          </a:p>
        </p:txBody>
      </p:sp>
      <p:sp>
        <p:nvSpPr>
          <p:cNvPr id="4" name="12–15분">
            <a:extLst xmlns:a="http://schemas.openxmlformats.org/drawingml/2006/main">
              <a:ext uri="{FF2B5EF4-FFF2-40B4-BE49-F238E27FC236}">
                <a16:creationId xmlns:a16="http://schemas.microsoft.com/office/drawing/2014/main" id="{C51AF35D-4012-4A84-9EFC-B47C883A29BD}"/>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12–15분</a:t>
            </a:r>
          </a:p>
        </p:txBody>
      </p:sp>
      <p:sp>
        <p:nvSpPr>
          <p:cNvPr id="5" name="웹 실습 열기">
            <a:extLst xmlns:a="http://schemas.openxmlformats.org/drawingml/2006/main">
              <a:ext uri="{FF2B5EF4-FFF2-40B4-BE49-F238E27FC236}">
                <a16:creationId xmlns:a16="http://schemas.microsoft.com/office/drawing/2014/main" id="{B98EC115-9951-4026-8100-E7DBEFF45312}"/>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d748ca15024c4eaf"/>
              </a:rPr>
              <a:t>웹 실습 열기</a:t>
            </a:r>
          </a:p>
        </p:txBody>
      </p:sp>
      <p:sp>
        <p:nvSpPr>
          <p:cNvPr id="6" name="07">
            <a:extLst xmlns:a="http://schemas.openxmlformats.org/drawingml/2006/main">
              <a:ext uri="{FF2B5EF4-FFF2-40B4-BE49-F238E27FC236}">
                <a16:creationId xmlns:a16="http://schemas.microsoft.com/office/drawing/2014/main" id="{82221A9C-5D7C-4342-999C-D48AC67E1B0D}"/>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07</a:t>
            </a:r>
          </a:p>
        </p:txBody>
      </p:sp>
    </p:spTree>
    <p:extLst>
      <p:ext uri="{BB962C8B-B14F-4D97-AF65-F5344CB8AC3E}">
        <p14:creationId xmlns:p14="http://schemas.microsoft.com/office/powerpoint/2010/main" val="6102572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사용량이 부족할 때의 참여 방법">
            <a:extLst xmlns:a="http://schemas.openxmlformats.org/drawingml/2006/main">
              <a:ext uri="{FF2B5EF4-FFF2-40B4-BE49-F238E27FC236}">
                <a16:creationId xmlns:a16="http://schemas.microsoft.com/office/drawing/2014/main" id="{E2B7B7D1-5DE8-4063-A51A-A4DB40BD6D20}"/>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사용량이 부족할 때의 참여 방법</a:t>
            </a:r>
          </a:p>
        </p:txBody>
      </p:sp>
      <p:sp>
        <p:nvSpPr>
          <p:cNvPr id="2" name="">
            <a:extLst xmlns:a="http://schemas.openxmlformats.org/drawingml/2006/main">
              <a:ext uri="{FF2B5EF4-FFF2-40B4-BE49-F238E27FC236}">
                <a16:creationId xmlns:a16="http://schemas.microsoft.com/office/drawing/2014/main" id="{18AC2788-5887-4CA7-A6E8-2B7F4AA4EF19}"/>
              </a:ext>
            </a:extLst>
          </p:cNvPr>
          <p:cNvSpPr>
            <a:spLocks xmlns:a="http://schemas.openxmlformats.org/drawingml/2006/main" noGrp="1"/>
          </p:cNvSpPr>
          <p:nvPr/>
        </p:nvSpPr>
        <p:spPr>
          <a:xfrm xmlns:a="http://schemas.openxmlformats.org/drawingml/2006/main">
            <a:off x="742950" y="1724025"/>
            <a:ext cx="106680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27000" algn="l">
              <a:spcAft>
                <a:spcPts val="2200"/>
              </a:spcAft>
              <a:buChar char="•"/>
              <a:defRPr sz="2400" b="0">
                <a:solidFill>
                  <a:srgbClr val="20212A"/>
                </a:solidFill>
                <a:latin typeface="Malgun Gothic"/>
                <a:ea typeface="Malgun Gothic"/>
                <a:cs typeface="Malgun Gothic"/>
              </a:defRPr>
            </a:pPr>
            <a:r>
              <a:t>이미 받은 답변과 원자료를 나란히 놓고 직접 수정</a:t>
            </a:r>
          </a:p>
          <a:p xmlns:a="http://schemas.openxmlformats.org/drawingml/2006/main">
            <a:pPr marL="228600" indent="-127000" algn="l">
              <a:spcAft>
                <a:spcPts val="2200"/>
              </a:spcAft>
              <a:buChar char="•"/>
              <a:defRPr sz="2400" b="0">
                <a:solidFill>
                  <a:srgbClr val="20212A"/>
                </a:solidFill>
                <a:latin typeface="Malgun Gothic"/>
                <a:ea typeface="Malgun Gothic"/>
                <a:cs typeface="Malgun Gothic"/>
              </a:defRPr>
            </a:pPr>
            <a:r>
              <a:t>짝과 입력 담당·원문 확인 담당을 나눠 함께 진행</a:t>
            </a:r>
          </a:p>
          <a:p xmlns:a="http://schemas.openxmlformats.org/drawingml/2006/main">
            <a:pPr marL="228600" indent="-127000" algn="l">
              <a:spcAft>
                <a:spcPts val="2200"/>
              </a:spcAft>
              <a:buChar char="•"/>
              <a:defRPr sz="2400" b="0">
                <a:solidFill>
                  <a:srgbClr val="20212A"/>
                </a:solidFill>
                <a:latin typeface="Malgun Gothic"/>
                <a:ea typeface="Malgun Gothic"/>
                <a:cs typeface="Malgun Gothic"/>
              </a:defRPr>
            </a:pPr>
            <a:r>
              <a:t>단계별 실제 화면을 보고 오류와 근거를 찾아 기록</a:t>
            </a:r>
          </a:p>
          <a:p xmlns:a="http://schemas.openxmlformats.org/drawingml/2006/main">
            <a:pPr marL="228600" indent="-127000" algn="l">
              <a:spcAft>
                <a:spcPts val="2200"/>
              </a:spcAft>
              <a:buChar char="•"/>
              <a:defRPr sz="2400" b="0">
                <a:solidFill>
                  <a:srgbClr val="20212A"/>
                </a:solidFill>
                <a:latin typeface="Malgun Gothic"/>
                <a:ea typeface="Malgun Gothic"/>
                <a:cs typeface="Malgun Gothic"/>
              </a:defRPr>
            </a:pPr>
            <a:r>
              <a:t>결과와 질문을 저장하고 표시된 재개 시각 이후 계속</a:t>
            </a:r>
          </a:p>
        </p:txBody>
      </p:sp>
      <p:sp>
        <p:nvSpPr>
          <p:cNvPr id="3" name="전송 횟수는 수업 계획입니다. 무료 사용 보장량이 ">
            <a:extLst xmlns:a="http://schemas.openxmlformats.org/drawingml/2006/main">
              <a:ext uri="{FF2B5EF4-FFF2-40B4-BE49-F238E27FC236}">
                <a16:creationId xmlns:a16="http://schemas.microsoft.com/office/drawing/2014/main" id="{7DDFE14B-A047-4D4A-B4BD-F98CC885F464}"/>
              </a:ext>
            </a:extLst>
          </p:cNvPr>
          <p:cNvSpPr>
            <a:spLocks xmlns:a="http://schemas.openxmlformats.org/drawingml/2006/main" noGrp="1"/>
          </p:cNvSpPr>
          <p:nvPr/>
        </p:nvSpPr>
        <p:spPr>
          <a:xfrm xmlns:a="http://schemas.openxmlformats.org/drawingml/2006/main">
            <a:off x="742950" y="54102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100" b="1">
                <a:solidFill>
                  <a:srgbClr val="6B43C7"/>
                </a:solidFill>
                <a:latin typeface="Malgun Gothic"/>
                <a:ea typeface="Malgun Gothic"/>
                <a:cs typeface="Malgun Gothic"/>
              </a:defRPr>
            </a:pPr>
            <a:r>
              <a:rPr sz="2100" b="1">
                <a:solidFill>
                  <a:srgbClr val="6B43C7"/>
                </a:solidFill>
                <a:latin typeface="Malgun Gothic"/>
                <a:ea typeface="Malgun Gothic"/>
                <a:cs typeface="Malgun Gothic"/>
              </a:rPr>
              <a:t>전송 횟수는 수업 계획입니다. 무료 사용 보장량이 아닙니다.</a:t>
            </a:r>
          </a:p>
        </p:txBody>
      </p:sp>
      <p:sp>
        <p:nvSpPr>
          <p:cNvPr id="4" name="15–17분">
            <a:extLst xmlns:a="http://schemas.openxmlformats.org/drawingml/2006/main">
              <a:ext uri="{FF2B5EF4-FFF2-40B4-BE49-F238E27FC236}">
                <a16:creationId xmlns:a16="http://schemas.microsoft.com/office/drawing/2014/main" id="{139CE8A6-842B-4B60-BB45-7604F9856DE9}"/>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15–17분</a:t>
            </a:r>
          </a:p>
        </p:txBody>
      </p:sp>
      <p:sp>
        <p:nvSpPr>
          <p:cNvPr id="5" name="웹 실습 열기">
            <a:extLst xmlns:a="http://schemas.openxmlformats.org/drawingml/2006/main">
              <a:ext uri="{FF2B5EF4-FFF2-40B4-BE49-F238E27FC236}">
                <a16:creationId xmlns:a16="http://schemas.microsoft.com/office/drawing/2014/main" id="{41E3ECA1-E7FA-4B58-A5F5-C717C708234C}"/>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4ed4a56186854e40"/>
              </a:rPr>
              <a:t>웹 실습 열기</a:t>
            </a:r>
          </a:p>
        </p:txBody>
      </p:sp>
      <p:sp>
        <p:nvSpPr>
          <p:cNvPr id="6" name="08">
            <a:extLst xmlns:a="http://schemas.openxmlformats.org/drawingml/2006/main">
              <a:ext uri="{FF2B5EF4-FFF2-40B4-BE49-F238E27FC236}">
                <a16:creationId xmlns:a16="http://schemas.microsoft.com/office/drawing/2014/main" id="{8CA3EE87-F987-4DE0-A3F7-47DD3374FFE7}"/>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08</a:t>
            </a:r>
          </a:p>
        </p:txBody>
      </p:sp>
    </p:spTree>
    <p:extLst>
      <p:ext uri="{BB962C8B-B14F-4D97-AF65-F5344CB8AC3E}">
        <p14:creationId xmlns:p14="http://schemas.microsoft.com/office/powerpoint/2010/main" val="132087800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업무를 맡기는 질문의 구성">
            <a:extLst xmlns:a="http://schemas.openxmlformats.org/drawingml/2006/main">
              <a:ext uri="{FF2B5EF4-FFF2-40B4-BE49-F238E27FC236}">
                <a16:creationId xmlns:a16="http://schemas.microsoft.com/office/drawing/2014/main" id="{9FECFAC8-5CE8-4500-BC86-1BADF0C4F7EA}"/>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업무를 맡기는 질문의 구성</a:t>
            </a:r>
          </a:p>
        </p:txBody>
      </p:sp>
      <p:sp>
        <p:nvSpPr>
          <p:cNvPr id="2" name="입력할 조건">
            <a:extLst xmlns:a="http://schemas.openxmlformats.org/drawingml/2006/main">
              <a:ext uri="{FF2B5EF4-FFF2-40B4-BE49-F238E27FC236}">
                <a16:creationId xmlns:a16="http://schemas.microsoft.com/office/drawing/2014/main" id="{0C0F94A0-EE2E-437E-92B4-C9D5BD0BC114}"/>
              </a:ext>
            </a:extLst>
          </p:cNvPr>
          <p:cNvSpPr>
            <a:spLocks xmlns:a="http://schemas.openxmlformats.org/drawingml/2006/main" noGrp="1"/>
          </p:cNvSpPr>
          <p:nvPr/>
        </p:nvSpPr>
        <p:spPr>
          <a:xfrm xmlns:a="http://schemas.openxmlformats.org/drawingml/2006/main">
            <a:off x="685800" y="1666875"/>
            <a:ext cx="5105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400" b="1">
                <a:solidFill>
                  <a:srgbClr val="6B43C7"/>
                </a:solidFill>
                <a:latin typeface="Malgun Gothic"/>
                <a:ea typeface="Malgun Gothic"/>
                <a:cs typeface="Malgun Gothic"/>
              </a:defRPr>
            </a:pPr>
            <a:r>
              <a:rPr sz="2400" b="1">
                <a:solidFill>
                  <a:srgbClr val="6B43C7"/>
                </a:solidFill>
                <a:latin typeface="Malgun Gothic"/>
                <a:ea typeface="Malgun Gothic"/>
                <a:cs typeface="Malgun Gothic"/>
              </a:rPr>
              <a:t>입력할 조건</a:t>
            </a:r>
          </a:p>
        </p:txBody>
      </p:sp>
      <p:sp>
        <p:nvSpPr>
          <p:cNvPr id="3" name="이번 대표 실습">
            <a:extLst xmlns:a="http://schemas.openxmlformats.org/drawingml/2006/main">
              <a:ext uri="{FF2B5EF4-FFF2-40B4-BE49-F238E27FC236}">
                <a16:creationId xmlns:a16="http://schemas.microsoft.com/office/drawing/2014/main" id="{45175488-33FC-46D7-8BD2-9408B636399E}"/>
              </a:ext>
            </a:extLst>
          </p:cNvPr>
          <p:cNvSpPr>
            <a:spLocks xmlns:a="http://schemas.openxmlformats.org/drawingml/2006/main" noGrp="1"/>
          </p:cNvSpPr>
          <p:nvPr/>
        </p:nvSpPr>
        <p:spPr>
          <a:xfrm xmlns:a="http://schemas.openxmlformats.org/drawingml/2006/main">
            <a:off x="6400800" y="1666875"/>
            <a:ext cx="5105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400" b="1">
                <a:solidFill>
                  <a:srgbClr val="6B43C7"/>
                </a:solidFill>
                <a:latin typeface="Malgun Gothic"/>
                <a:ea typeface="Malgun Gothic"/>
                <a:cs typeface="Malgun Gothic"/>
              </a:defRPr>
            </a:pPr>
            <a:r>
              <a:rPr sz="2400" b="1">
                <a:solidFill>
                  <a:srgbClr val="6B43C7"/>
                </a:solidFill>
                <a:latin typeface="Malgun Gothic"/>
                <a:ea typeface="Malgun Gothic"/>
                <a:cs typeface="Malgun Gothic"/>
              </a:rPr>
              <a:t>이번 대표 실습</a:t>
            </a:r>
          </a:p>
        </p:txBody>
      </p:sp>
      <p:sp>
        <p:nvSpPr>
          <p:cNvPr id="4" name="">
            <a:extLst xmlns:a="http://schemas.openxmlformats.org/drawingml/2006/main">
              <a:ext uri="{FF2B5EF4-FFF2-40B4-BE49-F238E27FC236}">
                <a16:creationId xmlns:a16="http://schemas.microsoft.com/office/drawing/2014/main" id="{EA4A5A6D-4CDD-4B85-B0AB-19D72E823CCF}"/>
              </a:ext>
            </a:extLst>
          </p:cNvPr>
          <p:cNvSpPr>
            <a:spLocks xmlns:a="http://schemas.openxmlformats.org/drawingml/2006/main" noGrp="1"/>
          </p:cNvSpPr>
          <p:nvPr/>
        </p:nvSpPr>
        <p:spPr>
          <a:xfrm xmlns:a="http://schemas.openxmlformats.org/drawingml/2006/main">
            <a:off x="723900" y="2476500"/>
            <a:ext cx="5048250" cy="2905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27000" algn="l">
              <a:spcAft>
                <a:spcPts val="1800"/>
              </a:spcAft>
              <a:buChar char="•"/>
              <a:defRPr sz="2100" b="0">
                <a:solidFill>
                  <a:srgbClr val="20212A"/>
                </a:solidFill>
                <a:latin typeface="Malgun Gothic"/>
                <a:ea typeface="Malgun Gothic"/>
                <a:cs typeface="Malgun Gothic"/>
              </a:defRPr>
            </a:pPr>
            <a:r>
              <a:t>사용할 원자료와 판단 기준 시각</a:t>
            </a:r>
          </a:p>
          <a:p xmlns:a="http://schemas.openxmlformats.org/drawingml/2006/main">
            <a:pPr marL="228600" indent="-127000" algn="l">
              <a:spcAft>
                <a:spcPts val="1800"/>
              </a:spcAft>
              <a:buChar char="•"/>
              <a:defRPr sz="2100" b="0">
                <a:solidFill>
                  <a:srgbClr val="20212A"/>
                </a:solidFill>
                <a:latin typeface="Malgun Gothic"/>
                <a:ea typeface="Malgun Gothic"/>
                <a:cs typeface="Malgun Gothic"/>
              </a:defRPr>
            </a:pPr>
            <a:r>
              <a:t>접수번호별로 묶는 규칙</a:t>
            </a:r>
          </a:p>
          <a:p xmlns:a="http://schemas.openxmlformats.org/drawingml/2006/main">
            <a:pPr marL="228600" indent="-127000" algn="l">
              <a:spcAft>
                <a:spcPts val="1800"/>
              </a:spcAft>
              <a:buChar char="•"/>
              <a:defRPr sz="2100" b="0">
                <a:solidFill>
                  <a:srgbClr val="20212A"/>
                </a:solidFill>
                <a:latin typeface="Malgun Gothic"/>
                <a:ea typeface="Malgun Gothic"/>
                <a:cs typeface="Malgun Gothic"/>
              </a:defRPr>
            </a:pPr>
            <a:r>
              <a:t>결과물의 행·열과 답장 대상</a:t>
            </a:r>
          </a:p>
          <a:p xmlns:a="http://schemas.openxmlformats.org/drawingml/2006/main">
            <a:pPr marL="228600" indent="-127000" algn="l">
              <a:spcAft>
                <a:spcPts val="1800"/>
              </a:spcAft>
              <a:buChar char="•"/>
              <a:defRPr sz="2100" b="0">
                <a:solidFill>
                  <a:srgbClr val="20212A"/>
                </a:solidFill>
                <a:latin typeface="Malgun Gothic"/>
                <a:ea typeface="Malgun Gothic"/>
                <a:cs typeface="Malgun Gothic"/>
              </a:defRPr>
            </a:pPr>
            <a:r>
              <a:t>미확인 정보와 실제 발송 금지</a:t>
            </a:r>
          </a:p>
        </p:txBody>
      </p:sp>
      <p:sp>
        <p:nvSpPr>
          <p:cNvPr id="5" name="">
            <a:extLst xmlns:a="http://schemas.openxmlformats.org/drawingml/2006/main">
              <a:ext uri="{FF2B5EF4-FFF2-40B4-BE49-F238E27FC236}">
                <a16:creationId xmlns:a16="http://schemas.microsoft.com/office/drawing/2014/main" id="{AEC83084-BD9C-4C6C-9C1D-2E34BCAB9649}"/>
              </a:ext>
            </a:extLst>
          </p:cNvPr>
          <p:cNvSpPr>
            <a:spLocks xmlns:a="http://schemas.openxmlformats.org/drawingml/2006/main" noGrp="1"/>
          </p:cNvSpPr>
          <p:nvPr/>
        </p:nvSpPr>
        <p:spPr>
          <a:xfrm xmlns:a="http://schemas.openxmlformats.org/drawingml/2006/main">
            <a:off x="6438900" y="2476500"/>
            <a:ext cx="5010150" cy="2905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27000" algn="l">
              <a:spcAft>
                <a:spcPts val="1800"/>
              </a:spcAft>
              <a:buChar char="•"/>
              <a:defRPr sz="2100" b="0">
                <a:solidFill>
                  <a:srgbClr val="20212A"/>
                </a:solidFill>
                <a:latin typeface="Malgun Gothic"/>
                <a:ea typeface="Malgun Gothic"/>
                <a:cs typeface="Malgun Gothic"/>
              </a:defRPr>
            </a:pPr>
            <a:r>
              <a:t>문의 30건과 후속 메시지</a:t>
            </a:r>
          </a:p>
          <a:p xmlns:a="http://schemas.openxmlformats.org/drawingml/2006/main">
            <a:pPr marL="228600" indent="-127000" algn="l">
              <a:spcAft>
                <a:spcPts val="1800"/>
              </a:spcAft>
              <a:buChar char="•"/>
              <a:defRPr sz="2100" b="0">
                <a:solidFill>
                  <a:srgbClr val="20212A"/>
                </a:solidFill>
                <a:latin typeface="Malgun Gothic"/>
                <a:ea typeface="Malgun Gothic"/>
                <a:cs typeface="Malgun Gothic"/>
              </a:defRPr>
            </a:pPr>
            <a:r>
              <a:t>4문서 합본 첨부와 짧은 지시</a:t>
            </a:r>
          </a:p>
          <a:p xmlns:a="http://schemas.openxmlformats.org/drawingml/2006/main">
            <a:pPr marL="228600" indent="-127000" algn="l">
              <a:spcAft>
                <a:spcPts val="1800"/>
              </a:spcAft>
              <a:buChar char="•"/>
              <a:defRPr sz="2100" b="0">
                <a:solidFill>
                  <a:srgbClr val="20212A"/>
                </a:solidFill>
                <a:latin typeface="Malgun Gothic"/>
                <a:ea typeface="Malgun Gothic"/>
                <a:cs typeface="Malgun Gothic"/>
              </a:defRPr>
            </a:pPr>
            <a:r>
              <a:t>처리표 전체와 우선 답장 5건</a:t>
            </a:r>
          </a:p>
          <a:p xmlns:a="http://schemas.openxmlformats.org/drawingml/2006/main">
            <a:pPr marL="228600" indent="-127000" algn="l">
              <a:spcAft>
                <a:spcPts val="1800"/>
              </a:spcAft>
              <a:buChar char="•"/>
              <a:defRPr sz="2100" b="0">
                <a:solidFill>
                  <a:srgbClr val="20212A"/>
                </a:solidFill>
                <a:latin typeface="Malgun Gothic"/>
                <a:ea typeface="Malgun Gothic"/>
                <a:cs typeface="Malgun Gothic"/>
              </a:defRPr>
            </a:pPr>
            <a:r>
              <a:t>담당 확인 요청을 별도 문서로</a:t>
            </a:r>
          </a:p>
        </p:txBody>
      </p:sp>
      <p:sp>
        <p:nvSpPr>
          <p:cNvPr id="6" name="17–20분">
            <a:extLst xmlns:a="http://schemas.openxmlformats.org/drawingml/2006/main">
              <a:ext uri="{FF2B5EF4-FFF2-40B4-BE49-F238E27FC236}">
                <a16:creationId xmlns:a16="http://schemas.microsoft.com/office/drawing/2014/main" id="{56090AAA-87C0-4193-947D-47CE7E239198}"/>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17–20분</a:t>
            </a:r>
          </a:p>
        </p:txBody>
      </p:sp>
      <p:sp>
        <p:nvSpPr>
          <p:cNvPr id="7" name="웹 실습 열기">
            <a:extLst xmlns:a="http://schemas.openxmlformats.org/drawingml/2006/main">
              <a:ext uri="{FF2B5EF4-FFF2-40B4-BE49-F238E27FC236}">
                <a16:creationId xmlns:a16="http://schemas.microsoft.com/office/drawing/2014/main" id="{4D7E02B7-1F58-4E6C-B8C9-D60B4225703B}"/>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6d17fbff61b24fad"/>
              </a:rPr>
              <a:t>웹 실습 열기</a:t>
            </a:r>
          </a:p>
        </p:txBody>
      </p:sp>
      <p:sp>
        <p:nvSpPr>
          <p:cNvPr id="8" name="09">
            <a:extLst xmlns:a="http://schemas.openxmlformats.org/drawingml/2006/main">
              <a:ext uri="{FF2B5EF4-FFF2-40B4-BE49-F238E27FC236}">
                <a16:creationId xmlns:a16="http://schemas.microsoft.com/office/drawing/2014/main" id="{91D92A44-0090-47CE-A83E-818E503256EE}"/>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09</a:t>
            </a:r>
          </a:p>
        </p:txBody>
      </p:sp>
    </p:spTree>
    <p:extLst>
      <p:ext uri="{BB962C8B-B14F-4D97-AF65-F5344CB8AC3E}">
        <p14:creationId xmlns:p14="http://schemas.microsoft.com/office/powerpoint/2010/main" val="16849831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같은 세 건을 먼저 직접 처리">
            <a:extLst xmlns:a="http://schemas.openxmlformats.org/drawingml/2006/main">
              <a:ext uri="{FF2B5EF4-FFF2-40B4-BE49-F238E27FC236}">
                <a16:creationId xmlns:a16="http://schemas.microsoft.com/office/drawing/2014/main" id="{A1CC4D19-5498-4E52-B507-68FB1A73BAD0}"/>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같은 세 건을 먼저 직접 처리</a:t>
            </a:r>
          </a:p>
        </p:txBody>
      </p:sp>
      <p:sp>
        <p:nvSpPr>
          <p:cNvPr id="2" name="3분">
            <a:extLst xmlns:a="http://schemas.openxmlformats.org/drawingml/2006/main">
              <a:ext uri="{FF2B5EF4-FFF2-40B4-BE49-F238E27FC236}">
                <a16:creationId xmlns:a16="http://schemas.microsoft.com/office/drawing/2014/main" id="{B2B492EC-1E99-485B-8F9B-BDA5862562A0}"/>
              </a:ext>
            </a:extLst>
          </p:cNvPr>
          <p:cNvSpPr>
            <a:spLocks xmlns:a="http://schemas.openxmlformats.org/drawingml/2006/main" noGrp="1"/>
          </p:cNvSpPr>
          <p:nvPr/>
        </p:nvSpPr>
        <p:spPr>
          <a:xfrm xmlns:a="http://schemas.openxmlformats.org/drawingml/2006/main">
            <a:off x="685800" y="1619250"/>
            <a:ext cx="2743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4125" b="1">
                <a:solidFill>
                  <a:srgbClr val="6B43C7"/>
                </a:solidFill>
                <a:latin typeface="Malgun Gothic"/>
                <a:ea typeface="Malgun Gothic"/>
                <a:cs typeface="Malgun Gothic"/>
              </a:defRPr>
            </a:pPr>
            <a:r>
              <a:rPr sz="4125" b="1">
                <a:solidFill>
                  <a:srgbClr val="6B43C7"/>
                </a:solidFill>
                <a:latin typeface="Malgun Gothic"/>
                <a:ea typeface="Malgun Gothic"/>
                <a:cs typeface="Malgun Gothic"/>
              </a:rPr>
              <a:t>3분</a:t>
            </a:r>
          </a:p>
        </p:txBody>
      </p:sp>
      <p:sp>
        <p:nvSpPr>
          <p:cNvPr id="3" name="Q01·Q04·Q12를 같은 6개 열의 처리표 3행">
            <a:extLst xmlns:a="http://schemas.openxmlformats.org/drawingml/2006/main">
              <a:ext uri="{FF2B5EF4-FFF2-40B4-BE49-F238E27FC236}">
                <a16:creationId xmlns:a16="http://schemas.microsoft.com/office/drawing/2014/main" id="{F45087FC-7678-496E-BF95-D3B4EDECDB00}"/>
              </a:ext>
            </a:extLst>
          </p:cNvPr>
          <p:cNvSpPr>
            <a:spLocks xmlns:a="http://schemas.openxmlformats.org/drawingml/2006/main" noGrp="1"/>
          </p:cNvSpPr>
          <p:nvPr/>
        </p:nvSpPr>
        <p:spPr>
          <a:xfrm xmlns:a="http://schemas.openxmlformats.org/drawingml/2006/main">
            <a:off x="685800" y="2895600"/>
            <a:ext cx="276225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250" b="1">
                <a:solidFill>
                  <a:srgbClr val="20212A"/>
                </a:solidFill>
                <a:latin typeface="Malgun Gothic"/>
                <a:ea typeface="Malgun Gothic"/>
                <a:cs typeface="Malgun Gothic"/>
              </a:defRPr>
            </a:pPr>
            <a:r>
              <a:rPr sz="2250" b="1">
                <a:solidFill>
                  <a:srgbClr val="20212A"/>
                </a:solidFill>
                <a:latin typeface="Malgun Gothic"/>
                <a:ea typeface="Malgun Gothic"/>
                <a:cs typeface="Malgun Gothic"/>
              </a:rPr>
              <a:t>Q01·Q04·Q12를 같은 6개 열의 처리표 3행으로 직접 씁니다.</a:t>
            </a:r>
          </a:p>
        </p:txBody>
      </p:sp>
      <p:sp>
        <p:nvSpPr>
          <p:cNvPr id="4" name="">
            <a:extLst xmlns:a="http://schemas.openxmlformats.org/drawingml/2006/main">
              <a:ext uri="{FF2B5EF4-FFF2-40B4-BE49-F238E27FC236}">
                <a16:creationId xmlns:a16="http://schemas.microsoft.com/office/drawing/2014/main" id="{05CC70ED-9632-4C7B-8E1A-A781B233430D}"/>
              </a:ext>
            </a:extLst>
          </p:cNvPr>
          <p:cNvSpPr>
            <a:spLocks xmlns:a="http://schemas.openxmlformats.org/drawingml/2006/main" noGrp="1"/>
          </p:cNvSpPr>
          <p:nvPr/>
        </p:nvSpPr>
        <p:spPr>
          <a:xfrm xmlns:a="http://schemas.openxmlformats.org/drawingml/2006/main">
            <a:off x="4038600" y="1647825"/>
            <a:ext cx="74676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문의 ID·최신 요청·확인된 상태를 기록</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안내할 한 문장·추가 확인·근거 ID를 기록</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끝내지 못한 칸은 미완성으로 남김</a:t>
            </a:r>
          </a:p>
        </p:txBody>
      </p:sp>
      <p:sp>
        <p:nvSpPr>
          <p:cNvPr id="5" name="남길 결과">
            <a:extLst xmlns:a="http://schemas.openxmlformats.org/drawingml/2006/main">
              <a:ext uri="{FF2B5EF4-FFF2-40B4-BE49-F238E27FC236}">
                <a16:creationId xmlns:a16="http://schemas.microsoft.com/office/drawing/2014/main" id="{AC0DE2A2-8992-4436-ABC7-CA3E76AA61C2}"/>
              </a:ext>
            </a:extLst>
          </p:cNvPr>
          <p:cNvSpPr>
            <a:spLocks xmlns:a="http://schemas.openxmlformats.org/drawingml/2006/main" noGrp="1"/>
          </p:cNvSpPr>
          <p:nvPr/>
        </p:nvSpPr>
        <p:spPr>
          <a:xfrm xmlns:a="http://schemas.openxmlformats.org/drawingml/2006/main">
            <a:off x="4038600" y="5029200"/>
            <a:ext cx="7467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1">
                <a:solidFill>
                  <a:srgbClr val="6B43C7"/>
                </a:solidFill>
                <a:latin typeface="Malgun Gothic"/>
                <a:ea typeface="Malgun Gothic"/>
                <a:cs typeface="Malgun Gothic"/>
              </a:defRPr>
            </a:pPr>
            <a:r>
              <a:rPr sz="1725" b="1">
                <a:solidFill>
                  <a:srgbClr val="6B43C7"/>
                </a:solidFill>
                <a:latin typeface="Malgun Gothic"/>
                <a:ea typeface="Malgun Gothic"/>
                <a:cs typeface="Malgun Gothic"/>
              </a:rPr>
              <a:t>남길 결과</a:t>
            </a:r>
          </a:p>
        </p:txBody>
      </p:sp>
      <p:sp>
        <p:nvSpPr>
          <p:cNvPr id="6" name="같은 처리표 3행과 미완료 범위">
            <a:extLst xmlns:a="http://schemas.openxmlformats.org/drawingml/2006/main">
              <a:ext uri="{FF2B5EF4-FFF2-40B4-BE49-F238E27FC236}">
                <a16:creationId xmlns:a16="http://schemas.microsoft.com/office/drawing/2014/main" id="{D03E85EF-D1B4-49A5-ADF8-8E45A5ECE001}"/>
              </a:ext>
            </a:extLst>
          </p:cNvPr>
          <p:cNvSpPr>
            <a:spLocks xmlns:a="http://schemas.openxmlformats.org/drawingml/2006/main" noGrp="1"/>
          </p:cNvSpPr>
          <p:nvPr/>
        </p:nvSpPr>
        <p:spPr>
          <a:xfrm xmlns:a="http://schemas.openxmlformats.org/drawingml/2006/main">
            <a:off x="4038600" y="5429250"/>
            <a:ext cx="7467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100" b="1">
                <a:solidFill>
                  <a:srgbClr val="20212A"/>
                </a:solidFill>
                <a:latin typeface="Malgun Gothic"/>
                <a:ea typeface="Malgun Gothic"/>
                <a:cs typeface="Malgun Gothic"/>
              </a:defRPr>
            </a:pPr>
            <a:r>
              <a:rPr sz="2100" b="1">
                <a:solidFill>
                  <a:srgbClr val="20212A"/>
                </a:solidFill>
                <a:latin typeface="Malgun Gothic"/>
                <a:ea typeface="Malgun Gothic"/>
                <a:cs typeface="Malgun Gothic"/>
              </a:rPr>
              <a:t>같은 처리표 3행과 미완료 범위</a:t>
            </a:r>
          </a:p>
        </p:txBody>
      </p:sp>
      <p:sp>
        <p:nvSpPr>
          <p:cNvPr id="7" name="Q01·Q04·Q12의 같은 6개 열. 미완성 칸도">
            <a:extLst xmlns:a="http://schemas.openxmlformats.org/drawingml/2006/main">
              <a:ext uri="{FF2B5EF4-FFF2-40B4-BE49-F238E27FC236}">
                <a16:creationId xmlns:a16="http://schemas.microsoft.com/office/drawing/2014/main" id="{5E814351-4F29-41FC-948F-09283141FB49}"/>
              </a:ext>
            </a:extLst>
          </p:cNvPr>
          <p:cNvSpPr>
            <a:spLocks xmlns:a="http://schemas.openxmlformats.org/drawingml/2006/main" noGrp="1"/>
          </p:cNvSpPr>
          <p:nvPr/>
        </p:nvSpPr>
        <p:spPr>
          <a:xfrm xmlns:a="http://schemas.openxmlformats.org/drawingml/2006/main">
            <a:off x="685800" y="6038850"/>
            <a:ext cx="10820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Q01·Q04·Q12의 같은 6개 열. 미완성 칸도 그대로 남깁니다.</a:t>
            </a:r>
          </a:p>
        </p:txBody>
      </p:sp>
      <p:sp>
        <p:nvSpPr>
          <p:cNvPr id="8" name="20–23분">
            <a:extLst xmlns:a="http://schemas.openxmlformats.org/drawingml/2006/main">
              <a:ext uri="{FF2B5EF4-FFF2-40B4-BE49-F238E27FC236}">
                <a16:creationId xmlns:a16="http://schemas.microsoft.com/office/drawing/2014/main" id="{D728E3DA-CBF4-482E-AA30-4FFECF90B00F}"/>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20–23분</a:t>
            </a:r>
          </a:p>
        </p:txBody>
      </p:sp>
      <p:sp>
        <p:nvSpPr>
          <p:cNvPr id="9" name="웹 실습 열기">
            <a:extLst xmlns:a="http://schemas.openxmlformats.org/drawingml/2006/main">
              <a:ext uri="{FF2B5EF4-FFF2-40B4-BE49-F238E27FC236}">
                <a16:creationId xmlns:a16="http://schemas.microsoft.com/office/drawing/2014/main" id="{8CC38AF6-3514-469B-955E-18225E2198AC}"/>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ecc398582dc943fb"/>
              </a:rPr>
              <a:t>웹 실습 열기</a:t>
            </a:r>
          </a:p>
        </p:txBody>
      </p:sp>
      <p:sp>
        <p:nvSpPr>
          <p:cNvPr id="10" name="10">
            <a:extLst xmlns:a="http://schemas.openxmlformats.org/drawingml/2006/main">
              <a:ext uri="{FF2B5EF4-FFF2-40B4-BE49-F238E27FC236}">
                <a16:creationId xmlns:a16="http://schemas.microsoft.com/office/drawing/2014/main" id="{CE2CF28D-2D42-4D19-A8C3-9245949FF541}"/>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10</a:t>
            </a:r>
          </a:p>
        </p:txBody>
      </p:sp>
    </p:spTree>
    <p:extLst>
      <p:ext uri="{BB962C8B-B14F-4D97-AF65-F5344CB8AC3E}">
        <p14:creationId xmlns:p14="http://schemas.microsoft.com/office/powerpoint/2010/main" val="11001587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AI에 맡길 전체 초안의 범위">
            <a:extLst xmlns:a="http://schemas.openxmlformats.org/drawingml/2006/main">
              <a:ext uri="{FF2B5EF4-FFF2-40B4-BE49-F238E27FC236}">
                <a16:creationId xmlns:a16="http://schemas.microsoft.com/office/drawing/2014/main" id="{8851796A-406F-4D03-8911-4A404044D127}"/>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AI에 맡길 전체 초안의 범위</a:t>
            </a:r>
          </a:p>
        </p:txBody>
      </p:sp>
      <p:graphicFrame>
        <p:nvGraphicFramePr>
          <p:cNvPr id="8" name=""/>
          <p:cNvGraphicFramePr/>
          <p:nvPr/>
        </p:nvGraphicFramePr>
        <p:xfrm>
          <a:off xmlns:a="http://schemas.openxmlformats.org/drawingml/2006/main" x="685800" y="1543050"/>
          <a:ext xmlns:a="http://schemas.openxmlformats.org/drawingml/2006/main" cx="10820400" cy="2952750"/>
        </p:xfrm>
        <a:graphic xmlns:a="http://schemas.openxmlformats.org/drawingml/2006/main">
          <a:graphicData uri="http://schemas.openxmlformats.org/drawingml/2006/table">
            <a:tbl>
              <a:tblPr firstRow="1" bandRow="0"/>
              <a:tblGrid>
                <a:gridCol w="2381250"/>
                <a:gridCol w="4000500"/>
                <a:gridCol w="4381500"/>
              </a:tblGrid>
              <a:tr h="590550">
                <a:tc>
                  <a:txBody>
                    <a:bodyPr lIns="114300" tIns="66675" rIns="114300" bIns="57150">
                      <a:noAutofit/>
                    </a:bodyPr>
                    <a:lstStyle/>
                    <a:p>
                      <a:pPr algn="l"/>
                      <a:r>
                        <a:rPr sz="1875" b="1">
                          <a:solidFill>
                            <a:srgbClr val="FFFFFF"/>
                          </a:solidFill>
                          <a:latin typeface="Malgun Gothic"/>
                          <a:ea typeface="Malgun Gothic"/>
                          <a:cs typeface="Malgun Gothic"/>
                        </a:rPr>
                        <a:t>산출물</a:t>
                      </a:r>
                    </a:p>
                  </a:txBody>
                  <a:tcPr marL="91440" marR="91440" marT="45720" marB="45720" anchor="ctr">
                    <a:solidFill>
                      <a:srgbClr val="6B43C7"/>
                    </a:solidFill>
                  </a:tcPr>
                </a:tc>
                <a:tc>
                  <a:txBody>
                    <a:bodyPr lIns="114300" tIns="66675" rIns="114300" bIns="57150">
                      <a:noAutofit/>
                    </a:bodyPr>
                    <a:lstStyle/>
                    <a:p>
                      <a:pPr algn="l"/>
                      <a:r>
                        <a:rPr sz="1875" b="1">
                          <a:solidFill>
                            <a:srgbClr val="FFFFFF"/>
                          </a:solidFill>
                          <a:latin typeface="Malgun Gothic"/>
                          <a:ea typeface="Malgun Gothic"/>
                          <a:cs typeface="Malgun Gothic"/>
                        </a:rPr>
                        <a:t>필수 조건</a:t>
                      </a:r>
                    </a:p>
                  </a:txBody>
                  <a:tcPr marL="91440" marR="91440" marT="45720" marB="45720" anchor="ctr">
                    <a:solidFill>
                      <a:srgbClr val="6B43C7"/>
                    </a:solidFill>
                  </a:tcPr>
                </a:tc>
                <a:tc>
                  <a:txBody>
                    <a:bodyPr lIns="114300" tIns="66675" rIns="114300" bIns="57150">
                      <a:noAutofit/>
                    </a:bodyPr>
                    <a:lstStyle/>
                    <a:p>
                      <a:pPr algn="l"/>
                      <a:r>
                        <a:rPr sz="1875" b="1">
                          <a:solidFill>
                            <a:srgbClr val="FFFFFF"/>
                          </a:solidFill>
                          <a:latin typeface="Malgun Gothic"/>
                          <a:ea typeface="Malgun Gothic"/>
                          <a:cs typeface="Malgun Gothic"/>
                        </a:rPr>
                        <a:t>직접 확인할 것</a:t>
                      </a:r>
                    </a:p>
                  </a:txBody>
                  <a:tcPr marL="91440" marR="91440" marT="45720" marB="45720" anchor="ctr">
                    <a:solidFill>
                      <a:srgbClr val="6B43C7"/>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전체 처리표</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접수번호 30건 유지</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중복·누락·마지막 의사</a:t>
                      </a:r>
                    </a:p>
                  </a:txBody>
                  <a:tcPr marL="91440" marR="91440" marT="45720" marB="45720" anchor="ctr">
                    <a:solidFill>
                      <a:srgbClr val="FFFFFF"/>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우선 답장 5건</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참가자별 다음 행동 포함</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접수대장과 승인 범위</a:t>
                      </a:r>
                    </a:p>
                  </a:txBody>
                  <a:tcPr marL="91440" marR="91440" marT="45720" marB="45720" anchor="ctr">
                    <a:solidFill>
                      <a:srgbClr val="F5F2FC"/>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내부 확인 요청</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미확인 항목을 따로 정리</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담당과 질문의 근거</a:t>
                      </a:r>
                    </a:p>
                  </a:txBody>
                  <a:tcPr marL="91440" marR="91440" marT="45720" marB="45720" anchor="ctr">
                    <a:solidFill>
                      <a:srgbClr val="FFFFFF"/>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공지 수정 3행</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구문장과 새문장·근거 구분</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게시 완료로 바꾸지 않기</a:t>
                      </a:r>
                    </a:p>
                  </a:txBody>
                  <a:tcPr marL="91440" marR="91440" marT="45720" marB="45720" anchor="ctr">
                    <a:solidFill>
                      <a:srgbClr val="F5F2FC"/>
                    </a:solidFill>
                  </a:tcPr>
                </a:tc>
              </a:tr>
            </a:tbl>
          </a:graphicData>
        </a:graphic>
      </p:graphicFrame>
      <p:sp>
        <p:nvSpPr>
          <p:cNvPr id="3" name="이제 AI 전체 5분을 시작합니다. 생성 범위와 검">
            <a:extLst xmlns:a="http://schemas.openxmlformats.org/drawingml/2006/main">
              <a:ext uri="{FF2B5EF4-FFF2-40B4-BE49-F238E27FC236}">
                <a16:creationId xmlns:a16="http://schemas.microsoft.com/office/drawing/2014/main" id="{D59CB1EE-B213-4AE2-B822-AC0A323CBA0F}"/>
              </a:ext>
            </a:extLst>
          </p:cNvPr>
          <p:cNvSpPr>
            <a:spLocks xmlns:a="http://schemas.openxmlformats.org/drawingml/2006/main" noGrp="1"/>
          </p:cNvSpPr>
          <p:nvPr/>
        </p:nvSpPr>
        <p:spPr>
          <a:xfrm xmlns:a="http://schemas.openxmlformats.org/drawingml/2006/main">
            <a:off x="685800" y="581025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이제 AI 전체 5분을 시작합니다. 생성 범위와 검토 범위를 구분합니다.</a:t>
            </a:r>
          </a:p>
        </p:txBody>
      </p:sp>
      <p:sp>
        <p:nvSpPr>
          <p:cNvPr id="4" name="23–24분">
            <a:extLst xmlns:a="http://schemas.openxmlformats.org/drawingml/2006/main">
              <a:ext uri="{FF2B5EF4-FFF2-40B4-BE49-F238E27FC236}">
                <a16:creationId xmlns:a16="http://schemas.microsoft.com/office/drawing/2014/main" id="{B71E6309-B72C-469B-955C-4A5A3E0EFA20}"/>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23–24분</a:t>
            </a:r>
          </a:p>
        </p:txBody>
      </p:sp>
      <p:sp>
        <p:nvSpPr>
          <p:cNvPr id="5" name="웹 실습 열기">
            <a:extLst xmlns:a="http://schemas.openxmlformats.org/drawingml/2006/main">
              <a:ext uri="{FF2B5EF4-FFF2-40B4-BE49-F238E27FC236}">
                <a16:creationId xmlns:a16="http://schemas.microsoft.com/office/drawing/2014/main" id="{7FD5C0F0-BDF6-4ECD-AC3F-182BDC6DF017}"/>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64a1889303c54266"/>
              </a:rPr>
              <a:t>웹 실습 열기</a:t>
            </a:r>
          </a:p>
        </p:txBody>
      </p:sp>
      <p:sp>
        <p:nvSpPr>
          <p:cNvPr id="6" name="11">
            <a:extLst xmlns:a="http://schemas.openxmlformats.org/drawingml/2006/main">
              <a:ext uri="{FF2B5EF4-FFF2-40B4-BE49-F238E27FC236}">
                <a16:creationId xmlns:a16="http://schemas.microsoft.com/office/drawing/2014/main" id="{675768C0-05AA-48F0-B7EA-57BF01007119}"/>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11</a:t>
            </a:r>
          </a:p>
        </p:txBody>
      </p:sp>
    </p:spTree>
    <p:extLst>
      <p:ext uri="{BB962C8B-B14F-4D97-AF65-F5344CB8AC3E}">
        <p14:creationId xmlns:p14="http://schemas.microsoft.com/office/powerpoint/2010/main" val="68782471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합본 파일 첨부와 입력 확인">
            <a:extLst xmlns:a="http://schemas.openxmlformats.org/drawingml/2006/main">
              <a:ext uri="{FF2B5EF4-FFF2-40B4-BE49-F238E27FC236}">
                <a16:creationId xmlns:a16="http://schemas.microsoft.com/office/drawing/2014/main" id="{F02CDB27-811B-4810-92B0-9C43CDD1E2D2}"/>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합본 파일 첨부와 입력 확인</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2686fe96e1ca4d31"/>
          <a:srcRect xmlns:a="http://schemas.openxmlformats.org/drawingml/2006/main" l="25500" t="22500" r="20500" b="22500"/>
          <a:stretch xmlns:a="http://schemas.openxmlformats.org/drawingml/2006/main"/>
        </p:blipFill>
        <p:spPr>
          <a:xfrm xmlns:a="http://schemas.openxmlformats.org/drawingml/2006/main">
            <a:off x="609600" y="1671042"/>
            <a:ext cx="7200900" cy="41255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3FDEC9C-A56B-4823-86F7-E384F412B62F}"/>
              </a:ext>
            </a:extLst>
          </p:cNvPr>
          <p:cNvSpPr>
            <a:spLocks xmlns:a="http://schemas.openxmlformats.org/drawingml/2006/main" noGrp="1"/>
          </p:cNvSpPr>
          <p:nvPr/>
        </p:nvSpPr>
        <p:spPr>
          <a:xfrm xmlns:a="http://schemas.openxmlformats.org/drawingml/2006/main">
            <a:off x="8201025" y="1752600"/>
            <a:ext cx="3295650" cy="3867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27000" algn="l">
              <a:spcAft>
                <a:spcPts val="1800"/>
              </a:spcAft>
              <a:buChar char="•"/>
              <a:defRPr sz="2025" b="0">
                <a:solidFill>
                  <a:srgbClr val="20212A"/>
                </a:solidFill>
                <a:latin typeface="Malgun Gothic"/>
                <a:ea typeface="Malgun Gothic"/>
                <a:cs typeface="Malgun Gothic"/>
              </a:defRPr>
            </a:pPr>
            <a:r>
              <a:t>37번 합본 TXT 1개를 첨부</a:t>
            </a:r>
          </a:p>
          <a:p xmlns:a="http://schemas.openxmlformats.org/drawingml/2006/main">
            <a:pPr marL="228600" indent="-127000" algn="l">
              <a:spcAft>
                <a:spcPts val="1800"/>
              </a:spcAft>
              <a:buChar char="•"/>
              <a:defRPr sz="2025" b="0">
                <a:solidFill>
                  <a:srgbClr val="20212A"/>
                </a:solidFill>
                <a:latin typeface="Malgun Gothic"/>
                <a:ea typeface="Malgun Gothic"/>
                <a:cs typeface="Malgun Gothic"/>
              </a:defRPr>
            </a:pPr>
            <a:r>
              <a:t>짧은 지시만 복사해 한 번 전송</a:t>
            </a:r>
          </a:p>
          <a:p xmlns:a="http://schemas.openxmlformats.org/drawingml/2006/main">
            <a:pPr marL="228600" indent="-127000" algn="l">
              <a:spcAft>
                <a:spcPts val="1800"/>
              </a:spcAft>
              <a:buChar char="•"/>
              <a:defRPr sz="2025" b="0">
                <a:solidFill>
                  <a:srgbClr val="20212A"/>
                </a:solidFill>
                <a:latin typeface="Malgun Gothic"/>
                <a:ea typeface="Malgun Gothic"/>
                <a:cs typeface="Malgun Gothic"/>
              </a:defRPr>
            </a:pPr>
            <a:r>
              <a:t>첨부파일명과 원문 끝부분을 직접 확인</a:t>
            </a:r>
          </a:p>
        </p:txBody>
      </p:sp>
      <p:sp>
        <p:nvSpPr>
          <p:cNvPr id="4" name="2026-09-28 실제 입력 화면 일부 확대. 첨">
            <a:extLst xmlns:a="http://schemas.openxmlformats.org/drawingml/2006/main">
              <a:ext uri="{FF2B5EF4-FFF2-40B4-BE49-F238E27FC236}">
                <a16:creationId xmlns:a16="http://schemas.microsoft.com/office/drawing/2014/main" id="{A277981D-42AF-4FA8-BF53-70A5ED24212A}"/>
              </a:ext>
            </a:extLst>
          </p:cNvPr>
          <p:cNvSpPr>
            <a:spLocks xmlns:a="http://schemas.openxmlformats.org/drawingml/2006/main" noGrp="1"/>
          </p:cNvSpPr>
          <p:nvPr/>
        </p:nvSpPr>
        <p:spPr>
          <a:xfrm xmlns:a="http://schemas.openxmlformats.org/drawingml/2006/main">
            <a:off x="685800" y="599122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2026-09-28 실제 입력 화면 일부 확대. 첨부와 전송 준비 화면이며 전체 검토 완료를 뜻하지 않습니다.</a:t>
            </a:r>
          </a:p>
        </p:txBody>
      </p:sp>
      <p:sp>
        <p:nvSpPr>
          <p:cNvPr id="5" name="24–26분">
            <a:extLst xmlns:a="http://schemas.openxmlformats.org/drawingml/2006/main">
              <a:ext uri="{FF2B5EF4-FFF2-40B4-BE49-F238E27FC236}">
                <a16:creationId xmlns:a16="http://schemas.microsoft.com/office/drawing/2014/main" id="{6C20FCE9-A905-4896-BF7D-18ED5810F8D0}"/>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24–26분</a:t>
            </a:r>
          </a:p>
        </p:txBody>
      </p:sp>
      <p:sp>
        <p:nvSpPr>
          <p:cNvPr id="6" name="웹 실습 열기">
            <a:extLst xmlns:a="http://schemas.openxmlformats.org/drawingml/2006/main">
              <a:ext uri="{FF2B5EF4-FFF2-40B4-BE49-F238E27FC236}">
                <a16:creationId xmlns:a16="http://schemas.microsoft.com/office/drawing/2014/main" id="{9D1ECFF9-7DF7-490D-B850-28EEA81962CD}"/>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51f5480cb8104c18"/>
              </a:rPr>
              <a:t>웹 실습 열기</a:t>
            </a:r>
          </a:p>
        </p:txBody>
      </p:sp>
      <p:sp>
        <p:nvSpPr>
          <p:cNvPr id="7" name="12">
            <a:extLst xmlns:a="http://schemas.openxmlformats.org/drawingml/2006/main">
              <a:ext uri="{FF2B5EF4-FFF2-40B4-BE49-F238E27FC236}">
                <a16:creationId xmlns:a16="http://schemas.microsoft.com/office/drawing/2014/main" id="{862ADC26-BFD0-4258-A654-6CF7A27A82AC}"/>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12</a:t>
            </a:r>
          </a:p>
        </p:txBody>
      </p:sp>
    </p:spTree>
    <p:extLst>
      <p:ext uri="{BB962C8B-B14F-4D97-AF65-F5344CB8AC3E}">
        <p14:creationId xmlns:p14="http://schemas.microsoft.com/office/powerpoint/2010/main" val="47966141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응답 범위 확인과 검토 전환">
            <a:extLst xmlns:a="http://schemas.openxmlformats.org/drawingml/2006/main">
              <a:ext uri="{FF2B5EF4-FFF2-40B4-BE49-F238E27FC236}">
                <a16:creationId xmlns:a16="http://schemas.microsoft.com/office/drawing/2014/main" id="{1CA69953-58E8-47B9-AB00-9D6ED262B629}"/>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응답 범위 확인과 검토 전환</a:t>
            </a:r>
          </a:p>
        </p:txBody>
      </p:sp>
      <p:sp>
        <p:nvSpPr>
          <p:cNvPr id="2" name="2분">
            <a:extLst xmlns:a="http://schemas.openxmlformats.org/drawingml/2006/main">
              <a:ext uri="{FF2B5EF4-FFF2-40B4-BE49-F238E27FC236}">
                <a16:creationId xmlns:a16="http://schemas.microsoft.com/office/drawing/2014/main" id="{8FA7D28E-EC2E-4605-9BFE-AE0E957D4D9F}"/>
              </a:ext>
            </a:extLst>
          </p:cNvPr>
          <p:cNvSpPr>
            <a:spLocks xmlns:a="http://schemas.openxmlformats.org/drawingml/2006/main" noGrp="1"/>
          </p:cNvSpPr>
          <p:nvPr/>
        </p:nvSpPr>
        <p:spPr>
          <a:xfrm xmlns:a="http://schemas.openxmlformats.org/drawingml/2006/main">
            <a:off x="685800" y="1619250"/>
            <a:ext cx="2743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4125" b="1">
                <a:solidFill>
                  <a:srgbClr val="6B43C7"/>
                </a:solidFill>
                <a:latin typeface="Malgun Gothic"/>
                <a:ea typeface="Malgun Gothic"/>
                <a:cs typeface="Malgun Gothic"/>
              </a:defRPr>
            </a:pPr>
            <a:r>
              <a:rPr sz="4125" b="1">
                <a:solidFill>
                  <a:srgbClr val="6B43C7"/>
                </a:solidFill>
                <a:latin typeface="Malgun Gothic"/>
                <a:ea typeface="Malgun Gothic"/>
                <a:cs typeface="Malgun Gothic"/>
              </a:rPr>
              <a:t>2분</a:t>
            </a:r>
          </a:p>
        </p:txBody>
      </p:sp>
      <p:sp>
        <p:nvSpPr>
          <p:cNvPr id="3" name="받은 응답을 저장합니다. 실패하면 같은 세 건의 교">
            <a:extLst xmlns:a="http://schemas.openxmlformats.org/drawingml/2006/main">
              <a:ext uri="{FF2B5EF4-FFF2-40B4-BE49-F238E27FC236}">
                <a16:creationId xmlns:a16="http://schemas.microsoft.com/office/drawing/2014/main" id="{2FC2E5E6-318A-4893-8C94-4DF0742308D3}"/>
              </a:ext>
            </a:extLst>
          </p:cNvPr>
          <p:cNvSpPr>
            <a:spLocks xmlns:a="http://schemas.openxmlformats.org/drawingml/2006/main" noGrp="1"/>
          </p:cNvSpPr>
          <p:nvPr/>
        </p:nvSpPr>
        <p:spPr>
          <a:xfrm xmlns:a="http://schemas.openxmlformats.org/drawingml/2006/main">
            <a:off x="685800" y="2895600"/>
            <a:ext cx="276225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250" b="1">
                <a:solidFill>
                  <a:srgbClr val="20212A"/>
                </a:solidFill>
                <a:latin typeface="Malgun Gothic"/>
                <a:ea typeface="Malgun Gothic"/>
                <a:cs typeface="Malgun Gothic"/>
              </a:defRPr>
            </a:pPr>
            <a:r>
              <a:rPr sz="2250" b="1">
                <a:solidFill>
                  <a:srgbClr val="20212A"/>
                </a:solidFill>
                <a:latin typeface="Malgun Gothic"/>
                <a:ea typeface="Malgun Gothic"/>
                <a:cs typeface="Malgun Gothic"/>
              </a:rPr>
              <a:t>받은 응답을 저장합니다. 실패하면 같은 세 건의 교사 예시로 전환합니다.</a:t>
            </a:r>
          </a:p>
        </p:txBody>
      </p:sp>
      <p:sp>
        <p:nvSpPr>
          <p:cNvPr id="4" name="">
            <a:extLst xmlns:a="http://schemas.openxmlformats.org/drawingml/2006/main">
              <a:ext uri="{FF2B5EF4-FFF2-40B4-BE49-F238E27FC236}">
                <a16:creationId xmlns:a16="http://schemas.microsoft.com/office/drawing/2014/main" id="{9EDAE27F-B8D1-4D6B-8317-7528035870C8}"/>
              </a:ext>
            </a:extLst>
          </p:cNvPr>
          <p:cNvSpPr>
            <a:spLocks xmlns:a="http://schemas.openxmlformats.org/drawingml/2006/main" noGrp="1"/>
          </p:cNvSpPr>
          <p:nvPr/>
        </p:nvSpPr>
        <p:spPr>
          <a:xfrm xmlns:a="http://schemas.openxmlformats.org/drawingml/2006/main">
            <a:off x="4038600" y="1647825"/>
            <a:ext cx="74676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받은 처리표의 건수와 중복·누락 확인</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답장 5건·담당 확인·공지 수정 3행 분리</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비교는 Q01·Q04·Q12의 같은 3행만</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실패하면 90번 교사 예시 세 행으로 전환</a:t>
            </a:r>
          </a:p>
        </p:txBody>
      </p:sp>
      <p:sp>
        <p:nvSpPr>
          <p:cNvPr id="5" name="남길 결과">
            <a:extLst xmlns:a="http://schemas.openxmlformats.org/drawingml/2006/main">
              <a:ext uri="{FF2B5EF4-FFF2-40B4-BE49-F238E27FC236}">
                <a16:creationId xmlns:a16="http://schemas.microsoft.com/office/drawing/2014/main" id="{2A5486B5-58F1-438B-89F9-C392187CCC52}"/>
              </a:ext>
            </a:extLst>
          </p:cNvPr>
          <p:cNvSpPr>
            <a:spLocks xmlns:a="http://schemas.openxmlformats.org/drawingml/2006/main" noGrp="1"/>
          </p:cNvSpPr>
          <p:nvPr/>
        </p:nvSpPr>
        <p:spPr>
          <a:xfrm xmlns:a="http://schemas.openxmlformats.org/drawingml/2006/main">
            <a:off x="4038600" y="5029200"/>
            <a:ext cx="7467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1">
                <a:solidFill>
                  <a:srgbClr val="6B43C7"/>
                </a:solidFill>
                <a:latin typeface="Malgun Gothic"/>
                <a:ea typeface="Malgun Gothic"/>
                <a:cs typeface="Malgun Gothic"/>
              </a:defRPr>
            </a:pPr>
            <a:r>
              <a:rPr sz="1725" b="1">
                <a:solidFill>
                  <a:srgbClr val="6B43C7"/>
                </a:solidFill>
                <a:latin typeface="Malgun Gothic"/>
                <a:ea typeface="Malgun Gothic"/>
                <a:cs typeface="Malgun Gothic"/>
              </a:rPr>
              <a:t>남길 결과</a:t>
            </a:r>
          </a:p>
        </p:txBody>
      </p:sp>
      <p:sp>
        <p:nvSpPr>
          <p:cNvPr id="6" name="확보한 응답·실패 기록·미완료 범위">
            <a:extLst xmlns:a="http://schemas.openxmlformats.org/drawingml/2006/main">
              <a:ext uri="{FF2B5EF4-FFF2-40B4-BE49-F238E27FC236}">
                <a16:creationId xmlns:a16="http://schemas.microsoft.com/office/drawing/2014/main" id="{98CFD645-46A6-4228-91C7-D2BC397FCBD6}"/>
              </a:ext>
            </a:extLst>
          </p:cNvPr>
          <p:cNvSpPr>
            <a:spLocks xmlns:a="http://schemas.openxmlformats.org/drawingml/2006/main" noGrp="1"/>
          </p:cNvSpPr>
          <p:nvPr/>
        </p:nvSpPr>
        <p:spPr>
          <a:xfrm xmlns:a="http://schemas.openxmlformats.org/drawingml/2006/main">
            <a:off x="4038600" y="5429250"/>
            <a:ext cx="7467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100" b="1">
                <a:solidFill>
                  <a:srgbClr val="20212A"/>
                </a:solidFill>
                <a:latin typeface="Malgun Gothic"/>
                <a:ea typeface="Malgun Gothic"/>
                <a:cs typeface="Malgun Gothic"/>
              </a:defRPr>
            </a:pPr>
            <a:r>
              <a:rPr sz="2100" b="1">
                <a:solidFill>
                  <a:srgbClr val="20212A"/>
                </a:solidFill>
                <a:latin typeface="Malgun Gothic"/>
                <a:ea typeface="Malgun Gothic"/>
                <a:cs typeface="Malgun Gothic"/>
              </a:rPr>
              <a:t>확보한 응답·실패 기록·미완료 범위</a:t>
            </a:r>
          </a:p>
        </p:txBody>
      </p:sp>
      <p:sp>
        <p:nvSpPr>
          <p:cNvPr id="7" name="실행 시험에서 30행 생성 미완료. 입력·대기 5분">
            <a:extLst xmlns:a="http://schemas.openxmlformats.org/drawingml/2006/main">
              <a:ext uri="{FF2B5EF4-FFF2-40B4-BE49-F238E27FC236}">
                <a16:creationId xmlns:a16="http://schemas.microsoft.com/office/drawing/2014/main" id="{FEBDAC62-61AA-4928-A3E1-DEC2CF00FB92}"/>
              </a:ext>
            </a:extLst>
          </p:cNvPr>
          <p:cNvSpPr>
            <a:spLocks xmlns:a="http://schemas.openxmlformats.org/drawingml/2006/main" noGrp="1"/>
          </p:cNvSpPr>
          <p:nvPr/>
        </p:nvSpPr>
        <p:spPr>
          <a:xfrm xmlns:a="http://schemas.openxmlformats.org/drawingml/2006/main">
            <a:off x="685800" y="6038850"/>
            <a:ext cx="10820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실행 시험에서 30행 생성 미완료. 입력·대기 5분 내 실패하면 교사 예시로 전환합니다.</a:t>
            </a:r>
          </a:p>
        </p:txBody>
      </p:sp>
      <p:sp>
        <p:nvSpPr>
          <p:cNvPr id="8" name="26–28분">
            <a:extLst xmlns:a="http://schemas.openxmlformats.org/drawingml/2006/main">
              <a:ext uri="{FF2B5EF4-FFF2-40B4-BE49-F238E27FC236}">
                <a16:creationId xmlns:a16="http://schemas.microsoft.com/office/drawing/2014/main" id="{E7297373-5F53-4612-8688-AE0CC9B6934A}"/>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26–28분</a:t>
            </a:r>
          </a:p>
        </p:txBody>
      </p:sp>
      <p:sp>
        <p:nvSpPr>
          <p:cNvPr id="9" name="웹 실습 열기">
            <a:extLst xmlns:a="http://schemas.openxmlformats.org/drawingml/2006/main">
              <a:ext uri="{FF2B5EF4-FFF2-40B4-BE49-F238E27FC236}">
                <a16:creationId xmlns:a16="http://schemas.microsoft.com/office/drawing/2014/main" id="{31FD1810-BE5B-45B5-BD60-D641C5D90549}"/>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287bef812f50424b"/>
              </a:rPr>
              <a:t>웹 실습 열기</a:t>
            </a:r>
          </a:p>
        </p:txBody>
      </p:sp>
      <p:sp>
        <p:nvSpPr>
          <p:cNvPr id="10" name="13">
            <a:extLst xmlns:a="http://schemas.openxmlformats.org/drawingml/2006/main">
              <a:ext uri="{FF2B5EF4-FFF2-40B4-BE49-F238E27FC236}">
                <a16:creationId xmlns:a16="http://schemas.microsoft.com/office/drawing/2014/main" id="{033A03FF-B307-4105-AB1D-08D1AC3A2DFD}"/>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13</a:t>
            </a:r>
          </a:p>
        </p:txBody>
      </p:sp>
    </p:spTree>
    <p:extLst>
      <p:ext uri="{BB962C8B-B14F-4D97-AF65-F5344CB8AC3E}">
        <p14:creationId xmlns:p14="http://schemas.microsoft.com/office/powerpoint/2010/main" val="173220010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같은 세 건의 근거 대조">
            <a:extLst xmlns:a="http://schemas.openxmlformats.org/drawingml/2006/main">
              <a:ext uri="{FF2B5EF4-FFF2-40B4-BE49-F238E27FC236}">
                <a16:creationId xmlns:a16="http://schemas.microsoft.com/office/drawing/2014/main" id="{218D41C6-5684-4F8B-A104-DC88B11E0258}"/>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같은 세 건의 근거 대조</a:t>
            </a:r>
          </a:p>
        </p:txBody>
      </p:sp>
      <p:sp>
        <p:nvSpPr>
          <p:cNvPr id="2" name="5분">
            <a:extLst xmlns:a="http://schemas.openxmlformats.org/drawingml/2006/main">
              <a:ext uri="{FF2B5EF4-FFF2-40B4-BE49-F238E27FC236}">
                <a16:creationId xmlns:a16="http://schemas.microsoft.com/office/drawing/2014/main" id="{73F5F69D-A976-4431-8326-C00BD436BECF}"/>
              </a:ext>
            </a:extLst>
          </p:cNvPr>
          <p:cNvSpPr>
            <a:spLocks xmlns:a="http://schemas.openxmlformats.org/drawingml/2006/main" noGrp="1"/>
          </p:cNvSpPr>
          <p:nvPr/>
        </p:nvSpPr>
        <p:spPr>
          <a:xfrm xmlns:a="http://schemas.openxmlformats.org/drawingml/2006/main">
            <a:off x="685800" y="1619250"/>
            <a:ext cx="2743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4125" b="1">
                <a:solidFill>
                  <a:srgbClr val="6B43C7"/>
                </a:solidFill>
                <a:latin typeface="Malgun Gothic"/>
                <a:ea typeface="Malgun Gothic"/>
                <a:cs typeface="Malgun Gothic"/>
              </a:defRPr>
            </a:pPr>
            <a:r>
              <a:rPr sz="4125" b="1">
                <a:solidFill>
                  <a:srgbClr val="6B43C7"/>
                </a:solidFill>
                <a:latin typeface="Malgun Gothic"/>
                <a:ea typeface="Malgun Gothic"/>
                <a:cs typeface="Malgun Gothic"/>
              </a:rPr>
              <a:t>5분</a:t>
            </a:r>
          </a:p>
        </p:txBody>
      </p:sp>
      <p:sp>
        <p:nvSpPr>
          <p:cNvPr id="3" name="수작업 3행과 AI 답변 또는 교사 예시를 원문으로">
            <a:extLst xmlns:a="http://schemas.openxmlformats.org/drawingml/2006/main">
              <a:ext uri="{FF2B5EF4-FFF2-40B4-BE49-F238E27FC236}">
                <a16:creationId xmlns:a16="http://schemas.microsoft.com/office/drawing/2014/main" id="{B1968A6E-CF69-408F-8DCC-5286F2FFAAC5}"/>
              </a:ext>
            </a:extLst>
          </p:cNvPr>
          <p:cNvSpPr>
            <a:spLocks xmlns:a="http://schemas.openxmlformats.org/drawingml/2006/main" noGrp="1"/>
          </p:cNvSpPr>
          <p:nvPr/>
        </p:nvSpPr>
        <p:spPr>
          <a:xfrm xmlns:a="http://schemas.openxmlformats.org/drawingml/2006/main">
            <a:off x="685800" y="2895600"/>
            <a:ext cx="276225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250" b="1">
                <a:solidFill>
                  <a:srgbClr val="20212A"/>
                </a:solidFill>
                <a:latin typeface="Malgun Gothic"/>
                <a:ea typeface="Malgun Gothic"/>
                <a:cs typeface="Malgun Gothic"/>
              </a:defRPr>
            </a:pPr>
            <a:r>
              <a:rPr sz="2250" b="1">
                <a:solidFill>
                  <a:srgbClr val="20212A"/>
                </a:solidFill>
                <a:latin typeface="Malgun Gothic"/>
                <a:ea typeface="Malgun Gothic"/>
                <a:cs typeface="Malgun Gothic"/>
              </a:rPr>
              <a:t>수작업 3행과 AI 답변 또는 교사 예시를 원문으로 대조합니다.</a:t>
            </a:r>
          </a:p>
        </p:txBody>
      </p:sp>
      <p:sp>
        <p:nvSpPr>
          <p:cNvPr id="4" name="">
            <a:extLst xmlns:a="http://schemas.openxmlformats.org/drawingml/2006/main">
              <a:ext uri="{FF2B5EF4-FFF2-40B4-BE49-F238E27FC236}">
                <a16:creationId xmlns:a16="http://schemas.microsoft.com/office/drawing/2014/main" id="{35547656-F75D-4433-8557-F2FF548678BC}"/>
              </a:ext>
            </a:extLst>
          </p:cNvPr>
          <p:cNvSpPr>
            <a:spLocks xmlns:a="http://schemas.openxmlformats.org/drawingml/2006/main" noGrp="1"/>
          </p:cNvSpPr>
          <p:nvPr/>
        </p:nvSpPr>
        <p:spPr>
          <a:xfrm xmlns:a="http://schemas.openxmlformats.org/drawingml/2006/main">
            <a:off x="4038600" y="1647825"/>
            <a:ext cx="74676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마지막 요청과 대장 상태를 각각 확인</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확정 표현마다 승인 문단 ID 찾기</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안내할 한 문장과 추가 확인을 구분</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같은 6개 열의 누락·오판·추가를 기록</a:t>
            </a:r>
          </a:p>
        </p:txBody>
      </p:sp>
      <p:sp>
        <p:nvSpPr>
          <p:cNvPr id="5" name="남길 결과">
            <a:extLst xmlns:a="http://schemas.openxmlformats.org/drawingml/2006/main">
              <a:ext uri="{FF2B5EF4-FFF2-40B4-BE49-F238E27FC236}">
                <a16:creationId xmlns:a16="http://schemas.microsoft.com/office/drawing/2014/main" id="{5F8308C4-0808-4182-827F-7A6AD32E0541}"/>
              </a:ext>
            </a:extLst>
          </p:cNvPr>
          <p:cNvSpPr>
            <a:spLocks xmlns:a="http://schemas.openxmlformats.org/drawingml/2006/main" noGrp="1"/>
          </p:cNvSpPr>
          <p:nvPr/>
        </p:nvSpPr>
        <p:spPr>
          <a:xfrm xmlns:a="http://schemas.openxmlformats.org/drawingml/2006/main">
            <a:off x="4038600" y="5029200"/>
            <a:ext cx="7467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1">
                <a:solidFill>
                  <a:srgbClr val="6B43C7"/>
                </a:solidFill>
                <a:latin typeface="Malgun Gothic"/>
                <a:ea typeface="Malgun Gothic"/>
                <a:cs typeface="Malgun Gothic"/>
              </a:defRPr>
            </a:pPr>
            <a:r>
              <a:rPr sz="1725" b="1">
                <a:solidFill>
                  <a:srgbClr val="6B43C7"/>
                </a:solidFill>
                <a:latin typeface="Malgun Gothic"/>
                <a:ea typeface="Malgun Gothic"/>
                <a:cs typeface="Malgun Gothic"/>
              </a:rPr>
              <a:t>남길 결과</a:t>
            </a:r>
          </a:p>
        </p:txBody>
      </p:sp>
      <p:sp>
        <p:nvSpPr>
          <p:cNvPr id="6" name="3건 검토표와 고쳐야 할 문장">
            <a:extLst xmlns:a="http://schemas.openxmlformats.org/drawingml/2006/main">
              <a:ext uri="{FF2B5EF4-FFF2-40B4-BE49-F238E27FC236}">
                <a16:creationId xmlns:a16="http://schemas.microsoft.com/office/drawing/2014/main" id="{102A699A-A170-4EF6-815E-D2BC6BE186E2}"/>
              </a:ext>
            </a:extLst>
          </p:cNvPr>
          <p:cNvSpPr>
            <a:spLocks xmlns:a="http://schemas.openxmlformats.org/drawingml/2006/main" noGrp="1"/>
          </p:cNvSpPr>
          <p:nvPr/>
        </p:nvSpPr>
        <p:spPr>
          <a:xfrm xmlns:a="http://schemas.openxmlformats.org/drawingml/2006/main">
            <a:off x="4038600" y="5429250"/>
            <a:ext cx="7467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100" b="1">
                <a:solidFill>
                  <a:srgbClr val="20212A"/>
                </a:solidFill>
                <a:latin typeface="Malgun Gothic"/>
                <a:ea typeface="Malgun Gothic"/>
                <a:cs typeface="Malgun Gothic"/>
              </a:defRPr>
            </a:pPr>
            <a:r>
              <a:rPr sz="2100" b="1">
                <a:solidFill>
                  <a:srgbClr val="20212A"/>
                </a:solidFill>
                <a:latin typeface="Malgun Gothic"/>
                <a:ea typeface="Malgun Gothic"/>
                <a:cs typeface="Malgun Gothic"/>
              </a:rPr>
              <a:t>3건 검토표와 고쳐야 할 문장</a:t>
            </a:r>
          </a:p>
        </p:txBody>
      </p:sp>
      <p:sp>
        <p:nvSpPr>
          <p:cNvPr id="7" name="Q01·Q04·Q12를 확인합니다. 교사 예시는 A">
            <a:extLst xmlns:a="http://schemas.openxmlformats.org/drawingml/2006/main">
              <a:ext uri="{FF2B5EF4-FFF2-40B4-BE49-F238E27FC236}">
                <a16:creationId xmlns:a16="http://schemas.microsoft.com/office/drawing/2014/main" id="{DAC99908-A566-40DF-9A06-C9C72319B2B2}"/>
              </a:ext>
            </a:extLst>
          </p:cNvPr>
          <p:cNvSpPr>
            <a:spLocks xmlns:a="http://schemas.openxmlformats.org/drawingml/2006/main" noGrp="1"/>
          </p:cNvSpPr>
          <p:nvPr/>
        </p:nvSpPr>
        <p:spPr>
          <a:xfrm xmlns:a="http://schemas.openxmlformats.org/drawingml/2006/main">
            <a:off x="685800" y="6038850"/>
            <a:ext cx="10820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Q01·Q04·Q12를 확인합니다. 교사 예시는 AI 출력과 구분해 기록합니다.</a:t>
            </a:r>
          </a:p>
        </p:txBody>
      </p:sp>
      <p:sp>
        <p:nvSpPr>
          <p:cNvPr id="8" name="28–33분">
            <a:extLst xmlns:a="http://schemas.openxmlformats.org/drawingml/2006/main">
              <a:ext uri="{FF2B5EF4-FFF2-40B4-BE49-F238E27FC236}">
                <a16:creationId xmlns:a16="http://schemas.microsoft.com/office/drawing/2014/main" id="{A135BB97-ABCD-4BA7-B976-7C939C844C72}"/>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28–33분</a:t>
            </a:r>
          </a:p>
        </p:txBody>
      </p:sp>
      <p:sp>
        <p:nvSpPr>
          <p:cNvPr id="9" name="웹 실습 열기">
            <a:extLst xmlns:a="http://schemas.openxmlformats.org/drawingml/2006/main">
              <a:ext uri="{FF2B5EF4-FFF2-40B4-BE49-F238E27FC236}">
                <a16:creationId xmlns:a16="http://schemas.microsoft.com/office/drawing/2014/main" id="{086CFB57-F0E4-41FB-A556-7A6EBEDFDA05}"/>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dc8bdf1cd34f45bd"/>
              </a:rPr>
              <a:t>웹 실습 열기</a:t>
            </a:r>
          </a:p>
        </p:txBody>
      </p:sp>
      <p:sp>
        <p:nvSpPr>
          <p:cNvPr id="10" name="14">
            <a:extLst xmlns:a="http://schemas.openxmlformats.org/drawingml/2006/main">
              <a:ext uri="{FF2B5EF4-FFF2-40B4-BE49-F238E27FC236}">
                <a16:creationId xmlns:a16="http://schemas.microsoft.com/office/drawing/2014/main" id="{76F0F918-AEAE-4534-A309-F7405F8DD27B}"/>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14</a:t>
            </a:r>
          </a:p>
        </p:txBody>
      </p:sp>
    </p:spTree>
    <p:extLst>
      <p:ext uri="{BB962C8B-B14F-4D97-AF65-F5344CB8AC3E}">
        <p14:creationId xmlns:p14="http://schemas.microsoft.com/office/powerpoint/2010/main" val="144102281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수정 후 AI 사용 여부 판단">
            <a:extLst xmlns:a="http://schemas.openxmlformats.org/drawingml/2006/main">
              <a:ext uri="{FF2B5EF4-FFF2-40B4-BE49-F238E27FC236}">
                <a16:creationId xmlns:a16="http://schemas.microsoft.com/office/drawing/2014/main" id="{8218E57C-EB1F-49DA-ACCA-70F1B3E1FF54}"/>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수정 후 AI 사용 여부 판단</a:t>
            </a:r>
          </a:p>
        </p:txBody>
      </p:sp>
      <p:graphicFrame>
        <p:nvGraphicFramePr>
          <p:cNvPr id="8" name=""/>
          <p:cNvGraphicFramePr/>
          <p:nvPr/>
        </p:nvGraphicFramePr>
        <p:xfrm>
          <a:off xmlns:a="http://schemas.openxmlformats.org/drawingml/2006/main" x="685800" y="1543050"/>
          <a:ext xmlns:a="http://schemas.openxmlformats.org/drawingml/2006/main" cx="10820400" cy="2952750"/>
        </p:xfrm>
        <a:graphic xmlns:a="http://schemas.openxmlformats.org/drawingml/2006/main">
          <a:graphicData uri="http://schemas.openxmlformats.org/drawingml/2006/table">
            <a:tbl>
              <a:tblPr firstRow="1" bandRow="0"/>
              <a:tblGrid>
                <a:gridCol w="2857500"/>
                <a:gridCol w="7905750"/>
              </a:tblGrid>
              <a:tr h="590550">
                <a:tc>
                  <a:txBody>
                    <a:bodyPr lIns="114300" tIns="66675" rIns="114300" bIns="57150">
                      <a:noAutofit/>
                    </a:bodyPr>
                    <a:lstStyle/>
                    <a:p>
                      <a:pPr algn="l"/>
                      <a:r>
                        <a:rPr sz="1875" b="1">
                          <a:solidFill>
                            <a:srgbClr val="FFFFFF"/>
                          </a:solidFill>
                          <a:latin typeface="Malgun Gothic"/>
                          <a:ea typeface="Malgun Gothic"/>
                          <a:cs typeface="Malgun Gothic"/>
                        </a:rPr>
                        <a:t>기록할 항목</a:t>
                      </a:r>
                    </a:p>
                  </a:txBody>
                  <a:tcPr marL="91440" marR="91440" marT="45720" marB="45720" anchor="ctr">
                    <a:solidFill>
                      <a:srgbClr val="6B43C7"/>
                    </a:solidFill>
                  </a:tcPr>
                </a:tc>
                <a:tc>
                  <a:txBody>
                    <a:bodyPr lIns="114300" tIns="66675" rIns="114300" bIns="57150">
                      <a:noAutofit/>
                    </a:bodyPr>
                    <a:lstStyle/>
                    <a:p>
                      <a:pPr algn="l"/>
                      <a:r>
                        <a:rPr sz="1875" b="1">
                          <a:solidFill>
                            <a:srgbClr val="FFFFFF"/>
                          </a:solidFill>
                          <a:latin typeface="Malgun Gothic"/>
                          <a:ea typeface="Malgun Gothic"/>
                          <a:cs typeface="Malgun Gothic"/>
                        </a:rPr>
                        <a:t>남길 내용</a:t>
                      </a:r>
                    </a:p>
                  </a:txBody>
                  <a:tcPr marL="91440" marR="91440" marT="45720" marB="45720" anchor="ctr">
                    <a:solidFill>
                      <a:srgbClr val="6B43C7"/>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투입 시간</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입력 준비·기다림·검토·수정을 따로 기록</a:t>
                      </a:r>
                    </a:p>
                  </a:txBody>
                  <a:tcPr marL="91440" marR="91440" marT="45720" marB="45720" anchor="ctr">
                    <a:solidFill>
                      <a:srgbClr val="FFFFFF"/>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품질과 미완료</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수정한 3행·남은 27행·미검토 답장 구분</a:t>
                      </a:r>
                    </a:p>
                  </a:txBody>
                  <a:tcPr marL="91440" marR="91440" marT="45720" marB="45720" anchor="ctr">
                    <a:solidFill>
                      <a:srgbClr val="F5F2FC"/>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같은 3건 비교</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같은 근거와 완료 기준을 적용한 결과</a:t>
                      </a:r>
                    </a:p>
                  </a:txBody>
                  <a:tcPr marL="91440" marR="91440" marT="45720" marB="45720" anchor="ctr">
                    <a:solidFill>
                      <a:srgbClr val="FFFFFF"/>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다음 업무의 선택</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직접 작성·서식·스프레드시트·AI 중 선택</a:t>
                      </a:r>
                    </a:p>
                  </a:txBody>
                  <a:tcPr marL="91440" marR="91440" marT="45720" marB="45720" anchor="ctr">
                    <a:solidFill>
                      <a:srgbClr val="F5F2FC"/>
                    </a:solidFill>
                  </a:tcPr>
                </a:tc>
              </a:tr>
            </a:tbl>
          </a:graphicData>
        </a:graphic>
      </p:graphicFrame>
      <p:sp>
        <p:nvSpPr>
          <p:cNvPr id="3" name="AI 전체 30건과 수작업 3건의 시간을 나눠 절감">
            <a:extLst xmlns:a="http://schemas.openxmlformats.org/drawingml/2006/main">
              <a:ext uri="{FF2B5EF4-FFF2-40B4-BE49-F238E27FC236}">
                <a16:creationId xmlns:a16="http://schemas.microsoft.com/office/drawing/2014/main" id="{A4ABE530-9805-42F9-8A1B-0A96F055770E}"/>
              </a:ext>
            </a:extLst>
          </p:cNvPr>
          <p:cNvSpPr>
            <a:spLocks xmlns:a="http://schemas.openxmlformats.org/drawingml/2006/main" noGrp="1"/>
          </p:cNvSpPr>
          <p:nvPr/>
        </p:nvSpPr>
        <p:spPr>
          <a:xfrm xmlns:a="http://schemas.openxmlformats.org/drawingml/2006/main">
            <a:off x="685800" y="581025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AI 전체 30건과 수작업 3건의 시간을 나눠 절감률을 계산하지 않습니다.</a:t>
            </a:r>
          </a:p>
        </p:txBody>
      </p:sp>
      <p:sp>
        <p:nvSpPr>
          <p:cNvPr id="4" name="33–38분">
            <a:extLst xmlns:a="http://schemas.openxmlformats.org/drawingml/2006/main">
              <a:ext uri="{FF2B5EF4-FFF2-40B4-BE49-F238E27FC236}">
                <a16:creationId xmlns:a16="http://schemas.microsoft.com/office/drawing/2014/main" id="{78957DCD-0B69-425A-84FB-BD1822E0B06A}"/>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33–38분</a:t>
            </a:r>
          </a:p>
        </p:txBody>
      </p:sp>
      <p:sp>
        <p:nvSpPr>
          <p:cNvPr id="5" name="웹 실습 열기">
            <a:extLst xmlns:a="http://schemas.openxmlformats.org/drawingml/2006/main">
              <a:ext uri="{FF2B5EF4-FFF2-40B4-BE49-F238E27FC236}">
                <a16:creationId xmlns:a16="http://schemas.microsoft.com/office/drawing/2014/main" id="{0693BA1A-0C2D-417B-8439-D6A202BE9855}"/>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6745dc64c68e4363"/>
              </a:rPr>
              <a:t>웹 실습 열기</a:t>
            </a:r>
          </a:p>
        </p:txBody>
      </p:sp>
      <p:sp>
        <p:nvSpPr>
          <p:cNvPr id="6" name="15">
            <a:extLst xmlns:a="http://schemas.openxmlformats.org/drawingml/2006/main">
              <a:ext uri="{FF2B5EF4-FFF2-40B4-BE49-F238E27FC236}">
                <a16:creationId xmlns:a16="http://schemas.microsoft.com/office/drawing/2014/main" id="{D20EC54F-759E-4941-BFF2-04CC0802F060}"/>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15</a:t>
            </a:r>
          </a:p>
        </p:txBody>
      </p:sp>
    </p:spTree>
    <p:extLst>
      <p:ext uri="{BB962C8B-B14F-4D97-AF65-F5344CB8AC3E}">
        <p14:creationId xmlns:p14="http://schemas.microsoft.com/office/powerpoint/2010/main" val="179690283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긴 회의에서 필요한 정정 기록">
            <a:extLst xmlns:a="http://schemas.openxmlformats.org/drawingml/2006/main">
              <a:ext uri="{FF2B5EF4-FFF2-40B4-BE49-F238E27FC236}">
                <a16:creationId xmlns:a16="http://schemas.microsoft.com/office/drawing/2014/main" id="{7011C0AC-6B80-4948-AEE4-4E5BF844606D}"/>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긴 회의에서 필요한 정정 기록</a:t>
            </a:r>
          </a:p>
        </p:txBody>
      </p:sp>
      <p:sp>
        <p:nvSpPr>
          <p:cNvPr id="2" name="“방금 말씀드린 21일은 정정하겠습니다.&#10;제가 20">
            <a:extLst xmlns:a="http://schemas.openxmlformats.org/drawingml/2006/main">
              <a:ext uri="{FF2B5EF4-FFF2-40B4-BE49-F238E27FC236}">
                <a16:creationId xmlns:a16="http://schemas.microsoft.com/office/drawing/2014/main" id="{38BCD846-3216-4B01-B08C-18E8576C6DFB}"/>
              </a:ext>
            </a:extLst>
          </p:cNvPr>
          <p:cNvSpPr>
            <a:spLocks xmlns:a="http://schemas.openxmlformats.org/drawingml/2006/main" noGrp="1"/>
          </p:cNvSpPr>
          <p:nvPr/>
        </p:nvSpPr>
        <p:spPr>
          <a:xfrm xmlns:a="http://schemas.openxmlformats.org/drawingml/2006/main">
            <a:off x="685800" y="1676400"/>
            <a:ext cx="10820400" cy="198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000" b="1">
                <a:solidFill>
                  <a:srgbClr val="6B43C7"/>
                </a:solidFill>
                <a:latin typeface="Malgun Gothic"/>
                <a:ea typeface="Malgun Gothic"/>
                <a:cs typeface="Malgun Gothic"/>
              </a:defRPr>
            </a:pPr>
            <a:r>
              <a:rPr sz="3000" b="1">
                <a:solidFill>
                  <a:srgbClr val="6B43C7"/>
                </a:solidFill>
                <a:latin typeface="Malgun Gothic"/>
                <a:ea typeface="Malgun Gothic"/>
                <a:cs typeface="Malgun Gothic"/>
              </a:rPr>
              <a:t>“방금 말씀드린 21일은 정정하겠습니다.</a:t>
            </a:r>
          </a:p>
          <a:p xmlns:a="http://schemas.openxmlformats.org/drawingml/2006/main">
            <a:pPr algn="l">
              <a:lnSpc>
                <a:spcPct val="116000"/>
              </a:lnSpc>
              <a:buNone/>
              <a:defRPr sz="3000" b="1">
                <a:solidFill>
                  <a:srgbClr val="6B43C7"/>
                </a:solidFill>
                <a:latin typeface="Malgun Gothic"/>
                <a:ea typeface="Malgun Gothic"/>
                <a:cs typeface="Malgun Gothic"/>
              </a:defRPr>
            </a:pPr>
            <a:r>
              <a:rPr sz="3000" b="1">
                <a:solidFill>
                  <a:srgbClr val="6B43C7"/>
                </a:solidFill>
                <a:latin typeface="Malgun Gothic"/>
                <a:ea typeface="Malgun Gothic"/>
                <a:cs typeface="Malgun Gothic"/>
              </a:rPr>
              <a:t>제가 2026-10-20까지 201호 전원과 무선망을 점검하고…”</a:t>
            </a:r>
          </a:p>
        </p:txBody>
      </p:sp>
      <p:sp>
        <p:nvSpPr>
          <p:cNvPr id="3" name="별도 10월 30일 워크숍 / 12번 회의 기록 1">
            <a:extLst xmlns:a="http://schemas.openxmlformats.org/drawingml/2006/main">
              <a:ext uri="{FF2B5EF4-FFF2-40B4-BE49-F238E27FC236}">
                <a16:creationId xmlns:a16="http://schemas.microsoft.com/office/drawing/2014/main" id="{4B1D63DB-D8BF-48D4-9D14-75075EAA4C21}"/>
              </a:ext>
            </a:extLst>
          </p:cNvPr>
          <p:cNvSpPr>
            <a:spLocks xmlns:a="http://schemas.openxmlformats.org/drawingml/2006/main" noGrp="1"/>
          </p:cNvSpPr>
          <p:nvPr/>
        </p:nvSpPr>
        <p:spPr>
          <a:xfrm xmlns:a="http://schemas.openxmlformats.org/drawingml/2006/main">
            <a:off x="685800" y="3952875"/>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75" b="0">
                <a:solidFill>
                  <a:srgbClr val="606170"/>
                </a:solidFill>
                <a:latin typeface="Malgun Gothic"/>
                <a:ea typeface="Malgun Gothic"/>
                <a:cs typeface="Malgun Gothic"/>
              </a:defRPr>
            </a:pPr>
            <a:r>
              <a:rPr sz="1575" b="0">
                <a:solidFill>
                  <a:srgbClr val="606170"/>
                </a:solidFill>
                <a:latin typeface="Malgun Gothic"/>
                <a:ea typeface="Malgun Gothic"/>
                <a:cs typeface="Malgun Gothic"/>
              </a:rPr>
              <a:t>별도 10월 30일 워크숍 / 12번 회의 기록 14:33, 시설담당 발언</a:t>
            </a:r>
          </a:p>
        </p:txBody>
      </p:sp>
      <p:sp>
        <p:nvSpPr>
          <p:cNvPr id="4" name="">
            <a:extLst xmlns:a="http://schemas.openxmlformats.org/drawingml/2006/main">
              <a:ext uri="{FF2B5EF4-FFF2-40B4-BE49-F238E27FC236}">
                <a16:creationId xmlns:a16="http://schemas.microsoft.com/office/drawing/2014/main" id="{0548D886-4E99-49F9-8197-8FAA4B0207EF}"/>
              </a:ext>
            </a:extLst>
          </p:cNvPr>
          <p:cNvSpPr>
            <a:spLocks xmlns:a="http://schemas.openxmlformats.org/drawingml/2006/main" noGrp="1"/>
          </p:cNvSpPr>
          <p:nvPr/>
        </p:nvSpPr>
        <p:spPr>
          <a:xfrm xmlns:a="http://schemas.openxmlformats.org/drawingml/2006/main">
            <a:off x="685800" y="4695825"/>
            <a:ext cx="108204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27000" algn="l">
              <a:spcAft>
                <a:spcPts val="1600"/>
              </a:spcAft>
              <a:buChar char="•"/>
              <a:defRPr sz="2100" b="0">
                <a:solidFill>
                  <a:srgbClr val="20212A"/>
                </a:solidFill>
                <a:latin typeface="Malgun Gothic"/>
                <a:ea typeface="Malgun Gothic"/>
                <a:cs typeface="Malgun Gothic"/>
              </a:defRPr>
            </a:pPr>
            <a:r>
              <a:t>앞선 의견과 최종 정정 발언을 함께 보관</a:t>
            </a:r>
          </a:p>
          <a:p xmlns:a="http://schemas.openxmlformats.org/drawingml/2006/main">
            <a:pPr marL="228600" indent="-127000" algn="l">
              <a:spcAft>
                <a:spcPts val="1600"/>
              </a:spcAft>
              <a:buChar char="•"/>
              <a:defRPr sz="2100" b="0">
                <a:solidFill>
                  <a:srgbClr val="20212A"/>
                </a:solidFill>
                <a:latin typeface="Malgun Gothic"/>
                <a:ea typeface="Malgun Gothic"/>
                <a:cs typeface="Malgun Gothic"/>
              </a:defRPr>
            </a:pPr>
            <a:r>
              <a:t>뒤 날짜 변경 공지를 당시 회의 발언에 소급하지 않음</a:t>
            </a:r>
          </a:p>
        </p:txBody>
      </p:sp>
      <p:sp>
        <p:nvSpPr>
          <p:cNvPr id="5" name="38–40분">
            <a:extLst xmlns:a="http://schemas.openxmlformats.org/drawingml/2006/main">
              <a:ext uri="{FF2B5EF4-FFF2-40B4-BE49-F238E27FC236}">
                <a16:creationId xmlns:a16="http://schemas.microsoft.com/office/drawing/2014/main" id="{1A4ED240-CF32-42F0-8CD2-9B9A72329A01}"/>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38–40분</a:t>
            </a:r>
          </a:p>
        </p:txBody>
      </p:sp>
      <p:sp>
        <p:nvSpPr>
          <p:cNvPr id="6" name="웹 실습 열기">
            <a:extLst xmlns:a="http://schemas.openxmlformats.org/drawingml/2006/main">
              <a:ext uri="{FF2B5EF4-FFF2-40B4-BE49-F238E27FC236}">
                <a16:creationId xmlns:a16="http://schemas.microsoft.com/office/drawing/2014/main" id="{0D1C0AC6-DE15-493C-8E61-825442759EFC}"/>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2f000f24060c4452"/>
              </a:rPr>
              <a:t>웹 실습 열기</a:t>
            </a:r>
          </a:p>
        </p:txBody>
      </p:sp>
      <p:sp>
        <p:nvSpPr>
          <p:cNvPr id="7" name="16">
            <a:extLst xmlns:a="http://schemas.openxmlformats.org/drawingml/2006/main">
              <a:ext uri="{FF2B5EF4-FFF2-40B4-BE49-F238E27FC236}">
                <a16:creationId xmlns:a16="http://schemas.microsoft.com/office/drawing/2014/main" id="{6339FDF6-B5D0-417F-9AA9-3FDC3BF7F7ED}"/>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16</a:t>
            </a:r>
          </a:p>
        </p:txBody>
      </p:sp>
    </p:spTree>
    <p:extLst>
      <p:ext uri="{BB962C8B-B14F-4D97-AF65-F5344CB8AC3E}">
        <p14:creationId xmlns:p14="http://schemas.microsoft.com/office/powerpoint/2010/main" val="120450279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다음 주 업무회의용 인계표">
            <a:extLst xmlns:a="http://schemas.openxmlformats.org/drawingml/2006/main">
              <a:ext uri="{FF2B5EF4-FFF2-40B4-BE49-F238E27FC236}">
                <a16:creationId xmlns:a16="http://schemas.microsoft.com/office/drawing/2014/main" id="{1BC19FDA-26E7-40A5-970E-8A334AFBA3C0}"/>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다음 주 업무회의용 인계표</a:t>
            </a:r>
          </a:p>
        </p:txBody>
      </p:sp>
      <p:sp>
        <p:nvSpPr>
          <p:cNvPr id="2" name="4분">
            <a:extLst xmlns:a="http://schemas.openxmlformats.org/drawingml/2006/main">
              <a:ext uri="{FF2B5EF4-FFF2-40B4-BE49-F238E27FC236}">
                <a16:creationId xmlns:a16="http://schemas.microsoft.com/office/drawing/2014/main" id="{1E67825C-478D-4E68-86B8-EFD6E03A28A5}"/>
              </a:ext>
            </a:extLst>
          </p:cNvPr>
          <p:cNvSpPr>
            <a:spLocks xmlns:a="http://schemas.openxmlformats.org/drawingml/2006/main" noGrp="1"/>
          </p:cNvSpPr>
          <p:nvPr/>
        </p:nvSpPr>
        <p:spPr>
          <a:xfrm xmlns:a="http://schemas.openxmlformats.org/drawingml/2006/main">
            <a:off x="685800" y="1619250"/>
            <a:ext cx="2743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4125" b="1">
                <a:solidFill>
                  <a:srgbClr val="6B43C7"/>
                </a:solidFill>
                <a:latin typeface="Malgun Gothic"/>
                <a:ea typeface="Malgun Gothic"/>
                <a:cs typeface="Malgun Gothic"/>
              </a:defRPr>
            </a:pPr>
            <a:r>
              <a:rPr sz="4125" b="1">
                <a:solidFill>
                  <a:srgbClr val="6B43C7"/>
                </a:solidFill>
                <a:latin typeface="Malgun Gothic"/>
                <a:ea typeface="Malgun Gothic"/>
                <a:cs typeface="Malgun Gothic"/>
              </a:rPr>
              <a:t>4분</a:t>
            </a:r>
          </a:p>
        </p:txBody>
      </p:sp>
      <p:sp>
        <p:nvSpPr>
          <p:cNvPr id="3" name="회의 원문을 새 대화에 넣어 최종 결정과 후속 업무">
            <a:extLst xmlns:a="http://schemas.openxmlformats.org/drawingml/2006/main">
              <a:ext uri="{FF2B5EF4-FFF2-40B4-BE49-F238E27FC236}">
                <a16:creationId xmlns:a16="http://schemas.microsoft.com/office/drawing/2014/main" id="{5807F054-7932-4227-A5BC-D613766BF2A6}"/>
              </a:ext>
            </a:extLst>
          </p:cNvPr>
          <p:cNvSpPr>
            <a:spLocks xmlns:a="http://schemas.openxmlformats.org/drawingml/2006/main" noGrp="1"/>
          </p:cNvSpPr>
          <p:nvPr/>
        </p:nvSpPr>
        <p:spPr>
          <a:xfrm xmlns:a="http://schemas.openxmlformats.org/drawingml/2006/main">
            <a:off x="685800" y="2895600"/>
            <a:ext cx="276225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250" b="1">
                <a:solidFill>
                  <a:srgbClr val="20212A"/>
                </a:solidFill>
                <a:latin typeface="Malgun Gothic"/>
                <a:ea typeface="Malgun Gothic"/>
                <a:cs typeface="Malgun Gothic"/>
              </a:defRPr>
            </a:pPr>
            <a:r>
              <a:rPr sz="2250" b="1">
                <a:solidFill>
                  <a:srgbClr val="20212A"/>
                </a:solidFill>
                <a:latin typeface="Malgun Gothic"/>
                <a:ea typeface="Malgun Gothic"/>
                <a:cs typeface="Malgun Gothic"/>
              </a:rPr>
              <a:t>회의 원문을 새 대화에 넣어 최종 결정과 후속 업무를 정리합니다.</a:t>
            </a:r>
          </a:p>
        </p:txBody>
      </p:sp>
      <p:sp>
        <p:nvSpPr>
          <p:cNvPr id="4" name="">
            <a:extLst xmlns:a="http://schemas.openxmlformats.org/drawingml/2006/main">
              <a:ext uri="{FF2B5EF4-FFF2-40B4-BE49-F238E27FC236}">
                <a16:creationId xmlns:a16="http://schemas.microsoft.com/office/drawing/2014/main" id="{7A44993F-21E0-4270-BA3B-C711D5266956}"/>
              </a:ext>
            </a:extLst>
          </p:cNvPr>
          <p:cNvSpPr>
            <a:spLocks xmlns:a="http://schemas.openxmlformats.org/drawingml/2006/main" noGrp="1"/>
          </p:cNvSpPr>
          <p:nvPr/>
        </p:nvSpPr>
        <p:spPr>
          <a:xfrm xmlns:a="http://schemas.openxmlformats.org/drawingml/2006/main">
            <a:off x="4038600" y="1647825"/>
            <a:ext cx="74676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최종 결정은 주제별로 6개 이내</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보류·미승인·담당 미정은 별도 목록</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업무마다 담당, 마감일, 선행 확인과 발언 시각</a:t>
            </a:r>
          </a:p>
        </p:txBody>
      </p:sp>
      <p:sp>
        <p:nvSpPr>
          <p:cNvPr id="5" name="남길 결과">
            <a:extLst xmlns:a="http://schemas.openxmlformats.org/drawingml/2006/main">
              <a:ext uri="{FF2B5EF4-FFF2-40B4-BE49-F238E27FC236}">
                <a16:creationId xmlns:a16="http://schemas.microsoft.com/office/drawing/2014/main" id="{088AE099-B9A6-4450-84AF-20694DDFC398}"/>
              </a:ext>
            </a:extLst>
          </p:cNvPr>
          <p:cNvSpPr>
            <a:spLocks xmlns:a="http://schemas.openxmlformats.org/drawingml/2006/main" noGrp="1"/>
          </p:cNvSpPr>
          <p:nvPr/>
        </p:nvSpPr>
        <p:spPr>
          <a:xfrm xmlns:a="http://schemas.openxmlformats.org/drawingml/2006/main">
            <a:off x="4038600" y="5029200"/>
            <a:ext cx="7467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1">
                <a:solidFill>
                  <a:srgbClr val="6B43C7"/>
                </a:solidFill>
                <a:latin typeface="Malgun Gothic"/>
                <a:ea typeface="Malgun Gothic"/>
                <a:cs typeface="Malgun Gothic"/>
              </a:defRPr>
            </a:pPr>
            <a:r>
              <a:rPr sz="1725" b="1">
                <a:solidFill>
                  <a:srgbClr val="6B43C7"/>
                </a:solidFill>
                <a:latin typeface="Malgun Gothic"/>
                <a:ea typeface="Malgun Gothic"/>
                <a:cs typeface="Malgun Gothic"/>
              </a:rPr>
              <a:t>남길 결과</a:t>
            </a:r>
          </a:p>
        </p:txBody>
      </p:sp>
      <p:sp>
        <p:nvSpPr>
          <p:cNvPr id="6" name="후속 업무표와 정정 전후 기록">
            <a:extLst xmlns:a="http://schemas.openxmlformats.org/drawingml/2006/main">
              <a:ext uri="{FF2B5EF4-FFF2-40B4-BE49-F238E27FC236}">
                <a16:creationId xmlns:a16="http://schemas.microsoft.com/office/drawing/2014/main" id="{D3021CE4-E08F-413F-8115-DDB3F1EAEC97}"/>
              </a:ext>
            </a:extLst>
          </p:cNvPr>
          <p:cNvSpPr>
            <a:spLocks xmlns:a="http://schemas.openxmlformats.org/drawingml/2006/main" noGrp="1"/>
          </p:cNvSpPr>
          <p:nvPr/>
        </p:nvSpPr>
        <p:spPr>
          <a:xfrm xmlns:a="http://schemas.openxmlformats.org/drawingml/2006/main">
            <a:off x="4038600" y="5429250"/>
            <a:ext cx="7467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100" b="1">
                <a:solidFill>
                  <a:srgbClr val="20212A"/>
                </a:solidFill>
                <a:latin typeface="Malgun Gothic"/>
                <a:ea typeface="Malgun Gothic"/>
                <a:cs typeface="Malgun Gothic"/>
              </a:defRPr>
            </a:pPr>
            <a:r>
              <a:rPr sz="2100" b="1">
                <a:solidFill>
                  <a:srgbClr val="20212A"/>
                </a:solidFill>
                <a:latin typeface="Malgun Gothic"/>
                <a:ea typeface="Malgun Gothic"/>
                <a:cs typeface="Malgun Gothic"/>
              </a:rPr>
              <a:t>후속 업무표와 정정 전후 기록</a:t>
            </a:r>
          </a:p>
        </p:txBody>
      </p:sp>
      <p:sp>
        <p:nvSpPr>
          <p:cNvPr id="7" name="40–44분">
            <a:extLst xmlns:a="http://schemas.openxmlformats.org/drawingml/2006/main">
              <a:ext uri="{FF2B5EF4-FFF2-40B4-BE49-F238E27FC236}">
                <a16:creationId xmlns:a16="http://schemas.microsoft.com/office/drawing/2014/main" id="{7C6D003C-CFDF-482A-B3F0-E61E4B3B6193}"/>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40–44분</a:t>
            </a:r>
          </a:p>
        </p:txBody>
      </p:sp>
      <p:sp>
        <p:nvSpPr>
          <p:cNvPr id="8" name="웹 실습 열기">
            <a:extLst xmlns:a="http://schemas.openxmlformats.org/drawingml/2006/main">
              <a:ext uri="{FF2B5EF4-FFF2-40B4-BE49-F238E27FC236}">
                <a16:creationId xmlns:a16="http://schemas.microsoft.com/office/drawing/2014/main" id="{75FD8017-99A7-4CC9-8DE6-610CC6CADFF2}"/>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7c2216df18004b90"/>
              </a:rPr>
              <a:t>웹 실습 열기</a:t>
            </a:r>
          </a:p>
        </p:txBody>
      </p:sp>
      <p:sp>
        <p:nvSpPr>
          <p:cNvPr id="9" name="17">
            <a:extLst xmlns:a="http://schemas.openxmlformats.org/drawingml/2006/main">
              <a:ext uri="{FF2B5EF4-FFF2-40B4-BE49-F238E27FC236}">
                <a16:creationId xmlns:a16="http://schemas.microsoft.com/office/drawing/2014/main" id="{61B43A91-8A7C-40B2-8527-361A073B63F3}"/>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17</a:t>
            </a:r>
          </a:p>
        </p:txBody>
      </p:sp>
    </p:spTree>
    <p:extLst>
      <p:ext uri="{BB962C8B-B14F-4D97-AF65-F5344CB8AC3E}">
        <p14:creationId xmlns:p14="http://schemas.microsoft.com/office/powerpoint/2010/main" val="81687800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회의 후속 업무 9건">
            <a:extLst xmlns:a="http://schemas.openxmlformats.org/drawingml/2006/main">
              <a:ext uri="{FF2B5EF4-FFF2-40B4-BE49-F238E27FC236}">
                <a16:creationId xmlns:a16="http://schemas.microsoft.com/office/drawing/2014/main" id="{EBE51090-4F9E-4356-A76A-D347B405BBB9}"/>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회의 후속 업무 9건</a:t>
            </a:r>
          </a:p>
        </p:txBody>
      </p:sp>
      <p:graphicFrame>
        <p:nvGraphicFramePr>
          <p:cNvPr id="8" name=""/>
          <p:cNvGraphicFramePr/>
          <p:nvPr/>
        </p:nvGraphicFramePr>
        <p:xfrm>
          <a:off xmlns:a="http://schemas.openxmlformats.org/drawingml/2006/main" x="685800" y="1543050"/>
          <a:ext xmlns:a="http://schemas.openxmlformats.org/drawingml/2006/main" cx="10820400" cy="4476750"/>
        </p:xfrm>
        <a:graphic xmlns:a="http://schemas.openxmlformats.org/drawingml/2006/main">
          <a:graphicData uri="http://schemas.openxmlformats.org/drawingml/2006/table">
            <a:tbl>
              <a:tblPr firstRow="1" bandRow="0"/>
              <a:tblGrid>
                <a:gridCol w="4857750"/>
                <a:gridCol w="1714500"/>
                <a:gridCol w="1809750"/>
                <a:gridCol w="2381250"/>
              </a:tblGrid>
              <a:tr h="447675">
                <a:tc>
                  <a:txBody>
                    <a:bodyPr lIns="114300" tIns="66675" rIns="114300" bIns="57150">
                      <a:noAutofit/>
                    </a:bodyPr>
                    <a:lstStyle/>
                    <a:p>
                      <a:pPr algn="l"/>
                      <a:r>
                        <a:rPr sz="1800" b="1">
                          <a:solidFill>
                            <a:srgbClr val="FFFFFF"/>
                          </a:solidFill>
                          <a:latin typeface="Malgun Gothic"/>
                          <a:ea typeface="Malgun Gothic"/>
                          <a:cs typeface="Malgun Gothic"/>
                        </a:rPr>
                        <a:t>업무</a:t>
                      </a:r>
                    </a:p>
                  </a:txBody>
                  <a:tcPr marL="91440" marR="91440" marT="45720" marB="45720" anchor="ctr">
                    <a:solidFill>
                      <a:srgbClr val="6B43C7"/>
                    </a:solidFill>
                  </a:tcPr>
                </a:tc>
                <a:tc>
                  <a:txBody>
                    <a:bodyPr lIns="114300" tIns="66675" rIns="114300" bIns="57150">
                      <a:noAutofit/>
                    </a:bodyPr>
                    <a:lstStyle/>
                    <a:p>
                      <a:pPr algn="l"/>
                      <a:r>
                        <a:rPr sz="1800" b="1">
                          <a:solidFill>
                            <a:srgbClr val="FFFFFF"/>
                          </a:solidFill>
                          <a:latin typeface="Malgun Gothic"/>
                          <a:ea typeface="Malgun Gothic"/>
                          <a:cs typeface="Malgun Gothic"/>
                        </a:rPr>
                        <a:t>담당</a:t>
                      </a:r>
                    </a:p>
                  </a:txBody>
                  <a:tcPr marL="91440" marR="91440" marT="45720" marB="45720" anchor="ctr">
                    <a:solidFill>
                      <a:srgbClr val="6B43C7"/>
                    </a:solidFill>
                  </a:tcPr>
                </a:tc>
                <a:tc>
                  <a:txBody>
                    <a:bodyPr lIns="114300" tIns="66675" rIns="114300" bIns="57150">
                      <a:noAutofit/>
                    </a:bodyPr>
                    <a:lstStyle/>
                    <a:p>
                      <a:pPr algn="l"/>
                      <a:r>
                        <a:rPr sz="1800" b="1">
                          <a:solidFill>
                            <a:srgbClr val="FFFFFF"/>
                          </a:solidFill>
                          <a:latin typeface="Malgun Gothic"/>
                          <a:ea typeface="Malgun Gothic"/>
                          <a:cs typeface="Malgun Gothic"/>
                        </a:rPr>
                        <a:t>마감</a:t>
                      </a:r>
                    </a:p>
                  </a:txBody>
                  <a:tcPr marL="91440" marR="91440" marT="45720" marB="45720" anchor="ctr">
                    <a:solidFill>
                      <a:srgbClr val="6B43C7"/>
                    </a:solidFill>
                  </a:tcPr>
                </a:tc>
                <a:tc>
                  <a:txBody>
                    <a:bodyPr lIns="114300" tIns="66675" rIns="114300" bIns="57150">
                      <a:noAutofit/>
                    </a:bodyPr>
                    <a:lstStyle/>
                    <a:p>
                      <a:pPr algn="l"/>
                      <a:r>
                        <a:rPr sz="1800" b="1">
                          <a:solidFill>
                            <a:srgbClr val="FFFFFF"/>
                          </a:solidFill>
                          <a:latin typeface="Malgun Gothic"/>
                          <a:ea typeface="Malgun Gothic"/>
                          <a:cs typeface="Malgun Gothic"/>
                        </a:rPr>
                        <a:t>발언</a:t>
                      </a:r>
                    </a:p>
                  </a:txBody>
                  <a:tcPr marL="91440" marR="91440" marT="45720" marB="45720" anchor="ctr">
                    <a:solidFill>
                      <a:srgbClr val="6B43C7"/>
                    </a:solidFill>
                  </a:tcPr>
                </a:tc>
              </a:tr>
              <a:tr h="447675">
                <a:tc>
                  <a:txBody>
                    <a:bodyPr lIns="114300" tIns="66675" rIns="114300" bIns="57150">
                      <a:noAutofit/>
                    </a:bodyPr>
                    <a:lstStyle/>
                    <a:p>
                      <a:pPr algn="l"/>
                      <a:r>
                        <a:rPr sz="1800" b="0">
                          <a:solidFill>
                            <a:srgbClr val="20212A"/>
                          </a:solidFill>
                          <a:latin typeface="Malgun Gothic"/>
                          <a:ea typeface="Malgun Gothic"/>
                          <a:cs typeface="Malgun Gothic"/>
                        </a:rPr>
                        <a:t>참가 안내문 정리</a:t>
                      </a:r>
                    </a:p>
                  </a:txBody>
                  <a:tcPr marL="91440" marR="91440" marT="45720" marB="45720" anchor="ctr">
                    <a:solidFill>
                      <a:srgbClr val="FFFFFF"/>
                    </a:solidFill>
                  </a:tcPr>
                </a:tc>
                <a:tc>
                  <a:txBody>
                    <a:bodyPr lIns="114300" tIns="66675" rIns="114300" bIns="57150">
                      <a:noAutofit/>
                    </a:bodyPr>
                    <a:lstStyle/>
                    <a:p>
                      <a:pPr algn="l"/>
                      <a:r>
                        <a:rPr sz="1800" b="0">
                          <a:solidFill>
                            <a:srgbClr val="20212A"/>
                          </a:solidFill>
                          <a:latin typeface="Malgun Gothic"/>
                          <a:ea typeface="Malgun Gothic"/>
                          <a:cs typeface="Malgun Gothic"/>
                        </a:rPr>
                        <a:t>운영</a:t>
                      </a:r>
                    </a:p>
                  </a:txBody>
                  <a:tcPr marL="91440" marR="91440" marT="45720" marB="45720" anchor="ctr">
                    <a:solidFill>
                      <a:srgbClr val="FFFFFF"/>
                    </a:solidFill>
                  </a:tcPr>
                </a:tc>
                <a:tc>
                  <a:txBody>
                    <a:bodyPr lIns="114300" tIns="66675" rIns="114300" bIns="57150">
                      <a:noAutofit/>
                    </a:bodyPr>
                    <a:lstStyle/>
                    <a:p>
                      <a:pPr algn="l"/>
                      <a:r>
                        <a:rPr sz="1800" b="0">
                          <a:solidFill>
                            <a:srgbClr val="20212A"/>
                          </a:solidFill>
                          <a:latin typeface="Malgun Gothic"/>
                          <a:ea typeface="Malgun Gothic"/>
                          <a:cs typeface="Malgun Gothic"/>
                        </a:rPr>
                        <a:t>10/19</a:t>
                      </a:r>
                    </a:p>
                  </a:txBody>
                  <a:tcPr marL="91440" marR="91440" marT="45720" marB="45720" anchor="ctr">
                    <a:solidFill>
                      <a:srgbClr val="FFFFFF"/>
                    </a:solidFill>
                  </a:tcPr>
                </a:tc>
                <a:tc>
                  <a:txBody>
                    <a:bodyPr lIns="114300" tIns="66675" rIns="114300" bIns="57150">
                      <a:noAutofit/>
                    </a:bodyPr>
                    <a:lstStyle/>
                    <a:p>
                      <a:pPr algn="l"/>
                      <a:r>
                        <a:rPr sz="1800" b="0">
                          <a:solidFill>
                            <a:srgbClr val="20212A"/>
                          </a:solidFill>
                          <a:latin typeface="Malgun Gothic"/>
                          <a:ea typeface="Malgun Gothic"/>
                          <a:cs typeface="Malgun Gothic"/>
                        </a:rPr>
                        <a:t>14:37</a:t>
                      </a:r>
                    </a:p>
                  </a:txBody>
                  <a:tcPr marL="91440" marR="91440" marT="45720" marB="45720" anchor="ctr">
                    <a:solidFill>
                      <a:srgbClr val="FFFFFF"/>
                    </a:solidFill>
                  </a:tcPr>
                </a:tc>
              </a:tr>
              <a:tr h="447675">
                <a:tc>
                  <a:txBody>
                    <a:bodyPr lIns="114300" tIns="66675" rIns="114300" bIns="57150">
                      <a:noAutofit/>
                    </a:bodyPr>
                    <a:lstStyle/>
                    <a:p>
                      <a:pPr algn="l"/>
                      <a:r>
                        <a:rPr sz="1800" b="0">
                          <a:solidFill>
                            <a:srgbClr val="20212A"/>
                          </a:solidFill>
                          <a:latin typeface="Malgun Gothic"/>
                          <a:ea typeface="Malgun Gothic"/>
                          <a:cs typeface="Malgun Gothic"/>
                        </a:rPr>
                        <a:t>가상 실습 자료 완성</a:t>
                      </a:r>
                    </a:p>
                  </a:txBody>
                  <a:tcPr marL="91440" marR="91440" marT="45720" marB="45720" anchor="ctr">
                    <a:solidFill>
                      <a:srgbClr val="F5F2FC"/>
                    </a:solidFill>
                  </a:tcPr>
                </a:tc>
                <a:tc>
                  <a:txBody>
                    <a:bodyPr lIns="114300" tIns="66675" rIns="114300" bIns="57150">
                      <a:noAutofit/>
                    </a:bodyPr>
                    <a:lstStyle/>
                    <a:p>
                      <a:pPr algn="l"/>
                      <a:r>
                        <a:rPr sz="1800" b="0">
                          <a:solidFill>
                            <a:srgbClr val="20212A"/>
                          </a:solidFill>
                          <a:latin typeface="Malgun Gothic"/>
                          <a:ea typeface="Malgun Gothic"/>
                          <a:cs typeface="Malgun Gothic"/>
                        </a:rPr>
                        <a:t>교육</a:t>
                      </a:r>
                    </a:p>
                  </a:txBody>
                  <a:tcPr marL="91440" marR="91440" marT="45720" marB="45720" anchor="ctr">
                    <a:solidFill>
                      <a:srgbClr val="F5F2FC"/>
                    </a:solidFill>
                  </a:tcPr>
                </a:tc>
                <a:tc>
                  <a:txBody>
                    <a:bodyPr lIns="114300" tIns="66675" rIns="114300" bIns="57150">
                      <a:noAutofit/>
                    </a:bodyPr>
                    <a:lstStyle/>
                    <a:p>
                      <a:pPr algn="l"/>
                      <a:r>
                        <a:rPr sz="1800" b="0">
                          <a:solidFill>
                            <a:srgbClr val="20212A"/>
                          </a:solidFill>
                          <a:latin typeface="Malgun Gothic"/>
                          <a:ea typeface="Malgun Gothic"/>
                          <a:cs typeface="Malgun Gothic"/>
                        </a:rPr>
                        <a:t>10/21</a:t>
                      </a:r>
                    </a:p>
                  </a:txBody>
                  <a:tcPr marL="91440" marR="91440" marT="45720" marB="45720" anchor="ctr">
                    <a:solidFill>
                      <a:srgbClr val="F5F2FC"/>
                    </a:solidFill>
                  </a:tcPr>
                </a:tc>
                <a:tc>
                  <a:txBody>
                    <a:bodyPr lIns="114300" tIns="66675" rIns="114300" bIns="57150">
                      <a:noAutofit/>
                    </a:bodyPr>
                    <a:lstStyle/>
                    <a:p>
                      <a:pPr algn="l"/>
                      <a:r>
                        <a:rPr sz="1800" b="0">
                          <a:solidFill>
                            <a:srgbClr val="20212A"/>
                          </a:solidFill>
                          <a:latin typeface="Malgun Gothic"/>
                          <a:ea typeface="Malgun Gothic"/>
                          <a:cs typeface="Malgun Gothic"/>
                        </a:rPr>
                        <a:t>14:20</a:t>
                      </a:r>
                    </a:p>
                  </a:txBody>
                  <a:tcPr marL="91440" marR="91440" marT="45720" marB="45720" anchor="ctr">
                    <a:solidFill>
                      <a:srgbClr val="F5F2FC"/>
                    </a:solidFill>
                  </a:tcPr>
                </a:tc>
              </a:tr>
              <a:tr h="447675">
                <a:tc>
                  <a:txBody>
                    <a:bodyPr lIns="114300" tIns="66675" rIns="114300" bIns="57150">
                      <a:noAutofit/>
                    </a:bodyPr>
                    <a:lstStyle/>
                    <a:p>
                      <a:pPr algn="l"/>
                      <a:r>
                        <a:rPr sz="1800" b="0">
                          <a:solidFill>
                            <a:srgbClr val="20212A"/>
                          </a:solidFill>
                          <a:latin typeface="Malgun Gothic"/>
                          <a:ea typeface="Malgun Gothic"/>
                          <a:cs typeface="Malgun Gothic"/>
                        </a:rPr>
                        <a:t>수정 예산표 공유</a:t>
                      </a:r>
                    </a:p>
                  </a:txBody>
                  <a:tcPr marL="91440" marR="91440" marT="45720" marB="45720" anchor="ctr">
                    <a:solidFill>
                      <a:srgbClr val="FFFFFF"/>
                    </a:solidFill>
                  </a:tcPr>
                </a:tc>
                <a:tc>
                  <a:txBody>
                    <a:bodyPr lIns="114300" tIns="66675" rIns="114300" bIns="57150">
                      <a:noAutofit/>
                    </a:bodyPr>
                    <a:lstStyle/>
                    <a:p>
                      <a:pPr algn="l"/>
                      <a:r>
                        <a:rPr sz="1800" b="0">
                          <a:solidFill>
                            <a:srgbClr val="20212A"/>
                          </a:solidFill>
                          <a:latin typeface="Malgun Gothic"/>
                          <a:ea typeface="Malgun Gothic"/>
                          <a:cs typeface="Malgun Gothic"/>
                        </a:rPr>
                        <a:t>행정</a:t>
                      </a:r>
                    </a:p>
                  </a:txBody>
                  <a:tcPr marL="91440" marR="91440" marT="45720" marB="45720" anchor="ctr">
                    <a:solidFill>
                      <a:srgbClr val="FFFFFF"/>
                    </a:solidFill>
                  </a:tcPr>
                </a:tc>
                <a:tc>
                  <a:txBody>
                    <a:bodyPr lIns="114300" tIns="66675" rIns="114300" bIns="57150">
                      <a:noAutofit/>
                    </a:bodyPr>
                    <a:lstStyle/>
                    <a:p>
                      <a:pPr algn="l"/>
                      <a:r>
                        <a:rPr sz="1800" b="0">
                          <a:solidFill>
                            <a:srgbClr val="20212A"/>
                          </a:solidFill>
                          <a:latin typeface="Malgun Gothic"/>
                          <a:ea typeface="Malgun Gothic"/>
                          <a:cs typeface="Malgun Gothic"/>
                        </a:rPr>
                        <a:t>10/23</a:t>
                      </a:r>
                    </a:p>
                  </a:txBody>
                  <a:tcPr marL="91440" marR="91440" marT="45720" marB="45720" anchor="ctr">
                    <a:solidFill>
                      <a:srgbClr val="FFFFFF"/>
                    </a:solidFill>
                  </a:tcPr>
                </a:tc>
                <a:tc>
                  <a:txBody>
                    <a:bodyPr lIns="114300" tIns="66675" rIns="114300" bIns="57150">
                      <a:noAutofit/>
                    </a:bodyPr>
                    <a:lstStyle/>
                    <a:p>
                      <a:pPr algn="l"/>
                      <a:r>
                        <a:rPr sz="1800" b="0">
                          <a:solidFill>
                            <a:srgbClr val="20212A"/>
                          </a:solidFill>
                          <a:latin typeface="Malgun Gothic"/>
                          <a:ea typeface="Malgun Gothic"/>
                          <a:cs typeface="Malgun Gothic"/>
                        </a:rPr>
                        <a:t>14:29</a:t>
                      </a:r>
                    </a:p>
                  </a:txBody>
                  <a:tcPr marL="91440" marR="91440" marT="45720" marB="45720" anchor="ctr">
                    <a:solidFill>
                      <a:srgbClr val="FFFFFF"/>
                    </a:solidFill>
                  </a:tcPr>
                </a:tc>
              </a:tr>
              <a:tr h="447675">
                <a:tc>
                  <a:txBody>
                    <a:bodyPr lIns="114300" tIns="66675" rIns="114300" bIns="57150">
                      <a:noAutofit/>
                    </a:bodyPr>
                    <a:lstStyle/>
                    <a:p>
                      <a:pPr algn="l"/>
                      <a:r>
                        <a:rPr sz="1800" b="0">
                          <a:solidFill>
                            <a:srgbClr val="20212A"/>
                          </a:solidFill>
                          <a:latin typeface="Malgun Gothic"/>
                          <a:ea typeface="Malgun Gothic"/>
                          <a:cs typeface="Malgun Gothic"/>
                        </a:rPr>
                        <a:t>201호 전원·무선망 점검</a:t>
                      </a:r>
                    </a:p>
                  </a:txBody>
                  <a:tcPr marL="91440" marR="91440" marT="45720" marB="45720" anchor="ctr">
                    <a:solidFill>
                      <a:srgbClr val="F5F2FC"/>
                    </a:solidFill>
                  </a:tcPr>
                </a:tc>
                <a:tc>
                  <a:txBody>
                    <a:bodyPr lIns="114300" tIns="66675" rIns="114300" bIns="57150">
                      <a:noAutofit/>
                    </a:bodyPr>
                    <a:lstStyle/>
                    <a:p>
                      <a:pPr algn="l"/>
                      <a:r>
                        <a:rPr sz="1800" b="0">
                          <a:solidFill>
                            <a:srgbClr val="20212A"/>
                          </a:solidFill>
                          <a:latin typeface="Malgun Gothic"/>
                          <a:ea typeface="Malgun Gothic"/>
                          <a:cs typeface="Malgun Gothic"/>
                        </a:rPr>
                        <a:t>시설</a:t>
                      </a:r>
                    </a:p>
                  </a:txBody>
                  <a:tcPr marL="91440" marR="91440" marT="45720" marB="45720" anchor="ctr">
                    <a:solidFill>
                      <a:srgbClr val="F5F2FC"/>
                    </a:solidFill>
                  </a:tcPr>
                </a:tc>
                <a:tc>
                  <a:txBody>
                    <a:bodyPr lIns="114300" tIns="66675" rIns="114300" bIns="57150">
                      <a:noAutofit/>
                    </a:bodyPr>
                    <a:lstStyle/>
                    <a:p>
                      <a:pPr algn="l"/>
                      <a:r>
                        <a:rPr sz="1800" b="0">
                          <a:solidFill>
                            <a:srgbClr val="20212A"/>
                          </a:solidFill>
                          <a:latin typeface="Malgun Gothic"/>
                          <a:ea typeface="Malgun Gothic"/>
                          <a:cs typeface="Malgun Gothic"/>
                        </a:rPr>
                        <a:t>10/20</a:t>
                      </a:r>
                    </a:p>
                  </a:txBody>
                  <a:tcPr marL="91440" marR="91440" marT="45720" marB="45720" anchor="ctr">
                    <a:solidFill>
                      <a:srgbClr val="F5F2FC"/>
                    </a:solidFill>
                  </a:tcPr>
                </a:tc>
                <a:tc>
                  <a:txBody>
                    <a:bodyPr lIns="114300" tIns="66675" rIns="114300" bIns="57150">
                      <a:noAutofit/>
                    </a:bodyPr>
                    <a:lstStyle/>
                    <a:p>
                      <a:pPr algn="l"/>
                      <a:r>
                        <a:rPr sz="1800" b="0">
                          <a:solidFill>
                            <a:srgbClr val="20212A"/>
                          </a:solidFill>
                          <a:latin typeface="Malgun Gothic"/>
                          <a:ea typeface="Malgun Gothic"/>
                          <a:cs typeface="Malgun Gothic"/>
                        </a:rPr>
                        <a:t>14:33</a:t>
                      </a:r>
                    </a:p>
                  </a:txBody>
                  <a:tcPr marL="91440" marR="91440" marT="45720" marB="45720" anchor="ctr">
                    <a:solidFill>
                      <a:srgbClr val="F5F2FC"/>
                    </a:solidFill>
                  </a:tcPr>
                </a:tc>
              </a:tr>
              <a:tr h="447675">
                <a:tc>
                  <a:txBody>
                    <a:bodyPr lIns="114300" tIns="66675" rIns="114300" bIns="57150">
                      <a:noAutofit/>
                    </a:bodyPr>
                    <a:lstStyle/>
                    <a:p>
                      <a:pPr algn="l"/>
                      <a:r>
                        <a:rPr sz="1800" b="0">
                          <a:solidFill>
                            <a:srgbClr val="20212A"/>
                          </a:solidFill>
                          <a:latin typeface="Malgun Gothic"/>
                          <a:ea typeface="Malgun Gothic"/>
                          <a:cs typeface="Malgun Gothic"/>
                        </a:rPr>
                        <a:t>로그인·사용량 안내 작성</a:t>
                      </a:r>
                    </a:p>
                  </a:txBody>
                  <a:tcPr marL="91440" marR="91440" marT="45720" marB="45720" anchor="ctr">
                    <a:solidFill>
                      <a:srgbClr val="FFFFFF"/>
                    </a:solidFill>
                  </a:tcPr>
                </a:tc>
                <a:tc>
                  <a:txBody>
                    <a:bodyPr lIns="114300" tIns="66675" rIns="114300" bIns="57150">
                      <a:noAutofit/>
                    </a:bodyPr>
                    <a:lstStyle/>
                    <a:p>
                      <a:pPr algn="l"/>
                      <a:r>
                        <a:rPr sz="1800" b="0">
                          <a:solidFill>
                            <a:srgbClr val="20212A"/>
                          </a:solidFill>
                          <a:latin typeface="Malgun Gothic"/>
                          <a:ea typeface="Malgun Gothic"/>
                          <a:cs typeface="Malgun Gothic"/>
                        </a:rPr>
                        <a:t>교육</a:t>
                      </a:r>
                    </a:p>
                  </a:txBody>
                  <a:tcPr marL="91440" marR="91440" marT="45720" marB="45720" anchor="ctr">
                    <a:solidFill>
                      <a:srgbClr val="FFFFFF"/>
                    </a:solidFill>
                  </a:tcPr>
                </a:tc>
                <a:tc>
                  <a:txBody>
                    <a:bodyPr lIns="114300" tIns="66675" rIns="114300" bIns="57150">
                      <a:noAutofit/>
                    </a:bodyPr>
                    <a:lstStyle/>
                    <a:p>
                      <a:pPr algn="l"/>
                      <a:r>
                        <a:rPr sz="1800" b="0">
                          <a:solidFill>
                            <a:srgbClr val="20212A"/>
                          </a:solidFill>
                          <a:latin typeface="Malgun Gothic"/>
                          <a:ea typeface="Malgun Gothic"/>
                          <a:cs typeface="Malgun Gothic"/>
                        </a:rPr>
                        <a:t>10/22</a:t>
                      </a:r>
                    </a:p>
                  </a:txBody>
                  <a:tcPr marL="91440" marR="91440" marT="45720" marB="45720" anchor="ctr">
                    <a:solidFill>
                      <a:srgbClr val="FFFFFF"/>
                    </a:solidFill>
                  </a:tcPr>
                </a:tc>
                <a:tc>
                  <a:txBody>
                    <a:bodyPr lIns="114300" tIns="66675" rIns="114300" bIns="57150">
                      <a:noAutofit/>
                    </a:bodyPr>
                    <a:lstStyle/>
                    <a:p>
                      <a:pPr algn="l"/>
                      <a:r>
                        <a:rPr sz="1800" b="0">
                          <a:solidFill>
                            <a:srgbClr val="20212A"/>
                          </a:solidFill>
                          <a:latin typeface="Malgun Gothic"/>
                          <a:ea typeface="Malgun Gothic"/>
                          <a:cs typeface="Malgun Gothic"/>
                        </a:rPr>
                        <a:t>14:41</a:t>
                      </a:r>
                    </a:p>
                  </a:txBody>
                  <a:tcPr marL="91440" marR="91440" marT="45720" marB="45720" anchor="ctr">
                    <a:solidFill>
                      <a:srgbClr val="FFFFFF"/>
                    </a:solidFill>
                  </a:tcPr>
                </a:tc>
              </a:tr>
              <a:tr h="447675">
                <a:tc>
                  <a:txBody>
                    <a:bodyPr lIns="114300" tIns="66675" rIns="114300" bIns="57150">
                      <a:noAutofit/>
                    </a:bodyPr>
                    <a:lstStyle/>
                    <a:p>
                      <a:pPr algn="l"/>
                      <a:r>
                        <a:rPr sz="1800" b="0">
                          <a:solidFill>
                            <a:srgbClr val="20212A"/>
                          </a:solidFill>
                          <a:latin typeface="Malgun Gothic"/>
                          <a:ea typeface="Malgun Gothic"/>
                          <a:cs typeface="Malgun Gothic"/>
                        </a:rPr>
                        <a:t>캡처·오프라인 자료 확인</a:t>
                      </a:r>
                    </a:p>
                  </a:txBody>
                  <a:tcPr marL="91440" marR="91440" marT="45720" marB="45720" anchor="ctr">
                    <a:solidFill>
                      <a:srgbClr val="F5F2FC"/>
                    </a:solidFill>
                  </a:tcPr>
                </a:tc>
                <a:tc>
                  <a:txBody>
                    <a:bodyPr lIns="114300" tIns="66675" rIns="114300" bIns="57150">
                      <a:noAutofit/>
                    </a:bodyPr>
                    <a:lstStyle/>
                    <a:p>
                      <a:pPr algn="l"/>
                      <a:r>
                        <a:rPr sz="1800" b="0">
                          <a:solidFill>
                            <a:srgbClr val="20212A"/>
                          </a:solidFill>
                          <a:latin typeface="Malgun Gothic"/>
                          <a:ea typeface="Malgun Gothic"/>
                          <a:cs typeface="Malgun Gothic"/>
                        </a:rPr>
                        <a:t>보조진행</a:t>
                      </a:r>
                    </a:p>
                  </a:txBody>
                  <a:tcPr marL="91440" marR="91440" marT="45720" marB="45720" anchor="ctr">
                    <a:solidFill>
                      <a:srgbClr val="F5F2FC"/>
                    </a:solidFill>
                  </a:tcPr>
                </a:tc>
                <a:tc>
                  <a:txBody>
                    <a:bodyPr lIns="114300" tIns="66675" rIns="114300" bIns="57150">
                      <a:noAutofit/>
                    </a:bodyPr>
                    <a:lstStyle/>
                    <a:p>
                      <a:pPr algn="l"/>
                      <a:r>
                        <a:rPr sz="1800" b="0">
                          <a:solidFill>
                            <a:srgbClr val="20212A"/>
                          </a:solidFill>
                          <a:latin typeface="Malgun Gothic"/>
                          <a:ea typeface="Malgun Gothic"/>
                          <a:cs typeface="Malgun Gothic"/>
                        </a:rPr>
                        <a:t>10/27</a:t>
                      </a:r>
                    </a:p>
                  </a:txBody>
                  <a:tcPr marL="91440" marR="91440" marT="45720" marB="45720" anchor="ctr">
                    <a:solidFill>
                      <a:srgbClr val="F5F2FC"/>
                    </a:solidFill>
                  </a:tcPr>
                </a:tc>
                <a:tc>
                  <a:txBody>
                    <a:bodyPr lIns="114300" tIns="66675" rIns="114300" bIns="57150">
                      <a:noAutofit/>
                    </a:bodyPr>
                    <a:lstStyle/>
                    <a:p>
                      <a:pPr algn="l"/>
                      <a:r>
                        <a:rPr sz="1800" b="0">
                          <a:solidFill>
                            <a:srgbClr val="20212A"/>
                          </a:solidFill>
                          <a:latin typeface="Malgun Gothic"/>
                          <a:ea typeface="Malgun Gothic"/>
                          <a:cs typeface="Malgun Gothic"/>
                        </a:rPr>
                        <a:t>14:49</a:t>
                      </a:r>
                    </a:p>
                  </a:txBody>
                  <a:tcPr marL="91440" marR="91440" marT="45720" marB="45720" anchor="ctr">
                    <a:solidFill>
                      <a:srgbClr val="F5F2FC"/>
                    </a:solidFill>
                  </a:tcPr>
                </a:tc>
              </a:tr>
              <a:tr h="447675">
                <a:tc>
                  <a:txBody>
                    <a:bodyPr lIns="114300" tIns="66675" rIns="114300" bIns="57150">
                      <a:noAutofit/>
                    </a:bodyPr>
                    <a:lstStyle/>
                    <a:p>
                      <a:pPr algn="l"/>
                      <a:r>
                        <a:rPr sz="1800" b="0">
                          <a:solidFill>
                            <a:srgbClr val="20212A"/>
                          </a:solidFill>
                          <a:latin typeface="Malgun Gothic"/>
                          <a:ea typeface="Malgun Gothic"/>
                          <a:cs typeface="Malgun Gothic"/>
                        </a:rPr>
                        <a:t>최종 명단·대기 순서 정리</a:t>
                      </a:r>
                    </a:p>
                  </a:txBody>
                  <a:tcPr marL="91440" marR="91440" marT="45720" marB="45720" anchor="ctr">
                    <a:solidFill>
                      <a:srgbClr val="FFFFFF"/>
                    </a:solidFill>
                  </a:tcPr>
                </a:tc>
                <a:tc>
                  <a:txBody>
                    <a:bodyPr lIns="114300" tIns="66675" rIns="114300" bIns="57150">
                      <a:noAutofit/>
                    </a:bodyPr>
                    <a:lstStyle/>
                    <a:p>
                      <a:pPr algn="l"/>
                      <a:r>
                        <a:rPr sz="1800" b="0">
                          <a:solidFill>
                            <a:srgbClr val="20212A"/>
                          </a:solidFill>
                          <a:latin typeface="Malgun Gothic"/>
                          <a:ea typeface="Malgun Gothic"/>
                          <a:cs typeface="Malgun Gothic"/>
                        </a:rPr>
                        <a:t>운영</a:t>
                      </a:r>
                    </a:p>
                  </a:txBody>
                  <a:tcPr marL="91440" marR="91440" marT="45720" marB="45720" anchor="ctr">
                    <a:solidFill>
                      <a:srgbClr val="FFFFFF"/>
                    </a:solidFill>
                  </a:tcPr>
                </a:tc>
                <a:tc>
                  <a:txBody>
                    <a:bodyPr lIns="114300" tIns="66675" rIns="114300" bIns="57150">
                      <a:noAutofit/>
                    </a:bodyPr>
                    <a:lstStyle/>
                    <a:p>
                      <a:pPr algn="l"/>
                      <a:r>
                        <a:rPr sz="1800" b="0">
                          <a:solidFill>
                            <a:srgbClr val="20212A"/>
                          </a:solidFill>
                          <a:latin typeface="Malgun Gothic"/>
                          <a:ea typeface="Malgun Gothic"/>
                          <a:cs typeface="Malgun Gothic"/>
                        </a:rPr>
                        <a:t>10/26</a:t>
                      </a:r>
                    </a:p>
                  </a:txBody>
                  <a:tcPr marL="91440" marR="91440" marT="45720" marB="45720" anchor="ctr">
                    <a:solidFill>
                      <a:srgbClr val="FFFFFF"/>
                    </a:solidFill>
                  </a:tcPr>
                </a:tc>
                <a:tc>
                  <a:txBody>
                    <a:bodyPr lIns="114300" tIns="66675" rIns="114300" bIns="57150">
                      <a:noAutofit/>
                    </a:bodyPr>
                    <a:lstStyle/>
                    <a:p>
                      <a:pPr algn="l"/>
                      <a:r>
                        <a:rPr sz="1800" b="0">
                          <a:solidFill>
                            <a:srgbClr val="20212A"/>
                          </a:solidFill>
                          <a:latin typeface="Malgun Gothic"/>
                          <a:ea typeface="Malgun Gothic"/>
                          <a:cs typeface="Malgun Gothic"/>
                        </a:rPr>
                        <a:t>14:53</a:t>
                      </a:r>
                    </a:p>
                  </a:txBody>
                  <a:tcPr marL="91440" marR="91440" marT="45720" marB="45720" anchor="ctr">
                    <a:solidFill>
                      <a:srgbClr val="FFFFFF"/>
                    </a:solidFill>
                  </a:tcPr>
                </a:tc>
              </a:tr>
              <a:tr h="447675">
                <a:tc>
                  <a:txBody>
                    <a:bodyPr lIns="114300" tIns="66675" rIns="114300" bIns="57150">
                      <a:noAutofit/>
                    </a:bodyPr>
                    <a:lstStyle/>
                    <a:p>
                      <a:pPr algn="l"/>
                      <a:r>
                        <a:rPr sz="1800" b="0">
                          <a:solidFill>
                            <a:srgbClr val="20212A"/>
                          </a:solidFill>
                          <a:latin typeface="Malgun Gothic"/>
                          <a:ea typeface="Malgun Gothic"/>
                          <a:cs typeface="Malgun Gothic"/>
                        </a:rPr>
                        <a:t>대여 장비 예약 확인</a:t>
                      </a:r>
                    </a:p>
                  </a:txBody>
                  <a:tcPr marL="91440" marR="91440" marT="45720" marB="45720" anchor="ctr">
                    <a:solidFill>
                      <a:srgbClr val="F5F2FC"/>
                    </a:solidFill>
                  </a:tcPr>
                </a:tc>
                <a:tc>
                  <a:txBody>
                    <a:bodyPr lIns="114300" tIns="66675" rIns="114300" bIns="57150">
                      <a:noAutofit/>
                    </a:bodyPr>
                    <a:lstStyle/>
                    <a:p>
                      <a:pPr algn="l"/>
                      <a:r>
                        <a:rPr sz="1800" b="0">
                          <a:solidFill>
                            <a:srgbClr val="20212A"/>
                          </a:solidFill>
                          <a:latin typeface="Malgun Gothic"/>
                          <a:ea typeface="Malgun Gothic"/>
                          <a:cs typeface="Malgun Gothic"/>
                        </a:rPr>
                        <a:t>행정</a:t>
                      </a:r>
                    </a:p>
                  </a:txBody>
                  <a:tcPr marL="91440" marR="91440" marT="45720" marB="45720" anchor="ctr">
                    <a:solidFill>
                      <a:srgbClr val="F5F2FC"/>
                    </a:solidFill>
                  </a:tcPr>
                </a:tc>
                <a:tc>
                  <a:txBody>
                    <a:bodyPr lIns="114300" tIns="66675" rIns="114300" bIns="57150">
                      <a:noAutofit/>
                    </a:bodyPr>
                    <a:lstStyle/>
                    <a:p>
                      <a:pPr algn="l"/>
                      <a:r>
                        <a:rPr sz="1800" b="0">
                          <a:solidFill>
                            <a:srgbClr val="20212A"/>
                          </a:solidFill>
                          <a:latin typeface="Malgun Gothic"/>
                          <a:ea typeface="Malgun Gothic"/>
                          <a:cs typeface="Malgun Gothic"/>
                        </a:rPr>
                        <a:t>10/23</a:t>
                      </a:r>
                    </a:p>
                  </a:txBody>
                  <a:tcPr marL="91440" marR="91440" marT="45720" marB="45720" anchor="ctr">
                    <a:solidFill>
                      <a:srgbClr val="F5F2FC"/>
                    </a:solidFill>
                  </a:tcPr>
                </a:tc>
                <a:tc>
                  <a:txBody>
                    <a:bodyPr lIns="114300" tIns="66675" rIns="114300" bIns="57150">
                      <a:noAutofit/>
                    </a:bodyPr>
                    <a:lstStyle/>
                    <a:p>
                      <a:pPr algn="l"/>
                      <a:r>
                        <a:rPr sz="1800" b="0">
                          <a:solidFill>
                            <a:srgbClr val="20212A"/>
                          </a:solidFill>
                          <a:latin typeface="Malgun Gothic"/>
                          <a:ea typeface="Malgun Gothic"/>
                          <a:cs typeface="Malgun Gothic"/>
                        </a:rPr>
                        <a:t>14:57</a:t>
                      </a:r>
                    </a:p>
                  </a:txBody>
                  <a:tcPr marL="91440" marR="91440" marT="45720" marB="45720" anchor="ctr">
                    <a:solidFill>
                      <a:srgbClr val="F5F2FC"/>
                    </a:solidFill>
                  </a:tcPr>
                </a:tc>
              </a:tr>
              <a:tr h="447675">
                <a:tc>
                  <a:txBody>
                    <a:bodyPr lIns="114300" tIns="66675" rIns="114300" bIns="57150">
                      <a:noAutofit/>
                    </a:bodyPr>
                    <a:lstStyle/>
                    <a:p>
                      <a:pPr algn="l"/>
                      <a:r>
                        <a:rPr sz="1800" b="0">
                          <a:solidFill>
                            <a:srgbClr val="20212A"/>
                          </a:solidFill>
                          <a:latin typeface="Malgun Gothic"/>
                          <a:ea typeface="Malgun Gothic"/>
                          <a:cs typeface="Malgun Gothic"/>
                        </a:rPr>
                        <a:t>설문 초안 작성</a:t>
                      </a:r>
                    </a:p>
                  </a:txBody>
                  <a:tcPr marL="91440" marR="91440" marT="45720" marB="45720" anchor="ctr">
                    <a:solidFill>
                      <a:srgbClr val="FFFFFF"/>
                    </a:solidFill>
                  </a:tcPr>
                </a:tc>
                <a:tc>
                  <a:txBody>
                    <a:bodyPr lIns="114300" tIns="66675" rIns="114300" bIns="57150">
                      <a:noAutofit/>
                    </a:bodyPr>
                    <a:lstStyle/>
                    <a:p>
                      <a:pPr algn="l"/>
                      <a:r>
                        <a:rPr sz="1800" b="0">
                          <a:solidFill>
                            <a:srgbClr val="20212A"/>
                          </a:solidFill>
                          <a:latin typeface="Malgun Gothic"/>
                          <a:ea typeface="Malgun Gothic"/>
                          <a:cs typeface="Malgun Gothic"/>
                        </a:rPr>
                        <a:t>교육</a:t>
                      </a:r>
                    </a:p>
                  </a:txBody>
                  <a:tcPr marL="91440" marR="91440" marT="45720" marB="45720" anchor="ctr">
                    <a:solidFill>
                      <a:srgbClr val="FFFFFF"/>
                    </a:solidFill>
                  </a:tcPr>
                </a:tc>
                <a:tc>
                  <a:txBody>
                    <a:bodyPr lIns="114300" tIns="66675" rIns="114300" bIns="57150">
                      <a:noAutofit/>
                    </a:bodyPr>
                    <a:lstStyle/>
                    <a:p>
                      <a:pPr algn="l"/>
                      <a:r>
                        <a:rPr sz="1800" b="0">
                          <a:solidFill>
                            <a:srgbClr val="20212A"/>
                          </a:solidFill>
                          <a:latin typeface="Malgun Gothic"/>
                          <a:ea typeface="Malgun Gothic"/>
                          <a:cs typeface="Malgun Gothic"/>
                        </a:rPr>
                        <a:t>10/26</a:t>
                      </a:r>
                    </a:p>
                  </a:txBody>
                  <a:tcPr marL="91440" marR="91440" marT="45720" marB="45720" anchor="ctr">
                    <a:solidFill>
                      <a:srgbClr val="FFFFFF"/>
                    </a:solidFill>
                  </a:tcPr>
                </a:tc>
                <a:tc>
                  <a:txBody>
                    <a:bodyPr lIns="114300" tIns="66675" rIns="114300" bIns="57150">
                      <a:noAutofit/>
                    </a:bodyPr>
                    <a:lstStyle/>
                    <a:p>
                      <a:pPr algn="l"/>
                      <a:r>
                        <a:rPr sz="1800" b="0">
                          <a:solidFill>
                            <a:srgbClr val="20212A"/>
                          </a:solidFill>
                          <a:latin typeface="Malgun Gothic"/>
                          <a:ea typeface="Malgun Gothic"/>
                          <a:cs typeface="Malgun Gothic"/>
                        </a:rPr>
                        <a:t>15:11</a:t>
                      </a:r>
                    </a:p>
                  </a:txBody>
                  <a:tcPr marL="91440" marR="91440" marT="45720" marB="45720" anchor="ctr">
                    <a:solidFill>
                      <a:srgbClr val="FFFFFF"/>
                    </a:solidFill>
                  </a:tcPr>
                </a:tc>
              </a:tr>
            </a:tbl>
          </a:graphicData>
        </a:graphic>
      </p:graphicFrame>
      <p:sp>
        <p:nvSpPr>
          <p:cNvPr id="3" name="2026년의 마감일입니다. 모두 앞으로 할 일이며 ">
            <a:extLst xmlns:a="http://schemas.openxmlformats.org/drawingml/2006/main">
              <a:ext uri="{FF2B5EF4-FFF2-40B4-BE49-F238E27FC236}">
                <a16:creationId xmlns:a16="http://schemas.microsoft.com/office/drawing/2014/main" id="{3F9B6FCC-B53D-4BD7-B288-647170493120}"/>
              </a:ext>
            </a:extLst>
          </p:cNvPr>
          <p:cNvSpPr>
            <a:spLocks xmlns:a="http://schemas.openxmlformats.org/drawingml/2006/main" noGrp="1"/>
          </p:cNvSpPr>
          <p:nvPr/>
        </p:nvSpPr>
        <p:spPr>
          <a:xfrm xmlns:a="http://schemas.openxmlformats.org/drawingml/2006/main">
            <a:off x="685800" y="613410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2026년의 마감일입니다. 모두 앞으로 할 일이며 완료 기록은 아닙니다.</a:t>
            </a:r>
          </a:p>
        </p:txBody>
      </p:sp>
      <p:sp>
        <p:nvSpPr>
          <p:cNvPr id="4" name="44–48분">
            <a:extLst xmlns:a="http://schemas.openxmlformats.org/drawingml/2006/main">
              <a:ext uri="{FF2B5EF4-FFF2-40B4-BE49-F238E27FC236}">
                <a16:creationId xmlns:a16="http://schemas.microsoft.com/office/drawing/2014/main" id="{3B430E79-B6C0-41DA-9B9E-15C8F30D940F}"/>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44–48분</a:t>
            </a:r>
          </a:p>
        </p:txBody>
      </p:sp>
      <p:sp>
        <p:nvSpPr>
          <p:cNvPr id="5" name="웹 실습 열기">
            <a:extLst xmlns:a="http://schemas.openxmlformats.org/drawingml/2006/main">
              <a:ext uri="{FF2B5EF4-FFF2-40B4-BE49-F238E27FC236}">
                <a16:creationId xmlns:a16="http://schemas.microsoft.com/office/drawing/2014/main" id="{E37E3DA6-254B-4A6A-9834-3683112801E2}"/>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101b87ef619345f7"/>
              </a:rPr>
              <a:t>웹 실습 열기</a:t>
            </a:r>
          </a:p>
        </p:txBody>
      </p:sp>
      <p:sp>
        <p:nvSpPr>
          <p:cNvPr id="6" name="18">
            <a:extLst xmlns:a="http://schemas.openxmlformats.org/drawingml/2006/main">
              <a:ext uri="{FF2B5EF4-FFF2-40B4-BE49-F238E27FC236}">
                <a16:creationId xmlns:a16="http://schemas.microsoft.com/office/drawing/2014/main" id="{876B3898-DC9F-47CF-8435-492248CC449B}"/>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18</a:t>
            </a:r>
          </a:p>
        </p:txBody>
      </p:sp>
    </p:spTree>
    <p:extLst>
      <p:ext uri="{BB962C8B-B14F-4D97-AF65-F5344CB8AC3E}">
        <p14:creationId xmlns:p14="http://schemas.microsoft.com/office/powerpoint/2010/main" val="150987119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결정·보류·완료의 구분">
            <a:extLst xmlns:a="http://schemas.openxmlformats.org/drawingml/2006/main">
              <a:ext uri="{FF2B5EF4-FFF2-40B4-BE49-F238E27FC236}">
                <a16:creationId xmlns:a16="http://schemas.microsoft.com/office/drawing/2014/main" id="{F08138DD-6D7E-4223-A21A-9F12AE175FD1}"/>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결정·보류·완료의 구분</a:t>
            </a:r>
          </a:p>
        </p:txBody>
      </p:sp>
      <p:graphicFrame>
        <p:nvGraphicFramePr>
          <p:cNvPr id="8" name=""/>
          <p:cNvGraphicFramePr/>
          <p:nvPr/>
        </p:nvGraphicFramePr>
        <p:xfrm>
          <a:off xmlns:a="http://schemas.openxmlformats.org/drawingml/2006/main" x="685800" y="1543050"/>
          <a:ext xmlns:a="http://schemas.openxmlformats.org/drawingml/2006/main" cx="10820400" cy="2952750"/>
        </p:xfrm>
        <a:graphic xmlns:a="http://schemas.openxmlformats.org/drawingml/2006/main">
          <a:graphicData uri="http://schemas.openxmlformats.org/drawingml/2006/table">
            <a:tbl>
              <a:tblPr firstRow="1" bandRow="0"/>
              <a:tblGrid>
                <a:gridCol w="5429250"/>
                <a:gridCol w="5334000"/>
              </a:tblGrid>
              <a:tr h="590550">
                <a:tc>
                  <a:txBody>
                    <a:bodyPr lIns="114300" tIns="66675" rIns="114300" bIns="57150">
                      <a:noAutofit/>
                    </a:bodyPr>
                    <a:lstStyle/>
                    <a:p>
                      <a:pPr algn="l"/>
                      <a:r>
                        <a:rPr sz="1875" b="1">
                          <a:solidFill>
                            <a:srgbClr val="FFFFFF"/>
                          </a:solidFill>
                          <a:latin typeface="Malgun Gothic"/>
                          <a:ea typeface="Malgun Gothic"/>
                          <a:cs typeface="Malgun Gothic"/>
                        </a:rPr>
                        <a:t>내용</a:t>
                      </a:r>
                    </a:p>
                  </a:txBody>
                  <a:tcPr marL="91440" marR="91440" marT="45720" marB="45720" anchor="ctr">
                    <a:solidFill>
                      <a:srgbClr val="6B43C7"/>
                    </a:solidFill>
                  </a:tcPr>
                </a:tc>
                <a:tc>
                  <a:txBody>
                    <a:bodyPr lIns="114300" tIns="66675" rIns="114300" bIns="57150">
                      <a:noAutofit/>
                    </a:bodyPr>
                    <a:lstStyle/>
                    <a:p>
                      <a:pPr algn="l"/>
                      <a:r>
                        <a:rPr sz="1875" b="1">
                          <a:solidFill>
                            <a:srgbClr val="FFFFFF"/>
                          </a:solidFill>
                          <a:latin typeface="Malgun Gothic"/>
                          <a:ea typeface="Malgun Gothic"/>
                          <a:cs typeface="Malgun Gothic"/>
                        </a:rPr>
                        <a:t>회의가 끝난 시점의 상태</a:t>
                      </a:r>
                    </a:p>
                  </a:txBody>
                  <a:tcPr marL="91440" marR="91440" marT="45720" marB="45720" anchor="ctr">
                    <a:solidFill>
                      <a:srgbClr val="6B43C7"/>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201호, 30명, 참가비 무료</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최종 운영 조건</a:t>
                      </a:r>
                    </a:p>
                  </a:txBody>
                  <a:tcPr marL="91440" marR="91440" marT="45720" marB="45720" anchor="ctr">
                    <a:solidFill>
                      <a:srgbClr val="FFFFFF"/>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준비 예산 845,000원</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준비하기로 결정, 지급 완료는 아님</a:t>
                      </a:r>
                    </a:p>
                  </a:txBody>
                  <a:tcPr marL="91440" marR="91440" marT="45720" marB="45720" anchor="ctr">
                    <a:solidFill>
                      <a:srgbClr val="F5F2FC"/>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녹화본 제공, 사진 촬영·공개, 주차 안내</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보류. 담당과 기한 미배정</a:t>
                      </a:r>
                    </a:p>
                  </a:txBody>
                  <a:tcPr marL="91440" marR="91440" marT="45720" marB="45720" anchor="ctr">
                    <a:solidFill>
                      <a:srgbClr val="FFFFFF"/>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정원 40명, 예비비·통신장치 비용</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채택하지 않은 제안</a:t>
                      </a:r>
                    </a:p>
                  </a:txBody>
                  <a:tcPr marL="91440" marR="91440" marT="45720" marB="45720" anchor="ctr">
                    <a:solidFill>
                      <a:srgbClr val="F5F2FC"/>
                    </a:solidFill>
                  </a:tcPr>
                </a:tc>
              </a:tr>
            </a:tbl>
          </a:graphicData>
        </a:graphic>
      </p:graphicFrame>
      <p:sp>
        <p:nvSpPr>
          <p:cNvPr id="3" name="짝에게 정정 한 건과 보류 한 건을 설명합니다.">
            <a:extLst xmlns:a="http://schemas.openxmlformats.org/drawingml/2006/main">
              <a:ext uri="{FF2B5EF4-FFF2-40B4-BE49-F238E27FC236}">
                <a16:creationId xmlns:a16="http://schemas.microsoft.com/office/drawing/2014/main" id="{3FA198B3-C8A2-4109-90A3-F82206F47921}"/>
              </a:ext>
            </a:extLst>
          </p:cNvPr>
          <p:cNvSpPr>
            <a:spLocks xmlns:a="http://schemas.openxmlformats.org/drawingml/2006/main" noGrp="1"/>
          </p:cNvSpPr>
          <p:nvPr/>
        </p:nvSpPr>
        <p:spPr>
          <a:xfrm xmlns:a="http://schemas.openxmlformats.org/drawingml/2006/main">
            <a:off x="685800" y="581025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짝에게 정정 한 건과 보류 한 건을 설명합니다.</a:t>
            </a:r>
          </a:p>
        </p:txBody>
      </p:sp>
      <p:sp>
        <p:nvSpPr>
          <p:cNvPr id="4" name="48–51분">
            <a:extLst xmlns:a="http://schemas.openxmlformats.org/drawingml/2006/main">
              <a:ext uri="{FF2B5EF4-FFF2-40B4-BE49-F238E27FC236}">
                <a16:creationId xmlns:a16="http://schemas.microsoft.com/office/drawing/2014/main" id="{5950BF42-3136-4074-84A9-FAC2931182F2}"/>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48–51분</a:t>
            </a:r>
          </a:p>
        </p:txBody>
      </p:sp>
      <p:sp>
        <p:nvSpPr>
          <p:cNvPr id="5" name="웹 실습 열기">
            <a:extLst xmlns:a="http://schemas.openxmlformats.org/drawingml/2006/main">
              <a:ext uri="{FF2B5EF4-FFF2-40B4-BE49-F238E27FC236}">
                <a16:creationId xmlns:a16="http://schemas.microsoft.com/office/drawing/2014/main" id="{003C7403-F252-4A81-8E46-05B7AE75A286}"/>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d71398b344b84c93"/>
              </a:rPr>
              <a:t>웹 실습 열기</a:t>
            </a:r>
          </a:p>
        </p:txBody>
      </p:sp>
      <p:sp>
        <p:nvSpPr>
          <p:cNvPr id="6" name="19">
            <a:extLst xmlns:a="http://schemas.openxmlformats.org/drawingml/2006/main">
              <a:ext uri="{FF2B5EF4-FFF2-40B4-BE49-F238E27FC236}">
                <a16:creationId xmlns:a16="http://schemas.microsoft.com/office/drawing/2014/main" id="{F4826085-5BF0-4558-9F27-A53A65F1BF7E}"/>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19</a:t>
            </a:r>
          </a:p>
        </p:txBody>
      </p:sp>
    </p:spTree>
    <p:extLst>
      <p:ext uri="{BB962C8B-B14F-4D97-AF65-F5344CB8AC3E}">
        <p14:creationId xmlns:p14="http://schemas.microsoft.com/office/powerpoint/2010/main" val="1392583539"/>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문서 판단과 24행 계산의 분리">
            <a:extLst xmlns:a="http://schemas.openxmlformats.org/drawingml/2006/main">
              <a:ext uri="{FF2B5EF4-FFF2-40B4-BE49-F238E27FC236}">
                <a16:creationId xmlns:a16="http://schemas.microsoft.com/office/drawing/2014/main" id="{83E6E03C-C4E9-4F38-8C82-2776FD506729}"/>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문서 판단과 24행 계산의 분리</a:t>
            </a:r>
          </a:p>
        </p:txBody>
      </p:sp>
      <p:graphicFrame>
        <p:nvGraphicFramePr>
          <p:cNvPr id="8" name=""/>
          <p:cNvGraphicFramePr/>
          <p:nvPr/>
        </p:nvGraphicFramePr>
        <p:xfrm>
          <a:off xmlns:a="http://schemas.openxmlformats.org/drawingml/2006/main" x="685800" y="1543050"/>
          <a:ext xmlns:a="http://schemas.openxmlformats.org/drawingml/2006/main" cx="10820400" cy="3543300"/>
        </p:xfrm>
        <a:graphic xmlns:a="http://schemas.openxmlformats.org/drawingml/2006/main">
          <a:graphicData uri="http://schemas.openxmlformats.org/drawingml/2006/table">
            <a:tbl>
              <a:tblPr firstRow="1" bandRow="0"/>
              <a:tblGrid>
                <a:gridCol w="1619250"/>
                <a:gridCol w="5143500"/>
                <a:gridCol w="4000500"/>
              </a:tblGrid>
              <a:tr h="590550">
                <a:tc>
                  <a:txBody>
                    <a:bodyPr lIns="114300" tIns="66675" rIns="114300" bIns="57150">
                      <a:noAutofit/>
                    </a:bodyPr>
                    <a:lstStyle/>
                    <a:p>
                      <a:pPr algn="l"/>
                      <a:r>
                        <a:rPr sz="1875" b="1">
                          <a:solidFill>
                            <a:srgbClr val="FFFFFF"/>
                          </a:solidFill>
                          <a:latin typeface="Malgun Gothic"/>
                          <a:ea typeface="Malgun Gothic"/>
                          <a:cs typeface="Malgun Gothic"/>
                        </a:rPr>
                        <a:t>행 ID</a:t>
                      </a:r>
                    </a:p>
                  </a:txBody>
                  <a:tcPr marL="91440" marR="91440" marT="45720" marB="45720" anchor="ctr">
                    <a:solidFill>
                      <a:srgbClr val="6B43C7"/>
                    </a:solidFill>
                  </a:tcPr>
                </a:tc>
                <a:tc>
                  <a:txBody>
                    <a:bodyPr lIns="114300" tIns="66675" rIns="114300" bIns="57150">
                      <a:noAutofit/>
                    </a:bodyPr>
                    <a:lstStyle/>
                    <a:p>
                      <a:pPr algn="l"/>
                      <a:r>
                        <a:rPr sz="1875" b="1">
                          <a:solidFill>
                            <a:srgbClr val="FFFFFF"/>
                          </a:solidFill>
                          <a:latin typeface="Malgun Gothic"/>
                          <a:ea typeface="Malgun Gothic"/>
                          <a:cs typeface="Malgun Gothic"/>
                        </a:rPr>
                        <a:t>기재 내용</a:t>
                      </a:r>
                    </a:p>
                  </a:txBody>
                  <a:tcPr marL="91440" marR="91440" marT="45720" marB="45720" anchor="ctr">
                    <a:solidFill>
                      <a:srgbClr val="6B43C7"/>
                    </a:solidFill>
                  </a:tcPr>
                </a:tc>
                <a:tc>
                  <a:txBody>
                    <a:bodyPr lIns="114300" tIns="66675" rIns="114300" bIns="57150">
                      <a:noAutofit/>
                    </a:bodyPr>
                    <a:lstStyle/>
                    <a:p>
                      <a:pPr algn="l"/>
                      <a:r>
                        <a:rPr sz="1875" b="1">
                          <a:solidFill>
                            <a:srgbClr val="FFFFFF"/>
                          </a:solidFill>
                          <a:latin typeface="Malgun Gothic"/>
                          <a:ea typeface="Malgun Gothic"/>
                          <a:cs typeface="Malgun Gothic"/>
                        </a:rPr>
                        <a:t>함께 볼 기록</a:t>
                      </a:r>
                    </a:p>
                  </a:txBody>
                  <a:tcPr marL="91440" marR="91440" marT="45720" marB="45720" anchor="ctr">
                    <a:solidFill>
                      <a:srgbClr val="6B43C7"/>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A06</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장비대여 2개 × 25,000원 / 60,000원 기재</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AP-A-1016</a:t>
                      </a:r>
                    </a:p>
                  </a:txBody>
                  <a:tcPr marL="91440" marR="91440" marT="45720" marB="45720" anchor="ctr">
                    <a:solidFill>
                      <a:srgbClr val="FFFFFF"/>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B04</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다과 40개 / 최초 단가 6,000원</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최종 승인 단가 5,500원</a:t>
                      </a:r>
                    </a:p>
                  </a:txBody>
                  <a:tcPr marL="91440" marR="91440" marT="45720" marB="45720" anchor="ctr">
                    <a:solidFill>
                      <a:srgbClr val="F5F2FC"/>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B07·B08</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현수막과 “추가 전달분”</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같은 견적을 다시 전달</a:t>
                      </a:r>
                    </a:p>
                  </a:txBody>
                  <a:tcPr marL="91440" marR="91440" marT="45720" marB="45720" anchor="ctr">
                    <a:solidFill>
                      <a:srgbClr val="FFFFFF"/>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C05</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제본교재 24권</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제본교재만 취소, 인쇄·배송 유지</a:t>
                      </a:r>
                    </a:p>
                  </a:txBody>
                  <a:tcPr marL="91440" marR="91440" marT="45720" marB="45720" anchor="ctr">
                    <a:solidFill>
                      <a:srgbClr val="F5F2FC"/>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C09</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사진기록 견적 80,000원</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최종 승인 대기</a:t>
                      </a:r>
                    </a:p>
                  </a:txBody>
                  <a:tcPr marL="91440" marR="91440" marT="45720" marB="45720" anchor="ctr">
                    <a:solidFill>
                      <a:srgbClr val="FFFFFF"/>
                    </a:solidFill>
                  </a:tcPr>
                </a:tc>
              </a:tr>
            </a:tbl>
          </a:graphicData>
        </a:graphic>
      </p:graphicFrame>
      <p:sp>
        <p:nvSpPr>
          <p:cNvPr id="3" name="가상 구매 요청 중 일부 발췌. 전체 24행은 웹 ">
            <a:extLst xmlns:a="http://schemas.openxmlformats.org/drawingml/2006/main">
              <a:ext uri="{FF2B5EF4-FFF2-40B4-BE49-F238E27FC236}">
                <a16:creationId xmlns:a16="http://schemas.microsoft.com/office/drawing/2014/main" id="{DF449E33-E876-4C9E-8E37-109FE57EA92C}"/>
              </a:ext>
            </a:extLst>
          </p:cNvPr>
          <p:cNvSpPr>
            <a:spLocks xmlns:a="http://schemas.openxmlformats.org/drawingml/2006/main" noGrp="1"/>
          </p:cNvSpPr>
          <p:nvPr/>
        </p:nvSpPr>
        <p:spPr>
          <a:xfrm xmlns:a="http://schemas.openxmlformats.org/drawingml/2006/main">
            <a:off x="685800" y="581025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가상 구매 요청 중 일부 발췌. 전체 24행은 웹 질문과 13번 원자료에 있습니다.</a:t>
            </a:r>
          </a:p>
        </p:txBody>
      </p:sp>
      <p:sp>
        <p:nvSpPr>
          <p:cNvPr id="4" name="51–54분">
            <a:extLst xmlns:a="http://schemas.openxmlformats.org/drawingml/2006/main">
              <a:ext uri="{FF2B5EF4-FFF2-40B4-BE49-F238E27FC236}">
                <a16:creationId xmlns:a16="http://schemas.microsoft.com/office/drawing/2014/main" id="{9FB0F3F7-51C6-4693-9EFC-E71BC5DBEE8E}"/>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51–54분</a:t>
            </a:r>
          </a:p>
        </p:txBody>
      </p:sp>
      <p:sp>
        <p:nvSpPr>
          <p:cNvPr id="5" name="웹 실습 열기">
            <a:extLst xmlns:a="http://schemas.openxmlformats.org/drawingml/2006/main">
              <a:ext uri="{FF2B5EF4-FFF2-40B4-BE49-F238E27FC236}">
                <a16:creationId xmlns:a16="http://schemas.microsoft.com/office/drawing/2014/main" id="{87EF5FB6-5EB9-4B03-A9A3-CC5C7F842C90}"/>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b7c96bb96b054bcb"/>
              </a:rPr>
              <a:t>웹 실습 열기</a:t>
            </a:r>
          </a:p>
        </p:txBody>
      </p:sp>
      <p:sp>
        <p:nvSpPr>
          <p:cNvPr id="6" name="20">
            <a:extLst xmlns:a="http://schemas.openxmlformats.org/drawingml/2006/main">
              <a:ext uri="{FF2B5EF4-FFF2-40B4-BE49-F238E27FC236}">
                <a16:creationId xmlns:a16="http://schemas.microsoft.com/office/drawing/2014/main" id="{A194AB91-4829-4420-8E80-992D67945BC6}"/>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20</a:t>
            </a:r>
          </a:p>
        </p:txBody>
      </p:sp>
    </p:spTree>
    <p:extLst>
      <p:ext uri="{BB962C8B-B14F-4D97-AF65-F5344CB8AC3E}">
        <p14:creationId xmlns:p14="http://schemas.microsoft.com/office/powerpoint/2010/main" val="1973457405"/>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스프레드시트로 다시 계산할 합계">
            <a:extLst xmlns:a="http://schemas.openxmlformats.org/drawingml/2006/main">
              <a:ext uri="{FF2B5EF4-FFF2-40B4-BE49-F238E27FC236}">
                <a16:creationId xmlns:a16="http://schemas.microsoft.com/office/drawing/2014/main" id="{0B504F43-3334-48F6-B41C-D18832CD5C6F}"/>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스프레드시트로 다시 계산할 합계</a:t>
            </a:r>
          </a:p>
        </p:txBody>
      </p:sp>
      <p:sp>
        <p:nvSpPr>
          <p:cNvPr id="2" name="4분">
            <a:extLst xmlns:a="http://schemas.openxmlformats.org/drawingml/2006/main">
              <a:ext uri="{FF2B5EF4-FFF2-40B4-BE49-F238E27FC236}">
                <a16:creationId xmlns:a16="http://schemas.microsoft.com/office/drawing/2014/main" id="{1B03C613-9AA0-49EF-94D9-1E41A76BDEFF}"/>
              </a:ext>
            </a:extLst>
          </p:cNvPr>
          <p:cNvSpPr>
            <a:spLocks xmlns:a="http://schemas.openxmlformats.org/drawingml/2006/main" noGrp="1"/>
          </p:cNvSpPr>
          <p:nvPr/>
        </p:nvSpPr>
        <p:spPr>
          <a:xfrm xmlns:a="http://schemas.openxmlformats.org/drawingml/2006/main">
            <a:off x="685800" y="1619250"/>
            <a:ext cx="2743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4125" b="1">
                <a:solidFill>
                  <a:srgbClr val="6B43C7"/>
                </a:solidFill>
                <a:latin typeface="Malgun Gothic"/>
                <a:ea typeface="Malgun Gothic"/>
                <a:cs typeface="Malgun Gothic"/>
              </a:defRPr>
            </a:pPr>
            <a:r>
              <a:rPr sz="4125" b="1">
                <a:solidFill>
                  <a:srgbClr val="6B43C7"/>
                </a:solidFill>
                <a:latin typeface="Malgun Gothic"/>
                <a:ea typeface="Malgun Gothic"/>
                <a:cs typeface="Malgun Gothic"/>
              </a:rPr>
              <a:t>4분</a:t>
            </a:r>
          </a:p>
        </p:txBody>
      </p:sp>
      <p:sp>
        <p:nvSpPr>
          <p:cNvPr id="3" name="24행 검토 질문을 전송하고 합계의 이름과 적용 규">
            <a:extLst xmlns:a="http://schemas.openxmlformats.org/drawingml/2006/main">
              <a:ext uri="{FF2B5EF4-FFF2-40B4-BE49-F238E27FC236}">
                <a16:creationId xmlns:a16="http://schemas.microsoft.com/office/drawing/2014/main" id="{757130BD-97B7-43FF-ADED-C2E3B40E53F4}"/>
              </a:ext>
            </a:extLst>
          </p:cNvPr>
          <p:cNvSpPr>
            <a:spLocks xmlns:a="http://schemas.openxmlformats.org/drawingml/2006/main" noGrp="1"/>
          </p:cNvSpPr>
          <p:nvPr/>
        </p:nvSpPr>
        <p:spPr>
          <a:xfrm xmlns:a="http://schemas.openxmlformats.org/drawingml/2006/main">
            <a:off x="685800" y="2895600"/>
            <a:ext cx="276225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250" b="1">
                <a:solidFill>
                  <a:srgbClr val="20212A"/>
                </a:solidFill>
                <a:latin typeface="Malgun Gothic"/>
                <a:ea typeface="Malgun Gothic"/>
                <a:cs typeface="Malgun Gothic"/>
              </a:defRPr>
            </a:pPr>
            <a:r>
              <a:rPr sz="2250" b="1">
                <a:solidFill>
                  <a:srgbClr val="20212A"/>
                </a:solidFill>
                <a:latin typeface="Malgun Gothic"/>
                <a:ea typeface="Malgun Gothic"/>
                <a:cs typeface="Malgun Gothic"/>
              </a:rPr>
              <a:t>24행 검토 질문을 전송하고 합계의 이름과 적용 규칙을 확인합니다.</a:t>
            </a:r>
          </a:p>
        </p:txBody>
      </p:sp>
      <p:sp>
        <p:nvSpPr>
          <p:cNvPr id="4" name="">
            <a:extLst xmlns:a="http://schemas.openxmlformats.org/drawingml/2006/main">
              <a:ext uri="{FF2B5EF4-FFF2-40B4-BE49-F238E27FC236}">
                <a16:creationId xmlns:a16="http://schemas.microsoft.com/office/drawing/2014/main" id="{A8E6B937-C6C4-4530-8C83-7E58091BF62D}"/>
              </a:ext>
            </a:extLst>
          </p:cNvPr>
          <p:cNvSpPr>
            <a:spLocks xmlns:a="http://schemas.openxmlformats.org/drawingml/2006/main" noGrp="1"/>
          </p:cNvSpPr>
          <p:nvPr/>
        </p:nvSpPr>
        <p:spPr>
          <a:xfrm xmlns:a="http://schemas.openxmlformats.org/drawingml/2006/main">
            <a:off x="4038600" y="1647825"/>
            <a:ext cx="74676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기재금액 그대로 더한 합계</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원표 수량과 표 단가로 곱한 합계</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승인·중복·취소·대기를 반영한 합계</a:t>
            </a:r>
          </a:p>
        </p:txBody>
      </p:sp>
      <p:sp>
        <p:nvSpPr>
          <p:cNvPr id="5" name="남길 결과">
            <a:extLst xmlns:a="http://schemas.openxmlformats.org/drawingml/2006/main">
              <a:ext uri="{FF2B5EF4-FFF2-40B4-BE49-F238E27FC236}">
                <a16:creationId xmlns:a16="http://schemas.microsoft.com/office/drawing/2014/main" id="{63C6D169-0F64-4847-8884-6E84A5D5F9CB}"/>
              </a:ext>
            </a:extLst>
          </p:cNvPr>
          <p:cNvSpPr>
            <a:spLocks xmlns:a="http://schemas.openxmlformats.org/drawingml/2006/main" noGrp="1"/>
          </p:cNvSpPr>
          <p:nvPr/>
        </p:nvSpPr>
        <p:spPr>
          <a:xfrm xmlns:a="http://schemas.openxmlformats.org/drawingml/2006/main">
            <a:off x="4038600" y="5029200"/>
            <a:ext cx="7467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1">
                <a:solidFill>
                  <a:srgbClr val="6B43C7"/>
                </a:solidFill>
                <a:latin typeface="Malgun Gothic"/>
                <a:ea typeface="Malgun Gothic"/>
                <a:cs typeface="Malgun Gothic"/>
              </a:defRPr>
            </a:pPr>
            <a:r>
              <a:rPr sz="1725" b="1">
                <a:solidFill>
                  <a:srgbClr val="6B43C7"/>
                </a:solidFill>
                <a:latin typeface="Malgun Gothic"/>
                <a:ea typeface="Malgun Gothic"/>
                <a:cs typeface="Malgun Gothic"/>
              </a:rPr>
              <a:t>남길 결과</a:t>
            </a:r>
          </a:p>
        </p:txBody>
      </p:sp>
      <p:sp>
        <p:nvSpPr>
          <p:cNvPr id="6" name="24행 검토표, 행사별 합계, 보완 요청문">
            <a:extLst xmlns:a="http://schemas.openxmlformats.org/drawingml/2006/main">
              <a:ext uri="{FF2B5EF4-FFF2-40B4-BE49-F238E27FC236}">
                <a16:creationId xmlns:a16="http://schemas.microsoft.com/office/drawing/2014/main" id="{6405B71F-BA5C-4854-9178-754D72F53E4B}"/>
              </a:ext>
            </a:extLst>
          </p:cNvPr>
          <p:cNvSpPr>
            <a:spLocks xmlns:a="http://schemas.openxmlformats.org/drawingml/2006/main" noGrp="1"/>
          </p:cNvSpPr>
          <p:nvPr/>
        </p:nvSpPr>
        <p:spPr>
          <a:xfrm xmlns:a="http://schemas.openxmlformats.org/drawingml/2006/main">
            <a:off x="4038600" y="5429250"/>
            <a:ext cx="7467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100" b="1">
                <a:solidFill>
                  <a:srgbClr val="20212A"/>
                </a:solidFill>
                <a:latin typeface="Malgun Gothic"/>
                <a:ea typeface="Malgun Gothic"/>
                <a:cs typeface="Malgun Gothic"/>
              </a:defRPr>
            </a:pPr>
            <a:r>
              <a:rPr sz="2100" b="1">
                <a:solidFill>
                  <a:srgbClr val="20212A"/>
                </a:solidFill>
                <a:latin typeface="Malgun Gothic"/>
                <a:ea typeface="Malgun Gothic"/>
                <a:cs typeface="Malgun Gothic"/>
              </a:rPr>
              <a:t>24행 검토표, 행사별 합계, 보완 요청문</a:t>
            </a:r>
          </a:p>
        </p:txBody>
      </p:sp>
      <p:sp>
        <p:nvSpPr>
          <p:cNvPr id="7" name="54–58분">
            <a:extLst xmlns:a="http://schemas.openxmlformats.org/drawingml/2006/main">
              <a:ext uri="{FF2B5EF4-FFF2-40B4-BE49-F238E27FC236}">
                <a16:creationId xmlns:a16="http://schemas.microsoft.com/office/drawing/2014/main" id="{0F031802-5875-43D3-AAE3-1373890FE144}"/>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54–58분</a:t>
            </a:r>
          </a:p>
        </p:txBody>
      </p:sp>
      <p:sp>
        <p:nvSpPr>
          <p:cNvPr id="8" name="웹 실습 열기">
            <a:extLst xmlns:a="http://schemas.openxmlformats.org/drawingml/2006/main">
              <a:ext uri="{FF2B5EF4-FFF2-40B4-BE49-F238E27FC236}">
                <a16:creationId xmlns:a16="http://schemas.microsoft.com/office/drawing/2014/main" id="{31EF3957-6C28-4201-8BF4-AF72BDAE2A14}"/>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f0b52c74ba014759"/>
              </a:rPr>
              <a:t>웹 실습 열기</a:t>
            </a:r>
          </a:p>
        </p:txBody>
      </p:sp>
      <p:sp>
        <p:nvSpPr>
          <p:cNvPr id="9" name="21">
            <a:extLst xmlns:a="http://schemas.openxmlformats.org/drawingml/2006/main">
              <a:ext uri="{FF2B5EF4-FFF2-40B4-BE49-F238E27FC236}">
                <a16:creationId xmlns:a16="http://schemas.microsoft.com/office/drawing/2014/main" id="{A037DE4F-7A0E-432C-B4B9-551931218AFA}"/>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21</a:t>
            </a:r>
          </a:p>
        </p:txBody>
      </p:sp>
    </p:spTree>
    <p:extLst>
      <p:ext uri="{BB962C8B-B14F-4D97-AF65-F5344CB8AC3E}">
        <p14:creationId xmlns:p14="http://schemas.microsoft.com/office/powerpoint/2010/main" val="1730540418"/>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행사별 한도까지 확인한 결과">
            <a:extLst xmlns:a="http://schemas.openxmlformats.org/drawingml/2006/main">
              <a:ext uri="{FF2B5EF4-FFF2-40B4-BE49-F238E27FC236}">
                <a16:creationId xmlns:a16="http://schemas.microsoft.com/office/drawing/2014/main" id="{F6CAE173-B285-493C-B26B-584832B43A0C}"/>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행사별 한도까지 확인한 결과</a:t>
            </a:r>
          </a:p>
        </p:txBody>
      </p:sp>
      <p:graphicFrame>
        <p:nvGraphicFramePr>
          <p:cNvPr id="8" name=""/>
          <p:cNvGraphicFramePr/>
          <p:nvPr/>
        </p:nvGraphicFramePr>
        <p:xfrm>
          <a:off xmlns:a="http://schemas.openxmlformats.org/drawingml/2006/main" x="685800" y="1543050"/>
          <a:ext xmlns:a="http://schemas.openxmlformats.org/drawingml/2006/main" cx="10820400" cy="2952750"/>
        </p:xfrm>
        <a:graphic xmlns:a="http://schemas.openxmlformats.org/drawingml/2006/main">
          <a:graphicData uri="http://schemas.openxmlformats.org/drawingml/2006/table">
            <a:tbl>
              <a:tblPr firstRow="1" bandRow="0"/>
              <a:tblGrid>
                <a:gridCol w="1428750"/>
                <a:gridCol w="3048000"/>
                <a:gridCol w="2952750"/>
                <a:gridCol w="3333750"/>
              </a:tblGrid>
              <a:tr h="590550">
                <a:tc>
                  <a:txBody>
                    <a:bodyPr lIns="114300" tIns="66675" rIns="114300" bIns="57150">
                      <a:noAutofit/>
                    </a:bodyPr>
                    <a:lstStyle/>
                    <a:p>
                      <a:pPr algn="l"/>
                      <a:r>
                        <a:rPr sz="1875" b="1">
                          <a:solidFill>
                            <a:srgbClr val="FFFFFF"/>
                          </a:solidFill>
                          <a:latin typeface="Malgun Gothic"/>
                          <a:ea typeface="Malgun Gothic"/>
                          <a:cs typeface="Malgun Gothic"/>
                        </a:rPr>
                        <a:t>행사</a:t>
                      </a:r>
                    </a:p>
                  </a:txBody>
                  <a:tcPr marL="91440" marR="91440" marT="45720" marB="45720" anchor="ctr">
                    <a:solidFill>
                      <a:srgbClr val="6B43C7"/>
                    </a:solidFill>
                  </a:tcPr>
                </a:tc>
                <a:tc>
                  <a:txBody>
                    <a:bodyPr lIns="114300" tIns="66675" rIns="114300" bIns="57150">
                      <a:noAutofit/>
                    </a:bodyPr>
                    <a:lstStyle/>
                    <a:p>
                      <a:pPr algn="l"/>
                      <a:r>
                        <a:rPr sz="1875" b="1">
                          <a:solidFill>
                            <a:srgbClr val="FFFFFF"/>
                          </a:solidFill>
                          <a:latin typeface="Malgun Gothic"/>
                          <a:ea typeface="Malgun Gothic"/>
                          <a:cs typeface="Malgun Gothic"/>
                        </a:rPr>
                        <a:t>지급 검토액(원)</a:t>
                      </a:r>
                    </a:p>
                  </a:txBody>
                  <a:tcPr marL="91440" marR="91440" marT="45720" marB="45720" anchor="ctr">
                    <a:solidFill>
                      <a:srgbClr val="6B43C7"/>
                    </a:solidFill>
                  </a:tcPr>
                </a:tc>
                <a:tc>
                  <a:txBody>
                    <a:bodyPr lIns="114300" tIns="66675" rIns="114300" bIns="57150">
                      <a:noAutofit/>
                    </a:bodyPr>
                    <a:lstStyle/>
                    <a:p>
                      <a:pPr algn="l"/>
                      <a:r>
                        <a:rPr sz="1875" b="1">
                          <a:solidFill>
                            <a:srgbClr val="FFFFFF"/>
                          </a:solidFill>
                          <a:latin typeface="Malgun Gothic"/>
                          <a:ea typeface="Malgun Gothic"/>
                          <a:cs typeface="Malgun Gothic"/>
                        </a:rPr>
                        <a:t>예산 한도(원)</a:t>
                      </a:r>
                    </a:p>
                  </a:txBody>
                  <a:tcPr marL="91440" marR="91440" marT="45720" marB="45720" anchor="ctr">
                    <a:solidFill>
                      <a:srgbClr val="6B43C7"/>
                    </a:solidFill>
                  </a:tcPr>
                </a:tc>
                <a:tc>
                  <a:txBody>
                    <a:bodyPr lIns="114300" tIns="66675" rIns="114300" bIns="57150">
                      <a:noAutofit/>
                    </a:bodyPr>
                    <a:lstStyle/>
                    <a:p>
                      <a:pPr algn="l"/>
                      <a:r>
                        <a:rPr sz="1875" b="1">
                          <a:solidFill>
                            <a:srgbClr val="FFFFFF"/>
                          </a:solidFill>
                          <a:latin typeface="Malgun Gothic"/>
                          <a:ea typeface="Malgun Gothic"/>
                          <a:cs typeface="Malgun Gothic"/>
                        </a:rPr>
                        <a:t>남는 금액·초과</a:t>
                      </a:r>
                    </a:p>
                  </a:txBody>
                  <a:tcPr marL="91440" marR="91440" marT="45720" marB="45720" anchor="ctr">
                    <a:solidFill>
                      <a:srgbClr val="6B43C7"/>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A</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845,000</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845,000</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잔액 0원</a:t>
                      </a:r>
                    </a:p>
                  </a:txBody>
                  <a:tcPr marL="91440" marR="91440" marT="45720" marB="45720" anchor="ctr">
                    <a:solidFill>
                      <a:srgbClr val="FFFFFF"/>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B</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961,000</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950,000</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11,000원 초과</a:t>
                      </a:r>
                    </a:p>
                  </a:txBody>
                  <a:tcPr marL="91440" marR="91440" marT="45720" marB="45720" anchor="ctr">
                    <a:solidFill>
                      <a:srgbClr val="F5F2FC"/>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C</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724,000</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900,000</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잔액 176,000원</a:t>
                      </a:r>
                    </a:p>
                  </a:txBody>
                  <a:tcPr marL="91440" marR="91440" marT="45720" marB="45720" anchor="ctr">
                    <a:solidFill>
                      <a:srgbClr val="FFFFFF"/>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전체</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2,530,000</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2,695,000</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잔액 165,000원</a:t>
                      </a:r>
                    </a:p>
                  </a:txBody>
                  <a:tcPr marL="91440" marR="91440" marT="45720" marB="45720" anchor="ctr">
                    <a:solidFill>
                      <a:srgbClr val="F5F2FC"/>
                    </a:solidFill>
                  </a:tcPr>
                </a:tc>
              </a:tr>
            </a:tbl>
          </a:graphicData>
        </a:graphic>
      </p:graphicFrame>
      <p:sp>
        <p:nvSpPr>
          <p:cNvPr id="3" name="기재 합계 2,882,000원 / 단순 곱셈 검산 ">
            <a:extLst xmlns:a="http://schemas.openxmlformats.org/drawingml/2006/main">
              <a:ext uri="{FF2B5EF4-FFF2-40B4-BE49-F238E27FC236}">
                <a16:creationId xmlns:a16="http://schemas.microsoft.com/office/drawing/2014/main" id="{85ED4DD3-34A0-4887-B4C0-41805D40D373}"/>
              </a:ext>
            </a:extLst>
          </p:cNvPr>
          <p:cNvSpPr>
            <a:spLocks xmlns:a="http://schemas.openxmlformats.org/drawingml/2006/main" noGrp="1"/>
          </p:cNvSpPr>
          <p:nvPr/>
        </p:nvSpPr>
        <p:spPr>
          <a:xfrm xmlns:a="http://schemas.openxmlformats.org/drawingml/2006/main">
            <a:off x="685800" y="581025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기재 합계 2,882,000원 / 단순 곱셈 검산 2,867,000원. 전체 잔액이 있어도 B의 초과는 별도 승인 확인이 필요합니다.</a:t>
            </a:r>
          </a:p>
        </p:txBody>
      </p:sp>
      <p:sp>
        <p:nvSpPr>
          <p:cNvPr id="4" name="58–65분">
            <a:extLst xmlns:a="http://schemas.openxmlformats.org/drawingml/2006/main">
              <a:ext uri="{FF2B5EF4-FFF2-40B4-BE49-F238E27FC236}">
                <a16:creationId xmlns:a16="http://schemas.microsoft.com/office/drawing/2014/main" id="{9A39CC43-901E-4B36-8105-8260BD3464E3}"/>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58–65분</a:t>
            </a:r>
          </a:p>
        </p:txBody>
      </p:sp>
      <p:sp>
        <p:nvSpPr>
          <p:cNvPr id="5" name="웹 실습 열기">
            <a:extLst xmlns:a="http://schemas.openxmlformats.org/drawingml/2006/main">
              <a:ext uri="{FF2B5EF4-FFF2-40B4-BE49-F238E27FC236}">
                <a16:creationId xmlns:a16="http://schemas.microsoft.com/office/drawing/2014/main" id="{72979F24-818A-4B05-AD00-3CE9210CADC7}"/>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99db920f21054a6d"/>
              </a:rPr>
              <a:t>웹 실습 열기</a:t>
            </a:r>
          </a:p>
        </p:txBody>
      </p:sp>
      <p:sp>
        <p:nvSpPr>
          <p:cNvPr id="6" name="22">
            <a:extLst xmlns:a="http://schemas.openxmlformats.org/drawingml/2006/main">
              <a:ext uri="{FF2B5EF4-FFF2-40B4-BE49-F238E27FC236}">
                <a16:creationId xmlns:a16="http://schemas.microsoft.com/office/drawing/2014/main" id="{DA8D23D7-15B8-43B2-B728-9259AB3BD55D}"/>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22</a:t>
            </a:r>
          </a:p>
        </p:txBody>
      </p:sp>
    </p:spTree>
    <p:extLst>
      <p:ext uri="{BB962C8B-B14F-4D97-AF65-F5344CB8AC3E}">
        <p14:creationId xmlns:p14="http://schemas.microsoft.com/office/powerpoint/2010/main" val="482383644"/>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휴식">
            <a:extLst xmlns:a="http://schemas.openxmlformats.org/drawingml/2006/main">
              <a:ext uri="{FF2B5EF4-FFF2-40B4-BE49-F238E27FC236}">
                <a16:creationId xmlns:a16="http://schemas.microsoft.com/office/drawing/2014/main" id="{E5C35A38-1E91-4889-8F59-9F700C5BBCBE}"/>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휴식</a:t>
            </a:r>
          </a:p>
        </p:txBody>
      </p:sp>
      <p:sp>
        <p:nvSpPr>
          <p:cNvPr id="2" name="5분">
            <a:extLst xmlns:a="http://schemas.openxmlformats.org/drawingml/2006/main">
              <a:ext uri="{FF2B5EF4-FFF2-40B4-BE49-F238E27FC236}">
                <a16:creationId xmlns:a16="http://schemas.microsoft.com/office/drawing/2014/main" id="{7868D19F-804B-4160-BF0A-E7D7D53427D7}"/>
              </a:ext>
            </a:extLst>
          </p:cNvPr>
          <p:cNvSpPr>
            <a:spLocks xmlns:a="http://schemas.openxmlformats.org/drawingml/2006/main" noGrp="1"/>
          </p:cNvSpPr>
          <p:nvPr/>
        </p:nvSpPr>
        <p:spPr>
          <a:xfrm xmlns:a="http://schemas.openxmlformats.org/drawingml/2006/main">
            <a:off x="685800" y="1695450"/>
            <a:ext cx="108204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7350" b="1">
                <a:solidFill>
                  <a:srgbClr val="6B43C7"/>
                </a:solidFill>
                <a:latin typeface="Malgun Gothic"/>
                <a:ea typeface="Malgun Gothic"/>
                <a:cs typeface="Malgun Gothic"/>
              </a:defRPr>
            </a:pPr>
            <a:r>
              <a:rPr sz="7350" b="1">
                <a:solidFill>
                  <a:srgbClr val="6B43C7"/>
                </a:solidFill>
                <a:latin typeface="Malgun Gothic"/>
                <a:ea typeface="Malgun Gothic"/>
                <a:cs typeface="Malgun Gothic"/>
              </a:rPr>
              <a:t>5분</a:t>
            </a:r>
          </a:p>
        </p:txBody>
      </p:sp>
      <p:sp>
        <p:nvSpPr>
          <p:cNvPr id="3" name="">
            <a:extLst xmlns:a="http://schemas.openxmlformats.org/drawingml/2006/main">
              <a:ext uri="{FF2B5EF4-FFF2-40B4-BE49-F238E27FC236}">
                <a16:creationId xmlns:a16="http://schemas.microsoft.com/office/drawing/2014/main" id="{E571DCF7-B459-4587-A4A4-E9DB18CB0372}"/>
              </a:ext>
            </a:extLst>
          </p:cNvPr>
          <p:cNvSpPr>
            <a:spLocks xmlns:a="http://schemas.openxmlformats.org/drawingml/2006/main" noGrp="1"/>
          </p:cNvSpPr>
          <p:nvPr/>
        </p:nvSpPr>
        <p:spPr>
          <a:xfrm xmlns:a="http://schemas.openxmlformats.org/drawingml/2006/main">
            <a:off x="742950" y="3857625"/>
            <a:ext cx="106680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27000" algn="l">
              <a:spcAft>
                <a:spcPts val="2000"/>
              </a:spcAft>
              <a:buChar char="•"/>
              <a:defRPr sz="2400" b="0">
                <a:solidFill>
                  <a:srgbClr val="20212A"/>
                </a:solidFill>
                <a:latin typeface="Malgun Gothic"/>
                <a:ea typeface="Malgun Gothic"/>
                <a:cs typeface="Malgun Gothic"/>
              </a:defRPr>
            </a:pPr>
            <a:r>
              <a:t>답장·회의표·구매표와 확인 메모를 저장합니다.</a:t>
            </a:r>
          </a:p>
          <a:p xmlns:a="http://schemas.openxmlformats.org/drawingml/2006/main">
            <a:pPr marL="228600" indent="-127000" algn="l">
              <a:spcAft>
                <a:spcPts val="2000"/>
              </a:spcAft>
              <a:buChar char="•"/>
              <a:defRPr sz="2400" b="0">
                <a:solidFill>
                  <a:srgbClr val="20212A"/>
                </a:solidFill>
                <a:latin typeface="Malgun Gothic"/>
                <a:ea typeface="Malgun Gothic"/>
                <a:cs typeface="Malgun Gothic"/>
              </a:defRPr>
            </a:pPr>
            <a:r>
              <a:t>70분부터 NotebookLM 인수인계 실습을 시작합니다.</a:t>
            </a:r>
          </a:p>
        </p:txBody>
      </p:sp>
      <p:sp>
        <p:nvSpPr>
          <p:cNvPr id="4" name="65–70분">
            <a:extLst xmlns:a="http://schemas.openxmlformats.org/drawingml/2006/main">
              <a:ext uri="{FF2B5EF4-FFF2-40B4-BE49-F238E27FC236}">
                <a16:creationId xmlns:a16="http://schemas.microsoft.com/office/drawing/2014/main" id="{1D963C0D-4028-4FE2-A93D-757883A5D974}"/>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65–70분</a:t>
            </a:r>
          </a:p>
        </p:txBody>
      </p:sp>
      <p:sp>
        <p:nvSpPr>
          <p:cNvPr id="5" name="웹 실습 열기">
            <a:extLst xmlns:a="http://schemas.openxmlformats.org/drawingml/2006/main">
              <a:ext uri="{FF2B5EF4-FFF2-40B4-BE49-F238E27FC236}">
                <a16:creationId xmlns:a16="http://schemas.microsoft.com/office/drawing/2014/main" id="{B4D1E567-1B81-47AC-943E-67C4E51C5DDC}"/>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5dfb6bb51d504bcc"/>
              </a:rPr>
              <a:t>웹 실습 열기</a:t>
            </a:r>
          </a:p>
        </p:txBody>
      </p:sp>
      <p:sp>
        <p:nvSpPr>
          <p:cNvPr id="6" name="23">
            <a:extLst xmlns:a="http://schemas.openxmlformats.org/drawingml/2006/main">
              <a:ext uri="{FF2B5EF4-FFF2-40B4-BE49-F238E27FC236}">
                <a16:creationId xmlns:a16="http://schemas.microsoft.com/office/drawing/2014/main" id="{27F12B1D-6FC0-41F0-8A65-3CD700AF2CF3}"/>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23</a:t>
            </a:r>
          </a:p>
        </p:txBody>
      </p:sp>
    </p:spTree>
    <p:extLst>
      <p:ext uri="{BB962C8B-B14F-4D97-AF65-F5344CB8AC3E}">
        <p14:creationId xmlns:p14="http://schemas.microsoft.com/office/powerpoint/2010/main" val="1135820656"/>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네 문서를 왕복하며 확인할 일">
            <a:extLst xmlns:a="http://schemas.openxmlformats.org/drawingml/2006/main">
              <a:ext uri="{FF2B5EF4-FFF2-40B4-BE49-F238E27FC236}">
                <a16:creationId xmlns:a16="http://schemas.microsoft.com/office/drawing/2014/main" id="{16459C06-977A-44E0-B14A-353F9E7DB46C}"/>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네 문서를 왕복하며 확인할 일</a:t>
            </a:r>
          </a:p>
        </p:txBody>
      </p:sp>
      <p:sp>
        <p:nvSpPr>
          <p:cNvPr id="2" name="">
            <a:extLst xmlns:a="http://schemas.openxmlformats.org/drawingml/2006/main">
              <a:ext uri="{FF2B5EF4-FFF2-40B4-BE49-F238E27FC236}">
                <a16:creationId xmlns:a16="http://schemas.microsoft.com/office/drawing/2014/main" id="{646709AF-94E9-4392-AFA0-F55008A37D62}"/>
              </a:ext>
            </a:extLst>
          </p:cNvPr>
          <p:cNvSpPr>
            <a:spLocks xmlns:a="http://schemas.openxmlformats.org/drawingml/2006/main" noGrp="1"/>
          </p:cNvSpPr>
          <p:nvPr/>
        </p:nvSpPr>
        <p:spPr>
          <a:xfrm xmlns:a="http://schemas.openxmlformats.org/drawingml/2006/main">
            <a:off x="742950" y="1724025"/>
            <a:ext cx="106680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27000" algn="l">
              <a:spcAft>
                <a:spcPts val="2200"/>
              </a:spcAft>
              <a:buChar char="•"/>
              <a:defRPr sz="2400" b="0">
                <a:solidFill>
                  <a:srgbClr val="20212A"/>
                </a:solidFill>
                <a:latin typeface="Malgun Gothic"/>
                <a:ea typeface="Malgun Gothic"/>
                <a:cs typeface="Malgun Gothic"/>
              </a:defRPr>
            </a:pPr>
            <a:r>
              <a:t>최초 공지와 나중 승인된 문장을 나란히 비교</a:t>
            </a:r>
          </a:p>
          <a:p xmlns:a="http://schemas.openxmlformats.org/drawingml/2006/main">
            <a:pPr marL="228600" indent="-127000" algn="l">
              <a:spcAft>
                <a:spcPts val="2200"/>
              </a:spcAft>
              <a:buChar char="•"/>
              <a:defRPr sz="2400" b="0">
                <a:solidFill>
                  <a:srgbClr val="20212A"/>
                </a:solidFill>
                <a:latin typeface="Malgun Gothic"/>
                <a:ea typeface="Malgun Gothic"/>
                <a:cs typeface="Malgun Gothic"/>
              </a:defRPr>
            </a:pPr>
            <a:r>
              <a:t>신청 기한·장소·대여의 적용 범위를 표로 정리</a:t>
            </a:r>
          </a:p>
          <a:p xmlns:a="http://schemas.openxmlformats.org/drawingml/2006/main">
            <a:pPr marL="228600" indent="-127000" algn="l">
              <a:spcAft>
                <a:spcPts val="2200"/>
              </a:spcAft>
              <a:buChar char="•"/>
              <a:defRPr sz="2400" b="0">
                <a:solidFill>
                  <a:srgbClr val="20212A"/>
                </a:solidFill>
                <a:latin typeface="Malgun Gothic"/>
                <a:ea typeface="Malgun Gothic"/>
                <a:cs typeface="Malgun Gothic"/>
              </a:defRPr>
            </a:pPr>
            <a:r>
              <a:t>참가자 FAQ와 문의 14건을 구분해 작성</a:t>
            </a:r>
          </a:p>
          <a:p xmlns:a="http://schemas.openxmlformats.org/drawingml/2006/main">
            <a:pPr marL="228600" indent="-127000" algn="l">
              <a:spcAft>
                <a:spcPts val="2200"/>
              </a:spcAft>
              <a:buChar char="•"/>
              <a:defRPr sz="2400" b="0">
                <a:solidFill>
                  <a:srgbClr val="20212A"/>
                </a:solidFill>
                <a:latin typeface="Malgun Gothic"/>
                <a:ea typeface="Malgun Gothic"/>
                <a:cs typeface="Malgun Gothic"/>
              </a:defRPr>
            </a:pPr>
            <a:r>
              <a:t>핵심 인용을 직접 열고 원문 위치 기록</a:t>
            </a:r>
          </a:p>
        </p:txBody>
      </p:sp>
      <p:sp>
        <p:nvSpPr>
          <p:cNvPr id="3" name="AI의 인용은 찾는 출발점입니다. 답변과 원문을 대">
            <a:extLst xmlns:a="http://schemas.openxmlformats.org/drawingml/2006/main">
              <a:ext uri="{FF2B5EF4-FFF2-40B4-BE49-F238E27FC236}">
                <a16:creationId xmlns:a16="http://schemas.microsoft.com/office/drawing/2014/main" id="{079D2A7C-4F2A-4B9E-A3D1-E6237C5ABEF7}"/>
              </a:ext>
            </a:extLst>
          </p:cNvPr>
          <p:cNvSpPr>
            <a:spLocks xmlns:a="http://schemas.openxmlformats.org/drawingml/2006/main" noGrp="1"/>
          </p:cNvSpPr>
          <p:nvPr/>
        </p:nvSpPr>
        <p:spPr>
          <a:xfrm xmlns:a="http://schemas.openxmlformats.org/drawingml/2006/main">
            <a:off x="742950" y="54102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100" b="1">
                <a:solidFill>
                  <a:srgbClr val="6B43C7"/>
                </a:solidFill>
                <a:latin typeface="Malgun Gothic"/>
                <a:ea typeface="Malgun Gothic"/>
                <a:cs typeface="Malgun Gothic"/>
              </a:defRPr>
            </a:pPr>
            <a:r>
              <a:rPr sz="2100" b="1">
                <a:solidFill>
                  <a:srgbClr val="6B43C7"/>
                </a:solidFill>
                <a:latin typeface="Malgun Gothic"/>
                <a:ea typeface="Malgun Gothic"/>
                <a:cs typeface="Malgun Gothic"/>
              </a:rPr>
              <a:t>AI의 인용은 찾는 출발점입니다. 답변과 원문을 대조합니다.</a:t>
            </a:r>
          </a:p>
        </p:txBody>
      </p:sp>
      <p:sp>
        <p:nvSpPr>
          <p:cNvPr id="4" name="70–73분">
            <a:extLst xmlns:a="http://schemas.openxmlformats.org/drawingml/2006/main">
              <a:ext uri="{FF2B5EF4-FFF2-40B4-BE49-F238E27FC236}">
                <a16:creationId xmlns:a16="http://schemas.microsoft.com/office/drawing/2014/main" id="{AF5A7E30-8916-4BF1-9AC3-173BEBC390F9}"/>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70–73분</a:t>
            </a:r>
          </a:p>
        </p:txBody>
      </p:sp>
      <p:sp>
        <p:nvSpPr>
          <p:cNvPr id="5" name="웹 실습 열기">
            <a:extLst xmlns:a="http://schemas.openxmlformats.org/drawingml/2006/main">
              <a:ext uri="{FF2B5EF4-FFF2-40B4-BE49-F238E27FC236}">
                <a16:creationId xmlns:a16="http://schemas.microsoft.com/office/drawing/2014/main" id="{36341AF4-7D5D-4545-81A3-DAC2F3826B26}"/>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b416bda2f69e470d"/>
              </a:rPr>
              <a:t>웹 실습 열기</a:t>
            </a:r>
          </a:p>
        </p:txBody>
      </p:sp>
      <p:sp>
        <p:nvSpPr>
          <p:cNvPr id="6" name="24">
            <a:extLst xmlns:a="http://schemas.openxmlformats.org/drawingml/2006/main">
              <a:ext uri="{FF2B5EF4-FFF2-40B4-BE49-F238E27FC236}">
                <a16:creationId xmlns:a16="http://schemas.microsoft.com/office/drawing/2014/main" id="{6593068E-F789-4812-96FD-5C9974F2F71D}"/>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24</a:t>
            </a:r>
          </a:p>
        </p:txBody>
      </p:sp>
    </p:spTree>
    <p:extLst>
      <p:ext uri="{BB962C8B-B14F-4D97-AF65-F5344CB8AC3E}">
        <p14:creationId xmlns:p14="http://schemas.microsoft.com/office/powerpoint/2010/main" val="2072464200"/>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인수인계 문서 네 개">
            <a:extLst xmlns:a="http://schemas.openxmlformats.org/drawingml/2006/main">
              <a:ext uri="{FF2B5EF4-FFF2-40B4-BE49-F238E27FC236}">
                <a16:creationId xmlns:a16="http://schemas.microsoft.com/office/drawing/2014/main" id="{40414CD8-F26A-473B-AC8A-30D728706A2B}"/>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인수인계 문서 네 개</a:t>
            </a:r>
          </a:p>
        </p:txBody>
      </p:sp>
      <p:graphicFrame>
        <p:nvGraphicFramePr>
          <p:cNvPr id="8" name=""/>
          <p:cNvGraphicFramePr/>
          <p:nvPr/>
        </p:nvGraphicFramePr>
        <p:xfrm>
          <a:off xmlns:a="http://schemas.openxmlformats.org/drawingml/2006/main" x="685800" y="1543050"/>
          <a:ext xmlns:a="http://schemas.openxmlformats.org/drawingml/2006/main" cx="10820400" cy="2952750"/>
        </p:xfrm>
        <a:graphic xmlns:a="http://schemas.openxmlformats.org/drawingml/2006/main">
          <a:graphicData uri="http://schemas.openxmlformats.org/drawingml/2006/table">
            <a:tbl>
              <a:tblPr firstRow="1" bandRow="0"/>
              <a:tblGrid>
                <a:gridCol w="2667000"/>
                <a:gridCol w="2190750"/>
                <a:gridCol w="5905500"/>
              </a:tblGrid>
              <a:tr h="590550">
                <a:tc>
                  <a:txBody>
                    <a:bodyPr lIns="114300" tIns="66675" rIns="114300" bIns="57150">
                      <a:noAutofit/>
                    </a:bodyPr>
                    <a:lstStyle/>
                    <a:p>
                      <a:pPr algn="l"/>
                      <a:r>
                        <a:rPr sz="1875" b="1">
                          <a:solidFill>
                            <a:srgbClr val="FFFFFF"/>
                          </a:solidFill>
                          <a:latin typeface="Malgun Gothic"/>
                          <a:ea typeface="Malgun Gothic"/>
                          <a:cs typeface="Malgun Gothic"/>
                        </a:rPr>
                        <a:t>문서</a:t>
                      </a:r>
                    </a:p>
                  </a:txBody>
                  <a:tcPr marL="91440" marR="91440" marT="45720" marB="45720" anchor="ctr">
                    <a:solidFill>
                      <a:srgbClr val="6B43C7"/>
                    </a:solidFill>
                  </a:tcPr>
                </a:tc>
                <a:tc>
                  <a:txBody>
                    <a:bodyPr lIns="114300" tIns="66675" rIns="114300" bIns="57150">
                      <a:noAutofit/>
                    </a:bodyPr>
                    <a:lstStyle/>
                    <a:p>
                      <a:pPr algn="l"/>
                      <a:r>
                        <a:rPr sz="1875" b="1">
                          <a:solidFill>
                            <a:srgbClr val="FFFFFF"/>
                          </a:solidFill>
                          <a:latin typeface="Malgun Gothic"/>
                          <a:ea typeface="Malgun Gothic"/>
                          <a:cs typeface="Malgun Gothic"/>
                        </a:rPr>
                        <a:t>기준일</a:t>
                      </a:r>
                    </a:p>
                  </a:txBody>
                  <a:tcPr marL="91440" marR="91440" marT="45720" marB="45720" anchor="ctr">
                    <a:solidFill>
                      <a:srgbClr val="6B43C7"/>
                    </a:solidFill>
                  </a:tcPr>
                </a:tc>
                <a:tc>
                  <a:txBody>
                    <a:bodyPr lIns="114300" tIns="66675" rIns="114300" bIns="57150">
                      <a:noAutofit/>
                    </a:bodyPr>
                    <a:lstStyle/>
                    <a:p>
                      <a:pPr algn="l"/>
                      <a:r>
                        <a:rPr sz="1875" b="1">
                          <a:solidFill>
                            <a:srgbClr val="FFFFFF"/>
                          </a:solidFill>
                          <a:latin typeface="Malgun Gothic"/>
                          <a:ea typeface="Malgun Gothic"/>
                          <a:cs typeface="Malgun Gothic"/>
                        </a:rPr>
                        <a:t>읽을 내용</a:t>
                      </a:r>
                    </a:p>
                  </a:txBody>
                  <a:tcPr marL="91440" marR="91440" marT="45720" marB="45720" anchor="ctr">
                    <a:solidFill>
                      <a:srgbClr val="6B43C7"/>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14A 최초 안내</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10/16</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행사 조건과 구 신청 마감</a:t>
                      </a:r>
                    </a:p>
                  </a:txBody>
                  <a:tcPr marL="91440" marR="91440" marT="45720" marB="45720" anchor="ctr">
                    <a:solidFill>
                      <a:srgbClr val="FFFFFF"/>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14B 업무 인계</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10/20</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업무별 완료·대기 상태</a:t>
                      </a:r>
                    </a:p>
                  </a:txBody>
                  <a:tcPr marL="91440" marR="91440" marT="45720" marB="45720" anchor="ctr">
                    <a:solidFill>
                      <a:srgbClr val="F5F2FC"/>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14C 변경 승인</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10/22</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신청 연장 승인, 장소 제안, 대여 확보</a:t>
                      </a:r>
                    </a:p>
                  </a:txBody>
                  <a:tcPr marL="91440" marR="91440" marT="45720" marB="45720" anchor="ctr">
                    <a:solidFill>
                      <a:srgbClr val="FFFFFF"/>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14D 문의 목록</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10/22 16:20</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참가자와 내부 문의 14건</a:t>
                      </a:r>
                    </a:p>
                  </a:txBody>
                  <a:tcPr marL="91440" marR="91440" marT="45720" marB="45720" anchor="ctr">
                    <a:solidFill>
                      <a:srgbClr val="F5F2FC"/>
                    </a:solidFill>
                  </a:tcPr>
                </a:tc>
              </a:tr>
            </a:tbl>
          </a:graphicData>
        </a:graphic>
      </p:graphicFrame>
      <p:sp>
        <p:nvSpPr>
          <p:cNvPr id="3" name="17번 검토 기준과 Claude의 행사 후 자료 1">
            <a:extLst xmlns:a="http://schemas.openxmlformats.org/drawingml/2006/main">
              <a:ext uri="{FF2B5EF4-FFF2-40B4-BE49-F238E27FC236}">
                <a16:creationId xmlns:a16="http://schemas.microsoft.com/office/drawing/2014/main" id="{4420021F-B7A1-4957-9199-DC54ABE63AD2}"/>
              </a:ext>
            </a:extLst>
          </p:cNvPr>
          <p:cNvSpPr>
            <a:spLocks xmlns:a="http://schemas.openxmlformats.org/drawingml/2006/main" noGrp="1"/>
          </p:cNvSpPr>
          <p:nvPr/>
        </p:nvSpPr>
        <p:spPr>
          <a:xfrm xmlns:a="http://schemas.openxmlformats.org/drawingml/2006/main">
            <a:off x="685800" y="581025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17번 검토 기준과 Claude의 행사 후 자료 15번은 소스로 넣지 않습니다.</a:t>
            </a:r>
          </a:p>
        </p:txBody>
      </p:sp>
      <p:sp>
        <p:nvSpPr>
          <p:cNvPr id="4" name="73–77분">
            <a:extLst xmlns:a="http://schemas.openxmlformats.org/drawingml/2006/main">
              <a:ext uri="{FF2B5EF4-FFF2-40B4-BE49-F238E27FC236}">
                <a16:creationId xmlns:a16="http://schemas.microsoft.com/office/drawing/2014/main" id="{18C03ED5-22AF-46A9-8172-CCFB068B199C}"/>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73–77분</a:t>
            </a:r>
          </a:p>
        </p:txBody>
      </p:sp>
      <p:sp>
        <p:nvSpPr>
          <p:cNvPr id="5" name="웹 실습 열기">
            <a:extLst xmlns:a="http://schemas.openxmlformats.org/drawingml/2006/main">
              <a:ext uri="{FF2B5EF4-FFF2-40B4-BE49-F238E27FC236}">
                <a16:creationId xmlns:a16="http://schemas.microsoft.com/office/drawing/2014/main" id="{A752444B-18B7-4835-A1D2-05B78CFF0428}"/>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81403cb2ccb54ae9"/>
              </a:rPr>
              <a:t>웹 실습 열기</a:t>
            </a:r>
          </a:p>
        </p:txBody>
      </p:sp>
      <p:sp>
        <p:nvSpPr>
          <p:cNvPr id="6" name="25">
            <a:extLst xmlns:a="http://schemas.openxmlformats.org/drawingml/2006/main">
              <a:ext uri="{FF2B5EF4-FFF2-40B4-BE49-F238E27FC236}">
                <a16:creationId xmlns:a16="http://schemas.microsoft.com/office/drawing/2014/main" id="{FA75C15E-FB71-41BC-8134-1256D8B92218}"/>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25</a:t>
            </a:r>
          </a:p>
        </p:txBody>
      </p:sp>
    </p:spTree>
    <p:extLst>
      <p:ext uri="{BB962C8B-B14F-4D97-AF65-F5344CB8AC3E}">
        <p14:creationId xmlns:p14="http://schemas.microsoft.com/office/powerpoint/2010/main" val="1800979622"/>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소스 추가와 목록 확인">
            <a:extLst xmlns:a="http://schemas.openxmlformats.org/drawingml/2006/main">
              <a:ext uri="{FF2B5EF4-FFF2-40B4-BE49-F238E27FC236}">
                <a16:creationId xmlns:a16="http://schemas.microsoft.com/office/drawing/2014/main" id="{E98A0AF1-5DFF-42AB-84C5-787A15B0D9E9}"/>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소스 추가와 목록 확인</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7cdeef786cea4661"/>
          <a:stretch xmlns:a="http://schemas.openxmlformats.org/drawingml/2006/main"/>
        </p:blipFill>
        <p:spPr>
          <a:xfrm xmlns:a="http://schemas.openxmlformats.org/drawingml/2006/main">
            <a:off x="1046075" y="1552575"/>
            <a:ext cx="6327949" cy="43624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EDBE06F-9CD9-4803-99FC-A6E08088B33C}"/>
              </a:ext>
            </a:extLst>
          </p:cNvPr>
          <p:cNvSpPr>
            <a:spLocks xmlns:a="http://schemas.openxmlformats.org/drawingml/2006/main" noGrp="1"/>
          </p:cNvSpPr>
          <p:nvPr/>
        </p:nvSpPr>
        <p:spPr>
          <a:xfrm xmlns:a="http://schemas.openxmlformats.org/drawingml/2006/main">
            <a:off x="8201025" y="1752600"/>
            <a:ext cx="3295650" cy="3867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27000" algn="l">
              <a:spcAft>
                <a:spcPts val="1800"/>
              </a:spcAft>
              <a:buChar char="•"/>
              <a:defRPr sz="2025" b="0">
                <a:solidFill>
                  <a:srgbClr val="20212A"/>
                </a:solidFill>
                <a:latin typeface="Malgun Gothic"/>
                <a:ea typeface="Malgun Gothic"/>
                <a:cs typeface="Malgun Gothic"/>
              </a:defRPr>
            </a:pPr>
            <a:r>
              <a:t>새 노트북에서 파일별로 추가</a:t>
            </a:r>
          </a:p>
          <a:p xmlns:a="http://schemas.openxmlformats.org/drawingml/2006/main">
            <a:pPr marL="228600" indent="-127000" algn="l">
              <a:spcAft>
                <a:spcPts val="1800"/>
              </a:spcAft>
              <a:buChar char="•"/>
              <a:defRPr sz="2025" b="0">
                <a:solidFill>
                  <a:srgbClr val="20212A"/>
                </a:solidFill>
                <a:latin typeface="Malgun Gothic"/>
                <a:ea typeface="Malgun Gothic"/>
                <a:cs typeface="Malgun Gothic"/>
              </a:defRPr>
            </a:pPr>
            <a:r>
              <a:t>네 파일 이름과 선택 상태 확인</a:t>
            </a:r>
          </a:p>
          <a:p xmlns:a="http://schemas.openxmlformats.org/drawingml/2006/main">
            <a:pPr marL="228600" indent="-127000" algn="l">
              <a:spcAft>
                <a:spcPts val="1800"/>
              </a:spcAft>
              <a:buChar char="•"/>
              <a:defRPr sz="2025" b="0">
                <a:solidFill>
                  <a:srgbClr val="20212A"/>
                </a:solidFill>
                <a:latin typeface="Malgun Gothic"/>
                <a:ea typeface="Malgun Gothic"/>
                <a:cs typeface="Malgun Gothic"/>
              </a:defRPr>
            </a:pPr>
            <a:r>
              <a:t>업로드가 어려우면 파일별 텍스트로 추가</a:t>
            </a:r>
          </a:p>
        </p:txBody>
      </p:sp>
      <p:sp>
        <p:nvSpPr>
          <p:cNvPr id="4" name="기본연습의 소스 추가 화면 참고. 오늘은 14A~1">
            <a:extLst xmlns:a="http://schemas.openxmlformats.org/drawingml/2006/main">
              <a:ext uri="{FF2B5EF4-FFF2-40B4-BE49-F238E27FC236}">
                <a16:creationId xmlns:a16="http://schemas.microsoft.com/office/drawing/2014/main" id="{D7351AB3-FF6E-4B56-B912-12E0D08755B1}"/>
              </a:ext>
            </a:extLst>
          </p:cNvPr>
          <p:cNvSpPr>
            <a:spLocks xmlns:a="http://schemas.openxmlformats.org/drawingml/2006/main" noGrp="1"/>
          </p:cNvSpPr>
          <p:nvPr/>
        </p:nvSpPr>
        <p:spPr>
          <a:xfrm xmlns:a="http://schemas.openxmlformats.org/drawingml/2006/main">
            <a:off x="685800" y="599122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기본연습의 소스 추가 화면 참고. 오늘은 14A~14D 네 파일을 각각 넣습니다.</a:t>
            </a:r>
          </a:p>
        </p:txBody>
      </p:sp>
      <p:sp>
        <p:nvSpPr>
          <p:cNvPr id="5" name="77–80분">
            <a:extLst xmlns:a="http://schemas.openxmlformats.org/drawingml/2006/main">
              <a:ext uri="{FF2B5EF4-FFF2-40B4-BE49-F238E27FC236}">
                <a16:creationId xmlns:a16="http://schemas.microsoft.com/office/drawing/2014/main" id="{EA71BE43-2DCA-4281-A9F6-8560CA4BAAC7}"/>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77–80분</a:t>
            </a:r>
          </a:p>
        </p:txBody>
      </p:sp>
      <p:sp>
        <p:nvSpPr>
          <p:cNvPr id="6" name="웹 실습 열기">
            <a:extLst xmlns:a="http://schemas.openxmlformats.org/drawingml/2006/main">
              <a:ext uri="{FF2B5EF4-FFF2-40B4-BE49-F238E27FC236}">
                <a16:creationId xmlns:a16="http://schemas.microsoft.com/office/drawing/2014/main" id="{03D92F70-42AE-4E4D-B30F-D04FB7519E93}"/>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78cee12fe46d436e"/>
              </a:rPr>
              <a:t>웹 실습 열기</a:t>
            </a:r>
          </a:p>
        </p:txBody>
      </p:sp>
      <p:sp>
        <p:nvSpPr>
          <p:cNvPr id="7" name="26">
            <a:extLst xmlns:a="http://schemas.openxmlformats.org/drawingml/2006/main">
              <a:ext uri="{FF2B5EF4-FFF2-40B4-BE49-F238E27FC236}">
                <a16:creationId xmlns:a16="http://schemas.microsoft.com/office/drawing/2014/main" id="{A3FFB771-1F1C-4D18-88E7-2139D05B9CCD}"/>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26</a:t>
            </a:r>
          </a:p>
        </p:txBody>
      </p:sp>
    </p:spTree>
    <p:extLst>
      <p:ext uri="{BB962C8B-B14F-4D97-AF65-F5344CB8AC3E}">
        <p14:creationId xmlns:p14="http://schemas.microsoft.com/office/powerpoint/2010/main" val="1490237839"/>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승인된 변경의 범위">
            <a:extLst xmlns:a="http://schemas.openxmlformats.org/drawingml/2006/main">
              <a:ext uri="{FF2B5EF4-FFF2-40B4-BE49-F238E27FC236}">
                <a16:creationId xmlns:a16="http://schemas.microsoft.com/office/drawing/2014/main" id="{8C70D922-4514-4B64-9DCD-7A1C2E48EC17}"/>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승인된 변경의 범위</a:t>
            </a:r>
          </a:p>
        </p:txBody>
      </p:sp>
      <p:graphicFrame>
        <p:nvGraphicFramePr>
          <p:cNvPr id="8" name=""/>
          <p:cNvGraphicFramePr/>
          <p:nvPr/>
        </p:nvGraphicFramePr>
        <p:xfrm>
          <a:off xmlns:a="http://schemas.openxmlformats.org/drawingml/2006/main" x="685800" y="1543050"/>
          <a:ext xmlns:a="http://schemas.openxmlformats.org/drawingml/2006/main" cx="10820400" cy="2952750"/>
        </p:xfrm>
        <a:graphic xmlns:a="http://schemas.openxmlformats.org/drawingml/2006/main">
          <a:graphicData uri="http://schemas.openxmlformats.org/drawingml/2006/table">
            <a:tbl>
              <a:tblPr firstRow="1" bandRow="0"/>
              <a:tblGrid>
                <a:gridCol w="2095500"/>
                <a:gridCol w="4095750"/>
                <a:gridCol w="4572000"/>
              </a:tblGrid>
              <a:tr h="590550">
                <a:tc>
                  <a:txBody>
                    <a:bodyPr lIns="114300" tIns="66675" rIns="114300" bIns="57150">
                      <a:noAutofit/>
                    </a:bodyPr>
                    <a:lstStyle/>
                    <a:p>
                      <a:pPr algn="l"/>
                      <a:r>
                        <a:rPr sz="1875" b="1">
                          <a:solidFill>
                            <a:srgbClr val="FFFFFF"/>
                          </a:solidFill>
                          <a:latin typeface="Malgun Gothic"/>
                          <a:ea typeface="Malgun Gothic"/>
                          <a:cs typeface="Malgun Gothic"/>
                        </a:rPr>
                        <a:t>항목</a:t>
                      </a:r>
                    </a:p>
                  </a:txBody>
                  <a:tcPr marL="91440" marR="91440" marT="45720" marB="45720" anchor="ctr">
                    <a:solidFill>
                      <a:srgbClr val="6B43C7"/>
                    </a:solidFill>
                  </a:tcPr>
                </a:tc>
                <a:tc>
                  <a:txBody>
                    <a:bodyPr lIns="114300" tIns="66675" rIns="114300" bIns="57150">
                      <a:noAutofit/>
                    </a:bodyPr>
                    <a:lstStyle/>
                    <a:p>
                      <a:pPr algn="l"/>
                      <a:r>
                        <a:rPr sz="1875" b="1">
                          <a:solidFill>
                            <a:srgbClr val="FFFFFF"/>
                          </a:solidFill>
                          <a:latin typeface="Malgun Gothic"/>
                          <a:ea typeface="Malgun Gothic"/>
                          <a:cs typeface="Malgun Gothic"/>
                        </a:rPr>
                        <a:t>최초 조건 또는 제안</a:t>
                      </a:r>
                    </a:p>
                  </a:txBody>
                  <a:tcPr marL="91440" marR="91440" marT="45720" marB="45720" anchor="ctr">
                    <a:solidFill>
                      <a:srgbClr val="6B43C7"/>
                    </a:solidFill>
                  </a:tcPr>
                </a:tc>
                <a:tc>
                  <a:txBody>
                    <a:bodyPr lIns="114300" tIns="66675" rIns="114300" bIns="57150">
                      <a:noAutofit/>
                    </a:bodyPr>
                    <a:lstStyle/>
                    <a:p>
                      <a:pPr algn="l"/>
                      <a:r>
                        <a:rPr sz="1875" b="1">
                          <a:solidFill>
                            <a:srgbClr val="FFFFFF"/>
                          </a:solidFill>
                          <a:latin typeface="Malgun Gothic"/>
                          <a:ea typeface="Malgun Gothic"/>
                          <a:cs typeface="Malgun Gothic"/>
                        </a:rPr>
                        <a:t>10월 22일 현재 적용</a:t>
                      </a:r>
                    </a:p>
                  </a:txBody>
                  <a:tcPr marL="91440" marR="91440" marT="45720" marB="45720" anchor="ctr">
                    <a:solidFill>
                      <a:srgbClr val="6B43C7"/>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신청 마감</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10월 23일 18:00</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10월 26일 18:00 승인 연장</a:t>
                      </a:r>
                    </a:p>
                  </a:txBody>
                  <a:tcPr marL="91440" marR="91440" marT="45720" marB="45720" anchor="ctr">
                    <a:solidFill>
                      <a:srgbClr val="FFFFFF"/>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취소 통보</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10월 28일 12:00</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그대로 유지</a:t>
                      </a:r>
                    </a:p>
                  </a:txBody>
                  <a:tcPr marL="91440" marR="91440" marT="45720" marB="45720" anchor="ctr">
                    <a:solidFill>
                      <a:srgbClr val="F5F2FC"/>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장소</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201호 / 301호 제안</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301호 미승인, 201호 유지</a:t>
                      </a:r>
                    </a:p>
                  </a:txBody>
                  <a:tcPr marL="91440" marR="91440" marT="45720" marB="45720" anchor="ctr">
                    <a:solidFill>
                      <a:srgbClr val="FFFFFF"/>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대여 기기</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보유 노트북 사용 검토</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4대 확보 승인, 개인 배정 미확정</a:t>
                      </a:r>
                    </a:p>
                  </a:txBody>
                  <a:tcPr marL="91440" marR="91440" marT="45720" marB="45720" anchor="ctr">
                    <a:solidFill>
                      <a:srgbClr val="F5F2FC"/>
                    </a:solidFill>
                  </a:tcPr>
                </a:tc>
              </a:tr>
            </a:tbl>
          </a:graphicData>
        </a:graphic>
      </p:graphicFrame>
      <p:sp>
        <p:nvSpPr>
          <p:cNvPr id="3" name="원문 C2, C2-1, C3, C4를 함께 읽습니다">
            <a:extLst xmlns:a="http://schemas.openxmlformats.org/drawingml/2006/main">
              <a:ext uri="{FF2B5EF4-FFF2-40B4-BE49-F238E27FC236}">
                <a16:creationId xmlns:a16="http://schemas.microsoft.com/office/drawing/2014/main" id="{6163DE3F-468C-47B4-87AF-139C865040D4}"/>
              </a:ext>
            </a:extLst>
          </p:cNvPr>
          <p:cNvSpPr>
            <a:spLocks xmlns:a="http://schemas.openxmlformats.org/drawingml/2006/main" noGrp="1"/>
          </p:cNvSpPr>
          <p:nvPr/>
        </p:nvSpPr>
        <p:spPr>
          <a:xfrm xmlns:a="http://schemas.openxmlformats.org/drawingml/2006/main">
            <a:off x="685800" y="581025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원문 C2, C2-1, C3, C4를 함께 읽습니다.</a:t>
            </a:r>
          </a:p>
        </p:txBody>
      </p:sp>
      <p:sp>
        <p:nvSpPr>
          <p:cNvPr id="4" name="80–83분">
            <a:extLst xmlns:a="http://schemas.openxmlformats.org/drawingml/2006/main">
              <a:ext uri="{FF2B5EF4-FFF2-40B4-BE49-F238E27FC236}">
                <a16:creationId xmlns:a16="http://schemas.microsoft.com/office/drawing/2014/main" id="{00ECDD0A-22BE-4107-B45B-805321149FD2}"/>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80–83분</a:t>
            </a:r>
          </a:p>
        </p:txBody>
      </p:sp>
      <p:sp>
        <p:nvSpPr>
          <p:cNvPr id="5" name="웹 실습 열기">
            <a:extLst xmlns:a="http://schemas.openxmlformats.org/drawingml/2006/main">
              <a:ext uri="{FF2B5EF4-FFF2-40B4-BE49-F238E27FC236}">
                <a16:creationId xmlns:a16="http://schemas.microsoft.com/office/drawing/2014/main" id="{667C506A-2638-4F14-B00D-E57CA10E105C}"/>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be90110260074c37"/>
              </a:rPr>
              <a:t>웹 실습 열기</a:t>
            </a:r>
          </a:p>
        </p:txBody>
      </p:sp>
      <p:sp>
        <p:nvSpPr>
          <p:cNvPr id="6" name="27">
            <a:extLst xmlns:a="http://schemas.openxmlformats.org/drawingml/2006/main">
              <a:ext uri="{FF2B5EF4-FFF2-40B4-BE49-F238E27FC236}">
                <a16:creationId xmlns:a16="http://schemas.microsoft.com/office/drawing/2014/main" id="{8B73477C-475B-4BCF-B0F4-646FFF6276EF}"/>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27</a:t>
            </a:r>
          </a:p>
        </p:txBody>
      </p:sp>
    </p:spTree>
    <p:extLst>
      <p:ext uri="{BB962C8B-B14F-4D97-AF65-F5344CB8AC3E}">
        <p14:creationId xmlns:p14="http://schemas.microsoft.com/office/powerpoint/2010/main" val="811649031"/>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바꿀 공지 세 곳과 남은 업무">
            <a:extLst xmlns:a="http://schemas.openxmlformats.org/drawingml/2006/main">
              <a:ext uri="{FF2B5EF4-FFF2-40B4-BE49-F238E27FC236}">
                <a16:creationId xmlns:a16="http://schemas.microsoft.com/office/drawing/2014/main" id="{E998D92A-CA9F-43F9-9530-3252BD5B7452}"/>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바꿀 공지 세 곳과 남은 업무</a:t>
            </a:r>
          </a:p>
        </p:txBody>
      </p:sp>
      <p:sp>
        <p:nvSpPr>
          <p:cNvPr id="2" name="4분">
            <a:extLst xmlns:a="http://schemas.openxmlformats.org/drawingml/2006/main">
              <a:ext uri="{FF2B5EF4-FFF2-40B4-BE49-F238E27FC236}">
                <a16:creationId xmlns:a16="http://schemas.microsoft.com/office/drawing/2014/main" id="{D98B86E7-9CC2-4CE1-8D33-7EA23A407FBA}"/>
              </a:ext>
            </a:extLst>
          </p:cNvPr>
          <p:cNvSpPr>
            <a:spLocks xmlns:a="http://schemas.openxmlformats.org/drawingml/2006/main" noGrp="1"/>
          </p:cNvSpPr>
          <p:nvPr/>
        </p:nvSpPr>
        <p:spPr>
          <a:xfrm xmlns:a="http://schemas.openxmlformats.org/drawingml/2006/main">
            <a:off x="685800" y="1619250"/>
            <a:ext cx="2743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4125" b="1">
                <a:solidFill>
                  <a:srgbClr val="6B43C7"/>
                </a:solidFill>
                <a:latin typeface="Malgun Gothic"/>
                <a:ea typeface="Malgun Gothic"/>
                <a:cs typeface="Malgun Gothic"/>
              </a:defRPr>
            </a:pPr>
            <a:r>
              <a:rPr sz="4125" b="1">
                <a:solidFill>
                  <a:srgbClr val="6B43C7"/>
                </a:solidFill>
                <a:latin typeface="Malgun Gothic"/>
                <a:ea typeface="Malgun Gothic"/>
                <a:cs typeface="Malgun Gothic"/>
              </a:rPr>
              <a:t>4분</a:t>
            </a:r>
          </a:p>
        </p:txBody>
      </p:sp>
      <p:sp>
        <p:nvSpPr>
          <p:cNvPr id="3" name="첫 질문으로 최신 운영 조건과 구공지 수정표를 만듭">
            <a:extLst xmlns:a="http://schemas.openxmlformats.org/drawingml/2006/main">
              <a:ext uri="{FF2B5EF4-FFF2-40B4-BE49-F238E27FC236}">
                <a16:creationId xmlns:a16="http://schemas.microsoft.com/office/drawing/2014/main" id="{9916C26E-3937-4DC4-9907-D4FBA02186C9}"/>
              </a:ext>
            </a:extLst>
          </p:cNvPr>
          <p:cNvSpPr>
            <a:spLocks xmlns:a="http://schemas.openxmlformats.org/drawingml/2006/main" noGrp="1"/>
          </p:cNvSpPr>
          <p:nvPr/>
        </p:nvSpPr>
        <p:spPr>
          <a:xfrm xmlns:a="http://schemas.openxmlformats.org/drawingml/2006/main">
            <a:off x="685800" y="2895600"/>
            <a:ext cx="276225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250" b="1">
                <a:solidFill>
                  <a:srgbClr val="20212A"/>
                </a:solidFill>
                <a:latin typeface="Malgun Gothic"/>
                <a:ea typeface="Malgun Gothic"/>
                <a:cs typeface="Malgun Gothic"/>
              </a:defRPr>
            </a:pPr>
            <a:r>
              <a:rPr sz="2250" b="1">
                <a:solidFill>
                  <a:srgbClr val="20212A"/>
                </a:solidFill>
                <a:latin typeface="Malgun Gothic"/>
                <a:ea typeface="Malgun Gothic"/>
                <a:cs typeface="Malgun Gothic"/>
              </a:rPr>
              <a:t>첫 질문으로 최신 운영 조건과 구공지 수정표를 만듭니다.</a:t>
            </a:r>
          </a:p>
        </p:txBody>
      </p:sp>
      <p:sp>
        <p:nvSpPr>
          <p:cNvPr id="4" name="">
            <a:extLst xmlns:a="http://schemas.openxmlformats.org/drawingml/2006/main">
              <a:ext uri="{FF2B5EF4-FFF2-40B4-BE49-F238E27FC236}">
                <a16:creationId xmlns:a16="http://schemas.microsoft.com/office/drawing/2014/main" id="{C85E21EF-552C-47F2-B791-05A688318814}"/>
              </a:ext>
            </a:extLst>
          </p:cNvPr>
          <p:cNvSpPr>
            <a:spLocks xmlns:a="http://schemas.openxmlformats.org/drawingml/2006/main" noGrp="1"/>
          </p:cNvSpPr>
          <p:nvPr/>
        </p:nvSpPr>
        <p:spPr>
          <a:xfrm xmlns:a="http://schemas.openxmlformats.org/drawingml/2006/main">
            <a:off x="4038600" y="1647825"/>
            <a:ext cx="74676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A3의 신청 마감 문장</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A5-2의 부서 전달용 문안</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C5에 보관된 포털 요약 문안</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수정 요청과 수정 완료 회신을 구분</a:t>
            </a:r>
          </a:p>
        </p:txBody>
      </p:sp>
      <p:sp>
        <p:nvSpPr>
          <p:cNvPr id="5" name="남길 결과">
            <a:extLst xmlns:a="http://schemas.openxmlformats.org/drawingml/2006/main">
              <a:ext uri="{FF2B5EF4-FFF2-40B4-BE49-F238E27FC236}">
                <a16:creationId xmlns:a16="http://schemas.microsoft.com/office/drawing/2014/main" id="{7ABFC05A-B145-4AE8-8E22-87026B9FE87D}"/>
              </a:ext>
            </a:extLst>
          </p:cNvPr>
          <p:cNvSpPr>
            <a:spLocks xmlns:a="http://schemas.openxmlformats.org/drawingml/2006/main" noGrp="1"/>
          </p:cNvSpPr>
          <p:nvPr/>
        </p:nvSpPr>
        <p:spPr>
          <a:xfrm xmlns:a="http://schemas.openxmlformats.org/drawingml/2006/main">
            <a:off x="4038600" y="5029200"/>
            <a:ext cx="7467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1">
                <a:solidFill>
                  <a:srgbClr val="6B43C7"/>
                </a:solidFill>
                <a:latin typeface="Malgun Gothic"/>
                <a:ea typeface="Malgun Gothic"/>
                <a:cs typeface="Malgun Gothic"/>
              </a:defRPr>
            </a:pPr>
            <a:r>
              <a:rPr sz="1725" b="1">
                <a:solidFill>
                  <a:srgbClr val="6B43C7"/>
                </a:solidFill>
                <a:latin typeface="Malgun Gothic"/>
                <a:ea typeface="Malgun Gothic"/>
                <a:cs typeface="Malgun Gothic"/>
              </a:rPr>
              <a:t>남길 결과</a:t>
            </a:r>
          </a:p>
        </p:txBody>
      </p:sp>
      <p:sp>
        <p:nvSpPr>
          <p:cNvPr id="6" name="수정표 3행과 미완료 업무 5행 이내">
            <a:extLst xmlns:a="http://schemas.openxmlformats.org/drawingml/2006/main">
              <a:ext uri="{FF2B5EF4-FFF2-40B4-BE49-F238E27FC236}">
                <a16:creationId xmlns:a16="http://schemas.microsoft.com/office/drawing/2014/main" id="{34B2776E-AF17-44CB-8C45-BC3213F8D8BB}"/>
              </a:ext>
            </a:extLst>
          </p:cNvPr>
          <p:cNvSpPr>
            <a:spLocks xmlns:a="http://schemas.openxmlformats.org/drawingml/2006/main" noGrp="1"/>
          </p:cNvSpPr>
          <p:nvPr/>
        </p:nvSpPr>
        <p:spPr>
          <a:xfrm xmlns:a="http://schemas.openxmlformats.org/drawingml/2006/main">
            <a:off x="4038600" y="5429250"/>
            <a:ext cx="7467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100" b="1">
                <a:solidFill>
                  <a:srgbClr val="20212A"/>
                </a:solidFill>
                <a:latin typeface="Malgun Gothic"/>
                <a:ea typeface="Malgun Gothic"/>
                <a:cs typeface="Malgun Gothic"/>
              </a:defRPr>
            </a:pPr>
            <a:r>
              <a:rPr sz="2100" b="1">
                <a:solidFill>
                  <a:srgbClr val="20212A"/>
                </a:solidFill>
                <a:latin typeface="Malgun Gothic"/>
                <a:ea typeface="Malgun Gothic"/>
                <a:cs typeface="Malgun Gothic"/>
              </a:rPr>
              <a:t>수정표 3행과 미완료 업무 5행 이내</a:t>
            </a:r>
          </a:p>
        </p:txBody>
      </p:sp>
      <p:sp>
        <p:nvSpPr>
          <p:cNvPr id="7" name="83–87분">
            <a:extLst xmlns:a="http://schemas.openxmlformats.org/drawingml/2006/main">
              <a:ext uri="{FF2B5EF4-FFF2-40B4-BE49-F238E27FC236}">
                <a16:creationId xmlns:a16="http://schemas.microsoft.com/office/drawing/2014/main" id="{F7F2C8CF-AE29-412E-B55F-25291372F022}"/>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83–87분</a:t>
            </a:r>
          </a:p>
        </p:txBody>
      </p:sp>
      <p:sp>
        <p:nvSpPr>
          <p:cNvPr id="8" name="웹 실습 열기">
            <a:extLst xmlns:a="http://schemas.openxmlformats.org/drawingml/2006/main">
              <a:ext uri="{FF2B5EF4-FFF2-40B4-BE49-F238E27FC236}">
                <a16:creationId xmlns:a16="http://schemas.microsoft.com/office/drawing/2014/main" id="{074DC981-229A-4F45-A733-537AC7EE0B34}"/>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a6cfcf0b9f524264"/>
              </a:rPr>
              <a:t>웹 실습 열기</a:t>
            </a:r>
          </a:p>
        </p:txBody>
      </p:sp>
      <p:sp>
        <p:nvSpPr>
          <p:cNvPr id="9" name="28">
            <a:extLst xmlns:a="http://schemas.openxmlformats.org/drawingml/2006/main">
              <a:ext uri="{FF2B5EF4-FFF2-40B4-BE49-F238E27FC236}">
                <a16:creationId xmlns:a16="http://schemas.microsoft.com/office/drawing/2014/main" id="{50991171-2510-4FDE-972B-3E39C1328FF0}"/>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28</a:t>
            </a:r>
          </a:p>
        </p:txBody>
      </p:sp>
    </p:spTree>
    <p:extLst>
      <p:ext uri="{BB962C8B-B14F-4D97-AF65-F5344CB8AC3E}">
        <p14:creationId xmlns:p14="http://schemas.microsoft.com/office/powerpoint/2010/main" val="991747750"/>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네 소스를 사용한 실제 인계표">
            <a:extLst xmlns:a="http://schemas.openxmlformats.org/drawingml/2006/main">
              <a:ext uri="{FF2B5EF4-FFF2-40B4-BE49-F238E27FC236}">
                <a16:creationId xmlns:a16="http://schemas.microsoft.com/office/drawing/2014/main" id="{9D68EBE5-0946-47B3-8046-D11F8A847138}"/>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네 소스를 사용한 실제 인계표</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62ef0efc960c4ac8"/>
          <a:srcRect xmlns:a="http://schemas.openxmlformats.org/drawingml/2006/main" l="0" t="12000" r="8000" b="34000"/>
          <a:stretch xmlns:a="http://schemas.openxmlformats.org/drawingml/2006/main"/>
        </p:blipFill>
        <p:spPr>
          <a:xfrm xmlns:a="http://schemas.openxmlformats.org/drawingml/2006/main">
            <a:off x="609600" y="2018968"/>
            <a:ext cx="7200900" cy="3429664"/>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FF91305-1DD2-4B25-B4A2-2B8F1501A4CB}"/>
              </a:ext>
            </a:extLst>
          </p:cNvPr>
          <p:cNvSpPr>
            <a:spLocks xmlns:a="http://schemas.openxmlformats.org/drawingml/2006/main" noGrp="1"/>
          </p:cNvSpPr>
          <p:nvPr/>
        </p:nvSpPr>
        <p:spPr>
          <a:xfrm xmlns:a="http://schemas.openxmlformats.org/drawingml/2006/main">
            <a:off x="8201025" y="1752600"/>
            <a:ext cx="3295650" cy="3867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27000" algn="l">
              <a:spcAft>
                <a:spcPts val="1800"/>
              </a:spcAft>
              <a:buChar char="•"/>
              <a:defRPr sz="2025" b="0">
                <a:solidFill>
                  <a:srgbClr val="20212A"/>
                </a:solidFill>
                <a:latin typeface="Malgun Gothic"/>
                <a:ea typeface="Malgun Gothic"/>
                <a:cs typeface="Malgun Gothic"/>
              </a:defRPr>
            </a:pPr>
            <a:r>
              <a:t>왼쪽 네 소스 이름 확인</a:t>
            </a:r>
          </a:p>
          <a:p xmlns:a="http://schemas.openxmlformats.org/drawingml/2006/main">
            <a:pPr marL="228600" indent="-127000" algn="l">
              <a:spcAft>
                <a:spcPts val="1800"/>
              </a:spcAft>
              <a:buChar char="•"/>
              <a:defRPr sz="2025" b="0">
                <a:solidFill>
                  <a:srgbClr val="20212A"/>
                </a:solidFill>
                <a:latin typeface="Malgun Gothic"/>
                <a:ea typeface="Malgun Gothic"/>
                <a:cs typeface="Malgun Gothic"/>
              </a:defRPr>
            </a:pPr>
            <a:r>
              <a:t>대여 요청 확인과 개인 배정을 구분</a:t>
            </a:r>
          </a:p>
          <a:p xmlns:a="http://schemas.openxmlformats.org/drawingml/2006/main">
            <a:pPr marL="228600" indent="-127000" algn="l">
              <a:spcAft>
                <a:spcPts val="1800"/>
              </a:spcAft>
              <a:buChar char="•"/>
              <a:defRPr sz="2025" b="0">
                <a:solidFill>
                  <a:srgbClr val="20212A"/>
                </a:solidFill>
                <a:latin typeface="Malgun Gothic"/>
                <a:ea typeface="Malgun Gothic"/>
                <a:cs typeface="Malgun Gothic"/>
              </a:defRPr>
            </a:pPr>
            <a:r>
              <a:t>문의 14건의 답변 검토가 남아 있는지 확인</a:t>
            </a:r>
          </a:p>
        </p:txBody>
      </p:sp>
      <p:sp>
        <p:nvSpPr>
          <p:cNvPr id="4" name="업무실습 실제 응답 일부 확대. 확보, 배정, 회신">
            <a:extLst xmlns:a="http://schemas.openxmlformats.org/drawingml/2006/main">
              <a:ext uri="{FF2B5EF4-FFF2-40B4-BE49-F238E27FC236}">
                <a16:creationId xmlns:a16="http://schemas.microsoft.com/office/drawing/2014/main" id="{CDE02944-5487-4940-81A3-BCDD0055AFD8}"/>
              </a:ext>
            </a:extLst>
          </p:cNvPr>
          <p:cNvSpPr>
            <a:spLocks xmlns:a="http://schemas.openxmlformats.org/drawingml/2006/main" noGrp="1"/>
          </p:cNvSpPr>
          <p:nvPr/>
        </p:nvSpPr>
        <p:spPr>
          <a:xfrm xmlns:a="http://schemas.openxmlformats.org/drawingml/2006/main">
            <a:off x="685800" y="599122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업무실습 실제 응답 일부 확대. 확보, 배정, 회신의 상태를 따로 읽습니다.</a:t>
            </a:r>
          </a:p>
        </p:txBody>
      </p:sp>
      <p:sp>
        <p:nvSpPr>
          <p:cNvPr id="5" name="87–89분">
            <a:extLst xmlns:a="http://schemas.openxmlformats.org/drawingml/2006/main">
              <a:ext uri="{FF2B5EF4-FFF2-40B4-BE49-F238E27FC236}">
                <a16:creationId xmlns:a16="http://schemas.microsoft.com/office/drawing/2014/main" id="{36677ED0-06B0-4425-A54B-B96F9E898002}"/>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87–89분</a:t>
            </a:r>
          </a:p>
        </p:txBody>
      </p:sp>
      <p:sp>
        <p:nvSpPr>
          <p:cNvPr id="6" name="웹 실습 열기">
            <a:extLst xmlns:a="http://schemas.openxmlformats.org/drawingml/2006/main">
              <a:ext uri="{FF2B5EF4-FFF2-40B4-BE49-F238E27FC236}">
                <a16:creationId xmlns:a16="http://schemas.microsoft.com/office/drawing/2014/main" id="{B0A60273-91C4-4754-8BF7-6EDF16CCB538}"/>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3d07c6e208a44972"/>
              </a:rPr>
              <a:t>웹 실습 열기</a:t>
            </a:r>
          </a:p>
        </p:txBody>
      </p:sp>
      <p:sp>
        <p:nvSpPr>
          <p:cNvPr id="7" name="29">
            <a:extLst xmlns:a="http://schemas.openxmlformats.org/drawingml/2006/main">
              <a:ext uri="{FF2B5EF4-FFF2-40B4-BE49-F238E27FC236}">
                <a16:creationId xmlns:a16="http://schemas.microsoft.com/office/drawing/2014/main" id="{B49BD5C3-06C1-4DB6-92F3-3FB9B4625B0F}"/>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29</a:t>
            </a:r>
          </a:p>
        </p:txBody>
      </p:sp>
    </p:spTree>
    <p:extLst>
      <p:ext uri="{BB962C8B-B14F-4D97-AF65-F5344CB8AC3E}">
        <p14:creationId xmlns:p14="http://schemas.microsoft.com/office/powerpoint/2010/main" val="573381458"/>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인용을 열어 원문 확인">
            <a:extLst xmlns:a="http://schemas.openxmlformats.org/drawingml/2006/main">
              <a:ext uri="{FF2B5EF4-FFF2-40B4-BE49-F238E27FC236}">
                <a16:creationId xmlns:a16="http://schemas.microsoft.com/office/drawing/2014/main" id="{47C44F18-8B95-426D-82F2-2E7B750AB1F2}"/>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인용을 열어 원문 확인</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1a2d948ab2e54555"/>
          <a:stretch xmlns:a="http://schemas.openxmlformats.org/drawingml/2006/main"/>
        </p:blipFill>
        <p:spPr>
          <a:xfrm xmlns:a="http://schemas.openxmlformats.org/drawingml/2006/main">
            <a:off x="2071274" y="1552575"/>
            <a:ext cx="4277552" cy="43624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6AB298F-0167-4FCD-B6F3-4FCF416A4537}"/>
              </a:ext>
            </a:extLst>
          </p:cNvPr>
          <p:cNvSpPr>
            <a:spLocks xmlns:a="http://schemas.openxmlformats.org/drawingml/2006/main" noGrp="1"/>
          </p:cNvSpPr>
          <p:nvPr/>
        </p:nvSpPr>
        <p:spPr>
          <a:xfrm xmlns:a="http://schemas.openxmlformats.org/drawingml/2006/main">
            <a:off x="8201025" y="1752600"/>
            <a:ext cx="3295650" cy="3867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27000" algn="l">
              <a:spcAft>
                <a:spcPts val="1800"/>
              </a:spcAft>
              <a:buChar char="•"/>
              <a:defRPr sz="2025" b="0">
                <a:solidFill>
                  <a:srgbClr val="20212A"/>
                </a:solidFill>
                <a:latin typeface="Malgun Gothic"/>
                <a:ea typeface="Malgun Gothic"/>
                <a:cs typeface="Malgun Gothic"/>
              </a:defRPr>
            </a:pPr>
            <a:r>
              <a:t>답변의 인용 번호 선택</a:t>
            </a:r>
          </a:p>
          <a:p xmlns:a="http://schemas.openxmlformats.org/drawingml/2006/main">
            <a:pPr marL="228600" indent="-127000" algn="l">
              <a:spcAft>
                <a:spcPts val="1800"/>
              </a:spcAft>
              <a:buChar char="•"/>
              <a:defRPr sz="2025" b="0">
                <a:solidFill>
                  <a:srgbClr val="20212A"/>
                </a:solidFill>
                <a:latin typeface="Malgun Gothic"/>
                <a:ea typeface="Malgun Gothic"/>
                <a:cs typeface="Malgun Gothic"/>
              </a:defRPr>
            </a:pPr>
            <a:r>
              <a:t>문서 이름과 주변 문장 함께 읽기</a:t>
            </a:r>
          </a:p>
          <a:p xmlns:a="http://schemas.openxmlformats.org/drawingml/2006/main">
            <a:pPr marL="228600" indent="-127000" algn="l">
              <a:spcAft>
                <a:spcPts val="1800"/>
              </a:spcAft>
              <a:buChar char="•"/>
              <a:defRPr sz="2025" b="0">
                <a:solidFill>
                  <a:srgbClr val="20212A"/>
                </a:solidFill>
                <a:latin typeface="Malgun Gothic"/>
                <a:ea typeface="Malgun Gothic"/>
                <a:cs typeface="Malgun Gothic"/>
              </a:defRPr>
            </a:pPr>
            <a:r>
              <a:t>업무실습 C2의 10월 26일 18:00 확인</a:t>
            </a:r>
          </a:p>
          <a:p xmlns:a="http://schemas.openxmlformats.org/drawingml/2006/main">
            <a:pPr marL="228600" indent="-127000" algn="l">
              <a:spcAft>
                <a:spcPts val="1800"/>
              </a:spcAft>
              <a:buChar char="•"/>
              <a:defRPr sz="2025" b="0">
                <a:solidFill>
                  <a:srgbClr val="20212A"/>
                </a:solidFill>
                <a:latin typeface="Malgun Gothic"/>
                <a:ea typeface="Malgun Gothic"/>
                <a:cs typeface="Malgun Gothic"/>
              </a:defRPr>
            </a:pPr>
            <a:r>
              <a:t>확인한 문장과 문단 ID 기록</a:t>
            </a:r>
          </a:p>
        </p:txBody>
      </p:sp>
      <p:sp>
        <p:nvSpPr>
          <p:cNvPr id="4" name="기본연습의 인용 열기 조작 참고. 화면의 10월 2">
            <a:extLst xmlns:a="http://schemas.openxmlformats.org/drawingml/2006/main">
              <a:ext uri="{FF2B5EF4-FFF2-40B4-BE49-F238E27FC236}">
                <a16:creationId xmlns:a16="http://schemas.microsoft.com/office/drawing/2014/main" id="{8C32D549-6444-4EC7-B51F-619F8E1744A5}"/>
              </a:ext>
            </a:extLst>
          </p:cNvPr>
          <p:cNvSpPr>
            <a:spLocks xmlns:a="http://schemas.openxmlformats.org/drawingml/2006/main" noGrp="1"/>
          </p:cNvSpPr>
          <p:nvPr/>
        </p:nvSpPr>
        <p:spPr>
          <a:xfrm xmlns:a="http://schemas.openxmlformats.org/drawingml/2006/main">
            <a:off x="685800" y="599122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기본연습의 인용 열기 조작 참고. 화면의 10월 23일은 구기한이며 오늘의 최신 마감이 아닙니다.</a:t>
            </a:r>
          </a:p>
        </p:txBody>
      </p:sp>
      <p:sp>
        <p:nvSpPr>
          <p:cNvPr id="5" name="89–92분">
            <a:extLst xmlns:a="http://schemas.openxmlformats.org/drawingml/2006/main">
              <a:ext uri="{FF2B5EF4-FFF2-40B4-BE49-F238E27FC236}">
                <a16:creationId xmlns:a16="http://schemas.microsoft.com/office/drawing/2014/main" id="{59CBCA91-B6D7-4D6A-9C8C-6F25302C6C41}"/>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89–92분</a:t>
            </a:r>
          </a:p>
        </p:txBody>
      </p:sp>
      <p:sp>
        <p:nvSpPr>
          <p:cNvPr id="6" name="웹 실습 열기">
            <a:extLst xmlns:a="http://schemas.openxmlformats.org/drawingml/2006/main">
              <a:ext uri="{FF2B5EF4-FFF2-40B4-BE49-F238E27FC236}">
                <a16:creationId xmlns:a16="http://schemas.microsoft.com/office/drawing/2014/main" id="{0B899A20-028A-4573-8E6F-B34B0FBFEA59}"/>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e685907aa3cd4a3b"/>
              </a:rPr>
              <a:t>웹 실습 열기</a:t>
            </a:r>
          </a:p>
        </p:txBody>
      </p:sp>
      <p:sp>
        <p:nvSpPr>
          <p:cNvPr id="7" name="30">
            <a:extLst xmlns:a="http://schemas.openxmlformats.org/drawingml/2006/main">
              <a:ext uri="{FF2B5EF4-FFF2-40B4-BE49-F238E27FC236}">
                <a16:creationId xmlns:a16="http://schemas.microsoft.com/office/drawing/2014/main" id="{4E31C4A5-41A8-4D93-A042-1AEBC1E87366}"/>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30</a:t>
            </a:r>
          </a:p>
        </p:txBody>
      </p:sp>
    </p:spTree>
    <p:extLst>
      <p:ext uri="{BB962C8B-B14F-4D97-AF65-F5344CB8AC3E}">
        <p14:creationId xmlns:p14="http://schemas.microsoft.com/office/powerpoint/2010/main" val="1064288332"/>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참가자 FAQ 여섯 항목">
            <a:extLst xmlns:a="http://schemas.openxmlformats.org/drawingml/2006/main">
              <a:ext uri="{FF2B5EF4-FFF2-40B4-BE49-F238E27FC236}">
                <a16:creationId xmlns:a16="http://schemas.microsoft.com/office/drawing/2014/main" id="{C6B1E214-B016-4992-8BA5-BE05652AB19F}"/>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참가자 FAQ 여섯 항목</a:t>
            </a:r>
          </a:p>
        </p:txBody>
      </p:sp>
      <p:graphicFrame>
        <p:nvGraphicFramePr>
          <p:cNvPr id="8" name=""/>
          <p:cNvGraphicFramePr/>
          <p:nvPr/>
        </p:nvGraphicFramePr>
        <p:xfrm>
          <a:off xmlns:a="http://schemas.openxmlformats.org/drawingml/2006/main" x="685800" y="1543050"/>
          <a:ext xmlns:a="http://schemas.openxmlformats.org/drawingml/2006/main" cx="10820400" cy="4133850"/>
        </p:xfrm>
        <a:graphic xmlns:a="http://schemas.openxmlformats.org/drawingml/2006/main">
          <a:graphicData uri="http://schemas.openxmlformats.org/drawingml/2006/table">
            <a:tbl>
              <a:tblPr firstRow="1" bandRow="0"/>
              <a:tblGrid>
                <a:gridCol w="2667000"/>
                <a:gridCol w="8096250"/>
              </a:tblGrid>
              <a:tr h="590550">
                <a:tc>
                  <a:txBody>
                    <a:bodyPr lIns="114300" tIns="66675" rIns="114300" bIns="57150">
                      <a:noAutofit/>
                    </a:bodyPr>
                    <a:lstStyle/>
                    <a:p>
                      <a:pPr algn="l"/>
                      <a:r>
                        <a:rPr sz="1875" b="1">
                          <a:solidFill>
                            <a:srgbClr val="FFFFFF"/>
                          </a:solidFill>
                          <a:latin typeface="Malgun Gothic"/>
                          <a:ea typeface="Malgun Gothic"/>
                          <a:cs typeface="Malgun Gothic"/>
                        </a:rPr>
                        <a:t>FAQ 항목</a:t>
                      </a:r>
                    </a:p>
                  </a:txBody>
                  <a:tcPr marL="91440" marR="91440" marT="45720" marB="45720" anchor="ctr">
                    <a:solidFill>
                      <a:srgbClr val="6B43C7"/>
                    </a:solidFill>
                  </a:tcPr>
                </a:tc>
                <a:tc>
                  <a:txBody>
                    <a:bodyPr lIns="114300" tIns="66675" rIns="114300" bIns="57150">
                      <a:noAutofit/>
                    </a:bodyPr>
                    <a:lstStyle/>
                    <a:p>
                      <a:pPr algn="l"/>
                      <a:r>
                        <a:rPr sz="1875" b="1">
                          <a:solidFill>
                            <a:srgbClr val="FFFFFF"/>
                          </a:solidFill>
                          <a:latin typeface="Malgun Gothic"/>
                          <a:ea typeface="Malgun Gothic"/>
                          <a:cs typeface="Malgun Gothic"/>
                        </a:rPr>
                        <a:t>답변에 남길 조건</a:t>
                      </a:r>
                    </a:p>
                  </a:txBody>
                  <a:tcPr marL="91440" marR="91440" marT="45720" marB="45720" anchor="ctr">
                    <a:solidFill>
                      <a:srgbClr val="6B43C7"/>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교육 일시·장소</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10월 30일 14:00~17:00, 201호</a:t>
                      </a:r>
                    </a:p>
                  </a:txBody>
                  <a:tcPr marL="91440" marR="91440" marT="45720" marB="45720" anchor="ctr">
                    <a:solidFill>
                      <a:srgbClr val="FFFFFF"/>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신청 마감</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10월 26일 18:00, 참가 확정은 별도 확인</a:t>
                      </a:r>
                    </a:p>
                  </a:txBody>
                  <a:tcPr marL="91440" marR="91440" marT="45720" marB="45720" anchor="ctr">
                    <a:solidFill>
                      <a:srgbClr val="F5F2FC"/>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취소 마감</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10월 28일 12:00, 통보와 처리 완료 구분</a:t>
                      </a:r>
                    </a:p>
                  </a:txBody>
                  <a:tcPr marL="91440" marR="91440" marT="45720" marB="45720" anchor="ctr">
                    <a:solidFill>
                      <a:srgbClr val="FFFFFF"/>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참가비·주차</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참가비 무료, 주차 금액은 확인 필요</a:t>
                      </a:r>
                    </a:p>
                  </a:txBody>
                  <a:tcPr marL="91440" marR="91440" marT="45720" marB="45720" anchor="ctr">
                    <a:solidFill>
                      <a:srgbClr val="F5F2FC"/>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노트북 대여</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4대 확보, 개인 배정·수령 시간 미확정</a:t>
                      </a:r>
                    </a:p>
                  </a:txBody>
                  <a:tcPr marL="91440" marR="91440" marT="45720" marB="45720" anchor="ctr">
                    <a:solidFill>
                      <a:srgbClr val="FFFFFF"/>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녹화본</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제공 여부·일정 미정</a:t>
                      </a:r>
                    </a:p>
                  </a:txBody>
                  <a:tcPr marL="91440" marR="91440" marT="45720" marB="45720" anchor="ctr">
                    <a:solidFill>
                      <a:srgbClr val="F5F2FC"/>
                    </a:solidFill>
                  </a:tcPr>
                </a:tc>
              </a:tr>
            </a:tbl>
          </a:graphicData>
        </a:graphic>
      </p:graphicFrame>
      <p:sp>
        <p:nvSpPr>
          <p:cNvPr id="3" name="실습 3분, 마지막 1분은 신청 마감과 대여 배정 ">
            <a:extLst xmlns:a="http://schemas.openxmlformats.org/drawingml/2006/main">
              <a:ext uri="{FF2B5EF4-FFF2-40B4-BE49-F238E27FC236}">
                <a16:creationId xmlns:a16="http://schemas.microsoft.com/office/drawing/2014/main" id="{EC506B5D-231B-48E9-AC82-101EFAB439BF}"/>
              </a:ext>
            </a:extLst>
          </p:cNvPr>
          <p:cNvSpPr>
            <a:spLocks xmlns:a="http://schemas.openxmlformats.org/drawingml/2006/main" noGrp="1"/>
          </p:cNvSpPr>
          <p:nvPr/>
        </p:nvSpPr>
        <p:spPr>
          <a:xfrm xmlns:a="http://schemas.openxmlformats.org/drawingml/2006/main">
            <a:off x="685800" y="581025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실습 3분, 마지막 1분은 신청 마감과 대여 배정 인용을 확인합니다.</a:t>
            </a:r>
          </a:p>
        </p:txBody>
      </p:sp>
      <p:sp>
        <p:nvSpPr>
          <p:cNvPr id="4" name="92–96분">
            <a:extLst xmlns:a="http://schemas.openxmlformats.org/drawingml/2006/main">
              <a:ext uri="{FF2B5EF4-FFF2-40B4-BE49-F238E27FC236}">
                <a16:creationId xmlns:a16="http://schemas.microsoft.com/office/drawing/2014/main" id="{0D22C077-6D11-4899-8175-4BECF66224F7}"/>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92–96분</a:t>
            </a:r>
          </a:p>
        </p:txBody>
      </p:sp>
      <p:sp>
        <p:nvSpPr>
          <p:cNvPr id="5" name="웹 실습 열기">
            <a:extLst xmlns:a="http://schemas.openxmlformats.org/drawingml/2006/main">
              <a:ext uri="{FF2B5EF4-FFF2-40B4-BE49-F238E27FC236}">
                <a16:creationId xmlns:a16="http://schemas.microsoft.com/office/drawing/2014/main" id="{50D8885C-D217-4C40-8BE4-F815ECFEE66F}"/>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dde81bd2489f4ea5"/>
              </a:rPr>
              <a:t>웹 실습 열기</a:t>
            </a:r>
          </a:p>
        </p:txBody>
      </p:sp>
      <p:sp>
        <p:nvSpPr>
          <p:cNvPr id="6" name="31">
            <a:extLst xmlns:a="http://schemas.openxmlformats.org/drawingml/2006/main">
              <a:ext uri="{FF2B5EF4-FFF2-40B4-BE49-F238E27FC236}">
                <a16:creationId xmlns:a16="http://schemas.microsoft.com/office/drawing/2014/main" id="{7118D2F1-8634-4AF5-9FD8-8E51E800471D}"/>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31</a:t>
            </a:r>
          </a:p>
        </p:txBody>
      </p:sp>
    </p:spTree>
    <p:extLst>
      <p:ext uri="{BB962C8B-B14F-4D97-AF65-F5344CB8AC3E}">
        <p14:creationId xmlns:p14="http://schemas.microsoft.com/office/powerpoint/2010/main" val="1641955576"/>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실제 FAQ에서 마지막으로 고칠 것">
            <a:extLst xmlns:a="http://schemas.openxmlformats.org/drawingml/2006/main">
              <a:ext uri="{FF2B5EF4-FFF2-40B4-BE49-F238E27FC236}">
                <a16:creationId xmlns:a16="http://schemas.microsoft.com/office/drawing/2014/main" id="{676AEED8-1F24-4CEC-801F-423267A398C1}"/>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실제 FAQ에서 마지막으로 고칠 것</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4ec7b82c17234f44"/>
          <a:srcRect xmlns:a="http://schemas.openxmlformats.org/drawingml/2006/main" l="26000" t="0" r="11000" b="46000"/>
          <a:stretch xmlns:a="http://schemas.openxmlformats.org/drawingml/2006/main"/>
        </p:blipFill>
        <p:spPr>
          <a:xfrm xmlns:a="http://schemas.openxmlformats.org/drawingml/2006/main">
            <a:off x="1073961" y="1552575"/>
            <a:ext cx="6272178" cy="43624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E565CF2-C860-4E51-AB46-57CDB2792C79}"/>
              </a:ext>
            </a:extLst>
          </p:cNvPr>
          <p:cNvSpPr>
            <a:spLocks xmlns:a="http://schemas.openxmlformats.org/drawingml/2006/main" noGrp="1"/>
          </p:cNvSpPr>
          <p:nvPr/>
        </p:nvSpPr>
        <p:spPr>
          <a:xfrm xmlns:a="http://schemas.openxmlformats.org/drawingml/2006/main">
            <a:off x="8201025" y="1752600"/>
            <a:ext cx="3295650" cy="3867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27000" algn="l">
              <a:spcAft>
                <a:spcPts val="1800"/>
              </a:spcAft>
              <a:buChar char="•"/>
              <a:defRPr sz="2025" b="0">
                <a:solidFill>
                  <a:srgbClr val="20212A"/>
                </a:solidFill>
                <a:latin typeface="Malgun Gothic"/>
                <a:ea typeface="Malgun Gothic"/>
                <a:cs typeface="Malgun Gothic"/>
              </a:defRPr>
            </a:pPr>
            <a:r>
              <a:t>&lt;br&gt; 같은 표시를 읽기 쉬운 문장으로 정리</a:t>
            </a:r>
          </a:p>
          <a:p xmlns:a="http://schemas.openxmlformats.org/drawingml/2006/main">
            <a:pPr marL="228600" indent="-127000" algn="l">
              <a:spcAft>
                <a:spcPts val="1800"/>
              </a:spcAft>
              <a:buChar char="•"/>
              <a:defRPr sz="2025" b="0">
                <a:solidFill>
                  <a:srgbClr val="20212A"/>
                </a:solidFill>
                <a:latin typeface="Malgun Gothic"/>
                <a:ea typeface="Malgun Gothic"/>
                <a:cs typeface="Malgun Gothic"/>
              </a:defRPr>
            </a:pPr>
            <a:r>
              <a:t>과거 안내·검토 설명은 외부 답변에서 분리</a:t>
            </a:r>
          </a:p>
          <a:p xmlns:a="http://schemas.openxmlformats.org/drawingml/2006/main">
            <a:pPr marL="228600" indent="-127000" algn="l">
              <a:spcAft>
                <a:spcPts val="1800"/>
              </a:spcAft>
              <a:buChar char="•"/>
              <a:defRPr sz="2025" b="0">
                <a:solidFill>
                  <a:srgbClr val="20212A"/>
                </a:solidFill>
                <a:latin typeface="Malgun Gothic"/>
                <a:ea typeface="Malgun Gothic"/>
                <a:cs typeface="Malgun Gothic"/>
              </a:defRPr>
            </a:pPr>
            <a:r>
              <a:t>미정과 개인별 배정 조건은 유지</a:t>
            </a:r>
          </a:p>
        </p:txBody>
      </p:sp>
      <p:sp>
        <p:nvSpPr>
          <p:cNvPr id="4" name="업무실습 실제 응답 일부 확대. 사실 확인 뒤 문장">
            <a:extLst xmlns:a="http://schemas.openxmlformats.org/drawingml/2006/main">
              <a:ext uri="{FF2B5EF4-FFF2-40B4-BE49-F238E27FC236}">
                <a16:creationId xmlns:a16="http://schemas.microsoft.com/office/drawing/2014/main" id="{DB6AAE69-5A6C-4BAE-84DF-F17D834AAAD6}"/>
              </a:ext>
            </a:extLst>
          </p:cNvPr>
          <p:cNvSpPr>
            <a:spLocks xmlns:a="http://schemas.openxmlformats.org/drawingml/2006/main" noGrp="1"/>
          </p:cNvSpPr>
          <p:nvPr/>
        </p:nvSpPr>
        <p:spPr>
          <a:xfrm xmlns:a="http://schemas.openxmlformats.org/drawingml/2006/main">
            <a:off x="685800" y="599122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업무실습 실제 응답 일부 확대. 사실 확인 뒤 문장과 표 형식도 정리합니다.</a:t>
            </a:r>
          </a:p>
        </p:txBody>
      </p:sp>
      <p:sp>
        <p:nvSpPr>
          <p:cNvPr id="5" name="96–100분">
            <a:extLst xmlns:a="http://schemas.openxmlformats.org/drawingml/2006/main">
              <a:ext uri="{FF2B5EF4-FFF2-40B4-BE49-F238E27FC236}">
                <a16:creationId xmlns:a16="http://schemas.microsoft.com/office/drawing/2014/main" id="{8BE0C7B9-3242-48EC-9DC9-C0105F416616}"/>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96–100분</a:t>
            </a:r>
          </a:p>
        </p:txBody>
      </p:sp>
      <p:sp>
        <p:nvSpPr>
          <p:cNvPr id="6" name="웹 실습 열기">
            <a:extLst xmlns:a="http://schemas.openxmlformats.org/drawingml/2006/main">
              <a:ext uri="{FF2B5EF4-FFF2-40B4-BE49-F238E27FC236}">
                <a16:creationId xmlns:a16="http://schemas.microsoft.com/office/drawing/2014/main" id="{7F4AF40C-7A22-41EC-9D18-B38179D3CB62}"/>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ac8d8df0e9a84e38"/>
              </a:rPr>
              <a:t>웹 실습 열기</a:t>
            </a:r>
          </a:p>
        </p:txBody>
      </p:sp>
      <p:sp>
        <p:nvSpPr>
          <p:cNvPr id="7" name="32">
            <a:extLst xmlns:a="http://schemas.openxmlformats.org/drawingml/2006/main">
              <a:ext uri="{FF2B5EF4-FFF2-40B4-BE49-F238E27FC236}">
                <a16:creationId xmlns:a16="http://schemas.microsoft.com/office/drawing/2014/main" id="{49C1A8F6-4B8A-42A7-B291-6B7BAC6EC96A}"/>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32</a:t>
            </a:r>
          </a:p>
        </p:txBody>
      </p:sp>
    </p:spTree>
    <p:extLst>
      <p:ext uri="{BB962C8B-B14F-4D97-AF65-F5344CB8AC3E}">
        <p14:creationId xmlns:p14="http://schemas.microsoft.com/office/powerpoint/2010/main" val="1061562051"/>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답변 대기 문의 14건">
            <a:extLst xmlns:a="http://schemas.openxmlformats.org/drawingml/2006/main">
              <a:ext uri="{FF2B5EF4-FFF2-40B4-BE49-F238E27FC236}">
                <a16:creationId xmlns:a16="http://schemas.microsoft.com/office/drawing/2014/main" id="{4D741EBE-5795-46B0-9A1E-E1CD4E67BBD9}"/>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답변 대기 문의 14건</a:t>
            </a:r>
          </a:p>
        </p:txBody>
      </p:sp>
      <p:sp>
        <p:nvSpPr>
          <p:cNvPr id="2" name="5분">
            <a:extLst xmlns:a="http://schemas.openxmlformats.org/drawingml/2006/main">
              <a:ext uri="{FF2B5EF4-FFF2-40B4-BE49-F238E27FC236}">
                <a16:creationId xmlns:a16="http://schemas.microsoft.com/office/drawing/2014/main" id="{4EE0C833-5592-4226-980B-174916AE64BE}"/>
              </a:ext>
            </a:extLst>
          </p:cNvPr>
          <p:cNvSpPr>
            <a:spLocks xmlns:a="http://schemas.openxmlformats.org/drawingml/2006/main" noGrp="1"/>
          </p:cNvSpPr>
          <p:nvPr/>
        </p:nvSpPr>
        <p:spPr>
          <a:xfrm xmlns:a="http://schemas.openxmlformats.org/drawingml/2006/main">
            <a:off x="685800" y="1619250"/>
            <a:ext cx="2743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4125" b="1">
                <a:solidFill>
                  <a:srgbClr val="6B43C7"/>
                </a:solidFill>
                <a:latin typeface="Malgun Gothic"/>
                <a:ea typeface="Malgun Gothic"/>
                <a:cs typeface="Malgun Gothic"/>
              </a:defRPr>
            </a:pPr>
            <a:r>
              <a:rPr sz="4125" b="1">
                <a:solidFill>
                  <a:srgbClr val="6B43C7"/>
                </a:solidFill>
                <a:latin typeface="Malgun Gothic"/>
                <a:ea typeface="Malgun Gothic"/>
                <a:cs typeface="Malgun Gothic"/>
              </a:rPr>
              <a:t>5분</a:t>
            </a:r>
          </a:p>
        </p:txBody>
      </p:sp>
      <p:sp>
        <p:nvSpPr>
          <p:cNvPr id="3" name="세 번째 질문으로 문의별 답변과 담당자에게 확인할 ">
            <a:extLst xmlns:a="http://schemas.openxmlformats.org/drawingml/2006/main">
              <a:ext uri="{FF2B5EF4-FFF2-40B4-BE49-F238E27FC236}">
                <a16:creationId xmlns:a16="http://schemas.microsoft.com/office/drawing/2014/main" id="{99E14145-C12F-4E12-83F2-63B746ED6E89}"/>
              </a:ext>
            </a:extLst>
          </p:cNvPr>
          <p:cNvSpPr>
            <a:spLocks xmlns:a="http://schemas.openxmlformats.org/drawingml/2006/main" noGrp="1"/>
          </p:cNvSpPr>
          <p:nvPr/>
        </p:nvSpPr>
        <p:spPr>
          <a:xfrm xmlns:a="http://schemas.openxmlformats.org/drawingml/2006/main">
            <a:off x="685800" y="2895600"/>
            <a:ext cx="276225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250" b="1">
                <a:solidFill>
                  <a:srgbClr val="20212A"/>
                </a:solidFill>
                <a:latin typeface="Malgun Gothic"/>
                <a:ea typeface="Malgun Gothic"/>
                <a:cs typeface="Malgun Gothic"/>
              </a:defRPr>
            </a:pPr>
            <a:r>
              <a:rPr sz="2250" b="1">
                <a:solidFill>
                  <a:srgbClr val="20212A"/>
                </a:solidFill>
                <a:latin typeface="Malgun Gothic"/>
                <a:ea typeface="Malgun Gothic"/>
                <a:cs typeface="Malgun Gothic"/>
              </a:rPr>
              <a:t>세 번째 질문으로 문의별 답변과 담당자에게 확인할 질문을 나눕니다.</a:t>
            </a:r>
          </a:p>
        </p:txBody>
      </p:sp>
      <p:sp>
        <p:nvSpPr>
          <p:cNvPr id="4" name="">
            <a:extLst xmlns:a="http://schemas.openxmlformats.org/drawingml/2006/main">
              <a:ext uri="{FF2B5EF4-FFF2-40B4-BE49-F238E27FC236}">
                <a16:creationId xmlns:a16="http://schemas.microsoft.com/office/drawing/2014/main" id="{75C3D0B2-7700-49EB-B67F-420C5EB95D1C}"/>
              </a:ext>
            </a:extLst>
          </p:cNvPr>
          <p:cNvSpPr>
            <a:spLocks xmlns:a="http://schemas.openxmlformats.org/drawingml/2006/main" noGrp="1"/>
          </p:cNvSpPr>
          <p:nvPr/>
        </p:nvSpPr>
        <p:spPr>
          <a:xfrm xmlns:a="http://schemas.openxmlformats.org/drawingml/2006/main">
            <a:off x="4038600" y="1647825"/>
            <a:ext cx="74676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D01~D14를 중복 없이 처리표에 포함</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D01~D12 참가자 문의와 D13·D14 내부 문의 구분</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답변 가능, 조건부 안내, 담당 확인을 선택</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상태 옆에 무엇이 불확실한지 구체적으로 기록</a:t>
            </a:r>
          </a:p>
        </p:txBody>
      </p:sp>
      <p:sp>
        <p:nvSpPr>
          <p:cNvPr id="5" name="남길 결과">
            <a:extLst xmlns:a="http://schemas.openxmlformats.org/drawingml/2006/main">
              <a:ext uri="{FF2B5EF4-FFF2-40B4-BE49-F238E27FC236}">
                <a16:creationId xmlns:a16="http://schemas.microsoft.com/office/drawing/2014/main" id="{CABA1C24-9091-4E3D-A7BB-4F6789583AFF}"/>
              </a:ext>
            </a:extLst>
          </p:cNvPr>
          <p:cNvSpPr>
            <a:spLocks xmlns:a="http://schemas.openxmlformats.org/drawingml/2006/main" noGrp="1"/>
          </p:cNvSpPr>
          <p:nvPr/>
        </p:nvSpPr>
        <p:spPr>
          <a:xfrm xmlns:a="http://schemas.openxmlformats.org/drawingml/2006/main">
            <a:off x="4038600" y="5029200"/>
            <a:ext cx="7467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1">
                <a:solidFill>
                  <a:srgbClr val="6B43C7"/>
                </a:solidFill>
                <a:latin typeface="Malgun Gothic"/>
                <a:ea typeface="Malgun Gothic"/>
                <a:cs typeface="Malgun Gothic"/>
              </a:defRPr>
            </a:pPr>
            <a:r>
              <a:rPr sz="1725" b="1">
                <a:solidFill>
                  <a:srgbClr val="6B43C7"/>
                </a:solidFill>
                <a:latin typeface="Malgun Gothic"/>
                <a:ea typeface="Malgun Gothic"/>
                <a:cs typeface="Malgun Gothic"/>
              </a:rPr>
              <a:t>남길 결과</a:t>
            </a:r>
          </a:p>
        </p:txBody>
      </p:sp>
      <p:sp>
        <p:nvSpPr>
          <p:cNvPr id="6" name="문의 처리표 14행">
            <a:extLst xmlns:a="http://schemas.openxmlformats.org/drawingml/2006/main">
              <a:ext uri="{FF2B5EF4-FFF2-40B4-BE49-F238E27FC236}">
                <a16:creationId xmlns:a16="http://schemas.microsoft.com/office/drawing/2014/main" id="{BB9EFD65-6FF9-4380-BE3A-5C6A7690EAB7}"/>
              </a:ext>
            </a:extLst>
          </p:cNvPr>
          <p:cNvSpPr>
            <a:spLocks xmlns:a="http://schemas.openxmlformats.org/drawingml/2006/main" noGrp="1"/>
          </p:cNvSpPr>
          <p:nvPr/>
        </p:nvSpPr>
        <p:spPr>
          <a:xfrm xmlns:a="http://schemas.openxmlformats.org/drawingml/2006/main">
            <a:off x="4038600" y="5429250"/>
            <a:ext cx="7467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100" b="1">
                <a:solidFill>
                  <a:srgbClr val="20212A"/>
                </a:solidFill>
                <a:latin typeface="Malgun Gothic"/>
                <a:ea typeface="Malgun Gothic"/>
                <a:cs typeface="Malgun Gothic"/>
              </a:defRPr>
            </a:pPr>
            <a:r>
              <a:rPr sz="2100" b="1">
                <a:solidFill>
                  <a:srgbClr val="20212A"/>
                </a:solidFill>
                <a:latin typeface="Malgun Gothic"/>
                <a:ea typeface="Malgun Gothic"/>
                <a:cs typeface="Malgun Gothic"/>
              </a:rPr>
              <a:t>문의 처리표 14행</a:t>
            </a:r>
          </a:p>
        </p:txBody>
      </p:sp>
      <p:sp>
        <p:nvSpPr>
          <p:cNvPr id="7" name="100–105분">
            <a:extLst xmlns:a="http://schemas.openxmlformats.org/drawingml/2006/main">
              <a:ext uri="{FF2B5EF4-FFF2-40B4-BE49-F238E27FC236}">
                <a16:creationId xmlns:a16="http://schemas.microsoft.com/office/drawing/2014/main" id="{E5E6EB67-CCD9-499D-9957-1F0682ED135D}"/>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100–105분</a:t>
            </a:r>
          </a:p>
        </p:txBody>
      </p:sp>
      <p:sp>
        <p:nvSpPr>
          <p:cNvPr id="8" name="웹 실습 열기">
            <a:extLst xmlns:a="http://schemas.openxmlformats.org/drawingml/2006/main">
              <a:ext uri="{FF2B5EF4-FFF2-40B4-BE49-F238E27FC236}">
                <a16:creationId xmlns:a16="http://schemas.microsoft.com/office/drawing/2014/main" id="{729225DF-605E-4DBD-B57C-4B1E4055118F}"/>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61016888d666447c"/>
              </a:rPr>
              <a:t>웹 실습 열기</a:t>
            </a:r>
          </a:p>
        </p:txBody>
      </p:sp>
      <p:sp>
        <p:nvSpPr>
          <p:cNvPr id="9" name="33">
            <a:extLst xmlns:a="http://schemas.openxmlformats.org/drawingml/2006/main">
              <a:ext uri="{FF2B5EF4-FFF2-40B4-BE49-F238E27FC236}">
                <a16:creationId xmlns:a16="http://schemas.microsoft.com/office/drawing/2014/main" id="{1D22167D-D924-49FE-87AD-432A090C3AE7}"/>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33</a:t>
            </a:r>
          </a:p>
        </p:txBody>
      </p:sp>
    </p:spTree>
    <p:extLst>
      <p:ext uri="{BB962C8B-B14F-4D97-AF65-F5344CB8AC3E}">
        <p14:creationId xmlns:p14="http://schemas.microsoft.com/office/powerpoint/2010/main" val="368619414"/>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자료 없음·미정·조건부 안내">
            <a:extLst xmlns:a="http://schemas.openxmlformats.org/drawingml/2006/main">
              <a:ext uri="{FF2B5EF4-FFF2-40B4-BE49-F238E27FC236}">
                <a16:creationId xmlns:a16="http://schemas.microsoft.com/office/drawing/2014/main" id="{D8BB6D13-62F5-40D6-8534-680670189CF4}"/>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자료 없음·미정·조건부 안내</a:t>
            </a:r>
          </a:p>
        </p:txBody>
      </p:sp>
      <p:graphicFrame>
        <p:nvGraphicFramePr>
          <p:cNvPr id="8" name=""/>
          <p:cNvGraphicFramePr/>
          <p:nvPr/>
        </p:nvGraphicFramePr>
        <p:xfrm>
          <a:off xmlns:a="http://schemas.openxmlformats.org/drawingml/2006/main" x="685800" y="1543050"/>
          <a:ext xmlns:a="http://schemas.openxmlformats.org/drawingml/2006/main" cx="10820400" cy="2952750"/>
        </p:xfrm>
        <a:graphic xmlns:a="http://schemas.openxmlformats.org/drawingml/2006/main">
          <a:graphicData uri="http://schemas.openxmlformats.org/drawingml/2006/table">
            <a:tbl>
              <a:tblPr firstRow="1" bandRow="0"/>
              <a:tblGrid>
                <a:gridCol w="2000250"/>
                <a:gridCol w="4000500"/>
                <a:gridCol w="4762500"/>
              </a:tblGrid>
              <a:tr h="590550">
                <a:tc>
                  <a:txBody>
                    <a:bodyPr lIns="114300" tIns="66675" rIns="114300" bIns="57150">
                      <a:noAutofit/>
                    </a:bodyPr>
                    <a:lstStyle/>
                    <a:p>
                      <a:pPr algn="l"/>
                      <a:r>
                        <a:rPr sz="1875" b="1">
                          <a:solidFill>
                            <a:srgbClr val="FFFFFF"/>
                          </a:solidFill>
                          <a:latin typeface="Malgun Gothic"/>
                          <a:ea typeface="Malgun Gothic"/>
                          <a:cs typeface="Malgun Gothic"/>
                        </a:rPr>
                        <a:t>문의</a:t>
                      </a:r>
                    </a:p>
                  </a:txBody>
                  <a:tcPr marL="91440" marR="91440" marT="45720" marB="45720" anchor="ctr">
                    <a:solidFill>
                      <a:srgbClr val="6B43C7"/>
                    </a:solidFill>
                  </a:tcPr>
                </a:tc>
                <a:tc>
                  <a:txBody>
                    <a:bodyPr lIns="114300" tIns="66675" rIns="114300" bIns="57150">
                      <a:noAutofit/>
                    </a:bodyPr>
                    <a:lstStyle/>
                    <a:p>
                      <a:pPr algn="l"/>
                      <a:r>
                        <a:rPr sz="1875" b="1">
                          <a:solidFill>
                            <a:srgbClr val="FFFFFF"/>
                          </a:solidFill>
                          <a:latin typeface="Malgun Gothic"/>
                          <a:ea typeface="Malgun Gothic"/>
                          <a:cs typeface="Malgun Gothic"/>
                        </a:rPr>
                        <a:t>현재 말할 수 있는 내용</a:t>
                      </a:r>
                    </a:p>
                  </a:txBody>
                  <a:tcPr marL="91440" marR="91440" marT="45720" marB="45720" anchor="ctr">
                    <a:solidFill>
                      <a:srgbClr val="6B43C7"/>
                    </a:solidFill>
                  </a:tcPr>
                </a:tc>
                <a:tc>
                  <a:txBody>
                    <a:bodyPr lIns="114300" tIns="66675" rIns="114300" bIns="57150">
                      <a:noAutofit/>
                    </a:bodyPr>
                    <a:lstStyle/>
                    <a:p>
                      <a:pPr algn="l"/>
                      <a:r>
                        <a:rPr sz="1875" b="1">
                          <a:solidFill>
                            <a:srgbClr val="FFFFFF"/>
                          </a:solidFill>
                          <a:latin typeface="Malgun Gothic"/>
                          <a:ea typeface="Malgun Gothic"/>
                          <a:cs typeface="Malgun Gothic"/>
                        </a:rPr>
                        <a:t>추가 확인</a:t>
                      </a:r>
                    </a:p>
                  </a:txBody>
                  <a:tcPr marL="91440" marR="91440" marT="45720" marB="45720" anchor="ctr">
                    <a:solidFill>
                      <a:srgbClr val="6B43C7"/>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주차 요금</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참가비 무료와 별도 항목</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3시간 요금, 감면, 등록 절차</a:t>
                      </a:r>
                    </a:p>
                  </a:txBody>
                  <a:tcPr marL="91440" marR="91440" marT="45720" marB="45720" anchor="ctr">
                    <a:solidFill>
                      <a:srgbClr val="FFFFFF"/>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녹화본</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제공 여부와 일정 미정</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촬영·배포 결정, 대체 이수</a:t>
                      </a:r>
                    </a:p>
                  </a:txBody>
                  <a:tcPr marL="91440" marR="91440" marT="45720" marB="45720" anchor="ctr">
                    <a:solidFill>
                      <a:srgbClr val="F5F2FC"/>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노트북 대여</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4대 확보와 대여료 없음</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개인 배정, 수령·반납 시각</a:t>
                      </a:r>
                    </a:p>
                  </a:txBody>
                  <a:tcPr marL="91440" marR="91440" marT="45720" marB="45720" anchor="ctr">
                    <a:solidFill>
                      <a:srgbClr val="FFFFFF"/>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기간 안의 신청</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연장된 신청 기간 안</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접수 상태, 잔여석, 참가 확정</a:t>
                      </a:r>
                    </a:p>
                  </a:txBody>
                  <a:tcPr marL="91440" marR="91440" marT="45720" marB="45720" anchor="ctr">
                    <a:solidFill>
                      <a:srgbClr val="F5F2FC"/>
                    </a:solidFill>
                  </a:tcPr>
                </a:tc>
              </a:tr>
            </a:tbl>
          </a:graphicData>
        </a:graphic>
      </p:graphicFrame>
      <p:sp>
        <p:nvSpPr>
          <p:cNvPr id="3" name="자료에 없는 값과 아직 결정하지 않은 일을 같은 뜻">
            <a:extLst xmlns:a="http://schemas.openxmlformats.org/drawingml/2006/main">
              <a:ext uri="{FF2B5EF4-FFF2-40B4-BE49-F238E27FC236}">
                <a16:creationId xmlns:a16="http://schemas.microsoft.com/office/drawing/2014/main" id="{5EF3E9DB-59BA-4505-8AED-717C829D40C9}"/>
              </a:ext>
            </a:extLst>
          </p:cNvPr>
          <p:cNvSpPr>
            <a:spLocks xmlns:a="http://schemas.openxmlformats.org/drawingml/2006/main" noGrp="1"/>
          </p:cNvSpPr>
          <p:nvPr/>
        </p:nvSpPr>
        <p:spPr>
          <a:xfrm xmlns:a="http://schemas.openxmlformats.org/drawingml/2006/main">
            <a:off x="685800" y="581025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자료에 없는 값과 아직 결정하지 않은 일을 같은 뜻으로 쓰지 않습니다.</a:t>
            </a:r>
          </a:p>
        </p:txBody>
      </p:sp>
      <p:sp>
        <p:nvSpPr>
          <p:cNvPr id="4" name="105–108분">
            <a:extLst xmlns:a="http://schemas.openxmlformats.org/drawingml/2006/main">
              <a:ext uri="{FF2B5EF4-FFF2-40B4-BE49-F238E27FC236}">
                <a16:creationId xmlns:a16="http://schemas.microsoft.com/office/drawing/2014/main" id="{D88C90DB-8D03-4FBB-BA32-0DBAA2D92BA5}"/>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105–108분</a:t>
            </a:r>
          </a:p>
        </p:txBody>
      </p:sp>
      <p:sp>
        <p:nvSpPr>
          <p:cNvPr id="5" name="웹 실습 열기">
            <a:extLst xmlns:a="http://schemas.openxmlformats.org/drawingml/2006/main">
              <a:ext uri="{FF2B5EF4-FFF2-40B4-BE49-F238E27FC236}">
                <a16:creationId xmlns:a16="http://schemas.microsoft.com/office/drawing/2014/main" id="{F6ACCBEF-CC28-4D2F-A684-A5E14A92EA4B}"/>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25575e89a5ac4323"/>
              </a:rPr>
              <a:t>웹 실습 열기</a:t>
            </a:r>
          </a:p>
        </p:txBody>
      </p:sp>
      <p:sp>
        <p:nvSpPr>
          <p:cNvPr id="6" name="34">
            <a:extLst xmlns:a="http://schemas.openxmlformats.org/drawingml/2006/main">
              <a:ext uri="{FF2B5EF4-FFF2-40B4-BE49-F238E27FC236}">
                <a16:creationId xmlns:a16="http://schemas.microsoft.com/office/drawing/2014/main" id="{49BAD9E7-FD46-4979-B686-DDE27A245CA6}"/>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34</a:t>
            </a:r>
          </a:p>
        </p:txBody>
      </p:sp>
    </p:spTree>
    <p:extLst>
      <p:ext uri="{BB962C8B-B14F-4D97-AF65-F5344CB8AC3E}">
        <p14:creationId xmlns:p14="http://schemas.microsoft.com/office/powerpoint/2010/main" val="1528284642"/>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완료 기록은 업무별로 다릅니다">
            <a:extLst xmlns:a="http://schemas.openxmlformats.org/drawingml/2006/main">
              <a:ext uri="{FF2B5EF4-FFF2-40B4-BE49-F238E27FC236}">
                <a16:creationId xmlns:a16="http://schemas.microsoft.com/office/drawing/2014/main" id="{4708B6B4-E2CD-4723-998A-FEDB20640667}"/>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완료 기록은 업무별로 다릅니다</a:t>
            </a:r>
          </a:p>
        </p:txBody>
      </p:sp>
      <p:graphicFrame>
        <p:nvGraphicFramePr>
          <p:cNvPr id="8" name=""/>
          <p:cNvGraphicFramePr/>
          <p:nvPr/>
        </p:nvGraphicFramePr>
        <p:xfrm>
          <a:off xmlns:a="http://schemas.openxmlformats.org/drawingml/2006/main" x="685800" y="1543050"/>
          <a:ext xmlns:a="http://schemas.openxmlformats.org/drawingml/2006/main" cx="10820400" cy="2952750"/>
        </p:xfrm>
        <a:graphic xmlns:a="http://schemas.openxmlformats.org/drawingml/2006/main">
          <a:graphicData uri="http://schemas.openxmlformats.org/drawingml/2006/table">
            <a:tbl>
              <a:tblPr firstRow="1" bandRow="0"/>
              <a:tblGrid>
                <a:gridCol w="2762250"/>
                <a:gridCol w="3619500"/>
                <a:gridCol w="4381500"/>
              </a:tblGrid>
              <a:tr h="590550">
                <a:tc>
                  <a:txBody>
                    <a:bodyPr lIns="114300" tIns="66675" rIns="114300" bIns="57150">
                      <a:noAutofit/>
                    </a:bodyPr>
                    <a:lstStyle/>
                    <a:p>
                      <a:pPr algn="l"/>
                      <a:r>
                        <a:rPr sz="1875" b="1">
                          <a:solidFill>
                            <a:srgbClr val="FFFFFF"/>
                          </a:solidFill>
                          <a:latin typeface="Malgun Gothic"/>
                          <a:ea typeface="Malgun Gothic"/>
                          <a:cs typeface="Malgun Gothic"/>
                        </a:rPr>
                        <a:t>업무</a:t>
                      </a:r>
                    </a:p>
                  </a:txBody>
                  <a:tcPr marL="91440" marR="91440" marT="45720" marB="45720" anchor="ctr">
                    <a:solidFill>
                      <a:srgbClr val="6B43C7"/>
                    </a:solidFill>
                  </a:tcPr>
                </a:tc>
                <a:tc>
                  <a:txBody>
                    <a:bodyPr lIns="114300" tIns="66675" rIns="114300" bIns="57150">
                      <a:noAutofit/>
                    </a:bodyPr>
                    <a:lstStyle/>
                    <a:p>
                      <a:pPr algn="l"/>
                      <a:r>
                        <a:rPr sz="1875" b="1">
                          <a:solidFill>
                            <a:srgbClr val="FFFFFF"/>
                          </a:solidFill>
                          <a:latin typeface="Malgun Gothic"/>
                          <a:ea typeface="Malgun Gothic"/>
                          <a:cs typeface="Malgun Gothic"/>
                        </a:rPr>
                        <a:t>마지막 기록</a:t>
                      </a:r>
                    </a:p>
                  </a:txBody>
                  <a:tcPr marL="91440" marR="91440" marT="45720" marB="45720" anchor="ctr">
                    <a:solidFill>
                      <a:srgbClr val="6B43C7"/>
                    </a:solidFill>
                  </a:tcPr>
                </a:tc>
                <a:tc>
                  <a:txBody>
                    <a:bodyPr lIns="114300" tIns="66675" rIns="114300" bIns="57150">
                      <a:noAutofit/>
                    </a:bodyPr>
                    <a:lstStyle/>
                    <a:p>
                      <a:pPr algn="l"/>
                      <a:r>
                        <a:rPr sz="1875" b="1">
                          <a:solidFill>
                            <a:srgbClr val="FFFFFF"/>
                          </a:solidFill>
                          <a:latin typeface="Malgun Gothic"/>
                          <a:ea typeface="Malgun Gothic"/>
                          <a:cs typeface="Malgun Gothic"/>
                        </a:rPr>
                        <a:t>남은 확인</a:t>
                      </a:r>
                    </a:p>
                  </a:txBody>
                  <a:tcPr marL="91440" marR="91440" marT="45720" marB="45720" anchor="ctr">
                    <a:solidFill>
                      <a:srgbClr val="6B43C7"/>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최초 참가 안내문</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정리·내부 공유 완료</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부서 게시·전달, 승인 변경 반영</a:t>
                      </a:r>
                    </a:p>
                  </a:txBody>
                  <a:tcPr marL="91440" marR="91440" marT="45720" marB="45720" anchor="ctr">
                    <a:solidFill>
                      <a:srgbClr val="FFFFFF"/>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가상 실습 자료</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작성 중</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완성·배포 여부</a:t>
                      </a:r>
                    </a:p>
                  </a:txBody>
                  <a:tcPr marL="91440" marR="91440" marT="45720" marB="45720" anchor="ctr">
                    <a:solidFill>
                      <a:srgbClr val="F5F2FC"/>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수정 예산표</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금액 수정 완료, 공유 대기</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최종 공유 기록과 수신 대상</a:t>
                      </a:r>
                    </a:p>
                  </a:txBody>
                  <a:tcPr marL="91440" marR="91440" marT="45720" marB="45720" anchor="ctr">
                    <a:solidFill>
                      <a:srgbClr val="FFFFFF"/>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공지 세 곳 수정</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수정 요청, 완료 회신 없음</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세 곳의 실제 수정과 부서 전달</a:t>
                      </a:r>
                    </a:p>
                  </a:txBody>
                  <a:tcPr marL="91440" marR="91440" marT="45720" marB="45720" anchor="ctr">
                    <a:solidFill>
                      <a:srgbClr val="F5F2FC"/>
                    </a:solidFill>
                  </a:tcPr>
                </a:tc>
              </a:tr>
            </a:tbl>
          </a:graphicData>
        </a:graphic>
      </p:graphicFrame>
      <p:sp>
        <p:nvSpPr>
          <p:cNvPr id="3" name="B2와 C6, D13·D14를 함께 확인합니다.">
            <a:extLst xmlns:a="http://schemas.openxmlformats.org/drawingml/2006/main">
              <a:ext uri="{FF2B5EF4-FFF2-40B4-BE49-F238E27FC236}">
                <a16:creationId xmlns:a16="http://schemas.microsoft.com/office/drawing/2014/main" id="{312C6734-4DC6-432C-9106-DD1E89D655E8}"/>
              </a:ext>
            </a:extLst>
          </p:cNvPr>
          <p:cNvSpPr>
            <a:spLocks xmlns:a="http://schemas.openxmlformats.org/drawingml/2006/main" noGrp="1"/>
          </p:cNvSpPr>
          <p:nvPr/>
        </p:nvSpPr>
        <p:spPr>
          <a:xfrm xmlns:a="http://schemas.openxmlformats.org/drawingml/2006/main">
            <a:off x="685800" y="581025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B2와 C6, D13·D14를 함께 확인합니다.</a:t>
            </a:r>
          </a:p>
        </p:txBody>
      </p:sp>
      <p:sp>
        <p:nvSpPr>
          <p:cNvPr id="4" name="108–111분">
            <a:extLst xmlns:a="http://schemas.openxmlformats.org/drawingml/2006/main">
              <a:ext uri="{FF2B5EF4-FFF2-40B4-BE49-F238E27FC236}">
                <a16:creationId xmlns:a16="http://schemas.microsoft.com/office/drawing/2014/main" id="{4370BFD3-E77E-49AC-9D50-5579AFF9AB07}"/>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108–111분</a:t>
            </a:r>
          </a:p>
        </p:txBody>
      </p:sp>
      <p:sp>
        <p:nvSpPr>
          <p:cNvPr id="5" name="웹 실습 열기">
            <a:extLst xmlns:a="http://schemas.openxmlformats.org/drawingml/2006/main">
              <a:ext uri="{FF2B5EF4-FFF2-40B4-BE49-F238E27FC236}">
                <a16:creationId xmlns:a16="http://schemas.microsoft.com/office/drawing/2014/main" id="{25CBC658-AA08-4517-B7D9-FD984A588CDA}"/>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37bd225484bb4f30"/>
              </a:rPr>
              <a:t>웹 실습 열기</a:t>
            </a:r>
          </a:p>
        </p:txBody>
      </p:sp>
      <p:sp>
        <p:nvSpPr>
          <p:cNvPr id="6" name="35">
            <a:extLst xmlns:a="http://schemas.openxmlformats.org/drawingml/2006/main">
              <a:ext uri="{FF2B5EF4-FFF2-40B4-BE49-F238E27FC236}">
                <a16:creationId xmlns:a16="http://schemas.microsoft.com/office/drawing/2014/main" id="{36D9B9A0-F5C4-4B4A-B3D7-027EF5C435FF}"/>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35</a:t>
            </a:r>
          </a:p>
        </p:txBody>
      </p:sp>
    </p:spTree>
    <p:extLst>
      <p:ext uri="{BB962C8B-B14F-4D97-AF65-F5344CB8AC3E}">
        <p14:creationId xmlns:p14="http://schemas.microsoft.com/office/powerpoint/2010/main" val="91590551"/>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30초 인계와 짝 확인">
            <a:extLst xmlns:a="http://schemas.openxmlformats.org/drawingml/2006/main">
              <a:ext uri="{FF2B5EF4-FFF2-40B4-BE49-F238E27FC236}">
                <a16:creationId xmlns:a16="http://schemas.microsoft.com/office/drawing/2014/main" id="{7D9ED4F9-099D-4DA5-9A5C-CECC13E078AD}"/>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30초 인계와 짝 확인</a:t>
            </a:r>
          </a:p>
        </p:txBody>
      </p:sp>
      <p:sp>
        <p:nvSpPr>
          <p:cNvPr id="2" name="30초">
            <a:extLst xmlns:a="http://schemas.openxmlformats.org/drawingml/2006/main">
              <a:ext uri="{FF2B5EF4-FFF2-40B4-BE49-F238E27FC236}">
                <a16:creationId xmlns:a16="http://schemas.microsoft.com/office/drawing/2014/main" id="{3806DF95-A343-4A69-AA0F-3312C7E05A3E}"/>
              </a:ext>
            </a:extLst>
          </p:cNvPr>
          <p:cNvSpPr>
            <a:spLocks xmlns:a="http://schemas.openxmlformats.org/drawingml/2006/main" noGrp="1"/>
          </p:cNvSpPr>
          <p:nvPr/>
        </p:nvSpPr>
        <p:spPr>
          <a:xfrm xmlns:a="http://schemas.openxmlformats.org/drawingml/2006/main">
            <a:off x="685800" y="1619250"/>
            <a:ext cx="2743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4125" b="1">
                <a:solidFill>
                  <a:srgbClr val="6B43C7"/>
                </a:solidFill>
                <a:latin typeface="Malgun Gothic"/>
                <a:ea typeface="Malgun Gothic"/>
                <a:cs typeface="Malgun Gothic"/>
              </a:defRPr>
            </a:pPr>
            <a:r>
              <a:rPr sz="4125" b="1">
                <a:solidFill>
                  <a:srgbClr val="6B43C7"/>
                </a:solidFill>
                <a:latin typeface="Malgun Gothic"/>
                <a:ea typeface="Malgun Gothic"/>
                <a:cs typeface="Malgun Gothic"/>
              </a:rPr>
              <a:t>30초</a:t>
            </a:r>
          </a:p>
        </p:txBody>
      </p:sp>
      <p:sp>
        <p:nvSpPr>
          <p:cNvPr id="3" name="최신 신청 마감과 남은 확인 두 가지를 옆 사람과 ">
            <a:extLst xmlns:a="http://schemas.openxmlformats.org/drawingml/2006/main">
              <a:ext uri="{FF2B5EF4-FFF2-40B4-BE49-F238E27FC236}">
                <a16:creationId xmlns:a16="http://schemas.microsoft.com/office/drawing/2014/main" id="{6BBAAE7D-996B-4354-8953-AFC939C344E4}"/>
              </a:ext>
            </a:extLst>
          </p:cNvPr>
          <p:cNvSpPr>
            <a:spLocks xmlns:a="http://schemas.openxmlformats.org/drawingml/2006/main" noGrp="1"/>
          </p:cNvSpPr>
          <p:nvPr/>
        </p:nvSpPr>
        <p:spPr>
          <a:xfrm xmlns:a="http://schemas.openxmlformats.org/drawingml/2006/main">
            <a:off x="685800" y="2895600"/>
            <a:ext cx="276225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250" b="1">
                <a:solidFill>
                  <a:srgbClr val="20212A"/>
                </a:solidFill>
                <a:latin typeface="Malgun Gothic"/>
                <a:ea typeface="Malgun Gothic"/>
                <a:cs typeface="Malgun Gothic"/>
              </a:defRPr>
            </a:pPr>
            <a:r>
              <a:rPr sz="2250" b="1">
                <a:solidFill>
                  <a:srgbClr val="20212A"/>
                </a:solidFill>
                <a:latin typeface="Malgun Gothic"/>
                <a:ea typeface="Malgun Gothic"/>
                <a:cs typeface="Malgun Gothic"/>
              </a:rPr>
              <a:t>최신 신청 마감과 남은 확인 두 가지를 옆 사람과 번갈아 설명합니다.</a:t>
            </a:r>
          </a:p>
        </p:txBody>
      </p:sp>
      <p:sp>
        <p:nvSpPr>
          <p:cNvPr id="4" name="">
            <a:extLst xmlns:a="http://schemas.openxmlformats.org/drawingml/2006/main">
              <a:ext uri="{FF2B5EF4-FFF2-40B4-BE49-F238E27FC236}">
                <a16:creationId xmlns:a16="http://schemas.microsoft.com/office/drawing/2014/main" id="{EFA42EF4-92CA-437B-BAA0-13CEE9E8C3B8}"/>
              </a:ext>
            </a:extLst>
          </p:cNvPr>
          <p:cNvSpPr>
            <a:spLocks xmlns:a="http://schemas.openxmlformats.org/drawingml/2006/main" noGrp="1"/>
          </p:cNvSpPr>
          <p:nvPr/>
        </p:nvSpPr>
        <p:spPr>
          <a:xfrm xmlns:a="http://schemas.openxmlformats.org/drawingml/2006/main">
            <a:off x="4038600" y="1647825"/>
            <a:ext cx="74676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듣는 사람은 원문에서 근거 문단 찾기</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설명에서 빠진 조건 한 가지 알려 주기</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각자 확인한 문장과 문단 ID 기록</a:t>
            </a:r>
          </a:p>
        </p:txBody>
      </p:sp>
      <p:sp>
        <p:nvSpPr>
          <p:cNvPr id="5" name="남길 결과">
            <a:extLst xmlns:a="http://schemas.openxmlformats.org/drawingml/2006/main">
              <a:ext uri="{FF2B5EF4-FFF2-40B4-BE49-F238E27FC236}">
                <a16:creationId xmlns:a16="http://schemas.microsoft.com/office/drawing/2014/main" id="{FB3F22B9-5DA6-4874-A605-CEDB92A90250}"/>
              </a:ext>
            </a:extLst>
          </p:cNvPr>
          <p:cNvSpPr>
            <a:spLocks xmlns:a="http://schemas.openxmlformats.org/drawingml/2006/main" noGrp="1"/>
          </p:cNvSpPr>
          <p:nvPr/>
        </p:nvSpPr>
        <p:spPr>
          <a:xfrm xmlns:a="http://schemas.openxmlformats.org/drawingml/2006/main">
            <a:off x="4038600" y="5029200"/>
            <a:ext cx="7467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1">
                <a:solidFill>
                  <a:srgbClr val="6B43C7"/>
                </a:solidFill>
                <a:latin typeface="Malgun Gothic"/>
                <a:ea typeface="Malgun Gothic"/>
                <a:cs typeface="Malgun Gothic"/>
              </a:defRPr>
            </a:pPr>
            <a:r>
              <a:rPr sz="1725" b="1">
                <a:solidFill>
                  <a:srgbClr val="6B43C7"/>
                </a:solidFill>
                <a:latin typeface="Malgun Gothic"/>
                <a:ea typeface="Malgun Gothic"/>
                <a:cs typeface="Malgun Gothic"/>
              </a:rPr>
              <a:t>남길 결과</a:t>
            </a:r>
          </a:p>
        </p:txBody>
      </p:sp>
      <p:sp>
        <p:nvSpPr>
          <p:cNvPr id="6" name="짧은 인계 설명과 원문 확인 기록">
            <a:extLst xmlns:a="http://schemas.openxmlformats.org/drawingml/2006/main">
              <a:ext uri="{FF2B5EF4-FFF2-40B4-BE49-F238E27FC236}">
                <a16:creationId xmlns:a16="http://schemas.microsoft.com/office/drawing/2014/main" id="{A51C19DA-382E-4245-AE19-F4F35E722794}"/>
              </a:ext>
            </a:extLst>
          </p:cNvPr>
          <p:cNvSpPr>
            <a:spLocks xmlns:a="http://schemas.openxmlformats.org/drawingml/2006/main" noGrp="1"/>
          </p:cNvSpPr>
          <p:nvPr/>
        </p:nvSpPr>
        <p:spPr>
          <a:xfrm xmlns:a="http://schemas.openxmlformats.org/drawingml/2006/main">
            <a:off x="4038600" y="5429250"/>
            <a:ext cx="7467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100" b="1">
                <a:solidFill>
                  <a:srgbClr val="20212A"/>
                </a:solidFill>
                <a:latin typeface="Malgun Gothic"/>
                <a:ea typeface="Malgun Gothic"/>
                <a:cs typeface="Malgun Gothic"/>
              </a:defRPr>
            </a:pPr>
            <a:r>
              <a:rPr sz="2100" b="1">
                <a:solidFill>
                  <a:srgbClr val="20212A"/>
                </a:solidFill>
                <a:latin typeface="Malgun Gothic"/>
                <a:ea typeface="Malgun Gothic"/>
                <a:cs typeface="Malgun Gothic"/>
              </a:rPr>
              <a:t>짧은 인계 설명과 원문 확인 기록</a:t>
            </a:r>
          </a:p>
        </p:txBody>
      </p:sp>
      <p:sp>
        <p:nvSpPr>
          <p:cNvPr id="7" name="여유 시간과 사용량이 있으면 오디오 요약은 선택합니">
            <a:extLst xmlns:a="http://schemas.openxmlformats.org/drawingml/2006/main">
              <a:ext uri="{FF2B5EF4-FFF2-40B4-BE49-F238E27FC236}">
                <a16:creationId xmlns:a16="http://schemas.microsoft.com/office/drawing/2014/main" id="{76E60FB0-F9FC-4B06-8455-F922C3C37E81}"/>
              </a:ext>
            </a:extLst>
          </p:cNvPr>
          <p:cNvSpPr>
            <a:spLocks xmlns:a="http://schemas.openxmlformats.org/drawingml/2006/main" noGrp="1"/>
          </p:cNvSpPr>
          <p:nvPr/>
        </p:nvSpPr>
        <p:spPr>
          <a:xfrm xmlns:a="http://schemas.openxmlformats.org/drawingml/2006/main">
            <a:off x="685800" y="6038850"/>
            <a:ext cx="10820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여유 시간과 사용량이 있으면 오디오 요약은 선택합니다.</a:t>
            </a:r>
          </a:p>
        </p:txBody>
      </p:sp>
      <p:sp>
        <p:nvSpPr>
          <p:cNvPr id="8" name="111–115분">
            <a:extLst xmlns:a="http://schemas.openxmlformats.org/drawingml/2006/main">
              <a:ext uri="{FF2B5EF4-FFF2-40B4-BE49-F238E27FC236}">
                <a16:creationId xmlns:a16="http://schemas.microsoft.com/office/drawing/2014/main" id="{763BA9C9-1494-491C-B883-3D4B31089C32}"/>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111–115분</a:t>
            </a:r>
          </a:p>
        </p:txBody>
      </p:sp>
      <p:sp>
        <p:nvSpPr>
          <p:cNvPr id="9" name="웹 실습 열기">
            <a:extLst xmlns:a="http://schemas.openxmlformats.org/drawingml/2006/main">
              <a:ext uri="{FF2B5EF4-FFF2-40B4-BE49-F238E27FC236}">
                <a16:creationId xmlns:a16="http://schemas.microsoft.com/office/drawing/2014/main" id="{84D536DF-B0F1-4290-B818-42C07F6D21E1}"/>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dc9b0b83e02c40db"/>
              </a:rPr>
              <a:t>웹 실습 열기</a:t>
            </a:r>
          </a:p>
        </p:txBody>
      </p:sp>
      <p:sp>
        <p:nvSpPr>
          <p:cNvPr id="10" name="36">
            <a:extLst xmlns:a="http://schemas.openxmlformats.org/drawingml/2006/main">
              <a:ext uri="{FF2B5EF4-FFF2-40B4-BE49-F238E27FC236}">
                <a16:creationId xmlns:a16="http://schemas.microsoft.com/office/drawing/2014/main" id="{49C77BF8-4077-45A3-A8A6-60867EB28808}"/>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36</a:t>
            </a:r>
          </a:p>
        </p:txBody>
      </p:sp>
    </p:spTree>
    <p:extLst>
      <p:ext uri="{BB962C8B-B14F-4D97-AF65-F5344CB8AC3E}">
        <p14:creationId xmlns:p14="http://schemas.microsoft.com/office/powerpoint/2010/main" val="869228250"/>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휴식">
            <a:extLst xmlns:a="http://schemas.openxmlformats.org/drawingml/2006/main">
              <a:ext uri="{FF2B5EF4-FFF2-40B4-BE49-F238E27FC236}">
                <a16:creationId xmlns:a16="http://schemas.microsoft.com/office/drawing/2014/main" id="{7E86CFCE-E003-467E-BD13-8D6D9EF59ACB}"/>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휴식</a:t>
            </a:r>
          </a:p>
        </p:txBody>
      </p:sp>
      <p:sp>
        <p:nvSpPr>
          <p:cNvPr id="2" name="5분">
            <a:extLst xmlns:a="http://schemas.openxmlformats.org/drawingml/2006/main">
              <a:ext uri="{FF2B5EF4-FFF2-40B4-BE49-F238E27FC236}">
                <a16:creationId xmlns:a16="http://schemas.microsoft.com/office/drawing/2014/main" id="{A37A9543-3593-4880-9837-5E1F6222B275}"/>
              </a:ext>
            </a:extLst>
          </p:cNvPr>
          <p:cNvSpPr>
            <a:spLocks xmlns:a="http://schemas.openxmlformats.org/drawingml/2006/main" noGrp="1"/>
          </p:cNvSpPr>
          <p:nvPr/>
        </p:nvSpPr>
        <p:spPr>
          <a:xfrm xmlns:a="http://schemas.openxmlformats.org/drawingml/2006/main">
            <a:off x="685800" y="1695450"/>
            <a:ext cx="108204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7350" b="1">
                <a:solidFill>
                  <a:srgbClr val="6B43C7"/>
                </a:solidFill>
                <a:latin typeface="Malgun Gothic"/>
                <a:ea typeface="Malgun Gothic"/>
                <a:cs typeface="Malgun Gothic"/>
              </a:defRPr>
            </a:pPr>
            <a:r>
              <a:rPr sz="7350" b="1">
                <a:solidFill>
                  <a:srgbClr val="6B43C7"/>
                </a:solidFill>
                <a:latin typeface="Malgun Gothic"/>
                <a:ea typeface="Malgun Gothic"/>
                <a:cs typeface="Malgun Gothic"/>
              </a:rPr>
              <a:t>5분</a:t>
            </a:r>
          </a:p>
        </p:txBody>
      </p:sp>
      <p:sp>
        <p:nvSpPr>
          <p:cNvPr id="3" name="">
            <a:extLst xmlns:a="http://schemas.openxmlformats.org/drawingml/2006/main">
              <a:ext uri="{FF2B5EF4-FFF2-40B4-BE49-F238E27FC236}">
                <a16:creationId xmlns:a16="http://schemas.microsoft.com/office/drawing/2014/main" id="{6C215DCF-A6E2-4E15-85FC-275389A00B03}"/>
              </a:ext>
            </a:extLst>
          </p:cNvPr>
          <p:cNvSpPr>
            <a:spLocks xmlns:a="http://schemas.openxmlformats.org/drawingml/2006/main" noGrp="1"/>
          </p:cNvSpPr>
          <p:nvPr/>
        </p:nvSpPr>
        <p:spPr>
          <a:xfrm xmlns:a="http://schemas.openxmlformats.org/drawingml/2006/main">
            <a:off x="742950" y="3857625"/>
            <a:ext cx="106680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27000" algn="l">
              <a:spcAft>
                <a:spcPts val="2000"/>
              </a:spcAft>
              <a:buChar char="•"/>
              <a:defRPr sz="2400" b="0">
                <a:solidFill>
                  <a:srgbClr val="20212A"/>
                </a:solidFill>
                <a:latin typeface="Malgun Gothic"/>
                <a:ea typeface="Malgun Gothic"/>
                <a:cs typeface="Malgun Gothic"/>
              </a:defRPr>
            </a:pPr>
            <a:r>
              <a:t>인계표·FAQ·문의 처리표를 저장합니다.</a:t>
            </a:r>
          </a:p>
          <a:p xmlns:a="http://schemas.openxmlformats.org/drawingml/2006/main">
            <a:pPr marL="228600" indent="-127000" algn="l">
              <a:spcAft>
                <a:spcPts val="2000"/>
              </a:spcAft>
              <a:buChar char="•"/>
              <a:defRPr sz="2400" b="0">
                <a:solidFill>
                  <a:srgbClr val="20212A"/>
                </a:solidFill>
                <a:latin typeface="Malgun Gothic"/>
                <a:ea typeface="Malgun Gothic"/>
                <a:cs typeface="Malgun Gothic"/>
              </a:defRPr>
            </a:pPr>
            <a:r>
              <a:t>120분부터 Claude 결과 보고 실습을 시작합니다.</a:t>
            </a:r>
          </a:p>
        </p:txBody>
      </p:sp>
      <p:sp>
        <p:nvSpPr>
          <p:cNvPr id="4" name="115–120분">
            <a:extLst xmlns:a="http://schemas.openxmlformats.org/drawingml/2006/main">
              <a:ext uri="{FF2B5EF4-FFF2-40B4-BE49-F238E27FC236}">
                <a16:creationId xmlns:a16="http://schemas.microsoft.com/office/drawing/2014/main" id="{2B1D8AA9-71E4-4F67-B762-AC9FD2EE1E09}"/>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115–120분</a:t>
            </a:r>
          </a:p>
        </p:txBody>
      </p:sp>
      <p:sp>
        <p:nvSpPr>
          <p:cNvPr id="5" name="웹 실습 열기">
            <a:extLst xmlns:a="http://schemas.openxmlformats.org/drawingml/2006/main">
              <a:ext uri="{FF2B5EF4-FFF2-40B4-BE49-F238E27FC236}">
                <a16:creationId xmlns:a16="http://schemas.microsoft.com/office/drawing/2014/main" id="{0861C94F-AC03-4CDD-8D24-1A117AFC6E04}"/>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fad48b19598d47d2"/>
              </a:rPr>
              <a:t>웹 실습 열기</a:t>
            </a:r>
          </a:p>
        </p:txBody>
      </p:sp>
      <p:sp>
        <p:nvSpPr>
          <p:cNvPr id="6" name="37">
            <a:extLst xmlns:a="http://schemas.openxmlformats.org/drawingml/2006/main">
              <a:ext uri="{FF2B5EF4-FFF2-40B4-BE49-F238E27FC236}">
                <a16:creationId xmlns:a16="http://schemas.microsoft.com/office/drawing/2014/main" id="{0FFBDAE8-8F31-4980-BDB6-1FA9B5F69ED7}"/>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37</a:t>
            </a:r>
          </a:p>
        </p:txBody>
      </p:sp>
    </p:spTree>
    <p:extLst>
      <p:ext uri="{BB962C8B-B14F-4D97-AF65-F5344CB8AC3E}">
        <p14:creationId xmlns:p14="http://schemas.microsoft.com/office/powerpoint/2010/main" val="1688018851"/>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대장과 설문을 근거로 쓰는 보고서">
            <a:extLst xmlns:a="http://schemas.openxmlformats.org/drawingml/2006/main">
              <a:ext uri="{FF2B5EF4-FFF2-40B4-BE49-F238E27FC236}">
                <a16:creationId xmlns:a16="http://schemas.microsoft.com/office/drawing/2014/main" id="{2D47E970-5A94-4870-879D-BE7E3DF5078D}"/>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대장과 설문을 근거로 쓰는 보고서</a:t>
            </a:r>
          </a:p>
        </p:txBody>
      </p:sp>
      <p:sp>
        <p:nvSpPr>
          <p:cNvPr id="2" name="">
            <a:extLst xmlns:a="http://schemas.openxmlformats.org/drawingml/2006/main">
              <a:ext uri="{FF2B5EF4-FFF2-40B4-BE49-F238E27FC236}">
                <a16:creationId xmlns:a16="http://schemas.microsoft.com/office/drawing/2014/main" id="{5E53C76B-289E-426A-B965-74F0137EF6DD}"/>
              </a:ext>
            </a:extLst>
          </p:cNvPr>
          <p:cNvSpPr>
            <a:spLocks xmlns:a="http://schemas.openxmlformats.org/drawingml/2006/main" noGrp="1"/>
          </p:cNvSpPr>
          <p:nvPr/>
        </p:nvSpPr>
        <p:spPr>
          <a:xfrm xmlns:a="http://schemas.openxmlformats.org/drawingml/2006/main">
            <a:off x="742950" y="1724025"/>
            <a:ext cx="106680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27000" algn="l">
              <a:spcAft>
                <a:spcPts val="2200"/>
              </a:spcAft>
              <a:buChar char="•"/>
              <a:defRPr sz="2400" b="0">
                <a:solidFill>
                  <a:srgbClr val="20212A"/>
                </a:solidFill>
                <a:latin typeface="Malgun Gothic"/>
                <a:ea typeface="Malgun Gothic"/>
                <a:cs typeface="Malgun Gothic"/>
              </a:defRPr>
            </a:pPr>
            <a:r>
              <a:t>참가 대장 30행과 설문 원응답 25행</a:t>
            </a:r>
          </a:p>
          <a:p xmlns:a="http://schemas.openxmlformats.org/drawingml/2006/main">
            <a:pPr marL="228600" indent="-127000" algn="l">
              <a:spcAft>
                <a:spcPts val="2200"/>
              </a:spcAft>
              <a:buChar char="•"/>
              <a:defRPr sz="2400" b="0">
                <a:solidFill>
                  <a:srgbClr val="20212A"/>
                </a:solidFill>
                <a:latin typeface="Malgun Gothic"/>
                <a:ea typeface="Malgun Gothic"/>
                <a:cs typeface="Malgun Gothic"/>
              </a:defRPr>
            </a:pPr>
            <a:r>
              <a:t>중간 집계와 승인된 확정 기록 구분</a:t>
            </a:r>
          </a:p>
          <a:p xmlns:a="http://schemas.openxmlformats.org/drawingml/2006/main">
            <a:pPr marL="228600" indent="-127000" algn="l">
              <a:spcAft>
                <a:spcPts val="2200"/>
              </a:spcAft>
              <a:buChar char="•"/>
              <a:defRPr sz="2400" b="0">
                <a:solidFill>
                  <a:srgbClr val="20212A"/>
                </a:solidFill>
                <a:latin typeface="Malgun Gothic"/>
                <a:ea typeface="Malgun Gothic"/>
                <a:cs typeface="Malgun Gothic"/>
              </a:defRPr>
            </a:pPr>
            <a:r>
              <a:t>수치 검산은 스프레드시트에서 수행</a:t>
            </a:r>
          </a:p>
          <a:p xmlns:a="http://schemas.openxmlformats.org/drawingml/2006/main">
            <a:pPr marL="228600" indent="-127000" algn="l">
              <a:spcAft>
                <a:spcPts val="2200"/>
              </a:spcAft>
              <a:buChar char="•"/>
              <a:defRPr sz="2400" b="0">
                <a:solidFill>
                  <a:srgbClr val="20212A"/>
                </a:solidFill>
                <a:latin typeface="Malgun Gothic"/>
                <a:ea typeface="Malgun Gothic"/>
                <a:cs typeface="Malgun Gothic"/>
              </a:defRPr>
            </a:pPr>
            <a:r>
              <a:t>확인된 수치로 보고서와 전달 메일 작성</a:t>
            </a:r>
          </a:p>
        </p:txBody>
      </p:sp>
      <p:sp>
        <p:nvSpPr>
          <p:cNvPr id="3" name="AI는 자료 정리와 문장 작성에 사용하고, 계산은 ">
            <a:extLst xmlns:a="http://schemas.openxmlformats.org/drawingml/2006/main">
              <a:ext uri="{FF2B5EF4-FFF2-40B4-BE49-F238E27FC236}">
                <a16:creationId xmlns:a16="http://schemas.microsoft.com/office/drawing/2014/main" id="{4A74BEBC-53A4-46D9-B52D-F2559FAEB57A}"/>
              </a:ext>
            </a:extLst>
          </p:cNvPr>
          <p:cNvSpPr>
            <a:spLocks xmlns:a="http://schemas.openxmlformats.org/drawingml/2006/main" noGrp="1"/>
          </p:cNvSpPr>
          <p:nvPr/>
        </p:nvSpPr>
        <p:spPr>
          <a:xfrm xmlns:a="http://schemas.openxmlformats.org/drawingml/2006/main">
            <a:off x="742950" y="54102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100" b="1">
                <a:solidFill>
                  <a:srgbClr val="6B43C7"/>
                </a:solidFill>
                <a:latin typeface="Malgun Gothic"/>
                <a:ea typeface="Malgun Gothic"/>
                <a:cs typeface="Malgun Gothic"/>
              </a:defRPr>
            </a:pPr>
            <a:r>
              <a:rPr sz="2100" b="1">
                <a:solidFill>
                  <a:srgbClr val="6B43C7"/>
                </a:solidFill>
                <a:latin typeface="Malgun Gothic"/>
                <a:ea typeface="Malgun Gothic"/>
                <a:cs typeface="Malgun Gothic"/>
              </a:rPr>
              <a:t>AI는 자료 정리와 문장 작성에 사용하고, 계산은 별도로 확인합니다.</a:t>
            </a:r>
          </a:p>
        </p:txBody>
      </p:sp>
      <p:sp>
        <p:nvSpPr>
          <p:cNvPr id="4" name="120–123분">
            <a:extLst xmlns:a="http://schemas.openxmlformats.org/drawingml/2006/main">
              <a:ext uri="{FF2B5EF4-FFF2-40B4-BE49-F238E27FC236}">
                <a16:creationId xmlns:a16="http://schemas.microsoft.com/office/drawing/2014/main" id="{BC25B124-48F0-4D7D-90C5-0BAFAEC993AD}"/>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120–123분</a:t>
            </a:r>
          </a:p>
        </p:txBody>
      </p:sp>
      <p:sp>
        <p:nvSpPr>
          <p:cNvPr id="5" name="웹 실습 열기">
            <a:extLst xmlns:a="http://schemas.openxmlformats.org/drawingml/2006/main">
              <a:ext uri="{FF2B5EF4-FFF2-40B4-BE49-F238E27FC236}">
                <a16:creationId xmlns:a16="http://schemas.microsoft.com/office/drawing/2014/main" id="{A5641956-7791-42C5-9962-FD5B103D4B38}"/>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dae1af9afc0f46b0"/>
              </a:rPr>
              <a:t>웹 실습 열기</a:t>
            </a:r>
          </a:p>
        </p:txBody>
      </p:sp>
      <p:sp>
        <p:nvSpPr>
          <p:cNvPr id="6" name="38">
            <a:extLst xmlns:a="http://schemas.openxmlformats.org/drawingml/2006/main">
              <a:ext uri="{FF2B5EF4-FFF2-40B4-BE49-F238E27FC236}">
                <a16:creationId xmlns:a16="http://schemas.microsoft.com/office/drawing/2014/main" id="{4FE3FA00-588C-4B95-9D15-C2726D17F4F2}"/>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38</a:t>
            </a:r>
          </a:p>
        </p:txBody>
      </p:sp>
    </p:spTree>
    <p:extLst>
      <p:ext uri="{BB962C8B-B14F-4D97-AF65-F5344CB8AC3E}">
        <p14:creationId xmlns:p14="http://schemas.microsoft.com/office/powerpoint/2010/main" val="957936860"/>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임시 집계와 확정 대장">
            <a:extLst xmlns:a="http://schemas.openxmlformats.org/drawingml/2006/main">
              <a:ext uri="{FF2B5EF4-FFF2-40B4-BE49-F238E27FC236}">
                <a16:creationId xmlns:a16="http://schemas.microsoft.com/office/drawing/2014/main" id="{3BF2077D-2BB6-4EB9-933B-7F228D7BDF22}"/>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임시 집계와 확정 대장</a:t>
            </a:r>
          </a:p>
        </p:txBody>
      </p:sp>
      <p:graphicFrame>
        <p:nvGraphicFramePr>
          <p:cNvPr id="8" name=""/>
          <p:cNvGraphicFramePr/>
          <p:nvPr/>
        </p:nvGraphicFramePr>
        <p:xfrm>
          <a:off xmlns:a="http://schemas.openxmlformats.org/drawingml/2006/main" x="685800" y="1543050"/>
          <a:ext xmlns:a="http://schemas.openxmlformats.org/drawingml/2006/main" cx="10820400" cy="2952750"/>
        </p:xfrm>
        <a:graphic xmlns:a="http://schemas.openxmlformats.org/drawingml/2006/main">
          <a:graphicData uri="http://schemas.openxmlformats.org/drawingml/2006/table">
            <a:tbl>
              <a:tblPr firstRow="1" bandRow="0"/>
              <a:tblGrid>
                <a:gridCol w="2476500"/>
                <a:gridCol w="3619500"/>
                <a:gridCol w="4667250"/>
              </a:tblGrid>
              <a:tr h="590550">
                <a:tc>
                  <a:txBody>
                    <a:bodyPr lIns="114300" tIns="66675" rIns="114300" bIns="57150">
                      <a:noAutofit/>
                    </a:bodyPr>
                    <a:lstStyle/>
                    <a:p>
                      <a:pPr algn="l"/>
                      <a:r>
                        <a:rPr sz="1875" b="1">
                          <a:solidFill>
                            <a:srgbClr val="FFFFFF"/>
                          </a:solidFill>
                          <a:latin typeface="Malgun Gothic"/>
                          <a:ea typeface="Malgun Gothic"/>
                          <a:cs typeface="Malgun Gothic"/>
                        </a:rPr>
                        <a:t>받은 숫자</a:t>
                      </a:r>
                    </a:p>
                  </a:txBody>
                  <a:tcPr marL="91440" marR="91440" marT="45720" marB="45720" anchor="ctr">
                    <a:solidFill>
                      <a:srgbClr val="6B43C7"/>
                    </a:solidFill>
                  </a:tcPr>
                </a:tc>
                <a:tc>
                  <a:txBody>
                    <a:bodyPr lIns="114300" tIns="66675" rIns="114300" bIns="57150">
                      <a:noAutofit/>
                    </a:bodyPr>
                    <a:lstStyle/>
                    <a:p>
                      <a:pPr algn="l"/>
                      <a:r>
                        <a:rPr sz="1875" b="1">
                          <a:solidFill>
                            <a:srgbClr val="FFFFFF"/>
                          </a:solidFill>
                          <a:latin typeface="Malgun Gothic"/>
                          <a:ea typeface="Malgun Gothic"/>
                          <a:cs typeface="Malgun Gothic"/>
                        </a:rPr>
                        <a:t>무엇을 센 값인가</a:t>
                      </a:r>
                    </a:p>
                  </a:txBody>
                  <a:tcPr marL="91440" marR="91440" marT="45720" marB="45720" anchor="ctr">
                    <a:solidFill>
                      <a:srgbClr val="6B43C7"/>
                    </a:solidFill>
                  </a:tcPr>
                </a:tc>
                <a:tc>
                  <a:txBody>
                    <a:bodyPr lIns="114300" tIns="66675" rIns="114300" bIns="57150">
                      <a:noAutofit/>
                    </a:bodyPr>
                    <a:lstStyle/>
                    <a:p>
                      <a:pPr algn="l"/>
                      <a:r>
                        <a:rPr sz="1875" b="1">
                          <a:solidFill>
                            <a:srgbClr val="FFFFFF"/>
                          </a:solidFill>
                          <a:latin typeface="Malgun Gothic"/>
                          <a:ea typeface="Malgun Gothic"/>
                          <a:cs typeface="Malgun Gothic"/>
                        </a:rPr>
                        <a:t>보고서에 사용할 기준</a:t>
                      </a:r>
                    </a:p>
                  </a:txBody>
                  <a:tcPr marL="91440" marR="91440" marT="45720" marB="45720" anchor="ctr">
                    <a:solidFill>
                      <a:srgbClr val="6B43C7"/>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참석 29</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입장 서명 줄 수</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P16 재입장 중복 제외</a:t>
                      </a:r>
                    </a:p>
                  </a:txBody>
                  <a:tcPr marL="91440" marR="91440" marT="45720" marB="45720" anchor="ctr">
                    <a:solidFill>
                      <a:srgbClr val="FFFFFF"/>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완료 25</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제출 폴더 묶음 수</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P22 재제출 중복 제외</a:t>
                      </a:r>
                    </a:p>
                  </a:txBody>
                  <a:tcPr marL="91440" marR="91440" marT="45720" marB="45720" anchor="ctr">
                    <a:solidFill>
                      <a:srgbClr val="F5F2FC"/>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설문 24건, 평균 4.5</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마감 전 중간 화면</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20:00 마감 원응답 25건</a:t>
                      </a:r>
                    </a:p>
                  </a:txBody>
                  <a:tcPr marL="91440" marR="91440" marT="45720" marB="45720" anchor="ctr">
                    <a:solidFill>
                      <a:srgbClr val="FFFFFF"/>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지출 전표 6건</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행사 후 집행 기록</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준비 예산과 중복 합산하지 않음</a:t>
                      </a:r>
                    </a:p>
                  </a:txBody>
                  <a:tcPr marL="91440" marR="91440" marT="45720" marB="45720" anchor="ctr">
                    <a:solidFill>
                      <a:srgbClr val="F5F2FC"/>
                    </a:solidFill>
                  </a:tcPr>
                </a:tc>
              </a:tr>
            </a:tbl>
          </a:graphicData>
        </a:graphic>
      </p:graphicFrame>
      <p:sp>
        <p:nvSpPr>
          <p:cNvPr id="3" name="출석·제출은 P번호, 설문은 S번호, 의견은 F번호">
            <a:extLst xmlns:a="http://schemas.openxmlformats.org/drawingml/2006/main">
              <a:ext uri="{FF2B5EF4-FFF2-40B4-BE49-F238E27FC236}">
                <a16:creationId xmlns:a16="http://schemas.microsoft.com/office/drawing/2014/main" id="{AAD1A3B6-6C71-4E9F-A67C-E2C739C30745}"/>
              </a:ext>
            </a:extLst>
          </p:cNvPr>
          <p:cNvSpPr>
            <a:spLocks xmlns:a="http://schemas.openxmlformats.org/drawingml/2006/main" noGrp="1"/>
          </p:cNvSpPr>
          <p:nvPr/>
        </p:nvSpPr>
        <p:spPr>
          <a:xfrm xmlns:a="http://schemas.openxmlformats.org/drawingml/2006/main">
            <a:off x="685800" y="581025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출석·제출은 P번호, 설문은 S번호, 의견은 F번호입니다. 번호끼리 임의 연결하지 않습니다.</a:t>
            </a:r>
          </a:p>
        </p:txBody>
      </p:sp>
      <p:sp>
        <p:nvSpPr>
          <p:cNvPr id="4" name="123–127분">
            <a:extLst xmlns:a="http://schemas.openxmlformats.org/drawingml/2006/main">
              <a:ext uri="{FF2B5EF4-FFF2-40B4-BE49-F238E27FC236}">
                <a16:creationId xmlns:a16="http://schemas.microsoft.com/office/drawing/2014/main" id="{DCCC08A3-29C9-4845-808D-D1A26999B191}"/>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123–127분</a:t>
            </a:r>
          </a:p>
        </p:txBody>
      </p:sp>
      <p:sp>
        <p:nvSpPr>
          <p:cNvPr id="5" name="웹 실습 열기">
            <a:extLst xmlns:a="http://schemas.openxmlformats.org/drawingml/2006/main">
              <a:ext uri="{FF2B5EF4-FFF2-40B4-BE49-F238E27FC236}">
                <a16:creationId xmlns:a16="http://schemas.microsoft.com/office/drawing/2014/main" id="{66CF4D9E-75DC-49C7-89CC-B7E10D3928A2}"/>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817f21c3ab694259"/>
              </a:rPr>
              <a:t>웹 실습 열기</a:t>
            </a:r>
          </a:p>
        </p:txBody>
      </p:sp>
      <p:sp>
        <p:nvSpPr>
          <p:cNvPr id="6" name="39">
            <a:extLst xmlns:a="http://schemas.openxmlformats.org/drawingml/2006/main">
              <a:ext uri="{FF2B5EF4-FFF2-40B4-BE49-F238E27FC236}">
                <a16:creationId xmlns:a16="http://schemas.microsoft.com/office/drawing/2014/main" id="{6062940C-7BE5-439B-88C7-C68DAF057B62}"/>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39</a:t>
            </a:r>
          </a:p>
        </p:txBody>
      </p:sp>
    </p:spTree>
    <p:extLst>
      <p:ext uri="{BB962C8B-B14F-4D97-AF65-F5344CB8AC3E}">
        <p14:creationId xmlns:p14="http://schemas.microsoft.com/office/powerpoint/2010/main" val="279944602"/>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보고서 목차와 결정 요청">
            <a:extLst xmlns:a="http://schemas.openxmlformats.org/drawingml/2006/main">
              <a:ext uri="{FF2B5EF4-FFF2-40B4-BE49-F238E27FC236}">
                <a16:creationId xmlns:a16="http://schemas.microsoft.com/office/drawing/2014/main" id="{0ED0FEE4-9D3E-4B49-B8A3-FCAA61665FEB}"/>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보고서 목차와 결정 요청</a:t>
            </a:r>
          </a:p>
        </p:txBody>
      </p:sp>
      <p:sp>
        <p:nvSpPr>
          <p:cNvPr id="2" name="4분">
            <a:extLst xmlns:a="http://schemas.openxmlformats.org/drawingml/2006/main">
              <a:ext uri="{FF2B5EF4-FFF2-40B4-BE49-F238E27FC236}">
                <a16:creationId xmlns:a16="http://schemas.microsoft.com/office/drawing/2014/main" id="{B3ADADB8-233A-4186-ADF0-34D226B65CE2}"/>
              </a:ext>
            </a:extLst>
          </p:cNvPr>
          <p:cNvSpPr>
            <a:spLocks xmlns:a="http://schemas.openxmlformats.org/drawingml/2006/main" noGrp="1"/>
          </p:cNvSpPr>
          <p:nvPr/>
        </p:nvSpPr>
        <p:spPr>
          <a:xfrm xmlns:a="http://schemas.openxmlformats.org/drawingml/2006/main">
            <a:off x="685800" y="1619250"/>
            <a:ext cx="2743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4125" b="1">
                <a:solidFill>
                  <a:srgbClr val="6B43C7"/>
                </a:solidFill>
                <a:latin typeface="Malgun Gothic"/>
                <a:ea typeface="Malgun Gothic"/>
                <a:cs typeface="Malgun Gothic"/>
              </a:defRPr>
            </a:pPr>
            <a:r>
              <a:rPr sz="4125" b="1">
                <a:solidFill>
                  <a:srgbClr val="6B43C7"/>
                </a:solidFill>
                <a:latin typeface="Malgun Gothic"/>
                <a:ea typeface="Malgun Gothic"/>
                <a:cs typeface="Malgun Gothic"/>
              </a:rPr>
              <a:t>4분</a:t>
            </a:r>
          </a:p>
        </p:txBody>
      </p:sp>
      <p:sp>
        <p:nvSpPr>
          <p:cNvPr id="3" name="전체 자료와 첫 질문을 입력해 사용할 자료와 목차를">
            <a:extLst xmlns:a="http://schemas.openxmlformats.org/drawingml/2006/main">
              <a:ext uri="{FF2B5EF4-FFF2-40B4-BE49-F238E27FC236}">
                <a16:creationId xmlns:a16="http://schemas.microsoft.com/office/drawing/2014/main" id="{2E052A62-93C6-4CCE-96A2-F3A3FABAC849}"/>
              </a:ext>
            </a:extLst>
          </p:cNvPr>
          <p:cNvSpPr>
            <a:spLocks xmlns:a="http://schemas.openxmlformats.org/drawingml/2006/main" noGrp="1"/>
          </p:cNvSpPr>
          <p:nvPr/>
        </p:nvSpPr>
        <p:spPr>
          <a:xfrm xmlns:a="http://schemas.openxmlformats.org/drawingml/2006/main">
            <a:off x="685800" y="2895600"/>
            <a:ext cx="276225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250" b="1">
                <a:solidFill>
                  <a:srgbClr val="20212A"/>
                </a:solidFill>
                <a:latin typeface="Malgun Gothic"/>
                <a:ea typeface="Malgun Gothic"/>
                <a:cs typeface="Malgun Gothic"/>
              </a:defRPr>
            </a:pPr>
            <a:r>
              <a:rPr sz="2250" b="1">
                <a:solidFill>
                  <a:srgbClr val="20212A"/>
                </a:solidFill>
                <a:latin typeface="Malgun Gothic"/>
                <a:ea typeface="Malgun Gothic"/>
                <a:cs typeface="Malgun Gothic"/>
              </a:rPr>
              <a:t>전체 자료와 첫 질문을 입력해 사용할 자료와 목차를 정리합니다.</a:t>
            </a:r>
          </a:p>
        </p:txBody>
      </p:sp>
      <p:sp>
        <p:nvSpPr>
          <p:cNvPr id="4" name="">
            <a:extLst xmlns:a="http://schemas.openxmlformats.org/drawingml/2006/main">
              <a:ext uri="{FF2B5EF4-FFF2-40B4-BE49-F238E27FC236}">
                <a16:creationId xmlns:a16="http://schemas.microsoft.com/office/drawing/2014/main" id="{E805F8F7-B96B-4175-A030-B4C6D8C1990C}"/>
              </a:ext>
            </a:extLst>
          </p:cNvPr>
          <p:cNvSpPr>
            <a:spLocks xmlns:a="http://schemas.openxmlformats.org/drawingml/2006/main" noGrp="1"/>
          </p:cNvSpPr>
          <p:nvPr/>
        </p:nvSpPr>
        <p:spPr>
          <a:xfrm xmlns:a="http://schemas.openxmlformats.org/drawingml/2006/main">
            <a:off x="4038600" y="1647825"/>
            <a:ext cx="74676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확정 자료와 제외할 중간 집계 구분</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계산할 지표의 분모 표시</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보고서 목차 네 개 작성</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로그인 점검 절차와 보충 실습 안내 안건 포함</a:t>
            </a:r>
          </a:p>
        </p:txBody>
      </p:sp>
      <p:sp>
        <p:nvSpPr>
          <p:cNvPr id="5" name="남길 결과">
            <a:extLst xmlns:a="http://schemas.openxmlformats.org/drawingml/2006/main">
              <a:ext uri="{FF2B5EF4-FFF2-40B4-BE49-F238E27FC236}">
                <a16:creationId xmlns:a16="http://schemas.microsoft.com/office/drawing/2014/main" id="{861AC2DB-1B62-4638-B681-CB690D2713CB}"/>
              </a:ext>
            </a:extLst>
          </p:cNvPr>
          <p:cNvSpPr>
            <a:spLocks xmlns:a="http://schemas.openxmlformats.org/drawingml/2006/main" noGrp="1"/>
          </p:cNvSpPr>
          <p:nvPr/>
        </p:nvSpPr>
        <p:spPr>
          <a:xfrm xmlns:a="http://schemas.openxmlformats.org/drawingml/2006/main">
            <a:off x="4038600" y="5029200"/>
            <a:ext cx="7467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1">
                <a:solidFill>
                  <a:srgbClr val="6B43C7"/>
                </a:solidFill>
                <a:latin typeface="Malgun Gothic"/>
                <a:ea typeface="Malgun Gothic"/>
                <a:cs typeface="Malgun Gothic"/>
              </a:defRPr>
            </a:pPr>
            <a:r>
              <a:rPr sz="1725" b="1">
                <a:solidFill>
                  <a:srgbClr val="6B43C7"/>
                </a:solidFill>
                <a:latin typeface="Malgun Gothic"/>
                <a:ea typeface="Malgun Gothic"/>
                <a:cs typeface="Malgun Gothic"/>
              </a:rPr>
              <a:t>남길 결과</a:t>
            </a:r>
          </a:p>
        </p:txBody>
      </p:sp>
      <p:sp>
        <p:nvSpPr>
          <p:cNvPr id="6" name="자료 목록, 계산 기준, 목차와 결정 요청 2건">
            <a:extLst xmlns:a="http://schemas.openxmlformats.org/drawingml/2006/main">
              <a:ext uri="{FF2B5EF4-FFF2-40B4-BE49-F238E27FC236}">
                <a16:creationId xmlns:a16="http://schemas.microsoft.com/office/drawing/2014/main" id="{3907395F-CD64-4847-82BD-FF144B3C4CD9}"/>
              </a:ext>
            </a:extLst>
          </p:cNvPr>
          <p:cNvSpPr>
            <a:spLocks xmlns:a="http://schemas.openxmlformats.org/drawingml/2006/main" noGrp="1"/>
          </p:cNvSpPr>
          <p:nvPr/>
        </p:nvSpPr>
        <p:spPr>
          <a:xfrm xmlns:a="http://schemas.openxmlformats.org/drawingml/2006/main">
            <a:off x="4038600" y="5429250"/>
            <a:ext cx="7467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100" b="1">
                <a:solidFill>
                  <a:srgbClr val="20212A"/>
                </a:solidFill>
                <a:latin typeface="Malgun Gothic"/>
                <a:ea typeface="Malgun Gothic"/>
                <a:cs typeface="Malgun Gothic"/>
              </a:defRPr>
            </a:pPr>
            <a:r>
              <a:rPr sz="2100" b="1">
                <a:solidFill>
                  <a:srgbClr val="20212A"/>
                </a:solidFill>
                <a:latin typeface="Malgun Gothic"/>
                <a:ea typeface="Malgun Gothic"/>
                <a:cs typeface="Malgun Gothic"/>
              </a:rPr>
              <a:t>자료 목록, 계산 기준, 목차와 결정 요청 2건</a:t>
            </a:r>
          </a:p>
        </p:txBody>
      </p:sp>
      <p:sp>
        <p:nvSpPr>
          <p:cNvPr id="7" name="127–131분">
            <a:extLst xmlns:a="http://schemas.openxmlformats.org/drawingml/2006/main">
              <a:ext uri="{FF2B5EF4-FFF2-40B4-BE49-F238E27FC236}">
                <a16:creationId xmlns:a16="http://schemas.microsoft.com/office/drawing/2014/main" id="{558CC2C0-DBB5-4892-B41B-5A483726A83E}"/>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127–131분</a:t>
            </a:r>
          </a:p>
        </p:txBody>
      </p:sp>
      <p:sp>
        <p:nvSpPr>
          <p:cNvPr id="8" name="웹 실습 열기">
            <a:extLst xmlns:a="http://schemas.openxmlformats.org/drawingml/2006/main">
              <a:ext uri="{FF2B5EF4-FFF2-40B4-BE49-F238E27FC236}">
                <a16:creationId xmlns:a16="http://schemas.microsoft.com/office/drawing/2014/main" id="{BF46A386-BC91-4A20-AB27-3579ABC25F2E}"/>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143ddfbb97fe4753"/>
              </a:rPr>
              <a:t>웹 실습 열기</a:t>
            </a:r>
          </a:p>
        </p:txBody>
      </p:sp>
      <p:sp>
        <p:nvSpPr>
          <p:cNvPr id="9" name="40">
            <a:extLst xmlns:a="http://schemas.openxmlformats.org/drawingml/2006/main">
              <a:ext uri="{FF2B5EF4-FFF2-40B4-BE49-F238E27FC236}">
                <a16:creationId xmlns:a16="http://schemas.microsoft.com/office/drawing/2014/main" id="{698D2AFA-A7D1-4BC7-BC65-33F0F0676B27}"/>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40</a:t>
            </a:r>
          </a:p>
        </p:txBody>
      </p:sp>
    </p:spTree>
    <p:extLst>
      <p:ext uri="{BB962C8B-B14F-4D97-AF65-F5344CB8AC3E}">
        <p14:creationId xmlns:p14="http://schemas.microsoft.com/office/powerpoint/2010/main" val="149982786"/>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집계표를 포함한 보고서 초안">
            <a:extLst xmlns:a="http://schemas.openxmlformats.org/drawingml/2006/main">
              <a:ext uri="{FF2B5EF4-FFF2-40B4-BE49-F238E27FC236}">
                <a16:creationId xmlns:a16="http://schemas.microsoft.com/office/drawing/2014/main" id="{3625578D-CB9C-4D12-9216-CD9A17913C44}"/>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집계표를 포함한 보고서 초안</a:t>
            </a:r>
          </a:p>
        </p:txBody>
      </p:sp>
      <p:sp>
        <p:nvSpPr>
          <p:cNvPr id="2" name="6분">
            <a:extLst xmlns:a="http://schemas.openxmlformats.org/drawingml/2006/main">
              <a:ext uri="{FF2B5EF4-FFF2-40B4-BE49-F238E27FC236}">
                <a16:creationId xmlns:a16="http://schemas.microsoft.com/office/drawing/2014/main" id="{CFE7B507-7172-4152-8FA9-BD3852B2F2AA}"/>
              </a:ext>
            </a:extLst>
          </p:cNvPr>
          <p:cNvSpPr>
            <a:spLocks xmlns:a="http://schemas.openxmlformats.org/drawingml/2006/main" noGrp="1"/>
          </p:cNvSpPr>
          <p:nvPr/>
        </p:nvSpPr>
        <p:spPr>
          <a:xfrm xmlns:a="http://schemas.openxmlformats.org/drawingml/2006/main">
            <a:off x="685800" y="1619250"/>
            <a:ext cx="2743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4125" b="1">
                <a:solidFill>
                  <a:srgbClr val="6B43C7"/>
                </a:solidFill>
                <a:latin typeface="Malgun Gothic"/>
                <a:ea typeface="Malgun Gothic"/>
                <a:cs typeface="Malgun Gothic"/>
              </a:defRPr>
            </a:pPr>
            <a:r>
              <a:rPr sz="4125" b="1">
                <a:solidFill>
                  <a:srgbClr val="6B43C7"/>
                </a:solidFill>
                <a:latin typeface="Malgun Gothic"/>
                <a:ea typeface="Malgun Gothic"/>
                <a:cs typeface="Malgun Gothic"/>
              </a:rPr>
              <a:t>6분</a:t>
            </a:r>
          </a:p>
        </p:txBody>
      </p:sp>
      <p:sp>
        <p:nvSpPr>
          <p:cNvPr id="3" name="같은 대화에서 부서장 보고서 초안을 요청합니다.">
            <a:extLst xmlns:a="http://schemas.openxmlformats.org/drawingml/2006/main">
              <a:ext uri="{FF2B5EF4-FFF2-40B4-BE49-F238E27FC236}">
                <a16:creationId xmlns:a16="http://schemas.microsoft.com/office/drawing/2014/main" id="{301C31C9-D9DD-4A58-87EB-E72DFFE710FC}"/>
              </a:ext>
            </a:extLst>
          </p:cNvPr>
          <p:cNvSpPr>
            <a:spLocks xmlns:a="http://schemas.openxmlformats.org/drawingml/2006/main" noGrp="1"/>
          </p:cNvSpPr>
          <p:nvPr/>
        </p:nvSpPr>
        <p:spPr>
          <a:xfrm xmlns:a="http://schemas.openxmlformats.org/drawingml/2006/main">
            <a:off x="685800" y="2895600"/>
            <a:ext cx="276225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250" b="1">
                <a:solidFill>
                  <a:srgbClr val="20212A"/>
                </a:solidFill>
                <a:latin typeface="Malgun Gothic"/>
                <a:ea typeface="Malgun Gothic"/>
                <a:cs typeface="Malgun Gothic"/>
              </a:defRPr>
            </a:pPr>
            <a:r>
              <a:rPr sz="2250" b="1">
                <a:solidFill>
                  <a:srgbClr val="20212A"/>
                </a:solidFill>
                <a:latin typeface="Malgun Gothic"/>
                <a:ea typeface="Malgun Gothic"/>
                <a:cs typeface="Malgun Gothic"/>
              </a:rPr>
              <a:t>같은 대화에서 부서장 보고서 초안을 요청합니다.</a:t>
            </a:r>
          </a:p>
        </p:txBody>
      </p:sp>
      <p:sp>
        <p:nvSpPr>
          <p:cNvPr id="4" name="">
            <a:extLst xmlns:a="http://schemas.openxmlformats.org/drawingml/2006/main">
              <a:ext uri="{FF2B5EF4-FFF2-40B4-BE49-F238E27FC236}">
                <a16:creationId xmlns:a16="http://schemas.microsoft.com/office/drawing/2014/main" id="{880308E1-11ED-4079-B6E1-4F97987992C9}"/>
              </a:ext>
            </a:extLst>
          </p:cNvPr>
          <p:cNvSpPr>
            <a:spLocks xmlns:a="http://schemas.openxmlformats.org/drawingml/2006/main" noGrp="1"/>
          </p:cNvSpPr>
          <p:nvPr/>
        </p:nvSpPr>
        <p:spPr>
          <a:xfrm xmlns:a="http://schemas.openxmlformats.org/drawingml/2006/main">
            <a:off x="4038600" y="1647825"/>
            <a:ext cx="74676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핵심 결과와 이전·이번 지표 비교표</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운영 관찰과 결정 요청 2건</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담당 부서·할 일·협의할 기한을 담은 후속 업무표</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계산식과 사용 문서 ID를 별도 메모</a:t>
            </a:r>
          </a:p>
        </p:txBody>
      </p:sp>
      <p:sp>
        <p:nvSpPr>
          <p:cNvPr id="5" name="남길 결과">
            <a:extLst xmlns:a="http://schemas.openxmlformats.org/drawingml/2006/main">
              <a:ext uri="{FF2B5EF4-FFF2-40B4-BE49-F238E27FC236}">
                <a16:creationId xmlns:a16="http://schemas.microsoft.com/office/drawing/2014/main" id="{8F549912-2CE6-4D8A-B67E-4FE663233AA0}"/>
              </a:ext>
            </a:extLst>
          </p:cNvPr>
          <p:cNvSpPr>
            <a:spLocks xmlns:a="http://schemas.openxmlformats.org/drawingml/2006/main" noGrp="1"/>
          </p:cNvSpPr>
          <p:nvPr/>
        </p:nvSpPr>
        <p:spPr>
          <a:xfrm xmlns:a="http://schemas.openxmlformats.org/drawingml/2006/main">
            <a:off x="4038600" y="5029200"/>
            <a:ext cx="7467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1">
                <a:solidFill>
                  <a:srgbClr val="6B43C7"/>
                </a:solidFill>
                <a:latin typeface="Malgun Gothic"/>
                <a:ea typeface="Malgun Gothic"/>
                <a:cs typeface="Malgun Gothic"/>
              </a:defRPr>
            </a:pPr>
            <a:r>
              <a:rPr sz="1725" b="1">
                <a:solidFill>
                  <a:srgbClr val="6B43C7"/>
                </a:solidFill>
                <a:latin typeface="Malgun Gothic"/>
                <a:ea typeface="Malgun Gothic"/>
                <a:cs typeface="Malgun Gothic"/>
              </a:rPr>
              <a:t>남길 결과</a:t>
            </a:r>
          </a:p>
        </p:txBody>
      </p:sp>
      <p:sp>
        <p:nvSpPr>
          <p:cNvPr id="6" name="본문 1,200~1,600자, 표와 계산 메모 별도">
            <a:extLst xmlns:a="http://schemas.openxmlformats.org/drawingml/2006/main">
              <a:ext uri="{FF2B5EF4-FFF2-40B4-BE49-F238E27FC236}">
                <a16:creationId xmlns:a16="http://schemas.microsoft.com/office/drawing/2014/main" id="{3E8D5D40-33AF-4F63-A7F5-2914B1051D49}"/>
              </a:ext>
            </a:extLst>
          </p:cNvPr>
          <p:cNvSpPr>
            <a:spLocks xmlns:a="http://schemas.openxmlformats.org/drawingml/2006/main" noGrp="1"/>
          </p:cNvSpPr>
          <p:nvPr/>
        </p:nvSpPr>
        <p:spPr>
          <a:xfrm xmlns:a="http://schemas.openxmlformats.org/drawingml/2006/main">
            <a:off x="4038600" y="5429250"/>
            <a:ext cx="7467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100" b="1">
                <a:solidFill>
                  <a:srgbClr val="20212A"/>
                </a:solidFill>
                <a:latin typeface="Malgun Gothic"/>
                <a:ea typeface="Malgun Gothic"/>
                <a:cs typeface="Malgun Gothic"/>
              </a:defRPr>
            </a:pPr>
            <a:r>
              <a:rPr sz="2100" b="1">
                <a:solidFill>
                  <a:srgbClr val="20212A"/>
                </a:solidFill>
                <a:latin typeface="Malgun Gothic"/>
                <a:ea typeface="Malgun Gothic"/>
                <a:cs typeface="Malgun Gothic"/>
              </a:rPr>
              <a:t>본문 1,200~1,600자, 표와 계산 메모 별도</a:t>
            </a:r>
          </a:p>
        </p:txBody>
      </p:sp>
      <p:sp>
        <p:nvSpPr>
          <p:cNvPr id="7" name="131–137분">
            <a:extLst xmlns:a="http://schemas.openxmlformats.org/drawingml/2006/main">
              <a:ext uri="{FF2B5EF4-FFF2-40B4-BE49-F238E27FC236}">
                <a16:creationId xmlns:a16="http://schemas.microsoft.com/office/drawing/2014/main" id="{5D880F7A-01FD-47DC-943C-DFA1CAA76176}"/>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131–137분</a:t>
            </a:r>
          </a:p>
        </p:txBody>
      </p:sp>
      <p:sp>
        <p:nvSpPr>
          <p:cNvPr id="8" name="웹 실습 열기">
            <a:extLst xmlns:a="http://schemas.openxmlformats.org/drawingml/2006/main">
              <a:ext uri="{FF2B5EF4-FFF2-40B4-BE49-F238E27FC236}">
                <a16:creationId xmlns:a16="http://schemas.microsoft.com/office/drawing/2014/main" id="{891074F8-0770-4753-8B35-8E230A48BEE1}"/>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79e65329936f4359"/>
              </a:rPr>
              <a:t>웹 실습 열기</a:t>
            </a:r>
          </a:p>
        </p:txBody>
      </p:sp>
      <p:sp>
        <p:nvSpPr>
          <p:cNvPr id="9" name="41">
            <a:extLst xmlns:a="http://schemas.openxmlformats.org/drawingml/2006/main">
              <a:ext uri="{FF2B5EF4-FFF2-40B4-BE49-F238E27FC236}">
                <a16:creationId xmlns:a16="http://schemas.microsoft.com/office/drawing/2014/main" id="{88837AE1-6D9C-40A1-A407-627AC7B1C1B3}"/>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41</a:t>
            </a:r>
          </a:p>
        </p:txBody>
      </p:sp>
    </p:spTree>
    <p:extLst>
      <p:ext uri="{BB962C8B-B14F-4D97-AF65-F5344CB8AC3E}">
        <p14:creationId xmlns:p14="http://schemas.microsoft.com/office/powerpoint/2010/main" val="1361754258"/>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실제 계산 메모를 시트와 대조">
            <a:extLst xmlns:a="http://schemas.openxmlformats.org/drawingml/2006/main">
              <a:ext uri="{FF2B5EF4-FFF2-40B4-BE49-F238E27FC236}">
                <a16:creationId xmlns:a16="http://schemas.microsoft.com/office/drawing/2014/main" id="{47DD00F5-5D20-44DB-A518-BAA57DAD9A80}"/>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실제 계산 메모를 시트와 대조</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dd306ff4955f4874"/>
          <a:srcRect xmlns:a="http://schemas.openxmlformats.org/drawingml/2006/main" l="17000" t="29000" r="13000" b="26000"/>
          <a:stretch xmlns:a="http://schemas.openxmlformats.org/drawingml/2006/main"/>
        </p:blipFill>
        <p:spPr>
          <a:xfrm xmlns:a="http://schemas.openxmlformats.org/drawingml/2006/main">
            <a:off x="609600" y="1610297"/>
            <a:ext cx="7200900" cy="424700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4ED364B-2FE0-42B5-9CEE-0CCC279217DF}"/>
              </a:ext>
            </a:extLst>
          </p:cNvPr>
          <p:cNvSpPr>
            <a:spLocks xmlns:a="http://schemas.openxmlformats.org/drawingml/2006/main" noGrp="1"/>
          </p:cNvSpPr>
          <p:nvPr/>
        </p:nvSpPr>
        <p:spPr>
          <a:xfrm xmlns:a="http://schemas.openxmlformats.org/drawingml/2006/main">
            <a:off x="8201025" y="1752600"/>
            <a:ext cx="3295650" cy="3867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27000" algn="l">
              <a:spcAft>
                <a:spcPts val="1800"/>
              </a:spcAft>
              <a:buChar char="•"/>
              <a:defRPr sz="2025" b="0">
                <a:solidFill>
                  <a:srgbClr val="20212A"/>
                </a:solidFill>
                <a:latin typeface="Malgun Gothic"/>
                <a:ea typeface="Malgun Gothic"/>
                <a:cs typeface="Malgun Gothic"/>
              </a:defRPr>
            </a:pPr>
            <a:r>
              <a:t>참가 대장으로 참여 28명·이수 24명 확인</a:t>
            </a:r>
          </a:p>
          <a:p xmlns:a="http://schemas.openxmlformats.org/drawingml/2006/main">
            <a:pPr marL="228600" indent="-127000" algn="l">
              <a:spcAft>
                <a:spcPts val="1800"/>
              </a:spcAft>
              <a:buChar char="•"/>
              <a:defRPr sz="2025" b="0">
                <a:solidFill>
                  <a:srgbClr val="20212A"/>
                </a:solidFill>
                <a:latin typeface="Malgun Gothic"/>
                <a:ea typeface="Malgun Gothic"/>
                <a:cs typeface="Malgun Gothic"/>
              </a:defRPr>
            </a:pPr>
            <a:r>
              <a:t>원점수 25행의 합계 112점 확인</a:t>
            </a:r>
          </a:p>
          <a:p xmlns:a="http://schemas.openxmlformats.org/drawingml/2006/main">
            <a:pPr marL="228600" indent="-127000" algn="l">
              <a:spcAft>
                <a:spcPts val="1800"/>
              </a:spcAft>
              <a:buChar char="•"/>
              <a:defRPr sz="2025" b="0">
                <a:solidFill>
                  <a:srgbClr val="20212A"/>
                </a:solidFill>
                <a:latin typeface="Malgun Gothic"/>
                <a:ea typeface="Malgun Gothic"/>
                <a:cs typeface="Malgun Gothic"/>
              </a:defRPr>
            </a:pPr>
            <a:r>
              <a:t>지출 6행의 합계 845,000원 확인</a:t>
            </a:r>
          </a:p>
          <a:p xmlns:a="http://schemas.openxmlformats.org/drawingml/2006/main">
            <a:pPr marL="228600" indent="-127000" algn="l">
              <a:spcAft>
                <a:spcPts val="1800"/>
              </a:spcAft>
              <a:buChar char="•"/>
              <a:defRPr sz="2025" b="0">
                <a:solidFill>
                  <a:srgbClr val="20212A"/>
                </a:solidFill>
                <a:latin typeface="Malgun Gothic"/>
                <a:ea typeface="Malgun Gothic"/>
                <a:cs typeface="Malgun Gothic"/>
              </a:defRPr>
            </a:pPr>
            <a:r>
              <a:t>반올림 전 값으로 비율을 계산</a:t>
            </a:r>
          </a:p>
        </p:txBody>
      </p:sp>
      <p:sp>
        <p:nvSpPr>
          <p:cNvPr id="4" name="업무실습 실제 응답 일부 확대. 계산 메모의 숫자를">
            <a:extLst xmlns:a="http://schemas.openxmlformats.org/drawingml/2006/main">
              <a:ext uri="{FF2B5EF4-FFF2-40B4-BE49-F238E27FC236}">
                <a16:creationId xmlns:a16="http://schemas.microsoft.com/office/drawing/2014/main" id="{FB2B1383-188C-4FA8-8D32-C4896C5F5FCD}"/>
              </a:ext>
            </a:extLst>
          </p:cNvPr>
          <p:cNvSpPr>
            <a:spLocks xmlns:a="http://schemas.openxmlformats.org/drawingml/2006/main" noGrp="1"/>
          </p:cNvSpPr>
          <p:nvPr/>
        </p:nvSpPr>
        <p:spPr>
          <a:xfrm xmlns:a="http://schemas.openxmlformats.org/drawingml/2006/main">
            <a:off x="685800" y="599122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업무실습 실제 응답 일부 확대. 계산 메모의 숫자를 원자료로 다시 확인합니다.</a:t>
            </a:r>
          </a:p>
        </p:txBody>
      </p:sp>
      <p:sp>
        <p:nvSpPr>
          <p:cNvPr id="5" name="137–142분">
            <a:extLst xmlns:a="http://schemas.openxmlformats.org/drawingml/2006/main">
              <a:ext uri="{FF2B5EF4-FFF2-40B4-BE49-F238E27FC236}">
                <a16:creationId xmlns:a16="http://schemas.microsoft.com/office/drawing/2014/main" id="{A5B1556D-0E6E-42DF-B13E-6098ABA6EE9A}"/>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137–142분</a:t>
            </a:r>
          </a:p>
        </p:txBody>
      </p:sp>
      <p:sp>
        <p:nvSpPr>
          <p:cNvPr id="6" name="웹 실습 열기">
            <a:extLst xmlns:a="http://schemas.openxmlformats.org/drawingml/2006/main">
              <a:ext uri="{FF2B5EF4-FFF2-40B4-BE49-F238E27FC236}">
                <a16:creationId xmlns:a16="http://schemas.microsoft.com/office/drawing/2014/main" id="{9B5D4F58-E011-488D-8013-004AF4A89135}"/>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c041f2c723c849d3"/>
              </a:rPr>
              <a:t>웹 실습 열기</a:t>
            </a:r>
          </a:p>
        </p:txBody>
      </p:sp>
      <p:sp>
        <p:nvSpPr>
          <p:cNvPr id="7" name="42">
            <a:extLst xmlns:a="http://schemas.openxmlformats.org/drawingml/2006/main">
              <a:ext uri="{FF2B5EF4-FFF2-40B4-BE49-F238E27FC236}">
                <a16:creationId xmlns:a16="http://schemas.microsoft.com/office/drawing/2014/main" id="{93A997AE-0FC3-469F-B3CF-FE959A7A53E0}"/>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42</a:t>
            </a:r>
          </a:p>
        </p:txBody>
      </p:sp>
    </p:spTree>
    <p:extLst>
      <p:ext uri="{BB962C8B-B14F-4D97-AF65-F5344CB8AC3E}">
        <p14:creationId xmlns:p14="http://schemas.microsoft.com/office/powerpoint/2010/main" val="1043010511"/>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결재자가 판단할 문장">
            <a:extLst xmlns:a="http://schemas.openxmlformats.org/drawingml/2006/main">
              <a:ext uri="{FF2B5EF4-FFF2-40B4-BE49-F238E27FC236}">
                <a16:creationId xmlns:a16="http://schemas.microsoft.com/office/drawing/2014/main" id="{2EC08278-1AD7-4B31-A0D9-1BBB6C7E7983}"/>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결재자가 판단할 문장</a:t>
            </a:r>
          </a:p>
        </p:txBody>
      </p:sp>
      <p:graphicFrame>
        <p:nvGraphicFramePr>
          <p:cNvPr id="8" name=""/>
          <p:cNvGraphicFramePr/>
          <p:nvPr/>
        </p:nvGraphicFramePr>
        <p:xfrm>
          <a:off xmlns:a="http://schemas.openxmlformats.org/drawingml/2006/main" x="685800" y="1543050"/>
          <a:ext xmlns:a="http://schemas.openxmlformats.org/drawingml/2006/main" cx="10820400" cy="2952750"/>
        </p:xfrm>
        <a:graphic xmlns:a="http://schemas.openxmlformats.org/drawingml/2006/main">
          <a:graphicData uri="http://schemas.openxmlformats.org/drawingml/2006/table">
            <a:tbl>
              <a:tblPr firstRow="1" bandRow="0"/>
              <a:tblGrid>
                <a:gridCol w="4191000"/>
                <a:gridCol w="6572250"/>
              </a:tblGrid>
              <a:tr h="590550">
                <a:tc>
                  <a:txBody>
                    <a:bodyPr lIns="114300" tIns="66675" rIns="114300" bIns="57150">
                      <a:noAutofit/>
                    </a:bodyPr>
                    <a:lstStyle/>
                    <a:p>
                      <a:pPr algn="l"/>
                      <a:r>
                        <a:rPr sz="1875" b="1">
                          <a:solidFill>
                            <a:srgbClr val="FFFFFF"/>
                          </a:solidFill>
                          <a:latin typeface="Malgun Gothic"/>
                          <a:ea typeface="Malgun Gothic"/>
                          <a:cs typeface="Malgun Gothic"/>
                        </a:rPr>
                        <a:t>초안에서 흔한 표현</a:t>
                      </a:r>
                    </a:p>
                  </a:txBody>
                  <a:tcPr marL="91440" marR="91440" marT="45720" marB="45720" anchor="ctr">
                    <a:solidFill>
                      <a:srgbClr val="6B43C7"/>
                    </a:solidFill>
                  </a:tcPr>
                </a:tc>
                <a:tc>
                  <a:txBody>
                    <a:bodyPr lIns="114300" tIns="66675" rIns="114300" bIns="57150">
                      <a:noAutofit/>
                    </a:bodyPr>
                    <a:lstStyle/>
                    <a:p>
                      <a:pPr algn="l"/>
                      <a:r>
                        <a:rPr sz="1875" b="1">
                          <a:solidFill>
                            <a:srgbClr val="FFFFFF"/>
                          </a:solidFill>
                          <a:latin typeface="Malgun Gothic"/>
                          <a:ea typeface="Malgun Gothic"/>
                          <a:cs typeface="Malgun Gothic"/>
                        </a:rPr>
                        <a:t>수정 방향</a:t>
                      </a:r>
                    </a:p>
                  </a:txBody>
                  <a:tcPr marL="91440" marR="91440" marT="45720" marB="45720" anchor="ctr">
                    <a:solidFill>
                      <a:srgbClr val="6B43C7"/>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교육 효과가 크게 향상됐다</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참여·이수 수치를 먼저 제시하고 효과의 원인은 확인 필요로 남김</a:t>
                      </a:r>
                    </a:p>
                  </a:txBody>
                  <a:tcPr marL="91440" marR="91440" marT="45720" marB="45720" anchor="ctr">
                    <a:solidFill>
                      <a:srgbClr val="FFFFFF"/>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로그인 문제로 4명이 미이수했다</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로그인 지연과 미이수 4명은 각각 기록하고 인과는 단정하지 않음</a:t>
                      </a:r>
                    </a:p>
                  </a:txBody>
                  <a:tcPr marL="91440" marR="91440" marT="45720" marB="45720" anchor="ctr">
                    <a:solidFill>
                      <a:srgbClr val="F5F2FC"/>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사전 점검을 시행하지 않았다</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이번 자료에 시행을 확인할 기록이 없다고 범위를 한정</a:t>
                      </a:r>
                    </a:p>
                  </a:txBody>
                  <a:tcPr marL="91440" marR="91440" marT="45720" marB="45720" anchor="ctr">
                    <a:solidFill>
                      <a:srgbClr val="FFFFFF"/>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보충 실습을 실시한다</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안내 여부와 이수 변경 기준을 승인 전 결정 요청으로 표시</a:t>
                      </a:r>
                    </a:p>
                  </a:txBody>
                  <a:tcPr marL="91440" marR="91440" marT="45720" marB="45720" anchor="ctr">
                    <a:solidFill>
                      <a:srgbClr val="F5F2FC"/>
                    </a:solidFill>
                  </a:tcPr>
                </a:tc>
              </a:tr>
            </a:tbl>
          </a:graphicData>
        </a:graphic>
      </p:graphicFrame>
      <p:sp>
        <p:nvSpPr>
          <p:cNvPr id="3" name="수정 5분. 확인된 수치와 비교표·후속 업무표를 유">
            <a:extLst xmlns:a="http://schemas.openxmlformats.org/drawingml/2006/main">
              <a:ext uri="{FF2B5EF4-FFF2-40B4-BE49-F238E27FC236}">
                <a16:creationId xmlns:a16="http://schemas.microsoft.com/office/drawing/2014/main" id="{831DFF10-2896-40D5-886A-FE587DA19D66}"/>
              </a:ext>
            </a:extLst>
          </p:cNvPr>
          <p:cNvSpPr>
            <a:spLocks xmlns:a="http://schemas.openxmlformats.org/drawingml/2006/main" noGrp="1"/>
          </p:cNvSpPr>
          <p:nvPr/>
        </p:nvSpPr>
        <p:spPr>
          <a:xfrm xmlns:a="http://schemas.openxmlformats.org/drawingml/2006/main">
            <a:off x="685800" y="581025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수정 5분. 확인된 수치와 비교표·후속 업무표를 유지합니다.</a:t>
            </a:r>
          </a:p>
        </p:txBody>
      </p:sp>
      <p:sp>
        <p:nvSpPr>
          <p:cNvPr id="4" name="142–147분">
            <a:extLst xmlns:a="http://schemas.openxmlformats.org/drawingml/2006/main">
              <a:ext uri="{FF2B5EF4-FFF2-40B4-BE49-F238E27FC236}">
                <a16:creationId xmlns:a16="http://schemas.microsoft.com/office/drawing/2014/main" id="{5C37795F-F503-48B9-9EEB-8A26B05A660B}"/>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142–147분</a:t>
            </a:r>
          </a:p>
        </p:txBody>
      </p:sp>
      <p:sp>
        <p:nvSpPr>
          <p:cNvPr id="5" name="웹 실습 열기">
            <a:extLst xmlns:a="http://schemas.openxmlformats.org/drawingml/2006/main">
              <a:ext uri="{FF2B5EF4-FFF2-40B4-BE49-F238E27FC236}">
                <a16:creationId xmlns:a16="http://schemas.microsoft.com/office/drawing/2014/main" id="{3F8CA671-2C93-48B5-832E-0330E3168F12}"/>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86dd66b9a9444da2"/>
              </a:rPr>
              <a:t>웹 실습 열기</a:t>
            </a:r>
          </a:p>
        </p:txBody>
      </p:sp>
      <p:sp>
        <p:nvSpPr>
          <p:cNvPr id="6" name="43">
            <a:extLst xmlns:a="http://schemas.openxmlformats.org/drawingml/2006/main">
              <a:ext uri="{FF2B5EF4-FFF2-40B4-BE49-F238E27FC236}">
                <a16:creationId xmlns:a16="http://schemas.microsoft.com/office/drawing/2014/main" id="{4F058C9A-FB86-45CA-8462-B928CA5A0B59}"/>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43</a:t>
            </a:r>
          </a:p>
        </p:txBody>
      </p:sp>
    </p:spTree>
    <p:extLst>
      <p:ext uri="{BB962C8B-B14F-4D97-AF65-F5344CB8AC3E}">
        <p14:creationId xmlns:p14="http://schemas.microsoft.com/office/powerpoint/2010/main" val="868623545"/>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전체 보고서와 전달 메일">
            <a:extLst xmlns:a="http://schemas.openxmlformats.org/drawingml/2006/main">
              <a:ext uri="{FF2B5EF4-FFF2-40B4-BE49-F238E27FC236}">
                <a16:creationId xmlns:a16="http://schemas.microsoft.com/office/drawing/2014/main" id="{3F2B184C-8FF0-44F2-9632-D64ECDDE4231}"/>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전체 보고서와 전달 메일</a:t>
            </a:r>
          </a:p>
        </p:txBody>
      </p:sp>
      <p:sp>
        <p:nvSpPr>
          <p:cNvPr id="2" name="전체 보고서 보관">
            <a:extLst xmlns:a="http://schemas.openxmlformats.org/drawingml/2006/main">
              <a:ext uri="{FF2B5EF4-FFF2-40B4-BE49-F238E27FC236}">
                <a16:creationId xmlns:a16="http://schemas.microsoft.com/office/drawing/2014/main" id="{605EF755-F081-468A-8A08-E9F59046FEBE}"/>
              </a:ext>
            </a:extLst>
          </p:cNvPr>
          <p:cNvSpPr>
            <a:spLocks xmlns:a="http://schemas.openxmlformats.org/drawingml/2006/main" noGrp="1"/>
          </p:cNvSpPr>
          <p:nvPr/>
        </p:nvSpPr>
        <p:spPr>
          <a:xfrm xmlns:a="http://schemas.openxmlformats.org/drawingml/2006/main">
            <a:off x="685800" y="1666875"/>
            <a:ext cx="5105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400" b="1">
                <a:solidFill>
                  <a:srgbClr val="6B43C7"/>
                </a:solidFill>
                <a:latin typeface="Malgun Gothic"/>
                <a:ea typeface="Malgun Gothic"/>
                <a:cs typeface="Malgun Gothic"/>
              </a:defRPr>
            </a:pPr>
            <a:r>
              <a:rPr sz="2400" b="1">
                <a:solidFill>
                  <a:srgbClr val="6B43C7"/>
                </a:solidFill>
                <a:latin typeface="Malgun Gothic"/>
                <a:ea typeface="Malgun Gothic"/>
                <a:cs typeface="Malgun Gothic"/>
              </a:rPr>
              <a:t>전체 보고서 보관</a:t>
            </a:r>
          </a:p>
        </p:txBody>
      </p:sp>
      <p:sp>
        <p:nvSpPr>
          <p:cNvPr id="3" name="전달 메일 별도 작성">
            <a:extLst xmlns:a="http://schemas.openxmlformats.org/drawingml/2006/main">
              <a:ext uri="{FF2B5EF4-FFF2-40B4-BE49-F238E27FC236}">
                <a16:creationId xmlns:a16="http://schemas.microsoft.com/office/drawing/2014/main" id="{B5C8A8D9-5E3D-44E5-A229-FF4AA00B008B}"/>
              </a:ext>
            </a:extLst>
          </p:cNvPr>
          <p:cNvSpPr>
            <a:spLocks xmlns:a="http://schemas.openxmlformats.org/drawingml/2006/main" noGrp="1"/>
          </p:cNvSpPr>
          <p:nvPr/>
        </p:nvSpPr>
        <p:spPr>
          <a:xfrm xmlns:a="http://schemas.openxmlformats.org/drawingml/2006/main">
            <a:off x="6400800" y="1666875"/>
            <a:ext cx="5105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400" b="1">
                <a:solidFill>
                  <a:srgbClr val="6B43C7"/>
                </a:solidFill>
                <a:latin typeface="Malgun Gothic"/>
                <a:ea typeface="Malgun Gothic"/>
                <a:cs typeface="Malgun Gothic"/>
              </a:defRPr>
            </a:pPr>
            <a:r>
              <a:rPr sz="2400" b="1">
                <a:solidFill>
                  <a:srgbClr val="6B43C7"/>
                </a:solidFill>
                <a:latin typeface="Malgun Gothic"/>
                <a:ea typeface="Malgun Gothic"/>
                <a:cs typeface="Malgun Gothic"/>
              </a:rPr>
              <a:t>전달 메일 별도 작성</a:t>
            </a:r>
          </a:p>
        </p:txBody>
      </p:sp>
      <p:sp>
        <p:nvSpPr>
          <p:cNvPr id="4" name="">
            <a:extLst xmlns:a="http://schemas.openxmlformats.org/drawingml/2006/main">
              <a:ext uri="{FF2B5EF4-FFF2-40B4-BE49-F238E27FC236}">
                <a16:creationId xmlns:a16="http://schemas.microsoft.com/office/drawing/2014/main" id="{D162E3F5-4BF4-4335-9B6F-D00229C4C95C}"/>
              </a:ext>
            </a:extLst>
          </p:cNvPr>
          <p:cNvSpPr>
            <a:spLocks xmlns:a="http://schemas.openxmlformats.org/drawingml/2006/main" noGrp="1"/>
          </p:cNvSpPr>
          <p:nvPr/>
        </p:nvSpPr>
        <p:spPr>
          <a:xfrm xmlns:a="http://schemas.openxmlformats.org/drawingml/2006/main">
            <a:off x="723900" y="2476500"/>
            <a:ext cx="5048250" cy="2905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27000" algn="l">
              <a:spcAft>
                <a:spcPts val="1800"/>
              </a:spcAft>
              <a:buChar char="•"/>
              <a:defRPr sz="2100" b="0">
                <a:solidFill>
                  <a:srgbClr val="20212A"/>
                </a:solidFill>
                <a:latin typeface="Malgun Gothic"/>
                <a:ea typeface="Malgun Gothic"/>
                <a:cs typeface="Malgun Gothic"/>
              </a:defRPr>
            </a:pPr>
            <a:r>
              <a:t>본문 1,200~1,600자</a:t>
            </a:r>
          </a:p>
          <a:p xmlns:a="http://schemas.openxmlformats.org/drawingml/2006/main">
            <a:pPr marL="228600" indent="-127000" algn="l">
              <a:spcAft>
                <a:spcPts val="1800"/>
              </a:spcAft>
              <a:buChar char="•"/>
              <a:defRPr sz="2100" b="0">
                <a:solidFill>
                  <a:srgbClr val="20212A"/>
                </a:solidFill>
                <a:latin typeface="Malgun Gothic"/>
                <a:ea typeface="Malgun Gothic"/>
                <a:cs typeface="Malgun Gothic"/>
              </a:defRPr>
            </a:pPr>
            <a:r>
              <a:t>지표 비교표와 후속 업무표</a:t>
            </a:r>
          </a:p>
          <a:p xmlns:a="http://schemas.openxmlformats.org/drawingml/2006/main">
            <a:pPr marL="228600" indent="-127000" algn="l">
              <a:spcAft>
                <a:spcPts val="1800"/>
              </a:spcAft>
              <a:buChar char="•"/>
              <a:defRPr sz="2100" b="0">
                <a:solidFill>
                  <a:srgbClr val="20212A"/>
                </a:solidFill>
                <a:latin typeface="Malgun Gothic"/>
                <a:ea typeface="Malgun Gothic"/>
                <a:cs typeface="Malgun Gothic"/>
              </a:defRPr>
            </a:pPr>
            <a:r>
              <a:t>계산식과 확인 메모</a:t>
            </a:r>
          </a:p>
        </p:txBody>
      </p:sp>
      <p:sp>
        <p:nvSpPr>
          <p:cNvPr id="5" name="">
            <a:extLst xmlns:a="http://schemas.openxmlformats.org/drawingml/2006/main">
              <a:ext uri="{FF2B5EF4-FFF2-40B4-BE49-F238E27FC236}">
                <a16:creationId xmlns:a16="http://schemas.microsoft.com/office/drawing/2014/main" id="{454E94E4-CCA5-4581-B4B0-9D28DAA18623}"/>
              </a:ext>
            </a:extLst>
          </p:cNvPr>
          <p:cNvSpPr>
            <a:spLocks xmlns:a="http://schemas.openxmlformats.org/drawingml/2006/main" noGrp="1"/>
          </p:cNvSpPr>
          <p:nvPr/>
        </p:nvSpPr>
        <p:spPr>
          <a:xfrm xmlns:a="http://schemas.openxmlformats.org/drawingml/2006/main">
            <a:off x="6438900" y="2476500"/>
            <a:ext cx="5010150" cy="2905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27000" algn="l">
              <a:spcAft>
                <a:spcPts val="1800"/>
              </a:spcAft>
              <a:buChar char="•"/>
              <a:defRPr sz="2100" b="0">
                <a:solidFill>
                  <a:srgbClr val="20212A"/>
                </a:solidFill>
                <a:latin typeface="Malgun Gothic"/>
                <a:ea typeface="Malgun Gothic"/>
                <a:cs typeface="Malgun Gothic"/>
              </a:defRPr>
            </a:pPr>
            <a:r>
              <a:t>제목과 본문 350~500자</a:t>
            </a:r>
          </a:p>
          <a:p xmlns:a="http://schemas.openxmlformats.org/drawingml/2006/main">
            <a:pPr marL="228600" indent="-127000" algn="l">
              <a:spcAft>
                <a:spcPts val="1800"/>
              </a:spcAft>
              <a:buChar char="•"/>
              <a:defRPr sz="2100" b="0">
                <a:solidFill>
                  <a:srgbClr val="20212A"/>
                </a:solidFill>
                <a:latin typeface="Malgun Gothic"/>
                <a:ea typeface="Malgun Gothic"/>
                <a:cs typeface="Malgun Gothic"/>
              </a:defRPr>
            </a:pPr>
            <a:r>
              <a:t>참여·이수 현황과 결정 안건 2건</a:t>
            </a:r>
          </a:p>
          <a:p xmlns:a="http://schemas.openxmlformats.org/drawingml/2006/main">
            <a:pPr marL="228600" indent="-127000" algn="l">
              <a:spcAft>
                <a:spcPts val="1800"/>
              </a:spcAft>
              <a:buChar char="•"/>
              <a:defRPr sz="2100" b="0">
                <a:solidFill>
                  <a:srgbClr val="20212A"/>
                </a:solidFill>
                <a:latin typeface="Malgun Gothic"/>
                <a:ea typeface="Malgun Gothic"/>
                <a:cs typeface="Malgun Gothic"/>
              </a:defRPr>
            </a:pPr>
            <a:r>
              <a:t>자세한 표는 첨부 보고서로 안내</a:t>
            </a:r>
          </a:p>
        </p:txBody>
      </p:sp>
      <p:sp>
        <p:nvSpPr>
          <p:cNvPr id="6" name="실습 4분. 초안을 만들고 실제 발송은 하지 않습니">
            <a:extLst xmlns:a="http://schemas.openxmlformats.org/drawingml/2006/main">
              <a:ext uri="{FF2B5EF4-FFF2-40B4-BE49-F238E27FC236}">
                <a16:creationId xmlns:a16="http://schemas.microsoft.com/office/drawing/2014/main" id="{978E382C-BF94-4968-AAA4-4DA35C68C017}"/>
              </a:ext>
            </a:extLst>
          </p:cNvPr>
          <p:cNvSpPr>
            <a:spLocks xmlns:a="http://schemas.openxmlformats.org/drawingml/2006/main" noGrp="1"/>
          </p:cNvSpPr>
          <p:nvPr/>
        </p:nvSpPr>
        <p:spPr>
          <a:xfrm xmlns:a="http://schemas.openxmlformats.org/drawingml/2006/main">
            <a:off x="685800" y="5791200"/>
            <a:ext cx="10820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실습 4분. 초안을 만들고 실제 발송은 하지 않습니다.</a:t>
            </a:r>
          </a:p>
        </p:txBody>
      </p:sp>
      <p:sp>
        <p:nvSpPr>
          <p:cNvPr id="7" name="147–151분">
            <a:extLst xmlns:a="http://schemas.openxmlformats.org/drawingml/2006/main">
              <a:ext uri="{FF2B5EF4-FFF2-40B4-BE49-F238E27FC236}">
                <a16:creationId xmlns:a16="http://schemas.microsoft.com/office/drawing/2014/main" id="{7D16C213-A322-45E4-9A85-3E0CD1210723}"/>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147–151분</a:t>
            </a:r>
          </a:p>
        </p:txBody>
      </p:sp>
      <p:sp>
        <p:nvSpPr>
          <p:cNvPr id="8" name="웹 실습 열기">
            <a:extLst xmlns:a="http://schemas.openxmlformats.org/drawingml/2006/main">
              <a:ext uri="{FF2B5EF4-FFF2-40B4-BE49-F238E27FC236}">
                <a16:creationId xmlns:a16="http://schemas.microsoft.com/office/drawing/2014/main" id="{C95E2E4A-A18C-4740-B27B-24BE5624A2BF}"/>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2427178c432b4d4a"/>
              </a:rPr>
              <a:t>웹 실습 열기</a:t>
            </a:r>
          </a:p>
        </p:txBody>
      </p:sp>
      <p:sp>
        <p:nvSpPr>
          <p:cNvPr id="9" name="44">
            <a:extLst xmlns:a="http://schemas.openxmlformats.org/drawingml/2006/main">
              <a:ext uri="{FF2B5EF4-FFF2-40B4-BE49-F238E27FC236}">
                <a16:creationId xmlns:a16="http://schemas.microsoft.com/office/drawing/2014/main" id="{DFBDA2B3-4C7B-4544-9349-6B1B4051F3C8}"/>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44</a:t>
            </a:r>
          </a:p>
        </p:txBody>
      </p:sp>
    </p:spTree>
    <p:extLst>
      <p:ext uri="{BB962C8B-B14F-4D97-AF65-F5344CB8AC3E}">
        <p14:creationId xmlns:p14="http://schemas.microsoft.com/office/powerpoint/2010/main" val="1181976470"/>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스프레드시트로 확인할 핵심 수치">
            <a:extLst xmlns:a="http://schemas.openxmlformats.org/drawingml/2006/main">
              <a:ext uri="{FF2B5EF4-FFF2-40B4-BE49-F238E27FC236}">
                <a16:creationId xmlns:a16="http://schemas.microsoft.com/office/drawing/2014/main" id="{09154628-C323-47C0-932F-CF3E14BE44EA}"/>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스프레드시트로 확인할 핵심 수치</a:t>
            </a:r>
          </a:p>
        </p:txBody>
      </p:sp>
      <p:graphicFrame>
        <p:nvGraphicFramePr>
          <p:cNvPr id="8" name=""/>
          <p:cNvGraphicFramePr/>
          <p:nvPr/>
        </p:nvGraphicFramePr>
        <p:xfrm>
          <a:off xmlns:a="http://schemas.openxmlformats.org/drawingml/2006/main" x="685800" y="1543050"/>
          <a:ext xmlns:a="http://schemas.openxmlformats.org/drawingml/2006/main" cx="10820400" cy="4133850"/>
        </p:xfrm>
        <a:graphic xmlns:a="http://schemas.openxmlformats.org/drawingml/2006/main">
          <a:graphicData uri="http://schemas.openxmlformats.org/drawingml/2006/table">
            <a:tbl>
              <a:tblPr firstRow="1" bandRow="0"/>
              <a:tblGrid>
                <a:gridCol w="2381250"/>
                <a:gridCol w="2476500"/>
                <a:gridCol w="2857500"/>
                <a:gridCol w="3048000"/>
              </a:tblGrid>
              <a:tr h="590550">
                <a:tc>
                  <a:txBody>
                    <a:bodyPr lIns="114300" tIns="66675" rIns="114300" bIns="57150">
                      <a:noAutofit/>
                    </a:bodyPr>
                    <a:lstStyle/>
                    <a:p>
                      <a:pPr algn="l"/>
                      <a:r>
                        <a:rPr sz="1875" b="1">
                          <a:solidFill>
                            <a:srgbClr val="FFFFFF"/>
                          </a:solidFill>
                          <a:latin typeface="Malgun Gothic"/>
                          <a:ea typeface="Malgun Gothic"/>
                          <a:cs typeface="Malgun Gothic"/>
                        </a:rPr>
                        <a:t>지표</a:t>
                      </a:r>
                    </a:p>
                  </a:txBody>
                  <a:tcPr marL="91440" marR="91440" marT="45720" marB="45720" anchor="ctr">
                    <a:solidFill>
                      <a:srgbClr val="6B43C7"/>
                    </a:solidFill>
                  </a:tcPr>
                </a:tc>
                <a:tc>
                  <a:txBody>
                    <a:bodyPr lIns="114300" tIns="66675" rIns="114300" bIns="57150">
                      <a:noAutofit/>
                    </a:bodyPr>
                    <a:lstStyle/>
                    <a:p>
                      <a:pPr algn="l"/>
                      <a:r>
                        <a:rPr sz="1875" b="1">
                          <a:solidFill>
                            <a:srgbClr val="FFFFFF"/>
                          </a:solidFill>
                          <a:latin typeface="Malgun Gothic"/>
                          <a:ea typeface="Malgun Gothic"/>
                          <a:cs typeface="Malgun Gothic"/>
                        </a:rPr>
                        <a:t>이전 회차</a:t>
                      </a:r>
                    </a:p>
                  </a:txBody>
                  <a:tcPr marL="91440" marR="91440" marT="45720" marB="45720" anchor="ctr">
                    <a:solidFill>
                      <a:srgbClr val="6B43C7"/>
                    </a:solidFill>
                  </a:tcPr>
                </a:tc>
                <a:tc>
                  <a:txBody>
                    <a:bodyPr lIns="114300" tIns="66675" rIns="114300" bIns="57150">
                      <a:noAutofit/>
                    </a:bodyPr>
                    <a:lstStyle/>
                    <a:p>
                      <a:pPr algn="l"/>
                      <a:r>
                        <a:rPr sz="1875" b="1">
                          <a:solidFill>
                            <a:srgbClr val="FFFFFF"/>
                          </a:solidFill>
                          <a:latin typeface="Malgun Gothic"/>
                          <a:ea typeface="Malgun Gothic"/>
                          <a:cs typeface="Malgun Gothic"/>
                        </a:rPr>
                        <a:t>이번 회차</a:t>
                      </a:r>
                    </a:p>
                  </a:txBody>
                  <a:tcPr marL="91440" marR="91440" marT="45720" marB="45720" anchor="ctr">
                    <a:solidFill>
                      <a:srgbClr val="6B43C7"/>
                    </a:solidFill>
                  </a:tcPr>
                </a:tc>
                <a:tc>
                  <a:txBody>
                    <a:bodyPr lIns="114300" tIns="66675" rIns="114300" bIns="57150">
                      <a:noAutofit/>
                    </a:bodyPr>
                    <a:lstStyle/>
                    <a:p>
                      <a:pPr algn="l"/>
                      <a:r>
                        <a:rPr sz="1875" b="1">
                          <a:solidFill>
                            <a:srgbClr val="FFFFFF"/>
                          </a:solidFill>
                          <a:latin typeface="Malgun Gothic"/>
                          <a:ea typeface="Malgun Gothic"/>
                          <a:cs typeface="Malgun Gothic"/>
                        </a:rPr>
                        <a:t>변화·계산</a:t>
                      </a:r>
                    </a:p>
                  </a:txBody>
                  <a:tcPr marL="91440" marR="91440" marT="45720" marB="45720" anchor="ctr">
                    <a:solidFill>
                      <a:srgbClr val="6B43C7"/>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실제 참여</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20명</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28명</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8명, 40.0% 증가</a:t>
                      </a:r>
                    </a:p>
                  </a:txBody>
                  <a:tcPr marL="91440" marR="91440" marT="45720" marB="45720" anchor="ctr">
                    <a:solidFill>
                      <a:srgbClr val="FFFFFF"/>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이수율</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16÷20 = 80.0%</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24÷28 ≈ 85.7%</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약 5.7%p 상승</a:t>
                      </a:r>
                    </a:p>
                  </a:txBody>
                  <a:tcPr marL="91440" marR="91440" marT="45720" marB="45720" anchor="ctr">
                    <a:solidFill>
                      <a:srgbClr val="F5F2FC"/>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집행액</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720,000원</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845,000원</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125,000원, 약 17.4% 증가</a:t>
                      </a:r>
                    </a:p>
                  </a:txBody>
                  <a:tcPr marL="91440" marR="91440" marT="45720" marB="45720" anchor="ctr">
                    <a:solidFill>
                      <a:srgbClr val="FFFFFF"/>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1인당 집행액</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36,000원</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약 30,179원</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약 16.2% 감소</a:t>
                      </a:r>
                    </a:p>
                  </a:txBody>
                  <a:tcPr marL="91440" marR="91440" marT="45720" marB="45720" anchor="ctr">
                    <a:solidFill>
                      <a:srgbClr val="F5F2FC"/>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설문 응답률</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18÷20 = 90.0%</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25÷28 ≈ 89.3%</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실제 참여자 기준</a:t>
                      </a:r>
                    </a:p>
                  </a:txBody>
                  <a:tcPr marL="91440" marR="91440" marT="45720" marB="45720" anchor="ctr">
                    <a:solidFill>
                      <a:srgbClr val="FFFFFF"/>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만족도 평균</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표시값 4.2점</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112÷25 = 4.48점</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표시 4.5점</a:t>
                      </a:r>
                    </a:p>
                  </a:txBody>
                  <a:tcPr marL="91440" marR="91440" marT="45720" marB="45720" anchor="ctr">
                    <a:solidFill>
                      <a:srgbClr val="F5F2FC"/>
                    </a:solidFill>
                  </a:tcPr>
                </a:tc>
              </a:tr>
            </a:tbl>
          </a:graphicData>
        </a:graphic>
      </p:graphicFrame>
      <p:sp>
        <p:nvSpPr>
          <p:cNvPr id="3" name="원 단위, 비율은 소수점 첫째 자리. 계산에는 반올">
            <a:extLst xmlns:a="http://schemas.openxmlformats.org/drawingml/2006/main">
              <a:ext uri="{FF2B5EF4-FFF2-40B4-BE49-F238E27FC236}">
                <a16:creationId xmlns:a16="http://schemas.microsoft.com/office/drawing/2014/main" id="{99C1BD28-2F80-43B6-904C-7562EAEEDC03}"/>
              </a:ext>
            </a:extLst>
          </p:cNvPr>
          <p:cNvSpPr>
            <a:spLocks xmlns:a="http://schemas.openxmlformats.org/drawingml/2006/main" noGrp="1"/>
          </p:cNvSpPr>
          <p:nvPr/>
        </p:nvSpPr>
        <p:spPr>
          <a:xfrm xmlns:a="http://schemas.openxmlformats.org/drawingml/2006/main">
            <a:off x="685800" y="581025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원 단위, 비율은 소수점 첫째 자리. 계산에는 반올림 전 값을 사용합니다.</a:t>
            </a:r>
          </a:p>
        </p:txBody>
      </p:sp>
      <p:sp>
        <p:nvSpPr>
          <p:cNvPr id="4" name="151–156분">
            <a:extLst xmlns:a="http://schemas.openxmlformats.org/drawingml/2006/main">
              <a:ext uri="{FF2B5EF4-FFF2-40B4-BE49-F238E27FC236}">
                <a16:creationId xmlns:a16="http://schemas.microsoft.com/office/drawing/2014/main" id="{A47A2E2F-E1BB-4E4E-B3AF-15EA56DCF023}"/>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151–156분</a:t>
            </a:r>
          </a:p>
        </p:txBody>
      </p:sp>
      <p:sp>
        <p:nvSpPr>
          <p:cNvPr id="5" name="웹 실습 열기">
            <a:extLst xmlns:a="http://schemas.openxmlformats.org/drawingml/2006/main">
              <a:ext uri="{FF2B5EF4-FFF2-40B4-BE49-F238E27FC236}">
                <a16:creationId xmlns:a16="http://schemas.microsoft.com/office/drawing/2014/main" id="{83B83557-BBCF-46FC-BCBB-3F137C16EC28}"/>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c86d247fe0924a8d"/>
              </a:rPr>
              <a:t>웹 실습 열기</a:t>
            </a:r>
          </a:p>
        </p:txBody>
      </p:sp>
      <p:sp>
        <p:nvSpPr>
          <p:cNvPr id="6" name="45">
            <a:extLst xmlns:a="http://schemas.openxmlformats.org/drawingml/2006/main">
              <a:ext uri="{FF2B5EF4-FFF2-40B4-BE49-F238E27FC236}">
                <a16:creationId xmlns:a16="http://schemas.microsoft.com/office/drawing/2014/main" id="{7CC3E69E-1C37-48EB-B336-E6071201526A}"/>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45</a:t>
            </a:r>
          </a:p>
        </p:txBody>
      </p:sp>
    </p:spTree>
    <p:extLst>
      <p:ext uri="{BB962C8B-B14F-4D97-AF65-F5344CB8AC3E}">
        <p14:creationId xmlns:p14="http://schemas.microsoft.com/office/powerpoint/2010/main" val="2047565342"/>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보고서에서 확인할 수 없는 내용">
            <a:extLst xmlns:a="http://schemas.openxmlformats.org/drawingml/2006/main">
              <a:ext uri="{FF2B5EF4-FFF2-40B4-BE49-F238E27FC236}">
                <a16:creationId xmlns:a16="http://schemas.microsoft.com/office/drawing/2014/main" id="{A30B2D7D-89BB-4FA6-A9FC-40BEAC946B93}"/>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보고서에서 확인할 수 없는 내용</a:t>
            </a:r>
          </a:p>
        </p:txBody>
      </p:sp>
      <p:graphicFrame>
        <p:nvGraphicFramePr>
          <p:cNvPr id="8" name=""/>
          <p:cNvGraphicFramePr/>
          <p:nvPr/>
        </p:nvGraphicFramePr>
        <p:xfrm>
          <a:off xmlns:a="http://schemas.openxmlformats.org/drawingml/2006/main" x="685800" y="1543050"/>
          <a:ext xmlns:a="http://schemas.openxmlformats.org/drawingml/2006/main" cx="10820400" cy="3543300"/>
        </p:xfrm>
        <a:graphic xmlns:a="http://schemas.openxmlformats.org/drawingml/2006/main">
          <a:graphicData uri="http://schemas.openxmlformats.org/drawingml/2006/table">
            <a:tbl>
              <a:tblPr firstRow="1" bandRow="0"/>
              <a:tblGrid>
                <a:gridCol w="4953000"/>
                <a:gridCol w="5810250"/>
              </a:tblGrid>
              <a:tr h="590550">
                <a:tc>
                  <a:txBody>
                    <a:bodyPr lIns="114300" tIns="66675" rIns="114300" bIns="57150">
                      <a:noAutofit/>
                    </a:bodyPr>
                    <a:lstStyle/>
                    <a:p>
                      <a:pPr algn="l"/>
                      <a:r>
                        <a:rPr sz="1875" b="1">
                          <a:solidFill>
                            <a:srgbClr val="FFFFFF"/>
                          </a:solidFill>
                          <a:latin typeface="Malgun Gothic"/>
                          <a:ea typeface="Malgun Gothic"/>
                          <a:cs typeface="Malgun Gothic"/>
                        </a:rPr>
                        <a:t>확인한 사실</a:t>
                      </a:r>
                    </a:p>
                  </a:txBody>
                  <a:tcPr marL="91440" marR="91440" marT="45720" marB="45720" anchor="ctr">
                    <a:solidFill>
                      <a:srgbClr val="6B43C7"/>
                    </a:solidFill>
                  </a:tcPr>
                </a:tc>
                <a:tc>
                  <a:txBody>
                    <a:bodyPr lIns="114300" tIns="66675" rIns="114300" bIns="57150">
                      <a:noAutofit/>
                    </a:bodyPr>
                    <a:lstStyle/>
                    <a:p>
                      <a:pPr algn="l"/>
                      <a:r>
                        <a:rPr sz="1875" b="1">
                          <a:solidFill>
                            <a:srgbClr val="FFFFFF"/>
                          </a:solidFill>
                          <a:latin typeface="Malgun Gothic"/>
                          <a:ea typeface="Malgun Gothic"/>
                          <a:cs typeface="Malgun Gothic"/>
                        </a:rPr>
                        <a:t>추가 자료가 필요한 판단</a:t>
                      </a:r>
                    </a:p>
                  </a:txBody>
                  <a:tcPr marL="91440" marR="91440" marT="45720" marB="45720" anchor="ctr">
                    <a:solidFill>
                      <a:srgbClr val="6B43C7"/>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P07·P12·P19·P25는 일부 결과물 미제출</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미이수한 이유</a:t>
                      </a:r>
                    </a:p>
                  </a:txBody>
                  <a:tcPr marL="91440" marR="91440" marT="45720" marB="45720" anchor="ctr">
                    <a:solidFill>
                      <a:srgbClr val="FFFFFF"/>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일부 참가자의 로그인 지연 기록</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전체 지연 인원과 분 단위 소요 시간</a:t>
                      </a:r>
                    </a:p>
                  </a:txBody>
                  <a:tcPr marL="91440" marR="91440" marT="45720" marB="45720" anchor="ctr">
                    <a:solidFill>
                      <a:srgbClr val="F5F2FC"/>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자유 의견 12건</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전체 참가자의 의견 비율과 인과</a:t>
                      </a:r>
                    </a:p>
                  </a:txBody>
                  <a:tcPr marL="91440" marR="91440" marT="45720" marB="45720" anchor="ctr">
                    <a:solidFill>
                      <a:srgbClr val="FFFFFF"/>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1인당 집행액 감소</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교육 효과나 도구별 생산성 향상</a:t>
                      </a:r>
                    </a:p>
                  </a:txBody>
                  <a:tcPr marL="91440" marR="91440" marT="45720" marB="45720" anchor="ctr">
                    <a:solidFill>
                      <a:srgbClr val="F5F2FC"/>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이번 설문 원응답 25건 제공</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이전 회차의 응답별 점수</a:t>
                      </a:r>
                    </a:p>
                  </a:txBody>
                  <a:tcPr marL="91440" marR="91440" marT="45720" marB="45720" anchor="ctr">
                    <a:solidFill>
                      <a:srgbClr val="FFFFFF"/>
                    </a:solidFill>
                  </a:tcPr>
                </a:tc>
              </a:tr>
            </a:tbl>
          </a:graphicData>
        </a:graphic>
      </p:graphicFrame>
      <p:sp>
        <p:nvSpPr>
          <p:cNvPr id="3" name="확인된 사실을 먼저 쓰고, 판단에 필요한 추가 자료">
            <a:extLst xmlns:a="http://schemas.openxmlformats.org/drawingml/2006/main">
              <a:ext uri="{FF2B5EF4-FFF2-40B4-BE49-F238E27FC236}">
                <a16:creationId xmlns:a16="http://schemas.microsoft.com/office/drawing/2014/main" id="{9FFEE2FF-3530-4546-8AE3-99514C454479}"/>
              </a:ext>
            </a:extLst>
          </p:cNvPr>
          <p:cNvSpPr>
            <a:spLocks xmlns:a="http://schemas.openxmlformats.org/drawingml/2006/main" noGrp="1"/>
          </p:cNvSpPr>
          <p:nvPr/>
        </p:nvSpPr>
        <p:spPr>
          <a:xfrm xmlns:a="http://schemas.openxmlformats.org/drawingml/2006/main">
            <a:off x="685800" y="581025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확인된 사실을 먼저 쓰고, 판단에 필요한 추가 자료를 구체적으로 남깁니다.</a:t>
            </a:r>
          </a:p>
        </p:txBody>
      </p:sp>
      <p:sp>
        <p:nvSpPr>
          <p:cNvPr id="4" name="156–160분">
            <a:extLst xmlns:a="http://schemas.openxmlformats.org/drawingml/2006/main">
              <a:ext uri="{FF2B5EF4-FFF2-40B4-BE49-F238E27FC236}">
                <a16:creationId xmlns:a16="http://schemas.microsoft.com/office/drawing/2014/main" id="{28B3EB41-97F6-45FE-8A55-E37D96B8522C}"/>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156–160분</a:t>
            </a:r>
          </a:p>
        </p:txBody>
      </p:sp>
      <p:sp>
        <p:nvSpPr>
          <p:cNvPr id="5" name="웹 실습 열기">
            <a:extLst xmlns:a="http://schemas.openxmlformats.org/drawingml/2006/main">
              <a:ext uri="{FF2B5EF4-FFF2-40B4-BE49-F238E27FC236}">
                <a16:creationId xmlns:a16="http://schemas.microsoft.com/office/drawing/2014/main" id="{E8C74413-9ACA-4F1B-9527-B496FB1338E2}"/>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7b5d0ae0aefd48b8"/>
              </a:rPr>
              <a:t>웹 실습 열기</a:t>
            </a:r>
          </a:p>
        </p:txBody>
      </p:sp>
      <p:sp>
        <p:nvSpPr>
          <p:cNvPr id="6" name="46">
            <a:extLst xmlns:a="http://schemas.openxmlformats.org/drawingml/2006/main">
              <a:ext uri="{FF2B5EF4-FFF2-40B4-BE49-F238E27FC236}">
                <a16:creationId xmlns:a16="http://schemas.microsoft.com/office/drawing/2014/main" id="{9762E8F0-4D2F-4B22-AE5C-2B29D9ECD890}"/>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46</a:t>
            </a:r>
          </a:p>
        </p:txBody>
      </p:sp>
    </p:spTree>
    <p:extLst>
      <p:ext uri="{BB962C8B-B14F-4D97-AF65-F5344CB8AC3E}">
        <p14:creationId xmlns:p14="http://schemas.microsoft.com/office/powerpoint/2010/main" val="741390112"/>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보고서와 메일의 짝 검토">
            <a:extLst xmlns:a="http://schemas.openxmlformats.org/drawingml/2006/main">
              <a:ext uri="{FF2B5EF4-FFF2-40B4-BE49-F238E27FC236}">
                <a16:creationId xmlns:a16="http://schemas.microsoft.com/office/drawing/2014/main" id="{0D25DC18-5BC8-4B89-8FE7-25676C1D8ACF}"/>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보고서와 메일의 짝 검토</a:t>
            </a:r>
          </a:p>
        </p:txBody>
      </p:sp>
      <p:sp>
        <p:nvSpPr>
          <p:cNvPr id="2" name="5분">
            <a:extLst xmlns:a="http://schemas.openxmlformats.org/drawingml/2006/main">
              <a:ext uri="{FF2B5EF4-FFF2-40B4-BE49-F238E27FC236}">
                <a16:creationId xmlns:a16="http://schemas.microsoft.com/office/drawing/2014/main" id="{E72E112A-B56A-4F72-A925-F6954E3D5C7E}"/>
              </a:ext>
            </a:extLst>
          </p:cNvPr>
          <p:cNvSpPr>
            <a:spLocks xmlns:a="http://schemas.openxmlformats.org/drawingml/2006/main" noGrp="1"/>
          </p:cNvSpPr>
          <p:nvPr/>
        </p:nvSpPr>
        <p:spPr>
          <a:xfrm xmlns:a="http://schemas.openxmlformats.org/drawingml/2006/main">
            <a:off x="685800" y="1619250"/>
            <a:ext cx="2743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4125" b="1">
                <a:solidFill>
                  <a:srgbClr val="6B43C7"/>
                </a:solidFill>
                <a:latin typeface="Malgun Gothic"/>
                <a:ea typeface="Malgun Gothic"/>
                <a:cs typeface="Malgun Gothic"/>
              </a:defRPr>
            </a:pPr>
            <a:r>
              <a:rPr sz="4125" b="1">
                <a:solidFill>
                  <a:srgbClr val="6B43C7"/>
                </a:solidFill>
                <a:latin typeface="Malgun Gothic"/>
                <a:ea typeface="Malgun Gothic"/>
                <a:cs typeface="Malgun Gothic"/>
              </a:rPr>
              <a:t>5분</a:t>
            </a:r>
          </a:p>
        </p:txBody>
      </p:sp>
      <p:sp>
        <p:nvSpPr>
          <p:cNvPr id="3" name="서로의 보고서에서 숫자 한 곳과 확정 표현 한 곳을">
            <a:extLst xmlns:a="http://schemas.openxmlformats.org/drawingml/2006/main">
              <a:ext uri="{FF2B5EF4-FFF2-40B4-BE49-F238E27FC236}">
                <a16:creationId xmlns:a16="http://schemas.microsoft.com/office/drawing/2014/main" id="{66D91350-05B2-4C83-AAD7-B5FE0B60104A}"/>
              </a:ext>
            </a:extLst>
          </p:cNvPr>
          <p:cNvSpPr>
            <a:spLocks xmlns:a="http://schemas.openxmlformats.org/drawingml/2006/main" noGrp="1"/>
          </p:cNvSpPr>
          <p:nvPr/>
        </p:nvSpPr>
        <p:spPr>
          <a:xfrm xmlns:a="http://schemas.openxmlformats.org/drawingml/2006/main">
            <a:off x="685800" y="2895600"/>
            <a:ext cx="276225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250" b="1">
                <a:solidFill>
                  <a:srgbClr val="20212A"/>
                </a:solidFill>
                <a:latin typeface="Malgun Gothic"/>
                <a:ea typeface="Malgun Gothic"/>
                <a:cs typeface="Malgun Gothic"/>
              </a:defRPr>
            </a:pPr>
            <a:r>
              <a:rPr sz="2250" b="1">
                <a:solidFill>
                  <a:srgbClr val="20212A"/>
                </a:solidFill>
                <a:latin typeface="Malgun Gothic"/>
                <a:ea typeface="Malgun Gothic"/>
                <a:cs typeface="Malgun Gothic"/>
              </a:rPr>
              <a:t>서로의 보고서에서 숫자 한 곳과 확정 표현 한 곳을 확인합니다.</a:t>
            </a:r>
          </a:p>
        </p:txBody>
      </p:sp>
      <p:sp>
        <p:nvSpPr>
          <p:cNvPr id="4" name="">
            <a:extLst xmlns:a="http://schemas.openxmlformats.org/drawingml/2006/main">
              <a:ext uri="{FF2B5EF4-FFF2-40B4-BE49-F238E27FC236}">
                <a16:creationId xmlns:a16="http://schemas.microsoft.com/office/drawing/2014/main" id="{E0E1E537-E9B6-437A-9037-C4C375496BE4}"/>
              </a:ext>
            </a:extLst>
          </p:cNvPr>
          <p:cNvSpPr>
            <a:spLocks xmlns:a="http://schemas.openxmlformats.org/drawingml/2006/main" noGrp="1"/>
          </p:cNvSpPr>
          <p:nvPr/>
        </p:nvSpPr>
        <p:spPr>
          <a:xfrm xmlns:a="http://schemas.openxmlformats.org/drawingml/2006/main">
            <a:off x="4038600" y="1647825"/>
            <a:ext cx="74676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최종 대장의 집계와 비교표 수치 맞추기</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보고서와 전달 메일의 결정 요청 2건 비교</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제안한 담당·기한을 확정된 값과 구분</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바꾼 문장과 아직 확인할 항목 기록</a:t>
            </a:r>
          </a:p>
        </p:txBody>
      </p:sp>
      <p:sp>
        <p:nvSpPr>
          <p:cNvPr id="5" name="남길 결과">
            <a:extLst xmlns:a="http://schemas.openxmlformats.org/drawingml/2006/main">
              <a:ext uri="{FF2B5EF4-FFF2-40B4-BE49-F238E27FC236}">
                <a16:creationId xmlns:a16="http://schemas.microsoft.com/office/drawing/2014/main" id="{9CD8BC38-0926-4C8E-9E2F-201BD5837140}"/>
              </a:ext>
            </a:extLst>
          </p:cNvPr>
          <p:cNvSpPr>
            <a:spLocks xmlns:a="http://schemas.openxmlformats.org/drawingml/2006/main" noGrp="1"/>
          </p:cNvSpPr>
          <p:nvPr/>
        </p:nvSpPr>
        <p:spPr>
          <a:xfrm xmlns:a="http://schemas.openxmlformats.org/drawingml/2006/main">
            <a:off x="4038600" y="5029200"/>
            <a:ext cx="7467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1">
                <a:solidFill>
                  <a:srgbClr val="6B43C7"/>
                </a:solidFill>
                <a:latin typeface="Malgun Gothic"/>
                <a:ea typeface="Malgun Gothic"/>
                <a:cs typeface="Malgun Gothic"/>
              </a:defRPr>
            </a:pPr>
            <a:r>
              <a:rPr sz="1725" b="1">
                <a:solidFill>
                  <a:srgbClr val="6B43C7"/>
                </a:solidFill>
                <a:latin typeface="Malgun Gothic"/>
                <a:ea typeface="Malgun Gothic"/>
                <a:cs typeface="Malgun Gothic"/>
              </a:rPr>
              <a:t>남길 결과</a:t>
            </a:r>
          </a:p>
        </p:txBody>
      </p:sp>
      <p:sp>
        <p:nvSpPr>
          <p:cNvPr id="6" name="보고서·전달 메일·계산표·확인 메모">
            <a:extLst xmlns:a="http://schemas.openxmlformats.org/drawingml/2006/main">
              <a:ext uri="{FF2B5EF4-FFF2-40B4-BE49-F238E27FC236}">
                <a16:creationId xmlns:a16="http://schemas.microsoft.com/office/drawing/2014/main" id="{FAE6A64A-70DE-416C-9026-5CDDEC67E217}"/>
              </a:ext>
            </a:extLst>
          </p:cNvPr>
          <p:cNvSpPr>
            <a:spLocks xmlns:a="http://schemas.openxmlformats.org/drawingml/2006/main" noGrp="1"/>
          </p:cNvSpPr>
          <p:nvPr/>
        </p:nvSpPr>
        <p:spPr>
          <a:xfrm xmlns:a="http://schemas.openxmlformats.org/drawingml/2006/main">
            <a:off x="4038600" y="5429250"/>
            <a:ext cx="7467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100" b="1">
                <a:solidFill>
                  <a:srgbClr val="20212A"/>
                </a:solidFill>
                <a:latin typeface="Malgun Gothic"/>
                <a:ea typeface="Malgun Gothic"/>
                <a:cs typeface="Malgun Gothic"/>
              </a:defRPr>
            </a:pPr>
            <a:r>
              <a:rPr sz="2100" b="1">
                <a:solidFill>
                  <a:srgbClr val="20212A"/>
                </a:solidFill>
                <a:latin typeface="Malgun Gothic"/>
                <a:ea typeface="Malgun Gothic"/>
                <a:cs typeface="Malgun Gothic"/>
              </a:rPr>
              <a:t>보고서·전달 메일·계산표·확인 메모</a:t>
            </a:r>
          </a:p>
        </p:txBody>
      </p:sp>
      <p:sp>
        <p:nvSpPr>
          <p:cNvPr id="7" name="160–165분">
            <a:extLst xmlns:a="http://schemas.openxmlformats.org/drawingml/2006/main">
              <a:ext uri="{FF2B5EF4-FFF2-40B4-BE49-F238E27FC236}">
                <a16:creationId xmlns:a16="http://schemas.microsoft.com/office/drawing/2014/main" id="{322B7C07-9D1C-453E-BA32-F45CD71D7966}"/>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160–165분</a:t>
            </a:r>
          </a:p>
        </p:txBody>
      </p:sp>
      <p:sp>
        <p:nvSpPr>
          <p:cNvPr id="8" name="웹 실습 열기">
            <a:extLst xmlns:a="http://schemas.openxmlformats.org/drawingml/2006/main">
              <a:ext uri="{FF2B5EF4-FFF2-40B4-BE49-F238E27FC236}">
                <a16:creationId xmlns:a16="http://schemas.microsoft.com/office/drawing/2014/main" id="{6786EB48-7B18-47FD-AA6D-9DAC492160A5}"/>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31175fef193d483d"/>
              </a:rPr>
              <a:t>웹 실습 열기</a:t>
            </a:r>
          </a:p>
        </p:txBody>
      </p:sp>
      <p:sp>
        <p:nvSpPr>
          <p:cNvPr id="9" name="47">
            <a:extLst xmlns:a="http://schemas.openxmlformats.org/drawingml/2006/main">
              <a:ext uri="{FF2B5EF4-FFF2-40B4-BE49-F238E27FC236}">
                <a16:creationId xmlns:a16="http://schemas.microsoft.com/office/drawing/2014/main" id="{42A1D0B3-AE5A-46A4-A23B-FB6B2FBDB6F5}"/>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47</a:t>
            </a:r>
          </a:p>
        </p:txBody>
      </p:sp>
    </p:spTree>
    <p:extLst>
      <p:ext uri="{BB962C8B-B14F-4D97-AF65-F5344CB8AC3E}">
        <p14:creationId xmlns:p14="http://schemas.microsoft.com/office/powerpoint/2010/main" val="686770685"/>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결과와 작업 시간 기록 저장">
            <a:extLst xmlns:a="http://schemas.openxmlformats.org/drawingml/2006/main">
              <a:ext uri="{FF2B5EF4-FFF2-40B4-BE49-F238E27FC236}">
                <a16:creationId xmlns:a16="http://schemas.microsoft.com/office/drawing/2014/main" id="{C47868F9-3C58-4580-8196-F61261220683}"/>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결과와 작업 시간 기록 저장</a:t>
            </a:r>
          </a:p>
        </p:txBody>
      </p:sp>
      <p:sp>
        <p:nvSpPr>
          <p:cNvPr id="2" name="">
            <a:extLst xmlns:a="http://schemas.openxmlformats.org/drawingml/2006/main">
              <a:ext uri="{FF2B5EF4-FFF2-40B4-BE49-F238E27FC236}">
                <a16:creationId xmlns:a16="http://schemas.microsoft.com/office/drawing/2014/main" id="{3CE6373E-978A-41BC-8AAE-36C754F566B8}"/>
              </a:ext>
            </a:extLst>
          </p:cNvPr>
          <p:cNvSpPr>
            <a:spLocks xmlns:a="http://schemas.openxmlformats.org/drawingml/2006/main" noGrp="1"/>
          </p:cNvSpPr>
          <p:nvPr/>
        </p:nvSpPr>
        <p:spPr>
          <a:xfrm xmlns:a="http://schemas.openxmlformats.org/drawingml/2006/main">
            <a:off x="742950" y="1724025"/>
            <a:ext cx="106680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27000" algn="l">
              <a:spcAft>
                <a:spcPts val="2200"/>
              </a:spcAft>
              <a:buChar char="•"/>
              <a:defRPr sz="2400" b="0">
                <a:solidFill>
                  <a:srgbClr val="20212A"/>
                </a:solidFill>
                <a:latin typeface="Malgun Gothic"/>
                <a:ea typeface="Malgun Gothic"/>
                <a:cs typeface="Malgun Gothic"/>
              </a:defRPr>
            </a:pPr>
            <a:r>
              <a:t>최종 문서와 검토 대기 문서를 구분</a:t>
            </a:r>
          </a:p>
          <a:p xmlns:a="http://schemas.openxmlformats.org/drawingml/2006/main">
            <a:pPr marL="228600" indent="-127000" algn="l">
              <a:spcAft>
                <a:spcPts val="2200"/>
              </a:spcAft>
              <a:buChar char="•"/>
              <a:defRPr sz="2400" b="0">
                <a:solidFill>
                  <a:srgbClr val="20212A"/>
                </a:solidFill>
                <a:latin typeface="Malgun Gothic"/>
                <a:ea typeface="Malgun Gothic"/>
                <a:cs typeface="Malgun Gothic"/>
              </a:defRPr>
            </a:pPr>
            <a:r>
              <a:t>입력 준비·기다림·검토·수정 시간 저장</a:t>
            </a:r>
          </a:p>
          <a:p xmlns:a="http://schemas.openxmlformats.org/drawingml/2006/main">
            <a:pPr marL="228600" indent="-127000" algn="l">
              <a:spcAft>
                <a:spcPts val="2200"/>
              </a:spcAft>
              <a:buChar char="•"/>
              <a:defRPr sz="2400" b="0">
                <a:solidFill>
                  <a:srgbClr val="20212A"/>
                </a:solidFill>
                <a:latin typeface="Malgun Gothic"/>
                <a:ea typeface="Malgun Gothic"/>
                <a:cs typeface="Malgun Gothic"/>
              </a:defRPr>
            </a:pPr>
            <a:r>
              <a:t>고친 문장과 근거 위치·계산 수식 기록</a:t>
            </a:r>
          </a:p>
          <a:p xmlns:a="http://schemas.openxmlformats.org/drawingml/2006/main">
            <a:pPr marL="228600" indent="-127000" algn="l">
              <a:spcAft>
                <a:spcPts val="2200"/>
              </a:spcAft>
              <a:buChar char="•"/>
              <a:defRPr sz="2400" b="0">
                <a:solidFill>
                  <a:srgbClr val="20212A"/>
                </a:solidFill>
                <a:latin typeface="Malgun Gothic"/>
                <a:ea typeface="Malgun Gothic"/>
                <a:cs typeface="Malgun Gothic"/>
              </a:defRPr>
            </a:pPr>
            <a:r>
              <a:t>누락·미완료 범위와 다음 확인 담당 남기기</a:t>
            </a:r>
          </a:p>
        </p:txBody>
      </p:sp>
      <p:sp>
        <p:nvSpPr>
          <p:cNvPr id="3" name="생성한 분량과 검토를 끝낸 범위를 따로 기록합니다">
            <a:extLst xmlns:a="http://schemas.openxmlformats.org/drawingml/2006/main">
              <a:ext uri="{FF2B5EF4-FFF2-40B4-BE49-F238E27FC236}">
                <a16:creationId xmlns:a16="http://schemas.microsoft.com/office/drawing/2014/main" id="{09501460-F0D6-44B3-A18E-AA86CF4EB999}"/>
              </a:ext>
            </a:extLst>
          </p:cNvPr>
          <p:cNvSpPr>
            <a:spLocks xmlns:a="http://schemas.openxmlformats.org/drawingml/2006/main" noGrp="1"/>
          </p:cNvSpPr>
          <p:nvPr/>
        </p:nvSpPr>
        <p:spPr>
          <a:xfrm xmlns:a="http://schemas.openxmlformats.org/drawingml/2006/main">
            <a:off x="742950" y="54102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100" b="1">
                <a:solidFill>
                  <a:srgbClr val="6B43C7"/>
                </a:solidFill>
                <a:latin typeface="Malgun Gothic"/>
                <a:ea typeface="Malgun Gothic"/>
                <a:cs typeface="Malgun Gothic"/>
              </a:defRPr>
            </a:pPr>
            <a:r>
              <a:rPr sz="2100" b="1">
                <a:solidFill>
                  <a:srgbClr val="6B43C7"/>
                </a:solidFill>
                <a:latin typeface="Malgun Gothic"/>
                <a:ea typeface="Malgun Gothic"/>
                <a:cs typeface="Malgun Gothic"/>
              </a:rPr>
              <a:t>생성한 분량과 검토를 끝낸 범위를 따로 기록합니다</a:t>
            </a:r>
          </a:p>
        </p:txBody>
      </p:sp>
      <p:sp>
        <p:nvSpPr>
          <p:cNvPr id="4" name="165–169분">
            <a:extLst xmlns:a="http://schemas.openxmlformats.org/drawingml/2006/main">
              <a:ext uri="{FF2B5EF4-FFF2-40B4-BE49-F238E27FC236}">
                <a16:creationId xmlns:a16="http://schemas.microsoft.com/office/drawing/2014/main" id="{44D483A1-8158-4D22-94AE-27A6B35AEE43}"/>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165–169분</a:t>
            </a:r>
          </a:p>
        </p:txBody>
      </p:sp>
      <p:sp>
        <p:nvSpPr>
          <p:cNvPr id="5" name="웹 실습 열기">
            <a:extLst xmlns:a="http://schemas.openxmlformats.org/drawingml/2006/main">
              <a:ext uri="{FF2B5EF4-FFF2-40B4-BE49-F238E27FC236}">
                <a16:creationId xmlns:a16="http://schemas.microsoft.com/office/drawing/2014/main" id="{3335C47E-7664-4608-A478-E4ADEA0A70FA}"/>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c4464d83eb5a4fc2"/>
              </a:rPr>
              <a:t>웹 실습 열기</a:t>
            </a:r>
          </a:p>
        </p:txBody>
      </p:sp>
      <p:sp>
        <p:nvSpPr>
          <p:cNvPr id="6" name="48">
            <a:extLst xmlns:a="http://schemas.openxmlformats.org/drawingml/2006/main">
              <a:ext uri="{FF2B5EF4-FFF2-40B4-BE49-F238E27FC236}">
                <a16:creationId xmlns:a16="http://schemas.microsoft.com/office/drawing/2014/main" id="{B40EDD22-59E5-4D21-8C46-CB99DFE5734E}"/>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48</a:t>
            </a:r>
          </a:p>
        </p:txBody>
      </p:sp>
    </p:spTree>
    <p:extLst>
      <p:ext uri="{BB962C8B-B14F-4D97-AF65-F5344CB8AC3E}">
        <p14:creationId xmlns:p14="http://schemas.microsoft.com/office/powerpoint/2010/main" val="2008572133"/>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내 업무에서의 사용 여부 판단">
            <a:extLst xmlns:a="http://schemas.openxmlformats.org/drawingml/2006/main">
              <a:ext uri="{FF2B5EF4-FFF2-40B4-BE49-F238E27FC236}">
                <a16:creationId xmlns:a16="http://schemas.microsoft.com/office/drawing/2014/main" id="{A921B926-31AB-42CE-BB25-85CB8A3569D6}"/>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내 업무에서의 사용 여부 판단</a:t>
            </a:r>
          </a:p>
        </p:txBody>
      </p:sp>
      <p:sp>
        <p:nvSpPr>
          <p:cNvPr id="2" name="6분">
            <a:extLst xmlns:a="http://schemas.openxmlformats.org/drawingml/2006/main">
              <a:ext uri="{FF2B5EF4-FFF2-40B4-BE49-F238E27FC236}">
                <a16:creationId xmlns:a16="http://schemas.microsoft.com/office/drawing/2014/main" id="{C5037392-7489-4351-A9E6-8D5369FE1FF5}"/>
              </a:ext>
            </a:extLst>
          </p:cNvPr>
          <p:cNvSpPr>
            <a:spLocks xmlns:a="http://schemas.openxmlformats.org/drawingml/2006/main" noGrp="1"/>
          </p:cNvSpPr>
          <p:nvPr/>
        </p:nvSpPr>
        <p:spPr>
          <a:xfrm xmlns:a="http://schemas.openxmlformats.org/drawingml/2006/main">
            <a:off x="685800" y="1619250"/>
            <a:ext cx="2743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4125" b="1">
                <a:solidFill>
                  <a:srgbClr val="6B43C7"/>
                </a:solidFill>
                <a:latin typeface="Malgun Gothic"/>
                <a:ea typeface="Malgun Gothic"/>
                <a:cs typeface="Malgun Gothic"/>
              </a:defRPr>
            </a:pPr>
            <a:r>
              <a:rPr sz="4125" b="1">
                <a:solidFill>
                  <a:srgbClr val="6B43C7"/>
                </a:solidFill>
                <a:latin typeface="Malgun Gothic"/>
                <a:ea typeface="Malgun Gothic"/>
                <a:cs typeface="Malgun Gothic"/>
              </a:rPr>
              <a:t>6분</a:t>
            </a:r>
          </a:p>
        </p:txBody>
      </p:sp>
      <p:sp>
        <p:nvSpPr>
          <p:cNvPr id="3" name="반복 업무 세 가지에 가장 알맞은 방법과 검토 기준">
            <a:extLst xmlns:a="http://schemas.openxmlformats.org/drawingml/2006/main">
              <a:ext uri="{FF2B5EF4-FFF2-40B4-BE49-F238E27FC236}">
                <a16:creationId xmlns:a16="http://schemas.microsoft.com/office/drawing/2014/main" id="{9DD300F4-49C2-43EA-99FB-87D3963FE86D}"/>
              </a:ext>
            </a:extLst>
          </p:cNvPr>
          <p:cNvSpPr>
            <a:spLocks xmlns:a="http://schemas.openxmlformats.org/drawingml/2006/main" noGrp="1"/>
          </p:cNvSpPr>
          <p:nvPr/>
        </p:nvSpPr>
        <p:spPr>
          <a:xfrm xmlns:a="http://schemas.openxmlformats.org/drawingml/2006/main">
            <a:off x="685800" y="2895600"/>
            <a:ext cx="276225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250" b="1">
                <a:solidFill>
                  <a:srgbClr val="20212A"/>
                </a:solidFill>
                <a:latin typeface="Malgun Gothic"/>
                <a:ea typeface="Malgun Gothic"/>
                <a:cs typeface="Malgun Gothic"/>
              </a:defRPr>
            </a:pPr>
            <a:r>
              <a:rPr sz="2250" b="1">
                <a:solidFill>
                  <a:srgbClr val="20212A"/>
                </a:solidFill>
                <a:latin typeface="Malgun Gothic"/>
                <a:ea typeface="Malgun Gothic"/>
                <a:cs typeface="Malgun Gothic"/>
              </a:rPr>
              <a:t>반복 업무 세 가지에 가장 알맞은 방법과 검토 기준을 적습니다.</a:t>
            </a:r>
          </a:p>
        </p:txBody>
      </p:sp>
      <p:sp>
        <p:nvSpPr>
          <p:cNvPr id="4" name="">
            <a:extLst xmlns:a="http://schemas.openxmlformats.org/drawingml/2006/main">
              <a:ext uri="{FF2B5EF4-FFF2-40B4-BE49-F238E27FC236}">
                <a16:creationId xmlns:a16="http://schemas.microsoft.com/office/drawing/2014/main" id="{F3C7AAF4-5805-4C69-B49D-A17B812B7DBE}"/>
              </a:ext>
            </a:extLst>
          </p:cNvPr>
          <p:cNvSpPr>
            <a:spLocks xmlns:a="http://schemas.openxmlformats.org/drawingml/2006/main" noGrp="1"/>
          </p:cNvSpPr>
          <p:nvPr/>
        </p:nvSpPr>
        <p:spPr>
          <a:xfrm xmlns:a="http://schemas.openxmlformats.org/drawingml/2006/main">
            <a:off x="4038600" y="1647825"/>
            <a:ext cx="74676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직접 작성·기존 서식으로 충분한지 판단</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숫자는 스프레드시트 수식으로 확인</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AI가 필요한 분류·대조·문장 범위 정하기</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검토 책임과 중단·재확인 조건 정하기</a:t>
            </a:r>
          </a:p>
        </p:txBody>
      </p:sp>
      <p:sp>
        <p:nvSpPr>
          <p:cNvPr id="5" name="남길 결과">
            <a:extLst xmlns:a="http://schemas.openxmlformats.org/drawingml/2006/main">
              <a:ext uri="{FF2B5EF4-FFF2-40B4-BE49-F238E27FC236}">
                <a16:creationId xmlns:a16="http://schemas.microsoft.com/office/drawing/2014/main" id="{2CB00E13-B1B0-45B3-8357-A4CE1CF37FD3}"/>
              </a:ext>
            </a:extLst>
          </p:cNvPr>
          <p:cNvSpPr>
            <a:spLocks xmlns:a="http://schemas.openxmlformats.org/drawingml/2006/main" noGrp="1"/>
          </p:cNvSpPr>
          <p:nvPr/>
        </p:nvSpPr>
        <p:spPr>
          <a:xfrm xmlns:a="http://schemas.openxmlformats.org/drawingml/2006/main">
            <a:off x="4038600" y="5029200"/>
            <a:ext cx="7467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1">
                <a:solidFill>
                  <a:srgbClr val="6B43C7"/>
                </a:solidFill>
                <a:latin typeface="Malgun Gothic"/>
                <a:ea typeface="Malgun Gothic"/>
                <a:cs typeface="Malgun Gothic"/>
              </a:defRPr>
            </a:pPr>
            <a:r>
              <a:rPr sz="1725" b="1">
                <a:solidFill>
                  <a:srgbClr val="6B43C7"/>
                </a:solidFill>
                <a:latin typeface="Malgun Gothic"/>
                <a:ea typeface="Malgun Gothic"/>
                <a:cs typeface="Malgun Gothic"/>
              </a:rPr>
              <a:t>남길 결과</a:t>
            </a:r>
          </a:p>
        </p:txBody>
      </p:sp>
      <p:sp>
        <p:nvSpPr>
          <p:cNvPr id="6" name="업무별 사용 여부와 검토 계획 3행">
            <a:extLst xmlns:a="http://schemas.openxmlformats.org/drawingml/2006/main">
              <a:ext uri="{FF2B5EF4-FFF2-40B4-BE49-F238E27FC236}">
                <a16:creationId xmlns:a16="http://schemas.microsoft.com/office/drawing/2014/main" id="{5EE6E761-7B53-4957-9F27-0F183A88504A}"/>
              </a:ext>
            </a:extLst>
          </p:cNvPr>
          <p:cNvSpPr>
            <a:spLocks xmlns:a="http://schemas.openxmlformats.org/drawingml/2006/main" noGrp="1"/>
          </p:cNvSpPr>
          <p:nvPr/>
        </p:nvSpPr>
        <p:spPr>
          <a:xfrm xmlns:a="http://schemas.openxmlformats.org/drawingml/2006/main">
            <a:off x="4038600" y="5429250"/>
            <a:ext cx="7467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100" b="1">
                <a:solidFill>
                  <a:srgbClr val="20212A"/>
                </a:solidFill>
                <a:latin typeface="Malgun Gothic"/>
                <a:ea typeface="Malgun Gothic"/>
                <a:cs typeface="Malgun Gothic"/>
              </a:defRPr>
            </a:pPr>
            <a:r>
              <a:rPr sz="2100" b="1">
                <a:solidFill>
                  <a:srgbClr val="20212A"/>
                </a:solidFill>
                <a:latin typeface="Malgun Gothic"/>
                <a:ea typeface="Malgun Gothic"/>
                <a:cs typeface="Malgun Gothic"/>
              </a:rPr>
              <a:t>업무별 사용 여부와 검토 계획 3행</a:t>
            </a:r>
          </a:p>
        </p:txBody>
      </p:sp>
      <p:sp>
        <p:nvSpPr>
          <p:cNvPr id="7" name="169–175분">
            <a:extLst xmlns:a="http://schemas.openxmlformats.org/drawingml/2006/main">
              <a:ext uri="{FF2B5EF4-FFF2-40B4-BE49-F238E27FC236}">
                <a16:creationId xmlns:a16="http://schemas.microsoft.com/office/drawing/2014/main" id="{3D24B7DC-717B-4C1D-9E47-D15E7B2A47F0}"/>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169–175분</a:t>
            </a:r>
          </a:p>
        </p:txBody>
      </p:sp>
      <p:sp>
        <p:nvSpPr>
          <p:cNvPr id="8" name="웹 실습 열기">
            <a:extLst xmlns:a="http://schemas.openxmlformats.org/drawingml/2006/main">
              <a:ext uri="{FF2B5EF4-FFF2-40B4-BE49-F238E27FC236}">
                <a16:creationId xmlns:a16="http://schemas.microsoft.com/office/drawing/2014/main" id="{57C8150A-7826-4863-B4FB-38DCD0C559E5}"/>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e968fa07ac3b48b8"/>
              </a:rPr>
              <a:t>웹 실습 열기</a:t>
            </a:r>
          </a:p>
        </p:txBody>
      </p:sp>
      <p:sp>
        <p:nvSpPr>
          <p:cNvPr id="9" name="49">
            <a:extLst xmlns:a="http://schemas.openxmlformats.org/drawingml/2006/main">
              <a:ext uri="{FF2B5EF4-FFF2-40B4-BE49-F238E27FC236}">
                <a16:creationId xmlns:a16="http://schemas.microsoft.com/office/drawing/2014/main" id="{B9CDFA08-6639-4C30-8F0E-14A71E711B18}"/>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49</a:t>
            </a:r>
          </a:p>
        </p:txBody>
      </p:sp>
    </p:spTree>
    <p:extLst>
      <p:ext uri="{BB962C8B-B14F-4D97-AF65-F5344CB8AC3E}">
        <p14:creationId xmlns:p14="http://schemas.microsoft.com/office/powerpoint/2010/main" val="1671394936"/>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수업 후 반복과 판단 기준">
            <a:extLst xmlns:a="http://schemas.openxmlformats.org/drawingml/2006/main">
              <a:ext uri="{FF2B5EF4-FFF2-40B4-BE49-F238E27FC236}">
                <a16:creationId xmlns:a16="http://schemas.microsoft.com/office/drawing/2014/main" id="{4A5BDBAA-CA88-4AB4-8681-2C8A154F7D73}"/>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수업 후 반복과 판단 기준</a:t>
            </a:r>
          </a:p>
        </p:txBody>
      </p:sp>
      <p:sp>
        <p:nvSpPr>
          <p:cNvPr id="2" name="">
            <a:extLst xmlns:a="http://schemas.openxmlformats.org/drawingml/2006/main">
              <a:ext uri="{FF2B5EF4-FFF2-40B4-BE49-F238E27FC236}">
                <a16:creationId xmlns:a16="http://schemas.microsoft.com/office/drawing/2014/main" id="{096B6650-2696-4BE7-9C21-7B20B208710D}"/>
              </a:ext>
            </a:extLst>
          </p:cNvPr>
          <p:cNvSpPr>
            <a:spLocks xmlns:a="http://schemas.openxmlformats.org/drawingml/2006/main" noGrp="1"/>
          </p:cNvSpPr>
          <p:nvPr/>
        </p:nvSpPr>
        <p:spPr>
          <a:xfrm xmlns:a="http://schemas.openxmlformats.org/drawingml/2006/main">
            <a:off x="742950" y="1724025"/>
            <a:ext cx="106680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27000" algn="l">
              <a:spcAft>
                <a:spcPts val="2200"/>
              </a:spcAft>
              <a:buChar char="•"/>
              <a:defRPr sz="2400" b="0">
                <a:solidFill>
                  <a:srgbClr val="20212A"/>
                </a:solidFill>
                <a:latin typeface="Malgun Gothic"/>
                <a:ea typeface="Malgun Gothic"/>
                <a:cs typeface="Malgun Gothic"/>
              </a:defRPr>
            </a:pPr>
            <a:r>
              <a:t>같은 자료·같은 건수·같은 완료 기준으로 재연습</a:t>
            </a:r>
          </a:p>
          <a:p xmlns:a="http://schemas.openxmlformats.org/drawingml/2006/main">
            <a:pPr marL="228600" indent="-127000" algn="l">
              <a:spcAft>
                <a:spcPts val="2200"/>
              </a:spcAft>
              <a:buChar char="•"/>
              <a:defRPr sz="2400" b="0">
                <a:solidFill>
                  <a:srgbClr val="20212A"/>
                </a:solidFill>
                <a:latin typeface="Malgun Gothic"/>
                <a:ea typeface="Malgun Gothic"/>
                <a:cs typeface="Malgun Gothic"/>
              </a:defRPr>
            </a:pPr>
            <a:r>
              <a:t>입력 준비와 기다림, 검토·수정도 함께 기록</a:t>
            </a:r>
          </a:p>
          <a:p xmlns:a="http://schemas.openxmlformats.org/drawingml/2006/main">
            <a:pPr marL="228600" indent="-127000" algn="l">
              <a:spcAft>
                <a:spcPts val="2200"/>
              </a:spcAft>
              <a:buChar char="•"/>
              <a:defRPr sz="2400" b="0">
                <a:solidFill>
                  <a:srgbClr val="20212A"/>
                </a:solidFill>
                <a:latin typeface="Malgun Gothic"/>
                <a:ea typeface="Malgun Gothic"/>
                <a:cs typeface="Malgun Gothic"/>
              </a:defRPr>
            </a:pPr>
            <a:r>
              <a:t>추가 과제 8개는 수업 후 또는 별도 심화에서 선택</a:t>
            </a:r>
          </a:p>
          <a:p xmlns:a="http://schemas.openxmlformats.org/drawingml/2006/main">
            <a:pPr marL="228600" indent="-127000" algn="l">
              <a:spcAft>
                <a:spcPts val="2200"/>
              </a:spcAft>
              <a:buChar char="•"/>
              <a:defRPr sz="2400" b="0">
                <a:solidFill>
                  <a:srgbClr val="20212A"/>
                </a:solidFill>
                <a:latin typeface="Malgun Gothic"/>
                <a:ea typeface="Malgun Gothic"/>
                <a:cs typeface="Malgun Gothic"/>
              </a:defRPr>
            </a:pPr>
            <a:r>
              <a:t>결과가 늦거나 검토 부담이 크면 다른 방식 선택</a:t>
            </a:r>
          </a:p>
        </p:txBody>
      </p:sp>
      <p:sp>
        <p:nvSpPr>
          <p:cNvPr id="3" name="효율 개선 수치는 미리 정하지 않습니다. 직접 확인">
            <a:extLst xmlns:a="http://schemas.openxmlformats.org/drawingml/2006/main">
              <a:ext uri="{FF2B5EF4-FFF2-40B4-BE49-F238E27FC236}">
                <a16:creationId xmlns:a16="http://schemas.microsoft.com/office/drawing/2014/main" id="{5D4998B9-39B4-4A65-BEA9-C7B612924706}"/>
              </a:ext>
            </a:extLst>
          </p:cNvPr>
          <p:cNvSpPr>
            <a:spLocks xmlns:a="http://schemas.openxmlformats.org/drawingml/2006/main" noGrp="1"/>
          </p:cNvSpPr>
          <p:nvPr/>
        </p:nvSpPr>
        <p:spPr>
          <a:xfrm xmlns:a="http://schemas.openxmlformats.org/drawingml/2006/main">
            <a:off x="742950" y="54102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100" b="1">
                <a:solidFill>
                  <a:srgbClr val="6B43C7"/>
                </a:solidFill>
                <a:latin typeface="Malgun Gothic"/>
                <a:ea typeface="Malgun Gothic"/>
                <a:cs typeface="Malgun Gothic"/>
              </a:defRPr>
            </a:pPr>
            <a:r>
              <a:rPr sz="2100" b="1">
                <a:solidFill>
                  <a:srgbClr val="6B43C7"/>
                </a:solidFill>
                <a:latin typeface="Malgun Gothic"/>
                <a:ea typeface="Malgun Gothic"/>
                <a:cs typeface="Malgun Gothic"/>
              </a:rPr>
              <a:t>효율 개선 수치는 미리 정하지 않습니다. 직접 확인한 범위만 말합니다.</a:t>
            </a:r>
          </a:p>
        </p:txBody>
      </p:sp>
      <p:sp>
        <p:nvSpPr>
          <p:cNvPr id="4" name="175–180분">
            <a:extLst xmlns:a="http://schemas.openxmlformats.org/drawingml/2006/main">
              <a:ext uri="{FF2B5EF4-FFF2-40B4-BE49-F238E27FC236}">
                <a16:creationId xmlns:a16="http://schemas.microsoft.com/office/drawing/2014/main" id="{677FFCC3-A16F-4C52-9BF7-67D9CCDA3E75}"/>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175–180분</a:t>
            </a:r>
          </a:p>
        </p:txBody>
      </p:sp>
      <p:sp>
        <p:nvSpPr>
          <p:cNvPr id="5" name="웹 실습 열기">
            <a:extLst xmlns:a="http://schemas.openxmlformats.org/drawingml/2006/main">
              <a:ext uri="{FF2B5EF4-FFF2-40B4-BE49-F238E27FC236}">
                <a16:creationId xmlns:a16="http://schemas.microsoft.com/office/drawing/2014/main" id="{F4C503D1-5107-43AC-A101-4A5EA927E6E8}"/>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7af68cbbb37d4a6e"/>
              </a:rPr>
              <a:t>웹 실습 열기</a:t>
            </a:r>
          </a:p>
        </p:txBody>
      </p:sp>
      <p:sp>
        <p:nvSpPr>
          <p:cNvPr id="6" name="50">
            <a:extLst xmlns:a="http://schemas.openxmlformats.org/drawingml/2006/main">
              <a:ext uri="{FF2B5EF4-FFF2-40B4-BE49-F238E27FC236}">
                <a16:creationId xmlns:a16="http://schemas.microsoft.com/office/drawing/2014/main" id="{BA229F51-035E-4B7E-B8CF-A9CF378A9B61}"/>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50</a:t>
            </a:r>
          </a:p>
        </p:txBody>
      </p:sp>
    </p:spTree>
    <p:extLst>
      <p:ext uri="{BB962C8B-B14F-4D97-AF65-F5344CB8AC3E}">
        <p14:creationId xmlns:p14="http://schemas.microsoft.com/office/powerpoint/2010/main" val="2050530267"/>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선택 1. 추가 회신 12건과 신청 상태 갱신">
            <a:extLst xmlns:a="http://schemas.openxmlformats.org/drawingml/2006/main">
              <a:ext uri="{FF2B5EF4-FFF2-40B4-BE49-F238E27FC236}">
                <a16:creationId xmlns:a16="http://schemas.microsoft.com/office/drawing/2014/main" id="{22FB6477-0F6B-4B96-B14C-B636B3406FCF}"/>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선택 1. 추가 회신 12건과 신청 상태 갱신</a:t>
            </a:r>
          </a:p>
        </p:txBody>
      </p:sp>
      <p:sp>
        <p:nvSpPr>
          <p:cNvPr id="2" name="15분">
            <a:extLst xmlns:a="http://schemas.openxmlformats.org/drawingml/2006/main">
              <a:ext uri="{FF2B5EF4-FFF2-40B4-BE49-F238E27FC236}">
                <a16:creationId xmlns:a16="http://schemas.microsoft.com/office/drawing/2014/main" id="{2F3C0763-E932-408A-AAFE-C7650B967BDA}"/>
              </a:ext>
            </a:extLst>
          </p:cNvPr>
          <p:cNvSpPr>
            <a:spLocks xmlns:a="http://schemas.openxmlformats.org/drawingml/2006/main" noGrp="1"/>
          </p:cNvSpPr>
          <p:nvPr/>
        </p:nvSpPr>
        <p:spPr>
          <a:xfrm xmlns:a="http://schemas.openxmlformats.org/drawingml/2006/main">
            <a:off x="685800" y="1619250"/>
            <a:ext cx="2743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4125" b="1">
                <a:solidFill>
                  <a:srgbClr val="6B43C7"/>
                </a:solidFill>
                <a:latin typeface="Malgun Gothic"/>
                <a:ea typeface="Malgun Gothic"/>
                <a:cs typeface="Malgun Gothic"/>
              </a:defRPr>
            </a:pPr>
            <a:r>
              <a:rPr sz="4125" b="1">
                <a:solidFill>
                  <a:srgbClr val="6B43C7"/>
                </a:solidFill>
                <a:latin typeface="Malgun Gothic"/>
                <a:ea typeface="Malgun Gothic"/>
                <a:cs typeface="Malgun Gothic"/>
              </a:rPr>
              <a:t>15분</a:t>
            </a:r>
          </a:p>
        </p:txBody>
      </p:sp>
      <p:sp>
        <p:nvSpPr>
          <p:cNvPr id="3" name="같은 학생의 후속 메일을&#10;최신 상태로 정리">
            <a:extLst xmlns:a="http://schemas.openxmlformats.org/drawingml/2006/main">
              <a:ext uri="{FF2B5EF4-FFF2-40B4-BE49-F238E27FC236}">
                <a16:creationId xmlns:a16="http://schemas.microsoft.com/office/drawing/2014/main" id="{528C0D03-8CFB-493A-A594-E2BC00A5186C}"/>
              </a:ext>
            </a:extLst>
          </p:cNvPr>
          <p:cNvSpPr>
            <a:spLocks xmlns:a="http://schemas.openxmlformats.org/drawingml/2006/main" noGrp="1"/>
          </p:cNvSpPr>
          <p:nvPr/>
        </p:nvSpPr>
        <p:spPr>
          <a:xfrm xmlns:a="http://schemas.openxmlformats.org/drawingml/2006/main">
            <a:off x="685800" y="2895600"/>
            <a:ext cx="276225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250" b="1">
                <a:solidFill>
                  <a:srgbClr val="20212A"/>
                </a:solidFill>
                <a:latin typeface="Malgun Gothic"/>
                <a:ea typeface="Malgun Gothic"/>
                <a:cs typeface="Malgun Gothic"/>
              </a:defRPr>
            </a:pPr>
            <a:r>
              <a:rPr sz="2250" b="1">
                <a:solidFill>
                  <a:srgbClr val="20212A"/>
                </a:solidFill>
                <a:latin typeface="Malgun Gothic"/>
                <a:ea typeface="Malgun Gothic"/>
                <a:cs typeface="Malgun Gothic"/>
              </a:rPr>
              <a:t>같은 학생의 후속 메일을</a:t>
            </a:r>
          </a:p>
          <a:p xmlns:a="http://schemas.openxmlformats.org/drawingml/2006/main">
            <a:pPr algn="l">
              <a:lnSpc>
                <a:spcPct val="116000"/>
              </a:lnSpc>
              <a:buNone/>
              <a:defRPr sz="2250" b="1">
                <a:solidFill>
                  <a:srgbClr val="20212A"/>
                </a:solidFill>
                <a:latin typeface="Malgun Gothic"/>
                <a:ea typeface="Malgun Gothic"/>
                <a:cs typeface="Malgun Gothic"/>
              </a:defRPr>
            </a:pPr>
            <a:r>
              <a:rPr sz="2250" b="1">
                <a:solidFill>
                  <a:srgbClr val="20212A"/>
                </a:solidFill>
                <a:latin typeface="Malgun Gothic"/>
                <a:ea typeface="Malgun Gothic"/>
                <a:cs typeface="Malgun Gothic"/>
              </a:rPr>
              <a:t>최신 상태로 정리</a:t>
            </a:r>
          </a:p>
        </p:txBody>
      </p:sp>
      <p:sp>
        <p:nvSpPr>
          <p:cNvPr id="4" name="">
            <a:extLst xmlns:a="http://schemas.openxmlformats.org/drawingml/2006/main">
              <a:ext uri="{FF2B5EF4-FFF2-40B4-BE49-F238E27FC236}">
                <a16:creationId xmlns:a16="http://schemas.microsoft.com/office/drawing/2014/main" id="{B00831A0-C6EB-4C99-A190-C02E74959134}"/>
              </a:ext>
            </a:extLst>
          </p:cNvPr>
          <p:cNvSpPr>
            <a:spLocks xmlns:a="http://schemas.openxmlformats.org/drawingml/2006/main" noGrp="1"/>
          </p:cNvSpPr>
          <p:nvPr/>
        </p:nvSpPr>
        <p:spPr>
          <a:xfrm xmlns:a="http://schemas.openxmlformats.org/drawingml/2006/main">
            <a:off x="4038600" y="1647825"/>
            <a:ext cx="74676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원문 11·21을 대조해 기준 시각 표시</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회신 12건을 기존 학생 ID에 연결</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최신 상태 3행과 답장 3건 작성</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신청 완료·기술 접수·검토 접수 대조</a:t>
            </a:r>
          </a:p>
        </p:txBody>
      </p:sp>
      <p:sp>
        <p:nvSpPr>
          <p:cNvPr id="5" name="남길 결과">
            <a:extLst xmlns:a="http://schemas.openxmlformats.org/drawingml/2006/main">
              <a:ext uri="{FF2B5EF4-FFF2-40B4-BE49-F238E27FC236}">
                <a16:creationId xmlns:a16="http://schemas.microsoft.com/office/drawing/2014/main" id="{76D27AFD-E138-467B-B49D-D7D1F477B3E3}"/>
              </a:ext>
            </a:extLst>
          </p:cNvPr>
          <p:cNvSpPr>
            <a:spLocks xmlns:a="http://schemas.openxmlformats.org/drawingml/2006/main" noGrp="1"/>
          </p:cNvSpPr>
          <p:nvPr/>
        </p:nvSpPr>
        <p:spPr>
          <a:xfrm xmlns:a="http://schemas.openxmlformats.org/drawingml/2006/main">
            <a:off x="4038600" y="5029200"/>
            <a:ext cx="7467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1">
                <a:solidFill>
                  <a:srgbClr val="6B43C7"/>
                </a:solidFill>
                <a:latin typeface="Malgun Gothic"/>
                <a:ea typeface="Malgun Gothic"/>
                <a:cs typeface="Malgun Gothic"/>
              </a:defRPr>
            </a:pPr>
            <a:r>
              <a:rPr sz="1725" b="1">
                <a:solidFill>
                  <a:srgbClr val="6B43C7"/>
                </a:solidFill>
                <a:latin typeface="Malgun Gothic"/>
                <a:ea typeface="Malgun Gothic"/>
                <a:cs typeface="Malgun Gothic"/>
              </a:rPr>
              <a:t>남길 결과</a:t>
            </a:r>
          </a:p>
        </p:txBody>
      </p:sp>
      <p:sp>
        <p:nvSpPr>
          <p:cNvPr id="6" name="변경 이력 12행 · 최신 상태 3행 · 답장 3건">
            <a:extLst xmlns:a="http://schemas.openxmlformats.org/drawingml/2006/main">
              <a:ext uri="{FF2B5EF4-FFF2-40B4-BE49-F238E27FC236}">
                <a16:creationId xmlns:a16="http://schemas.microsoft.com/office/drawing/2014/main" id="{B44CC21B-653F-4233-B0B2-3C292D993184}"/>
              </a:ext>
            </a:extLst>
          </p:cNvPr>
          <p:cNvSpPr>
            <a:spLocks xmlns:a="http://schemas.openxmlformats.org/drawingml/2006/main" noGrp="1"/>
          </p:cNvSpPr>
          <p:nvPr/>
        </p:nvSpPr>
        <p:spPr>
          <a:xfrm xmlns:a="http://schemas.openxmlformats.org/drawingml/2006/main">
            <a:off x="4038600" y="5429250"/>
            <a:ext cx="7467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100" b="1">
                <a:solidFill>
                  <a:srgbClr val="20212A"/>
                </a:solidFill>
                <a:latin typeface="Malgun Gothic"/>
                <a:ea typeface="Malgun Gothic"/>
                <a:cs typeface="Malgun Gothic"/>
              </a:defRPr>
            </a:pPr>
            <a:r>
              <a:rPr sz="2100" b="1">
                <a:solidFill>
                  <a:srgbClr val="20212A"/>
                </a:solidFill>
                <a:latin typeface="Malgun Gothic"/>
                <a:ea typeface="Malgun Gothic"/>
                <a:cs typeface="Malgun Gothic"/>
              </a:rPr>
              <a:t>변경 이력 12행 · 최신 상태 3행 · 답장 3건</a:t>
            </a:r>
          </a:p>
        </p:txBody>
      </p:sp>
      <p:sp>
        <p:nvSpPr>
          <p:cNvPr id="7" name="본수업 후 복습 또는 별도 심화 수업에서 선택 진행">
            <a:extLst xmlns:a="http://schemas.openxmlformats.org/drawingml/2006/main">
              <a:ext uri="{FF2B5EF4-FFF2-40B4-BE49-F238E27FC236}">
                <a16:creationId xmlns:a16="http://schemas.microsoft.com/office/drawing/2014/main" id="{EBADEC02-C348-47B3-AF3F-9B5EC263E220}"/>
              </a:ext>
            </a:extLst>
          </p:cNvPr>
          <p:cNvSpPr>
            <a:spLocks xmlns:a="http://schemas.openxmlformats.org/drawingml/2006/main" noGrp="1"/>
          </p:cNvSpPr>
          <p:nvPr/>
        </p:nvSpPr>
        <p:spPr>
          <a:xfrm xmlns:a="http://schemas.openxmlformats.org/drawingml/2006/main">
            <a:off x="685800" y="6038850"/>
            <a:ext cx="10820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본수업 후 복습 또는 별도 심화 수업에서 선택 진행</a:t>
            </a:r>
          </a:p>
        </p:txBody>
      </p:sp>
      <p:sp>
        <p:nvSpPr>
          <p:cNvPr id="8" name="선택 활동 15분">
            <a:extLst xmlns:a="http://schemas.openxmlformats.org/drawingml/2006/main">
              <a:ext uri="{FF2B5EF4-FFF2-40B4-BE49-F238E27FC236}">
                <a16:creationId xmlns:a16="http://schemas.microsoft.com/office/drawing/2014/main" id="{FA478C8D-8C19-475A-8B35-82A74924B55A}"/>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선택 활동 15분</a:t>
            </a:r>
          </a:p>
        </p:txBody>
      </p:sp>
      <p:sp>
        <p:nvSpPr>
          <p:cNvPr id="9" name="웹 실습 열기">
            <a:extLst xmlns:a="http://schemas.openxmlformats.org/drawingml/2006/main">
              <a:ext uri="{FF2B5EF4-FFF2-40B4-BE49-F238E27FC236}">
                <a16:creationId xmlns:a16="http://schemas.microsoft.com/office/drawing/2014/main" id="{34EBC683-DB8B-4739-ACF8-302349EFB930}"/>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9ba75c52ebf44c89"/>
              </a:rPr>
              <a:t>웹 실습 열기</a:t>
            </a:r>
          </a:p>
        </p:txBody>
      </p:sp>
      <p:sp>
        <p:nvSpPr>
          <p:cNvPr id="10" name="51">
            <a:extLst xmlns:a="http://schemas.openxmlformats.org/drawingml/2006/main">
              <a:ext uri="{FF2B5EF4-FFF2-40B4-BE49-F238E27FC236}">
                <a16:creationId xmlns:a16="http://schemas.microsoft.com/office/drawing/2014/main" id="{7DDBA630-0E40-4C44-B487-0B6D4AF3D1E2}"/>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51</a:t>
            </a:r>
          </a:p>
        </p:txBody>
      </p:sp>
    </p:spTree>
    <p:extLst>
      <p:ext uri="{BB962C8B-B14F-4D97-AF65-F5344CB8AC3E}">
        <p14:creationId xmlns:p14="http://schemas.microsoft.com/office/powerpoint/2010/main" val="1147830203"/>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선택 2. 준비 업무 9건의 상태 갱신">
            <a:extLst xmlns:a="http://schemas.openxmlformats.org/drawingml/2006/main">
              <a:ext uri="{FF2B5EF4-FFF2-40B4-BE49-F238E27FC236}">
                <a16:creationId xmlns:a16="http://schemas.microsoft.com/office/drawing/2014/main" id="{9BCBCDE5-8144-4D37-9A97-F91F3207B769}"/>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선택 2. 준비 업무 9건의 상태 갱신</a:t>
            </a:r>
          </a:p>
        </p:txBody>
      </p:sp>
      <p:sp>
        <p:nvSpPr>
          <p:cNvPr id="2" name="15분">
            <a:extLst xmlns:a="http://schemas.openxmlformats.org/drawingml/2006/main">
              <a:ext uri="{FF2B5EF4-FFF2-40B4-BE49-F238E27FC236}">
                <a16:creationId xmlns:a16="http://schemas.microsoft.com/office/drawing/2014/main" id="{21507CBF-3EF5-4B1F-8779-E441E3B59412}"/>
              </a:ext>
            </a:extLst>
          </p:cNvPr>
          <p:cNvSpPr>
            <a:spLocks xmlns:a="http://schemas.openxmlformats.org/drawingml/2006/main" noGrp="1"/>
          </p:cNvSpPr>
          <p:nvPr/>
        </p:nvSpPr>
        <p:spPr>
          <a:xfrm xmlns:a="http://schemas.openxmlformats.org/drawingml/2006/main">
            <a:off x="685800" y="1619250"/>
            <a:ext cx="2743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4125" b="1">
                <a:solidFill>
                  <a:srgbClr val="6B43C7"/>
                </a:solidFill>
                <a:latin typeface="Malgun Gothic"/>
                <a:ea typeface="Malgun Gothic"/>
                <a:cs typeface="Malgun Gothic"/>
              </a:defRPr>
            </a:pPr>
            <a:r>
              <a:rPr sz="4125" b="1">
                <a:solidFill>
                  <a:srgbClr val="6B43C7"/>
                </a:solidFill>
                <a:latin typeface="Malgun Gothic"/>
                <a:ea typeface="Malgun Gothic"/>
                <a:cs typeface="Malgun Gothic"/>
              </a:rPr>
              <a:t>15분</a:t>
            </a:r>
          </a:p>
        </p:txBody>
      </p:sp>
      <p:sp>
        <p:nvSpPr>
          <p:cNvPr id="3" name="아홉 업무의&#10;완료·보완 상태 갱신">
            <a:extLst xmlns:a="http://schemas.openxmlformats.org/drawingml/2006/main">
              <a:ext uri="{FF2B5EF4-FFF2-40B4-BE49-F238E27FC236}">
                <a16:creationId xmlns:a16="http://schemas.microsoft.com/office/drawing/2014/main" id="{A8B7D4CF-39D7-40F0-B7B2-268CD9F715FD}"/>
              </a:ext>
            </a:extLst>
          </p:cNvPr>
          <p:cNvSpPr>
            <a:spLocks xmlns:a="http://schemas.openxmlformats.org/drawingml/2006/main" noGrp="1"/>
          </p:cNvSpPr>
          <p:nvPr/>
        </p:nvSpPr>
        <p:spPr>
          <a:xfrm xmlns:a="http://schemas.openxmlformats.org/drawingml/2006/main">
            <a:off x="685800" y="2895600"/>
            <a:ext cx="276225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250" b="1">
                <a:solidFill>
                  <a:srgbClr val="20212A"/>
                </a:solidFill>
                <a:latin typeface="Malgun Gothic"/>
                <a:ea typeface="Malgun Gothic"/>
                <a:cs typeface="Malgun Gothic"/>
              </a:defRPr>
            </a:pPr>
            <a:r>
              <a:rPr sz="2250" b="1">
                <a:solidFill>
                  <a:srgbClr val="20212A"/>
                </a:solidFill>
                <a:latin typeface="Malgun Gothic"/>
                <a:ea typeface="Malgun Gothic"/>
                <a:cs typeface="Malgun Gothic"/>
              </a:rPr>
              <a:t>아홉 업무의</a:t>
            </a:r>
          </a:p>
          <a:p xmlns:a="http://schemas.openxmlformats.org/drawingml/2006/main">
            <a:pPr algn="l">
              <a:lnSpc>
                <a:spcPct val="116000"/>
              </a:lnSpc>
              <a:buNone/>
              <a:defRPr sz="2250" b="1">
                <a:solidFill>
                  <a:srgbClr val="20212A"/>
                </a:solidFill>
                <a:latin typeface="Malgun Gothic"/>
                <a:ea typeface="Malgun Gothic"/>
                <a:cs typeface="Malgun Gothic"/>
              </a:defRPr>
            </a:pPr>
            <a:r>
              <a:rPr sz="2250" b="1">
                <a:solidFill>
                  <a:srgbClr val="20212A"/>
                </a:solidFill>
                <a:latin typeface="Malgun Gothic"/>
                <a:ea typeface="Malgun Gothic"/>
                <a:cs typeface="Malgun Gothic"/>
              </a:rPr>
              <a:t>완료·보완 상태 갱신</a:t>
            </a:r>
          </a:p>
        </p:txBody>
      </p:sp>
      <p:sp>
        <p:nvSpPr>
          <p:cNvPr id="4" name="">
            <a:extLst xmlns:a="http://schemas.openxmlformats.org/drawingml/2006/main">
              <a:ext uri="{FF2B5EF4-FFF2-40B4-BE49-F238E27FC236}">
                <a16:creationId xmlns:a16="http://schemas.microsoft.com/office/drawing/2014/main" id="{3F7A8DA3-5074-49CF-A859-40420E74E0A7}"/>
              </a:ext>
            </a:extLst>
          </p:cNvPr>
          <p:cNvSpPr>
            <a:spLocks xmlns:a="http://schemas.openxmlformats.org/drawingml/2006/main" noGrp="1"/>
          </p:cNvSpPr>
          <p:nvPr/>
        </p:nvSpPr>
        <p:spPr>
          <a:xfrm xmlns:a="http://schemas.openxmlformats.org/drawingml/2006/main">
            <a:off x="4038600" y="1647825"/>
            <a:ext cx="74676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원문 12·22의 같은 업무끼리 연결</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최초 마감과 승인된 새 기한 보존</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완료·진행·보완을 근거로 분류</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남은 세 업무와 인계 메일 작성</a:t>
            </a:r>
          </a:p>
        </p:txBody>
      </p:sp>
      <p:sp>
        <p:nvSpPr>
          <p:cNvPr id="5" name="남길 결과">
            <a:extLst xmlns:a="http://schemas.openxmlformats.org/drawingml/2006/main">
              <a:ext uri="{FF2B5EF4-FFF2-40B4-BE49-F238E27FC236}">
                <a16:creationId xmlns:a16="http://schemas.microsoft.com/office/drawing/2014/main" id="{12FDDC76-D575-46A8-9C52-FBAEB63BD891}"/>
              </a:ext>
            </a:extLst>
          </p:cNvPr>
          <p:cNvSpPr>
            <a:spLocks xmlns:a="http://schemas.openxmlformats.org/drawingml/2006/main" noGrp="1"/>
          </p:cNvSpPr>
          <p:nvPr/>
        </p:nvSpPr>
        <p:spPr>
          <a:xfrm xmlns:a="http://schemas.openxmlformats.org/drawingml/2006/main">
            <a:off x="4038600" y="5029200"/>
            <a:ext cx="7467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1">
                <a:solidFill>
                  <a:srgbClr val="6B43C7"/>
                </a:solidFill>
                <a:latin typeface="Malgun Gothic"/>
                <a:ea typeface="Malgun Gothic"/>
                <a:cs typeface="Malgun Gothic"/>
              </a:defRPr>
            </a:pPr>
            <a:r>
              <a:rPr sz="1725" b="1">
                <a:solidFill>
                  <a:srgbClr val="6B43C7"/>
                </a:solidFill>
                <a:latin typeface="Malgun Gothic"/>
                <a:ea typeface="Malgun Gothic"/>
                <a:cs typeface="Malgun Gothic"/>
              </a:rPr>
              <a:t>남길 결과</a:t>
            </a:r>
          </a:p>
        </p:txBody>
      </p:sp>
      <p:sp>
        <p:nvSpPr>
          <p:cNvPr id="6" name="상태표 9행 · 우선 확인 3건 · 인계 메일">
            <a:extLst xmlns:a="http://schemas.openxmlformats.org/drawingml/2006/main">
              <a:ext uri="{FF2B5EF4-FFF2-40B4-BE49-F238E27FC236}">
                <a16:creationId xmlns:a16="http://schemas.microsoft.com/office/drawing/2014/main" id="{7E87E74A-6EE3-407D-A160-0AE09AE67585}"/>
              </a:ext>
            </a:extLst>
          </p:cNvPr>
          <p:cNvSpPr>
            <a:spLocks xmlns:a="http://schemas.openxmlformats.org/drawingml/2006/main" noGrp="1"/>
          </p:cNvSpPr>
          <p:nvPr/>
        </p:nvSpPr>
        <p:spPr>
          <a:xfrm xmlns:a="http://schemas.openxmlformats.org/drawingml/2006/main">
            <a:off x="4038600" y="5429250"/>
            <a:ext cx="7467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100" b="1">
                <a:solidFill>
                  <a:srgbClr val="20212A"/>
                </a:solidFill>
                <a:latin typeface="Malgun Gothic"/>
                <a:ea typeface="Malgun Gothic"/>
                <a:cs typeface="Malgun Gothic"/>
              </a:defRPr>
            </a:pPr>
            <a:r>
              <a:rPr sz="2100" b="1">
                <a:solidFill>
                  <a:srgbClr val="20212A"/>
                </a:solidFill>
                <a:latin typeface="Malgun Gothic"/>
                <a:ea typeface="Malgun Gothic"/>
                <a:cs typeface="Malgun Gothic"/>
              </a:rPr>
              <a:t>상태표 9행 · 우선 확인 3건 · 인계 메일</a:t>
            </a:r>
          </a:p>
        </p:txBody>
      </p:sp>
      <p:sp>
        <p:nvSpPr>
          <p:cNvPr id="7" name="본수업 후 복습 또는 별도 심화 수업에서 선택 진행">
            <a:extLst xmlns:a="http://schemas.openxmlformats.org/drawingml/2006/main">
              <a:ext uri="{FF2B5EF4-FFF2-40B4-BE49-F238E27FC236}">
                <a16:creationId xmlns:a16="http://schemas.microsoft.com/office/drawing/2014/main" id="{855B5EC3-7C6A-4847-A595-A33E27108A5F}"/>
              </a:ext>
            </a:extLst>
          </p:cNvPr>
          <p:cNvSpPr>
            <a:spLocks xmlns:a="http://schemas.openxmlformats.org/drawingml/2006/main" noGrp="1"/>
          </p:cNvSpPr>
          <p:nvPr/>
        </p:nvSpPr>
        <p:spPr>
          <a:xfrm xmlns:a="http://schemas.openxmlformats.org/drawingml/2006/main">
            <a:off x="685800" y="6038850"/>
            <a:ext cx="10820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본수업 후 복습 또는 별도 심화 수업에서 선택 진행</a:t>
            </a:r>
          </a:p>
        </p:txBody>
      </p:sp>
      <p:sp>
        <p:nvSpPr>
          <p:cNvPr id="8" name="선택 활동 15분">
            <a:extLst xmlns:a="http://schemas.openxmlformats.org/drawingml/2006/main">
              <a:ext uri="{FF2B5EF4-FFF2-40B4-BE49-F238E27FC236}">
                <a16:creationId xmlns:a16="http://schemas.microsoft.com/office/drawing/2014/main" id="{08BEB4CC-AE07-4BFD-B469-46A336402FC9}"/>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선택 활동 15분</a:t>
            </a:r>
          </a:p>
        </p:txBody>
      </p:sp>
      <p:sp>
        <p:nvSpPr>
          <p:cNvPr id="9" name="웹 실습 열기">
            <a:extLst xmlns:a="http://schemas.openxmlformats.org/drawingml/2006/main">
              <a:ext uri="{FF2B5EF4-FFF2-40B4-BE49-F238E27FC236}">
                <a16:creationId xmlns:a16="http://schemas.microsoft.com/office/drawing/2014/main" id="{C7399849-6E3A-4B75-B8CD-56863CF69B51}"/>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61dad74ef55e49eb"/>
              </a:rPr>
              <a:t>웹 실습 열기</a:t>
            </a:r>
          </a:p>
        </p:txBody>
      </p:sp>
      <p:sp>
        <p:nvSpPr>
          <p:cNvPr id="10" name="52">
            <a:extLst xmlns:a="http://schemas.openxmlformats.org/drawingml/2006/main">
              <a:ext uri="{FF2B5EF4-FFF2-40B4-BE49-F238E27FC236}">
                <a16:creationId xmlns:a16="http://schemas.microsoft.com/office/drawing/2014/main" id="{EE0690C0-FCAC-4DFD-B291-AEC8C59BE37D}"/>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52</a:t>
            </a:r>
          </a:p>
        </p:txBody>
      </p:sp>
    </p:spTree>
    <p:extLst>
      <p:ext uri="{BB962C8B-B14F-4D97-AF65-F5344CB8AC3E}">
        <p14:creationId xmlns:p14="http://schemas.microsoft.com/office/powerpoint/2010/main" val="1607154370"/>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선택 3. 수정 견적과 승인 변경 재검토">
            <a:extLst xmlns:a="http://schemas.openxmlformats.org/drawingml/2006/main">
              <a:ext uri="{FF2B5EF4-FFF2-40B4-BE49-F238E27FC236}">
                <a16:creationId xmlns:a16="http://schemas.microsoft.com/office/drawing/2014/main" id="{834CC962-435D-4922-9ACF-D9C21F9B3DC1}"/>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선택 3. 수정 견적과 승인 변경 재검토</a:t>
            </a:r>
          </a:p>
        </p:txBody>
      </p:sp>
      <p:sp>
        <p:nvSpPr>
          <p:cNvPr id="2" name="20분">
            <a:extLst xmlns:a="http://schemas.openxmlformats.org/drawingml/2006/main">
              <a:ext uri="{FF2B5EF4-FFF2-40B4-BE49-F238E27FC236}">
                <a16:creationId xmlns:a16="http://schemas.microsoft.com/office/drawing/2014/main" id="{7748BD26-5CB5-40FA-A326-FDAB37E3F327}"/>
              </a:ext>
            </a:extLst>
          </p:cNvPr>
          <p:cNvSpPr>
            <a:spLocks xmlns:a="http://schemas.openxmlformats.org/drawingml/2006/main" noGrp="1"/>
          </p:cNvSpPr>
          <p:nvPr/>
        </p:nvSpPr>
        <p:spPr>
          <a:xfrm xmlns:a="http://schemas.openxmlformats.org/drawingml/2006/main">
            <a:off x="685800" y="1619250"/>
            <a:ext cx="2743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4125" b="1">
                <a:solidFill>
                  <a:srgbClr val="6B43C7"/>
                </a:solidFill>
                <a:latin typeface="Malgun Gothic"/>
                <a:ea typeface="Malgun Gothic"/>
                <a:cs typeface="Malgun Gothic"/>
              </a:defRPr>
            </a:pPr>
            <a:r>
              <a:rPr sz="4125" b="1">
                <a:solidFill>
                  <a:srgbClr val="6B43C7"/>
                </a:solidFill>
                <a:latin typeface="Malgun Gothic"/>
                <a:ea typeface="Malgun Gothic"/>
                <a:cs typeface="Malgun Gothic"/>
              </a:rPr>
              <a:t>20분</a:t>
            </a:r>
          </a:p>
        </p:txBody>
      </p:sp>
      <p:sp>
        <p:nvSpPr>
          <p:cNvPr id="3" name="새 견적과 승인을&#10;구매표에 반영">
            <a:extLst xmlns:a="http://schemas.openxmlformats.org/drawingml/2006/main">
              <a:ext uri="{FF2B5EF4-FFF2-40B4-BE49-F238E27FC236}">
                <a16:creationId xmlns:a16="http://schemas.microsoft.com/office/drawing/2014/main" id="{7E3E5A7D-489D-43F7-A9D1-804E6F902701}"/>
              </a:ext>
            </a:extLst>
          </p:cNvPr>
          <p:cNvSpPr>
            <a:spLocks xmlns:a="http://schemas.openxmlformats.org/drawingml/2006/main" noGrp="1"/>
          </p:cNvSpPr>
          <p:nvPr/>
        </p:nvSpPr>
        <p:spPr>
          <a:xfrm xmlns:a="http://schemas.openxmlformats.org/drawingml/2006/main">
            <a:off x="685800" y="2895600"/>
            <a:ext cx="276225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250" b="1">
                <a:solidFill>
                  <a:srgbClr val="20212A"/>
                </a:solidFill>
                <a:latin typeface="Malgun Gothic"/>
                <a:ea typeface="Malgun Gothic"/>
                <a:cs typeface="Malgun Gothic"/>
              </a:defRPr>
            </a:pPr>
            <a:r>
              <a:rPr sz="2250" b="1">
                <a:solidFill>
                  <a:srgbClr val="20212A"/>
                </a:solidFill>
                <a:latin typeface="Malgun Gothic"/>
                <a:ea typeface="Malgun Gothic"/>
                <a:cs typeface="Malgun Gothic"/>
              </a:rPr>
              <a:t>새 견적과 승인을</a:t>
            </a:r>
          </a:p>
          <a:p xmlns:a="http://schemas.openxmlformats.org/drawingml/2006/main">
            <a:pPr algn="l">
              <a:lnSpc>
                <a:spcPct val="116000"/>
              </a:lnSpc>
              <a:buNone/>
              <a:defRPr sz="2250" b="1">
                <a:solidFill>
                  <a:srgbClr val="20212A"/>
                </a:solidFill>
                <a:latin typeface="Malgun Gothic"/>
                <a:ea typeface="Malgun Gothic"/>
                <a:cs typeface="Malgun Gothic"/>
              </a:defRPr>
            </a:pPr>
            <a:r>
              <a:rPr sz="2250" b="1">
                <a:solidFill>
                  <a:srgbClr val="20212A"/>
                </a:solidFill>
                <a:latin typeface="Malgun Gothic"/>
                <a:ea typeface="Malgun Gothic"/>
                <a:cs typeface="Malgun Gothic"/>
              </a:rPr>
              <a:t>구매표에 반영</a:t>
            </a:r>
          </a:p>
        </p:txBody>
      </p:sp>
      <p:sp>
        <p:nvSpPr>
          <p:cNvPr id="4" name="">
            <a:extLst xmlns:a="http://schemas.openxmlformats.org/drawingml/2006/main">
              <a:ext uri="{FF2B5EF4-FFF2-40B4-BE49-F238E27FC236}">
                <a16:creationId xmlns:a16="http://schemas.microsoft.com/office/drawing/2014/main" id="{36C3FA73-C434-47B6-8350-54ACD024FC30}"/>
              </a:ext>
            </a:extLst>
          </p:cNvPr>
          <p:cNvSpPr>
            <a:spLocks xmlns:a="http://schemas.openxmlformats.org/drawingml/2006/main" noGrp="1"/>
          </p:cNvSpPr>
          <p:nvPr/>
        </p:nvSpPr>
        <p:spPr>
          <a:xfrm xmlns:a="http://schemas.openxmlformats.org/drawingml/2006/main">
            <a:off x="4038600" y="1647825"/>
            <a:ext cx="74676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원문 13·23에서 승인 조건 표시</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중복·취소를 포함해 24행 유지</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수정 5행과 행사별 한도 계산</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계산기로 재검산 후 확인 메모 작성</a:t>
            </a:r>
          </a:p>
        </p:txBody>
      </p:sp>
      <p:sp>
        <p:nvSpPr>
          <p:cNvPr id="5" name="남길 결과">
            <a:extLst xmlns:a="http://schemas.openxmlformats.org/drawingml/2006/main">
              <a:ext uri="{FF2B5EF4-FFF2-40B4-BE49-F238E27FC236}">
                <a16:creationId xmlns:a16="http://schemas.microsoft.com/office/drawing/2014/main" id="{F5BDB646-ED90-4CB4-BE5F-DFD71967E163}"/>
              </a:ext>
            </a:extLst>
          </p:cNvPr>
          <p:cNvSpPr>
            <a:spLocks xmlns:a="http://schemas.openxmlformats.org/drawingml/2006/main" noGrp="1"/>
          </p:cNvSpPr>
          <p:nvPr/>
        </p:nvSpPr>
        <p:spPr>
          <a:xfrm xmlns:a="http://schemas.openxmlformats.org/drawingml/2006/main">
            <a:off x="4038600" y="5029200"/>
            <a:ext cx="7467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1">
                <a:solidFill>
                  <a:srgbClr val="6B43C7"/>
                </a:solidFill>
                <a:latin typeface="Malgun Gothic"/>
                <a:ea typeface="Malgun Gothic"/>
                <a:cs typeface="Malgun Gothic"/>
              </a:defRPr>
            </a:pPr>
            <a:r>
              <a:rPr sz="1725" b="1">
                <a:solidFill>
                  <a:srgbClr val="6B43C7"/>
                </a:solidFill>
                <a:latin typeface="Malgun Gothic"/>
                <a:ea typeface="Malgun Gothic"/>
                <a:cs typeface="Malgun Gothic"/>
              </a:rPr>
              <a:t>남길 결과</a:t>
            </a:r>
          </a:p>
        </p:txBody>
      </p:sp>
      <p:sp>
        <p:nvSpPr>
          <p:cNvPr id="6" name="구매표 24행 · 행사별 한도 · 변경표 5행">
            <a:extLst xmlns:a="http://schemas.openxmlformats.org/drawingml/2006/main">
              <a:ext uri="{FF2B5EF4-FFF2-40B4-BE49-F238E27FC236}">
                <a16:creationId xmlns:a16="http://schemas.microsoft.com/office/drawing/2014/main" id="{5809BE16-58A3-4C70-AD43-E38CC573FEFB}"/>
              </a:ext>
            </a:extLst>
          </p:cNvPr>
          <p:cNvSpPr>
            <a:spLocks xmlns:a="http://schemas.openxmlformats.org/drawingml/2006/main" noGrp="1"/>
          </p:cNvSpPr>
          <p:nvPr/>
        </p:nvSpPr>
        <p:spPr>
          <a:xfrm xmlns:a="http://schemas.openxmlformats.org/drawingml/2006/main">
            <a:off x="4038600" y="5429250"/>
            <a:ext cx="7467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100" b="1">
                <a:solidFill>
                  <a:srgbClr val="20212A"/>
                </a:solidFill>
                <a:latin typeface="Malgun Gothic"/>
                <a:ea typeface="Malgun Gothic"/>
                <a:cs typeface="Malgun Gothic"/>
              </a:defRPr>
            </a:pPr>
            <a:r>
              <a:rPr sz="2100" b="1">
                <a:solidFill>
                  <a:srgbClr val="20212A"/>
                </a:solidFill>
                <a:latin typeface="Malgun Gothic"/>
                <a:ea typeface="Malgun Gothic"/>
                <a:cs typeface="Malgun Gothic"/>
              </a:rPr>
              <a:t>구매표 24행 · 행사별 한도 · 변경표 5행</a:t>
            </a:r>
          </a:p>
        </p:txBody>
      </p:sp>
      <p:sp>
        <p:nvSpPr>
          <p:cNvPr id="7" name="본수업 후 복습 또는 별도 심화 수업에서 선택 진행">
            <a:extLst xmlns:a="http://schemas.openxmlformats.org/drawingml/2006/main">
              <a:ext uri="{FF2B5EF4-FFF2-40B4-BE49-F238E27FC236}">
                <a16:creationId xmlns:a16="http://schemas.microsoft.com/office/drawing/2014/main" id="{B709EF57-07D9-4CEA-B9FB-7AB3C2E02896}"/>
              </a:ext>
            </a:extLst>
          </p:cNvPr>
          <p:cNvSpPr>
            <a:spLocks xmlns:a="http://schemas.openxmlformats.org/drawingml/2006/main" noGrp="1"/>
          </p:cNvSpPr>
          <p:nvPr/>
        </p:nvSpPr>
        <p:spPr>
          <a:xfrm xmlns:a="http://schemas.openxmlformats.org/drawingml/2006/main">
            <a:off x="685800" y="6038850"/>
            <a:ext cx="10820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본수업 후 복습 또는 별도 심화 수업에서 선택 진행</a:t>
            </a:r>
          </a:p>
        </p:txBody>
      </p:sp>
      <p:sp>
        <p:nvSpPr>
          <p:cNvPr id="8" name="선택 활동 20분">
            <a:extLst xmlns:a="http://schemas.openxmlformats.org/drawingml/2006/main">
              <a:ext uri="{FF2B5EF4-FFF2-40B4-BE49-F238E27FC236}">
                <a16:creationId xmlns:a16="http://schemas.microsoft.com/office/drawing/2014/main" id="{FE983772-8DD8-48B0-A148-F148412A7D88}"/>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선택 활동 20분</a:t>
            </a:r>
          </a:p>
        </p:txBody>
      </p:sp>
      <p:sp>
        <p:nvSpPr>
          <p:cNvPr id="9" name="웹 실습 열기">
            <a:extLst xmlns:a="http://schemas.openxmlformats.org/drawingml/2006/main">
              <a:ext uri="{FF2B5EF4-FFF2-40B4-BE49-F238E27FC236}">
                <a16:creationId xmlns:a16="http://schemas.microsoft.com/office/drawing/2014/main" id="{BC335E57-E3F4-4B32-9A2C-B46116BFD291}"/>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896100314ab74652"/>
              </a:rPr>
              <a:t>웹 실습 열기</a:t>
            </a:r>
          </a:p>
        </p:txBody>
      </p:sp>
      <p:sp>
        <p:nvSpPr>
          <p:cNvPr id="10" name="53">
            <a:extLst xmlns:a="http://schemas.openxmlformats.org/drawingml/2006/main">
              <a:ext uri="{FF2B5EF4-FFF2-40B4-BE49-F238E27FC236}">
                <a16:creationId xmlns:a16="http://schemas.microsoft.com/office/drawing/2014/main" id="{2232C32D-A74A-4CFC-8BE4-A60C031436E7}"/>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53</a:t>
            </a:r>
          </a:p>
        </p:txBody>
      </p:sp>
    </p:spTree>
    <p:extLst>
      <p:ext uri="{BB962C8B-B14F-4D97-AF65-F5344CB8AC3E}">
        <p14:creationId xmlns:p14="http://schemas.microsoft.com/office/powerpoint/2010/main" val="813039447"/>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선택 4. 새 공지를 반영한 참가 안내 갱신">
            <a:extLst xmlns:a="http://schemas.openxmlformats.org/drawingml/2006/main">
              <a:ext uri="{FF2B5EF4-FFF2-40B4-BE49-F238E27FC236}">
                <a16:creationId xmlns:a16="http://schemas.microsoft.com/office/drawing/2014/main" id="{33E6E8B0-0AED-4174-97EA-4B1CAD1D2D4B}"/>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선택 4. 새 공지를 반영한 참가 안내 갱신</a:t>
            </a:r>
          </a:p>
        </p:txBody>
      </p:sp>
      <p:sp>
        <p:nvSpPr>
          <p:cNvPr id="2" name="15분">
            <a:extLst xmlns:a="http://schemas.openxmlformats.org/drawingml/2006/main">
              <a:ext uri="{FF2B5EF4-FFF2-40B4-BE49-F238E27FC236}">
                <a16:creationId xmlns:a16="http://schemas.microsoft.com/office/drawing/2014/main" id="{91794B2F-D065-47CC-B713-325643EC2230}"/>
              </a:ext>
            </a:extLst>
          </p:cNvPr>
          <p:cNvSpPr>
            <a:spLocks xmlns:a="http://schemas.openxmlformats.org/drawingml/2006/main" noGrp="1"/>
          </p:cNvSpPr>
          <p:nvPr/>
        </p:nvSpPr>
        <p:spPr>
          <a:xfrm xmlns:a="http://schemas.openxmlformats.org/drawingml/2006/main">
            <a:off x="685800" y="1619250"/>
            <a:ext cx="2743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4125" b="1">
                <a:solidFill>
                  <a:srgbClr val="6B43C7"/>
                </a:solidFill>
                <a:latin typeface="Malgun Gothic"/>
                <a:ea typeface="Malgun Gothic"/>
                <a:cs typeface="Malgun Gothic"/>
              </a:defRPr>
            </a:pPr>
            <a:r>
              <a:rPr sz="4125" b="1">
                <a:solidFill>
                  <a:srgbClr val="6B43C7"/>
                </a:solidFill>
                <a:latin typeface="Malgun Gothic"/>
                <a:ea typeface="Malgun Gothic"/>
                <a:cs typeface="Malgun Gothic"/>
              </a:rPr>
              <a:t>15분</a:t>
            </a:r>
          </a:p>
        </p:txBody>
      </p:sp>
      <p:sp>
        <p:nvSpPr>
          <p:cNvPr id="3" name="새 공지로&#10;참가 안내 갱신">
            <a:extLst xmlns:a="http://schemas.openxmlformats.org/drawingml/2006/main">
              <a:ext uri="{FF2B5EF4-FFF2-40B4-BE49-F238E27FC236}">
                <a16:creationId xmlns:a16="http://schemas.microsoft.com/office/drawing/2014/main" id="{CA770F6E-CCED-4782-8E95-C2FC7AE6CF2E}"/>
              </a:ext>
            </a:extLst>
          </p:cNvPr>
          <p:cNvSpPr>
            <a:spLocks xmlns:a="http://schemas.openxmlformats.org/drawingml/2006/main" noGrp="1"/>
          </p:cNvSpPr>
          <p:nvPr/>
        </p:nvSpPr>
        <p:spPr>
          <a:xfrm xmlns:a="http://schemas.openxmlformats.org/drawingml/2006/main">
            <a:off x="685800" y="2895600"/>
            <a:ext cx="276225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250" b="1">
                <a:solidFill>
                  <a:srgbClr val="20212A"/>
                </a:solidFill>
                <a:latin typeface="Malgun Gothic"/>
                <a:ea typeface="Malgun Gothic"/>
                <a:cs typeface="Malgun Gothic"/>
              </a:defRPr>
            </a:pPr>
            <a:r>
              <a:rPr sz="2250" b="1">
                <a:solidFill>
                  <a:srgbClr val="20212A"/>
                </a:solidFill>
                <a:latin typeface="Malgun Gothic"/>
                <a:ea typeface="Malgun Gothic"/>
                <a:cs typeface="Malgun Gothic"/>
              </a:rPr>
              <a:t>새 공지로</a:t>
            </a:r>
          </a:p>
          <a:p xmlns:a="http://schemas.openxmlformats.org/drawingml/2006/main">
            <a:pPr algn="l">
              <a:lnSpc>
                <a:spcPct val="116000"/>
              </a:lnSpc>
              <a:buNone/>
              <a:defRPr sz="2250" b="1">
                <a:solidFill>
                  <a:srgbClr val="20212A"/>
                </a:solidFill>
                <a:latin typeface="Malgun Gothic"/>
                <a:ea typeface="Malgun Gothic"/>
                <a:cs typeface="Malgun Gothic"/>
              </a:defRPr>
            </a:pPr>
            <a:r>
              <a:rPr sz="2250" b="1">
                <a:solidFill>
                  <a:srgbClr val="20212A"/>
                </a:solidFill>
                <a:latin typeface="Malgun Gothic"/>
                <a:ea typeface="Malgun Gothic"/>
                <a:cs typeface="Malgun Gothic"/>
              </a:rPr>
              <a:t>참가 안내 갱신</a:t>
            </a:r>
          </a:p>
        </p:txBody>
      </p:sp>
      <p:sp>
        <p:nvSpPr>
          <p:cNvPr id="4" name="">
            <a:extLst xmlns:a="http://schemas.openxmlformats.org/drawingml/2006/main">
              <a:ext uri="{FF2B5EF4-FFF2-40B4-BE49-F238E27FC236}">
                <a16:creationId xmlns:a16="http://schemas.microsoft.com/office/drawing/2014/main" id="{1509ACF8-9C3D-46B6-99C3-B8165E2F8419}"/>
              </a:ext>
            </a:extLst>
          </p:cNvPr>
          <p:cNvSpPr>
            <a:spLocks xmlns:a="http://schemas.openxmlformats.org/drawingml/2006/main" noGrp="1"/>
          </p:cNvSpPr>
          <p:nvPr/>
        </p:nvSpPr>
        <p:spPr>
          <a:xfrm xmlns:a="http://schemas.openxmlformats.org/drawingml/2006/main">
            <a:off x="4038600" y="1647825"/>
            <a:ext cx="74676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기존 14A~D와 새 24번 소스 추가</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주차·녹화·개인 배정의 변경 확인</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공지 500~700자와 남은 확인 작성</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새 결정 인용 2곳을 원문과 대조</a:t>
            </a:r>
          </a:p>
        </p:txBody>
      </p:sp>
      <p:sp>
        <p:nvSpPr>
          <p:cNvPr id="5" name="남길 결과">
            <a:extLst xmlns:a="http://schemas.openxmlformats.org/drawingml/2006/main">
              <a:ext uri="{FF2B5EF4-FFF2-40B4-BE49-F238E27FC236}">
                <a16:creationId xmlns:a16="http://schemas.microsoft.com/office/drawing/2014/main" id="{F54096E0-AC1B-476D-A07D-BE1FC171ABB8}"/>
              </a:ext>
            </a:extLst>
          </p:cNvPr>
          <p:cNvSpPr>
            <a:spLocks xmlns:a="http://schemas.openxmlformats.org/drawingml/2006/main" noGrp="1"/>
          </p:cNvSpPr>
          <p:nvPr/>
        </p:nvSpPr>
        <p:spPr>
          <a:xfrm xmlns:a="http://schemas.openxmlformats.org/drawingml/2006/main">
            <a:off x="4038600" y="5029200"/>
            <a:ext cx="7467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1">
                <a:solidFill>
                  <a:srgbClr val="6B43C7"/>
                </a:solidFill>
                <a:latin typeface="Malgun Gothic"/>
                <a:ea typeface="Malgun Gothic"/>
                <a:cs typeface="Malgun Gothic"/>
              </a:defRPr>
            </a:pPr>
            <a:r>
              <a:rPr sz="1725" b="1">
                <a:solidFill>
                  <a:srgbClr val="6B43C7"/>
                </a:solidFill>
                <a:latin typeface="Malgun Gothic"/>
                <a:ea typeface="Malgun Gothic"/>
                <a:cs typeface="Malgun Gothic"/>
              </a:rPr>
              <a:t>남길 결과</a:t>
            </a:r>
          </a:p>
        </p:txBody>
      </p:sp>
      <p:sp>
        <p:nvSpPr>
          <p:cNvPr id="6" name="변경표 5행 · 공지 · 인용 확인 2건">
            <a:extLst xmlns:a="http://schemas.openxmlformats.org/drawingml/2006/main">
              <a:ext uri="{FF2B5EF4-FFF2-40B4-BE49-F238E27FC236}">
                <a16:creationId xmlns:a16="http://schemas.microsoft.com/office/drawing/2014/main" id="{52D7EAF0-C0FB-49A4-ABB7-F1EC1AC07FFA}"/>
              </a:ext>
            </a:extLst>
          </p:cNvPr>
          <p:cNvSpPr>
            <a:spLocks xmlns:a="http://schemas.openxmlformats.org/drawingml/2006/main" noGrp="1"/>
          </p:cNvSpPr>
          <p:nvPr/>
        </p:nvSpPr>
        <p:spPr>
          <a:xfrm xmlns:a="http://schemas.openxmlformats.org/drawingml/2006/main">
            <a:off x="4038600" y="5429250"/>
            <a:ext cx="7467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100" b="1">
                <a:solidFill>
                  <a:srgbClr val="20212A"/>
                </a:solidFill>
                <a:latin typeface="Malgun Gothic"/>
                <a:ea typeface="Malgun Gothic"/>
                <a:cs typeface="Malgun Gothic"/>
              </a:defRPr>
            </a:pPr>
            <a:r>
              <a:rPr sz="2100" b="1">
                <a:solidFill>
                  <a:srgbClr val="20212A"/>
                </a:solidFill>
                <a:latin typeface="Malgun Gothic"/>
                <a:ea typeface="Malgun Gothic"/>
                <a:cs typeface="Malgun Gothic"/>
              </a:rPr>
              <a:t>변경표 5행 · 공지 · 인용 확인 2건</a:t>
            </a:r>
          </a:p>
        </p:txBody>
      </p:sp>
      <p:sp>
        <p:nvSpPr>
          <p:cNvPr id="7" name="본수업 후 복습 또는 별도 심화 수업에서 선택 진행">
            <a:extLst xmlns:a="http://schemas.openxmlformats.org/drawingml/2006/main">
              <a:ext uri="{FF2B5EF4-FFF2-40B4-BE49-F238E27FC236}">
                <a16:creationId xmlns:a16="http://schemas.microsoft.com/office/drawing/2014/main" id="{1A314841-4C3F-4692-9224-C2EC6CBB695A}"/>
              </a:ext>
            </a:extLst>
          </p:cNvPr>
          <p:cNvSpPr>
            <a:spLocks xmlns:a="http://schemas.openxmlformats.org/drawingml/2006/main" noGrp="1"/>
          </p:cNvSpPr>
          <p:nvPr/>
        </p:nvSpPr>
        <p:spPr>
          <a:xfrm xmlns:a="http://schemas.openxmlformats.org/drawingml/2006/main">
            <a:off x="685800" y="6038850"/>
            <a:ext cx="10820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본수업 후 복습 또는 별도 심화 수업에서 선택 진행</a:t>
            </a:r>
          </a:p>
        </p:txBody>
      </p:sp>
      <p:sp>
        <p:nvSpPr>
          <p:cNvPr id="8" name="선택 활동 15분">
            <a:extLst xmlns:a="http://schemas.openxmlformats.org/drawingml/2006/main">
              <a:ext uri="{FF2B5EF4-FFF2-40B4-BE49-F238E27FC236}">
                <a16:creationId xmlns:a16="http://schemas.microsoft.com/office/drawing/2014/main" id="{AAA6C783-7D21-4BA5-AFCC-D78FABC55FD8}"/>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선택 활동 15분</a:t>
            </a:r>
          </a:p>
        </p:txBody>
      </p:sp>
      <p:sp>
        <p:nvSpPr>
          <p:cNvPr id="9" name="웹 실습 열기">
            <a:extLst xmlns:a="http://schemas.openxmlformats.org/drawingml/2006/main">
              <a:ext uri="{FF2B5EF4-FFF2-40B4-BE49-F238E27FC236}">
                <a16:creationId xmlns:a16="http://schemas.microsoft.com/office/drawing/2014/main" id="{1F3E7C72-2775-46D4-8DC2-0743F4A6DE3D}"/>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695bd7bd445b4bf9"/>
              </a:rPr>
              <a:t>웹 실습 열기</a:t>
            </a:r>
          </a:p>
        </p:txBody>
      </p:sp>
      <p:sp>
        <p:nvSpPr>
          <p:cNvPr id="10" name="54">
            <a:extLst xmlns:a="http://schemas.openxmlformats.org/drawingml/2006/main">
              <a:ext uri="{FF2B5EF4-FFF2-40B4-BE49-F238E27FC236}">
                <a16:creationId xmlns:a16="http://schemas.microsoft.com/office/drawing/2014/main" id="{5041A176-605A-40AA-8B9A-A7F963FD01F7}"/>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54</a:t>
            </a:r>
          </a:p>
        </p:txBody>
      </p:sp>
    </p:spTree>
    <p:extLst>
      <p:ext uri="{BB962C8B-B14F-4D97-AF65-F5344CB8AC3E}">
        <p14:creationId xmlns:p14="http://schemas.microsoft.com/office/powerpoint/2010/main" val="2092878373"/>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선택 5. 부서별 안내와 답변 3종">
            <a:extLst xmlns:a="http://schemas.openxmlformats.org/drawingml/2006/main">
              <a:ext uri="{FF2B5EF4-FFF2-40B4-BE49-F238E27FC236}">
                <a16:creationId xmlns:a16="http://schemas.microsoft.com/office/drawing/2014/main" id="{1CA2E31C-C353-427E-97B9-DE113F970999}"/>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선택 5. 부서별 안내와 답변 3종</a:t>
            </a:r>
          </a:p>
        </p:txBody>
      </p:sp>
      <p:sp>
        <p:nvSpPr>
          <p:cNvPr id="2" name="15분">
            <a:extLst xmlns:a="http://schemas.openxmlformats.org/drawingml/2006/main">
              <a:ext uri="{FF2B5EF4-FFF2-40B4-BE49-F238E27FC236}">
                <a16:creationId xmlns:a16="http://schemas.microsoft.com/office/drawing/2014/main" id="{53FB5C87-C589-4B0F-B520-B93949F1453A}"/>
              </a:ext>
            </a:extLst>
          </p:cNvPr>
          <p:cNvSpPr>
            <a:spLocks xmlns:a="http://schemas.openxmlformats.org/drawingml/2006/main" noGrp="1"/>
          </p:cNvSpPr>
          <p:nvPr/>
        </p:nvSpPr>
        <p:spPr>
          <a:xfrm xmlns:a="http://schemas.openxmlformats.org/drawingml/2006/main">
            <a:off x="685800" y="1619250"/>
            <a:ext cx="2743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4125" b="1">
                <a:solidFill>
                  <a:srgbClr val="6B43C7"/>
                </a:solidFill>
                <a:latin typeface="Malgun Gothic"/>
                <a:ea typeface="Malgun Gothic"/>
                <a:cs typeface="Malgun Gothic"/>
              </a:defRPr>
            </a:pPr>
            <a:r>
              <a:rPr sz="4125" b="1">
                <a:solidFill>
                  <a:srgbClr val="6B43C7"/>
                </a:solidFill>
                <a:latin typeface="Malgun Gothic"/>
                <a:ea typeface="Malgun Gothic"/>
                <a:cs typeface="Malgun Gothic"/>
              </a:rPr>
              <a:t>15분</a:t>
            </a:r>
          </a:p>
        </p:txBody>
      </p:sp>
      <p:sp>
        <p:nvSpPr>
          <p:cNvPr id="3" name="수신 부서에 맞춘&#10;회신 세 개 작성">
            <a:extLst xmlns:a="http://schemas.openxmlformats.org/drawingml/2006/main">
              <a:ext uri="{FF2B5EF4-FFF2-40B4-BE49-F238E27FC236}">
                <a16:creationId xmlns:a16="http://schemas.microsoft.com/office/drawing/2014/main" id="{E41D4ACD-5207-403A-8E8B-56077D1AA3C6}"/>
              </a:ext>
            </a:extLst>
          </p:cNvPr>
          <p:cNvSpPr>
            <a:spLocks xmlns:a="http://schemas.openxmlformats.org/drawingml/2006/main" noGrp="1"/>
          </p:cNvSpPr>
          <p:nvPr/>
        </p:nvSpPr>
        <p:spPr>
          <a:xfrm xmlns:a="http://schemas.openxmlformats.org/drawingml/2006/main">
            <a:off x="685800" y="2895600"/>
            <a:ext cx="276225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250" b="1">
                <a:solidFill>
                  <a:srgbClr val="20212A"/>
                </a:solidFill>
                <a:latin typeface="Malgun Gothic"/>
                <a:ea typeface="Malgun Gothic"/>
                <a:cs typeface="Malgun Gothic"/>
              </a:defRPr>
            </a:pPr>
            <a:r>
              <a:rPr sz="2250" b="1">
                <a:solidFill>
                  <a:srgbClr val="20212A"/>
                </a:solidFill>
                <a:latin typeface="Malgun Gothic"/>
                <a:ea typeface="Malgun Gothic"/>
                <a:cs typeface="Malgun Gothic"/>
              </a:rPr>
              <a:t>수신 부서에 맞춘</a:t>
            </a:r>
          </a:p>
          <a:p xmlns:a="http://schemas.openxmlformats.org/drawingml/2006/main">
            <a:pPr algn="l">
              <a:lnSpc>
                <a:spcPct val="116000"/>
              </a:lnSpc>
              <a:buNone/>
              <a:defRPr sz="2250" b="1">
                <a:solidFill>
                  <a:srgbClr val="20212A"/>
                </a:solidFill>
                <a:latin typeface="Malgun Gothic"/>
                <a:ea typeface="Malgun Gothic"/>
                <a:cs typeface="Malgun Gothic"/>
              </a:defRPr>
            </a:pPr>
            <a:r>
              <a:rPr sz="2250" b="1">
                <a:solidFill>
                  <a:srgbClr val="20212A"/>
                </a:solidFill>
                <a:latin typeface="Malgun Gothic"/>
                <a:ea typeface="Malgun Gothic"/>
                <a:cs typeface="Malgun Gothic"/>
              </a:rPr>
              <a:t>회신 세 개 작성</a:t>
            </a:r>
          </a:p>
        </p:txBody>
      </p:sp>
      <p:sp>
        <p:nvSpPr>
          <p:cNvPr id="4" name="">
            <a:extLst xmlns:a="http://schemas.openxmlformats.org/drawingml/2006/main">
              <a:ext uri="{FF2B5EF4-FFF2-40B4-BE49-F238E27FC236}">
                <a16:creationId xmlns:a16="http://schemas.microsoft.com/office/drawing/2014/main" id="{230FD4E5-A616-4667-98B5-1DB4DA132FEB}"/>
              </a:ext>
            </a:extLst>
          </p:cNvPr>
          <p:cNvSpPr>
            <a:spLocks xmlns:a="http://schemas.openxmlformats.org/drawingml/2006/main" noGrp="1"/>
          </p:cNvSpPr>
          <p:nvPr/>
        </p:nvSpPr>
        <p:spPr>
          <a:xfrm xmlns:a="http://schemas.openxmlformats.org/drawingml/2006/main">
            <a:off x="4038600" y="1647825"/>
            <a:ext cx="74676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기존 14A~D와 새 24·25번 추가</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부서별 필요한 행동을 한 줄로 정리</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세 회신과 내부 근거 검토표 분리</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주차 계산과 수신 범위를 짝과 대조</a:t>
            </a:r>
          </a:p>
        </p:txBody>
      </p:sp>
      <p:sp>
        <p:nvSpPr>
          <p:cNvPr id="5" name="남길 결과">
            <a:extLst xmlns:a="http://schemas.openxmlformats.org/drawingml/2006/main">
              <a:ext uri="{FF2B5EF4-FFF2-40B4-BE49-F238E27FC236}">
                <a16:creationId xmlns:a16="http://schemas.microsoft.com/office/drawing/2014/main" id="{FC777915-3DE0-4C9F-BCAD-F92814D915B5}"/>
              </a:ext>
            </a:extLst>
          </p:cNvPr>
          <p:cNvSpPr>
            <a:spLocks xmlns:a="http://schemas.openxmlformats.org/drawingml/2006/main" noGrp="1"/>
          </p:cNvSpPr>
          <p:nvPr/>
        </p:nvSpPr>
        <p:spPr>
          <a:xfrm xmlns:a="http://schemas.openxmlformats.org/drawingml/2006/main">
            <a:off x="4038600" y="5029200"/>
            <a:ext cx="7467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1">
                <a:solidFill>
                  <a:srgbClr val="6B43C7"/>
                </a:solidFill>
                <a:latin typeface="Malgun Gothic"/>
                <a:ea typeface="Malgun Gothic"/>
                <a:cs typeface="Malgun Gothic"/>
              </a:defRPr>
            </a:pPr>
            <a:r>
              <a:rPr sz="1725" b="1">
                <a:solidFill>
                  <a:srgbClr val="6B43C7"/>
                </a:solidFill>
                <a:latin typeface="Malgun Gothic"/>
                <a:ea typeface="Malgun Gothic"/>
                <a:cs typeface="Malgun Gothic"/>
              </a:rPr>
              <a:t>남길 결과</a:t>
            </a:r>
          </a:p>
        </p:txBody>
      </p:sp>
      <p:sp>
        <p:nvSpPr>
          <p:cNvPr id="6" name="부서별 회신 3건 · 근거 6행 · 공통 사실표">
            <a:extLst xmlns:a="http://schemas.openxmlformats.org/drawingml/2006/main">
              <a:ext uri="{FF2B5EF4-FFF2-40B4-BE49-F238E27FC236}">
                <a16:creationId xmlns:a16="http://schemas.microsoft.com/office/drawing/2014/main" id="{399251C0-0ADC-46D0-9A9D-56BE681DB9ED}"/>
              </a:ext>
            </a:extLst>
          </p:cNvPr>
          <p:cNvSpPr>
            <a:spLocks xmlns:a="http://schemas.openxmlformats.org/drawingml/2006/main" noGrp="1"/>
          </p:cNvSpPr>
          <p:nvPr/>
        </p:nvSpPr>
        <p:spPr>
          <a:xfrm xmlns:a="http://schemas.openxmlformats.org/drawingml/2006/main">
            <a:off x="4038600" y="5429250"/>
            <a:ext cx="7467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100" b="1">
                <a:solidFill>
                  <a:srgbClr val="20212A"/>
                </a:solidFill>
                <a:latin typeface="Malgun Gothic"/>
                <a:ea typeface="Malgun Gothic"/>
                <a:cs typeface="Malgun Gothic"/>
              </a:defRPr>
            </a:pPr>
            <a:r>
              <a:rPr sz="2100" b="1">
                <a:solidFill>
                  <a:srgbClr val="20212A"/>
                </a:solidFill>
                <a:latin typeface="Malgun Gothic"/>
                <a:ea typeface="Malgun Gothic"/>
                <a:cs typeface="Malgun Gothic"/>
              </a:rPr>
              <a:t>부서별 회신 3건 · 근거 6행 · 공통 사실표</a:t>
            </a:r>
          </a:p>
        </p:txBody>
      </p:sp>
      <p:sp>
        <p:nvSpPr>
          <p:cNvPr id="7" name="본수업 후 복습 또는 별도 심화 수업에서 선택 진행">
            <a:extLst xmlns:a="http://schemas.openxmlformats.org/drawingml/2006/main">
              <a:ext uri="{FF2B5EF4-FFF2-40B4-BE49-F238E27FC236}">
                <a16:creationId xmlns:a16="http://schemas.microsoft.com/office/drawing/2014/main" id="{CD83249D-AC3C-4562-85E7-0AA52501039C}"/>
              </a:ext>
            </a:extLst>
          </p:cNvPr>
          <p:cNvSpPr>
            <a:spLocks xmlns:a="http://schemas.openxmlformats.org/drawingml/2006/main" noGrp="1"/>
          </p:cNvSpPr>
          <p:nvPr/>
        </p:nvSpPr>
        <p:spPr>
          <a:xfrm xmlns:a="http://schemas.openxmlformats.org/drawingml/2006/main">
            <a:off x="685800" y="6038850"/>
            <a:ext cx="10820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본수업 후 복습 또는 별도 심화 수업에서 선택 진행</a:t>
            </a:r>
          </a:p>
        </p:txBody>
      </p:sp>
      <p:sp>
        <p:nvSpPr>
          <p:cNvPr id="8" name="선택 활동 15분">
            <a:extLst xmlns:a="http://schemas.openxmlformats.org/drawingml/2006/main">
              <a:ext uri="{FF2B5EF4-FFF2-40B4-BE49-F238E27FC236}">
                <a16:creationId xmlns:a16="http://schemas.microsoft.com/office/drawing/2014/main" id="{E36F5EB9-5F2F-419C-9FA3-8BF9C6027375}"/>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선택 활동 15분</a:t>
            </a:r>
          </a:p>
        </p:txBody>
      </p:sp>
      <p:sp>
        <p:nvSpPr>
          <p:cNvPr id="9" name="웹 실습 열기">
            <a:extLst xmlns:a="http://schemas.openxmlformats.org/drawingml/2006/main">
              <a:ext uri="{FF2B5EF4-FFF2-40B4-BE49-F238E27FC236}">
                <a16:creationId xmlns:a16="http://schemas.microsoft.com/office/drawing/2014/main" id="{787735D6-F0B5-4F6C-A20F-0A0F8D79AA91}"/>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c2205845b3f74a68"/>
              </a:rPr>
              <a:t>웹 실습 열기</a:t>
            </a:r>
          </a:p>
        </p:txBody>
      </p:sp>
      <p:sp>
        <p:nvSpPr>
          <p:cNvPr id="10" name="55">
            <a:extLst xmlns:a="http://schemas.openxmlformats.org/drawingml/2006/main">
              <a:ext uri="{FF2B5EF4-FFF2-40B4-BE49-F238E27FC236}">
                <a16:creationId xmlns:a16="http://schemas.microsoft.com/office/drawing/2014/main" id="{C874C82E-F7FC-4BC4-A98C-4C2C40DD97A1}"/>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55</a:t>
            </a:r>
          </a:p>
        </p:txBody>
      </p:sp>
    </p:spTree>
    <p:extLst>
      <p:ext uri="{BB962C8B-B14F-4D97-AF65-F5344CB8AC3E}">
        <p14:creationId xmlns:p14="http://schemas.microsoft.com/office/powerpoint/2010/main" val="1310541573"/>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선택 6. 보완 대장과 설문 10건 재집계">
            <a:extLst xmlns:a="http://schemas.openxmlformats.org/drawingml/2006/main">
              <a:ext uri="{FF2B5EF4-FFF2-40B4-BE49-F238E27FC236}">
                <a16:creationId xmlns:a16="http://schemas.microsoft.com/office/drawing/2014/main" id="{22A30ADF-20B5-43DB-BC8E-31C0F11CED58}"/>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선택 6. 보완 대장과 설문 10건 재집계</a:t>
            </a:r>
          </a:p>
        </p:txBody>
      </p:sp>
      <p:sp>
        <p:nvSpPr>
          <p:cNvPr id="2" name="20분">
            <a:extLst xmlns:a="http://schemas.openxmlformats.org/drawingml/2006/main">
              <a:ext uri="{FF2B5EF4-FFF2-40B4-BE49-F238E27FC236}">
                <a16:creationId xmlns:a16="http://schemas.microsoft.com/office/drawing/2014/main" id="{C3A9808A-F5F8-467C-A387-8A75DE92F7A7}"/>
              </a:ext>
            </a:extLst>
          </p:cNvPr>
          <p:cNvSpPr>
            <a:spLocks xmlns:a="http://schemas.openxmlformats.org/drawingml/2006/main" noGrp="1"/>
          </p:cNvSpPr>
          <p:nvPr/>
        </p:nvSpPr>
        <p:spPr>
          <a:xfrm xmlns:a="http://schemas.openxmlformats.org/drawingml/2006/main">
            <a:off x="685800" y="1619250"/>
            <a:ext cx="2743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4125" b="1">
                <a:solidFill>
                  <a:srgbClr val="6B43C7"/>
                </a:solidFill>
                <a:latin typeface="Malgun Gothic"/>
                <a:ea typeface="Malgun Gothic"/>
                <a:cs typeface="Malgun Gothic"/>
              </a:defRPr>
            </a:pPr>
            <a:r>
              <a:rPr sz="4125" b="1">
                <a:solidFill>
                  <a:srgbClr val="6B43C7"/>
                </a:solidFill>
                <a:latin typeface="Malgun Gothic"/>
                <a:ea typeface="Malgun Gothic"/>
                <a:cs typeface="Malgun Gothic"/>
              </a:rPr>
              <a:t>20분</a:t>
            </a:r>
          </a:p>
        </p:txBody>
      </p:sp>
      <p:sp>
        <p:nvSpPr>
          <p:cNvPr id="3" name="대장과 원점수를&#10;보완 근거로 재집계">
            <a:extLst xmlns:a="http://schemas.openxmlformats.org/drawingml/2006/main">
              <a:ext uri="{FF2B5EF4-FFF2-40B4-BE49-F238E27FC236}">
                <a16:creationId xmlns:a16="http://schemas.microsoft.com/office/drawing/2014/main" id="{2FFFA081-CF9F-4EF4-B58F-E5C0FB405202}"/>
              </a:ext>
            </a:extLst>
          </p:cNvPr>
          <p:cNvSpPr>
            <a:spLocks xmlns:a="http://schemas.openxmlformats.org/drawingml/2006/main" noGrp="1"/>
          </p:cNvSpPr>
          <p:nvPr/>
        </p:nvSpPr>
        <p:spPr>
          <a:xfrm xmlns:a="http://schemas.openxmlformats.org/drawingml/2006/main">
            <a:off x="685800" y="2895600"/>
            <a:ext cx="276225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250" b="1">
                <a:solidFill>
                  <a:srgbClr val="20212A"/>
                </a:solidFill>
                <a:latin typeface="Malgun Gothic"/>
                <a:ea typeface="Malgun Gothic"/>
                <a:cs typeface="Malgun Gothic"/>
              </a:defRPr>
            </a:pPr>
            <a:r>
              <a:rPr sz="2250" b="1">
                <a:solidFill>
                  <a:srgbClr val="20212A"/>
                </a:solidFill>
                <a:latin typeface="Malgun Gothic"/>
                <a:ea typeface="Malgun Gothic"/>
                <a:cs typeface="Malgun Gothic"/>
              </a:rPr>
              <a:t>대장과 원점수를</a:t>
            </a:r>
          </a:p>
          <a:p xmlns:a="http://schemas.openxmlformats.org/drawingml/2006/main">
            <a:pPr algn="l">
              <a:lnSpc>
                <a:spcPct val="116000"/>
              </a:lnSpc>
              <a:buNone/>
              <a:defRPr sz="2250" b="1">
                <a:solidFill>
                  <a:srgbClr val="20212A"/>
                </a:solidFill>
                <a:latin typeface="Malgun Gothic"/>
                <a:ea typeface="Malgun Gothic"/>
                <a:cs typeface="Malgun Gothic"/>
              </a:defRPr>
            </a:pPr>
            <a:r>
              <a:rPr sz="2250" b="1">
                <a:solidFill>
                  <a:srgbClr val="20212A"/>
                </a:solidFill>
                <a:latin typeface="Malgun Gothic"/>
                <a:ea typeface="Malgun Gothic"/>
                <a:cs typeface="Malgun Gothic"/>
              </a:rPr>
              <a:t>보완 근거로 재집계</a:t>
            </a:r>
          </a:p>
        </p:txBody>
      </p:sp>
      <p:sp>
        <p:nvSpPr>
          <p:cNvPr id="4" name="">
            <a:extLst xmlns:a="http://schemas.openxmlformats.org/drawingml/2006/main">
              <a:ext uri="{FF2B5EF4-FFF2-40B4-BE49-F238E27FC236}">
                <a16:creationId xmlns:a16="http://schemas.microsoft.com/office/drawing/2014/main" id="{679F5B18-8E26-4682-8D21-DFB7CC3DDA0B}"/>
              </a:ext>
            </a:extLst>
          </p:cNvPr>
          <p:cNvSpPr>
            <a:spLocks xmlns:a="http://schemas.openxmlformats.org/drawingml/2006/main" noGrp="1"/>
          </p:cNvSpPr>
          <p:nvPr/>
        </p:nvSpPr>
        <p:spPr>
          <a:xfrm xmlns:a="http://schemas.openxmlformats.org/drawingml/2006/main">
            <a:off x="4038600" y="1647825"/>
            <a:ext cx="74676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원문 15·26의 승인 기준일 확인</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출석·제출 승인과 접수만 된 건 구분</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설문 교체 7건과 추가 3건 재집계</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최종 점수·분모·정정 문장 직접 대조</a:t>
            </a:r>
          </a:p>
        </p:txBody>
      </p:sp>
      <p:sp>
        <p:nvSpPr>
          <p:cNvPr id="5" name="남길 결과">
            <a:extLst xmlns:a="http://schemas.openxmlformats.org/drawingml/2006/main">
              <a:ext uri="{FF2B5EF4-FFF2-40B4-BE49-F238E27FC236}">
                <a16:creationId xmlns:a16="http://schemas.microsoft.com/office/drawing/2014/main" id="{559E2F47-E11E-4D15-B95F-589E4DC1F23F}"/>
              </a:ext>
            </a:extLst>
          </p:cNvPr>
          <p:cNvSpPr>
            <a:spLocks xmlns:a="http://schemas.openxmlformats.org/drawingml/2006/main" noGrp="1"/>
          </p:cNvSpPr>
          <p:nvPr/>
        </p:nvSpPr>
        <p:spPr>
          <a:xfrm xmlns:a="http://schemas.openxmlformats.org/drawingml/2006/main">
            <a:off x="4038600" y="5029200"/>
            <a:ext cx="7467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1">
                <a:solidFill>
                  <a:srgbClr val="6B43C7"/>
                </a:solidFill>
                <a:latin typeface="Malgun Gothic"/>
                <a:ea typeface="Malgun Gothic"/>
                <a:cs typeface="Malgun Gothic"/>
              </a:defRPr>
            </a:pPr>
            <a:r>
              <a:rPr sz="1725" b="1">
                <a:solidFill>
                  <a:srgbClr val="6B43C7"/>
                </a:solidFill>
                <a:latin typeface="Malgun Gothic"/>
                <a:ea typeface="Malgun Gothic"/>
                <a:cs typeface="Malgun Gothic"/>
              </a:rPr>
              <a:t>남길 결과</a:t>
            </a:r>
          </a:p>
        </p:txBody>
      </p:sp>
      <p:sp>
        <p:nvSpPr>
          <p:cNvPr id="6" name="점수 28행 · 지표 13행 · 정정 보고">
            <a:extLst xmlns:a="http://schemas.openxmlformats.org/drawingml/2006/main">
              <a:ext uri="{FF2B5EF4-FFF2-40B4-BE49-F238E27FC236}">
                <a16:creationId xmlns:a16="http://schemas.microsoft.com/office/drawing/2014/main" id="{5A8FF727-9E48-4313-8C31-F47041634D2C}"/>
              </a:ext>
            </a:extLst>
          </p:cNvPr>
          <p:cNvSpPr>
            <a:spLocks xmlns:a="http://schemas.openxmlformats.org/drawingml/2006/main" noGrp="1"/>
          </p:cNvSpPr>
          <p:nvPr/>
        </p:nvSpPr>
        <p:spPr>
          <a:xfrm xmlns:a="http://schemas.openxmlformats.org/drawingml/2006/main">
            <a:off x="4038600" y="5429250"/>
            <a:ext cx="7467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100" b="1">
                <a:solidFill>
                  <a:srgbClr val="20212A"/>
                </a:solidFill>
                <a:latin typeface="Malgun Gothic"/>
                <a:ea typeface="Malgun Gothic"/>
                <a:cs typeface="Malgun Gothic"/>
              </a:defRPr>
            </a:pPr>
            <a:r>
              <a:rPr sz="2100" b="1">
                <a:solidFill>
                  <a:srgbClr val="20212A"/>
                </a:solidFill>
                <a:latin typeface="Malgun Gothic"/>
                <a:ea typeface="Malgun Gothic"/>
                <a:cs typeface="Malgun Gothic"/>
              </a:rPr>
              <a:t>점수 28행 · 지표 13행 · 정정 보고</a:t>
            </a:r>
          </a:p>
        </p:txBody>
      </p:sp>
      <p:sp>
        <p:nvSpPr>
          <p:cNvPr id="7" name="본수업 후 복습 또는 별도 심화 수업에서 선택 진행">
            <a:extLst xmlns:a="http://schemas.openxmlformats.org/drawingml/2006/main">
              <a:ext uri="{FF2B5EF4-FFF2-40B4-BE49-F238E27FC236}">
                <a16:creationId xmlns:a16="http://schemas.microsoft.com/office/drawing/2014/main" id="{CC1A843E-A433-45AF-9BFE-85241268671E}"/>
              </a:ext>
            </a:extLst>
          </p:cNvPr>
          <p:cNvSpPr>
            <a:spLocks xmlns:a="http://schemas.openxmlformats.org/drawingml/2006/main" noGrp="1"/>
          </p:cNvSpPr>
          <p:nvPr/>
        </p:nvSpPr>
        <p:spPr>
          <a:xfrm xmlns:a="http://schemas.openxmlformats.org/drawingml/2006/main">
            <a:off x="685800" y="6038850"/>
            <a:ext cx="10820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본수업 후 복습 또는 별도 심화 수업에서 선택 진행</a:t>
            </a:r>
          </a:p>
        </p:txBody>
      </p:sp>
      <p:sp>
        <p:nvSpPr>
          <p:cNvPr id="8" name="선택 활동 20분">
            <a:extLst xmlns:a="http://schemas.openxmlformats.org/drawingml/2006/main">
              <a:ext uri="{FF2B5EF4-FFF2-40B4-BE49-F238E27FC236}">
                <a16:creationId xmlns:a16="http://schemas.microsoft.com/office/drawing/2014/main" id="{41421260-6AD6-4494-9FE7-3876EE271B9F}"/>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선택 활동 20분</a:t>
            </a:r>
          </a:p>
        </p:txBody>
      </p:sp>
      <p:sp>
        <p:nvSpPr>
          <p:cNvPr id="9" name="웹 실습 열기">
            <a:extLst xmlns:a="http://schemas.openxmlformats.org/drawingml/2006/main">
              <a:ext uri="{FF2B5EF4-FFF2-40B4-BE49-F238E27FC236}">
                <a16:creationId xmlns:a16="http://schemas.microsoft.com/office/drawing/2014/main" id="{3CCBAB2F-9207-4FC1-AF60-7DEA5F96E9E4}"/>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10578bee96ad42ea"/>
              </a:rPr>
              <a:t>웹 실습 열기</a:t>
            </a:r>
          </a:p>
        </p:txBody>
      </p:sp>
      <p:sp>
        <p:nvSpPr>
          <p:cNvPr id="10" name="56">
            <a:extLst xmlns:a="http://schemas.openxmlformats.org/drawingml/2006/main">
              <a:ext uri="{FF2B5EF4-FFF2-40B4-BE49-F238E27FC236}">
                <a16:creationId xmlns:a16="http://schemas.microsoft.com/office/drawing/2014/main" id="{0A895BFA-25DF-40A0-8873-405BD04EC047}"/>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56</a:t>
            </a:r>
          </a:p>
        </p:txBody>
      </p:sp>
    </p:spTree>
    <p:extLst>
      <p:ext uri="{BB962C8B-B14F-4D97-AF65-F5344CB8AC3E}">
        <p14:creationId xmlns:p14="http://schemas.microsoft.com/office/powerpoint/2010/main" val="2039482517"/>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선택 7. 부서장 보완 요청 3문서 동시 반영">
            <a:extLst xmlns:a="http://schemas.openxmlformats.org/drawingml/2006/main">
              <a:ext uri="{FF2B5EF4-FFF2-40B4-BE49-F238E27FC236}">
                <a16:creationId xmlns:a16="http://schemas.microsoft.com/office/drawing/2014/main" id="{7955F8B0-D35A-473F-AE4F-7531366C0C7C}"/>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선택 7. 부서장 보완 요청 3문서 동시 반영</a:t>
            </a:r>
          </a:p>
        </p:txBody>
      </p:sp>
      <p:sp>
        <p:nvSpPr>
          <p:cNvPr id="2" name="20분">
            <a:extLst xmlns:a="http://schemas.openxmlformats.org/drawingml/2006/main">
              <a:ext uri="{FF2B5EF4-FFF2-40B4-BE49-F238E27FC236}">
                <a16:creationId xmlns:a16="http://schemas.microsoft.com/office/drawing/2014/main" id="{5FEE4A47-37C0-4294-BD72-F679CF7BF9B6}"/>
              </a:ext>
            </a:extLst>
          </p:cNvPr>
          <p:cNvSpPr>
            <a:spLocks xmlns:a="http://schemas.openxmlformats.org/drawingml/2006/main" noGrp="1"/>
          </p:cNvSpPr>
          <p:nvPr/>
        </p:nvSpPr>
        <p:spPr>
          <a:xfrm xmlns:a="http://schemas.openxmlformats.org/drawingml/2006/main">
            <a:off x="685800" y="1619250"/>
            <a:ext cx="2743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4125" b="1">
                <a:solidFill>
                  <a:srgbClr val="6B43C7"/>
                </a:solidFill>
                <a:latin typeface="Malgun Gothic"/>
                <a:ea typeface="Malgun Gothic"/>
                <a:cs typeface="Malgun Gothic"/>
              </a:defRPr>
            </a:pPr>
            <a:r>
              <a:rPr sz="4125" b="1">
                <a:solidFill>
                  <a:srgbClr val="6B43C7"/>
                </a:solidFill>
                <a:latin typeface="Malgun Gothic"/>
                <a:ea typeface="Malgun Gothic"/>
                <a:cs typeface="Malgun Gothic"/>
              </a:rPr>
              <a:t>20분</a:t>
            </a:r>
          </a:p>
        </p:txBody>
      </p:sp>
      <p:sp>
        <p:nvSpPr>
          <p:cNvPr id="3" name="세 문서의&#10;수치와 결정 통일">
            <a:extLst xmlns:a="http://schemas.openxmlformats.org/drawingml/2006/main">
              <a:ext uri="{FF2B5EF4-FFF2-40B4-BE49-F238E27FC236}">
                <a16:creationId xmlns:a16="http://schemas.microsoft.com/office/drawing/2014/main" id="{4CBF8459-F3B9-41A9-85FE-AAB664F61504}"/>
              </a:ext>
            </a:extLst>
          </p:cNvPr>
          <p:cNvSpPr>
            <a:spLocks xmlns:a="http://schemas.openxmlformats.org/drawingml/2006/main" noGrp="1"/>
          </p:cNvSpPr>
          <p:nvPr/>
        </p:nvSpPr>
        <p:spPr>
          <a:xfrm xmlns:a="http://schemas.openxmlformats.org/drawingml/2006/main">
            <a:off x="685800" y="2895600"/>
            <a:ext cx="276225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250" b="1">
                <a:solidFill>
                  <a:srgbClr val="20212A"/>
                </a:solidFill>
                <a:latin typeface="Malgun Gothic"/>
                <a:ea typeface="Malgun Gothic"/>
                <a:cs typeface="Malgun Gothic"/>
              </a:defRPr>
            </a:pPr>
            <a:r>
              <a:rPr sz="2250" b="1">
                <a:solidFill>
                  <a:srgbClr val="20212A"/>
                </a:solidFill>
                <a:latin typeface="Malgun Gothic"/>
                <a:ea typeface="Malgun Gothic"/>
                <a:cs typeface="Malgun Gothic"/>
              </a:rPr>
              <a:t>세 문서의</a:t>
            </a:r>
          </a:p>
          <a:p xmlns:a="http://schemas.openxmlformats.org/drawingml/2006/main">
            <a:pPr algn="l">
              <a:lnSpc>
                <a:spcPct val="116000"/>
              </a:lnSpc>
              <a:buNone/>
              <a:defRPr sz="2250" b="1">
                <a:solidFill>
                  <a:srgbClr val="20212A"/>
                </a:solidFill>
                <a:latin typeface="Malgun Gothic"/>
                <a:ea typeface="Malgun Gothic"/>
                <a:cs typeface="Malgun Gothic"/>
              </a:defRPr>
            </a:pPr>
            <a:r>
              <a:rPr sz="2250" b="1">
                <a:solidFill>
                  <a:srgbClr val="20212A"/>
                </a:solidFill>
                <a:latin typeface="Malgun Gothic"/>
                <a:ea typeface="Malgun Gothic"/>
                <a:cs typeface="Malgun Gothic"/>
              </a:rPr>
              <a:t>수치와 결정 통일</a:t>
            </a:r>
          </a:p>
        </p:txBody>
      </p:sp>
      <p:sp>
        <p:nvSpPr>
          <p:cNvPr id="4" name="">
            <a:extLst xmlns:a="http://schemas.openxmlformats.org/drawingml/2006/main">
              <a:ext uri="{FF2B5EF4-FFF2-40B4-BE49-F238E27FC236}">
                <a16:creationId xmlns:a16="http://schemas.microsoft.com/office/drawing/2014/main" id="{BDC48E6B-27E4-4600-948D-D055CEC42284}"/>
              </a:ext>
            </a:extLst>
          </p:cNvPr>
          <p:cNvSpPr>
            <a:spLocks xmlns:a="http://schemas.openxmlformats.org/drawingml/2006/main" noGrp="1"/>
          </p:cNvSpPr>
          <p:nvPr/>
        </p:nvSpPr>
        <p:spPr>
          <a:xfrm xmlns:a="http://schemas.openxmlformats.org/drawingml/2006/main">
            <a:off x="4038600" y="1647825"/>
            <a:ext cx="74676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원문 15·26·27과 잘못된 초안 비교</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보고서·메일·업무표를 함께 수정</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승인된 담당과 기한·상태 보존</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공통 수치·기준일·결정 상태 대조</a:t>
            </a:r>
          </a:p>
        </p:txBody>
      </p:sp>
      <p:sp>
        <p:nvSpPr>
          <p:cNvPr id="5" name="남길 결과">
            <a:extLst xmlns:a="http://schemas.openxmlformats.org/drawingml/2006/main">
              <a:ext uri="{FF2B5EF4-FFF2-40B4-BE49-F238E27FC236}">
                <a16:creationId xmlns:a16="http://schemas.microsoft.com/office/drawing/2014/main" id="{BC0ED388-902B-4E58-B70D-204C03BD6CD5}"/>
              </a:ext>
            </a:extLst>
          </p:cNvPr>
          <p:cNvSpPr>
            <a:spLocks xmlns:a="http://schemas.openxmlformats.org/drawingml/2006/main" noGrp="1"/>
          </p:cNvSpPr>
          <p:nvPr/>
        </p:nvSpPr>
        <p:spPr>
          <a:xfrm xmlns:a="http://schemas.openxmlformats.org/drawingml/2006/main">
            <a:off x="4038600" y="5029200"/>
            <a:ext cx="7467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1">
                <a:solidFill>
                  <a:srgbClr val="6B43C7"/>
                </a:solidFill>
                <a:latin typeface="Malgun Gothic"/>
                <a:ea typeface="Malgun Gothic"/>
                <a:cs typeface="Malgun Gothic"/>
              </a:defRPr>
            </a:pPr>
            <a:r>
              <a:rPr sz="1725" b="1">
                <a:solidFill>
                  <a:srgbClr val="6B43C7"/>
                </a:solidFill>
                <a:latin typeface="Malgun Gothic"/>
                <a:ea typeface="Malgun Gothic"/>
                <a:cs typeface="Malgun Gothic"/>
              </a:rPr>
              <a:t>남길 결과</a:t>
            </a:r>
          </a:p>
        </p:txBody>
      </p:sp>
      <p:sp>
        <p:nvSpPr>
          <p:cNvPr id="6" name="보고서 · 전달 메일 · 후속 업무표 3행">
            <a:extLst xmlns:a="http://schemas.openxmlformats.org/drawingml/2006/main">
              <a:ext uri="{FF2B5EF4-FFF2-40B4-BE49-F238E27FC236}">
                <a16:creationId xmlns:a16="http://schemas.microsoft.com/office/drawing/2014/main" id="{FDD6AC6B-A296-4D9A-80BB-12B15F6ED424}"/>
              </a:ext>
            </a:extLst>
          </p:cNvPr>
          <p:cNvSpPr>
            <a:spLocks xmlns:a="http://schemas.openxmlformats.org/drawingml/2006/main" noGrp="1"/>
          </p:cNvSpPr>
          <p:nvPr/>
        </p:nvSpPr>
        <p:spPr>
          <a:xfrm xmlns:a="http://schemas.openxmlformats.org/drawingml/2006/main">
            <a:off x="4038600" y="5429250"/>
            <a:ext cx="7467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100" b="1">
                <a:solidFill>
                  <a:srgbClr val="20212A"/>
                </a:solidFill>
                <a:latin typeface="Malgun Gothic"/>
                <a:ea typeface="Malgun Gothic"/>
                <a:cs typeface="Malgun Gothic"/>
              </a:defRPr>
            </a:pPr>
            <a:r>
              <a:rPr sz="2100" b="1">
                <a:solidFill>
                  <a:srgbClr val="20212A"/>
                </a:solidFill>
                <a:latin typeface="Malgun Gothic"/>
                <a:ea typeface="Malgun Gothic"/>
                <a:cs typeface="Malgun Gothic"/>
              </a:rPr>
              <a:t>보고서 · 전달 메일 · 후속 업무표 3행</a:t>
            </a:r>
          </a:p>
        </p:txBody>
      </p:sp>
      <p:sp>
        <p:nvSpPr>
          <p:cNvPr id="7" name="본수업 후 복습 또는 별도 심화 수업에서 선택 진행">
            <a:extLst xmlns:a="http://schemas.openxmlformats.org/drawingml/2006/main">
              <a:ext uri="{FF2B5EF4-FFF2-40B4-BE49-F238E27FC236}">
                <a16:creationId xmlns:a16="http://schemas.microsoft.com/office/drawing/2014/main" id="{A60EAD4F-F905-4F2B-B246-33EA9860A2BE}"/>
              </a:ext>
            </a:extLst>
          </p:cNvPr>
          <p:cNvSpPr>
            <a:spLocks xmlns:a="http://schemas.openxmlformats.org/drawingml/2006/main" noGrp="1"/>
          </p:cNvSpPr>
          <p:nvPr/>
        </p:nvSpPr>
        <p:spPr>
          <a:xfrm xmlns:a="http://schemas.openxmlformats.org/drawingml/2006/main">
            <a:off x="685800" y="6038850"/>
            <a:ext cx="10820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본수업 후 복습 또는 별도 심화 수업에서 선택 진행</a:t>
            </a:r>
          </a:p>
        </p:txBody>
      </p:sp>
      <p:sp>
        <p:nvSpPr>
          <p:cNvPr id="8" name="선택 활동 20분">
            <a:extLst xmlns:a="http://schemas.openxmlformats.org/drawingml/2006/main">
              <a:ext uri="{FF2B5EF4-FFF2-40B4-BE49-F238E27FC236}">
                <a16:creationId xmlns:a16="http://schemas.microsoft.com/office/drawing/2014/main" id="{812EB57D-E299-4063-99EC-82DB56121FA4}"/>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선택 활동 20분</a:t>
            </a:r>
          </a:p>
        </p:txBody>
      </p:sp>
      <p:sp>
        <p:nvSpPr>
          <p:cNvPr id="9" name="웹 실습 열기">
            <a:extLst xmlns:a="http://schemas.openxmlformats.org/drawingml/2006/main">
              <a:ext uri="{FF2B5EF4-FFF2-40B4-BE49-F238E27FC236}">
                <a16:creationId xmlns:a16="http://schemas.microsoft.com/office/drawing/2014/main" id="{528CCA67-D7A6-4D4D-9201-DC908136D554}"/>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b992d74497724c7f"/>
              </a:rPr>
              <a:t>웹 실습 열기</a:t>
            </a:r>
          </a:p>
        </p:txBody>
      </p:sp>
      <p:sp>
        <p:nvSpPr>
          <p:cNvPr id="10" name="57">
            <a:extLst xmlns:a="http://schemas.openxmlformats.org/drawingml/2006/main">
              <a:ext uri="{FF2B5EF4-FFF2-40B4-BE49-F238E27FC236}">
                <a16:creationId xmlns:a16="http://schemas.microsoft.com/office/drawing/2014/main" id="{5DF74494-0D19-44C7-92C5-D79341E98B8E}"/>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57</a:t>
            </a:r>
          </a:p>
        </p:txBody>
      </p:sp>
    </p:spTree>
    <p:extLst>
      <p:ext uri="{BB962C8B-B14F-4D97-AF65-F5344CB8AC3E}">
        <p14:creationId xmlns:p14="http://schemas.microsoft.com/office/powerpoint/2010/main" val="122531681"/>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선택 8. 새 행사 운영 묶음 완성">
            <a:extLst xmlns:a="http://schemas.openxmlformats.org/drawingml/2006/main">
              <a:ext uri="{FF2B5EF4-FFF2-40B4-BE49-F238E27FC236}">
                <a16:creationId xmlns:a16="http://schemas.microsoft.com/office/drawing/2014/main" id="{048DF270-5146-48CE-897D-B60461F3C846}"/>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선택 8. 새 행사 운영 묶음 완성</a:t>
            </a:r>
          </a:p>
        </p:txBody>
      </p:sp>
      <p:sp>
        <p:nvSpPr>
          <p:cNvPr id="2" name="25분">
            <a:extLst xmlns:a="http://schemas.openxmlformats.org/drawingml/2006/main">
              <a:ext uri="{FF2B5EF4-FFF2-40B4-BE49-F238E27FC236}">
                <a16:creationId xmlns:a16="http://schemas.microsoft.com/office/drawing/2014/main" id="{E8246FAF-D848-4DE8-9786-344525CE6D6A}"/>
              </a:ext>
            </a:extLst>
          </p:cNvPr>
          <p:cNvSpPr>
            <a:spLocks xmlns:a="http://schemas.openxmlformats.org/drawingml/2006/main" noGrp="1"/>
          </p:cNvSpPr>
          <p:nvPr/>
        </p:nvSpPr>
        <p:spPr>
          <a:xfrm xmlns:a="http://schemas.openxmlformats.org/drawingml/2006/main">
            <a:off x="685800" y="1619250"/>
            <a:ext cx="2743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4125" b="1">
                <a:solidFill>
                  <a:srgbClr val="6B43C7"/>
                </a:solidFill>
                <a:latin typeface="Malgun Gothic"/>
                <a:ea typeface="Malgun Gothic"/>
                <a:cs typeface="Malgun Gothic"/>
              </a:defRPr>
            </a:pPr>
            <a:r>
              <a:rPr sz="4125" b="1">
                <a:solidFill>
                  <a:srgbClr val="6B43C7"/>
                </a:solidFill>
                <a:latin typeface="Malgun Gothic"/>
                <a:ea typeface="Malgun Gothic"/>
                <a:cs typeface="Malgun Gothic"/>
              </a:rPr>
              <a:t>25분</a:t>
            </a:r>
          </a:p>
        </p:txBody>
      </p:sp>
      <p:sp>
        <p:nvSpPr>
          <p:cNvPr id="3" name="독립된 새 행사의&#10;운영 묶음 완성">
            <a:extLst xmlns:a="http://schemas.openxmlformats.org/drawingml/2006/main">
              <a:ext uri="{FF2B5EF4-FFF2-40B4-BE49-F238E27FC236}">
                <a16:creationId xmlns:a16="http://schemas.microsoft.com/office/drawing/2014/main" id="{1600181D-2CD3-4A37-8943-F65E90F499F4}"/>
              </a:ext>
            </a:extLst>
          </p:cNvPr>
          <p:cNvSpPr>
            <a:spLocks xmlns:a="http://schemas.openxmlformats.org/drawingml/2006/main" noGrp="1"/>
          </p:cNvSpPr>
          <p:nvPr/>
        </p:nvSpPr>
        <p:spPr>
          <a:xfrm xmlns:a="http://schemas.openxmlformats.org/drawingml/2006/main">
            <a:off x="685800" y="2895600"/>
            <a:ext cx="276225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250" b="1">
                <a:solidFill>
                  <a:srgbClr val="20212A"/>
                </a:solidFill>
                <a:latin typeface="Malgun Gothic"/>
                <a:ea typeface="Malgun Gothic"/>
                <a:cs typeface="Malgun Gothic"/>
              </a:defRPr>
            </a:pPr>
            <a:r>
              <a:rPr sz="2250" b="1">
                <a:solidFill>
                  <a:srgbClr val="20212A"/>
                </a:solidFill>
                <a:latin typeface="Malgun Gothic"/>
                <a:ea typeface="Malgun Gothic"/>
                <a:cs typeface="Malgun Gothic"/>
              </a:rPr>
              <a:t>독립된 새 행사의</a:t>
            </a:r>
          </a:p>
          <a:p xmlns:a="http://schemas.openxmlformats.org/drawingml/2006/main">
            <a:pPr algn="l">
              <a:lnSpc>
                <a:spcPct val="116000"/>
              </a:lnSpc>
              <a:buNone/>
              <a:defRPr sz="2250" b="1">
                <a:solidFill>
                  <a:srgbClr val="20212A"/>
                </a:solidFill>
                <a:latin typeface="Malgun Gothic"/>
                <a:ea typeface="Malgun Gothic"/>
                <a:cs typeface="Malgun Gothic"/>
              </a:defRPr>
            </a:pPr>
            <a:r>
              <a:rPr sz="2250" b="1">
                <a:solidFill>
                  <a:srgbClr val="20212A"/>
                </a:solidFill>
                <a:latin typeface="Malgun Gothic"/>
                <a:ea typeface="Malgun Gothic"/>
                <a:cs typeface="Malgun Gothic"/>
              </a:rPr>
              <a:t>운영 묶음 완성</a:t>
            </a:r>
          </a:p>
        </p:txBody>
      </p:sp>
      <p:sp>
        <p:nvSpPr>
          <p:cNvPr id="4" name="">
            <a:extLst xmlns:a="http://schemas.openxmlformats.org/drawingml/2006/main">
              <a:ext uri="{FF2B5EF4-FFF2-40B4-BE49-F238E27FC236}">
                <a16:creationId xmlns:a16="http://schemas.microsoft.com/office/drawing/2014/main" id="{8B98A431-043E-43BF-B4B3-55591F272962}"/>
              </a:ext>
            </a:extLst>
          </p:cNvPr>
          <p:cNvSpPr>
            <a:spLocks xmlns:a="http://schemas.openxmlformats.org/drawingml/2006/main" noGrp="1"/>
          </p:cNvSpPr>
          <p:nvPr/>
        </p:nvSpPr>
        <p:spPr>
          <a:xfrm xmlns:a="http://schemas.openxmlformats.org/drawingml/2006/main">
            <a:off x="4038600" y="1647825"/>
            <a:ext cx="74676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Gemini 7분: 업무표와 회신 작성</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NotebookLM 7분: FAQ와 인용 확인</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Claude 8분: 준비 보고와 예산 검토</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마지막 3분: 세 결과와 원문 대조</a:t>
            </a:r>
          </a:p>
        </p:txBody>
      </p:sp>
      <p:sp>
        <p:nvSpPr>
          <p:cNvPr id="5" name="남길 결과">
            <a:extLst xmlns:a="http://schemas.openxmlformats.org/drawingml/2006/main">
              <a:ext uri="{FF2B5EF4-FFF2-40B4-BE49-F238E27FC236}">
                <a16:creationId xmlns:a16="http://schemas.microsoft.com/office/drawing/2014/main" id="{96A8472C-B7F0-4FCF-A526-852ED300B9AE}"/>
              </a:ext>
            </a:extLst>
          </p:cNvPr>
          <p:cNvSpPr>
            <a:spLocks xmlns:a="http://schemas.openxmlformats.org/drawingml/2006/main" noGrp="1"/>
          </p:cNvSpPr>
          <p:nvPr/>
        </p:nvSpPr>
        <p:spPr>
          <a:xfrm xmlns:a="http://schemas.openxmlformats.org/drawingml/2006/main">
            <a:off x="4038600" y="5029200"/>
            <a:ext cx="7467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1">
                <a:solidFill>
                  <a:srgbClr val="6B43C7"/>
                </a:solidFill>
                <a:latin typeface="Malgun Gothic"/>
                <a:ea typeface="Malgun Gothic"/>
                <a:cs typeface="Malgun Gothic"/>
              </a:defRPr>
            </a:pPr>
            <a:r>
              <a:rPr sz="1725" b="1">
                <a:solidFill>
                  <a:srgbClr val="6B43C7"/>
                </a:solidFill>
                <a:latin typeface="Malgun Gothic"/>
                <a:ea typeface="Malgun Gothic"/>
                <a:cs typeface="Malgun Gothic"/>
              </a:rPr>
              <a:t>남길 결과</a:t>
            </a:r>
          </a:p>
        </p:txBody>
      </p:sp>
      <p:sp>
        <p:nvSpPr>
          <p:cNvPr id="6" name="업무표와 회신 · FAQ · 준비 보고와 예산표">
            <a:extLst xmlns:a="http://schemas.openxmlformats.org/drawingml/2006/main">
              <a:ext uri="{FF2B5EF4-FFF2-40B4-BE49-F238E27FC236}">
                <a16:creationId xmlns:a16="http://schemas.microsoft.com/office/drawing/2014/main" id="{F8849F26-EAEF-42CF-B9F9-A440563AEF1E}"/>
              </a:ext>
            </a:extLst>
          </p:cNvPr>
          <p:cNvSpPr>
            <a:spLocks xmlns:a="http://schemas.openxmlformats.org/drawingml/2006/main" noGrp="1"/>
          </p:cNvSpPr>
          <p:nvPr/>
        </p:nvSpPr>
        <p:spPr>
          <a:xfrm xmlns:a="http://schemas.openxmlformats.org/drawingml/2006/main">
            <a:off x="4038600" y="5429250"/>
            <a:ext cx="7467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100" b="1">
                <a:solidFill>
                  <a:srgbClr val="20212A"/>
                </a:solidFill>
                <a:latin typeface="Malgun Gothic"/>
                <a:ea typeface="Malgun Gothic"/>
                <a:cs typeface="Malgun Gothic"/>
              </a:defRPr>
            </a:pPr>
            <a:r>
              <a:rPr sz="2100" b="1">
                <a:solidFill>
                  <a:srgbClr val="20212A"/>
                </a:solidFill>
                <a:latin typeface="Malgun Gothic"/>
                <a:ea typeface="Malgun Gothic"/>
                <a:cs typeface="Malgun Gothic"/>
              </a:rPr>
              <a:t>업무표와 회신 · FAQ · 준비 보고와 예산표</a:t>
            </a:r>
          </a:p>
        </p:txBody>
      </p:sp>
      <p:sp>
        <p:nvSpPr>
          <p:cNvPr id="7" name="본수업 후 복습 또는 별도 심화 수업에서 선택 진행">
            <a:extLst xmlns:a="http://schemas.openxmlformats.org/drawingml/2006/main">
              <a:ext uri="{FF2B5EF4-FFF2-40B4-BE49-F238E27FC236}">
                <a16:creationId xmlns:a16="http://schemas.microsoft.com/office/drawing/2014/main" id="{7ACD5170-434B-4601-AE9F-55ED63B63CD1}"/>
              </a:ext>
            </a:extLst>
          </p:cNvPr>
          <p:cNvSpPr>
            <a:spLocks xmlns:a="http://schemas.openxmlformats.org/drawingml/2006/main" noGrp="1"/>
          </p:cNvSpPr>
          <p:nvPr/>
        </p:nvSpPr>
        <p:spPr>
          <a:xfrm xmlns:a="http://schemas.openxmlformats.org/drawingml/2006/main">
            <a:off x="685800" y="6038850"/>
            <a:ext cx="10820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본수업 후 복습 또는 별도 심화 수업에서 선택 진행</a:t>
            </a:r>
          </a:p>
        </p:txBody>
      </p:sp>
      <p:sp>
        <p:nvSpPr>
          <p:cNvPr id="8" name="선택 활동 25분">
            <a:extLst xmlns:a="http://schemas.openxmlformats.org/drawingml/2006/main">
              <a:ext uri="{FF2B5EF4-FFF2-40B4-BE49-F238E27FC236}">
                <a16:creationId xmlns:a16="http://schemas.microsoft.com/office/drawing/2014/main" id="{4D6FCECB-0F99-43BA-82DA-9EA630847A06}"/>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선택 활동 25분</a:t>
            </a:r>
          </a:p>
        </p:txBody>
      </p:sp>
      <p:sp>
        <p:nvSpPr>
          <p:cNvPr id="9" name="웹 실습 열기">
            <a:extLst xmlns:a="http://schemas.openxmlformats.org/drawingml/2006/main">
              <a:ext uri="{FF2B5EF4-FFF2-40B4-BE49-F238E27FC236}">
                <a16:creationId xmlns:a16="http://schemas.microsoft.com/office/drawing/2014/main" id="{483707E6-754B-4CCA-9361-957867DE7195}"/>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5ea5718ff58f4334"/>
              </a:rPr>
              <a:t>웹 실습 열기</a:t>
            </a:r>
          </a:p>
        </p:txBody>
      </p:sp>
      <p:sp>
        <p:nvSpPr>
          <p:cNvPr id="10" name="58">
            <a:extLst xmlns:a="http://schemas.openxmlformats.org/drawingml/2006/main">
              <a:ext uri="{FF2B5EF4-FFF2-40B4-BE49-F238E27FC236}">
                <a16:creationId xmlns:a16="http://schemas.microsoft.com/office/drawing/2014/main" id="{16B048C4-897C-4928-94F1-09A243335E41}"/>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58</a:t>
            </a:r>
          </a:p>
        </p:txBody>
      </p:sp>
    </p:spTree>
    <p:extLst>
      <p:ext uri="{BB962C8B-B14F-4D97-AF65-F5344CB8AC3E}">
        <p14:creationId xmlns:p14="http://schemas.microsoft.com/office/powerpoint/2010/main" val="88952335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2026-09-28T14:02:01.8720000Z</dcterms:created>
  <dcterms:modified xsi:type="dcterms:W3CDTF">2026-09-28T14:02:01.8720000Z</dcterms:modified>
</coreProperties>
</file>