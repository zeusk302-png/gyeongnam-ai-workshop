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 메일은 AI가 먼저 읽고, 판단은 교수님이 합니다</a:t>
            </a:r>
          </a:p>
          <a:p/>
          <a:p>
            <a:r>
              <a:t>시간: 시작 후 0–1분, 1분</a:t>
            </a:r>
          </a:p>
          <a:p/>
          <a:p>
            <a:r>
              <a:t>말할 내용: 인사하고 오늘의 한 문장을 읽습니다. 오늘은 교수님 업무 중 '읽기·분류·초안'만 AI에게 맡기고, '판단·승인·관계'는 교수님이 하는 연습을 합니다. 오른쪽 네 가지가 오늘 직접 해 볼 업무입니다. 자료는 모두 교육용 가상 자료입니다.</a:t>
            </a:r>
          </a:p>
          <a:p/>
          <a:p>
            <a:r>
              <a:t>참가자에게 할 질문: 지난주에 학생 메일에 답하느라 쓴 시간이 대략 얼마였나요?</a:t>
            </a:r>
          </a:p>
          <a:p/>
          <a:p>
            <a:r>
              <a:t>예상 오류와 대응: 노트북이 없는 분은 옆 분과 짝으로 진행한다고 먼저 안내합니다.</a:t>
            </a:r>
          </a:p>
          <a:p/>
          <a:p>
            <a:r>
              <a:t>수업 링크: https://zeusk302-png.github.io/gyeongnam-ai-workshop/#orientation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 오늘 함께할 강사, 김세영입니다</a:t>
            </a:r>
          </a:p>
          <a:p/>
          <a:p>
            <a:r>
              <a:t>시간: 시작 후 1–3분, 2분</a:t>
            </a:r>
          </a:p>
          <a:p/>
          <a:p>
            <a:r>
              <a:t>말할 내용: 산업용 AI와 임베디드 소프트웨어를 개발하며 시스템 설계, 시험·검증, 기술 문서 작성을 해 왔습니다. 만든 것이 실제로 맞는지 시험하는 일이 제 일입니다. 오늘도 AI가 쓴 결과가 원문과 맞는지 함께 확인하겠습니다. 상세 경력은 웹 강사 소개에 있습니다.</a:t>
            </a:r>
          </a:p>
          <a:p/>
          <a:p>
            <a:r>
              <a:t>참가자에게 할 질문: 요즘 가장 자주 고쳐 쓰는 문서는 무엇인가요?</a:t>
            </a:r>
          </a:p>
          <a:p/>
          <a:p>
            <a:r>
              <a:t>예상 오류와 대응: 경력 소개는 짧게 끝내고 바로 다음 장으로 넘어갑니다.</a:t>
            </a:r>
          </a:p>
          <a:p/>
          <a:p>
            <a:r>
              <a:t>수업 링크: https://zeusk302-png.github.io/gyeongnam-ai-workshop/#instructor</a:t>
            </a:r>
          </a:p>
          <a:p/>
          <a:p>
            <a:r>
              <a:t>화면 원본: assets/instructor/kim-seyoung.jpg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 이번 주, 이 중 몇 가지 하셨나요?</a:t>
            </a:r>
          </a:p>
          <a:p/>
          <a:p>
            <a:r>
              <a:t>시간: 시작 후 3–5분, 2분</a:t>
            </a:r>
          </a:p>
          <a:p/>
          <a:p>
            <a:r>
              <a:t>말할 내용: 여섯 가지를 하나씩 읽으며 해당하면 손을 들어 달라고 합니다. 세 가지 이상 손을 든 분이 많을 것입니다. 이 여섯 가지는 모두 '많이 읽고, 나누고, 첫 초안을 쓰는' 일이라는 공통점이 있습니다. 오늘은 그 앞부분을 AI에게 맡겨 봅니다.</a:t>
            </a:r>
          </a:p>
          <a:p/>
          <a:p>
            <a:r>
              <a:t>참가자에게 할 질문: 이 중 가장 시간이 오래 걸리는 일은 무엇인가요?</a:t>
            </a:r>
          </a:p>
          <a:p/>
          <a:p>
            <a:r>
              <a:t>예상 오류와 대응: 손을 잘 들지 않으면 '저는 첫 번째와 네 번째입니다'처럼 강사가 먼저 답합니다.</a:t>
            </a:r>
          </a:p>
          <a:p/>
          <a:p>
            <a:r>
              <a:t>수업 링크: https://zeusk302-png.github.io/gyeongnam-ai-workshop/#why-ai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 월요일 아침, 학생 메일 40통이 와 있습니다</a:t>
            </a:r>
          </a:p>
          <a:p/>
          <a:p>
            <a:r>
              <a:t>시간: 시작 후 5–6분, 1분</a:t>
            </a:r>
          </a:p>
          <a:p/>
          <a:p>
            <a:r>
              <a:t>말할 내용: 오늘의 무대를 소개합니다. 가상의 가온대학교 한도윤 교수입니다. 교양 과목 「데이터로 읽는 사회」 두 분반을 맡고 있고, 중간고사 직전 월요일 아침에 메일 40통이 쌓였습니다. 연장 요청, 공결, 성적 문의, 철회, 추천서가 섞여 있습니다. 오늘 쓰는 자료는 모두 이 교수의 가상 자료입니다.</a:t>
            </a:r>
          </a:p>
          <a:p/>
          <a:p>
            <a:r>
              <a:t>참가자에게 할 질문: 교수님 받은편지함에서 가장 많이 오는 메일은 어떤 종류인가요?</a:t>
            </a:r>
          </a:p>
          <a:p/>
          <a:p>
            <a:r>
              <a:t>예상 오류와 대응: '실제 경남대 자료인가요?'라는 질문이 나오면 모두 가상 자료이며 가온대학교는 만든 대학이라고 답합니다.</a:t>
            </a:r>
          </a:p>
          <a:p/>
          <a:p>
            <a:r>
              <a:t>수업 링크: https://zeusk302-png.github.io/gyeongnam-ai-workshop/#why-ai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 먼저 결과부터: 메일 40통이 이렇게 정리됩니다</a:t>
            </a:r>
          </a:p>
          <a:p/>
          <a:p>
            <a:r>
              <a:t>시간: 시작 후 6–9분, 3분</a:t>
            </a:r>
          </a:p>
          <a:p/>
          <a:p>
            <a:r>
              <a:t>말할 내용: 설명보다 결과를 먼저 보여 드립니다. 강사가 리허설에서 Claude에 메일 40통을 올리고 네 줄 질문 한 번으로 받은 결과를 재현한 화면입니다. 왼쪽은 유형별 개수, 가운데는 처리표 일부, 오른쪽은 답장 초안 한 통입니다. 리허설에서 잰 시간을 빈칸에 채워 말합니다(리허설 실측값만 씁니다). 이 방에서 15분쯤 직접 다시 잽니다. 판단이 필요한 메일(M16, M33 등)은 이 표에서 골라 교수님이 읽습니다.</a:t>
            </a:r>
          </a:p>
          <a:p/>
          <a:p>
            <a:r>
              <a:t>참가자에게 할 질문: 이 표가 있으면 어느 메일부터 읽으시겠어요?</a:t>
            </a:r>
          </a:p>
          <a:p/>
          <a:p>
            <a:r>
              <a:t>예상 오류와 대응: 리허설 시간을 아직 재지 않았으면 빈칸을 그대로 두고 '오늘 이 방에서 잽니다'라고 말합니다. 숫자를 짐작해 말하지 않습니다.</a:t>
            </a:r>
          </a:p>
          <a:p/>
          <a:p>
            <a:r>
              <a:t>수업 링크: https://zeusk302-png.github.io/gyeongnam-ai-workshop/#why-ai</a:t>
            </a:r>
          </a:p>
          <a:p/>
          <a:p>
            <a:r>
              <a:t>처리표 행과 유형별 개수는 90_교수실습_해설.md 1-1 기준입니다. 답장 초안은 질문 1-2의 조건(날짜·시간을 지어내지 않음)을 지킨 예시입니다.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 대학 교원이 AI에 가장 많이 맡긴 일은 수업 준비였습니다</a:t>
            </a:r>
          </a:p>
          <a:p/>
          <a:p>
            <a:r>
              <a:t>시간: 시작 후 9–11분, 2분</a:t>
            </a:r>
          </a:p>
          <a:p/>
          <a:p>
            <a:r>
              <a:t>말할 내용: 실제 자료입니다. Anthropic이 2025년 8월 낸 교육 보고서는 2025년 5~6월 고등교육 종사자의 Claude.ai 대화 약 7만 4천 건을 익명으로 분석했습니다. 가장 많은 용도는 교육과정·수업 자료 개발 57%, 학술 연구 13%, 학생 평가 7%였습니다. 교수님들이 이미 AI를 '수업 준비 조수'로 쓰고 있다는 뜻입니다. 같은 보고서는 채점 같은 평가 업무에서는 AI에 거의 통째로 맡기는 방식이 절반쯤(48.9%)이었다며 주의가 필요하다고 봤습니다. 한 회사, 한 도구 이용자의 대화라는 한계가 있습니다.</a:t>
            </a:r>
          </a:p>
          <a:p/>
          <a:p>
            <a:r>
              <a:t>참가자에게 할 질문: 교수님이 AI에 맡겨 보고 싶은 수업 준비 일은 무엇인가요?</a:t>
            </a:r>
          </a:p>
          <a:p/>
          <a:p>
            <a:r>
              <a:t>예상 오류와 대응: '회사가 낸 자료라 믿을 수 있나요?'라는 질문에는 한 도구 이용자 대화 분석이라는 한계를 인정하고, 뒤에서 여러 나라 교수 설문(Digital Education Council)도 보여 드린다고 답합니다.</a:t>
            </a:r>
          </a:p>
          <a:p/>
          <a:p>
            <a:r>
              <a:t>수업 링크: https://zeusk302-png.github.io/gyeongnam-ai-workshop/#why-ai</a:t>
            </a:r>
          </a:p>
          <a:p/>
          <a:p>
            <a:r>
              <a:t>출처: Anthropic, 'Anthropic Education Report: How educators use Claude' (2025-08-27) https://www.anthropic.com/news/anthropic-education-report-how-educators-use-claude — 수치는 2026-10-01 원문에서 확인.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7. AI는 읽고 정리하고, 결정은 교수님이 합니다</a:t>
            </a:r>
          </a:p>
          <a:p/>
          <a:p>
            <a:r>
              <a:t>시간: 시작 후 11–13분, 2분</a:t>
            </a:r>
          </a:p>
          <a:p/>
          <a:p>
            <a:r>
              <a:t>말할 내용: 오늘의 기준 하나입니다. 왼쪽은 AI에게 맡겨도 되는 일, 오른쪽은 교수님이 해야 하는 일입니다. 많이 읽고 나누고 첫 초안을 쓰는 일은 AI가 빠릅니다. 성적이나 예외 승인, 숫자가 맞는지, 학생과의 관계가 걸린 말투, 최종 발송은 교수님 몫입니다. 오늘 실습마다 이 두 칸을 다시 확인합니다.</a:t>
            </a:r>
          </a:p>
          <a:p/>
          <a:p>
            <a:r>
              <a:t>참가자에게 할 질문: 오른쪽 칸에 더 넣고 싶은 일이 있나요?</a:t>
            </a:r>
          </a:p>
          <a:p/>
          <a:p>
            <a:r>
              <a:t>예상 오류와 대응: 'AI가 판단까지 하면 안 되나요?'라는 질문에는 '판단의 근거를 찾는 데까지는 AI, 결정은 사람'이라고 답합니다.</a:t>
            </a:r>
          </a:p>
          <a:p/>
          <a:p>
            <a:r>
              <a:t>수업 링크: https://zeusk302-png.github.io/gyeongnam-ai-workshop/#why-ai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8. 세 시간 동안 네 가지 업무를 직접 해 봅니다</a:t>
            </a:r>
          </a:p>
          <a:p/>
          <a:p>
            <a:r>
              <a:t>시간: 시작 후 13–15분, 2분</a:t>
            </a:r>
          </a:p>
          <a:p/>
          <a:p>
            <a:r>
              <a:t>말할 내용: 오늘 순서입니다. 먼저 제가 메일 40통으로 시연하고, 도구 지도와 질문 공식을 짧게 봅니다. 그다음 Gemini Notebook으로 논문 다섯 편, Claude로 강의평가 180개, Gemini로 강의계획서와 학칙 근거 답장을 합니다. 105분쯤 10분 쉽니다. 마지막 30분은 학생의 AI 사용과 내일 할 일입니다.</a:t>
            </a:r>
          </a:p>
          <a:p/>
          <a:p>
            <a:r>
              <a:t>참가자에게 할 질문: 지금 세 도구 중 로그인이 안 되는 분이 있나요?</a:t>
            </a:r>
          </a:p>
          <a:p/>
          <a:p>
            <a:r>
              <a:t>예상 오류와 대응: 로그인이 안 되면 휴식 시간 전에 조교나 강사가 돕습니다. 사이트 '무료 계정 안내'를 엽니다.</a:t>
            </a:r>
          </a:p>
          <a:p/>
          <a:p>
            <a:r>
              <a:t>수업 링크: https://zeusk302-png.github.io/gyeongnam-ai-workshop/#orientation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9. 지금 제가 메일 40통을 직접 분류해 보겠습니다</a:t>
            </a:r>
          </a:p>
          <a:p/>
          <a:p>
            <a:r>
              <a:t>시간: 시작 후 15–17분, 2분 (시연 포함 총 5분)</a:t>
            </a:r>
          </a:p>
          <a:p/>
          <a:p>
            <a:r>
              <a:t>말할 내용: 강사 화면으로 Claude(또는 Gemini)에 01_학생메일_40통.txt를 올리고 질문 1-1을 붙여 넣습니다. 질문이 네 줄(역할·자료·형태·금지)로 되어 있다는 점을 짚습니다. 답이 나오는 동안 타이머를 켜 둡니다. 답이 나오면 유형별 개수를 소리 내 더해 40인지 봅니다. 이어서 1-2(M17·M21·M40 답장)를 보여 줍니다.</a:t>
            </a:r>
          </a:p>
          <a:p/>
          <a:p>
            <a:r>
              <a:t>참가자에게 할 질문: 표가 나오면, 어디부터 확인하시겠어요?</a:t>
            </a:r>
          </a:p>
          <a:p/>
          <a:p>
            <a:r>
              <a:t>예상 오류와 대응: 파일 업로드가 실패하면 메일 내용을 복사해 붙여 넣습니다. 답이 길게 끊기면 '이어서'를 입력합니다. 한도에 걸리면 미리 받아 둔 결과 화면으로 넘어갑니다.</a:t>
            </a:r>
          </a:p>
          <a:p/>
          <a:p>
            <a:r>
              <a:t>수업 링크: https://zeusk302-png.github.io/gyeongnam-ai-workshop/#demo-email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10. 메일은 40통이지만, 답장할 일은 37건입니다</a:t>
            </a:r>
          </a:p>
          <a:p/>
          <a:p>
            <a:r>
              <a:t>시간: 시작 후 17–19분, 2분</a:t>
            </a:r>
          </a:p>
          <a:p/>
          <a:p>
            <a:r>
              <a:t>말할 내용: 메일은 40통이지만 처리할 건은 38건입니다. M02는 M01을 7분 뒤 다시 보낸 메일, M04는 M03에 입원확인서만 붙인 메일입니다. 답장이 필요 없는 메일은 외부 학회 홍보인 M37 하나라서 답장할 건은 37건입니다. AI 표에서 이 숫자가 맞게 나왔는지 같이 봅니다.</a:t>
            </a:r>
          </a:p>
          <a:p/>
          <a:p>
            <a:r>
              <a:t>참가자에게 할 질문: AI 표에서 중복 메일이 따로 적혀 있나요?</a:t>
            </a:r>
          </a:p>
          <a:p/>
          <a:p>
            <a:r>
              <a:t>예상 오류와 대응: AI가 40건을 모두 따로 세면 그대로 보여 주고 다음 장에서 짚습니다. 유형 분류가 조금 달라도(예: M35를 출석·공결로) 맞은 것으로 봅니다.</a:t>
            </a:r>
          </a:p>
          <a:p/>
          <a:p>
            <a:r>
              <a:t>수업 링크: https://zeusk302-png.github.io/gyeongnam-ai-workshop/#demo-email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11. AI는 같은 요청을 두 번 세기도 합니다</a:t>
            </a:r>
          </a:p>
          <a:p/>
          <a:p>
            <a:r>
              <a:t>시간: 시작 후 19–20분, 1분</a:t>
            </a:r>
          </a:p>
          <a:p/>
          <a:p>
            <a:r>
              <a:t>말할 내용: 재현 예시입니다. AI가 '답장 필요 40통'이라고 쓰는 경우가 있습니다. 원문을 보면 M02는 M01을 7분 뒤 다시 보낸 메일이고, M04는 M03에 첨부만 더한 메일입니다. M37은 학회 홍보라 답장이 필요 없습니다. 개수는 AI가 말한 숫자가 아니라 메일 번호로 셉니다. 오늘 시연에서 실제로 틀린 곳이 있으면 그 화면으로 바꿔 보여 줍니다.</a:t>
            </a:r>
          </a:p>
          <a:p/>
          <a:p>
            <a:r>
              <a:t>참가자에게 할 질문: AI가 틀린 개수를 말하면, 어떤 질문으로 다시 시키시겠어요?</a:t>
            </a:r>
          </a:p>
          <a:p/>
          <a:p>
            <a:r>
              <a:t>예상 오류와 대응: AI가 이번에는 맞게 셌다면 '오늘은 맞았지만 매번 맞는 것은 아니다'라고 말하고 재현 예시로 설명합니다.</a:t>
            </a:r>
          </a:p>
          <a:p/>
          <a:p>
            <a:r>
              <a:t>수업 링크: https://zeusk302-png.github.io/gyeongnam-ai-workshop/#demo-email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12. AI는 하나가 아니고, 답의 근거가 저마다 다릅니다</a:t>
            </a:r>
          </a:p>
          <a:p/>
          <a:p>
            <a:r>
              <a:t>시간: 시작 후 20–21분, 1분</a:t>
            </a:r>
          </a:p>
          <a:p/>
          <a:p>
            <a:r>
              <a:t>말할 내용: 도구를 '무엇을 근거로 답하나'로 나눕니다. Copilot은 학교 Microsoft 365 계정이 있을 때 편합니다. 왼쪽 Gemini Notebook(구 NotebookLM)은 내가 올린 자료 안에서만 답하고 출처 번호를 붙입니다. 가운데는 모델이 배운 지식으로 쓰고 다듬는 도구입니다. 오른쪽은 웹이나 논문 데이터베이스를 찾아 답합니다. 오늘 직접 쓰는 세 도구는 굵은 테두리입니다. 클로바X는 2026년 4월 서비스를 끝내서 뺐습니다. NotebookLM은 2026년 7월 'Gemini Notebook'으로 이름이 바뀌었고 주소와 요금은 같습니다.</a:t>
            </a:r>
          </a:p>
          <a:p/>
          <a:p>
            <a:r>
              <a:t>참가자에게 할 질문: 이 중 한 번이라도 써 본 도구는 몇 개인가요?</a:t>
            </a:r>
          </a:p>
          <a:p/>
          <a:p>
            <a:r>
              <a:t>예상 오류와 대응: '뤼튼은 어떤 모델인가요?'라는 질문에는 여러 모델을 한국어 화면으로 쓰는 서비스이며, 약관과 학습 설정은 직접 확인하라고 답합니다.</a:t>
            </a:r>
          </a:p>
          <a:p/>
          <a:p>
            <a:r>
              <a:t>수업 링크: https://zeusk302-png.github.io/gyeongnam-ai-workshop/#tool-comparison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13. 도구마다 답의 근거와 약한 곳이 다릅니다</a:t>
            </a:r>
          </a:p>
          <a:p/>
          <a:p>
            <a:r>
              <a:t>시간: 시작 후 21–22분, 1분 30초</a:t>
            </a:r>
          </a:p>
          <a:p/>
          <a:p>
            <a:r>
              <a:t>말할 내용: 도구 비교표입니다. 왼쪽부터 답의 근거, 교수 업무에 좋은 일, 약한 곳, 무료 여부, 학습 설정입니다. 학습 설정 칸이 중요합니다. 학교 계정 도구가 있으면 먼저 쓰고, 없으면 개인 계정에서 학습 설정을 끄고 씁니다. Gemini Notebook(구 NotebookLM)은 업로드한 자료로 학습하지 않는다고 제품 안내에 적혀 있습니다. Claude 개인 계정은 'Claude 개선에 참여'를, ChatGPT는 '모두를 위한 모델 개선'을, Perplexity는 'AI data retention'을 끕니다. Copilot은 학교 Microsoft 365 계정일 때 학습에 쓰지 않습니다. 경남대가 Google Workspace for Education과 Microsoft 365 중 무엇을 쓰는지는 행사 전에 전산 담당 부서에 확인해 안내합니다.</a:t>
            </a:r>
          </a:p>
          <a:p/>
          <a:p>
            <a:r>
              <a:t>참가자에게 할 질문: 교수님이 쓰는 도구의 학습 설정을 확인해 보신 적이 있나요?</a:t>
            </a:r>
          </a:p>
          <a:p/>
          <a:p>
            <a:r>
              <a:t>예상 오류와 대응: 요금과 한도는 자주 바뀝니다. '2026년 9월 기준, 쓰기 전에 각 서비스 화면에서 확인'이라고 말합니다. 뤼튼의 약관·학습 설정과 Gemini 개인 계정 기본값은 강사가 확인하지 못했습니다(미검증). 화면에는 '설정에서 직접 확인'으로만 적었습니다.</a:t>
            </a:r>
          </a:p>
          <a:p/>
          <a:p>
            <a:r>
              <a:t>수업 링크: https://zeusk302-png.github.io/gyeongnam-ai-workshop/#tool-comparison</a:t>
            </a:r>
          </a:p>
          <a:p/>
          <a:p>
            <a:r>
              <a:t>출처: https://workspace.google.com/products/notebooklm/ ; https://blog.google/innovation-and-ai/products/gemini-notebook/notebooklm-gemini-notebook/ ; https://www.anthropic.com/news/updates-to-our-consumer-terms ; https://blog.google/products-and-platforms/products/education/gemini-enterprise-grade-data-protection/ ; https://help.openai.com/en/articles/7730893-data-controls-faq ; https://learn.microsoft.com/en-us/microsoft-365/copilot/enterprise-data-protection ; https://www.perplexity.ai/help-center/en/articles/11564572-data-collection-at-perplexity ; https://consensus.app ; https://elicit.com ; https://wrtn.ai — 같은 데이터: 제작자료/pptx-v2.0/tool-table.json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14. 질문은 네 줄이면 충분합니다: 역할·자료·형태·금지</a:t>
            </a:r>
          </a:p>
          <a:p/>
          <a:p>
            <a:r>
              <a:t>시간: 시작 후 22–23분, 1분 30초</a:t>
            </a:r>
          </a:p>
          <a:p/>
          <a:p>
            <a:r>
              <a:t>말할 내용: 오늘 모든 질문은 네 줄로 되어 있습니다. 역할은 AI가 누구처럼 일할지, 자료는 무엇만 보고 답할지, 형태는 표·개수·길이, 금지는 지어내기·개인정보·단정처럼 하지 말아야 할 것입니다. 특히 '자료'와 '금지'가 AI가 지어내는 것을 줄여 줍니다. 방금 시연한 질문이 바로 이 네 줄이었습니다.</a:t>
            </a:r>
          </a:p>
          <a:p/>
          <a:p>
            <a:r>
              <a:t>참가자에게 할 질문: 네 줄 중 평소 질문에서 가장 자주 빠지는 줄은 어느 것인가요?</a:t>
            </a:r>
          </a:p>
          <a:p/>
          <a:p>
            <a:r>
              <a:t>예상 오류와 대응: '영어로 써야 잘하나요?'라는 질문에는 한국어로 충분하다고 답합니다.</a:t>
            </a:r>
          </a:p>
          <a:p/>
          <a:p>
            <a:r>
              <a:t>수업 링크: https://zeusk302-png.github.io/gyeongnam-ai-workshop/#tool-comparison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15. 학생 정보는 세 겹으로 지킵니다</a:t>
            </a:r>
          </a:p>
          <a:p/>
          <a:p>
            <a:r>
              <a:t>시간: 시작 후 23–25분, 2분</a:t>
            </a:r>
          </a:p>
          <a:p/>
          <a:p>
            <a:r>
              <a:t>말할 내용: 실제 업무에 쓰기 전 약속입니다. 첫째, 학교 계정으로 쓰는 도구가 있으면 그것부터 씁니다. 없으면 개인 계정으로 쓰되 학습 설정을 끕니다. Google Workspace for Education의 Gemini·Gemini Notebook, Microsoft 365 학교 계정의 Copilot Chat은 기관 약관상 입력 자료를 모델 학습에 쓰지 않습니다. 둘째, 개인 계정이면 학습 설정을 끕니다. ChatGPT는 설정 &gt; 데이터 제어 &gt; '모두를 위한 모델 개선', Claude는 개인정보 설정의 'Claude 개선에 참여', Perplexity는 'AI data retention'입니다. Gemini 개인 계정은 앱 활동 설정을 확인합니다. 셋째, 넣기 전에 이름·학번·연락처를 지웁니다. 오늘은 가상 자료만 씁니다.</a:t>
            </a:r>
          </a:p>
          <a:p/>
          <a:p>
            <a:r>
              <a:t>참가자에게 할 질문: 우리 학교가 Google과 Microsoft 중 어느 쪽 학교 계정을 주는지 아시는 분?</a:t>
            </a:r>
          </a:p>
          <a:p/>
          <a:p>
            <a:r>
              <a:t>예상 오류와 대응: 학교 계정 여부가 불확실하면 '전산 담당 부서 확인 필요'로 남깁니다. 가상 자료에도 전화번호·학번이 일부 들어 있습니다. AI가 걸러 내는지 보는 연습이라고 안내합니다.</a:t>
            </a:r>
          </a:p>
          <a:p/>
          <a:p>
            <a:r>
              <a:t>수업 링크: https://zeusk302-png.github.io/gyeongnam-ai-workshop/#tool-comparison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16. Gemini Notebook (구 NotebookLM): 논문 다섯 편을 표 한 장으로</a:t>
            </a:r>
          </a:p>
          <a:p/>
          <a:p>
            <a:r>
              <a:t>시간: 시작 후 25–26분, 1분</a:t>
            </a:r>
          </a:p>
          <a:p/>
          <a:p>
            <a:r>
              <a:t>말할 내용: 첫 실습입니다. NotebookLM은 2026년 7월 16일 이름이 'Gemini Notebook'으로 바뀌었습니다. 주소(notebooklm.google)와 요금은 같습니다. 이 도구는 내가 올린 자료 안에서만 답하고, 문장마다 어느 자료의 어디인지 번호를 붙입니다. 오늘은 가상 논문 다섯 편으로 비교표, 인용 확인, 오디오 요약을 합니다.</a:t>
            </a:r>
          </a:p>
          <a:p/>
          <a:p>
            <a:r>
              <a:t>참가자에게 할 질문: 논문을 읽고 정리할 때 가장 번거로운 단계는 무엇인가요?</a:t>
            </a:r>
          </a:p>
          <a:p/>
          <a:p>
            <a:r>
              <a:t>예상 오류와 대응: 화면에 'NotebookLM' 이름이나 옛 로고가 보여도 같은 서비스라고 안내합니다.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17. 비교표 초안은 AI가 쓰고, 해석은 교수님이 합니다</a:t>
            </a:r>
          </a:p>
          <a:p/>
          <a:p>
            <a:r>
              <a:t>시간: 시작 후 26–28분, 2분</a:t>
            </a:r>
          </a:p>
          <a:p/>
          <a:p>
            <a:r>
              <a:t>말할 내용: 혼자 읽으면 다섯 편을 차례로 읽고 표를 채웁니다. 다섯째 편을 읽을 때 첫 편의 표본 수가 흐려집니다. Gemini Notebook이 먼저 읽으면 비교표 초안을 받고, 숫자마다 인용을 눌러 원문을 보고, 해석은 교수님이 합니다. 시간 빈칸은 실습이 끝난 뒤 함께 채웁니다.</a:t>
            </a:r>
          </a:p>
          <a:p/>
          <a:p>
            <a:r>
              <a:t>참가자에게 할 질문: 평소 논문 한 편 정리에 몇 분쯤 쓰시나요?</a:t>
            </a:r>
          </a:p>
          <a:p/>
          <a:p>
            <a:r>
              <a:t>예상 오류와 대응: 'AI가 요약하면 논문을 안 읽어도 되나요?'에는 '읽을 곳을 좁혀 주는 것이지 읽기를 대신하지 않는다'고 답합니다.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18. 새 노트북에는 논문 다섯 편만 소스로 올립니다</a:t>
            </a:r>
          </a:p>
          <a:p/>
          <a:p>
            <a:r>
              <a:t>시간: 시작 후 28–31분, 3분</a:t>
            </a:r>
          </a:p>
          <a:p/>
          <a:p>
            <a:r>
              <a:t>말할 내용: notebooklm.google에 들어가 '새 노트북'을 만듭니다. 왼쪽 소스 칸의 '+ 소스 추가'를 누르고 02A부터 02E까지 다섯 파일만 고릅니다. 질문 모음이나 해설 파일은 넣지 않습니다. 이 그림은 화면 구성을 단순하게 그린 예시입니다. 실제 화면의 버튼 모양이나 이름은 조금 다를 수 있습니다. 다섯 개가 소스 목록에 모두 보이고 체크되어 있으면 다음으로 갑니다.</a:t>
            </a:r>
          </a:p>
          <a:p/>
          <a:p>
            <a:r>
              <a:t>참가자에게 할 질문: 소스 목록에 다섯 개가 다 보이시나요?</a:t>
            </a:r>
          </a:p>
          <a:p/>
          <a:p>
            <a:r>
              <a:t>예상 오류와 대응: 파일이 안 올라가면 파일 내용을 복사해 '복사된 텍스트'로 붙여 넣습니다. 해설 파일(90번)을 올렸으면 소스에서 지우라고 안내합니다. 로그인이 안 되면 짝과 함께 봅니다.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19. 다섯 편의 연구 설계를 한 표로 비교합니다</a:t>
            </a:r>
          </a:p>
          <a:p/>
          <a:p>
            <a:r>
              <a:t>시간: 시작 후 31–43분, 12분</a:t>
            </a:r>
          </a:p>
          <a:p/>
          <a:p>
            <a:r>
              <a:t>말할 내용: 질문 2-1을 사이트에서 복사해 붙여 넣습니다. 오른쪽은 결과가 어떤 모양으로 나오는지 보여 주는 미리보기입니다. 표가 나오면 먼저 논문 C의 78.3% 옆 인용 번호를 눌러 몇 명 중 몇 명인지 봅니다. 짝과 함께 해도 됩니다. 8분이 지나면 '표가 나온 분 손'으로 진행 상황을 봅니다. 먼저 끝난 분은 논문 A의 효과가 몇 점인지도 인용으로 확인합니다.</a:t>
            </a:r>
          </a:p>
          <a:p/>
          <a:p>
            <a:r>
              <a:t>참가자에게 할 질문: 표에서 가장 먼저 확인하고 싶은 숫자는 무엇인가요?</a:t>
            </a:r>
          </a:p>
          <a:p/>
          <a:p>
            <a:r>
              <a:t>예상 오류와 대응: 표가 옆으로 잘리면 '표를 두 개로 나눠 줘'라고 다시 요청합니다. 인용 번호가 안 보이면 답변 속 작은 숫자 위에 마우스를 올립니다. 효과크기로 순위를 매기면 '설계가 달라 순위를 매기지 않는다'를 짚습니다.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20. 이 세 문장, 논문에 그대로 써도 될까요?</a:t>
            </a:r>
          </a:p>
          <a:p/>
          <a:p>
            <a:r>
              <a:t>시간: 시작 후 43–53분, 10분</a:t>
            </a:r>
          </a:p>
          <a:p/>
          <a:p>
            <a:r>
              <a:t>말할 내용: 질문 2-2입니다. 동료 논문 초고에 있는 세 문장을 AI에게 판정시킵니다. 먼저 교수님이 직접 맞음·일부 맞음·틀림 중 하나를 골라 보고, 그다음 AI 판정과 인용을 확인합니다. 세 문장 모두 '일부 맞음' 이하가 정답입니다. 3분 동안 직접 판단, 7분 동안 AI 판정과 인용 확인을 합니다.</a:t>
            </a:r>
          </a:p>
          <a:p/>
          <a:p>
            <a:r>
              <a:t>참가자에게 할 질문: 세 문장 중 '맞음'이라고 생각한 문장이 있나요? 손으로 표시해 주세요.</a:t>
            </a:r>
          </a:p>
          <a:p/>
          <a:p>
            <a:r>
              <a:t>예상 오류와 대응: AI가 판정을 흐리게 쓰면('어느 정도 맞다') '맞음/일부 맞음/틀림 중 하나로만 답해'라고 다시 요청합니다. 근거를 못 찾으면 '근거 없음'이라고 쓰게 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21. 세 문장 모두 원문과 조금씩 다릅니다</a:t>
            </a:r>
          </a:p>
          <a:p/>
          <a:p>
            <a:r>
              <a:t>시간: 시작 후 53–56분, 3분</a:t>
            </a:r>
          </a:p>
          <a:p/>
          <a:p>
            <a:r>
              <a:t>말할 내용: 정답입니다. 첫째 문장은 사용자 862명 기준 78.3%라서 전체 학생으로 쓰면 틀립니다. 전체 기준은 56.1%입니다. 둘째 문장의 11.2점은 과제 점수입니다. AI 없이 치른 시험은 0.8점 차이로 의미가 없었습니다(p=.61). 셋째 문장의 4.3점은 사후 점수만 비교한 값이고, 사전 차이를 통제하면 2.6점입니다.</a:t>
            </a:r>
          </a:p>
          <a:p/>
          <a:p>
            <a:r>
              <a:t>참가자에게 할 질문: AI 판정이 이 정답과 달랐던 분이 있나요? 어느 문장이었나요?</a:t>
            </a:r>
          </a:p>
          <a:p/>
          <a:p>
            <a:r>
              <a:t>예상 오류와 대응: '일부 맞음'과 '틀림'의 경계를 묻는 분께는 첫째 문장은 둘 다 인정한다고 답합니다.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22. 출처 번호가 붙어도 퍼센트의 기준은 틀릴 수 있습니다</a:t>
            </a:r>
          </a:p>
          <a:p/>
          <a:p>
            <a:r>
              <a:t>시간: 시작 후 56–59분, 3분</a:t>
            </a:r>
          </a:p>
          <a:p/>
          <a:p>
            <a:r>
              <a:t>말할 내용: 방금 정답을 본 1번 문장이 AI 표에서는 어떻게 나오는지 봅니다. 이번 실습의 주 함정입니다. 논문 C의 초록에는 '1,204명에게 물었다… 도움이 된다는 응답은 78.3%'라고 쓰여 있습니다. 그래서 AI가 '대학생의 78.3%'로 요약하기 쉽습니다. 본문 2.2절을 보면 이 비율은 사용 경험이 있는 862명 기준입니다. 전체 1,204명 기준은 56.1%입니다. 인용 번호가 있어도 눌러서 기준까지 봐야 합니다.</a:t>
            </a:r>
          </a:p>
          <a:p/>
          <a:p>
            <a:r>
              <a:t>참가자에게 할 질문: 여러분의 표에는 78.3%가 어떻게 적혀 있나요?</a:t>
            </a:r>
          </a:p>
          <a:p/>
          <a:p>
            <a:r>
              <a:t>예상 오류와 대응: AI가 이미 862명 기준이라고 맞게 썼다면 칭찬하고, 초록만 인용한 경우와 비교해 보여 줍니다.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23. 학과 회의에서 틀어 줄 5분 오디오 요약을 만듭니다</a:t>
            </a:r>
          </a:p>
          <a:p/>
          <a:p>
            <a:r>
              <a:t>시간: 시작 후 59–66분, 7분</a:t>
            </a:r>
          </a:p>
          <a:p/>
          <a:p>
            <a:r>
              <a:t>말할 내용: 스튜디오 패널의 '오디오 개요' 옆 '맞춤설정'을 누르고 질문 2-3을 붙여 넣습니다. 만드는 데 몇 분 걸리므로 그동안 비교표를 다시 봅니다. 완성되면 앞부분 1–2분만 들어 봅니다. 핵심은 '학생 78%'가 어떤 기준으로 나오는지 듣는 것입니다. 오디오도 소스를 잘못 요약할 수 있습니다.</a:t>
            </a:r>
          </a:p>
          <a:p/>
          <a:p>
            <a:r>
              <a:t>참가자에게 할 질문: 오디오에서 '78%'가 나왔나요? 어떤 기준이었나요?</a:t>
            </a:r>
          </a:p>
          <a:p/>
          <a:p>
            <a:r>
              <a:t>예상 오류와 대응: 무료 사용량 한도에 걸리면 강사가 만든 오디오를 함께 듣습니다. 소리가 안 나오면 이어폰을 쓰거나 스크립트 보기를 켭니다. 언어가 영어로 나오면 출력 언어를 한국어로 바꿉니다.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24. 과제 점수는 올랐고, 혼자 치른 시험은 거의 그대로였습니다</a:t>
            </a:r>
          </a:p>
          <a:p/>
          <a:p>
            <a:r>
              <a:t>시간: 시작 후 66–70분, 4분</a:t>
            </a:r>
          </a:p>
          <a:p/>
          <a:p>
            <a:r>
              <a:t>말할 내용: 다섯 편이 공통으로 말하는 것입니다. AI는 과제와 산출물 점수를 높였지만, AI 없이 혼자 치른 시험의 효과는 작거나 없었습니다(B는 0.8점, E는 g=0.12로 신뢰구간이 0을 포함). 차이점은 사용 방법을 안내했을 때 결과가 나았다는 것입니다(D 가이드 사용 +6.8점). 설계가 다르므로 효과크기로 순위를 매기지 않습니다. 이 결론은 뒤의 '학생의 AI 사용'에서 다시 씁니다. 정리: 인용은 누르기 전까지는 확인한 것이 아닙니다.</a:t>
            </a:r>
          </a:p>
          <a:p/>
          <a:p>
            <a:r>
              <a:t>참가자에게 할 질문: 이 결과를 교수님 수업에 옮기면, 무엇을 바꾸고 싶으신가요?</a:t>
            </a:r>
          </a:p>
          <a:p/>
          <a:p>
            <a:r>
              <a:t>예상 오류와 대응: 가상 논문이라는 점을 다시 말합니다. 실제 연구 동향으로 받아들이지 않도록 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25. Claude: 강의평가 서술형 180개를 끝까지 세어 봅니다</a:t>
            </a:r>
          </a:p>
          <a:p/>
          <a:p>
            <a:r>
              <a:t>시간: 시작 후 70–71분, 1분</a:t>
            </a:r>
          </a:p>
          <a:p/>
          <a:p>
            <a:r>
              <a:t>말할 내용: 두 번째 실습입니다. Claude는 긴 자료를 읽고, 세고, 나누고, 초안을 쓰는 데 강합니다. 가상 강의평가 서술형 응답 180개를 주제별로 세고, 바꿀 것을 골라 다음 학기 계획과 학생 공지를 씁니다. 개인 무료 계정이라면 설정에서 'Claude 개선에 참여'가 꺼져 있는지 먼저 확인합니다.</a:t>
            </a:r>
          </a:p>
          <a:p/>
          <a:p>
            <a:r>
              <a:t>참가자에게 할 질문: 지난 학기 강의평가 서술형을 끝까지 다 읽으셨나요?</a:t>
            </a:r>
          </a:p>
          <a:p/>
          <a:p>
            <a:r>
              <a:t>예상 오류와 대응: Claude 로그인이 안 되면 Gemini로 같은 질문을 해도 됩니다. 결과 형식만 조금 다릅니다.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26. 180개를 끝까지 읽고 세는 일은 AI에게 맡깁니다</a:t>
            </a:r>
          </a:p>
          <a:p/>
          <a:p>
            <a:r>
              <a:t>시간: 시작 후 71–73분, 2분</a:t>
            </a:r>
          </a:p>
          <a:p/>
          <a:p>
            <a:r>
              <a:t>말할 내용: 혼자 읽으면 앞의 몇 개만 읽고 인상으로 판단하기 쉽습니다. 개인정보가 섞인 응답도 그대로 봅니다. Claude가 먼저 읽으면 개인정보가 든 응답을 먼저 찾고, 주제별로 나눠 세고, 교수님은 무엇을 바꿀지 고릅니다.</a:t>
            </a:r>
          </a:p>
          <a:p/>
          <a:p>
            <a:r>
              <a:t>참가자에게 할 질문: 강한 비판 한두 개가 머리에 오래 남았던 경험이 있으신가요?</a:t>
            </a:r>
          </a:p>
          <a:p/>
          <a:p>
            <a:r>
              <a:t>예상 오류와 대응: 'AI가 센 숫자를 믿어도 되나요?'에는 '합계가 180인지 직접 더해 보는 것까지가 실습'이라고 답합니다.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27. 응답 180개를 주제별로 나누고 개수를 셉니다</a:t>
            </a:r>
          </a:p>
          <a:p/>
          <a:p>
            <a:r>
              <a:t>시간: 시작 후 73–85분, 12분</a:t>
            </a:r>
          </a:p>
          <a:p/>
          <a:p>
            <a:r>
              <a:t>말할 내용: 03_강의평가_서술형응답.csv를 올리고 질문 3-1을 붙여 넣습니다. CSV가 엑셀에서 깨져 보여도 그대로 올리면 됩니다(UTF-8). 표가 나오면 응답 수를 모두 더해 180인지 봅니다. 정답은 주제 14개이지만 AI가 합치거나 나누는 것은 괜찮고, 주제별 개수는 ±2까지 인정합니다.</a:t>
            </a:r>
          </a:p>
          <a:p/>
          <a:p>
            <a:r>
              <a:t>참가자에게 할 질문: 여러분 표의 합계는 몇 개인가요?</a:t>
            </a:r>
          </a:p>
          <a:p/>
          <a:p>
            <a:r>
              <a:t>예상 오류와 대응: 합이 180이 아니면 '각 주제의 응답번호를 모두 적고 다시 세어 줘'라고 요청합니다. 파일 업로드가 안 되면 CSV 내용을 복사해 붙여 넣습니다. 답이 끊기면 '이어서'를 입력합니다.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28. 개인정보가 든 응답 6개를 먼저 찾아 결과에서 뺍니다</a:t>
            </a:r>
          </a:p>
          <a:p/>
          <a:p>
            <a:r>
              <a:t>시간: 시작 후 85–87분, 2분</a:t>
            </a:r>
          </a:p>
          <a:p/>
          <a:p>
            <a:r>
              <a:t>말할 내용: 정답 기준입니다. 개인정보가 들어간 응답은 여섯 개입니다. R031 전화번호, R101 다른 학생 이름, R114 다른 학생 이름 두 명, R146 학번과 전화번호, R158 본인 이름과 메일 주소, R166 치료 이력 같은 건강 정보입니다. 이 번호만 목록으로 받고, 내용은 결과표에 옮기지 않게 합니다. AI가 결과표에 전화번호나 이름을 옮겨 적었으면 바로 짚습니다.</a:t>
            </a:r>
          </a:p>
          <a:p/>
          <a:p>
            <a:r>
              <a:t>참가자에게 할 질문: 여러분 결과에서 여섯 개를 모두 찾았나요? 빠진 번호는 무엇인가요?</a:t>
            </a:r>
          </a:p>
          <a:p/>
          <a:p>
            <a:r>
              <a:t>예상 오류와 대응: 건강 정보(R166)를 개인정보로 보지 않는 경우가 많습니다. '건강 정보도 민감정보'라고 설명합니다.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29. 수업과 관계없는 의견을 개선점으로 세기도 합니다</a:t>
            </a:r>
          </a:p>
          <a:p/>
          <a:p>
            <a:r>
              <a:t>시간: 시작 후 87–89분, 2분</a:t>
            </a:r>
          </a:p>
          <a:p/>
          <a:p>
            <a:r>
              <a:t>말할 내용: 재현 예시입니다. AI가 학식, 셔틀버스, 열람실 같은 의견을 '개선 요청'으로 셀 수 있습니다. 원문을 보면 이런 응답은 대부분 '기타 하고 싶은 말' 문항에 있고, 수업과 관계가 없습니다. 이런 응답 12개는 개선점에서 뺍니다. 의미 없는 응답(없음, 기호 등) 19개도 따로 둡니다.</a:t>
            </a:r>
          </a:p>
          <a:p/>
          <a:p>
            <a:r>
              <a:t>참가자에게 할 질문: 여러분 표에 수업과 관계없는 주제가 개선점으로 들어가 있나요?</a:t>
            </a:r>
          </a:p>
          <a:p/>
          <a:p>
            <a:r>
              <a:t>예상 오류와 대응: 수업 밖 의견을 '학교에 전달할 것'으로 따로 두는 것은 괜찮다고 안내합니다.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30. 반대 의견은 분반을 나눠 봐야 이유가 보입니다</a:t>
            </a:r>
          </a:p>
          <a:p/>
          <a:p>
            <a:r>
              <a:t>시간: 시작 후 89–91분, 2분</a:t>
            </a:r>
          </a:p>
          <a:p/>
          <a:p>
            <a:r>
              <a:t>말할 내용: 진도가 빠르다는 응답이 14개, 느리거나 쉽다는 응답이 5개입니다. 둘 다 01분반에 몰려 있습니다(빠르다 10, 느리다 4). 01분반에 수준 차이가 크다는 뜻입니다. 그래서 '진도를 늦춘다'가 아니라 초반 기초는 줄이고 회귀 단원에 시간을 더 쓰는 쪽이 맞습니다. 과제 양도 많다 13, 적당하다 6으로 갈립니다. 핵심은 과제 수보다 마감이 겹치는 것입니다.</a:t>
            </a:r>
          </a:p>
          <a:p/>
          <a:p>
            <a:r>
              <a:t>참가자에게 할 질문: AI가 분반별 숫자까지 나눠 주었나요? 아니면 어떻게 다시 물으시겠어요?</a:t>
            </a:r>
          </a:p>
          <a:p/>
          <a:p>
            <a:r>
              <a:t>예상 오류와 대응: 분반이 안 나뉘어 있으면 '분반별로 나눠 다시 세어 줘'라고 요청하게 합니다. T03 일부는 '슬라이드 넘기는 속도'라 T09로 분류해도 맞습니다.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31. 개선점을 세 칸으로 나누고 학생 공지까지 씁니다</a:t>
            </a:r>
          </a:p>
          <a:p/>
          <a:p>
            <a:r>
              <a:t>시간: 시작 후 91–101분, 10분</a:t>
            </a:r>
          </a:p>
          <a:p/>
          <a:p>
            <a:r>
              <a:t>말할 내용: 같은 대화에서 질문 3-2와 3-3을 이어서 보냅니다. 3-2는 개선점을 '내가 바꿀 것, 학교에 요청할 것, 그대로 둘 것' 세 칸으로 나눕니다. 3-3은 다음 학기 계획 한 쪽과 학생 공지 다섯 문장입니다. 공지에 강의실 교체나 성적 기준 완화처럼 교수가 혼자 정할 수 없는 약속이 있는지 봅니다.</a:t>
            </a:r>
          </a:p>
          <a:p/>
          <a:p>
            <a:r>
              <a:t>참가자에게 할 질문: 공지에 지킬 수 없는 약속이 들어갔나요?</a:t>
            </a:r>
          </a:p>
          <a:p/>
          <a:p>
            <a:r>
              <a:t>예상 오류와 대응: 새 대화를 열면 앞의 표를 잊습니다. 같은 대화에서 이어 가라고 안내합니다. 무료 한도에 걸리면 짝의 화면을 함께 봅니다.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32. 개선점은 세 칸으로 나눠야 지킬 약속만 남습니다</a:t>
            </a:r>
          </a:p>
          <a:p/>
          <a:p>
            <a:r>
              <a:t>시간: 시작 후 101–105분, 4분</a:t>
            </a:r>
          </a:p>
          <a:p/>
          <a:p>
            <a:r>
              <a:t>말할 내용: 정답 기준입니다. 내가 바꿀 것은 조별 과제 개인 기여 반영(14), 과제 피드백 속도(12), 평가 기준 미리 공개(9)입니다. 진도 조절과 슬라이드 사전 게시, 공지 채널 정리도 여기에 들어갑니다. 학교에 요청할 것은 마이크·냉난방 같은 강의실 환경(6, 모두 02분반)입니다. 그대로 둘 것은 실제 데이터 실습(26)과 친절한 설명(26)입니다. 좋은 점을 지키는 것도 계획입니다. 이 결과는 오후 강의계획서 수정과 이어집니다.</a:t>
            </a:r>
          </a:p>
          <a:p/>
          <a:p>
            <a:r>
              <a:t>참가자에게 할 질문: 세 칸 중 가장 먼저 손대고 싶은 것은 무엇인가요?</a:t>
            </a:r>
          </a:p>
          <a:p/>
          <a:p>
            <a:r>
              <a:t>예상 오류와 대응: 숫자가 ±2 다르면 맞은 것으로 봅니다. 수업 밖 의견을 개선점에 넣었으면 앞 장을 다시 가리킵니다.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33. 10분 쉬고, Gemini로 강의계획서를 고칩니다</a:t>
            </a:r>
          </a:p>
          <a:p/>
          <a:p>
            <a:r>
              <a:t>시간: 시작 후 105–115분, 10분</a:t>
            </a:r>
          </a:p>
          <a:p/>
          <a:p>
            <a:r>
              <a:t>말할 내용: 10분 쉽니다. 쉬는 동안 Gemini(gemini.google.com)에 로그인해 두시고, 사이트에서 05_강의계획서_초안.md와 04_학칙발췌_성적과출석.md를 내려받아 두세요. 로그인이 안 되는 분은 이 시간에 도와드립니다.</a:t>
            </a:r>
          </a:p>
          <a:p/>
          <a:p>
            <a:r>
              <a:t>참가자에게 할 질문: 쉬는 동안 로그인이 안 되는 분은 손을 들어 주세요.</a:t>
            </a:r>
          </a:p>
          <a:p/>
          <a:p>
            <a:r>
              <a:t>예상 오류와 대응: 휴식이 길어지면 115분에 바로 Gemini 실습을 시작합니다. 앞 실습을 못 끝낸 분은 사이트의 해설로 결과를 확인합니다.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34. Gemini: 강의계획서와 학칙 근거 답장을 고칩니다</a:t>
            </a:r>
          </a:p>
          <a:p/>
          <a:p>
            <a:r>
              <a:t>시간: 시작 후 115–116분, 1분</a:t>
            </a:r>
          </a:p>
          <a:p/>
          <a:p>
            <a:r>
              <a:t>말할 내용: 세 번째 실습입니다. Gemini는 Google 문서·메일과 이어지는 범용 AI입니다. 학교가 Google Workspace for Education을 쓰면 학교 계정으로 쓰는 것이 좋습니다. 오늘은 파일을 직접 올려서 강의계획서 고치기, 기말 프로젝트 루브릭, 학칙을 근거로 한 답장 세 가지를 합니다. 활동마다 새 채팅을 엽니다.</a:t>
            </a:r>
          </a:p>
          <a:p/>
          <a:p>
            <a:r>
              <a:t>참가자에게 할 질문: 강의계획서를 새 학기마다 얼마나 고치시나요?</a:t>
            </a:r>
          </a:p>
          <a:p/>
          <a:p>
            <a:r>
              <a:t>예상 오류와 대응: Gemini 로그인이 안 되면 Claude로 같은 질문을 해도 됩니다.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35. 활동마다 새 채팅을 열고 파일을 올립니다</a:t>
            </a:r>
          </a:p>
          <a:p/>
          <a:p>
            <a:r>
              <a:t>시간: 시작 후 116–118분, 2분</a:t>
            </a:r>
          </a:p>
          <a:p/>
          <a:p>
            <a:r>
              <a:t>말할 내용: gemini.google.com에서 왼쪽 위 '새 채팅'을 누릅니다. 입력창 왼쪽 '+'를 눌러 파일을 올립니다. 4-1은 강의계획서 초안과 학칙 발췌 두 파일, 4-3은 학칙 발췌와 메일 40통 두 파일입니다. 활동마다 새 채팅을 여는 이유는 앞 대화의 자료가 섞이지 않게 하기 위해서입니다. 이 그림은 화면 구성을 단순하게 그린 예시이며 실제 화면과 버튼 모양이 조금 다를 수 있습니다.</a:t>
            </a:r>
          </a:p>
          <a:p/>
          <a:p>
            <a:r>
              <a:t>참가자에게 할 질문: '+' 버튼이 보이시나요?</a:t>
            </a:r>
          </a:p>
          <a:p/>
          <a:p>
            <a:r>
              <a:t>예상 오류와 대응: '+'가 안 보이면 로그인 상태인지 확인합니다. 파일 업로드가 막힌 계정이면 파일 내용을 복사해 붙여 넣습니다.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36. 강의계획서 초안의 틀린 곳을 학칙과 맞춰 고칩니다</a:t>
            </a:r>
          </a:p>
          <a:p/>
          <a:p>
            <a:r>
              <a:t>시간: 시작 후 118–128분, 10분</a:t>
            </a:r>
          </a:p>
          <a:p/>
          <a:p>
            <a:r>
              <a:t>말할 내용: 새 채팅에 05_강의계획서_초안.md와 04_학칙발췌_성적과출석.md를 올리고 질문 4-1을 붙여 넣습니다. '위치 | 문제 | 고친 문장' 표가 먼저 나오고, 고친 계획서 전체가 뒤따릅니다. 고친 평가 비율을 더해 100%인지 봅니다. 어느 항목을 줄일지는 교수가 정할 일이라 [확인 필요]로 남았는지도 봅니다.</a:t>
            </a:r>
          </a:p>
          <a:p/>
          <a:p>
            <a:r>
              <a:t>참가자에게 할 질문: AI가 찾은 문제는 몇 개인가요?</a:t>
            </a:r>
          </a:p>
          <a:p/>
          <a:p>
            <a:r>
              <a:t>예상 오류와 대응: AI가 비율을 임의로 조정했으면 '내가 정하지 않은 비율은 [확인 필요]로 남겨'라고 다시 요청합니다. 4주차 '9/24 휴강 확인'에 대해 휴강 여부를 지어내는지도 봅니다.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37. 초안에는 고칠 곳이 열두 군데 숨어 있습니다</a:t>
            </a:r>
          </a:p>
          <a:p/>
          <a:p>
            <a:r>
              <a:t>시간: 시작 후 128–131분, 3분</a:t>
            </a:r>
          </a:p>
          <a:p/>
          <a:p>
            <a:r>
              <a:t>말할 내용: 정답 기준입니다. 핵심 네 개는 평가 비율 합 110%(10+15+15+25+35+10), '결석 5회 이상 F'(학칙은 8회부터 F, 지각 3회는 결석 1회), 과제2 마감이 10/20과 10/15로 다름, 9주차가 두 번이고 13주차가 없음입니다. 그 밖에 늦은 제출 감점 기준 없음, 기말 프로젝트 평가 기준 '추후 안내', 면담 장소 미정, 공지 채널 두 곳, 명사 나열식 목표, '사유서 제출'(학칙은 포털 공결 신청), 슬라이드 수업 후 게시, AI 사용 원칙 없음이 있습니다.</a:t>
            </a:r>
          </a:p>
          <a:p/>
          <a:p>
            <a:r>
              <a:t>참가자에게 할 질문: AI가 놓친 것은 무엇이었나요?</a:t>
            </a:r>
          </a:p>
          <a:p/>
          <a:p>
            <a:r>
              <a:t>예상 오류와 대응: 110%를 AI가 바로 100%로 바꿨다면 어느 항목을 줄였는지 보고, 그 결정은 교수 몫이라고 짚습니다.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38. 기말 프로젝트 루브릭에 '개인 기여'를 넣습니다</a:t>
            </a:r>
          </a:p>
          <a:p/>
          <a:p>
            <a:r>
              <a:t>시간: 시작 후 131–137분, 6분</a:t>
            </a:r>
          </a:p>
          <a:p/>
          <a:p>
            <a:r>
              <a:t>말할 내용: 같은 채팅에서 질문 4-2를 보냅니다. 100점 만점, 기준 5개, 수준 4단계 루브릭입니다. 강의평가에서 가장 많았던 불만 중 하나가 조별 과제 무임승차(14)였으므로 '개인 기여' 기준과 조원 평가 반영 방법을 넣습니다. 배점을 더해 100점인지, 칸마다 눈으로 확인할 수 있는 행동으로 썼는지 봅니다.</a:t>
            </a:r>
          </a:p>
          <a:p/>
          <a:p>
            <a:r>
              <a:t>참가자에게 할 질문: 루브릭 칸 중 '우수함'처럼 흐린 말이 남은 곳이 있나요?</a:t>
            </a:r>
          </a:p>
          <a:p/>
          <a:p>
            <a:r>
              <a:t>예상 오류와 대응: AI가 계획서에 없는 제출물(예: 영상)을 더하면 빼라고 요청합니다. 배점 합이 100이 아니면 다시 계산하게 합니다.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39. 학칙을 근거로 까다로운 메일 다섯 통에 답합니다</a:t>
            </a:r>
          </a:p>
          <a:p/>
          <a:p>
            <a:r>
              <a:t>시간: 시작 후 137–145분, 8분</a:t>
            </a:r>
          </a:p>
          <a:p/>
          <a:p>
            <a:r>
              <a:t>말할 내용: 새 채팅을 열고 학칙 발췌와 메일 40통을 올립니다. 질문 4-3은 오늘을 2026-10-19(월)로 알려 주고, M11·M16·M23·M33·M35 다섯 통의 답장과 근거 조항을 받습니다. M16 답장부터 읽습니다. 윤서아 학생은 결석 6회, 지각 3회라 지금 결석 7회로 봅니다. 한 번 더 결석하면 8회로 F입니다.</a:t>
            </a:r>
          </a:p>
          <a:p/>
          <a:p>
            <a:r>
              <a:t>참가자에게 할 질문: M16 답장에 '한 번 더 결석하면 F'가 있나요?</a:t>
            </a:r>
          </a:p>
          <a:p/>
          <a:p>
            <a:r>
              <a:t>예상 오류와 대응: 날짜를 알려 주지 않으면 AI가 기한을 잘못 계산합니다. 질문 첫 줄의 날짜를 지우지 말라고 안내합니다. 보호자 메일(M35)에 성적을 알려 주는 답장이 나오면 바로 짚습니다.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40. 지각을 결석으로 바꾸는 계산에서 AI가 틀립니다</a:t>
            </a:r>
          </a:p>
          <a:p/>
          <a:p>
            <a:r>
              <a:t>시간: 시작 후 145–147분, 2분</a:t>
            </a:r>
          </a:p>
          <a:p/>
          <a:p>
            <a:r>
              <a:t>말할 내용: 재현 예시입니다. M16 윤서아 학생은 결석 6회, 지각 3회입니다. AI는 결석 6회만 보고 '7회까지 괜찮으니 한 번 더 결석해도 된다'고 쓰기 쉽습니다. 학칙 제12조 3항은 지각 3회를 결석 1회로 봅니다. 그래서 지금 이미 7회이고, 한 번 더 결석하면 8회로 F입니다(제12조 2항). 계산이 들어간 답장은 직접 한 번 더 셉니다.</a:t>
            </a:r>
          </a:p>
          <a:p/>
          <a:p>
            <a:r>
              <a:t>참가자에게 할 질문: 여러분의 M16 답장은 어느 쪽이었나요?</a:t>
            </a:r>
          </a:p>
          <a:p/>
          <a:p>
            <a:r>
              <a:t>예상 오류와 대응: AI가 맞게 계산했으면 '이번에는 맞았다'고 말하고, 지각 조항을 찾았는지 근거 조항 번호를 봅니다.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41. 조항 번호로 답하고, 판단할 건은 학과장에게 넘깁니다</a:t>
            </a:r>
          </a:p>
          <a:p/>
          <a:p>
            <a:r>
              <a:t>시간: 시작 후 147–150분, 3분</a:t>
            </a:r>
          </a:p>
          <a:p/>
          <a:p>
            <a:r>
              <a:t>말할 내용: 다섯 통 모두 조항 번호를 붙여 답합니다. 노란 줄(M23)만 교수가 혼자 정하지 않고 학과장 확인으로 넘깁니다. 나머지 네 통의 정답 요지입니다. M23은 서류 제출 기한(10/8)이 지나 원칙은 불인정이지만, 부득이한 사정이면 학과장 확인이 필요합니다. 교수가 된다·안 된다를 단정하지 않습니다(제13조 3·5항). M33은 철회 마감(10/16 17:00) 뒤 요청이라 교수가 대신 철회할 수 없습니다(제17조). M35는 보호자 문의라 본인 서면 동의 없이 알려 줄 수 없습니다(제19조 1항). M11은 외래 진료라 공결이 아니지만 사유 기록은 가능합니다(제13조 2항).</a:t>
            </a:r>
          </a:p>
          <a:p/>
          <a:p>
            <a:r>
              <a:t>참가자에게 할 질문: AI 답장이 학칙보다 강하게 단정한 곳이 있었나요?</a:t>
            </a:r>
          </a:p>
          <a:p/>
          <a:p>
            <a:r>
              <a:t>예상 오류와 대응: M23을 AI가 '인정 불가'로 단정하면, 학칙 5항의 학과장 확인 절차를 짚습니다.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42. 교수 83%가 학생이 AI 결과를 따져 보지 못할까 걱정했습니다</a:t>
            </a:r>
          </a:p>
          <a:p/>
          <a:p>
            <a:r>
              <a:t>시간: 시작 후 150–152분, 2분</a:t>
            </a:r>
          </a:p>
          <a:p/>
          <a:p>
            <a:r>
              <a:t>말할 내용: 실제 설문입니다. Digital Education Council이 2025년 1월 발표한 세계 교수 설문(28개국, 교수 1,681명 응답)입니다. 83%가 학생이 AI가 만든 결과를 비판적으로 평가하는 능력을 걱정했고, 54%는 지금의 학생 평가 방식이 AI 시대에 더 이상 충분하지 않다고 봤습니다. 학교의 AI 지침을 잘 알고 충분하다고 본 교수는 4%뿐이었습니다. 그래서 이번 시간에는 과제 설계와 수업 AI 원칙을 직접 씁니다.</a:t>
            </a:r>
          </a:p>
          <a:p/>
          <a:p>
            <a:r>
              <a:t>참가자에게 할 질문: 우리 학교 AI 지침을 읽어 보신 분 계신가요?</a:t>
            </a:r>
          </a:p>
          <a:p/>
          <a:p>
            <a:r>
              <a:t>예상 오류와 대응: 경남대 AI 지침 유무를 강사가 단정하지 않습니다. '교무 부서 공지를 확인하세요'라고 안내합니다.</a:t>
            </a:r>
          </a:p>
          <a:p/>
          <a:p>
            <a:r>
              <a:t>수업 링크: https://zeusk302-png.github.io/gyeongnam-ai-workshop/#student-ai-use</a:t>
            </a:r>
          </a:p>
          <a:p/>
          <a:p>
            <a:r>
              <a:t>출처: Digital Education Council, Global AI Faculty Survey 2025 (2025-01-20) https://www.digitaleducationcouncil.com/post/digital-education-council-global-ai-faculty-survey , 주요 결과 https://www.digitaleducationcouncil.com/dec-insights/what-faculty-want-key-results-from-the-global-ai-faculty-survey-2025 — 83%·54%·4%·1,681명·28개국은 2026-10-01 원문에서 확인.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43. 학생이 이 과제를 AI로 10분 만에 끝낸다면?</a:t>
            </a:r>
          </a:p>
          <a:p/>
          <a:p>
            <a:r>
              <a:t>시간: 시작 후 152–154분, 2분</a:t>
            </a:r>
          </a:p>
          <a:p/>
          <a:p>
            <a:r>
              <a:t>말할 내용: 20초 동안 생각할 시간을 드립니다. A는 사용을 금지하고 찾아내는 방법, B는 과정이 드러나게 과제를 바꾸는 방법입니다. 손으로 A와 B를 표시해 달라고 합니다. 어느 쪽이 정답이라고 말하지 않고, 다음 장의 가상 논문 D 결과로 넘어갑니다.</a:t>
            </a:r>
          </a:p>
          <a:p/>
          <a:p>
            <a:r>
              <a:t>참가자에게 할 질문: A와 B 중 어느 쪽인가요? 손으로 표시해 주세요.</a:t>
            </a:r>
          </a:p>
          <a:p/>
          <a:p>
            <a:r>
              <a:t>예상 오류와 대응: 'AI 탐지기를 쓰면 되지 않나요?'라는 질문에는 탐지 결과만으로 판단하기 어렵다는 점을 말하고, 오늘 과제 설계는 탐지기에 기대지 않는 방법이라고 답합니다.</a:t>
            </a:r>
          </a:p>
          <a:p/>
          <a:p>
            <a:r>
              <a:t>수업 링크: https://zeusk302-png.github.io/gyeongnam-ai-workshop/#student-ai-use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44. (가상 자료) 안내한 반이 금지한 반보다 6.8점 높았다면?</a:t>
            </a:r>
          </a:p>
          <a:p/>
          <a:p>
            <a:r>
              <a:t>시간: 시작 후 154–156분, 2분</a:t>
            </a:r>
          </a:p>
          <a:p/>
          <a:p>
            <a:r>
              <a:t>말할 내용: 먼저 분명히 합니다. 이 장은 오늘 실습용으로 만든 가상 논문 D입니다. 실제 연구 결과가 아닙니다. 가정해 보자는 질문으로 씁니다. 통계 수업 세 분반을 비교했습니다. 확인 과정을 넣어 AI 사용법을 안내한 반은 AI 없이 치른 기말 시험에서 74.9점으로, 금지한 반(68.1점)보다 6.8점 높았습니다(p=.01). 자유롭게 쓰게 한 반은 66.0점이지만, 금지한 반과의 차이 2.1점은 통계적으로 의미가 없습니다(p=.38). 논문 C에서는 AI를 써 본 학생의 52.7%가 수업의 AI 규칙을 모른다고 답했습니다. 그래서 과제 설계와 규칙 문구가 필요합니다.</a:t>
            </a:r>
          </a:p>
          <a:p/>
          <a:p>
            <a:r>
              <a:t>참가자에게 할 질문: 우리 수업의 AI 규칙을 학생들은 알고 있을까요?</a:t>
            </a:r>
          </a:p>
          <a:p/>
          <a:p>
            <a:r>
              <a:t>예상 오류와 대응: '자유 사용이 성적을 떨어뜨렸다'고 말하지 않도록 주의합니다. 가상 논문이며 분반 3개, 교수 한 명의 결과라는 한계도 말합니다.</a:t>
            </a:r>
          </a:p>
          <a:p/>
          <a:p>
            <a:r>
              <a:t>수업 링크: https://zeusk302-png.github.io/gyeongnam-ai-workshop/#student-ai-use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45. AI로 끝나지 않는 과제와 수업 AI 원칙을 씁니다</a:t>
            </a:r>
          </a:p>
          <a:p/>
          <a:p>
            <a:r>
              <a:t>시간: 시작 후 156–165분, 9분</a:t>
            </a:r>
          </a:p>
          <a:p/>
          <a:p>
            <a:r>
              <a:t>말할 내용: Claude나 Gemini 아무거나 씁니다. 강의계획서 초안을 올리고 질문 5-1(과제 재설계)과 5-2(AI 사용 원칙)를 차례로 보냅니다. 5-2 질문 끝에는 M18 메일 본문이 붙어 있습니다. 파일로 올리지 않은 메일을 AI가 지어내지 않게 하기 위해서입니다. 과제에 학생이 직접 모은 자료, 과정 기록, 발표 질의응답처럼 AI가 대신하기 어려운 단계가 있는지 봅니다. 정책 문구는 허용·조건부 허용·금지 표, 학생의 사용 표시 문장, 위반 시 처리로 이루어집니다. 위반 시 처리는 [학칙 확인]으로 남아야 합니다.</a:t>
            </a:r>
          </a:p>
          <a:p/>
          <a:p>
            <a:r>
              <a:t>참가자에게 할 질문: 여러분 과목이라면 '조건부 허용'에 무엇을 넣으시겠어요?</a:t>
            </a:r>
          </a:p>
          <a:p/>
          <a:p>
            <a:r>
              <a:t>예상 오류와 대응: AI가 전면 금지나 AI 탐지 프로그램을 제안하면 질문의 '하지 말 것'을 다시 확인하게 합니다. 가상 학칙 발췌에는 AI 조항이 없다는 점을 알려 줍니다.</a:t>
            </a:r>
          </a:p>
          <a:p/>
          <a:p>
            <a:r>
              <a:t>수업 링크: https://zeusk302-png.github.io/gyeongnam-ai-workshop/#student-ai-use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46. AI는 없는 처벌 조항을 만들어 넣기도 합니다</a:t>
            </a:r>
          </a:p>
          <a:p/>
          <a:p>
            <a:r>
              <a:t>시간: 시작 후 165–167분, 2분</a:t>
            </a:r>
          </a:p>
          <a:p/>
          <a:p>
            <a:r>
              <a:t>말할 내용: 재현 예시입니다. AI는 그럴듯한 규정 번호를 붙여 '학칙 제○조에 따라 F 처리'처럼 쓰기 쉽습니다. 가온대 학칙 발췌(제12조~제19조)에는 AI 사용에 관한 조항이 없습니다. 실제 수업에서도 학교 규정에 있는지 모르는 처벌은 [학칙 확인]으로 비워 두고, 학과나 교무 부서에 확인합니다.</a:t>
            </a:r>
          </a:p>
          <a:p/>
          <a:p>
            <a:r>
              <a:t>참가자에게 할 질문: 여러분 결과에 규정 번호가 붙은 처벌이 있었나요?</a:t>
            </a:r>
          </a:p>
          <a:p/>
          <a:p>
            <a:r>
              <a:t>예상 오류와 대응: 우리 학교의 실제 AI 가이드라인 여부를 묻는 분께는 '교무 부서 공지를 확인하시라'고 답하고, 강사가 모르는 규정을 단정하지 않습니다.</a:t>
            </a:r>
          </a:p>
          <a:p/>
          <a:p>
            <a:r>
              <a:t>수업 링크: https://zeusk302-png.github.io/gyeongnam-ai-workshop/#student-ai-use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47. 학생에게는 AI를 어디에 썼는지 한 문장으로 쓰게 합니다</a:t>
            </a:r>
          </a:p>
          <a:p/>
          <a:p>
            <a:r>
              <a:t>시간: 시작 후 167–170분, 3분</a:t>
            </a:r>
          </a:p>
          <a:p/>
          <a:p>
            <a:r>
              <a:t>말할 내용: 정책 문구에서 가장 실용적인 부분은 학생이 쓰는 표시 문장입니다. 메일 M18에서 송지안 학생은 'ChatGPT로 문장을 다듬어도 되는지, 어떻게 표시하는지' 물었습니다. 이 문장 하나로 답할 수 있습니다. 허용 범위는 교수님 과목에 맞게 정하고, 위반 시 처리는 학교 규정을 확인한 뒤 채웁니다. 참고로 서울대 AI 가이드라인처럼 '금지가 아니라 책임 있는 활용'을 기본으로 삼는 대학이 많습니다.</a:t>
            </a:r>
          </a:p>
          <a:p/>
          <a:p>
            <a:r>
              <a:t>참가자에게 할 질문: 교수님 과목에서는 이 문장의 어느 부분을 바꾸시겠어요?</a:t>
            </a:r>
          </a:p>
          <a:p/>
          <a:p>
            <a:r>
              <a:t>예상 오류와 대응: '학생이 거짓으로 표시하면요?'라는 질문에는 과정 기록과 발표 질의응답으로 확인한다고 답합니다.</a:t>
            </a:r>
          </a:p>
          <a:p/>
          <a:p>
            <a:r>
              <a:t>수업 링크: https://zeusk302-png.github.io/gyeongnam-ai-workshop/#student-ai-use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48. 내일 아침, 딱 하나만 해 보세요</a:t>
            </a:r>
          </a:p>
          <a:p/>
          <a:p>
            <a:r>
              <a:t>시간: 시작 후 170–175분, 5분</a:t>
            </a:r>
          </a:p>
          <a:p/>
          <a:p>
            <a:r>
              <a:t>말할 내용: 오늘 배운 것을 내 업무 하나에 옮깁니다. 업무, 도구, 확인할 한 곳 세 칸을 채웁니다. 사이트의 질문 6(네 줄 빈칸 질문)을 복사해 내일 바로 씁니다. 실제 학생 이름, 학번, 성적은 넣지 않고, 개인정보를 지운 자료로 시작합니다. 두세 분께 무엇을 적었는지 들어 봅니다.</a:t>
            </a:r>
          </a:p>
          <a:p/>
          <a:p>
            <a:r>
              <a:t>참가자에게 할 질문: 내일 해 볼 업무 하나를 말씀해 주실 분 계신가요?</a:t>
            </a:r>
          </a:p>
          <a:p/>
          <a:p>
            <a:r>
              <a:t>예상 오류와 대응: 업무를 못 고르면 '이번 주 학생 메일 정리'를 권합니다. 가장 효과가 빨리 보이는 업무입니다.</a:t>
            </a:r>
          </a:p>
          <a:p/>
          <a:p>
            <a:r>
              <a:t>수업 링크: https://zeusk302-png.github.io/gyeongnam-ai-workshop/#tomorrow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49. 세 도구 모두 무료 계정으로 다시 해 볼 수 있습니다</a:t>
            </a:r>
          </a:p>
          <a:p/>
          <a:p>
            <a:r>
              <a:t>시간: 시작 후 175–178분, 3분</a:t>
            </a:r>
          </a:p>
          <a:p/>
          <a:p>
            <a:r>
              <a:t>말할 내용: 세 도구 모두 개인 무료 계정으로 오늘 실습을 다시 할 수 있습니다. 무료 사용량은 고정 횟수가 공개되어 있지 않고, 대략 5시간마다 갱신되며 주간 한도가 있습니다(2026-09-27 확인). 긴 파일과 긴 대화는 사용량을 더 씁니다. 학교 계정(Google Workspace for Education, Microsoft 365)이 있으면 그 계정을 먼저 쓰는 것이 개인정보 면에서 안전합니다. 자세한 내용은 사이트의 '무료 계정 안내'에 있습니다.</a:t>
            </a:r>
          </a:p>
          <a:p/>
          <a:p>
            <a:r>
              <a:t>참가자에게 할 질문: 오늘 한도 알림을 본 분이 있나요?</a:t>
            </a:r>
          </a:p>
          <a:p/>
          <a:p>
            <a:r>
              <a:t>예상 오류와 대응: 요금과 한도는 자주 바뀝니다. 사이트 확인일(2026-09-27)을 함께 말하고, 쓰기 전 각 서비스 화면을 확인하라고 안내합니다.</a:t>
            </a:r>
          </a:p>
          <a:p/>
          <a:p>
            <a:r>
              <a:t>수업 링크: https://zeusk302-png.github.io/gyeongnam-ai-workshop/#free-guide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50. AI는 초안을 쓰고, 판단은 교수님이 합니다</a:t>
            </a:r>
          </a:p>
          <a:p/>
          <a:p>
            <a:r>
              <a:t>시간: 시작 후 178–180분, 2분</a:t>
            </a:r>
          </a:p>
          <a:p/>
          <a:p>
            <a:r>
              <a:t>말할 내용: 오늘의 한 문장을 다시 읽고 마칩니다. 자료와 복사할 질문, 해설은 모두 강의 사이트에 있습니다. 실습을 다 못 끝낸 부분은 사이트의 해설로 확인할 수 있습니다. 질문은 사이트의 연락처나 휴식 시간에 받습니다.</a:t>
            </a:r>
          </a:p>
          <a:p/>
          <a:p>
            <a:r>
              <a:t>참가자에게 할 질문: 오늘 가장 쓸 만했던 실습은 무엇이었나요?</a:t>
            </a:r>
          </a:p>
          <a:p/>
          <a:p>
            <a:r>
              <a:t>예상 오류와 대응: 시간이 부족하면 이 장만 보여 주고 마칩니다.</a:t>
            </a:r>
          </a:p>
          <a:p/>
          <a:p>
            <a:r>
              <a:t>수업 링크: https://zeusk302-png.github.io/gyeongnam-ai-workshop/#tomorrow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71C"/>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경남대학교 교원 대상 · 생성형 AI 실습 3시간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01</a:t>
            </a:r>
          </a:p>
        </p:txBody>
      </p:sp>
      <p:sp>
        <p:nvSpPr>
          <p:cNvPr id="4" name="TextBox 3"/>
          <p:cNvSpPr txBox="1"/>
          <p:nvPr/>
        </p:nvSpPr>
        <p:spPr>
          <a:xfrm>
            <a:off x="685800" y="609600"/>
            <a:ext cx="7048500" cy="304800"/>
          </a:xfrm>
          <a:prstGeom prst="rect">
            <a:avLst/>
          </a:prstGeom>
          <a:noFill/>
        </p:spPr>
        <p:txBody>
          <a:bodyPr wrap="square" lIns="0" tIns="0" rIns="0" bIns="0" anchor="t"/>
          <a:lstStyle/>
          <a:p>
            <a:pPr algn="l" latinLnBrk="0" eaLnBrk="1">
              <a:lnSpc>
                <a:spcPct val="100000"/>
              </a:lnSpc>
            </a:pPr>
            <a:r>
              <a:rPr sz="1800" b="1" spc="-36" lang="ko-KR" altLang="en-US">
                <a:solidFill>
                  <a:srgbClr val="B9BEC6"/>
                </a:solidFill>
                <a:latin typeface="맑은 고딕"/>
                <a:ea typeface="맑은 고딕"/>
                <a:cs typeface="맑은 고딕"/>
              </a:rPr>
              <a:t>경남대학교 교원 대상 · 생성형 AI 실습 3시간</a:t>
            </a:r>
          </a:p>
        </p:txBody>
      </p:sp>
      <p:sp>
        <p:nvSpPr>
          <p:cNvPr id="5" name="TextBox 4"/>
          <p:cNvSpPr txBox="1"/>
          <p:nvPr/>
        </p:nvSpPr>
        <p:spPr>
          <a:xfrm>
            <a:off x="685800" y="1428750"/>
            <a:ext cx="7048500" cy="1905000"/>
          </a:xfrm>
          <a:prstGeom prst="rect">
            <a:avLst/>
          </a:prstGeom>
          <a:noFill/>
        </p:spPr>
        <p:txBody>
          <a:bodyPr wrap="square" lIns="0" tIns="0" rIns="0" bIns="0" anchor="t"/>
          <a:lstStyle/>
          <a:p>
            <a:pPr algn="l" latinLnBrk="0" eaLnBrk="1">
              <a:lnSpc>
                <a:spcPct val="120000"/>
              </a:lnSpc>
            </a:pPr>
            <a:r>
              <a:rPr sz="4950" b="1" spc="-99" lang="ko-KR" altLang="en-US">
                <a:solidFill>
                  <a:srgbClr val="FFFFFF"/>
                </a:solidFill>
                <a:latin typeface="맑은 고딕"/>
                <a:ea typeface="맑은 고딕"/>
                <a:cs typeface="맑은 고딕"/>
              </a:rPr>
              <a:t>메일은 AI가 먼저 읽고,</a:t>
            </a:r>
            <a:br/>
            <a:r>
              <a:rPr sz="4950" b="1" spc="-99" lang="ko-KR" altLang="en-US">
                <a:solidFill>
                  <a:srgbClr val="FF9A5C"/>
                </a:solidFill>
                <a:latin typeface="맑은 고딕"/>
                <a:ea typeface="맑은 고딕"/>
                <a:cs typeface="맑은 고딕"/>
              </a:rPr>
              <a:t>판단은 교수님이</a:t>
            </a:r>
            <a:r>
              <a:rPr sz="4950" b="1" spc="-99" lang="ko-KR" altLang="en-US">
                <a:solidFill>
                  <a:srgbClr val="FFFFFF"/>
                </a:solidFill>
                <a:latin typeface="맑은 고딕"/>
                <a:ea typeface="맑은 고딕"/>
                <a:cs typeface="맑은 고딕"/>
              </a:rPr>
              <a:t> 합니다</a:t>
            </a:r>
          </a:p>
        </p:txBody>
      </p:sp>
      <p:sp>
        <p:nvSpPr>
          <p:cNvPr id="6" name="TextBox 5"/>
          <p:cNvSpPr txBox="1"/>
          <p:nvPr/>
        </p:nvSpPr>
        <p:spPr>
          <a:xfrm>
            <a:off x="685800" y="3619500"/>
            <a:ext cx="6667500" cy="857250"/>
          </a:xfrm>
          <a:prstGeom prst="rect">
            <a:avLst/>
          </a:prstGeom>
          <a:noFill/>
        </p:spPr>
        <p:txBody>
          <a:bodyPr wrap="square" lIns="0" tIns="0" rIns="0" bIns="0" anchor="t"/>
          <a:lstStyle/>
          <a:p>
            <a:pPr algn="l" latinLnBrk="0" eaLnBrk="1">
              <a:lnSpc>
                <a:spcPct val="140000"/>
              </a:lnSpc>
            </a:pPr>
            <a:r>
              <a:rPr sz="2100" b="0" spc="-42" lang="ko-KR" altLang="en-US">
                <a:solidFill>
                  <a:srgbClr val="D5D8DD"/>
                </a:solidFill>
                <a:latin typeface="맑은 고딕"/>
                <a:ea typeface="맑은 고딕"/>
                <a:cs typeface="맑은 고딕"/>
              </a:rPr>
              <a:t>학생 메일, 논문, 강의평가, 강의계획서로</a:t>
            </a:r>
            <a:br/>
            <a:r>
              <a:rPr sz="2100" b="0" spc="-42" lang="ko-KR" altLang="en-US">
                <a:solidFill>
                  <a:srgbClr val="D5D8DD"/>
                </a:solidFill>
                <a:latin typeface="맑은 고딕"/>
                <a:ea typeface="맑은 고딕"/>
                <a:cs typeface="맑은 고딕"/>
              </a:rPr>
              <a:t>직접 해 봅니다</a:t>
            </a:r>
          </a:p>
        </p:txBody>
      </p:sp>
      <p:sp>
        <p:nvSpPr>
          <p:cNvPr id="7" name="Rounded Rectangle 6"/>
          <p:cNvSpPr/>
          <p:nvPr/>
        </p:nvSpPr>
        <p:spPr>
          <a:xfrm>
            <a:off x="7810500" y="1428750"/>
            <a:ext cx="3695700" cy="647700"/>
          </a:xfrm>
          <a:prstGeom prst="roundRect">
            <a:avLst>
              <a:gd name="adj" fmla="val 17647"/>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39100" y="142875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학생 메일 40통 → 분류·답장</a:t>
            </a:r>
          </a:p>
        </p:txBody>
      </p:sp>
      <p:sp>
        <p:nvSpPr>
          <p:cNvPr id="9" name="Rounded Rectangle 8"/>
          <p:cNvSpPr/>
          <p:nvPr/>
        </p:nvSpPr>
        <p:spPr>
          <a:xfrm>
            <a:off x="7810500" y="2209800"/>
            <a:ext cx="3695700" cy="647700"/>
          </a:xfrm>
          <a:prstGeom prst="roundRect">
            <a:avLst>
              <a:gd name="adj" fmla="val 17647"/>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39100" y="220980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논문 5편 → 비교표</a:t>
            </a:r>
          </a:p>
        </p:txBody>
      </p:sp>
      <p:sp>
        <p:nvSpPr>
          <p:cNvPr id="11" name="Rounded Rectangle 10"/>
          <p:cNvSpPr/>
          <p:nvPr/>
        </p:nvSpPr>
        <p:spPr>
          <a:xfrm>
            <a:off x="7810500" y="2990850"/>
            <a:ext cx="3695700" cy="647700"/>
          </a:xfrm>
          <a:prstGeom prst="roundRect">
            <a:avLst>
              <a:gd name="adj" fmla="val 17647"/>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39100" y="299085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강의평가 180개 → 개선안</a:t>
            </a:r>
          </a:p>
        </p:txBody>
      </p:sp>
      <p:sp>
        <p:nvSpPr>
          <p:cNvPr id="13" name="Rounded Rectangle 12"/>
          <p:cNvSpPr/>
          <p:nvPr/>
        </p:nvSpPr>
        <p:spPr>
          <a:xfrm>
            <a:off x="7810500" y="3771900"/>
            <a:ext cx="3695700" cy="647700"/>
          </a:xfrm>
          <a:prstGeom prst="roundRect">
            <a:avLst>
              <a:gd name="adj" fmla="val 17647"/>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39100" y="377190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강의계획서 → 고친 판·루브릭</a:t>
            </a:r>
          </a:p>
        </p:txBody>
      </p:sp>
      <p:pic>
        <p:nvPicPr>
          <p:cNvPr id="15" name="Picture 14" descr="kim-seyoung.jpg"/>
          <p:cNvPicPr>
            <a:picLocks noChangeAspect="1"/>
          </p:cNvPicPr>
          <p:nvPr/>
        </p:nvPicPr>
        <p:blipFill>
          <a:blip r:embed="rId3"/>
          <a:srcRect t="6000" b="14000"/>
          <a:stretch>
            <a:fillRect/>
          </a:stretch>
        </p:blipFill>
        <p:spPr>
          <a:xfrm>
            <a:off x="685800" y="5219700"/>
            <a:ext cx="723900" cy="723900"/>
          </a:xfrm>
          <a:prstGeom prst="ellipse">
            <a:avLst/>
          </a:prstGeom>
        </p:spPr>
      </p:pic>
      <p:sp>
        <p:nvSpPr>
          <p:cNvPr id="16" name="TextBox 15"/>
          <p:cNvSpPr txBox="1"/>
          <p:nvPr/>
        </p:nvSpPr>
        <p:spPr>
          <a:xfrm>
            <a:off x="1600200" y="5238750"/>
            <a:ext cx="5715000" cy="342900"/>
          </a:xfrm>
          <a:prstGeom prst="rect">
            <a:avLst/>
          </a:prstGeom>
          <a:noFill/>
        </p:spPr>
        <p:txBody>
          <a:bodyPr wrap="square" lIns="0" tIns="0" rIns="0" bIns="0" anchor="t"/>
          <a:lstStyle/>
          <a:p>
            <a:pPr algn="l" latinLnBrk="0" eaLnBrk="1">
              <a:lnSpc>
                <a:spcPct val="100000"/>
              </a:lnSpc>
            </a:pPr>
            <a:r>
              <a:rPr sz="2100" b="1" spc="-42" lang="ko-KR" altLang="en-US">
                <a:solidFill>
                  <a:srgbClr val="FFFFFF"/>
                </a:solidFill>
                <a:latin typeface="맑은 고딕"/>
                <a:ea typeface="맑은 고딕"/>
                <a:cs typeface="맑은 고딕"/>
              </a:rPr>
              <a:t>김세영</a:t>
            </a:r>
          </a:p>
        </p:txBody>
      </p:sp>
      <p:sp>
        <p:nvSpPr>
          <p:cNvPr id="17" name="TextBox 16"/>
          <p:cNvSpPr txBox="1"/>
          <p:nvPr/>
        </p:nvSpPr>
        <p:spPr>
          <a:xfrm>
            <a:off x="1600200" y="5619750"/>
            <a:ext cx="5715000" cy="304800"/>
          </a:xfrm>
          <a:prstGeom prst="rect">
            <a:avLst/>
          </a:prstGeom>
          <a:noFill/>
        </p:spPr>
        <p:txBody>
          <a:bodyPr wrap="square" lIns="0" tIns="0" rIns="0" bIns="0" anchor="t"/>
          <a:lstStyle/>
          <a:p>
            <a:pPr algn="l" latinLnBrk="0" eaLnBrk="1">
              <a:lnSpc>
                <a:spcPct val="100000"/>
              </a:lnSpc>
            </a:pPr>
            <a:r>
              <a:rPr sz="1800" b="0" spc="-36" lang="ko-KR" altLang="en-US">
                <a:solidFill>
                  <a:srgbClr val="C9CDD3"/>
                </a:solidFill>
                <a:latin typeface="맑은 고딕"/>
                <a:ea typeface="맑은 고딕"/>
                <a:cs typeface="맑은 고딕"/>
              </a:rPr>
              <a:t>㈜파운드리머 기업부설연구소 연구소장</a:t>
            </a:r>
          </a:p>
        </p:txBody>
      </p:sp>
      <p:pic>
        <p:nvPicPr>
          <p:cNvPr id="18" name="Picture 17" descr="qr_16171C_FFFFFF.png"/>
          <p:cNvPicPr>
            <a:picLocks noChangeAspect="1"/>
          </p:cNvPicPr>
          <p:nvPr/>
        </p:nvPicPr>
        <p:blipFill>
          <a:blip r:embed="rId4"/>
          <a:stretch>
            <a:fillRect/>
          </a:stretch>
        </p:blipFill>
        <p:spPr>
          <a:xfrm>
            <a:off x="10439400" y="5048250"/>
            <a:ext cx="1066800" cy="1066800"/>
          </a:xfrm>
          <a:prstGeom prst="rect">
            <a:avLst/>
          </a:prstGeom>
        </p:spPr>
      </p:pic>
      <p:sp>
        <p:nvSpPr>
          <p:cNvPr id="19" name="TextBox 18"/>
          <p:cNvSpPr txBox="1"/>
          <p:nvPr/>
        </p:nvSpPr>
        <p:spPr>
          <a:xfrm>
            <a:off x="8362950" y="5219700"/>
            <a:ext cx="1905000" cy="762000"/>
          </a:xfrm>
          <a:prstGeom prst="rect">
            <a:avLst/>
          </a:prstGeom>
          <a:noFill/>
        </p:spPr>
        <p:txBody>
          <a:bodyPr wrap="square" lIns="0" tIns="0" rIns="0" bIns="0" anchor="t"/>
          <a:lstStyle/>
          <a:p>
            <a:pPr algn="r" latinLnBrk="0" eaLnBrk="1">
              <a:lnSpc>
                <a:spcPct val="130000"/>
              </a:lnSpc>
            </a:pPr>
            <a:r>
              <a:rPr sz="1800" b="0" spc="-36" lang="ko-KR" altLang="en-US">
                <a:solidFill>
                  <a:srgbClr val="C9CDD3"/>
                </a:solidFill>
                <a:latin typeface="맑은 고딕"/>
                <a:ea typeface="맑은 고딕"/>
                <a:cs typeface="맑은 고딕"/>
              </a:rPr>
              <a:t>자료·질문</a:t>
            </a:r>
            <a:br/>
            <a:r>
              <a:rPr sz="1800" b="0" spc="-36" lang="ko-KR" altLang="en-US">
                <a:solidFill>
                  <a:srgbClr val="C9CDD3"/>
                </a:solidFill>
                <a:latin typeface="맑은 고딕"/>
                <a:ea typeface="맑은 고딕"/>
                <a:cs typeface="맑은 고딕"/>
              </a:rPr>
              <a:t>강의 사이트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1–3분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02</a:t>
            </a:r>
          </a:p>
        </p:txBody>
      </p:sp>
      <p:sp>
        <p:nvSpPr>
          <p:cNvPr id="4" name="TextBox 3"/>
          <p:cNvSpPr txBox="1"/>
          <p:nvPr/>
        </p:nvSpPr>
        <p:spPr>
          <a:xfrm>
            <a:off x="685800" y="609600"/>
            <a:ext cx="66675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오늘 함께할 강사</a:t>
            </a:r>
          </a:p>
        </p:txBody>
      </p:sp>
      <p:sp>
        <p:nvSpPr>
          <p:cNvPr id="5" name="TextBox 4"/>
          <p:cNvSpPr txBox="1"/>
          <p:nvPr/>
        </p:nvSpPr>
        <p:spPr>
          <a:xfrm>
            <a:off x="685800" y="1238250"/>
            <a:ext cx="6667500" cy="1238250"/>
          </a:xfrm>
          <a:prstGeom prst="rect">
            <a:avLst/>
          </a:prstGeom>
          <a:noFill/>
        </p:spPr>
        <p:txBody>
          <a:bodyPr wrap="square" lIns="0" tIns="0" rIns="0" bIns="0" anchor="t"/>
          <a:lstStyle/>
          <a:p>
            <a:pPr algn="l" latinLnBrk="0" eaLnBrk="1">
              <a:lnSpc>
                <a:spcPct val="100000"/>
              </a:lnSpc>
            </a:pPr>
            <a:r>
              <a:rPr sz="7500" b="1" spc="-150" lang="ko-KR" altLang="en-US">
                <a:solidFill>
                  <a:srgbClr val="16171C"/>
                </a:solidFill>
                <a:latin typeface="맑은 고딕"/>
                <a:ea typeface="맑은 고딕"/>
                <a:cs typeface="맑은 고딕"/>
              </a:rPr>
              <a:t>김세영</a:t>
            </a:r>
          </a:p>
        </p:txBody>
      </p:sp>
      <p:sp>
        <p:nvSpPr>
          <p:cNvPr id="6" name="Rectangle 5"/>
          <p:cNvSpPr/>
          <p:nvPr/>
        </p:nvSpPr>
        <p:spPr>
          <a:xfrm>
            <a:off x="685800" y="3086100"/>
            <a:ext cx="76200" cy="28575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 y="3009900"/>
            <a:ext cx="6477000" cy="476250"/>
          </a:xfrm>
          <a:prstGeom prst="rect">
            <a:avLst/>
          </a:prstGeom>
          <a:noFill/>
        </p:spPr>
        <p:txBody>
          <a:bodyPr wrap="square" lIns="0" tIns="0" rIns="0" bIns="0" anchor="t"/>
          <a:lstStyle/>
          <a:p>
            <a:pPr algn="l" latinLnBrk="0" eaLnBrk="1">
              <a:lnSpc>
                <a:spcPct val="120000"/>
              </a:lnSpc>
            </a:pPr>
            <a:r>
              <a:rPr sz="2250" b="0" spc="-45" lang="ko-KR" altLang="en-US">
                <a:solidFill>
                  <a:srgbClr val="16171C"/>
                </a:solidFill>
                <a:latin typeface="맑은 고딕"/>
                <a:ea typeface="맑은 고딕"/>
                <a:cs typeface="맑은 고딕"/>
              </a:rPr>
              <a:t>㈜파운드리머 기업부설연구소 연구소장</a:t>
            </a:r>
          </a:p>
        </p:txBody>
      </p:sp>
      <p:sp>
        <p:nvSpPr>
          <p:cNvPr id="8" name="Rectangle 7"/>
          <p:cNvSpPr/>
          <p:nvPr/>
        </p:nvSpPr>
        <p:spPr>
          <a:xfrm>
            <a:off x="685800" y="3790950"/>
            <a:ext cx="76200" cy="28575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2500" y="3714750"/>
            <a:ext cx="6477000" cy="476250"/>
          </a:xfrm>
          <a:prstGeom prst="rect">
            <a:avLst/>
          </a:prstGeom>
          <a:noFill/>
        </p:spPr>
        <p:txBody>
          <a:bodyPr wrap="square" lIns="0" tIns="0" rIns="0" bIns="0" anchor="t"/>
          <a:lstStyle/>
          <a:p>
            <a:pPr algn="l" latinLnBrk="0" eaLnBrk="1">
              <a:lnSpc>
                <a:spcPct val="120000"/>
              </a:lnSpc>
            </a:pPr>
            <a:r>
              <a:rPr sz="2250" b="0" spc="-45" lang="ko-KR" altLang="en-US">
                <a:solidFill>
                  <a:srgbClr val="16171C"/>
                </a:solidFill>
                <a:latin typeface="맑은 고딕"/>
                <a:ea typeface="맑은 고딕"/>
                <a:cs typeface="맑은 고딕"/>
              </a:rPr>
              <a:t>산업용 AI·임베디드 소프트웨어 개발</a:t>
            </a:r>
          </a:p>
        </p:txBody>
      </p:sp>
      <p:sp>
        <p:nvSpPr>
          <p:cNvPr id="10" name="Rectangle 9"/>
          <p:cNvSpPr/>
          <p:nvPr/>
        </p:nvSpPr>
        <p:spPr>
          <a:xfrm>
            <a:off x="685800" y="4495800"/>
            <a:ext cx="76200" cy="28575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2500" y="4419600"/>
            <a:ext cx="6477000" cy="476250"/>
          </a:xfrm>
          <a:prstGeom prst="rect">
            <a:avLst/>
          </a:prstGeom>
          <a:noFill/>
        </p:spPr>
        <p:txBody>
          <a:bodyPr wrap="square" lIns="0" tIns="0" rIns="0" bIns="0" anchor="t"/>
          <a:lstStyle/>
          <a:p>
            <a:pPr algn="l" latinLnBrk="0" eaLnBrk="1">
              <a:lnSpc>
                <a:spcPct val="120000"/>
              </a:lnSpc>
            </a:pPr>
            <a:r>
              <a:rPr sz="2250" b="0" spc="-45" lang="ko-KR" altLang="en-US">
                <a:solidFill>
                  <a:srgbClr val="16171C"/>
                </a:solidFill>
                <a:latin typeface="맑은 고딕"/>
                <a:ea typeface="맑은 고딕"/>
                <a:cs typeface="맑은 고딕"/>
              </a:rPr>
              <a:t>부산대학교 대학원 인공지능 전공</a:t>
            </a:r>
          </a:p>
        </p:txBody>
      </p:sp>
      <p:sp>
        <p:nvSpPr>
          <p:cNvPr id="12" name="TextBox 11"/>
          <p:cNvSpPr txBox="1"/>
          <p:nvPr/>
        </p:nvSpPr>
        <p:spPr>
          <a:xfrm>
            <a:off x="685800" y="5295900"/>
            <a:ext cx="6667500" cy="666750"/>
          </a:xfrm>
          <a:prstGeom prst="rect">
            <a:avLst/>
          </a:prstGeom>
          <a:noFill/>
        </p:spPr>
        <p:txBody>
          <a:bodyPr wrap="square" lIns="0" tIns="0" rIns="0" bIns="0" anchor="t"/>
          <a:lstStyle/>
          <a:p>
            <a:pPr algn="l" latinLnBrk="0" eaLnBrk="1">
              <a:lnSpc>
                <a:spcPct val="135000"/>
              </a:lnSpc>
            </a:pPr>
            <a:r>
              <a:rPr sz="1950" b="0" spc="-39" lang="ko-KR" altLang="en-US">
                <a:solidFill>
                  <a:srgbClr val="3D3F48"/>
                </a:solidFill>
                <a:latin typeface="맑은 고딕"/>
                <a:ea typeface="맑은 고딕"/>
                <a:cs typeface="맑은 고딕"/>
              </a:rPr>
              <a:t>만든 것이 맞는지 시험하는 일을 합니다.</a:t>
            </a:r>
            <a:br/>
            <a:r>
              <a:rPr sz="1950" b="0" spc="-39" lang="ko-KR" altLang="en-US">
                <a:solidFill>
                  <a:srgbClr val="3D3F48"/>
                </a:solidFill>
                <a:latin typeface="맑은 고딕"/>
                <a:ea typeface="맑은 고딕"/>
                <a:cs typeface="맑은 고딕"/>
              </a:rPr>
              <a:t>오늘도 AI의 답을 원문과 맞춰 봅니다.</a:t>
            </a:r>
          </a:p>
        </p:txBody>
      </p:sp>
      <p:pic>
        <p:nvPicPr>
          <p:cNvPr id="13" name="Picture 12" descr="kim-seyoung.jpg"/>
          <p:cNvPicPr>
            <a:picLocks noChangeAspect="1"/>
          </p:cNvPicPr>
          <p:nvPr/>
        </p:nvPicPr>
        <p:blipFill>
          <a:blip r:embed="rId3"/>
          <a:stretch>
            <a:fillRect/>
          </a:stretch>
        </p:blipFill>
        <p:spPr>
          <a:xfrm>
            <a:off x="7848600" y="1047750"/>
            <a:ext cx="3657600" cy="4572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3–5분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03</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시작하며 · 손을 들어 주세요</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이번 주, 이 중 몇 가지 하셨나요?</a:t>
            </a:r>
          </a:p>
        </p:txBody>
      </p:sp>
      <p:sp>
        <p:nvSpPr>
          <p:cNvPr id="6" name="Rounded Rectangle 5"/>
          <p:cNvSpPr/>
          <p:nvPr/>
        </p:nvSpPr>
        <p:spPr>
          <a:xfrm>
            <a:off x="685800" y="2038350"/>
            <a:ext cx="3454400" cy="1714500"/>
          </a:xfrm>
          <a:prstGeom prst="roundRect">
            <a:avLst>
              <a:gd name="adj" fmla="val 888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 y="230505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학생 메일 답장</a:t>
            </a:r>
          </a:p>
        </p:txBody>
      </p:sp>
      <p:sp>
        <p:nvSpPr>
          <p:cNvPr id="8" name="TextBox 7"/>
          <p:cNvSpPr txBox="1"/>
          <p:nvPr/>
        </p:nvSpPr>
        <p:spPr>
          <a:xfrm>
            <a:off x="952500" y="283845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비슷한 연장·출석 문의에</a:t>
            </a:r>
            <a:br/>
            <a:r>
              <a:rPr sz="1950" b="0" spc="-39" lang="ko-KR" altLang="en-US">
                <a:solidFill>
                  <a:srgbClr val="3D3F48"/>
                </a:solidFill>
                <a:latin typeface="맑은 고딕"/>
                <a:ea typeface="맑은 고딕"/>
                <a:cs typeface="맑은 고딕"/>
              </a:rPr>
              <a:t>또 답장합니다</a:t>
            </a:r>
          </a:p>
        </p:txBody>
      </p:sp>
      <p:sp>
        <p:nvSpPr>
          <p:cNvPr id="9" name="Rounded Rectangle 8"/>
          <p:cNvSpPr/>
          <p:nvPr/>
        </p:nvSpPr>
        <p:spPr>
          <a:xfrm>
            <a:off x="4368800" y="2038350"/>
            <a:ext cx="3454400" cy="1714500"/>
          </a:xfrm>
          <a:prstGeom prst="roundRect">
            <a:avLst>
              <a:gd name="adj" fmla="val 888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35500" y="230505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논문 읽고 정리</a:t>
            </a:r>
          </a:p>
        </p:txBody>
      </p:sp>
      <p:sp>
        <p:nvSpPr>
          <p:cNvPr id="11" name="TextBox 10"/>
          <p:cNvSpPr txBox="1"/>
          <p:nvPr/>
        </p:nvSpPr>
        <p:spPr>
          <a:xfrm>
            <a:off x="4635500" y="283845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다섯 편째 읽으면</a:t>
            </a:r>
            <a:br/>
            <a:r>
              <a:rPr sz="1950" b="0" spc="-39" lang="ko-KR" altLang="en-US">
                <a:solidFill>
                  <a:srgbClr val="3D3F48"/>
                </a:solidFill>
                <a:latin typeface="맑은 고딕"/>
                <a:ea typeface="맑은 고딕"/>
                <a:cs typeface="맑은 고딕"/>
              </a:rPr>
              <a:t>첫 편이 흐려집니다</a:t>
            </a:r>
          </a:p>
        </p:txBody>
      </p:sp>
      <p:sp>
        <p:nvSpPr>
          <p:cNvPr id="12" name="Rounded Rectangle 11"/>
          <p:cNvSpPr/>
          <p:nvPr/>
        </p:nvSpPr>
        <p:spPr>
          <a:xfrm>
            <a:off x="8051800" y="2038350"/>
            <a:ext cx="3454400" cy="1714500"/>
          </a:xfrm>
          <a:prstGeom prst="roundRect">
            <a:avLst>
              <a:gd name="adj" fmla="val 888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18500" y="230505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강의평가 읽기</a:t>
            </a:r>
          </a:p>
        </p:txBody>
      </p:sp>
      <p:sp>
        <p:nvSpPr>
          <p:cNvPr id="14" name="TextBox 13"/>
          <p:cNvSpPr txBox="1"/>
          <p:nvPr/>
        </p:nvSpPr>
        <p:spPr>
          <a:xfrm>
            <a:off x="8318500" y="283845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서술형 수백 개 중</a:t>
            </a:r>
            <a:br/>
            <a:r>
              <a:rPr sz="1950" b="0" spc="-39" lang="ko-KR" altLang="en-US">
                <a:solidFill>
                  <a:srgbClr val="3D3F48"/>
                </a:solidFill>
                <a:latin typeface="맑은 고딕"/>
                <a:ea typeface="맑은 고딕"/>
                <a:cs typeface="맑은 고딕"/>
              </a:rPr>
              <a:t>앞의 몇 개만 봅니다</a:t>
            </a:r>
          </a:p>
        </p:txBody>
      </p:sp>
      <p:sp>
        <p:nvSpPr>
          <p:cNvPr id="15" name="Rounded Rectangle 14"/>
          <p:cNvSpPr/>
          <p:nvPr/>
        </p:nvSpPr>
        <p:spPr>
          <a:xfrm>
            <a:off x="685800" y="4000500"/>
            <a:ext cx="3454400" cy="1714500"/>
          </a:xfrm>
          <a:prstGeom prst="roundRect">
            <a:avLst>
              <a:gd name="adj" fmla="val 888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2500" y="426720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강의계획서·루브릭</a:t>
            </a:r>
          </a:p>
        </p:txBody>
      </p:sp>
      <p:sp>
        <p:nvSpPr>
          <p:cNvPr id="17" name="TextBox 16"/>
          <p:cNvSpPr txBox="1"/>
          <p:nvPr/>
        </p:nvSpPr>
        <p:spPr>
          <a:xfrm>
            <a:off x="952500" y="480060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작년 것을 열어</a:t>
            </a:r>
            <a:br/>
            <a:r>
              <a:rPr sz="1950" b="0" spc="-39" lang="ko-KR" altLang="en-US">
                <a:solidFill>
                  <a:srgbClr val="3D3F48"/>
                </a:solidFill>
                <a:latin typeface="맑은 고딕"/>
                <a:ea typeface="맑은 고딕"/>
                <a:cs typeface="맑은 고딕"/>
              </a:rPr>
              <a:t>날짜만 고칩니다</a:t>
            </a:r>
          </a:p>
        </p:txBody>
      </p:sp>
      <p:sp>
        <p:nvSpPr>
          <p:cNvPr id="18" name="Rounded Rectangle 17"/>
          <p:cNvSpPr/>
          <p:nvPr/>
        </p:nvSpPr>
        <p:spPr>
          <a:xfrm>
            <a:off x="4368800" y="4000500"/>
            <a:ext cx="3454400" cy="1714500"/>
          </a:xfrm>
          <a:prstGeom prst="roundRect">
            <a:avLst>
              <a:gd name="adj" fmla="val 888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35500" y="426720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연구 보고서</a:t>
            </a:r>
          </a:p>
        </p:txBody>
      </p:sp>
      <p:sp>
        <p:nvSpPr>
          <p:cNvPr id="20" name="TextBox 19"/>
          <p:cNvSpPr txBox="1"/>
          <p:nvPr/>
        </p:nvSpPr>
        <p:spPr>
          <a:xfrm>
            <a:off x="4635500" y="480060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흩어진 실적을</a:t>
            </a:r>
            <a:br/>
            <a:r>
              <a:rPr sz="1950" b="0" spc="-39" lang="ko-KR" altLang="en-US">
                <a:solidFill>
                  <a:srgbClr val="3D3F48"/>
                </a:solidFill>
                <a:latin typeface="맑은 고딕"/>
                <a:ea typeface="맑은 고딕"/>
                <a:cs typeface="맑은 고딕"/>
              </a:rPr>
              <a:t>양식에 옮겨 적습니다</a:t>
            </a:r>
          </a:p>
        </p:txBody>
      </p:sp>
      <p:sp>
        <p:nvSpPr>
          <p:cNvPr id="21" name="Rounded Rectangle 20"/>
          <p:cNvSpPr/>
          <p:nvPr/>
        </p:nvSpPr>
        <p:spPr>
          <a:xfrm>
            <a:off x="8051800" y="4000500"/>
            <a:ext cx="3454400" cy="1714500"/>
          </a:xfrm>
          <a:prstGeom prst="roundRect">
            <a:avLst>
              <a:gd name="adj" fmla="val 888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18500" y="426720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회의록·공문</a:t>
            </a:r>
          </a:p>
        </p:txBody>
      </p:sp>
      <p:sp>
        <p:nvSpPr>
          <p:cNvPr id="23" name="TextBox 22"/>
          <p:cNvSpPr txBox="1"/>
          <p:nvPr/>
        </p:nvSpPr>
        <p:spPr>
          <a:xfrm>
            <a:off x="8318500" y="480060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회의는 끝났는데</a:t>
            </a:r>
            <a:br/>
            <a:r>
              <a:rPr sz="1950" b="0" spc="-39" lang="ko-KR" altLang="en-US">
                <a:solidFill>
                  <a:srgbClr val="3D3F48"/>
                </a:solidFill>
                <a:latin typeface="맑은 고딕"/>
                <a:ea typeface="맑은 고딕"/>
                <a:cs typeface="맑은 고딕"/>
              </a:rPr>
              <a:t>정리가 남습니다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5–6분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04</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오늘의 무대 · 가상 사례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월요일 아침, 학생 메일 40통이 와 있습니다</a:t>
            </a:r>
          </a:p>
        </p:txBody>
      </p:sp>
      <p:sp>
        <p:nvSpPr>
          <p:cNvPr id="6" name="TextBox 5"/>
          <p:cNvSpPr txBox="1"/>
          <p:nvPr/>
        </p:nvSpPr>
        <p:spPr>
          <a:xfrm>
            <a:off x="685800" y="1905000"/>
            <a:ext cx="4000500" cy="2476500"/>
          </a:xfrm>
          <a:prstGeom prst="rect">
            <a:avLst/>
          </a:prstGeom>
          <a:noFill/>
        </p:spPr>
        <p:txBody>
          <a:bodyPr wrap="square" lIns="0" tIns="0" rIns="0" bIns="0" anchor="t"/>
          <a:lstStyle/>
          <a:p>
            <a:pPr algn="l" latinLnBrk="0" eaLnBrk="1">
              <a:lnSpc>
                <a:spcPct val="100000"/>
              </a:lnSpc>
            </a:pPr>
            <a:r>
              <a:rPr sz="17250" b="1" spc="-345" lang="ko-KR" altLang="en-US">
                <a:solidFill>
                  <a:srgbClr val="E8590C"/>
                </a:solidFill>
                <a:latin typeface="맑은 고딕"/>
                <a:ea typeface="맑은 고딕"/>
                <a:cs typeface="맑은 고딕"/>
              </a:rPr>
              <a:t>40</a:t>
            </a:r>
            <a:r>
              <a:rPr sz="6000" b="1" spc="-120" lang="ko-KR" altLang="en-US">
                <a:solidFill>
                  <a:srgbClr val="E8590C"/>
                </a:solidFill>
                <a:latin typeface="맑은 고딕"/>
                <a:ea typeface="맑은 고딕"/>
                <a:cs typeface="맑은 고딕"/>
              </a:rPr>
              <a:t>통</a:t>
            </a:r>
          </a:p>
        </p:txBody>
      </p:sp>
      <p:sp>
        <p:nvSpPr>
          <p:cNvPr id="7" name="Rectangle 6"/>
          <p:cNvSpPr/>
          <p:nvPr/>
        </p:nvSpPr>
        <p:spPr>
          <a:xfrm>
            <a:off x="5334000" y="2343150"/>
            <a:ext cx="76200" cy="285750"/>
          </a:xfrm>
          <a:prstGeom prst="rect">
            <a:avLst/>
          </a:prstGeom>
          <a:solidFill>
            <a:srgbClr val="3D3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600700" y="2247900"/>
            <a:ext cx="5905500" cy="476250"/>
          </a:xfrm>
          <a:prstGeom prst="rect">
            <a:avLst/>
          </a:prstGeom>
          <a:noFill/>
        </p:spPr>
        <p:txBody>
          <a:bodyPr wrap="square" lIns="0" tIns="0" rIns="0" bIns="0" anchor="t"/>
          <a:lstStyle/>
          <a:p>
            <a:pPr algn="l" latinLnBrk="0" eaLnBrk="1">
              <a:lnSpc>
                <a:spcPct val="120000"/>
              </a:lnSpc>
            </a:pPr>
            <a:r>
              <a:rPr sz="2250" b="0" spc="-45" lang="ko-KR" altLang="en-US">
                <a:solidFill>
                  <a:srgbClr val="16171C"/>
                </a:solidFill>
                <a:latin typeface="맑은 고딕"/>
                <a:ea typeface="맑은 고딕"/>
                <a:cs typeface="맑은 고딕"/>
              </a:rPr>
              <a:t>가온대학교 한도윤 교수 (가상)</a:t>
            </a:r>
          </a:p>
        </p:txBody>
      </p:sp>
      <p:sp>
        <p:nvSpPr>
          <p:cNvPr id="9" name="Rectangle 8"/>
          <p:cNvSpPr/>
          <p:nvPr/>
        </p:nvSpPr>
        <p:spPr>
          <a:xfrm>
            <a:off x="5334000" y="3009900"/>
            <a:ext cx="76200" cy="285750"/>
          </a:xfrm>
          <a:prstGeom prst="rect">
            <a:avLst/>
          </a:prstGeom>
          <a:solidFill>
            <a:srgbClr val="3D3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00700" y="2914650"/>
            <a:ext cx="5905500" cy="476250"/>
          </a:xfrm>
          <a:prstGeom prst="rect">
            <a:avLst/>
          </a:prstGeom>
          <a:noFill/>
        </p:spPr>
        <p:txBody>
          <a:bodyPr wrap="square" lIns="0" tIns="0" rIns="0" bIns="0" anchor="t"/>
          <a:lstStyle/>
          <a:p>
            <a:pPr algn="l" latinLnBrk="0" eaLnBrk="1">
              <a:lnSpc>
                <a:spcPct val="120000"/>
              </a:lnSpc>
            </a:pPr>
            <a:r>
              <a:rPr sz="2250" b="0" spc="-45" lang="ko-KR" altLang="en-US">
                <a:solidFill>
                  <a:srgbClr val="16171C"/>
                </a:solidFill>
                <a:latin typeface="맑은 고딕"/>
                <a:ea typeface="맑은 고딕"/>
                <a:cs typeface="맑은 고딕"/>
              </a:rPr>
              <a:t>「데이터로 읽는 사회」 01·02분반</a:t>
            </a:r>
          </a:p>
        </p:txBody>
      </p:sp>
      <p:sp>
        <p:nvSpPr>
          <p:cNvPr id="11" name="Rectangle 10"/>
          <p:cNvSpPr/>
          <p:nvPr/>
        </p:nvSpPr>
        <p:spPr>
          <a:xfrm>
            <a:off x="5334000" y="3676650"/>
            <a:ext cx="76200" cy="285750"/>
          </a:xfrm>
          <a:prstGeom prst="rect">
            <a:avLst/>
          </a:prstGeom>
          <a:solidFill>
            <a:srgbClr val="3D3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00700" y="3581400"/>
            <a:ext cx="5905500" cy="476250"/>
          </a:xfrm>
          <a:prstGeom prst="rect">
            <a:avLst/>
          </a:prstGeom>
          <a:noFill/>
        </p:spPr>
        <p:txBody>
          <a:bodyPr wrap="square" lIns="0" tIns="0" rIns="0" bIns="0" anchor="t"/>
          <a:lstStyle/>
          <a:p>
            <a:pPr algn="l" latinLnBrk="0" eaLnBrk="1">
              <a:lnSpc>
                <a:spcPct val="120000"/>
              </a:lnSpc>
            </a:pPr>
            <a:r>
              <a:rPr sz="2250" b="0" spc="-45" lang="ko-KR" altLang="en-US">
                <a:solidFill>
                  <a:srgbClr val="16171C"/>
                </a:solidFill>
                <a:latin typeface="맑은 고딕"/>
                <a:ea typeface="맑은 고딕"/>
                <a:cs typeface="맑은 고딕"/>
              </a:rPr>
              <a:t>2026년 10월 19일(월), 중간고사 직전</a:t>
            </a:r>
          </a:p>
        </p:txBody>
      </p:sp>
      <p:sp>
        <p:nvSpPr>
          <p:cNvPr id="13" name="Rounded Rectangle 12"/>
          <p:cNvSpPr/>
          <p:nvPr/>
        </p:nvSpPr>
        <p:spPr>
          <a:xfrm>
            <a:off x="685800" y="5334000"/>
            <a:ext cx="10820400" cy="666750"/>
          </a:xfrm>
          <a:prstGeom prst="roundRect">
            <a:avLst>
              <a:gd name="adj" fmla="val 17142"/>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2500" y="5334000"/>
            <a:ext cx="10287000" cy="666750"/>
          </a:xfrm>
          <a:prstGeom prst="rect">
            <a:avLst/>
          </a:prstGeom>
          <a:noFill/>
        </p:spPr>
        <p:txBody>
          <a:bodyPr wrap="square" lIns="0" tIns="0" rIns="0" bIns="0" anchor="ctr"/>
          <a:lstStyle/>
          <a:p>
            <a:pPr algn="l" latinLnBrk="0" eaLnBrk="1">
              <a:lnSpc>
                <a:spcPct val="100000"/>
              </a:lnSpc>
            </a:pPr>
            <a:r>
              <a:rPr sz="1950" b="0" spc="-39" lang="ko-KR" altLang="en-US">
                <a:solidFill>
                  <a:srgbClr val="3D3F48"/>
                </a:solidFill>
                <a:latin typeface="맑은 고딕"/>
                <a:ea typeface="맑은 고딕"/>
                <a:cs typeface="맑은 고딕"/>
              </a:rPr>
              <a:t>오늘 쓰는 대학, 교수, 학생, 논문, 학칙은 모두 교육용 가상 자료입니다.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6–9분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05</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리허설 결과 재현 · 질문 한 번</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300" b="1" spc="-66" lang="ko-KR" altLang="en-US">
                <a:solidFill>
                  <a:srgbClr val="16171C"/>
                </a:solidFill>
                <a:latin typeface="맑은 고딕"/>
                <a:ea typeface="맑은 고딕"/>
                <a:cs typeface="맑은 고딕"/>
              </a:rPr>
              <a:t>먼저 결과부터: 메일 40통이 이렇게 정리됩니다</a:t>
            </a:r>
          </a:p>
        </p:txBody>
      </p:sp>
      <p:sp>
        <p:nvSpPr>
          <p:cNvPr id="6" name="Rounded Rectangle 5"/>
          <p:cNvSpPr/>
          <p:nvPr/>
        </p:nvSpPr>
        <p:spPr>
          <a:xfrm>
            <a:off x="685800" y="1676400"/>
            <a:ext cx="2857500" cy="3810000"/>
          </a:xfrm>
          <a:prstGeom prst="roundRect">
            <a:avLst>
              <a:gd name="adj" fmla="val 4666"/>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76300" y="1790700"/>
            <a:ext cx="2857500" cy="3238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유형별 개수</a:t>
            </a:r>
          </a:p>
        </p:txBody>
      </p:sp>
      <p:sp>
        <p:nvSpPr>
          <p:cNvPr id="8" name="TextBox 7"/>
          <p:cNvSpPr txBox="1"/>
          <p:nvPr/>
        </p:nvSpPr>
        <p:spPr>
          <a:xfrm>
            <a:off x="876300" y="22098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출석·공결</a:t>
            </a:r>
          </a:p>
        </p:txBody>
      </p:sp>
      <p:sp>
        <p:nvSpPr>
          <p:cNvPr id="9" name="Rounded Rectangle 8"/>
          <p:cNvSpPr/>
          <p:nvPr/>
        </p:nvSpPr>
        <p:spPr>
          <a:xfrm>
            <a:off x="2552700" y="2286000"/>
            <a:ext cx="685800" cy="190500"/>
          </a:xfrm>
          <a:prstGeom prst="roundRect">
            <a:avLst>
              <a:gd name="adj" fmla="val 15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295650" y="22098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9</a:t>
            </a:r>
          </a:p>
        </p:txBody>
      </p:sp>
      <p:sp>
        <p:nvSpPr>
          <p:cNvPr id="11" name="TextBox 10"/>
          <p:cNvSpPr txBox="1"/>
          <p:nvPr/>
        </p:nvSpPr>
        <p:spPr>
          <a:xfrm>
            <a:off x="876300" y="26098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과제 연장·제출</a:t>
            </a:r>
          </a:p>
        </p:txBody>
      </p:sp>
      <p:sp>
        <p:nvSpPr>
          <p:cNvPr id="12" name="Rounded Rectangle 11"/>
          <p:cNvSpPr/>
          <p:nvPr/>
        </p:nvSpPr>
        <p:spPr>
          <a:xfrm>
            <a:off x="2552700" y="2686050"/>
            <a:ext cx="6096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219450" y="26098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8</a:t>
            </a:r>
          </a:p>
        </p:txBody>
      </p:sp>
      <p:sp>
        <p:nvSpPr>
          <p:cNvPr id="14" name="TextBox 13"/>
          <p:cNvSpPr txBox="1"/>
          <p:nvPr/>
        </p:nvSpPr>
        <p:spPr>
          <a:xfrm>
            <a:off x="876300" y="30099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성적·시험</a:t>
            </a:r>
          </a:p>
        </p:txBody>
      </p:sp>
      <p:sp>
        <p:nvSpPr>
          <p:cNvPr id="15" name="Rounded Rectangle 14"/>
          <p:cNvSpPr/>
          <p:nvPr/>
        </p:nvSpPr>
        <p:spPr>
          <a:xfrm>
            <a:off x="2552700" y="3086100"/>
            <a:ext cx="4572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67050" y="30099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6</a:t>
            </a:r>
          </a:p>
        </p:txBody>
      </p:sp>
      <p:sp>
        <p:nvSpPr>
          <p:cNvPr id="17" name="TextBox 16"/>
          <p:cNvSpPr txBox="1"/>
          <p:nvPr/>
        </p:nvSpPr>
        <p:spPr>
          <a:xfrm>
            <a:off x="876300" y="34099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수강신청·철회</a:t>
            </a:r>
          </a:p>
        </p:txBody>
      </p:sp>
      <p:sp>
        <p:nvSpPr>
          <p:cNvPr id="18" name="Rounded Rectangle 17"/>
          <p:cNvSpPr/>
          <p:nvPr/>
        </p:nvSpPr>
        <p:spPr>
          <a:xfrm>
            <a:off x="2552700" y="3486150"/>
            <a:ext cx="3048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14650" y="34099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4</a:t>
            </a:r>
          </a:p>
        </p:txBody>
      </p:sp>
      <p:sp>
        <p:nvSpPr>
          <p:cNvPr id="20" name="TextBox 19"/>
          <p:cNvSpPr txBox="1"/>
          <p:nvPr/>
        </p:nvSpPr>
        <p:spPr>
          <a:xfrm>
            <a:off x="876300" y="38100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면담 요청</a:t>
            </a:r>
          </a:p>
        </p:txBody>
      </p:sp>
      <p:sp>
        <p:nvSpPr>
          <p:cNvPr id="21" name="Rounded Rectangle 20"/>
          <p:cNvSpPr/>
          <p:nvPr/>
        </p:nvSpPr>
        <p:spPr>
          <a:xfrm>
            <a:off x="2552700" y="3886200"/>
            <a:ext cx="3048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914650" y="38100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4</a:t>
            </a:r>
          </a:p>
        </p:txBody>
      </p:sp>
      <p:sp>
        <p:nvSpPr>
          <p:cNvPr id="23" name="TextBox 22"/>
          <p:cNvSpPr txBox="1"/>
          <p:nvPr/>
        </p:nvSpPr>
        <p:spPr>
          <a:xfrm>
            <a:off x="876300" y="42100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추천서</a:t>
            </a:r>
          </a:p>
        </p:txBody>
      </p:sp>
      <p:sp>
        <p:nvSpPr>
          <p:cNvPr id="24" name="Rounded Rectangle 23"/>
          <p:cNvSpPr/>
          <p:nvPr/>
        </p:nvSpPr>
        <p:spPr>
          <a:xfrm>
            <a:off x="2552700" y="4286250"/>
            <a:ext cx="2286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838450" y="42100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3</a:t>
            </a:r>
          </a:p>
        </p:txBody>
      </p:sp>
      <p:sp>
        <p:nvSpPr>
          <p:cNvPr id="26" name="TextBox 25"/>
          <p:cNvSpPr txBox="1"/>
          <p:nvPr/>
        </p:nvSpPr>
        <p:spPr>
          <a:xfrm>
            <a:off x="876300" y="46101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수업 내용 질문</a:t>
            </a:r>
          </a:p>
        </p:txBody>
      </p:sp>
      <p:sp>
        <p:nvSpPr>
          <p:cNvPr id="27" name="Rounded Rectangle 26"/>
          <p:cNvSpPr/>
          <p:nvPr/>
        </p:nvSpPr>
        <p:spPr>
          <a:xfrm>
            <a:off x="2552700" y="4686300"/>
            <a:ext cx="2286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838450" y="46101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3</a:t>
            </a:r>
          </a:p>
        </p:txBody>
      </p:sp>
      <p:sp>
        <p:nvSpPr>
          <p:cNvPr id="29" name="TextBox 28"/>
          <p:cNvSpPr txBox="1"/>
          <p:nvPr/>
        </p:nvSpPr>
        <p:spPr>
          <a:xfrm>
            <a:off x="876300" y="50101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기타</a:t>
            </a:r>
          </a:p>
        </p:txBody>
      </p:sp>
      <p:sp>
        <p:nvSpPr>
          <p:cNvPr id="30" name="Rounded Rectangle 29"/>
          <p:cNvSpPr/>
          <p:nvPr/>
        </p:nvSpPr>
        <p:spPr>
          <a:xfrm>
            <a:off x="2552700" y="5086350"/>
            <a:ext cx="228600" cy="190500"/>
          </a:xfrm>
          <a:prstGeom prst="roundRect">
            <a:avLst>
              <a:gd name="adj" fmla="val 15000"/>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838450" y="50101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3</a:t>
            </a:r>
          </a:p>
        </p:txBody>
      </p:sp>
      <p:sp>
        <p:nvSpPr>
          <p:cNvPr id="32" name="Rounded Rectangle 31"/>
          <p:cNvSpPr/>
          <p:nvPr/>
        </p:nvSpPr>
        <p:spPr>
          <a:xfrm>
            <a:off x="3695700" y="1676400"/>
            <a:ext cx="4191000" cy="3810000"/>
          </a:xfrm>
          <a:prstGeom prst="roundRect">
            <a:avLst>
              <a:gd name="adj" fmla="val 350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886200" y="1790700"/>
            <a:ext cx="3810000" cy="3238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처리표 일부 (40행 중 4행)</a:t>
            </a:r>
          </a:p>
        </p:txBody>
      </p:sp>
      <p:sp>
        <p:nvSpPr>
          <p:cNvPr id="34" name="Rectangle 33"/>
          <p:cNvSpPr/>
          <p:nvPr/>
        </p:nvSpPr>
        <p:spPr>
          <a:xfrm>
            <a:off x="3790950" y="2190750"/>
            <a:ext cx="4000500" cy="49530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86200" y="21907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번호</a:t>
            </a:r>
          </a:p>
        </p:txBody>
      </p:sp>
      <p:sp>
        <p:nvSpPr>
          <p:cNvPr id="36" name="TextBox 35"/>
          <p:cNvSpPr txBox="1"/>
          <p:nvPr/>
        </p:nvSpPr>
        <p:spPr>
          <a:xfrm>
            <a:off x="4572000" y="2190750"/>
            <a:ext cx="1085850" cy="49530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유형</a:t>
            </a:r>
          </a:p>
        </p:txBody>
      </p:sp>
      <p:sp>
        <p:nvSpPr>
          <p:cNvPr id="37" name="TextBox 36"/>
          <p:cNvSpPr txBox="1"/>
          <p:nvPr/>
        </p:nvSpPr>
        <p:spPr>
          <a:xfrm>
            <a:off x="5791200" y="2190750"/>
            <a:ext cx="1962150" cy="49530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요청 한 줄</a:t>
            </a:r>
          </a:p>
        </p:txBody>
      </p:sp>
      <p:sp>
        <p:nvSpPr>
          <p:cNvPr id="38" name="Rectangle 37"/>
          <p:cNvSpPr/>
          <p:nvPr/>
        </p:nvSpPr>
        <p:spPr>
          <a:xfrm>
            <a:off x="3790950" y="3167062"/>
            <a:ext cx="40005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886200" y="26860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M11</a:t>
            </a:r>
          </a:p>
        </p:txBody>
      </p:sp>
      <p:sp>
        <p:nvSpPr>
          <p:cNvPr id="40" name="TextBox 39"/>
          <p:cNvSpPr txBox="1"/>
          <p:nvPr/>
        </p:nvSpPr>
        <p:spPr>
          <a:xfrm>
            <a:off x="4572000" y="26860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출석·공결</a:t>
            </a:r>
          </a:p>
        </p:txBody>
      </p:sp>
      <p:sp>
        <p:nvSpPr>
          <p:cNvPr id="41" name="TextBox 40"/>
          <p:cNvSpPr txBox="1"/>
          <p:nvPr/>
        </p:nvSpPr>
        <p:spPr>
          <a:xfrm>
            <a:off x="5791200" y="26860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병결 출석 인정</a:t>
            </a:r>
          </a:p>
        </p:txBody>
      </p:sp>
      <p:sp>
        <p:nvSpPr>
          <p:cNvPr id="42" name="Rectangle 41"/>
          <p:cNvSpPr/>
          <p:nvPr/>
        </p:nvSpPr>
        <p:spPr>
          <a:xfrm>
            <a:off x="3790950" y="3662362"/>
            <a:ext cx="40005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886200" y="31813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M16</a:t>
            </a:r>
          </a:p>
        </p:txBody>
      </p:sp>
      <p:sp>
        <p:nvSpPr>
          <p:cNvPr id="44" name="TextBox 43"/>
          <p:cNvSpPr txBox="1"/>
          <p:nvPr/>
        </p:nvSpPr>
        <p:spPr>
          <a:xfrm>
            <a:off x="4572000" y="31813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출석·공결</a:t>
            </a:r>
          </a:p>
        </p:txBody>
      </p:sp>
      <p:sp>
        <p:nvSpPr>
          <p:cNvPr id="45" name="TextBox 44"/>
          <p:cNvSpPr txBox="1"/>
          <p:nvPr/>
        </p:nvSpPr>
        <p:spPr>
          <a:xfrm>
            <a:off x="5791200" y="31813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결석 몇 번까지?</a:t>
            </a:r>
          </a:p>
        </p:txBody>
      </p:sp>
      <p:sp>
        <p:nvSpPr>
          <p:cNvPr id="46" name="Rectangle 45"/>
          <p:cNvSpPr/>
          <p:nvPr/>
        </p:nvSpPr>
        <p:spPr>
          <a:xfrm>
            <a:off x="3790950" y="4157662"/>
            <a:ext cx="40005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886200" y="36766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M33</a:t>
            </a:r>
          </a:p>
        </p:txBody>
      </p:sp>
      <p:sp>
        <p:nvSpPr>
          <p:cNvPr id="48" name="TextBox 47"/>
          <p:cNvSpPr txBox="1"/>
          <p:nvPr/>
        </p:nvSpPr>
        <p:spPr>
          <a:xfrm>
            <a:off x="4572000" y="36766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철회</a:t>
            </a:r>
          </a:p>
        </p:txBody>
      </p:sp>
      <p:sp>
        <p:nvSpPr>
          <p:cNvPr id="49" name="TextBox 48"/>
          <p:cNvSpPr txBox="1"/>
          <p:nvPr/>
        </p:nvSpPr>
        <p:spPr>
          <a:xfrm>
            <a:off x="5791200" y="36766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마감 뒤 철회</a:t>
            </a:r>
          </a:p>
        </p:txBody>
      </p:sp>
      <p:sp>
        <p:nvSpPr>
          <p:cNvPr id="50" name="Rectangle 49"/>
          <p:cNvSpPr/>
          <p:nvPr/>
        </p:nvSpPr>
        <p:spPr>
          <a:xfrm>
            <a:off x="3790950" y="4652962"/>
            <a:ext cx="40005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886200" y="41719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M37</a:t>
            </a:r>
          </a:p>
        </p:txBody>
      </p:sp>
      <p:sp>
        <p:nvSpPr>
          <p:cNvPr id="52" name="TextBox 51"/>
          <p:cNvSpPr txBox="1"/>
          <p:nvPr/>
        </p:nvSpPr>
        <p:spPr>
          <a:xfrm>
            <a:off x="4572000" y="41719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기타</a:t>
            </a:r>
          </a:p>
        </p:txBody>
      </p:sp>
      <p:sp>
        <p:nvSpPr>
          <p:cNvPr id="53" name="TextBox 52"/>
          <p:cNvSpPr txBox="1"/>
          <p:nvPr/>
        </p:nvSpPr>
        <p:spPr>
          <a:xfrm>
            <a:off x="5791200" y="41719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학회 홍보 (답장 X)</a:t>
            </a:r>
          </a:p>
        </p:txBody>
      </p:sp>
      <p:sp>
        <p:nvSpPr>
          <p:cNvPr id="54" name="TextBox 53"/>
          <p:cNvSpPr txBox="1"/>
          <p:nvPr/>
        </p:nvSpPr>
        <p:spPr>
          <a:xfrm>
            <a:off x="3886200" y="4762500"/>
            <a:ext cx="3810000" cy="5715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중복 메일: M01·M02, M03·M04</a:t>
            </a:r>
          </a:p>
        </p:txBody>
      </p:sp>
      <p:sp>
        <p:nvSpPr>
          <p:cNvPr id="55" name="Rounded Rectangle 54"/>
          <p:cNvSpPr/>
          <p:nvPr/>
        </p:nvSpPr>
        <p:spPr>
          <a:xfrm>
            <a:off x="8039100" y="1676400"/>
            <a:ext cx="3467100" cy="3810000"/>
          </a:xfrm>
          <a:prstGeom prst="roundRect">
            <a:avLst>
              <a:gd name="adj" fmla="val 3846"/>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8267700" y="1790700"/>
            <a:ext cx="3048000" cy="3238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M17 답장 초안</a:t>
            </a:r>
          </a:p>
        </p:txBody>
      </p:sp>
      <p:sp>
        <p:nvSpPr>
          <p:cNvPr id="57" name="TextBox 56"/>
          <p:cNvSpPr txBox="1"/>
          <p:nvPr/>
        </p:nvSpPr>
        <p:spPr>
          <a:xfrm>
            <a:off x="8267700" y="2209800"/>
            <a:ext cx="3086100" cy="3143250"/>
          </a:xfrm>
          <a:prstGeom prst="rect">
            <a:avLst/>
          </a:prstGeom>
          <a:noFill/>
        </p:spPr>
        <p:txBody>
          <a:bodyPr wrap="square" lIns="0" tIns="0" rIns="0" bIns="0" anchor="t"/>
          <a:lstStyle/>
          <a:p>
            <a:pPr algn="l" latinLnBrk="0" eaLnBrk="1">
              <a:lnSpc>
                <a:spcPct val="135000"/>
              </a:lnSpc>
            </a:pPr>
            <a:r>
              <a:rPr sz="1875" b="0" spc="-37" lang="ko-KR" altLang="en-US">
                <a:solidFill>
                  <a:srgbClr val="16171C"/>
                </a:solidFill>
                <a:latin typeface="맑은 고딕"/>
                <a:ea typeface="맑은 고딕"/>
                <a:cs typeface="맑은 고딕"/>
              </a:rPr>
              <a:t>배준호 학생,</a:t>
            </a:r>
            <a:br/>
            <a:r>
              <a:rPr sz="1875" b="0" spc="-37" lang="ko-KR" altLang="en-US">
                <a:solidFill>
                  <a:srgbClr val="16171C"/>
                </a:solidFill>
                <a:latin typeface="맑은 고딕"/>
                <a:ea typeface="맑은 고딕"/>
                <a:cs typeface="맑은 고딕"/>
              </a:rPr>
              <a:t>메일 고마워요.</a:t>
            </a:r>
            <a:br/>
            <a:r>
              <a:rPr sz="1875" b="0" spc="-37" lang="ko-KR" altLang="en-US">
                <a:solidFill>
                  <a:srgbClr val="16171C"/>
                </a:solidFill>
                <a:latin typeface="맑은 고딕"/>
                <a:ea typeface="맑은 고딕"/>
                <a:cs typeface="맑은 고딕"/>
              </a:rPr>
              <a:t>진로 이야기라니</a:t>
            </a:r>
            <a:br/>
            <a:r>
              <a:rPr sz="1875" b="0" spc="-37" lang="ko-KR" altLang="en-US">
                <a:solidFill>
                  <a:srgbClr val="16171C"/>
                </a:solidFill>
                <a:latin typeface="맑은 고딕"/>
                <a:ea typeface="맑은 고딕"/>
                <a:cs typeface="맑은 고딕"/>
              </a:rPr>
              <a:t>반갑습니다.</a:t>
            </a:r>
            <a:br/>
            <a:r>
              <a:rPr sz="1875" b="0" spc="-37" lang="ko-KR" altLang="en-US">
                <a:solidFill>
                  <a:srgbClr val="16171C"/>
                </a:solidFill>
                <a:latin typeface="맑은 고딕"/>
                <a:ea typeface="맑은 고딕"/>
                <a:cs typeface="맑은 고딕"/>
              </a:rPr>
              <a:t>[시간 확인] 중에</a:t>
            </a:r>
            <a:br/>
            <a:r>
              <a:rPr sz="1875" b="0" spc="-37" lang="ko-KR" altLang="en-US">
                <a:solidFill>
                  <a:srgbClr val="16171C"/>
                </a:solidFill>
                <a:latin typeface="맑은 고딕"/>
                <a:ea typeface="맑은 고딕"/>
                <a:cs typeface="맑은 고딕"/>
              </a:rPr>
              <a:t>편한 때를 알려 주세요.</a:t>
            </a:r>
          </a:p>
        </p:txBody>
      </p:sp>
      <p:sp>
        <p:nvSpPr>
          <p:cNvPr id="58" name="Rounded Rectangle 57"/>
          <p:cNvSpPr/>
          <p:nvPr/>
        </p:nvSpPr>
        <p:spPr>
          <a:xfrm>
            <a:off x="685800" y="5676900"/>
            <a:ext cx="10820400" cy="628650"/>
          </a:xfrm>
          <a:prstGeom prst="roundRect">
            <a:avLst>
              <a:gd name="adj" fmla="val 18181"/>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52500" y="5676900"/>
            <a:ext cx="10287000" cy="628650"/>
          </a:xfrm>
          <a:prstGeom prst="rect">
            <a:avLst/>
          </a:prstGeom>
          <a:noFill/>
        </p:spPr>
        <p:txBody>
          <a:bodyPr wrap="square" lIns="0" tIns="0" rIns="0" bIns="0" anchor="ctr"/>
          <a:lstStyle/>
          <a:p>
            <a:pPr algn="l" latinLnBrk="0" eaLnBrk="1">
              <a:lnSpc>
                <a:spcPct val="100000"/>
              </a:lnSpc>
            </a:pPr>
            <a:r>
              <a:rPr sz="2100" b="1" spc="-42" lang="ko-KR" altLang="en-US">
                <a:solidFill>
                  <a:srgbClr val="E8590C"/>
                </a:solidFill>
                <a:latin typeface="맑은 고딕"/>
                <a:ea typeface="맑은 고딕"/>
                <a:cs typeface="맑은 고딕"/>
              </a:rPr>
              <a:t>걸린 시간  </a:t>
            </a:r>
            <a:r>
              <a:rPr sz="2100" b="1" spc="-42" lang="ko-KR" altLang="en-US">
                <a:solidFill>
                  <a:srgbClr val="16171C"/>
                </a:solidFill>
                <a:latin typeface="맑은 고딕"/>
                <a:ea typeface="맑은 고딕"/>
                <a:cs typeface="맑은 고딕"/>
              </a:rPr>
              <a:t>______분 (리허설 실측) · 오늘 이 방에서 다시 잽니다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9–11분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06</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실제 자료 · 대학 교원의 AI 사용</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300" b="1" spc="-66" lang="ko-KR" altLang="en-US">
                <a:solidFill>
                  <a:srgbClr val="16171C"/>
                </a:solidFill>
                <a:latin typeface="맑은 고딕"/>
                <a:ea typeface="맑은 고딕"/>
                <a:cs typeface="맑은 고딕"/>
              </a:rPr>
              <a:t>대학 교원이 AI에 가장 많이 맡긴 일은 수업 준비였습니다</a:t>
            </a:r>
          </a:p>
        </p:txBody>
      </p:sp>
      <p:sp>
        <p:nvSpPr>
          <p:cNvPr id="6" name="TextBox 5"/>
          <p:cNvSpPr txBox="1"/>
          <p:nvPr/>
        </p:nvSpPr>
        <p:spPr>
          <a:xfrm>
            <a:off x="685800" y="1962150"/>
            <a:ext cx="333375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교육과정·수업 자료 개발</a:t>
            </a:r>
          </a:p>
        </p:txBody>
      </p:sp>
      <p:sp>
        <p:nvSpPr>
          <p:cNvPr id="7" name="Rounded Rectangle 6"/>
          <p:cNvSpPr/>
          <p:nvPr/>
        </p:nvSpPr>
        <p:spPr>
          <a:xfrm>
            <a:off x="4191000" y="2009775"/>
            <a:ext cx="3474720" cy="571500"/>
          </a:xfrm>
          <a:prstGeom prst="roundRect">
            <a:avLst>
              <a:gd name="adj" fmla="val 6666"/>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18120" y="1962150"/>
            <a:ext cx="1143000" cy="666750"/>
          </a:xfrm>
          <a:prstGeom prst="rect">
            <a:avLst/>
          </a:prstGeom>
          <a:noFill/>
        </p:spPr>
        <p:txBody>
          <a:bodyPr wrap="square" lIns="0" tIns="0" rIns="0" bIns="0" anchor="ctr"/>
          <a:lstStyle/>
          <a:p>
            <a:pPr algn="l" latinLnBrk="0" eaLnBrk="1">
              <a:lnSpc>
                <a:spcPct val="100000"/>
              </a:lnSpc>
            </a:pPr>
            <a:r>
              <a:rPr sz="2400" b="1" spc="-48" lang="ko-KR" altLang="en-US">
                <a:solidFill>
                  <a:srgbClr val="16171C"/>
                </a:solidFill>
                <a:latin typeface="맑은 고딕"/>
                <a:ea typeface="맑은 고딕"/>
                <a:cs typeface="맑은 고딕"/>
              </a:rPr>
              <a:t>57%</a:t>
            </a:r>
          </a:p>
        </p:txBody>
      </p:sp>
      <p:sp>
        <p:nvSpPr>
          <p:cNvPr id="9" name="TextBox 8"/>
          <p:cNvSpPr txBox="1"/>
          <p:nvPr/>
        </p:nvSpPr>
        <p:spPr>
          <a:xfrm>
            <a:off x="685800" y="2876550"/>
            <a:ext cx="333375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학술 연구</a:t>
            </a:r>
          </a:p>
        </p:txBody>
      </p:sp>
      <p:sp>
        <p:nvSpPr>
          <p:cNvPr id="10" name="Rounded Rectangle 9"/>
          <p:cNvSpPr/>
          <p:nvPr/>
        </p:nvSpPr>
        <p:spPr>
          <a:xfrm>
            <a:off x="4191000" y="2924175"/>
            <a:ext cx="792480" cy="571500"/>
          </a:xfrm>
          <a:prstGeom prst="roundRect">
            <a:avLst>
              <a:gd name="adj" fmla="val 6666"/>
            </a:avLst>
          </a:prstGeom>
          <a:solidFill>
            <a:srgbClr val="A8A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35880" y="2876550"/>
            <a:ext cx="1143000" cy="666750"/>
          </a:xfrm>
          <a:prstGeom prst="rect">
            <a:avLst/>
          </a:prstGeom>
          <a:noFill/>
        </p:spPr>
        <p:txBody>
          <a:bodyPr wrap="square" lIns="0" tIns="0" rIns="0" bIns="0" anchor="ctr"/>
          <a:lstStyle/>
          <a:p>
            <a:pPr algn="l" latinLnBrk="0" eaLnBrk="1">
              <a:lnSpc>
                <a:spcPct val="100000"/>
              </a:lnSpc>
            </a:pPr>
            <a:r>
              <a:rPr sz="2400" b="1" spc="-48" lang="ko-KR" altLang="en-US">
                <a:solidFill>
                  <a:srgbClr val="16171C"/>
                </a:solidFill>
                <a:latin typeface="맑은 고딕"/>
                <a:ea typeface="맑은 고딕"/>
                <a:cs typeface="맑은 고딕"/>
              </a:rPr>
              <a:t>13%</a:t>
            </a:r>
          </a:p>
        </p:txBody>
      </p:sp>
      <p:sp>
        <p:nvSpPr>
          <p:cNvPr id="12" name="TextBox 11"/>
          <p:cNvSpPr txBox="1"/>
          <p:nvPr/>
        </p:nvSpPr>
        <p:spPr>
          <a:xfrm>
            <a:off x="685800" y="3790950"/>
            <a:ext cx="333375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학생 평가</a:t>
            </a:r>
          </a:p>
        </p:txBody>
      </p:sp>
      <p:sp>
        <p:nvSpPr>
          <p:cNvPr id="13" name="Rounded Rectangle 12"/>
          <p:cNvSpPr/>
          <p:nvPr/>
        </p:nvSpPr>
        <p:spPr>
          <a:xfrm>
            <a:off x="4191000" y="3838575"/>
            <a:ext cx="426720" cy="571500"/>
          </a:xfrm>
          <a:prstGeom prst="roundRect">
            <a:avLst>
              <a:gd name="adj" fmla="val 8928"/>
            </a:avLst>
          </a:prstGeom>
          <a:solidFill>
            <a:srgbClr val="A8A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0120" y="3790950"/>
            <a:ext cx="1143000" cy="666750"/>
          </a:xfrm>
          <a:prstGeom prst="rect">
            <a:avLst/>
          </a:prstGeom>
          <a:noFill/>
        </p:spPr>
        <p:txBody>
          <a:bodyPr wrap="square" lIns="0" tIns="0" rIns="0" bIns="0" anchor="ctr"/>
          <a:lstStyle/>
          <a:p>
            <a:pPr algn="l" latinLnBrk="0" eaLnBrk="1">
              <a:lnSpc>
                <a:spcPct val="100000"/>
              </a:lnSpc>
            </a:pPr>
            <a:r>
              <a:rPr sz="2400" b="1" spc="-48" lang="ko-KR" altLang="en-US">
                <a:solidFill>
                  <a:srgbClr val="16171C"/>
                </a:solidFill>
                <a:latin typeface="맑은 고딕"/>
                <a:ea typeface="맑은 고딕"/>
                <a:cs typeface="맑은 고딕"/>
              </a:rPr>
              <a:t>7%</a:t>
            </a:r>
          </a:p>
        </p:txBody>
      </p:sp>
      <p:sp>
        <p:nvSpPr>
          <p:cNvPr id="15" name="Rectangle 14"/>
          <p:cNvSpPr/>
          <p:nvPr/>
        </p:nvSpPr>
        <p:spPr>
          <a:xfrm>
            <a:off x="4191000" y="1885950"/>
            <a:ext cx="23812" cy="2762250"/>
          </a:xfrm>
          <a:prstGeom prst="rect">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85800" y="5048250"/>
            <a:ext cx="10820400" cy="1104900"/>
          </a:xfrm>
          <a:prstGeom prst="roundRect">
            <a:avLst>
              <a:gd name="adj" fmla="val 10344"/>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2500" y="5219700"/>
            <a:ext cx="10287000" cy="762000"/>
          </a:xfrm>
          <a:prstGeom prst="rect">
            <a:avLst/>
          </a:prstGeom>
          <a:noFill/>
        </p:spPr>
        <p:txBody>
          <a:bodyPr wrap="square" lIns="0" tIns="0" rIns="0" bIns="0" anchor="t"/>
          <a:lstStyle/>
          <a:p>
            <a:pPr algn="l" latinLnBrk="0" eaLnBrk="1">
              <a:lnSpc>
                <a:spcPct val="140000"/>
              </a:lnSpc>
            </a:pPr>
            <a:r>
              <a:rPr sz="1950" b="1" spc="-39" lang="ko-KR" altLang="en-US">
                <a:solidFill>
                  <a:srgbClr val="E8590C"/>
                </a:solidFill>
                <a:latin typeface="맑은 고딕"/>
                <a:ea typeface="맑은 고딕"/>
                <a:cs typeface="맑은 고딕"/>
              </a:rPr>
              <a:t>출처  </a:t>
            </a:r>
            <a:r>
              <a:rPr sz="1950" b="1" spc="-39" lang="ko-KR" altLang="en-US">
                <a:solidFill>
                  <a:srgbClr val="16171C"/>
                </a:solidFill>
                <a:latin typeface="맑은 고딕"/>
                <a:ea typeface="맑은 고딕"/>
                <a:cs typeface="맑은 고딕"/>
              </a:rPr>
              <a:t>Anthropic Education Report (2025년 8월)</a:t>
            </a:r>
          </a:p>
          <a:p>
            <a:pPr algn="l" latinLnBrk="0" eaLnBrk="1">
              <a:lnSpc>
                <a:spcPct val="140000"/>
              </a:lnSpc>
            </a:pPr>
            <a:r>
              <a:rPr sz="1950" b="0" spc="-39" lang="ko-KR" altLang="en-US">
                <a:solidFill>
                  <a:srgbClr val="3D3F48"/>
                </a:solidFill>
                <a:latin typeface="맑은 고딕"/>
                <a:ea typeface="맑은 고딕"/>
                <a:cs typeface="맑은 고딕"/>
              </a:rPr>
              <a:t>고등교육 종사자의 Claude 대화 약 7만 4천 건 · 한 도구 이용자 기준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11–13분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07</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오늘의 기준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AI는 읽고 정리하고, 결정은 교수님이 합니다</a:t>
            </a:r>
          </a:p>
        </p:txBody>
      </p:sp>
      <p:sp>
        <p:nvSpPr>
          <p:cNvPr id="6" name="Rounded Rectangle 5"/>
          <p:cNvSpPr/>
          <p:nvPr/>
        </p:nvSpPr>
        <p:spPr>
          <a:xfrm>
            <a:off x="685800" y="1866900"/>
            <a:ext cx="5295900" cy="4095750"/>
          </a:xfrm>
          <a:prstGeom prst="roundRect">
            <a:avLst>
              <a:gd name="adj" fmla="val 4186"/>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8700" y="2152650"/>
            <a:ext cx="45720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AI에게 맡길 일</a:t>
            </a:r>
          </a:p>
        </p:txBody>
      </p:sp>
      <p:sp>
        <p:nvSpPr>
          <p:cNvPr id="8" name="TextBox 7"/>
          <p:cNvSpPr txBox="1"/>
          <p:nvPr/>
        </p:nvSpPr>
        <p:spPr>
          <a:xfrm>
            <a:off x="1028700" y="27813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많은 글을 유형별로 나누기</a:t>
            </a:r>
          </a:p>
        </p:txBody>
      </p:sp>
      <p:sp>
        <p:nvSpPr>
          <p:cNvPr id="9" name="Rectangle 8"/>
          <p:cNvSpPr/>
          <p:nvPr/>
        </p:nvSpPr>
        <p:spPr>
          <a:xfrm>
            <a:off x="1028700" y="3390900"/>
            <a:ext cx="4610100" cy="14288"/>
          </a:xfrm>
          <a:prstGeom prst="rect">
            <a:avLst/>
          </a:prstGeom>
          <a:solidFill>
            <a:srgbClr val="BFC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8700" y="35052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긴 문서 요약과 비교표</a:t>
            </a:r>
          </a:p>
        </p:txBody>
      </p:sp>
      <p:sp>
        <p:nvSpPr>
          <p:cNvPr id="11" name="Rectangle 10"/>
          <p:cNvSpPr/>
          <p:nvPr/>
        </p:nvSpPr>
        <p:spPr>
          <a:xfrm>
            <a:off x="1028700" y="4114800"/>
            <a:ext cx="4610100" cy="14288"/>
          </a:xfrm>
          <a:prstGeom prst="rect">
            <a:avLst/>
          </a:prstGeom>
          <a:solidFill>
            <a:srgbClr val="BFC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28700" y="42291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답장·보고서의 첫 초안</a:t>
            </a:r>
          </a:p>
        </p:txBody>
      </p:sp>
      <p:sp>
        <p:nvSpPr>
          <p:cNvPr id="13" name="Rectangle 12"/>
          <p:cNvSpPr/>
          <p:nvPr/>
        </p:nvSpPr>
        <p:spPr>
          <a:xfrm>
            <a:off x="1028700" y="4838700"/>
            <a:ext cx="4610100" cy="14288"/>
          </a:xfrm>
          <a:prstGeom prst="rect">
            <a:avLst/>
          </a:prstGeom>
          <a:solidFill>
            <a:srgbClr val="BFC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8700" y="49530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형식 바꾸기 (메모 → 표)</a:t>
            </a:r>
          </a:p>
        </p:txBody>
      </p:sp>
      <p:sp>
        <p:nvSpPr>
          <p:cNvPr id="15" name="Rectangle 14"/>
          <p:cNvSpPr/>
          <p:nvPr/>
        </p:nvSpPr>
        <p:spPr>
          <a:xfrm>
            <a:off x="1028700" y="5562600"/>
            <a:ext cx="4610100" cy="14288"/>
          </a:xfrm>
          <a:prstGeom prst="rect">
            <a:avLst/>
          </a:prstGeom>
          <a:solidFill>
            <a:srgbClr val="BFC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210300" y="1866900"/>
            <a:ext cx="5295900" cy="4095750"/>
          </a:xfrm>
          <a:prstGeom prst="roundRect">
            <a:avLst>
              <a:gd name="adj" fmla="val 4186"/>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53200" y="2152650"/>
            <a:ext cx="45720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교수님이 할 일</a:t>
            </a:r>
          </a:p>
        </p:txBody>
      </p:sp>
      <p:sp>
        <p:nvSpPr>
          <p:cNvPr id="18" name="TextBox 17"/>
          <p:cNvSpPr txBox="1"/>
          <p:nvPr/>
        </p:nvSpPr>
        <p:spPr>
          <a:xfrm>
            <a:off x="6553200" y="27813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성적·예외 승인 같은 판단</a:t>
            </a:r>
          </a:p>
        </p:txBody>
      </p:sp>
      <p:sp>
        <p:nvSpPr>
          <p:cNvPr id="19" name="Rectangle 18"/>
          <p:cNvSpPr/>
          <p:nvPr/>
        </p:nvSpPr>
        <p:spPr>
          <a:xfrm>
            <a:off x="6553200" y="3390900"/>
            <a:ext cx="46101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53200" y="35052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숫자와 인용이 맞는지 확인</a:t>
            </a:r>
          </a:p>
        </p:txBody>
      </p:sp>
      <p:sp>
        <p:nvSpPr>
          <p:cNvPr id="21" name="Rectangle 20"/>
          <p:cNvSpPr/>
          <p:nvPr/>
        </p:nvSpPr>
        <p:spPr>
          <a:xfrm>
            <a:off x="6553200" y="4114800"/>
            <a:ext cx="46101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53200" y="42291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학생과의 관계가 걸린 말투</a:t>
            </a:r>
          </a:p>
        </p:txBody>
      </p:sp>
      <p:sp>
        <p:nvSpPr>
          <p:cNvPr id="23" name="Rectangle 22"/>
          <p:cNvSpPr/>
          <p:nvPr/>
        </p:nvSpPr>
        <p:spPr>
          <a:xfrm>
            <a:off x="6553200" y="4838700"/>
            <a:ext cx="46101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3200" y="49530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최종 발송과 제출</a:t>
            </a:r>
          </a:p>
        </p:txBody>
      </p:sp>
      <p:sp>
        <p:nvSpPr>
          <p:cNvPr id="25" name="Rectangle 24"/>
          <p:cNvSpPr/>
          <p:nvPr/>
        </p:nvSpPr>
        <p:spPr>
          <a:xfrm>
            <a:off x="6553200" y="5562600"/>
            <a:ext cx="46101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여는 이야기 · 13–15분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08</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오늘의 순서 · 180분</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세 시간 동안 네 가지 업무를 직접 해 봅니다</a:t>
            </a:r>
          </a:p>
        </p:txBody>
      </p:sp>
      <p:sp>
        <p:nvSpPr>
          <p:cNvPr id="6" name="Rectangle 5"/>
          <p:cNvSpPr/>
          <p:nvPr/>
        </p:nvSpPr>
        <p:spPr>
          <a:xfrm>
            <a:off x="1238250" y="3381375"/>
            <a:ext cx="9715500" cy="38100"/>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6250" y="2781300"/>
            <a:ext cx="1714500" cy="381000"/>
          </a:xfrm>
          <a:prstGeom prst="rect">
            <a:avLst/>
          </a:prstGeom>
          <a:noFill/>
        </p:spPr>
        <p:txBody>
          <a:bodyPr wrap="square" lIns="0" tIns="0" rIns="0" bIns="0" anchor="t"/>
          <a:lstStyle/>
          <a:p>
            <a:pPr algn="ctr" latinLnBrk="0" eaLnBrk="1">
              <a:lnSpc>
                <a:spcPct val="100000"/>
              </a:lnSpc>
            </a:pPr>
            <a:r>
              <a:rPr sz="1950" b="1" spc="-39" lang="ko-KR" altLang="en-US">
                <a:solidFill>
                  <a:srgbClr val="3D3F48"/>
                </a:solidFill>
                <a:latin typeface="맑은 고딕"/>
                <a:ea typeface="맑은 고딕"/>
                <a:cs typeface="맑은 고딕"/>
              </a:rPr>
              <a:t>0분</a:t>
            </a:r>
          </a:p>
        </p:txBody>
      </p:sp>
      <p:sp>
        <p:nvSpPr>
          <p:cNvPr id="8" name="Oval 7"/>
          <p:cNvSpPr/>
          <p:nvPr/>
        </p:nvSpPr>
        <p:spPr>
          <a:xfrm>
            <a:off x="1171575" y="3238500"/>
            <a:ext cx="323850" cy="32385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8625" y="3733800"/>
            <a:ext cx="1809750" cy="857250"/>
          </a:xfrm>
          <a:prstGeom prst="rect">
            <a:avLst/>
          </a:prstGeom>
          <a:noFill/>
        </p:spPr>
        <p:txBody>
          <a:bodyPr wrap="square" lIns="0" tIns="0" rIns="0" bIns="0" anchor="t"/>
          <a:lstStyle/>
          <a:p>
            <a:pPr algn="ctr" latinLnBrk="0" eaLnBrk="1">
              <a:lnSpc>
                <a:spcPct val="120000"/>
              </a:lnSpc>
            </a:pPr>
            <a:r>
              <a:rPr sz="2100" b="1" spc="-42" lang="ko-KR" altLang="en-US">
                <a:solidFill>
                  <a:srgbClr val="16171C"/>
                </a:solidFill>
                <a:latin typeface="맑은 고딕"/>
                <a:ea typeface="맑은 고딕"/>
                <a:cs typeface="맑은 고딕"/>
              </a:rPr>
              <a:t>메일 데모</a:t>
            </a:r>
          </a:p>
        </p:txBody>
      </p:sp>
      <p:sp>
        <p:nvSpPr>
          <p:cNvPr id="10" name="TextBox 9"/>
          <p:cNvSpPr txBox="1"/>
          <p:nvPr/>
        </p:nvSpPr>
        <p:spPr>
          <a:xfrm>
            <a:off x="381000" y="4648200"/>
            <a:ext cx="1905000" cy="666750"/>
          </a:xfrm>
          <a:prstGeom prst="rect">
            <a:avLst/>
          </a:prstGeom>
          <a:noFill/>
        </p:spPr>
        <p:txBody>
          <a:bodyPr wrap="square" lIns="0" tIns="0" rIns="0" bIns="0" anchor="t"/>
          <a:lstStyle/>
          <a:p>
            <a:pPr algn="ctr" latinLnBrk="0" eaLnBrk="1">
              <a:lnSpc>
                <a:spcPct val="115000"/>
              </a:lnSpc>
            </a:pPr>
            <a:r>
              <a:rPr sz="1800" b="1" spc="-36" lang="ko-KR" altLang="en-US">
                <a:solidFill>
                  <a:srgbClr val="E8590C"/>
                </a:solidFill>
                <a:latin typeface="맑은 고딕"/>
                <a:ea typeface="맑은 고딕"/>
                <a:cs typeface="맑은 고딕"/>
              </a:rPr>
              <a:t>강사 시연</a:t>
            </a:r>
          </a:p>
        </p:txBody>
      </p:sp>
      <p:sp>
        <p:nvSpPr>
          <p:cNvPr id="11" name="TextBox 10"/>
          <p:cNvSpPr txBox="1"/>
          <p:nvPr/>
        </p:nvSpPr>
        <p:spPr>
          <a:xfrm>
            <a:off x="2381250" y="2781300"/>
            <a:ext cx="1714500" cy="381000"/>
          </a:xfrm>
          <a:prstGeom prst="rect">
            <a:avLst/>
          </a:prstGeom>
          <a:noFill/>
        </p:spPr>
        <p:txBody>
          <a:bodyPr wrap="square" lIns="0" tIns="0" rIns="0" bIns="0" anchor="t"/>
          <a:lstStyle/>
          <a:p>
            <a:pPr algn="ctr" latinLnBrk="0" eaLnBrk="1">
              <a:lnSpc>
                <a:spcPct val="100000"/>
              </a:lnSpc>
            </a:pPr>
            <a:r>
              <a:rPr sz="1950" b="1" spc="-39" lang="ko-KR" altLang="en-US">
                <a:solidFill>
                  <a:srgbClr val="3D3F48"/>
                </a:solidFill>
                <a:latin typeface="맑은 고딕"/>
                <a:ea typeface="맑은 고딕"/>
                <a:cs typeface="맑은 고딕"/>
              </a:rPr>
              <a:t>25분</a:t>
            </a:r>
          </a:p>
        </p:txBody>
      </p:sp>
      <p:sp>
        <p:nvSpPr>
          <p:cNvPr id="12" name="Oval 11"/>
          <p:cNvSpPr/>
          <p:nvPr/>
        </p:nvSpPr>
        <p:spPr>
          <a:xfrm>
            <a:off x="3076575" y="3238500"/>
            <a:ext cx="323850" cy="3238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33625" y="3733800"/>
            <a:ext cx="1809750" cy="857250"/>
          </a:xfrm>
          <a:prstGeom prst="rect">
            <a:avLst/>
          </a:prstGeom>
          <a:noFill/>
        </p:spPr>
        <p:txBody>
          <a:bodyPr wrap="square" lIns="0" tIns="0" rIns="0" bIns="0" anchor="t"/>
          <a:lstStyle/>
          <a:p>
            <a:pPr algn="ctr" latinLnBrk="0" eaLnBrk="1">
              <a:lnSpc>
                <a:spcPct val="120000"/>
              </a:lnSpc>
            </a:pPr>
            <a:r>
              <a:rPr sz="2100" b="1" spc="-42" lang="ko-KR" altLang="en-US">
                <a:solidFill>
                  <a:srgbClr val="16171C"/>
                </a:solidFill>
                <a:latin typeface="맑은 고딕"/>
                <a:ea typeface="맑은 고딕"/>
                <a:cs typeface="맑은 고딕"/>
              </a:rPr>
              <a:t>논문 5편</a:t>
            </a:r>
          </a:p>
        </p:txBody>
      </p:sp>
      <p:sp>
        <p:nvSpPr>
          <p:cNvPr id="14" name="TextBox 13"/>
          <p:cNvSpPr txBox="1"/>
          <p:nvPr/>
        </p:nvSpPr>
        <p:spPr>
          <a:xfrm>
            <a:off x="2286000" y="4648200"/>
            <a:ext cx="1905000" cy="666750"/>
          </a:xfrm>
          <a:prstGeom prst="rect">
            <a:avLst/>
          </a:prstGeom>
          <a:noFill/>
        </p:spPr>
        <p:txBody>
          <a:bodyPr wrap="square" lIns="0" tIns="0" rIns="0" bIns="0" anchor="t"/>
          <a:lstStyle/>
          <a:p>
            <a:pPr algn="ctr" latinLnBrk="0" eaLnBrk="1">
              <a:lnSpc>
                <a:spcPct val="115000"/>
              </a:lnSpc>
            </a:pPr>
            <a:r>
              <a:rPr sz="1800" b="1" spc="-36" lang="ko-KR" altLang="en-US">
                <a:solidFill>
                  <a:srgbClr val="0B7A4B"/>
                </a:solidFill>
                <a:latin typeface="맑은 고딕"/>
                <a:ea typeface="맑은 고딕"/>
                <a:cs typeface="맑은 고딕"/>
              </a:rPr>
              <a:t>Gemini Notebook</a:t>
            </a:r>
            <a:br/>
            <a:r>
              <a:rPr sz="1800" b="1" spc="-36" lang="ko-KR" altLang="en-US">
                <a:solidFill>
                  <a:srgbClr val="0B7A4B"/>
                </a:solidFill>
                <a:latin typeface="맑은 고딕"/>
                <a:ea typeface="맑은 고딕"/>
                <a:cs typeface="맑은 고딕"/>
              </a:rPr>
              <a:t>(구 NotebookLM)</a:t>
            </a:r>
          </a:p>
        </p:txBody>
      </p:sp>
      <p:sp>
        <p:nvSpPr>
          <p:cNvPr id="15" name="TextBox 14"/>
          <p:cNvSpPr txBox="1"/>
          <p:nvPr/>
        </p:nvSpPr>
        <p:spPr>
          <a:xfrm>
            <a:off x="4286250" y="2781300"/>
            <a:ext cx="1714500" cy="381000"/>
          </a:xfrm>
          <a:prstGeom prst="rect">
            <a:avLst/>
          </a:prstGeom>
          <a:noFill/>
        </p:spPr>
        <p:txBody>
          <a:bodyPr wrap="square" lIns="0" tIns="0" rIns="0" bIns="0" anchor="t"/>
          <a:lstStyle/>
          <a:p>
            <a:pPr algn="ctr" latinLnBrk="0" eaLnBrk="1">
              <a:lnSpc>
                <a:spcPct val="100000"/>
              </a:lnSpc>
            </a:pPr>
            <a:r>
              <a:rPr sz="1950" b="1" spc="-39" lang="ko-KR" altLang="en-US">
                <a:solidFill>
                  <a:srgbClr val="3D3F48"/>
                </a:solidFill>
                <a:latin typeface="맑은 고딕"/>
                <a:ea typeface="맑은 고딕"/>
                <a:cs typeface="맑은 고딕"/>
              </a:rPr>
              <a:t>70분</a:t>
            </a:r>
          </a:p>
        </p:txBody>
      </p:sp>
      <p:sp>
        <p:nvSpPr>
          <p:cNvPr id="16" name="Oval 15"/>
          <p:cNvSpPr/>
          <p:nvPr/>
        </p:nvSpPr>
        <p:spPr>
          <a:xfrm>
            <a:off x="4981575" y="3238500"/>
            <a:ext cx="323850" cy="32385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38625" y="3733800"/>
            <a:ext cx="1809750" cy="857250"/>
          </a:xfrm>
          <a:prstGeom prst="rect">
            <a:avLst/>
          </a:prstGeom>
          <a:noFill/>
        </p:spPr>
        <p:txBody>
          <a:bodyPr wrap="square" lIns="0" tIns="0" rIns="0" bIns="0" anchor="t"/>
          <a:lstStyle/>
          <a:p>
            <a:pPr algn="ctr" latinLnBrk="0" eaLnBrk="1">
              <a:lnSpc>
                <a:spcPct val="120000"/>
              </a:lnSpc>
            </a:pPr>
            <a:r>
              <a:rPr sz="2100" b="1" spc="-42" lang="ko-KR" altLang="en-US">
                <a:solidFill>
                  <a:srgbClr val="16171C"/>
                </a:solidFill>
                <a:latin typeface="맑은 고딕"/>
                <a:ea typeface="맑은 고딕"/>
                <a:cs typeface="맑은 고딕"/>
              </a:rPr>
              <a:t>강의평가</a:t>
            </a:r>
            <a:br/>
            <a:r>
              <a:rPr sz="2100" b="1" spc="-42" lang="ko-KR" altLang="en-US">
                <a:solidFill>
                  <a:srgbClr val="16171C"/>
                </a:solidFill>
                <a:latin typeface="맑은 고딕"/>
                <a:ea typeface="맑은 고딕"/>
                <a:cs typeface="맑은 고딕"/>
              </a:rPr>
              <a:t>180개</a:t>
            </a:r>
          </a:p>
        </p:txBody>
      </p:sp>
      <p:sp>
        <p:nvSpPr>
          <p:cNvPr id="18" name="TextBox 17"/>
          <p:cNvSpPr txBox="1"/>
          <p:nvPr/>
        </p:nvSpPr>
        <p:spPr>
          <a:xfrm>
            <a:off x="4191000" y="4648200"/>
            <a:ext cx="1905000" cy="666750"/>
          </a:xfrm>
          <a:prstGeom prst="rect">
            <a:avLst/>
          </a:prstGeom>
          <a:noFill/>
        </p:spPr>
        <p:txBody>
          <a:bodyPr wrap="square" lIns="0" tIns="0" rIns="0" bIns="0" anchor="t"/>
          <a:lstStyle/>
          <a:p>
            <a:pPr algn="ctr" latinLnBrk="0" eaLnBrk="1">
              <a:lnSpc>
                <a:spcPct val="115000"/>
              </a:lnSpc>
            </a:pPr>
            <a:r>
              <a:rPr sz="1800" b="1" spc="-36" lang="ko-KR" altLang="en-US">
                <a:solidFill>
                  <a:srgbClr val="C2410C"/>
                </a:solidFill>
                <a:latin typeface="맑은 고딕"/>
                <a:ea typeface="맑은 고딕"/>
                <a:cs typeface="맑은 고딕"/>
              </a:rPr>
              <a:t>Claude</a:t>
            </a:r>
          </a:p>
        </p:txBody>
      </p:sp>
      <p:sp>
        <p:nvSpPr>
          <p:cNvPr id="19" name="TextBox 18"/>
          <p:cNvSpPr txBox="1"/>
          <p:nvPr/>
        </p:nvSpPr>
        <p:spPr>
          <a:xfrm>
            <a:off x="6191250" y="2781300"/>
            <a:ext cx="1714500" cy="381000"/>
          </a:xfrm>
          <a:prstGeom prst="rect">
            <a:avLst/>
          </a:prstGeom>
          <a:noFill/>
        </p:spPr>
        <p:txBody>
          <a:bodyPr wrap="square" lIns="0" tIns="0" rIns="0" bIns="0" anchor="t"/>
          <a:lstStyle/>
          <a:p>
            <a:pPr algn="ctr" latinLnBrk="0" eaLnBrk="1">
              <a:lnSpc>
                <a:spcPct val="100000"/>
              </a:lnSpc>
            </a:pPr>
            <a:r>
              <a:rPr sz="1950" b="1" spc="-39" lang="ko-KR" altLang="en-US">
                <a:solidFill>
                  <a:srgbClr val="3D3F48"/>
                </a:solidFill>
                <a:latin typeface="맑은 고딕"/>
                <a:ea typeface="맑은 고딕"/>
                <a:cs typeface="맑은 고딕"/>
              </a:rPr>
              <a:t>115분</a:t>
            </a:r>
          </a:p>
        </p:txBody>
      </p:sp>
      <p:sp>
        <p:nvSpPr>
          <p:cNvPr id="20" name="Oval 19"/>
          <p:cNvSpPr/>
          <p:nvPr/>
        </p:nvSpPr>
        <p:spPr>
          <a:xfrm>
            <a:off x="6886575" y="3238500"/>
            <a:ext cx="323850" cy="3238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43625" y="3733800"/>
            <a:ext cx="1809750" cy="857250"/>
          </a:xfrm>
          <a:prstGeom prst="rect">
            <a:avLst/>
          </a:prstGeom>
          <a:noFill/>
        </p:spPr>
        <p:txBody>
          <a:bodyPr wrap="square" lIns="0" tIns="0" rIns="0" bIns="0" anchor="t"/>
          <a:lstStyle/>
          <a:p>
            <a:pPr algn="ctr" latinLnBrk="0" eaLnBrk="1">
              <a:lnSpc>
                <a:spcPct val="120000"/>
              </a:lnSpc>
            </a:pPr>
            <a:r>
              <a:rPr sz="2100" b="1" spc="-42" lang="ko-KR" altLang="en-US">
                <a:solidFill>
                  <a:srgbClr val="16171C"/>
                </a:solidFill>
                <a:latin typeface="맑은 고딕"/>
                <a:ea typeface="맑은 고딕"/>
                <a:cs typeface="맑은 고딕"/>
              </a:rPr>
              <a:t>계획서·학칙</a:t>
            </a:r>
          </a:p>
        </p:txBody>
      </p:sp>
      <p:sp>
        <p:nvSpPr>
          <p:cNvPr id="22" name="TextBox 21"/>
          <p:cNvSpPr txBox="1"/>
          <p:nvPr/>
        </p:nvSpPr>
        <p:spPr>
          <a:xfrm>
            <a:off x="6096000" y="4648200"/>
            <a:ext cx="1905000" cy="666750"/>
          </a:xfrm>
          <a:prstGeom prst="rect">
            <a:avLst/>
          </a:prstGeom>
          <a:noFill/>
        </p:spPr>
        <p:txBody>
          <a:bodyPr wrap="square" lIns="0" tIns="0" rIns="0" bIns="0" anchor="t"/>
          <a:lstStyle/>
          <a:p>
            <a:pPr algn="ctr" latinLnBrk="0" eaLnBrk="1">
              <a:lnSpc>
                <a:spcPct val="115000"/>
              </a:lnSpc>
            </a:pPr>
            <a:r>
              <a:rPr sz="1800" b="1" spc="-36" lang="ko-KR" altLang="en-US">
                <a:solidFill>
                  <a:srgbClr val="1A5FD8"/>
                </a:solidFill>
                <a:latin typeface="맑은 고딕"/>
                <a:ea typeface="맑은 고딕"/>
                <a:cs typeface="맑은 고딕"/>
              </a:rPr>
              <a:t>Gemini</a:t>
            </a:r>
          </a:p>
        </p:txBody>
      </p:sp>
      <p:sp>
        <p:nvSpPr>
          <p:cNvPr id="23" name="TextBox 22"/>
          <p:cNvSpPr txBox="1"/>
          <p:nvPr/>
        </p:nvSpPr>
        <p:spPr>
          <a:xfrm>
            <a:off x="8096250" y="2781300"/>
            <a:ext cx="1714500" cy="381000"/>
          </a:xfrm>
          <a:prstGeom prst="rect">
            <a:avLst/>
          </a:prstGeom>
          <a:noFill/>
        </p:spPr>
        <p:txBody>
          <a:bodyPr wrap="square" lIns="0" tIns="0" rIns="0" bIns="0" anchor="t"/>
          <a:lstStyle/>
          <a:p>
            <a:pPr algn="ctr" latinLnBrk="0" eaLnBrk="1">
              <a:lnSpc>
                <a:spcPct val="100000"/>
              </a:lnSpc>
            </a:pPr>
            <a:r>
              <a:rPr sz="1950" b="1" spc="-39" lang="ko-KR" altLang="en-US">
                <a:solidFill>
                  <a:srgbClr val="3D3F48"/>
                </a:solidFill>
                <a:latin typeface="맑은 고딕"/>
                <a:ea typeface="맑은 고딕"/>
                <a:cs typeface="맑은 고딕"/>
              </a:rPr>
              <a:t>150분</a:t>
            </a:r>
          </a:p>
        </p:txBody>
      </p:sp>
      <p:sp>
        <p:nvSpPr>
          <p:cNvPr id="24" name="Oval 23"/>
          <p:cNvSpPr/>
          <p:nvPr/>
        </p:nvSpPr>
        <p:spPr>
          <a:xfrm>
            <a:off x="8791575" y="3238500"/>
            <a:ext cx="323850" cy="323850"/>
          </a:xfrm>
          <a:prstGeom prst="ellipse">
            <a:avLst/>
          </a:prstGeom>
          <a:solidFill>
            <a:srgbClr val="3D3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48625" y="3733800"/>
            <a:ext cx="1809750" cy="857250"/>
          </a:xfrm>
          <a:prstGeom prst="rect">
            <a:avLst/>
          </a:prstGeom>
          <a:noFill/>
        </p:spPr>
        <p:txBody>
          <a:bodyPr wrap="square" lIns="0" tIns="0" rIns="0" bIns="0" anchor="t"/>
          <a:lstStyle/>
          <a:p>
            <a:pPr algn="ctr" latinLnBrk="0" eaLnBrk="1">
              <a:lnSpc>
                <a:spcPct val="120000"/>
              </a:lnSpc>
            </a:pPr>
            <a:r>
              <a:rPr sz="2100" b="1" spc="-42" lang="ko-KR" altLang="en-US">
                <a:solidFill>
                  <a:srgbClr val="16171C"/>
                </a:solidFill>
                <a:latin typeface="맑은 고딕"/>
                <a:ea typeface="맑은 고딕"/>
                <a:cs typeface="맑은 고딕"/>
              </a:rPr>
              <a:t>학생의</a:t>
            </a:r>
            <a:br/>
            <a:r>
              <a:rPr sz="2100" b="1" spc="-42" lang="ko-KR" altLang="en-US">
                <a:solidFill>
                  <a:srgbClr val="16171C"/>
                </a:solidFill>
                <a:latin typeface="맑은 고딕"/>
                <a:ea typeface="맑은 고딕"/>
                <a:cs typeface="맑은 고딕"/>
              </a:rPr>
              <a:t>AI 사용</a:t>
            </a:r>
          </a:p>
        </p:txBody>
      </p:sp>
      <p:sp>
        <p:nvSpPr>
          <p:cNvPr id="26" name="TextBox 25"/>
          <p:cNvSpPr txBox="1"/>
          <p:nvPr/>
        </p:nvSpPr>
        <p:spPr>
          <a:xfrm>
            <a:off x="8001000" y="4648200"/>
            <a:ext cx="1905000" cy="666750"/>
          </a:xfrm>
          <a:prstGeom prst="rect">
            <a:avLst/>
          </a:prstGeom>
          <a:noFill/>
        </p:spPr>
        <p:txBody>
          <a:bodyPr wrap="square" lIns="0" tIns="0" rIns="0" bIns="0" anchor="t"/>
          <a:lstStyle/>
          <a:p>
            <a:pPr algn="ctr" latinLnBrk="0" eaLnBrk="1">
              <a:lnSpc>
                <a:spcPct val="115000"/>
              </a:lnSpc>
            </a:pPr>
            <a:r>
              <a:rPr sz="1800" b="1" spc="-36" lang="ko-KR" altLang="en-US">
                <a:solidFill>
                  <a:srgbClr val="3D3F48"/>
                </a:solidFill>
                <a:latin typeface="맑은 고딕"/>
                <a:ea typeface="맑은 고딕"/>
                <a:cs typeface="맑은 고딕"/>
              </a:rPr>
              <a:t>Claude/Gemini</a:t>
            </a:r>
          </a:p>
        </p:txBody>
      </p:sp>
      <p:sp>
        <p:nvSpPr>
          <p:cNvPr id="27" name="TextBox 26"/>
          <p:cNvSpPr txBox="1"/>
          <p:nvPr/>
        </p:nvSpPr>
        <p:spPr>
          <a:xfrm>
            <a:off x="10001250" y="2781300"/>
            <a:ext cx="1714500" cy="381000"/>
          </a:xfrm>
          <a:prstGeom prst="rect">
            <a:avLst/>
          </a:prstGeom>
          <a:noFill/>
        </p:spPr>
        <p:txBody>
          <a:bodyPr wrap="square" lIns="0" tIns="0" rIns="0" bIns="0" anchor="t"/>
          <a:lstStyle/>
          <a:p>
            <a:pPr algn="ctr" latinLnBrk="0" eaLnBrk="1">
              <a:lnSpc>
                <a:spcPct val="100000"/>
              </a:lnSpc>
            </a:pPr>
            <a:r>
              <a:rPr sz="1950" b="1" spc="-39" lang="ko-KR" altLang="en-US">
                <a:solidFill>
                  <a:srgbClr val="3D3F48"/>
                </a:solidFill>
                <a:latin typeface="맑은 고딕"/>
                <a:ea typeface="맑은 고딕"/>
                <a:cs typeface="맑은 고딕"/>
              </a:rPr>
              <a:t>170분</a:t>
            </a:r>
          </a:p>
        </p:txBody>
      </p:sp>
      <p:sp>
        <p:nvSpPr>
          <p:cNvPr id="28" name="Oval 27"/>
          <p:cNvSpPr/>
          <p:nvPr/>
        </p:nvSpPr>
        <p:spPr>
          <a:xfrm>
            <a:off x="10696575" y="3238500"/>
            <a:ext cx="323850" cy="323850"/>
          </a:xfrm>
          <a:prstGeom prst="ellipse">
            <a:avLst/>
          </a:prstGeom>
          <a:solidFill>
            <a:srgbClr val="3D3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953625" y="3733800"/>
            <a:ext cx="1809750" cy="857250"/>
          </a:xfrm>
          <a:prstGeom prst="rect">
            <a:avLst/>
          </a:prstGeom>
          <a:noFill/>
        </p:spPr>
        <p:txBody>
          <a:bodyPr wrap="square" lIns="0" tIns="0" rIns="0" bIns="0" anchor="t"/>
          <a:lstStyle/>
          <a:p>
            <a:pPr algn="ctr" latinLnBrk="0" eaLnBrk="1">
              <a:lnSpc>
                <a:spcPct val="120000"/>
              </a:lnSpc>
            </a:pPr>
            <a:r>
              <a:rPr sz="2100" b="1" spc="-42" lang="ko-KR" altLang="en-US">
                <a:solidFill>
                  <a:srgbClr val="16171C"/>
                </a:solidFill>
                <a:latin typeface="맑은 고딕"/>
                <a:ea typeface="맑은 고딕"/>
                <a:cs typeface="맑은 고딕"/>
              </a:rPr>
              <a:t>내일</a:t>
            </a:r>
            <a:br/>
            <a:r>
              <a:rPr sz="2100" b="1" spc="-42" lang="ko-KR" altLang="en-US">
                <a:solidFill>
                  <a:srgbClr val="16171C"/>
                </a:solidFill>
                <a:latin typeface="맑은 고딕"/>
                <a:ea typeface="맑은 고딕"/>
                <a:cs typeface="맑은 고딕"/>
              </a:rPr>
              <a:t>할 일 하나</a:t>
            </a:r>
          </a:p>
        </p:txBody>
      </p:sp>
      <p:sp>
        <p:nvSpPr>
          <p:cNvPr id="30" name="TextBox 29"/>
          <p:cNvSpPr txBox="1"/>
          <p:nvPr/>
        </p:nvSpPr>
        <p:spPr>
          <a:xfrm>
            <a:off x="9906000" y="4648200"/>
            <a:ext cx="1905000" cy="666750"/>
          </a:xfrm>
          <a:prstGeom prst="rect">
            <a:avLst/>
          </a:prstGeom>
          <a:noFill/>
        </p:spPr>
        <p:txBody>
          <a:bodyPr wrap="square" lIns="0" tIns="0" rIns="0" bIns="0" anchor="t"/>
          <a:lstStyle/>
          <a:p>
            <a:pPr algn="ctr" latinLnBrk="0" eaLnBrk="1">
              <a:lnSpc>
                <a:spcPct val="115000"/>
              </a:lnSpc>
            </a:pPr>
            <a:r>
              <a:rPr sz="1800" b="1" spc="-36" lang="ko-KR" altLang="en-US">
                <a:solidFill>
                  <a:srgbClr val="3D3F48"/>
                </a:solidFill>
                <a:latin typeface="맑은 고딕"/>
                <a:ea typeface="맑은 고딕"/>
                <a:cs typeface="맑은 고딕"/>
              </a:rPr>
              <a:t>아무 도구</a:t>
            </a:r>
          </a:p>
        </p:txBody>
      </p:sp>
      <p:sp>
        <p:nvSpPr>
          <p:cNvPr id="31" name="Rounded Rectangle 30"/>
          <p:cNvSpPr/>
          <p:nvPr/>
        </p:nvSpPr>
        <p:spPr>
          <a:xfrm>
            <a:off x="5219700" y="2266950"/>
            <a:ext cx="2286000" cy="409575"/>
          </a:xfrm>
          <a:prstGeom prst="roundRect">
            <a:avLst>
              <a:gd name="adj" fmla="val 50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391150" y="2266950"/>
            <a:ext cx="203835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105분 · 휴식 10분</a:t>
            </a:r>
          </a:p>
        </p:txBody>
      </p:sp>
      <p:pic>
        <p:nvPicPr>
          <p:cNvPr id="33" name="Picture 32" descr="qr_16171C_FFFFFF.png"/>
          <p:cNvPicPr>
            <a:picLocks noChangeAspect="1"/>
          </p:cNvPicPr>
          <p:nvPr/>
        </p:nvPicPr>
        <p:blipFill>
          <a:blip r:embed="rId3"/>
          <a:stretch>
            <a:fillRect/>
          </a:stretch>
        </p:blipFill>
        <p:spPr>
          <a:xfrm>
            <a:off x="10591800" y="5467350"/>
            <a:ext cx="914400" cy="914400"/>
          </a:xfrm>
          <a:prstGeom prst="rect">
            <a:avLst/>
          </a:prstGeom>
        </p:spPr>
      </p:pic>
      <p:sp>
        <p:nvSpPr>
          <p:cNvPr id="34" name="Rounded Rectangle 33"/>
          <p:cNvSpPr/>
          <p:nvPr/>
        </p:nvSpPr>
        <p:spPr>
          <a:xfrm>
            <a:off x="685800" y="5619750"/>
            <a:ext cx="9677400" cy="609600"/>
          </a:xfrm>
          <a:prstGeom prst="roundRect">
            <a:avLst>
              <a:gd name="adj" fmla="val 1875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52500" y="5619750"/>
            <a:ext cx="9144000" cy="609600"/>
          </a:xfrm>
          <a:prstGeom prst="rect">
            <a:avLst/>
          </a:prstGeom>
          <a:noFill/>
        </p:spPr>
        <p:txBody>
          <a:bodyPr wrap="square" lIns="0" tIns="0" rIns="0" bIns="0" anchor="ctr"/>
          <a:lstStyle/>
          <a:p>
            <a:pPr algn="l" latinLnBrk="0" eaLnBrk="1">
              <a:lnSpc>
                <a:spcPct val="100000"/>
              </a:lnSpc>
            </a:pPr>
            <a:r>
              <a:rPr sz="1950" b="0" spc="-39" lang="ko-KR" altLang="en-US">
                <a:solidFill>
                  <a:srgbClr val="3D3F48"/>
                </a:solidFill>
                <a:latin typeface="맑은 고딕"/>
                <a:ea typeface="맑은 고딕"/>
                <a:cs typeface="맑은 고딕"/>
              </a:rPr>
              <a:t>자료와 복사할 질문은 모두 강의 사이트에 있습니다. QR로 여세요.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라이브 데모 · 15–25분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09</a:t>
            </a:r>
          </a:p>
        </p:txBody>
      </p:sp>
      <p:sp>
        <p:nvSpPr>
          <p:cNvPr id="4" name="Rectangle 3"/>
          <p:cNvSpPr/>
          <p:nvPr/>
        </p:nvSpPr>
        <p:spPr>
          <a:xfrm>
            <a:off x="0" y="0"/>
            <a:ext cx="12192000" cy="876300"/>
          </a:xfrm>
          <a:prstGeom prst="rect">
            <a:avLst/>
          </a:prstGeom>
          <a:solidFill>
            <a:srgbClr val="FD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라이브 데모 · 강사 시연</a:t>
            </a:r>
          </a:p>
        </p:txBody>
      </p:sp>
      <p:sp>
        <p:nvSpPr>
          <p:cNvPr id="6" name="Rounded Rectangle 5"/>
          <p:cNvSpPr/>
          <p:nvPr/>
        </p:nvSpPr>
        <p:spPr>
          <a:xfrm>
            <a:off x="8113776" y="219075"/>
            <a:ext cx="3390900"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66176" y="357188"/>
            <a:ext cx="133350" cy="13335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94776" y="219075"/>
            <a:ext cx="293370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10분 · Claude 또는 Gemini</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지금 제가 메일 40통을 직접 분류해 보겠습니다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E8590C"/>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메일 파일 한 개 올리기</a:t>
            </a:r>
            <a:r>
              <a:rPr sz="2025" b="1" spc="-40" lang="ko-KR" altLang="en-US">
                <a:solidFill>
                  <a:srgbClr val="E8590C"/>
                </a:solidFill>
                <a:latin typeface="맑은 고딕"/>
                <a:ea typeface="맑은 고딕"/>
                <a:cs typeface="맑은 고딕"/>
              </a:rPr>
              <a:t>   →   </a:t>
            </a:r>
            <a:r>
              <a:rPr sz="2025" b="1" spc="-40" lang="ko-KR" altLang="en-US">
                <a:solidFill>
                  <a:srgbClr val="E8590C"/>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네 줄 질문 붙여 넣기</a:t>
            </a:r>
            <a:r>
              <a:rPr sz="2025" b="1" spc="-40" lang="ko-KR" altLang="en-US">
                <a:solidFill>
                  <a:srgbClr val="E8590C"/>
                </a:solidFill>
                <a:latin typeface="맑은 고딕"/>
                <a:ea typeface="맑은 고딕"/>
                <a:cs typeface="맑은 고딕"/>
              </a:rPr>
              <a:t>   →   </a:t>
            </a:r>
            <a:r>
              <a:rPr sz="2025" b="1" spc="-40" lang="ko-KR" altLang="en-US">
                <a:solidFill>
                  <a:srgbClr val="E8590C"/>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유형별 개수 더하기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메일 정리를 돕는 조교</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첨부한 메일 40통만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유형별 표 하나, 중복·날짜 오류는 따로</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없는 사실, 학칙 판단, 개인정보 옮기기</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유형</a:t>
            </a:r>
          </a:p>
        </p:txBody>
      </p:sp>
      <p:sp>
        <p:nvSpPr>
          <p:cNvPr id="18" name="TextBox 17"/>
          <p:cNvSpPr txBox="1"/>
          <p:nvPr/>
        </p:nvSpPr>
        <p:spPr>
          <a:xfrm>
            <a:off x="10229850" y="2895600"/>
            <a:ext cx="10096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개수</a:t>
            </a:r>
          </a:p>
        </p:txBody>
      </p:sp>
      <p:sp>
        <p:nvSpPr>
          <p:cNvPr id="19" name="Rectangle 18"/>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34150" y="329565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출석·공결</a:t>
            </a:r>
          </a:p>
        </p:txBody>
      </p:sp>
      <p:sp>
        <p:nvSpPr>
          <p:cNvPr id="21" name="TextBox 20"/>
          <p:cNvSpPr txBox="1"/>
          <p:nvPr/>
        </p:nvSpPr>
        <p:spPr>
          <a:xfrm>
            <a:off x="10229850" y="329565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9</a:t>
            </a:r>
          </a:p>
        </p:txBody>
      </p:sp>
      <p:sp>
        <p:nvSpPr>
          <p:cNvPr id="22" name="Rectangle 21"/>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34150" y="369570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과제 연장·제출</a:t>
            </a:r>
          </a:p>
        </p:txBody>
      </p:sp>
      <p:sp>
        <p:nvSpPr>
          <p:cNvPr id="24" name="TextBox 23"/>
          <p:cNvSpPr txBox="1"/>
          <p:nvPr/>
        </p:nvSpPr>
        <p:spPr>
          <a:xfrm>
            <a:off x="10229850" y="369570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8</a:t>
            </a:r>
          </a:p>
        </p:txBody>
      </p:sp>
      <p:sp>
        <p:nvSpPr>
          <p:cNvPr id="25" name="Rectangle 24"/>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4150" y="409575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성적·시험</a:t>
            </a:r>
          </a:p>
        </p:txBody>
      </p:sp>
      <p:sp>
        <p:nvSpPr>
          <p:cNvPr id="27" name="TextBox 26"/>
          <p:cNvSpPr txBox="1"/>
          <p:nvPr/>
        </p:nvSpPr>
        <p:spPr>
          <a:xfrm>
            <a:off x="10229850" y="409575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6</a:t>
            </a:r>
          </a:p>
        </p:txBody>
      </p:sp>
      <p:sp>
        <p:nvSpPr>
          <p:cNvPr id="28" name="Rectangle 27"/>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34150" y="449580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나머지 5유형</a:t>
            </a:r>
          </a:p>
        </p:txBody>
      </p:sp>
      <p:sp>
        <p:nvSpPr>
          <p:cNvPr id="30" name="TextBox 29"/>
          <p:cNvSpPr txBox="1"/>
          <p:nvPr/>
        </p:nvSpPr>
        <p:spPr>
          <a:xfrm>
            <a:off x="10229850" y="449580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17</a:t>
            </a:r>
          </a:p>
        </p:txBody>
      </p:sp>
      <p:sp>
        <p:nvSpPr>
          <p:cNvPr id="31" name="Rectangle 30"/>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34150" y="489585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합계</a:t>
            </a:r>
          </a:p>
        </p:txBody>
      </p:sp>
      <p:sp>
        <p:nvSpPr>
          <p:cNvPr id="33" name="TextBox 32"/>
          <p:cNvSpPr txBox="1"/>
          <p:nvPr/>
        </p:nvSpPr>
        <p:spPr>
          <a:xfrm>
            <a:off x="10229850" y="489585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40?</a:t>
            </a:r>
          </a:p>
        </p:txBody>
      </p:sp>
      <p:sp>
        <p:nvSpPr>
          <p:cNvPr id="34" name="Rounded Rectangle 33"/>
          <p:cNvSpPr/>
          <p:nvPr/>
        </p:nvSpPr>
        <p:spPr>
          <a:xfrm>
            <a:off x="10153650" y="4924425"/>
            <a:ext cx="1104900" cy="342900"/>
          </a:xfrm>
          <a:prstGeom prst="roundRect">
            <a:avLst>
              <a:gd name="adj" fmla="val 50000"/>
            </a:avLst>
          </a:prstGeom>
          <a:noFill/>
          <a:ln w="33337">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E8590C"/>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유형별 개수를 더하면 40인가?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라이브 데모 · 15–25분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10</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시연 결과 · 정답 기준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메일은 40통이지만, 답장할 일은 37건입니다</a:t>
            </a:r>
          </a:p>
        </p:txBody>
      </p:sp>
      <p:sp>
        <p:nvSpPr>
          <p:cNvPr id="6" name="TextBox 5"/>
          <p:cNvSpPr txBox="1"/>
          <p:nvPr/>
        </p:nvSpPr>
        <p:spPr>
          <a:xfrm>
            <a:off x="685800" y="1866900"/>
            <a:ext cx="3048000" cy="1905000"/>
          </a:xfrm>
          <a:prstGeom prst="rect">
            <a:avLst/>
          </a:prstGeom>
          <a:noFill/>
        </p:spPr>
        <p:txBody>
          <a:bodyPr wrap="square" lIns="0" tIns="0" rIns="0" bIns="0" anchor="t"/>
          <a:lstStyle/>
          <a:p>
            <a:pPr algn="l" latinLnBrk="0" eaLnBrk="1">
              <a:lnSpc>
                <a:spcPct val="100000"/>
              </a:lnSpc>
            </a:pPr>
            <a:r>
              <a:rPr sz="12750" b="1" spc="-255" lang="ko-KR" altLang="en-US">
                <a:solidFill>
                  <a:srgbClr val="3D3F48"/>
                </a:solidFill>
                <a:latin typeface="맑은 고딕"/>
                <a:ea typeface="맑은 고딕"/>
                <a:cs typeface="맑은 고딕"/>
              </a:rPr>
              <a:t>40</a:t>
            </a:r>
          </a:p>
        </p:txBody>
      </p:sp>
      <p:sp>
        <p:nvSpPr>
          <p:cNvPr id="7" name="TextBox 6"/>
          <p:cNvSpPr txBox="1"/>
          <p:nvPr/>
        </p:nvSpPr>
        <p:spPr>
          <a:xfrm>
            <a:off x="685800" y="3810000"/>
            <a:ext cx="314325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받은 메일</a:t>
            </a:r>
          </a:p>
        </p:txBody>
      </p:sp>
      <p:sp>
        <p:nvSpPr>
          <p:cNvPr id="8" name="TextBox 7"/>
          <p:cNvSpPr txBox="1"/>
          <p:nvPr/>
        </p:nvSpPr>
        <p:spPr>
          <a:xfrm>
            <a:off x="685800" y="4305300"/>
            <a:ext cx="3143250" cy="762000"/>
          </a:xfrm>
          <a:prstGeom prst="rect">
            <a:avLst/>
          </a:prstGeom>
          <a:noFill/>
        </p:spPr>
        <p:txBody>
          <a:bodyPr wrap="square" lIns="0" tIns="0" rIns="0" bIns="0" anchor="t"/>
          <a:lstStyle/>
          <a:p>
            <a:pPr algn="l" latinLnBrk="0" eaLnBrk="1">
              <a:lnSpc>
                <a:spcPct val="130000"/>
              </a:lnSpc>
            </a:pPr>
          </a:p>
        </p:txBody>
      </p:sp>
      <p:sp>
        <p:nvSpPr>
          <p:cNvPr id="9" name="TextBox 8"/>
          <p:cNvSpPr txBox="1"/>
          <p:nvPr/>
        </p:nvSpPr>
        <p:spPr>
          <a:xfrm>
            <a:off x="3543300" y="2381250"/>
            <a:ext cx="762000" cy="857250"/>
          </a:xfrm>
          <a:prstGeom prst="rect">
            <a:avLst/>
          </a:prstGeom>
          <a:noFill/>
        </p:spPr>
        <p:txBody>
          <a:bodyPr wrap="square" lIns="0" tIns="0" rIns="0" bIns="0" anchor="t"/>
          <a:lstStyle/>
          <a:p>
            <a:pPr algn="l" latinLnBrk="0" eaLnBrk="1">
              <a:lnSpc>
                <a:spcPct val="100000"/>
              </a:lnSpc>
            </a:pPr>
            <a:r>
              <a:rPr sz="4500" b="1" spc="-90" lang="ko-KR" altLang="en-US">
                <a:solidFill>
                  <a:srgbClr val="D9D4C8"/>
                </a:solidFill>
                <a:latin typeface="맑은 고딕"/>
                <a:ea typeface="맑은 고딕"/>
                <a:cs typeface="맑은 고딕"/>
              </a:rPr>
              <a:t>→</a:t>
            </a:r>
          </a:p>
        </p:txBody>
      </p:sp>
      <p:sp>
        <p:nvSpPr>
          <p:cNvPr id="10" name="TextBox 9"/>
          <p:cNvSpPr txBox="1"/>
          <p:nvPr/>
        </p:nvSpPr>
        <p:spPr>
          <a:xfrm>
            <a:off x="4495800" y="1866900"/>
            <a:ext cx="3048000" cy="1905000"/>
          </a:xfrm>
          <a:prstGeom prst="rect">
            <a:avLst/>
          </a:prstGeom>
          <a:noFill/>
        </p:spPr>
        <p:txBody>
          <a:bodyPr wrap="square" lIns="0" tIns="0" rIns="0" bIns="0" anchor="t"/>
          <a:lstStyle/>
          <a:p>
            <a:pPr algn="l" latinLnBrk="0" eaLnBrk="1">
              <a:lnSpc>
                <a:spcPct val="100000"/>
              </a:lnSpc>
            </a:pPr>
            <a:r>
              <a:rPr sz="12750" b="1" spc="-255" lang="ko-KR" altLang="en-US">
                <a:solidFill>
                  <a:srgbClr val="E8590C"/>
                </a:solidFill>
                <a:latin typeface="맑은 고딕"/>
                <a:ea typeface="맑은 고딕"/>
                <a:cs typeface="맑은 고딕"/>
              </a:rPr>
              <a:t>38</a:t>
            </a:r>
          </a:p>
        </p:txBody>
      </p:sp>
      <p:sp>
        <p:nvSpPr>
          <p:cNvPr id="11" name="TextBox 10"/>
          <p:cNvSpPr txBox="1"/>
          <p:nvPr/>
        </p:nvSpPr>
        <p:spPr>
          <a:xfrm>
            <a:off x="4495800" y="3810000"/>
            <a:ext cx="314325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처리할 건</a:t>
            </a:r>
          </a:p>
        </p:txBody>
      </p:sp>
      <p:sp>
        <p:nvSpPr>
          <p:cNvPr id="12" name="TextBox 11"/>
          <p:cNvSpPr txBox="1"/>
          <p:nvPr/>
        </p:nvSpPr>
        <p:spPr>
          <a:xfrm>
            <a:off x="4495800" y="4305300"/>
            <a:ext cx="314325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M02·M04는 재발송</a:t>
            </a:r>
          </a:p>
        </p:txBody>
      </p:sp>
      <p:sp>
        <p:nvSpPr>
          <p:cNvPr id="13" name="TextBox 12"/>
          <p:cNvSpPr txBox="1"/>
          <p:nvPr/>
        </p:nvSpPr>
        <p:spPr>
          <a:xfrm>
            <a:off x="7353300" y="2381250"/>
            <a:ext cx="762000" cy="857250"/>
          </a:xfrm>
          <a:prstGeom prst="rect">
            <a:avLst/>
          </a:prstGeom>
          <a:noFill/>
        </p:spPr>
        <p:txBody>
          <a:bodyPr wrap="square" lIns="0" tIns="0" rIns="0" bIns="0" anchor="t"/>
          <a:lstStyle/>
          <a:p>
            <a:pPr algn="l" latinLnBrk="0" eaLnBrk="1">
              <a:lnSpc>
                <a:spcPct val="100000"/>
              </a:lnSpc>
            </a:pPr>
            <a:r>
              <a:rPr sz="4500" b="1" spc="-90" lang="ko-KR" altLang="en-US">
                <a:solidFill>
                  <a:srgbClr val="D9D4C8"/>
                </a:solidFill>
                <a:latin typeface="맑은 고딕"/>
                <a:ea typeface="맑은 고딕"/>
                <a:cs typeface="맑은 고딕"/>
              </a:rPr>
              <a:t>→</a:t>
            </a:r>
          </a:p>
        </p:txBody>
      </p:sp>
      <p:sp>
        <p:nvSpPr>
          <p:cNvPr id="14" name="TextBox 13"/>
          <p:cNvSpPr txBox="1"/>
          <p:nvPr/>
        </p:nvSpPr>
        <p:spPr>
          <a:xfrm>
            <a:off x="8305800" y="1866900"/>
            <a:ext cx="3048000" cy="1905000"/>
          </a:xfrm>
          <a:prstGeom prst="rect">
            <a:avLst/>
          </a:prstGeom>
          <a:noFill/>
        </p:spPr>
        <p:txBody>
          <a:bodyPr wrap="square" lIns="0" tIns="0" rIns="0" bIns="0" anchor="t"/>
          <a:lstStyle/>
          <a:p>
            <a:pPr algn="l" latinLnBrk="0" eaLnBrk="1">
              <a:lnSpc>
                <a:spcPct val="100000"/>
              </a:lnSpc>
            </a:pPr>
            <a:r>
              <a:rPr sz="12750" b="1" spc="-255" lang="ko-KR" altLang="en-US">
                <a:solidFill>
                  <a:srgbClr val="E8590C"/>
                </a:solidFill>
                <a:latin typeface="맑은 고딕"/>
                <a:ea typeface="맑은 고딕"/>
                <a:cs typeface="맑은 고딕"/>
              </a:rPr>
              <a:t>37</a:t>
            </a:r>
          </a:p>
        </p:txBody>
      </p:sp>
      <p:sp>
        <p:nvSpPr>
          <p:cNvPr id="15" name="TextBox 14"/>
          <p:cNvSpPr txBox="1"/>
          <p:nvPr/>
        </p:nvSpPr>
        <p:spPr>
          <a:xfrm>
            <a:off x="8305800" y="3810000"/>
            <a:ext cx="314325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답장할 건</a:t>
            </a:r>
          </a:p>
        </p:txBody>
      </p:sp>
      <p:sp>
        <p:nvSpPr>
          <p:cNvPr id="16" name="TextBox 15"/>
          <p:cNvSpPr txBox="1"/>
          <p:nvPr/>
        </p:nvSpPr>
        <p:spPr>
          <a:xfrm>
            <a:off x="8305800" y="4305300"/>
            <a:ext cx="3143250" cy="76200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M37은 외부 학회 홍보</a:t>
            </a:r>
          </a:p>
        </p:txBody>
      </p:sp>
      <p:sp>
        <p:nvSpPr>
          <p:cNvPr id="17" name="Rounded Rectangle 16"/>
          <p:cNvSpPr/>
          <p:nvPr/>
        </p:nvSpPr>
        <p:spPr>
          <a:xfrm>
            <a:off x="685800" y="5410200"/>
            <a:ext cx="10820400" cy="685800"/>
          </a:xfrm>
          <a:prstGeom prst="roundRect">
            <a:avLst>
              <a:gd name="adj" fmla="val 16666"/>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2500" y="5410200"/>
            <a:ext cx="10287000" cy="68580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유형별 개수: </a:t>
            </a:r>
            <a:r>
              <a:rPr sz="1950" b="0" spc="-39" lang="ko-KR" altLang="en-US">
                <a:solidFill>
                  <a:srgbClr val="16171C"/>
                </a:solidFill>
                <a:latin typeface="맑은 고딕"/>
                <a:ea typeface="맑은 고딕"/>
                <a:cs typeface="맑은 고딕"/>
              </a:rPr>
              <a:t>출석·공결 9 · 과제 8 · 성적 6 · 철회 4 · 면담 4 · 추천서 3 · 수업 3 · 기타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라이브 데모 · 15–25분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11</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42318"/>
                </a:solidFill>
                <a:latin typeface="맑은 고딕"/>
                <a:ea typeface="맑은 고딕"/>
                <a:cs typeface="맑은 고딕"/>
              </a:rPr>
              <a:t>AI가 여기서 틀렸다 · 재현 예시</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AI는 같은 요청을 두 번 세기도 합니다</a:t>
            </a:r>
          </a:p>
        </p:txBody>
      </p:sp>
      <p:sp>
        <p:nvSpPr>
          <p:cNvPr id="6" name="Rounded Rectangle 5"/>
          <p:cNvSpPr/>
          <p:nvPr/>
        </p:nvSpPr>
        <p:spPr>
          <a:xfrm>
            <a:off x="685800" y="1962150"/>
            <a:ext cx="5295900" cy="2971800"/>
          </a:xfrm>
          <a:prstGeom prst="roundRect">
            <a:avLst>
              <a:gd name="adj" fmla="val 512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AI 답</a:t>
            </a:r>
          </a:p>
        </p:txBody>
      </p:sp>
      <p:sp>
        <p:nvSpPr>
          <p:cNvPr id="8" name="TextBox 7"/>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답장이 필요한 메일: </a:t>
            </a:r>
            <a:r>
              <a:rPr sz="2100" b="1" spc="-42" lang="ko-KR" altLang="en-US">
                <a:solidFill>
                  <a:srgbClr val="16171C"/>
                </a:solidFill>
                <a:highlight>
                  <a:srgbClr val="FFD2C4"/>
                </a:highlight>
                <a:latin typeface="맑은 고딕"/>
                <a:ea typeface="맑은 고딕"/>
                <a:cs typeface="맑은 고딕"/>
              </a:rPr>
              <a:t>40통</a:t>
            </a:r>
          </a:p>
          <a:p>
            <a:pPr algn="l" latinLnBrk="0" eaLnBrk="1">
              <a:lnSpc>
                <a:spcPct val="145000"/>
              </a:lnSpc>
            </a:pPr>
            <a:r>
              <a:rPr sz="2100" b="0" spc="-42" lang="ko-KR" altLang="en-US">
                <a:solidFill>
                  <a:srgbClr val="16171C"/>
                </a:solidFill>
                <a:latin typeface="맑은 고딕"/>
                <a:ea typeface="맑은 고딕"/>
                <a:cs typeface="맑은 고딕"/>
              </a:rPr>
              <a:t>과제 연장 요청이 두 건 있습니다</a:t>
            </a:r>
            <a:br/>
            <a:r>
              <a:rPr sz="2100" b="0" spc="-42" lang="ko-KR" altLang="en-US">
                <a:solidFill>
                  <a:srgbClr val="16171C"/>
                </a:solidFill>
                <a:latin typeface="맑은 고딕"/>
                <a:ea typeface="맑은 고딕"/>
                <a:cs typeface="맑은 고딕"/>
              </a:rPr>
              <a:t>(M01, M02).</a:t>
            </a:r>
          </a:p>
        </p:txBody>
      </p:sp>
      <p:sp>
        <p:nvSpPr>
          <p:cNvPr id="9" name="Rounded Rectangle 8"/>
          <p:cNvSpPr/>
          <p:nvPr/>
        </p:nvSpPr>
        <p:spPr>
          <a:xfrm>
            <a:off x="6210300" y="1962150"/>
            <a:ext cx="5295900" cy="2971800"/>
          </a:xfrm>
          <a:prstGeom prst="roundRect">
            <a:avLst>
              <a:gd name="adj" fmla="val 5128"/>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원문 · 01_학생메일_40통.txt</a:t>
            </a:r>
          </a:p>
        </p:txBody>
      </p:sp>
      <p:sp>
        <p:nvSpPr>
          <p:cNvPr id="11" name="TextBox 10"/>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M02는 M01을 </a:t>
            </a:r>
            <a:r>
              <a:rPr sz="2100" b="0" spc="-42" lang="ko-KR" altLang="en-US">
                <a:solidFill>
                  <a:srgbClr val="16171C"/>
                </a:solidFill>
                <a:highlight>
                  <a:srgbClr val="C9EBD8"/>
                </a:highlight>
                <a:latin typeface="맑은 고딕"/>
                <a:ea typeface="맑은 고딕"/>
                <a:cs typeface="맑은 고딕"/>
              </a:rPr>
              <a:t>7분 뒤 다시 보낸</a:t>
            </a:r>
            <a:r>
              <a:rPr sz="2100" b="0" spc="-42" lang="ko-KR" altLang="en-US">
                <a:solidFill>
                  <a:srgbClr val="16171C"/>
                </a:solidFill>
                <a:latin typeface="맑은 고딕"/>
                <a:ea typeface="맑은 고딕"/>
                <a:cs typeface="맑은 고딕"/>
              </a:rPr>
              <a:t> 메일.</a:t>
            </a:r>
            <a:br/>
            <a:r>
              <a:rPr sz="2100" b="0" spc="-42" lang="ko-KR" altLang="en-US">
                <a:solidFill>
                  <a:srgbClr val="16171C"/>
                </a:solidFill>
                <a:latin typeface="맑은 고딕"/>
                <a:ea typeface="맑은 고딕"/>
                <a:cs typeface="맑은 고딕"/>
              </a:rPr>
              <a:t>M04는 M03에 첨부만 더한 메일.</a:t>
            </a:r>
            <a:br/>
            <a:r>
              <a:rPr sz="2100" b="0" spc="-42" lang="ko-KR" altLang="en-US">
                <a:solidFill>
                  <a:srgbClr val="16171C"/>
                </a:solidFill>
                <a:latin typeface="맑은 고딕"/>
                <a:ea typeface="맑은 고딕"/>
                <a:cs typeface="맑은 고딕"/>
              </a:rPr>
              <a:t>M37은 </a:t>
            </a:r>
            <a:r>
              <a:rPr sz="2100" b="0" spc="-42" lang="ko-KR" altLang="en-US">
                <a:solidFill>
                  <a:srgbClr val="16171C"/>
                </a:solidFill>
                <a:highlight>
                  <a:srgbClr val="C9EBD8"/>
                </a:highlight>
                <a:latin typeface="맑은 고딕"/>
                <a:ea typeface="맑은 고딕"/>
                <a:cs typeface="맑은 고딕"/>
              </a:rPr>
              <a:t>외부 학회 홍보</a:t>
            </a:r>
            <a:r>
              <a:rPr sz="2100" b="0" spc="-42" lang="ko-KR" altLang="en-US">
                <a:solidFill>
                  <a:srgbClr val="16171C"/>
                </a:solidFill>
                <a:latin typeface="맑은 고딕"/>
                <a:ea typeface="맑은 고딕"/>
                <a:cs typeface="맑은 고딕"/>
              </a:rPr>
              <a:t>.</a:t>
            </a:r>
          </a:p>
        </p:txBody>
      </p:sp>
      <p:sp>
        <p:nvSpPr>
          <p:cNvPr id="12" name="TextBox 11"/>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B42318"/>
                </a:solidFill>
                <a:latin typeface="맑은 고딕"/>
                <a:ea typeface="맑은 고딕"/>
                <a:cs typeface="맑은 고딕"/>
              </a:rPr>
              <a:t>→ </a:t>
            </a:r>
            <a:r>
              <a:rPr sz="2400" b="1" spc="-48" lang="ko-KR" altLang="en-US">
                <a:solidFill>
                  <a:srgbClr val="16171C"/>
                </a:solidFill>
                <a:latin typeface="맑은 고딕"/>
                <a:ea typeface="맑은 고딕"/>
                <a:cs typeface="맑은 고딕"/>
              </a:rPr>
              <a:t>개수는 AI 말고 메일 번호로 셉니다. 답장할 건은 37건입니다.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도구 지도 · 15–25분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12</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AI 도구 지도</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AI는 하나가 아니고, 답의 근거가 저마다 다릅니다</a:t>
            </a:r>
          </a:p>
        </p:txBody>
      </p:sp>
      <p:sp>
        <p:nvSpPr>
          <p:cNvPr id="6" name="Rounded Rectangle 5"/>
          <p:cNvSpPr/>
          <p:nvPr/>
        </p:nvSpPr>
        <p:spPr>
          <a:xfrm>
            <a:off x="685800" y="1866900"/>
            <a:ext cx="3479800" cy="3848100"/>
          </a:xfrm>
          <a:prstGeom prst="roundRect">
            <a:avLst>
              <a:gd name="adj" fmla="val 4927"/>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2500" y="2038350"/>
            <a:ext cx="29464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내가 올린 자료</a:t>
            </a:r>
          </a:p>
        </p:txBody>
      </p:sp>
      <p:sp>
        <p:nvSpPr>
          <p:cNvPr id="8" name="TextBox 7"/>
          <p:cNvSpPr txBox="1"/>
          <p:nvPr/>
        </p:nvSpPr>
        <p:spPr>
          <a:xfrm>
            <a:off x="952500" y="2438400"/>
            <a:ext cx="2946400" cy="666750"/>
          </a:xfrm>
          <a:prstGeom prst="rect">
            <a:avLst/>
          </a:prstGeom>
          <a:noFill/>
        </p:spPr>
        <p:txBody>
          <a:bodyPr wrap="square" lIns="0" tIns="0" rIns="0" bIns="0" anchor="t"/>
          <a:lstStyle/>
          <a:p>
            <a:pPr algn="l" latinLnBrk="0" eaLnBrk="1">
              <a:lnSpc>
                <a:spcPct val="125000"/>
              </a:lnSpc>
            </a:pPr>
            <a:r>
              <a:rPr sz="1800" b="0" spc="-36" lang="ko-KR" altLang="en-US">
                <a:solidFill>
                  <a:srgbClr val="3D3F48"/>
                </a:solidFill>
                <a:latin typeface="맑은 고딕"/>
                <a:ea typeface="맑은 고딕"/>
                <a:cs typeface="맑은 고딕"/>
              </a:rPr>
              <a:t>문서 안에서만 답하고</a:t>
            </a:r>
            <a:br/>
            <a:r>
              <a:rPr sz="1800" b="0" spc="-36" lang="ko-KR" altLang="en-US">
                <a:solidFill>
                  <a:srgbClr val="3D3F48"/>
                </a:solidFill>
                <a:latin typeface="맑은 고딕"/>
                <a:ea typeface="맑은 고딕"/>
                <a:cs typeface="맑은 고딕"/>
              </a:rPr>
              <a:t>출처 번호를 붙입니다</a:t>
            </a:r>
          </a:p>
        </p:txBody>
      </p:sp>
      <p:sp>
        <p:nvSpPr>
          <p:cNvPr id="9" name="Rounded Rectangle 8"/>
          <p:cNvSpPr/>
          <p:nvPr/>
        </p:nvSpPr>
        <p:spPr>
          <a:xfrm>
            <a:off x="952500" y="3200400"/>
            <a:ext cx="2495550" cy="476250"/>
          </a:xfrm>
          <a:prstGeom prst="roundRect">
            <a:avLst>
              <a:gd name="adj" fmla="val 50000"/>
            </a:avLst>
          </a:prstGeom>
          <a:solidFill>
            <a:srgbClr val="FFFFFF"/>
          </a:solidFill>
          <a:ln w="27940">
            <a:solidFill>
              <a:srgbClr val="1617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04900" y="3371850"/>
            <a:ext cx="133350" cy="1333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3200400"/>
            <a:ext cx="2038350"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Gemini Notebook</a:t>
            </a:r>
          </a:p>
        </p:txBody>
      </p:sp>
      <p:sp>
        <p:nvSpPr>
          <p:cNvPr id="12" name="Rounded Rectangle 11"/>
          <p:cNvSpPr/>
          <p:nvPr/>
        </p:nvSpPr>
        <p:spPr>
          <a:xfrm>
            <a:off x="4356100" y="1866900"/>
            <a:ext cx="3479800" cy="3848100"/>
          </a:xfrm>
          <a:prstGeom prst="roundRect">
            <a:avLst>
              <a:gd name="adj" fmla="val 4927"/>
            </a:avLst>
          </a:prstGeom>
          <a:solidFill>
            <a:srgbClr val="F3F1EC"/>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22800" y="2038350"/>
            <a:ext cx="29464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AI가 배운 지식</a:t>
            </a:r>
          </a:p>
        </p:txBody>
      </p:sp>
      <p:sp>
        <p:nvSpPr>
          <p:cNvPr id="14" name="TextBox 13"/>
          <p:cNvSpPr txBox="1"/>
          <p:nvPr/>
        </p:nvSpPr>
        <p:spPr>
          <a:xfrm>
            <a:off x="4622800" y="2438400"/>
            <a:ext cx="2946400" cy="666750"/>
          </a:xfrm>
          <a:prstGeom prst="rect">
            <a:avLst/>
          </a:prstGeom>
          <a:noFill/>
        </p:spPr>
        <p:txBody>
          <a:bodyPr wrap="square" lIns="0" tIns="0" rIns="0" bIns="0" anchor="t"/>
          <a:lstStyle/>
          <a:p>
            <a:pPr algn="l" latinLnBrk="0" eaLnBrk="1">
              <a:lnSpc>
                <a:spcPct val="125000"/>
              </a:lnSpc>
            </a:pPr>
            <a:r>
              <a:rPr sz="1800" b="0" spc="-36" lang="ko-KR" altLang="en-US">
                <a:solidFill>
                  <a:srgbClr val="3D3F48"/>
                </a:solidFill>
                <a:latin typeface="맑은 고딕"/>
                <a:ea typeface="맑은 고딕"/>
                <a:cs typeface="맑은 고딕"/>
              </a:rPr>
              <a:t>쓰고 다듬고 나눕니다</a:t>
            </a:r>
          </a:p>
        </p:txBody>
      </p:sp>
      <p:sp>
        <p:nvSpPr>
          <p:cNvPr id="15" name="Rounded Rectangle 14"/>
          <p:cNvSpPr/>
          <p:nvPr/>
        </p:nvSpPr>
        <p:spPr>
          <a:xfrm>
            <a:off x="4622800" y="2857500"/>
            <a:ext cx="1362075" cy="476250"/>
          </a:xfrm>
          <a:prstGeom prst="roundRect">
            <a:avLst>
              <a:gd name="adj" fmla="val 50000"/>
            </a:avLst>
          </a:prstGeom>
          <a:solidFill>
            <a:srgbClr val="FFFFFF"/>
          </a:solidFill>
          <a:ln w="27940">
            <a:solidFill>
              <a:srgbClr val="1617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775200" y="3028950"/>
            <a:ext cx="133350" cy="13335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03800" y="2857500"/>
            <a:ext cx="904875"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Claude</a:t>
            </a:r>
          </a:p>
        </p:txBody>
      </p:sp>
      <p:sp>
        <p:nvSpPr>
          <p:cNvPr id="18" name="Rounded Rectangle 17"/>
          <p:cNvSpPr/>
          <p:nvPr/>
        </p:nvSpPr>
        <p:spPr>
          <a:xfrm>
            <a:off x="4622800" y="3429000"/>
            <a:ext cx="1362075" cy="476250"/>
          </a:xfrm>
          <a:prstGeom prst="roundRect">
            <a:avLst>
              <a:gd name="adj" fmla="val 50000"/>
            </a:avLst>
          </a:prstGeom>
          <a:solidFill>
            <a:srgbClr val="FFFFFF"/>
          </a:solidFill>
          <a:ln w="27940">
            <a:solidFill>
              <a:srgbClr val="1617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775200" y="3600450"/>
            <a:ext cx="133350" cy="1333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03800" y="3429000"/>
            <a:ext cx="904875"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Gemini</a:t>
            </a:r>
          </a:p>
        </p:txBody>
      </p:sp>
      <p:sp>
        <p:nvSpPr>
          <p:cNvPr id="21" name="Rounded Rectangle 20"/>
          <p:cNvSpPr/>
          <p:nvPr/>
        </p:nvSpPr>
        <p:spPr>
          <a:xfrm>
            <a:off x="4622800" y="4000500"/>
            <a:ext cx="1571625" cy="476250"/>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775200" y="4171950"/>
            <a:ext cx="133350" cy="133350"/>
          </a:xfrm>
          <a:prstGeom prst="ellipse">
            <a:avLst/>
          </a:prstGeom>
          <a:solidFill>
            <a:srgbClr val="2B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03800" y="4000500"/>
            <a:ext cx="1114425"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ChatGPT</a:t>
            </a:r>
          </a:p>
        </p:txBody>
      </p:sp>
      <p:sp>
        <p:nvSpPr>
          <p:cNvPr id="24" name="Rounded Rectangle 23"/>
          <p:cNvSpPr/>
          <p:nvPr/>
        </p:nvSpPr>
        <p:spPr>
          <a:xfrm>
            <a:off x="4622800" y="4572000"/>
            <a:ext cx="1495425" cy="476250"/>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775200" y="4743450"/>
            <a:ext cx="133350" cy="13335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03800" y="4572000"/>
            <a:ext cx="1038225"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Copilot</a:t>
            </a:r>
          </a:p>
        </p:txBody>
      </p:sp>
      <p:sp>
        <p:nvSpPr>
          <p:cNvPr id="27" name="Rounded Rectangle 26"/>
          <p:cNvSpPr/>
          <p:nvPr/>
        </p:nvSpPr>
        <p:spPr>
          <a:xfrm>
            <a:off x="4622800" y="5143500"/>
            <a:ext cx="1047750" cy="476250"/>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775200" y="5314950"/>
            <a:ext cx="133350" cy="133350"/>
          </a:xfrm>
          <a:prstGeom prst="ellipse">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03800" y="5143500"/>
            <a:ext cx="590550"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뤼튼</a:t>
            </a:r>
          </a:p>
        </p:txBody>
      </p:sp>
      <p:sp>
        <p:nvSpPr>
          <p:cNvPr id="30" name="Rounded Rectangle 29"/>
          <p:cNvSpPr/>
          <p:nvPr/>
        </p:nvSpPr>
        <p:spPr>
          <a:xfrm>
            <a:off x="8026400" y="1866900"/>
            <a:ext cx="3479800" cy="3848100"/>
          </a:xfrm>
          <a:prstGeom prst="roundRect">
            <a:avLst>
              <a:gd name="adj" fmla="val 4927"/>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93100" y="2038350"/>
            <a:ext cx="29464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웹·논문 검색</a:t>
            </a:r>
          </a:p>
        </p:txBody>
      </p:sp>
      <p:sp>
        <p:nvSpPr>
          <p:cNvPr id="32" name="TextBox 31"/>
          <p:cNvSpPr txBox="1"/>
          <p:nvPr/>
        </p:nvSpPr>
        <p:spPr>
          <a:xfrm>
            <a:off x="8293100" y="2438400"/>
            <a:ext cx="2946400" cy="666750"/>
          </a:xfrm>
          <a:prstGeom prst="rect">
            <a:avLst/>
          </a:prstGeom>
          <a:noFill/>
        </p:spPr>
        <p:txBody>
          <a:bodyPr wrap="square" lIns="0" tIns="0" rIns="0" bIns="0" anchor="t"/>
          <a:lstStyle/>
          <a:p>
            <a:pPr algn="l" latinLnBrk="0" eaLnBrk="1">
              <a:lnSpc>
                <a:spcPct val="125000"/>
              </a:lnSpc>
            </a:pPr>
            <a:r>
              <a:rPr sz="1800" b="0" spc="-36" lang="ko-KR" altLang="en-US">
                <a:solidFill>
                  <a:srgbClr val="3D3F48"/>
                </a:solidFill>
                <a:latin typeface="맑은 고딕"/>
                <a:ea typeface="맑은 고딕"/>
                <a:cs typeface="맑은 고딕"/>
              </a:rPr>
              <a:t>바깥 자료를 찾아</a:t>
            </a:r>
            <a:br/>
            <a:r>
              <a:rPr sz="1800" b="0" spc="-36" lang="ko-KR" altLang="en-US">
                <a:solidFill>
                  <a:srgbClr val="3D3F48"/>
                </a:solidFill>
                <a:latin typeface="맑은 고딕"/>
                <a:ea typeface="맑은 고딕"/>
                <a:cs typeface="맑은 고딕"/>
              </a:rPr>
              <a:t>링크와 함께 답합니다</a:t>
            </a:r>
          </a:p>
        </p:txBody>
      </p:sp>
      <p:sp>
        <p:nvSpPr>
          <p:cNvPr id="33" name="Rounded Rectangle 32"/>
          <p:cNvSpPr/>
          <p:nvPr/>
        </p:nvSpPr>
        <p:spPr>
          <a:xfrm>
            <a:off x="8293100" y="3200400"/>
            <a:ext cx="1876425" cy="476250"/>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445500" y="3371850"/>
            <a:ext cx="133350" cy="13335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674100" y="3200400"/>
            <a:ext cx="1419225"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Perplexity</a:t>
            </a:r>
          </a:p>
        </p:txBody>
      </p:sp>
      <p:sp>
        <p:nvSpPr>
          <p:cNvPr id="36" name="Rounded Rectangle 35"/>
          <p:cNvSpPr/>
          <p:nvPr/>
        </p:nvSpPr>
        <p:spPr>
          <a:xfrm>
            <a:off x="8293100" y="3810000"/>
            <a:ext cx="1752600" cy="476250"/>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445500" y="3981450"/>
            <a:ext cx="133350" cy="13335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674100" y="3810000"/>
            <a:ext cx="1295400"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Consensus</a:t>
            </a:r>
          </a:p>
        </p:txBody>
      </p:sp>
      <p:sp>
        <p:nvSpPr>
          <p:cNvPr id="39" name="Rounded Rectangle 38"/>
          <p:cNvSpPr/>
          <p:nvPr/>
        </p:nvSpPr>
        <p:spPr>
          <a:xfrm>
            <a:off x="8293100" y="4419600"/>
            <a:ext cx="1362075" cy="476250"/>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445500" y="4591050"/>
            <a:ext cx="133350" cy="13335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74100" y="4419600"/>
            <a:ext cx="904875" cy="47625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Elicit</a:t>
            </a:r>
          </a:p>
        </p:txBody>
      </p:sp>
      <p:sp>
        <p:nvSpPr>
          <p:cNvPr id="42" name="TextBox 41"/>
          <p:cNvSpPr txBox="1"/>
          <p:nvPr/>
        </p:nvSpPr>
        <p:spPr>
          <a:xfrm>
            <a:off x="952500" y="3771900"/>
            <a:ext cx="2857500" cy="323850"/>
          </a:xfrm>
          <a:prstGeom prst="rect">
            <a:avLst/>
          </a:prstGeom>
          <a:noFill/>
        </p:spPr>
        <p:txBody>
          <a:bodyPr wrap="square" lIns="0" tIns="0" rIns="0" bIns="0" anchor="t"/>
          <a:lstStyle/>
          <a:p>
            <a:pPr algn="l" latinLnBrk="0" eaLnBrk="1">
              <a:lnSpc>
                <a:spcPct val="100000"/>
              </a:lnSpc>
            </a:pPr>
            <a:r>
              <a:rPr sz="1800" b="0" spc="-36" lang="ko-KR" altLang="en-US">
                <a:solidFill>
                  <a:srgbClr val="3D3F48"/>
                </a:solidFill>
                <a:latin typeface="맑은 고딕"/>
                <a:ea typeface="맑은 고딕"/>
                <a:cs typeface="맑은 고딕"/>
              </a:rPr>
              <a:t>(구 NotebookLM)</a:t>
            </a:r>
          </a:p>
        </p:txBody>
      </p:sp>
      <p:sp>
        <p:nvSpPr>
          <p:cNvPr id="43" name="TextBox 42"/>
          <p:cNvSpPr txBox="1"/>
          <p:nvPr/>
        </p:nvSpPr>
        <p:spPr>
          <a:xfrm>
            <a:off x="685800" y="5962650"/>
            <a:ext cx="10820400" cy="381000"/>
          </a:xfrm>
          <a:prstGeom prst="rect">
            <a:avLst/>
          </a:prstGeom>
          <a:noFill/>
        </p:spPr>
        <p:txBody>
          <a:bodyPr wrap="square" lIns="0" tIns="0" rIns="0" bIns="0" anchor="t"/>
          <a:lstStyle/>
          <a:p>
            <a:pPr algn="l" latinLnBrk="0" eaLnBrk="1">
              <a:lnSpc>
                <a:spcPct val="100000"/>
              </a:lnSpc>
            </a:pPr>
            <a:r>
              <a:rPr sz="1800" b="0" spc="-36" lang="ko-KR" altLang="en-US">
                <a:solidFill>
                  <a:srgbClr val="3D3F48"/>
                </a:solidFill>
                <a:latin typeface="맑은 고딕"/>
                <a:ea typeface="맑은 고딕"/>
                <a:cs typeface="맑은 고딕"/>
              </a:rPr>
              <a:t>굵은 테두리: 오늘 직접 쓰는 도구 · 클로바X는 2026년 4월 서비스 종료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도구 비교 · ¹제품 안내 기준 · 2026년 9월 확인 · 출처는 사이트와 노트</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13</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도구 비교 · 무엇을 근거로 답하나</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도구마다 답의 근거와 약한 곳이 다릅니다</a:t>
            </a:r>
          </a:p>
        </p:txBody>
      </p:sp>
      <p:sp>
        <p:nvSpPr>
          <p:cNvPr id="6" name="Rounded Rectangle 5"/>
          <p:cNvSpPr/>
          <p:nvPr/>
        </p:nvSpPr>
        <p:spPr>
          <a:xfrm>
            <a:off x="685800" y="1543050"/>
            <a:ext cx="10820400" cy="438150"/>
          </a:xfrm>
          <a:prstGeom prst="roundRect">
            <a:avLst>
              <a:gd name="adj" fmla="val 17391"/>
            </a:avLst>
          </a:prstGeom>
          <a:solidFill>
            <a:srgbClr val="ED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9150" y="1543050"/>
            <a:ext cx="2152650" cy="4381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도구</a:t>
            </a:r>
          </a:p>
        </p:txBody>
      </p:sp>
      <p:sp>
        <p:nvSpPr>
          <p:cNvPr id="8" name="TextBox 7"/>
          <p:cNvSpPr txBox="1"/>
          <p:nvPr/>
        </p:nvSpPr>
        <p:spPr>
          <a:xfrm>
            <a:off x="3143250" y="1543050"/>
            <a:ext cx="1409700" cy="4381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답의 근거</a:t>
            </a:r>
          </a:p>
        </p:txBody>
      </p:sp>
      <p:sp>
        <p:nvSpPr>
          <p:cNvPr id="9" name="TextBox 8"/>
          <p:cNvSpPr txBox="1"/>
          <p:nvPr/>
        </p:nvSpPr>
        <p:spPr>
          <a:xfrm>
            <a:off x="4724400" y="1543050"/>
            <a:ext cx="1600200" cy="4381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잘하는 일</a:t>
            </a:r>
          </a:p>
        </p:txBody>
      </p:sp>
      <p:sp>
        <p:nvSpPr>
          <p:cNvPr id="10" name="TextBox 9"/>
          <p:cNvSpPr txBox="1"/>
          <p:nvPr/>
        </p:nvSpPr>
        <p:spPr>
          <a:xfrm>
            <a:off x="6496050" y="1543050"/>
            <a:ext cx="1809750" cy="4381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약한 곳</a:t>
            </a:r>
          </a:p>
        </p:txBody>
      </p:sp>
      <p:sp>
        <p:nvSpPr>
          <p:cNvPr id="11" name="TextBox 10"/>
          <p:cNvSpPr txBox="1"/>
          <p:nvPr/>
        </p:nvSpPr>
        <p:spPr>
          <a:xfrm>
            <a:off x="8477250" y="1543050"/>
            <a:ext cx="1047750" cy="4381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무료</a:t>
            </a:r>
          </a:p>
        </p:txBody>
      </p:sp>
      <p:sp>
        <p:nvSpPr>
          <p:cNvPr id="12" name="TextBox 11"/>
          <p:cNvSpPr txBox="1"/>
          <p:nvPr/>
        </p:nvSpPr>
        <p:spPr>
          <a:xfrm>
            <a:off x="9696450" y="1543050"/>
            <a:ext cx="1771650" cy="4381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학습 설정</a:t>
            </a:r>
          </a:p>
        </p:txBody>
      </p:sp>
      <p:sp>
        <p:nvSpPr>
          <p:cNvPr id="13" name="Rounded Rectangle 12"/>
          <p:cNvSpPr/>
          <p:nvPr/>
        </p:nvSpPr>
        <p:spPr>
          <a:xfrm>
            <a:off x="685800" y="2019300"/>
            <a:ext cx="10820400" cy="609600"/>
          </a:xfrm>
          <a:prstGeom prst="roundRect">
            <a:avLst>
              <a:gd name="adj" fmla="val 93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00100" y="2257425"/>
            <a:ext cx="133350" cy="1333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20193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Gemini Notebook</a:t>
            </a:r>
          </a:p>
        </p:txBody>
      </p:sp>
      <p:sp>
        <p:nvSpPr>
          <p:cNvPr id="16" name="TextBox 15"/>
          <p:cNvSpPr txBox="1"/>
          <p:nvPr/>
        </p:nvSpPr>
        <p:spPr>
          <a:xfrm>
            <a:off x="3143250" y="20193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올린 자료만</a:t>
            </a:r>
          </a:p>
        </p:txBody>
      </p:sp>
      <p:sp>
        <p:nvSpPr>
          <p:cNvPr id="17" name="TextBox 16"/>
          <p:cNvSpPr txBox="1"/>
          <p:nvPr/>
        </p:nvSpPr>
        <p:spPr>
          <a:xfrm>
            <a:off x="4724400" y="20193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논문·규정 비교</a:t>
            </a:r>
          </a:p>
        </p:txBody>
      </p:sp>
      <p:sp>
        <p:nvSpPr>
          <p:cNvPr id="18" name="TextBox 17"/>
          <p:cNvSpPr txBox="1"/>
          <p:nvPr/>
        </p:nvSpPr>
        <p:spPr>
          <a:xfrm>
            <a:off x="6496050" y="20193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자료 밖 질문</a:t>
            </a:r>
          </a:p>
        </p:txBody>
      </p:sp>
      <p:sp>
        <p:nvSpPr>
          <p:cNvPr id="19" name="TextBox 18"/>
          <p:cNvSpPr txBox="1"/>
          <p:nvPr/>
        </p:nvSpPr>
        <p:spPr>
          <a:xfrm>
            <a:off x="8477250" y="20193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있음</a:t>
            </a:r>
          </a:p>
        </p:txBody>
      </p:sp>
      <p:sp>
        <p:nvSpPr>
          <p:cNvPr id="20" name="TextBox 19"/>
          <p:cNvSpPr txBox="1"/>
          <p:nvPr/>
        </p:nvSpPr>
        <p:spPr>
          <a:xfrm>
            <a:off x="9696450" y="20193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학습 안 함¹</a:t>
            </a:r>
          </a:p>
        </p:txBody>
      </p:sp>
      <p:sp>
        <p:nvSpPr>
          <p:cNvPr id="21" name="Oval 20"/>
          <p:cNvSpPr/>
          <p:nvPr/>
        </p:nvSpPr>
        <p:spPr>
          <a:xfrm>
            <a:off x="800100" y="2867025"/>
            <a:ext cx="133350" cy="13335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9650" y="26289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Claude</a:t>
            </a:r>
          </a:p>
        </p:txBody>
      </p:sp>
      <p:sp>
        <p:nvSpPr>
          <p:cNvPr id="23" name="TextBox 22"/>
          <p:cNvSpPr txBox="1"/>
          <p:nvPr/>
        </p:nvSpPr>
        <p:spPr>
          <a:xfrm>
            <a:off x="3143250" y="26289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모델 지식</a:t>
            </a:r>
          </a:p>
        </p:txBody>
      </p:sp>
      <p:sp>
        <p:nvSpPr>
          <p:cNvPr id="24" name="TextBox 23"/>
          <p:cNvSpPr txBox="1"/>
          <p:nvPr/>
        </p:nvSpPr>
        <p:spPr>
          <a:xfrm>
            <a:off x="4724400" y="26289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긴 글 정리·초안</a:t>
            </a:r>
          </a:p>
        </p:txBody>
      </p:sp>
      <p:sp>
        <p:nvSpPr>
          <p:cNvPr id="25" name="TextBox 24"/>
          <p:cNvSpPr txBox="1"/>
          <p:nvPr/>
        </p:nvSpPr>
        <p:spPr>
          <a:xfrm>
            <a:off x="6496050" y="26289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올린 자료 밖</a:t>
            </a:r>
            <a:br/>
            <a:r>
              <a:rPr sz="1800" b="0" spc="-36" lang="ko-KR" altLang="en-US">
                <a:solidFill>
                  <a:srgbClr val="3D3F48"/>
                </a:solidFill>
                <a:latin typeface="맑은 고딕"/>
                <a:ea typeface="맑은 고딕"/>
                <a:cs typeface="맑은 고딕"/>
              </a:rPr>
              <a:t>최신 정보</a:t>
            </a:r>
          </a:p>
        </p:txBody>
      </p:sp>
      <p:sp>
        <p:nvSpPr>
          <p:cNvPr id="26" name="TextBox 25"/>
          <p:cNvSpPr txBox="1"/>
          <p:nvPr/>
        </p:nvSpPr>
        <p:spPr>
          <a:xfrm>
            <a:off x="8477250" y="26289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있음</a:t>
            </a:r>
          </a:p>
        </p:txBody>
      </p:sp>
      <p:sp>
        <p:nvSpPr>
          <p:cNvPr id="27" name="TextBox 26"/>
          <p:cNvSpPr txBox="1"/>
          <p:nvPr/>
        </p:nvSpPr>
        <p:spPr>
          <a:xfrm>
            <a:off x="9696450" y="26289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개인: 끌 수 있음</a:t>
            </a:r>
          </a:p>
        </p:txBody>
      </p:sp>
      <p:sp>
        <p:nvSpPr>
          <p:cNvPr id="28" name="Rounded Rectangle 27"/>
          <p:cNvSpPr/>
          <p:nvPr/>
        </p:nvSpPr>
        <p:spPr>
          <a:xfrm>
            <a:off x="685800" y="3238500"/>
            <a:ext cx="10820400" cy="609600"/>
          </a:xfrm>
          <a:prstGeom prst="roundRect">
            <a:avLst>
              <a:gd name="adj" fmla="val 93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00100" y="3476625"/>
            <a:ext cx="133350" cy="1333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9650" y="32385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Gemini</a:t>
            </a:r>
          </a:p>
        </p:txBody>
      </p:sp>
      <p:sp>
        <p:nvSpPr>
          <p:cNvPr id="31" name="TextBox 30"/>
          <p:cNvSpPr txBox="1"/>
          <p:nvPr/>
        </p:nvSpPr>
        <p:spPr>
          <a:xfrm>
            <a:off x="3143250" y="32385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모델+Google</a:t>
            </a:r>
          </a:p>
        </p:txBody>
      </p:sp>
      <p:sp>
        <p:nvSpPr>
          <p:cNvPr id="32" name="TextBox 31"/>
          <p:cNvSpPr txBox="1"/>
          <p:nvPr/>
        </p:nvSpPr>
        <p:spPr>
          <a:xfrm>
            <a:off x="4724400" y="32385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문서·메일 연동</a:t>
            </a:r>
          </a:p>
        </p:txBody>
      </p:sp>
      <p:sp>
        <p:nvSpPr>
          <p:cNvPr id="33" name="TextBox 32"/>
          <p:cNvSpPr txBox="1"/>
          <p:nvPr/>
        </p:nvSpPr>
        <p:spPr>
          <a:xfrm>
            <a:off x="6496050" y="32385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계정마다 다름</a:t>
            </a:r>
          </a:p>
        </p:txBody>
      </p:sp>
      <p:sp>
        <p:nvSpPr>
          <p:cNvPr id="34" name="TextBox 33"/>
          <p:cNvSpPr txBox="1"/>
          <p:nvPr/>
        </p:nvSpPr>
        <p:spPr>
          <a:xfrm>
            <a:off x="8477250" y="32385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있음</a:t>
            </a:r>
          </a:p>
        </p:txBody>
      </p:sp>
      <p:sp>
        <p:nvSpPr>
          <p:cNvPr id="35" name="TextBox 34"/>
          <p:cNvSpPr txBox="1"/>
          <p:nvPr/>
        </p:nvSpPr>
        <p:spPr>
          <a:xfrm>
            <a:off x="9696450" y="32385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설정에서</a:t>
            </a:r>
            <a:br/>
            <a:r>
              <a:rPr sz="1800" b="0" spc="-36" lang="ko-KR" altLang="en-US">
                <a:solidFill>
                  <a:srgbClr val="16171C"/>
                </a:solidFill>
                <a:latin typeface="맑은 고딕"/>
                <a:ea typeface="맑은 고딕"/>
                <a:cs typeface="맑은 고딕"/>
              </a:rPr>
              <a:t>직접 확인</a:t>
            </a:r>
          </a:p>
        </p:txBody>
      </p:sp>
      <p:sp>
        <p:nvSpPr>
          <p:cNvPr id="36" name="Oval 35"/>
          <p:cNvSpPr/>
          <p:nvPr/>
        </p:nvSpPr>
        <p:spPr>
          <a:xfrm>
            <a:off x="800100" y="4086225"/>
            <a:ext cx="133350" cy="133350"/>
          </a:xfrm>
          <a:prstGeom prst="ellipse">
            <a:avLst/>
          </a:prstGeom>
          <a:solidFill>
            <a:srgbClr val="2B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09650" y="38481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ChatGPT</a:t>
            </a:r>
          </a:p>
        </p:txBody>
      </p:sp>
      <p:sp>
        <p:nvSpPr>
          <p:cNvPr id="38" name="TextBox 37"/>
          <p:cNvSpPr txBox="1"/>
          <p:nvPr/>
        </p:nvSpPr>
        <p:spPr>
          <a:xfrm>
            <a:off x="3143250" y="38481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모델 지식</a:t>
            </a:r>
          </a:p>
        </p:txBody>
      </p:sp>
      <p:sp>
        <p:nvSpPr>
          <p:cNvPr id="39" name="TextBox 38"/>
          <p:cNvSpPr txBox="1"/>
          <p:nvPr/>
        </p:nvSpPr>
        <p:spPr>
          <a:xfrm>
            <a:off x="4724400" y="38481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범용 초안·분석</a:t>
            </a:r>
          </a:p>
        </p:txBody>
      </p:sp>
      <p:sp>
        <p:nvSpPr>
          <p:cNvPr id="40" name="TextBox 39"/>
          <p:cNvSpPr txBox="1"/>
          <p:nvPr/>
        </p:nvSpPr>
        <p:spPr>
          <a:xfrm>
            <a:off x="6496050" y="38481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개인 계정은</a:t>
            </a:r>
            <a:br/>
            <a:r>
              <a:rPr sz="1800" b="0" spc="-36" lang="ko-KR" altLang="en-US">
                <a:solidFill>
                  <a:srgbClr val="3D3F48"/>
                </a:solidFill>
                <a:latin typeface="맑은 고딕"/>
                <a:ea typeface="맑은 고딕"/>
                <a:cs typeface="맑은 고딕"/>
              </a:rPr>
              <a:t>학습 기본 켜짐</a:t>
            </a:r>
          </a:p>
        </p:txBody>
      </p:sp>
      <p:sp>
        <p:nvSpPr>
          <p:cNvPr id="41" name="TextBox 40"/>
          <p:cNvSpPr txBox="1"/>
          <p:nvPr/>
        </p:nvSpPr>
        <p:spPr>
          <a:xfrm>
            <a:off x="8477250" y="38481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있음</a:t>
            </a:r>
          </a:p>
        </p:txBody>
      </p:sp>
      <p:sp>
        <p:nvSpPr>
          <p:cNvPr id="42" name="TextBox 41"/>
          <p:cNvSpPr txBox="1"/>
          <p:nvPr/>
        </p:nvSpPr>
        <p:spPr>
          <a:xfrm>
            <a:off x="9696450" y="38481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기본 켜짐→끄기</a:t>
            </a:r>
          </a:p>
        </p:txBody>
      </p:sp>
      <p:sp>
        <p:nvSpPr>
          <p:cNvPr id="43" name="Rounded Rectangle 42"/>
          <p:cNvSpPr/>
          <p:nvPr/>
        </p:nvSpPr>
        <p:spPr>
          <a:xfrm>
            <a:off x="685800" y="4457700"/>
            <a:ext cx="10820400" cy="609600"/>
          </a:xfrm>
          <a:prstGeom prst="roundRect">
            <a:avLst>
              <a:gd name="adj" fmla="val 93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800100" y="4695825"/>
            <a:ext cx="133350" cy="13335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09650" y="44577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Copilot</a:t>
            </a:r>
          </a:p>
        </p:txBody>
      </p:sp>
      <p:sp>
        <p:nvSpPr>
          <p:cNvPr id="46" name="TextBox 45"/>
          <p:cNvSpPr txBox="1"/>
          <p:nvPr/>
        </p:nvSpPr>
        <p:spPr>
          <a:xfrm>
            <a:off x="3143250" y="44577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모델+M365</a:t>
            </a:r>
          </a:p>
        </p:txBody>
      </p:sp>
      <p:sp>
        <p:nvSpPr>
          <p:cNvPr id="47" name="TextBox 46"/>
          <p:cNvSpPr txBox="1"/>
          <p:nvPr/>
        </p:nvSpPr>
        <p:spPr>
          <a:xfrm>
            <a:off x="4724400" y="44577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Word·메일 안</a:t>
            </a:r>
          </a:p>
        </p:txBody>
      </p:sp>
      <p:sp>
        <p:nvSpPr>
          <p:cNvPr id="48" name="TextBox 47"/>
          <p:cNvSpPr txBox="1"/>
          <p:nvPr/>
        </p:nvSpPr>
        <p:spPr>
          <a:xfrm>
            <a:off x="6496050" y="44577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개인판과 혼동</a:t>
            </a:r>
          </a:p>
        </p:txBody>
      </p:sp>
      <p:sp>
        <p:nvSpPr>
          <p:cNvPr id="49" name="TextBox 48"/>
          <p:cNvSpPr txBox="1"/>
          <p:nvPr/>
        </p:nvSpPr>
        <p:spPr>
          <a:xfrm>
            <a:off x="8477250" y="44577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학교 계정</a:t>
            </a:r>
          </a:p>
        </p:txBody>
      </p:sp>
      <p:sp>
        <p:nvSpPr>
          <p:cNvPr id="50" name="TextBox 49"/>
          <p:cNvSpPr txBox="1"/>
          <p:nvPr/>
        </p:nvSpPr>
        <p:spPr>
          <a:xfrm>
            <a:off x="9696450" y="44577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학교: 학습 안 함</a:t>
            </a:r>
          </a:p>
        </p:txBody>
      </p:sp>
      <p:sp>
        <p:nvSpPr>
          <p:cNvPr id="51" name="Oval 50"/>
          <p:cNvSpPr/>
          <p:nvPr/>
        </p:nvSpPr>
        <p:spPr>
          <a:xfrm>
            <a:off x="800100" y="5305425"/>
            <a:ext cx="133350" cy="13335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09650" y="50673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Perplexity·</a:t>
            </a:r>
            <a:br/>
            <a:r>
              <a:rPr sz="1800" b="1" spc="-36" lang="ko-KR" altLang="en-US">
                <a:solidFill>
                  <a:srgbClr val="16171C"/>
                </a:solidFill>
                <a:latin typeface="맑은 고딕"/>
                <a:ea typeface="맑은 고딕"/>
                <a:cs typeface="맑은 고딕"/>
              </a:rPr>
              <a:t>Consensus·Elicit</a:t>
            </a:r>
          </a:p>
        </p:txBody>
      </p:sp>
      <p:sp>
        <p:nvSpPr>
          <p:cNvPr id="53" name="TextBox 52"/>
          <p:cNvSpPr txBox="1"/>
          <p:nvPr/>
        </p:nvSpPr>
        <p:spPr>
          <a:xfrm>
            <a:off x="3143250" y="50673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웹·논문 DB</a:t>
            </a:r>
          </a:p>
        </p:txBody>
      </p:sp>
      <p:sp>
        <p:nvSpPr>
          <p:cNvPr id="54" name="TextBox 53"/>
          <p:cNvSpPr txBox="1"/>
          <p:nvPr/>
        </p:nvSpPr>
        <p:spPr>
          <a:xfrm>
            <a:off x="4724400" y="50673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출처 달린 검색</a:t>
            </a:r>
          </a:p>
        </p:txBody>
      </p:sp>
      <p:sp>
        <p:nvSpPr>
          <p:cNvPr id="55" name="TextBox 54"/>
          <p:cNvSpPr txBox="1"/>
          <p:nvPr/>
        </p:nvSpPr>
        <p:spPr>
          <a:xfrm>
            <a:off x="6496050" y="50673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요약만 믿기</a:t>
            </a:r>
          </a:p>
        </p:txBody>
      </p:sp>
      <p:sp>
        <p:nvSpPr>
          <p:cNvPr id="56" name="TextBox 55"/>
          <p:cNvSpPr txBox="1"/>
          <p:nvPr/>
        </p:nvSpPr>
        <p:spPr>
          <a:xfrm>
            <a:off x="8477250" y="50673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있음</a:t>
            </a:r>
          </a:p>
        </p:txBody>
      </p:sp>
      <p:sp>
        <p:nvSpPr>
          <p:cNvPr id="57" name="TextBox 56"/>
          <p:cNvSpPr txBox="1"/>
          <p:nvPr/>
        </p:nvSpPr>
        <p:spPr>
          <a:xfrm>
            <a:off x="9696450" y="50673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Perplexity: 끄기</a:t>
            </a:r>
          </a:p>
        </p:txBody>
      </p:sp>
      <p:sp>
        <p:nvSpPr>
          <p:cNvPr id="58" name="Rounded Rectangle 57"/>
          <p:cNvSpPr/>
          <p:nvPr/>
        </p:nvSpPr>
        <p:spPr>
          <a:xfrm>
            <a:off x="685800" y="5676900"/>
            <a:ext cx="10820400" cy="609600"/>
          </a:xfrm>
          <a:prstGeom prst="roundRect">
            <a:avLst>
              <a:gd name="adj" fmla="val 93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800100" y="5915025"/>
            <a:ext cx="133350" cy="133350"/>
          </a:xfrm>
          <a:prstGeom prst="ellipse">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009650" y="56769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뤼튼</a:t>
            </a:r>
          </a:p>
        </p:txBody>
      </p:sp>
      <p:sp>
        <p:nvSpPr>
          <p:cNvPr id="61" name="TextBox 60"/>
          <p:cNvSpPr txBox="1"/>
          <p:nvPr/>
        </p:nvSpPr>
        <p:spPr>
          <a:xfrm>
            <a:off x="3143250" y="56769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여러 모델</a:t>
            </a:r>
          </a:p>
        </p:txBody>
      </p:sp>
      <p:sp>
        <p:nvSpPr>
          <p:cNvPr id="62" name="TextBox 61"/>
          <p:cNvSpPr txBox="1"/>
          <p:nvPr/>
        </p:nvSpPr>
        <p:spPr>
          <a:xfrm>
            <a:off x="4724400" y="56769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한국어 체험</a:t>
            </a:r>
          </a:p>
        </p:txBody>
      </p:sp>
      <p:sp>
        <p:nvSpPr>
          <p:cNvPr id="63" name="TextBox 62"/>
          <p:cNvSpPr txBox="1"/>
          <p:nvPr/>
        </p:nvSpPr>
        <p:spPr>
          <a:xfrm>
            <a:off x="6496050" y="56769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모델 불분명</a:t>
            </a:r>
          </a:p>
        </p:txBody>
      </p:sp>
      <p:sp>
        <p:nvSpPr>
          <p:cNvPr id="64" name="TextBox 63"/>
          <p:cNvSpPr txBox="1"/>
          <p:nvPr/>
        </p:nvSpPr>
        <p:spPr>
          <a:xfrm>
            <a:off x="8477250" y="56769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있음</a:t>
            </a:r>
          </a:p>
        </p:txBody>
      </p:sp>
      <p:sp>
        <p:nvSpPr>
          <p:cNvPr id="65" name="TextBox 64"/>
          <p:cNvSpPr txBox="1"/>
          <p:nvPr/>
        </p:nvSpPr>
        <p:spPr>
          <a:xfrm>
            <a:off x="9696450" y="56769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설정에서</a:t>
            </a:r>
            <a:br/>
            <a:r>
              <a:rPr sz="1800" b="0" spc="-36" lang="ko-KR" altLang="en-US">
                <a:solidFill>
                  <a:srgbClr val="16171C"/>
                </a:solidFill>
                <a:latin typeface="맑은 고딕"/>
                <a:ea typeface="맑은 고딕"/>
                <a:cs typeface="맑은 고딕"/>
              </a:rPr>
              <a:t>직접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질문 공식 · 15–25분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14</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질문 공식</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질문은 네 줄이면 충분합니다: 역할·자료·형태·금지</a:t>
            </a:r>
          </a:p>
        </p:txBody>
      </p:sp>
      <p:sp>
        <p:nvSpPr>
          <p:cNvPr id="6" name="Rounded Rectangle 5"/>
          <p:cNvSpPr/>
          <p:nvPr/>
        </p:nvSpPr>
        <p:spPr>
          <a:xfrm>
            <a:off x="685800" y="2038350"/>
            <a:ext cx="2562225" cy="4000500"/>
          </a:xfrm>
          <a:prstGeom prst="roundRect">
            <a:avLst>
              <a:gd name="adj" fmla="val 5947"/>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85800" y="2038350"/>
            <a:ext cx="2562225" cy="1143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3450"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16171C"/>
                </a:solidFill>
                <a:latin typeface="맑은 고딕"/>
                <a:ea typeface="맑은 고딕"/>
                <a:cs typeface="맑은 고딕"/>
              </a:rPr>
              <a:t>역할</a:t>
            </a:r>
          </a:p>
        </p:txBody>
      </p:sp>
      <p:sp>
        <p:nvSpPr>
          <p:cNvPr id="9" name="TextBox 8"/>
          <p:cNvSpPr txBox="1"/>
          <p:nvPr/>
        </p:nvSpPr>
        <p:spPr>
          <a:xfrm>
            <a:off x="933450"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3D3F48"/>
                </a:solidFill>
                <a:latin typeface="맑은 고딕"/>
                <a:ea typeface="맑은 고딕"/>
                <a:cs typeface="맑은 고딕"/>
              </a:rPr>
              <a:t>누구처럼 일할지</a:t>
            </a:r>
          </a:p>
        </p:txBody>
      </p:sp>
      <p:sp>
        <p:nvSpPr>
          <p:cNvPr id="10" name="Rounded Rectangle 9"/>
          <p:cNvSpPr/>
          <p:nvPr/>
        </p:nvSpPr>
        <p:spPr>
          <a:xfrm>
            <a:off x="876300" y="4000500"/>
            <a:ext cx="2181225" cy="1809750"/>
          </a:xfrm>
          <a:prstGeom prst="roundRect">
            <a:avLst>
              <a:gd name="adj" fmla="val 5263"/>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7750"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16171C"/>
                </a:solidFill>
                <a:latin typeface="맑은 고딕"/>
                <a:ea typeface="맑은 고딕"/>
                <a:cs typeface="맑은 고딕"/>
              </a:rPr>
              <a:t>너는 교수의 메일 정리를 돕는 조교야.</a:t>
            </a:r>
          </a:p>
        </p:txBody>
      </p:sp>
      <p:sp>
        <p:nvSpPr>
          <p:cNvPr id="12" name="Rounded Rectangle 11"/>
          <p:cNvSpPr/>
          <p:nvPr/>
        </p:nvSpPr>
        <p:spPr>
          <a:xfrm>
            <a:off x="3438525" y="2038350"/>
            <a:ext cx="2562225" cy="4000500"/>
          </a:xfrm>
          <a:prstGeom prst="roundRect">
            <a:avLst>
              <a:gd name="adj" fmla="val 5947"/>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438525" y="2038350"/>
            <a:ext cx="2562225" cy="1143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86175"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16171C"/>
                </a:solidFill>
                <a:latin typeface="맑은 고딕"/>
                <a:ea typeface="맑은 고딕"/>
                <a:cs typeface="맑은 고딕"/>
              </a:rPr>
              <a:t>자료</a:t>
            </a:r>
          </a:p>
        </p:txBody>
      </p:sp>
      <p:sp>
        <p:nvSpPr>
          <p:cNvPr id="15" name="TextBox 14"/>
          <p:cNvSpPr txBox="1"/>
          <p:nvPr/>
        </p:nvSpPr>
        <p:spPr>
          <a:xfrm>
            <a:off x="3686175"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3D3F48"/>
                </a:solidFill>
                <a:latin typeface="맑은 고딕"/>
                <a:ea typeface="맑은 고딕"/>
                <a:cs typeface="맑은 고딕"/>
              </a:rPr>
              <a:t>무엇만 보고 답할지</a:t>
            </a:r>
          </a:p>
        </p:txBody>
      </p:sp>
      <p:sp>
        <p:nvSpPr>
          <p:cNvPr id="16" name="Rounded Rectangle 15"/>
          <p:cNvSpPr/>
          <p:nvPr/>
        </p:nvSpPr>
        <p:spPr>
          <a:xfrm>
            <a:off x="3629025" y="4000500"/>
            <a:ext cx="2181225" cy="1809750"/>
          </a:xfrm>
          <a:prstGeom prst="roundRect">
            <a:avLst>
              <a:gd name="adj" fmla="val 5263"/>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800475"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16171C"/>
                </a:solidFill>
                <a:latin typeface="맑은 고딕"/>
                <a:ea typeface="맑은 고딕"/>
                <a:cs typeface="맑은 고딕"/>
              </a:rPr>
              <a:t>첨부한 메일 40통만 봐.</a:t>
            </a:r>
          </a:p>
        </p:txBody>
      </p:sp>
      <p:sp>
        <p:nvSpPr>
          <p:cNvPr id="18" name="Rounded Rectangle 17"/>
          <p:cNvSpPr/>
          <p:nvPr/>
        </p:nvSpPr>
        <p:spPr>
          <a:xfrm>
            <a:off x="6191250" y="2038350"/>
            <a:ext cx="2562225" cy="4000500"/>
          </a:xfrm>
          <a:prstGeom prst="roundRect">
            <a:avLst>
              <a:gd name="adj" fmla="val 5947"/>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91250" y="2038350"/>
            <a:ext cx="2562225" cy="1143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38900"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16171C"/>
                </a:solidFill>
                <a:latin typeface="맑은 고딕"/>
                <a:ea typeface="맑은 고딕"/>
                <a:cs typeface="맑은 고딕"/>
              </a:rPr>
              <a:t>형태</a:t>
            </a:r>
          </a:p>
        </p:txBody>
      </p:sp>
      <p:sp>
        <p:nvSpPr>
          <p:cNvPr id="21" name="TextBox 20"/>
          <p:cNvSpPr txBox="1"/>
          <p:nvPr/>
        </p:nvSpPr>
        <p:spPr>
          <a:xfrm>
            <a:off x="6438900"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3D3F48"/>
                </a:solidFill>
                <a:latin typeface="맑은 고딕"/>
                <a:ea typeface="맑은 고딕"/>
                <a:cs typeface="맑은 고딕"/>
              </a:rPr>
              <a:t>표·개수·길이</a:t>
            </a:r>
          </a:p>
        </p:txBody>
      </p:sp>
      <p:sp>
        <p:nvSpPr>
          <p:cNvPr id="22" name="Rounded Rectangle 21"/>
          <p:cNvSpPr/>
          <p:nvPr/>
        </p:nvSpPr>
        <p:spPr>
          <a:xfrm>
            <a:off x="6381750" y="4000500"/>
            <a:ext cx="2181225" cy="1809750"/>
          </a:xfrm>
          <a:prstGeom prst="roundRect">
            <a:avLst>
              <a:gd name="adj" fmla="val 5263"/>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3200"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16171C"/>
                </a:solidFill>
                <a:latin typeface="맑은 고딕"/>
                <a:ea typeface="맑은 고딕"/>
                <a:cs typeface="맑은 고딕"/>
              </a:rPr>
              <a:t>표 하나로. 열은 번호·유형·요청.</a:t>
            </a:r>
          </a:p>
        </p:txBody>
      </p:sp>
      <p:sp>
        <p:nvSpPr>
          <p:cNvPr id="24" name="Rounded Rectangle 23"/>
          <p:cNvSpPr/>
          <p:nvPr/>
        </p:nvSpPr>
        <p:spPr>
          <a:xfrm>
            <a:off x="8943975" y="2038350"/>
            <a:ext cx="2562225" cy="4000500"/>
          </a:xfrm>
          <a:prstGeom prst="roundRect">
            <a:avLst>
              <a:gd name="adj" fmla="val 5947"/>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43975" y="2038350"/>
            <a:ext cx="2562225" cy="1143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91625"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16171C"/>
                </a:solidFill>
                <a:latin typeface="맑은 고딕"/>
                <a:ea typeface="맑은 고딕"/>
                <a:cs typeface="맑은 고딕"/>
              </a:rPr>
              <a:t>금지</a:t>
            </a:r>
          </a:p>
        </p:txBody>
      </p:sp>
      <p:sp>
        <p:nvSpPr>
          <p:cNvPr id="27" name="TextBox 26"/>
          <p:cNvSpPr txBox="1"/>
          <p:nvPr/>
        </p:nvSpPr>
        <p:spPr>
          <a:xfrm>
            <a:off x="9191625"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3D3F48"/>
                </a:solidFill>
                <a:latin typeface="맑은 고딕"/>
                <a:ea typeface="맑은 고딕"/>
                <a:cs typeface="맑은 고딕"/>
              </a:rPr>
              <a:t>하면 안 되는 것</a:t>
            </a:r>
          </a:p>
        </p:txBody>
      </p:sp>
      <p:sp>
        <p:nvSpPr>
          <p:cNvPr id="28" name="Rounded Rectangle 27"/>
          <p:cNvSpPr/>
          <p:nvPr/>
        </p:nvSpPr>
        <p:spPr>
          <a:xfrm>
            <a:off x="9134475" y="4000500"/>
            <a:ext cx="2181225" cy="1809750"/>
          </a:xfrm>
          <a:prstGeom prst="roundRect">
            <a:avLst>
              <a:gd name="adj" fmla="val 5263"/>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05925"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16171C"/>
                </a:solidFill>
                <a:latin typeface="맑은 고딕"/>
                <a:ea typeface="맑은 고딕"/>
                <a:cs typeface="맑은 고딕"/>
              </a:rPr>
              <a:t>메일에 없는 사실을 만들지 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개인정보 · 15–25분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15</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개인정보와 학습 설정</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학생 정보는 세 겹으로 지킵니다</a:t>
            </a:r>
          </a:p>
        </p:txBody>
      </p:sp>
      <p:sp>
        <p:nvSpPr>
          <p:cNvPr id="6" name="Rounded Rectangle 5"/>
          <p:cNvSpPr/>
          <p:nvPr/>
        </p:nvSpPr>
        <p:spPr>
          <a:xfrm>
            <a:off x="685800" y="1905000"/>
            <a:ext cx="3454400" cy="3714750"/>
          </a:xfrm>
          <a:prstGeom prst="roundRect">
            <a:avLst>
              <a:gd name="adj" fmla="val 4963"/>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71550" y="2190750"/>
            <a:ext cx="476250" cy="47625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90750"/>
            <a:ext cx="476250" cy="47625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1</a:t>
            </a:r>
          </a:p>
        </p:txBody>
      </p:sp>
      <p:sp>
        <p:nvSpPr>
          <p:cNvPr id="9" name="TextBox 8"/>
          <p:cNvSpPr txBox="1"/>
          <p:nvPr/>
        </p:nvSpPr>
        <p:spPr>
          <a:xfrm>
            <a:off x="971550" y="2876550"/>
            <a:ext cx="2882900" cy="857250"/>
          </a:xfrm>
          <a:prstGeom prst="rect">
            <a:avLst/>
          </a:prstGeom>
          <a:noFill/>
        </p:spPr>
        <p:txBody>
          <a:bodyPr wrap="square" lIns="0" tIns="0" rIns="0" bIns="0" anchor="t"/>
          <a:lstStyle/>
          <a:p>
            <a:pPr algn="l" latinLnBrk="0" eaLnBrk="1">
              <a:lnSpc>
                <a:spcPct val="120000"/>
              </a:lnSpc>
            </a:pPr>
            <a:r>
              <a:rPr sz="2400" b="1" spc="-48" lang="ko-KR" altLang="en-US">
                <a:solidFill>
                  <a:srgbClr val="16171C"/>
                </a:solidFill>
                <a:latin typeface="맑은 고딕"/>
                <a:ea typeface="맑은 고딕"/>
                <a:cs typeface="맑은 고딕"/>
              </a:rPr>
              <a:t>학교 계정 도구가</a:t>
            </a:r>
            <a:br/>
            <a:r>
              <a:rPr sz="2400" b="1" spc="-48" lang="ko-KR" altLang="en-US">
                <a:solidFill>
                  <a:srgbClr val="16171C"/>
                </a:solidFill>
                <a:latin typeface="맑은 고딕"/>
                <a:ea typeface="맑은 고딕"/>
                <a:cs typeface="맑은 고딕"/>
              </a:rPr>
              <a:t>있으면 먼저</a:t>
            </a:r>
          </a:p>
        </p:txBody>
      </p:sp>
      <p:sp>
        <p:nvSpPr>
          <p:cNvPr id="10" name="TextBox 9"/>
          <p:cNvSpPr txBox="1"/>
          <p:nvPr/>
        </p:nvSpPr>
        <p:spPr>
          <a:xfrm>
            <a:off x="971550" y="3829050"/>
            <a:ext cx="2882900" cy="16002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기관 약관의 학교 계정은 입력 자료를 학습에 쓰지 않습니다.</a:t>
            </a:r>
          </a:p>
        </p:txBody>
      </p:sp>
      <p:sp>
        <p:nvSpPr>
          <p:cNvPr id="11" name="Rounded Rectangle 10"/>
          <p:cNvSpPr/>
          <p:nvPr/>
        </p:nvSpPr>
        <p:spPr>
          <a:xfrm>
            <a:off x="4368800" y="1905000"/>
            <a:ext cx="3454400" cy="3714750"/>
          </a:xfrm>
          <a:prstGeom prst="roundRect">
            <a:avLst>
              <a:gd name="adj" fmla="val 4963"/>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54550" y="2190750"/>
            <a:ext cx="476250" cy="47625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54550" y="2190750"/>
            <a:ext cx="476250" cy="47625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2</a:t>
            </a:r>
          </a:p>
        </p:txBody>
      </p:sp>
      <p:sp>
        <p:nvSpPr>
          <p:cNvPr id="14" name="TextBox 13"/>
          <p:cNvSpPr txBox="1"/>
          <p:nvPr/>
        </p:nvSpPr>
        <p:spPr>
          <a:xfrm>
            <a:off x="4654550" y="2876550"/>
            <a:ext cx="2882900" cy="857250"/>
          </a:xfrm>
          <a:prstGeom prst="rect">
            <a:avLst/>
          </a:prstGeom>
          <a:noFill/>
        </p:spPr>
        <p:txBody>
          <a:bodyPr wrap="square" lIns="0" tIns="0" rIns="0" bIns="0" anchor="t"/>
          <a:lstStyle/>
          <a:p>
            <a:pPr algn="l" latinLnBrk="0" eaLnBrk="1">
              <a:lnSpc>
                <a:spcPct val="120000"/>
              </a:lnSpc>
            </a:pPr>
            <a:r>
              <a:rPr sz="2400" b="1" spc="-48" lang="ko-KR" altLang="en-US">
                <a:solidFill>
                  <a:srgbClr val="16171C"/>
                </a:solidFill>
                <a:latin typeface="맑은 고딕"/>
                <a:ea typeface="맑은 고딕"/>
                <a:cs typeface="맑은 고딕"/>
              </a:rPr>
              <a:t>개인 계정이면</a:t>
            </a:r>
            <a:br/>
            <a:r>
              <a:rPr sz="2400" b="1" spc="-48" lang="ko-KR" altLang="en-US">
                <a:solidFill>
                  <a:srgbClr val="16171C"/>
                </a:solidFill>
                <a:latin typeface="맑은 고딕"/>
                <a:ea typeface="맑은 고딕"/>
                <a:cs typeface="맑은 고딕"/>
              </a:rPr>
              <a:t>학습 설정 끄기</a:t>
            </a:r>
          </a:p>
        </p:txBody>
      </p:sp>
      <p:sp>
        <p:nvSpPr>
          <p:cNvPr id="15" name="TextBox 14"/>
          <p:cNvSpPr txBox="1"/>
          <p:nvPr/>
        </p:nvSpPr>
        <p:spPr>
          <a:xfrm>
            <a:off x="4654550" y="3829050"/>
            <a:ext cx="2882900" cy="16002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ChatGPT, Claude,</a:t>
            </a:r>
            <a:br/>
            <a:r>
              <a:rPr sz="2100" b="0" spc="-42" lang="ko-KR" altLang="en-US">
                <a:solidFill>
                  <a:srgbClr val="3D3F48"/>
                </a:solidFill>
                <a:latin typeface="맑은 고딕"/>
                <a:ea typeface="맑은 고딕"/>
                <a:cs typeface="맑은 고딕"/>
              </a:rPr>
              <a:t>Perplexity는 설정에서</a:t>
            </a:r>
            <a:br/>
            <a:r>
              <a:rPr sz="2100" b="0" spc="-42" lang="ko-KR" altLang="en-US">
                <a:solidFill>
                  <a:srgbClr val="3D3F48"/>
                </a:solidFill>
                <a:latin typeface="맑은 고딕"/>
                <a:ea typeface="맑은 고딕"/>
                <a:cs typeface="맑은 고딕"/>
              </a:rPr>
              <a:t>학습을 끕니다.</a:t>
            </a:r>
          </a:p>
        </p:txBody>
      </p:sp>
      <p:sp>
        <p:nvSpPr>
          <p:cNvPr id="16" name="Rounded Rectangle 15"/>
          <p:cNvSpPr/>
          <p:nvPr/>
        </p:nvSpPr>
        <p:spPr>
          <a:xfrm>
            <a:off x="8051800" y="1905000"/>
            <a:ext cx="3454400" cy="3714750"/>
          </a:xfrm>
          <a:prstGeom prst="roundRect">
            <a:avLst>
              <a:gd name="adj" fmla="val 4963"/>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37550" y="2190750"/>
            <a:ext cx="476250" cy="47625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37550" y="2190750"/>
            <a:ext cx="476250" cy="47625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3</a:t>
            </a:r>
          </a:p>
        </p:txBody>
      </p:sp>
      <p:sp>
        <p:nvSpPr>
          <p:cNvPr id="19" name="TextBox 18"/>
          <p:cNvSpPr txBox="1"/>
          <p:nvPr/>
        </p:nvSpPr>
        <p:spPr>
          <a:xfrm>
            <a:off x="8337550" y="2876550"/>
            <a:ext cx="2882900" cy="857250"/>
          </a:xfrm>
          <a:prstGeom prst="rect">
            <a:avLst/>
          </a:prstGeom>
          <a:noFill/>
        </p:spPr>
        <p:txBody>
          <a:bodyPr wrap="square" lIns="0" tIns="0" rIns="0" bIns="0" anchor="t"/>
          <a:lstStyle/>
          <a:p>
            <a:pPr algn="l" latinLnBrk="0" eaLnBrk="1">
              <a:lnSpc>
                <a:spcPct val="120000"/>
              </a:lnSpc>
            </a:pPr>
            <a:r>
              <a:rPr sz="2400" b="1" spc="-48" lang="ko-KR" altLang="en-US">
                <a:solidFill>
                  <a:srgbClr val="16171C"/>
                </a:solidFill>
                <a:latin typeface="맑은 고딕"/>
                <a:ea typeface="맑은 고딕"/>
                <a:cs typeface="맑은 고딕"/>
              </a:rPr>
              <a:t>넣기 전에 지우기</a:t>
            </a:r>
          </a:p>
        </p:txBody>
      </p:sp>
      <p:sp>
        <p:nvSpPr>
          <p:cNvPr id="20" name="TextBox 19"/>
          <p:cNvSpPr txBox="1"/>
          <p:nvPr/>
        </p:nvSpPr>
        <p:spPr>
          <a:xfrm>
            <a:off x="8337550" y="3829050"/>
            <a:ext cx="2882900" cy="16002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이름·학번·연락처를 지웁니다. 오늘은 가상 자료만 씁니다.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7A4B"/>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실습 1 · 25–70분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16</a:t>
            </a:r>
          </a:p>
        </p:txBody>
      </p:sp>
      <p:sp>
        <p:nvSpPr>
          <p:cNvPr id="4" name="TextBox 3"/>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FFF"/>
                </a:solidFill>
                <a:latin typeface="맑은 고딕"/>
                <a:ea typeface="맑은 고딕"/>
                <a:cs typeface="맑은 고딕"/>
              </a:rPr>
              <a:t>실습 1 · 25–70분 · 논문 5편</a:t>
            </a:r>
          </a:p>
        </p:txBody>
      </p:sp>
      <p:sp>
        <p:nvSpPr>
          <p:cNvPr id="5" name="TextBox 4"/>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FFF"/>
                </a:solidFill>
                <a:latin typeface="맑은 고딕"/>
                <a:ea typeface="맑은 고딕"/>
                <a:cs typeface="맑은 고딕"/>
              </a:rPr>
              <a:t>Gemini Notebook</a:t>
            </a:r>
          </a:p>
        </p:txBody>
      </p:sp>
      <p:sp>
        <p:nvSpPr>
          <p:cNvPr id="6" name="TextBox 5"/>
          <p:cNvSpPr txBox="1"/>
          <p:nvPr/>
        </p:nvSpPr>
        <p:spPr>
          <a:xfrm>
            <a:off x="685800" y="2495550"/>
            <a:ext cx="7239000" cy="533400"/>
          </a:xfrm>
          <a:prstGeom prst="rect">
            <a:avLst/>
          </a:prstGeom>
          <a:noFill/>
        </p:spPr>
        <p:txBody>
          <a:bodyPr wrap="square" lIns="0" tIns="0" rIns="0" bIns="0" anchor="t"/>
          <a:lstStyle/>
          <a:p>
            <a:pPr algn="l" latinLnBrk="0" eaLnBrk="1">
              <a:lnSpc>
                <a:spcPct val="100000"/>
              </a:lnSpc>
            </a:pPr>
            <a:r>
              <a:rPr sz="3000" b="1" spc="-60" lang="ko-KR" altLang="en-US">
                <a:solidFill>
                  <a:srgbClr val="FFFFFF"/>
                </a:solidFill>
                <a:latin typeface="맑은 고딕"/>
                <a:ea typeface="맑은 고딕"/>
                <a:cs typeface="맑은 고딕"/>
              </a:rPr>
              <a:t>(구 NotebookLM)</a:t>
            </a:r>
          </a:p>
        </p:txBody>
      </p:sp>
      <p:sp>
        <p:nvSpPr>
          <p:cNvPr id="7" name="TextBox 6"/>
          <p:cNvSpPr txBox="1"/>
          <p:nvPr/>
        </p:nvSpPr>
        <p:spPr>
          <a:xfrm>
            <a:off x="685800" y="34099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FFF"/>
                </a:solidFill>
                <a:latin typeface="맑은 고딕"/>
                <a:ea typeface="맑은 고딕"/>
                <a:cs typeface="맑은 고딕"/>
              </a:rPr>
              <a:t>내가 올린 자료 안에서만 답하고,</a:t>
            </a:r>
            <a:br/>
            <a:r>
              <a:rPr sz="2250" b="0" spc="-45" lang="ko-KR" altLang="en-US">
                <a:solidFill>
                  <a:srgbClr val="FFFFFF"/>
                </a:solidFill>
                <a:latin typeface="맑은 고딕"/>
                <a:ea typeface="맑은 고딕"/>
                <a:cs typeface="맑은 고딕"/>
              </a:rPr>
              <a:t>문장마다 출처 번호를 붙입니다.</a:t>
            </a:r>
          </a:p>
        </p:txBody>
      </p:sp>
      <p:sp>
        <p:nvSpPr>
          <p:cNvPr id="8" name="Rounded Rectangle 7"/>
          <p:cNvSpPr/>
          <p:nvPr/>
        </p:nvSpPr>
        <p:spPr>
          <a:xfrm>
            <a:off x="7810500" y="1428750"/>
            <a:ext cx="3695700" cy="3619500"/>
          </a:xfrm>
          <a:prstGeom prst="roundRect">
            <a:avLst>
              <a:gd name="adj" fmla="val 5263"/>
            </a:avLst>
          </a:prstGeom>
          <a:solidFill>
            <a:srgbClr val="08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FFF"/>
                </a:solidFill>
                <a:latin typeface="맑은 고딕"/>
                <a:ea typeface="맑은 고딕"/>
                <a:cs typeface="맑은 고딕"/>
              </a:rPr>
              <a:t>이 시간에 할 일</a:t>
            </a:r>
          </a:p>
        </p:txBody>
      </p:sp>
      <p:sp>
        <p:nvSpPr>
          <p:cNvPr id="10" name="Oval 9"/>
          <p:cNvSpPr/>
          <p:nvPr/>
        </p:nvSpPr>
        <p:spPr>
          <a:xfrm>
            <a:off x="8115300" y="22860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0B7A4B"/>
                </a:solidFill>
                <a:latin typeface="맑은 고딕"/>
                <a:ea typeface="맑은 고딕"/>
                <a:cs typeface="맑은 고딕"/>
              </a:rPr>
              <a:t>1</a:t>
            </a:r>
          </a:p>
        </p:txBody>
      </p:sp>
      <p:sp>
        <p:nvSpPr>
          <p:cNvPr id="12" name="TextBox 11"/>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비교표 만들기</a:t>
            </a:r>
          </a:p>
        </p:txBody>
      </p:sp>
      <p:sp>
        <p:nvSpPr>
          <p:cNvPr id="13" name="Oval 12"/>
          <p:cNvSpPr/>
          <p:nvPr/>
        </p:nvSpPr>
        <p:spPr>
          <a:xfrm>
            <a:off x="8115300" y="32004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0B7A4B"/>
                </a:solidFill>
                <a:latin typeface="맑은 고딕"/>
                <a:ea typeface="맑은 고딕"/>
                <a:cs typeface="맑은 고딕"/>
              </a:rPr>
              <a:t>2</a:t>
            </a:r>
          </a:p>
        </p:txBody>
      </p:sp>
      <p:sp>
        <p:nvSpPr>
          <p:cNvPr id="15" name="TextBox 14"/>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인용 세 문장 확인</a:t>
            </a:r>
          </a:p>
        </p:txBody>
      </p:sp>
      <p:sp>
        <p:nvSpPr>
          <p:cNvPr id="16" name="Oval 15"/>
          <p:cNvSpPr/>
          <p:nvPr/>
        </p:nvSpPr>
        <p:spPr>
          <a:xfrm>
            <a:off x="8115300" y="41148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0B7A4B"/>
                </a:solidFill>
                <a:latin typeface="맑은 고딕"/>
                <a:ea typeface="맑은 고딕"/>
                <a:cs typeface="맑은 고딕"/>
              </a:rPr>
              <a:t>3</a:t>
            </a:r>
          </a:p>
        </p:txBody>
      </p:sp>
      <p:sp>
        <p:nvSpPr>
          <p:cNvPr id="18" name="TextBox 17"/>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오디오 요약</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Gemini Notebook · 25–70분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17</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왜 이 도구인가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비교표 초안은 AI가 쓰고, 해석은 교수님이 합니다</a:t>
            </a:r>
          </a:p>
        </p:txBody>
      </p:sp>
      <p:sp>
        <p:nvSpPr>
          <p:cNvPr id="6" name="Rounded Rectangle 5"/>
          <p:cNvSpPr/>
          <p:nvPr/>
        </p:nvSpPr>
        <p:spPr>
          <a:xfrm>
            <a:off x="685800" y="1866900"/>
            <a:ext cx="4953000" cy="4000500"/>
          </a:xfrm>
          <a:prstGeom prst="roundRect">
            <a:avLst>
              <a:gd name="adj" fmla="val 4285"/>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90600" y="2095500"/>
            <a:ext cx="43815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혼자 읽으면</a:t>
            </a:r>
          </a:p>
        </p:txBody>
      </p:sp>
      <p:sp>
        <p:nvSpPr>
          <p:cNvPr id="8" name="Rounded Rectangle 7"/>
          <p:cNvSpPr/>
          <p:nvPr/>
        </p:nvSpPr>
        <p:spPr>
          <a:xfrm>
            <a:off x="990600" y="2628900"/>
            <a:ext cx="746760" cy="1181100"/>
          </a:xfrm>
          <a:prstGeom prst="roundRect">
            <a:avLst>
              <a:gd name="adj" fmla="val 765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04900" y="28575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04900" y="306705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04900" y="32766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04900" y="3486150"/>
            <a:ext cx="3276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889760" y="2628900"/>
            <a:ext cx="746760" cy="1181100"/>
          </a:xfrm>
          <a:prstGeom prst="roundRect">
            <a:avLst>
              <a:gd name="adj" fmla="val 765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004060" y="28575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004060" y="306705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004060" y="32766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004060" y="3486150"/>
            <a:ext cx="3276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788920" y="2628900"/>
            <a:ext cx="746760" cy="1181100"/>
          </a:xfrm>
          <a:prstGeom prst="roundRect">
            <a:avLst>
              <a:gd name="adj" fmla="val 765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903220" y="28575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903220" y="306705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903220" y="32766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903220" y="3486150"/>
            <a:ext cx="3276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688080" y="2628900"/>
            <a:ext cx="746760" cy="1181100"/>
          </a:xfrm>
          <a:prstGeom prst="roundRect">
            <a:avLst>
              <a:gd name="adj" fmla="val 765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802380" y="28575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802380" y="306705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802380" y="32766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802380" y="3486150"/>
            <a:ext cx="3276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4587240" y="2628900"/>
            <a:ext cx="746760" cy="1181100"/>
          </a:xfrm>
          <a:prstGeom prst="roundRect">
            <a:avLst>
              <a:gd name="adj" fmla="val 765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701540" y="28575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701540" y="306705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01540" y="3276600"/>
            <a:ext cx="5181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01540" y="3486150"/>
            <a:ext cx="327660" cy="57150"/>
          </a:xfrm>
          <a:prstGeom prst="rect">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90600" y="4095750"/>
            <a:ext cx="4381500" cy="11430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다섯 편을 차례로 읽고 표를 채웁니다.</a:t>
            </a:r>
            <a:br/>
            <a:r>
              <a:rPr sz="2100" b="0" spc="-42" lang="ko-KR" altLang="en-US">
                <a:solidFill>
                  <a:srgbClr val="3D3F48"/>
                </a:solidFill>
                <a:latin typeface="맑은 고딕"/>
                <a:ea typeface="맑은 고딕"/>
                <a:cs typeface="맑은 고딕"/>
              </a:rPr>
              <a:t>다섯째 편쯤 첫 편이 흐려집니다.</a:t>
            </a:r>
          </a:p>
        </p:txBody>
      </p:sp>
      <p:sp>
        <p:nvSpPr>
          <p:cNvPr id="34" name="TextBox 33"/>
          <p:cNvSpPr txBox="1"/>
          <p:nvPr/>
        </p:nvSpPr>
        <p:spPr>
          <a:xfrm>
            <a:off x="990600" y="5334000"/>
            <a:ext cx="4381500" cy="381000"/>
          </a:xfrm>
          <a:prstGeom prst="rect">
            <a:avLst/>
          </a:prstGeom>
          <a:noFill/>
        </p:spPr>
        <p:txBody>
          <a:bodyPr wrap="square" lIns="0" tIns="0" rIns="0" bIns="0" anchor="t"/>
          <a:lstStyle/>
          <a:p>
            <a:pPr algn="l" latinLnBrk="0" eaLnBrk="1">
              <a:lnSpc>
                <a:spcPct val="100000"/>
              </a:lnSpc>
            </a:pPr>
            <a:r>
              <a:rPr sz="1950" b="1" spc="-39" lang="ko-KR" altLang="en-US">
                <a:solidFill>
                  <a:srgbClr val="3D3F48"/>
                </a:solidFill>
                <a:latin typeface="맑은 고딕"/>
                <a:ea typeface="맑은 고딕"/>
                <a:cs typeface="맑은 고딕"/>
              </a:rPr>
              <a:t>걸린 시간 ______분</a:t>
            </a:r>
          </a:p>
        </p:txBody>
      </p:sp>
      <p:sp>
        <p:nvSpPr>
          <p:cNvPr id="35" name="TextBox 34"/>
          <p:cNvSpPr txBox="1"/>
          <p:nvPr/>
        </p:nvSpPr>
        <p:spPr>
          <a:xfrm>
            <a:off x="5676900" y="3429000"/>
            <a:ext cx="495300" cy="571500"/>
          </a:xfrm>
          <a:prstGeom prst="rect">
            <a:avLst/>
          </a:prstGeom>
          <a:noFill/>
        </p:spPr>
        <p:txBody>
          <a:bodyPr wrap="square" lIns="0" tIns="0" rIns="0" bIns="0" anchor="t"/>
          <a:lstStyle/>
          <a:p>
            <a:pPr algn="ctr" latinLnBrk="0" eaLnBrk="1">
              <a:lnSpc>
                <a:spcPct val="100000"/>
              </a:lnSpc>
            </a:pPr>
            <a:r>
              <a:rPr sz="3300" b="1" spc="-66" lang="ko-KR" altLang="en-US">
                <a:solidFill>
                  <a:srgbClr val="0B7A4B"/>
                </a:solidFill>
                <a:latin typeface="맑은 고딕"/>
                <a:ea typeface="맑은 고딕"/>
                <a:cs typeface="맑은 고딕"/>
              </a:rPr>
              <a:t>→</a:t>
            </a:r>
          </a:p>
        </p:txBody>
      </p:sp>
      <p:sp>
        <p:nvSpPr>
          <p:cNvPr id="36" name="Rounded Rectangle 35"/>
          <p:cNvSpPr/>
          <p:nvPr/>
        </p:nvSpPr>
        <p:spPr>
          <a:xfrm>
            <a:off x="6210300" y="1866900"/>
            <a:ext cx="5295900" cy="4000500"/>
          </a:xfrm>
          <a:prstGeom prst="roundRect">
            <a:avLst>
              <a:gd name="adj" fmla="val 4285"/>
            </a:avLst>
          </a:prstGeom>
          <a:solidFill>
            <a:srgbClr val="FFFFFF"/>
          </a:solidFill>
          <a:ln w="28575">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15100" y="2095500"/>
            <a:ext cx="466725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Gemini Notebook이 먼저</a:t>
            </a:r>
          </a:p>
        </p:txBody>
      </p:sp>
      <p:sp>
        <p:nvSpPr>
          <p:cNvPr id="38" name="Rounded Rectangle 37"/>
          <p:cNvSpPr/>
          <p:nvPr/>
        </p:nvSpPr>
        <p:spPr>
          <a:xfrm>
            <a:off x="6515100" y="2628900"/>
            <a:ext cx="4686300" cy="666750"/>
          </a:xfrm>
          <a:prstGeom prst="roundRect">
            <a:avLst>
              <a:gd name="adj" fmla="val 14285"/>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705600" y="262890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① 비교표 초안 받기</a:t>
            </a:r>
          </a:p>
        </p:txBody>
      </p:sp>
      <p:sp>
        <p:nvSpPr>
          <p:cNvPr id="40" name="Rounded Rectangle 39"/>
          <p:cNvSpPr/>
          <p:nvPr/>
        </p:nvSpPr>
        <p:spPr>
          <a:xfrm>
            <a:off x="6515100" y="3409950"/>
            <a:ext cx="4686300" cy="666750"/>
          </a:xfrm>
          <a:prstGeom prst="roundRect">
            <a:avLst>
              <a:gd name="adj" fmla="val 14285"/>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705600" y="340995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② 숫자마다 인용 눌러 보기</a:t>
            </a:r>
          </a:p>
        </p:txBody>
      </p:sp>
      <p:sp>
        <p:nvSpPr>
          <p:cNvPr id="42" name="Rounded Rectangle 41"/>
          <p:cNvSpPr/>
          <p:nvPr/>
        </p:nvSpPr>
        <p:spPr>
          <a:xfrm>
            <a:off x="6515100" y="4191000"/>
            <a:ext cx="4686300" cy="666750"/>
          </a:xfrm>
          <a:prstGeom prst="roundRect">
            <a:avLst>
              <a:gd name="adj" fmla="val 14285"/>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705600" y="4191000"/>
            <a:ext cx="43815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③ 해석은 교수님이</a:t>
            </a:r>
          </a:p>
        </p:txBody>
      </p:sp>
      <p:sp>
        <p:nvSpPr>
          <p:cNvPr id="44" name="TextBox 43"/>
          <p:cNvSpPr txBox="1"/>
          <p:nvPr/>
        </p:nvSpPr>
        <p:spPr>
          <a:xfrm>
            <a:off x="6515100" y="5334000"/>
            <a:ext cx="4667250" cy="381000"/>
          </a:xfrm>
          <a:prstGeom prst="rect">
            <a:avLst/>
          </a:prstGeom>
          <a:noFill/>
        </p:spPr>
        <p:txBody>
          <a:bodyPr wrap="square" lIns="0" tIns="0" rIns="0" bIns="0" anchor="t"/>
          <a:lstStyle/>
          <a:p>
            <a:pPr algn="l" latinLnBrk="0" eaLnBrk="1">
              <a:lnSpc>
                <a:spcPct val="100000"/>
              </a:lnSpc>
            </a:pPr>
            <a:r>
              <a:rPr sz="1950" b="1" spc="-39" lang="ko-KR" altLang="en-US">
                <a:solidFill>
                  <a:srgbClr val="3D3F48"/>
                </a:solidFill>
                <a:latin typeface="맑은 고딕"/>
                <a:ea typeface="맑은 고딕"/>
                <a:cs typeface="맑은 고딕"/>
              </a:rPr>
              <a:t>걸린 시간 ______분 (오늘 실측)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Gemini Notebook · 25–70분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18</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화면 예시(구성도) · 소스 추가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새 노트북에는 논문 다섯 편만 소스로 올립니다</a:t>
            </a:r>
          </a:p>
        </p:txBody>
      </p:sp>
      <p:sp>
        <p:nvSpPr>
          <p:cNvPr id="6" name="Rounded Rectangle 5"/>
          <p:cNvSpPr/>
          <p:nvPr/>
        </p:nvSpPr>
        <p:spPr>
          <a:xfrm>
            <a:off x="1066800" y="1714500"/>
            <a:ext cx="6343650" cy="4381500"/>
          </a:xfrm>
          <a:prstGeom prst="roundRect">
            <a:avLst>
              <a:gd name="adj" fmla="val 3043"/>
            </a:avLst>
          </a:prstGeom>
          <a:solidFill>
            <a:srgbClr val="FFFFFF"/>
          </a:solidFill>
          <a:ln w="19050">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066800" y="1714500"/>
            <a:ext cx="6343650" cy="476250"/>
          </a:xfrm>
          <a:prstGeom prst="roundRect">
            <a:avLst>
              <a:gd name="adj" fmla="val 28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66800" y="2000250"/>
            <a:ext cx="6343650" cy="190500"/>
          </a:xfrm>
          <a:prstGeom prst="rect">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7300" y="1885950"/>
            <a:ext cx="133350" cy="1333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04950" y="1714500"/>
            <a:ext cx="3810000" cy="476250"/>
          </a:xfrm>
          <a:prstGeom prst="rect">
            <a:avLst/>
          </a:prstGeom>
          <a:noFill/>
        </p:spPr>
        <p:txBody>
          <a:bodyPr wrap="square" lIns="0" tIns="0" rIns="0" bIns="0" anchor="ctr"/>
          <a:lstStyle/>
          <a:p>
            <a:pPr algn="l" latinLnBrk="0" eaLnBrk="1">
              <a:lnSpc>
                <a:spcPct val="100000"/>
              </a:lnSpc>
            </a:pPr>
            <a:r>
              <a:rPr sz="1800" b="1" spc="-36" lang="ko-KR" altLang="en-US">
                <a:solidFill>
                  <a:srgbClr val="0B7A4B"/>
                </a:solidFill>
                <a:latin typeface="맑은 고딕"/>
                <a:ea typeface="맑은 고딕"/>
                <a:cs typeface="맑은 고딕"/>
              </a:rPr>
              <a:t>Gemini Notebook</a:t>
            </a:r>
          </a:p>
        </p:txBody>
      </p:sp>
      <p:sp>
        <p:nvSpPr>
          <p:cNvPr id="11" name="Rounded Rectangle 10"/>
          <p:cNvSpPr/>
          <p:nvPr/>
        </p:nvSpPr>
        <p:spPr>
          <a:xfrm>
            <a:off x="5162550" y="1781175"/>
            <a:ext cx="2228850" cy="342900"/>
          </a:xfrm>
          <a:prstGeom prst="roundRect">
            <a:avLst>
              <a:gd name="adj" fmla="val 50000"/>
            </a:avLst>
          </a:prstGeom>
          <a:solidFill>
            <a:srgbClr val="FFFFFF"/>
          </a:solidFill>
          <a:ln w="11429">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34000" y="1781175"/>
            <a:ext cx="1981200" cy="342900"/>
          </a:xfrm>
          <a:prstGeom prst="rect">
            <a:avLst/>
          </a:prstGeom>
          <a:noFill/>
        </p:spPr>
        <p:txBody>
          <a:bodyPr wrap="square" lIns="0" tIns="0" rIns="0" bIns="0" anchor="ctr"/>
          <a:lstStyle/>
          <a:p>
            <a:pPr algn="l" latinLnBrk="0" eaLnBrk="1">
              <a:lnSpc>
                <a:spcPct val="100000"/>
              </a:lnSpc>
            </a:pPr>
            <a:r>
              <a:rPr sz="1800" b="1" spc="-36" lang="ko-KR" altLang="en-US">
                <a:solidFill>
                  <a:srgbClr val="0B7A4B"/>
                </a:solidFill>
                <a:latin typeface="맑은 고딕"/>
                <a:ea typeface="맑은 고딕"/>
                <a:cs typeface="맑은 고딕"/>
              </a:rPr>
              <a:t>화면 예시(구성도)</a:t>
            </a:r>
          </a:p>
        </p:txBody>
      </p:sp>
      <p:sp>
        <p:nvSpPr>
          <p:cNvPr id="13" name="Rectangle 12"/>
          <p:cNvSpPr/>
          <p:nvPr/>
        </p:nvSpPr>
        <p:spPr>
          <a:xfrm>
            <a:off x="3448050" y="2190750"/>
            <a:ext cx="14288" cy="3905250"/>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76350" y="2343150"/>
            <a:ext cx="2095500" cy="323850"/>
          </a:xfrm>
          <a:prstGeom prst="rect">
            <a:avLst/>
          </a:prstGeom>
          <a:noFill/>
        </p:spPr>
        <p:txBody>
          <a:bodyPr wrap="square" lIns="0" tIns="0" rIns="0" bIns="0" anchor="t"/>
          <a:lstStyle/>
          <a:p>
            <a:pPr algn="l" latinLnBrk="0" eaLnBrk="1">
              <a:lnSpc>
                <a:spcPct val="100000"/>
              </a:lnSpc>
            </a:pPr>
            <a:r>
              <a:rPr sz="1800" b="1" spc="-36" lang="ko-KR" altLang="en-US">
                <a:solidFill>
                  <a:srgbClr val="16171C"/>
                </a:solidFill>
                <a:latin typeface="맑은 고딕"/>
                <a:ea typeface="맑은 고딕"/>
                <a:cs typeface="맑은 고딕"/>
              </a:rPr>
              <a:t>소스</a:t>
            </a:r>
          </a:p>
        </p:txBody>
      </p:sp>
      <p:sp>
        <p:nvSpPr>
          <p:cNvPr id="15" name="Rounded Rectangle 14"/>
          <p:cNvSpPr/>
          <p:nvPr/>
        </p:nvSpPr>
        <p:spPr>
          <a:xfrm>
            <a:off x="1276350" y="2743200"/>
            <a:ext cx="1962150" cy="438150"/>
          </a:xfrm>
          <a:prstGeom prst="roundRect">
            <a:avLst>
              <a:gd name="adj" fmla="val 50000"/>
            </a:avLst>
          </a:prstGeom>
          <a:solidFill>
            <a:srgbClr val="FFFFFF"/>
          </a:solidFill>
          <a:ln w="23812">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76350" y="2743200"/>
            <a:ext cx="1962150" cy="438150"/>
          </a:xfrm>
          <a:prstGeom prst="rect">
            <a:avLst/>
          </a:prstGeom>
          <a:noFill/>
        </p:spPr>
        <p:txBody>
          <a:bodyPr wrap="square" lIns="0" tIns="0" rIns="0" bIns="0" anchor="ctr"/>
          <a:lstStyle/>
          <a:p>
            <a:pPr algn="ctr" latinLnBrk="0" eaLnBrk="1">
              <a:lnSpc>
                <a:spcPct val="100000"/>
              </a:lnSpc>
            </a:pPr>
            <a:r>
              <a:rPr sz="1800" b="1" spc="-36" lang="ko-KR" altLang="en-US">
                <a:solidFill>
                  <a:srgbClr val="0B7A4B"/>
                </a:solidFill>
                <a:latin typeface="맑은 고딕"/>
                <a:ea typeface="맑은 고딕"/>
                <a:cs typeface="맑은 고딕"/>
              </a:rPr>
              <a:t>+ 소스 추가</a:t>
            </a:r>
          </a:p>
        </p:txBody>
      </p:sp>
      <p:sp>
        <p:nvSpPr>
          <p:cNvPr id="17" name="Rounded Rectangle 16"/>
          <p:cNvSpPr/>
          <p:nvPr/>
        </p:nvSpPr>
        <p:spPr>
          <a:xfrm>
            <a:off x="1276350" y="3467100"/>
            <a:ext cx="266700" cy="266700"/>
          </a:xfrm>
          <a:prstGeom prst="roundRect">
            <a:avLst>
              <a:gd name="adj" fmla="val 14285"/>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76350" y="3467100"/>
            <a:ext cx="266700" cy="26670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a:t>
            </a:r>
          </a:p>
        </p:txBody>
      </p:sp>
      <p:sp>
        <p:nvSpPr>
          <p:cNvPr id="19" name="TextBox 18"/>
          <p:cNvSpPr txBox="1"/>
          <p:nvPr/>
        </p:nvSpPr>
        <p:spPr>
          <a:xfrm>
            <a:off x="1619250" y="3390900"/>
            <a:ext cx="1771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02A 글쓰기</a:t>
            </a:r>
          </a:p>
        </p:txBody>
      </p:sp>
      <p:sp>
        <p:nvSpPr>
          <p:cNvPr id="20" name="Rounded Rectangle 19"/>
          <p:cNvSpPr/>
          <p:nvPr/>
        </p:nvSpPr>
        <p:spPr>
          <a:xfrm>
            <a:off x="1276350" y="3943350"/>
            <a:ext cx="266700" cy="266700"/>
          </a:xfrm>
          <a:prstGeom prst="roundRect">
            <a:avLst>
              <a:gd name="adj" fmla="val 14285"/>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76350" y="3943350"/>
            <a:ext cx="266700" cy="26670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a:t>
            </a:r>
          </a:p>
        </p:txBody>
      </p:sp>
      <p:sp>
        <p:nvSpPr>
          <p:cNvPr id="22" name="TextBox 21"/>
          <p:cNvSpPr txBox="1"/>
          <p:nvPr/>
        </p:nvSpPr>
        <p:spPr>
          <a:xfrm>
            <a:off x="1619250" y="3867150"/>
            <a:ext cx="1771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02B 프로그래밍</a:t>
            </a:r>
          </a:p>
        </p:txBody>
      </p:sp>
      <p:sp>
        <p:nvSpPr>
          <p:cNvPr id="23" name="Rounded Rectangle 22"/>
          <p:cNvSpPr/>
          <p:nvPr/>
        </p:nvSpPr>
        <p:spPr>
          <a:xfrm>
            <a:off x="1276350" y="4419600"/>
            <a:ext cx="266700" cy="266700"/>
          </a:xfrm>
          <a:prstGeom prst="roundRect">
            <a:avLst>
              <a:gd name="adj" fmla="val 14285"/>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76350" y="4419600"/>
            <a:ext cx="266700" cy="26670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a:t>
            </a:r>
          </a:p>
        </p:txBody>
      </p:sp>
      <p:sp>
        <p:nvSpPr>
          <p:cNvPr id="25" name="TextBox 24"/>
          <p:cNvSpPr txBox="1"/>
          <p:nvPr/>
        </p:nvSpPr>
        <p:spPr>
          <a:xfrm>
            <a:off x="1619250" y="4343400"/>
            <a:ext cx="1771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02C 인식 설문</a:t>
            </a:r>
          </a:p>
        </p:txBody>
      </p:sp>
      <p:sp>
        <p:nvSpPr>
          <p:cNvPr id="26" name="Rounded Rectangle 25"/>
          <p:cNvSpPr/>
          <p:nvPr/>
        </p:nvSpPr>
        <p:spPr>
          <a:xfrm>
            <a:off x="1276350" y="4895850"/>
            <a:ext cx="266700" cy="266700"/>
          </a:xfrm>
          <a:prstGeom prst="roundRect">
            <a:avLst>
              <a:gd name="adj" fmla="val 14285"/>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76350" y="4895850"/>
            <a:ext cx="266700" cy="26670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a:t>
            </a:r>
          </a:p>
        </p:txBody>
      </p:sp>
      <p:sp>
        <p:nvSpPr>
          <p:cNvPr id="28" name="TextBox 27"/>
          <p:cNvSpPr txBox="1"/>
          <p:nvPr/>
        </p:nvSpPr>
        <p:spPr>
          <a:xfrm>
            <a:off x="1619250" y="4819650"/>
            <a:ext cx="1771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02D 통계</a:t>
            </a:r>
          </a:p>
        </p:txBody>
      </p:sp>
      <p:sp>
        <p:nvSpPr>
          <p:cNvPr id="29" name="Rounded Rectangle 28"/>
          <p:cNvSpPr/>
          <p:nvPr/>
        </p:nvSpPr>
        <p:spPr>
          <a:xfrm>
            <a:off x="1276350" y="5372100"/>
            <a:ext cx="266700" cy="266700"/>
          </a:xfrm>
          <a:prstGeom prst="roundRect">
            <a:avLst>
              <a:gd name="adj" fmla="val 14285"/>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76350" y="5372100"/>
            <a:ext cx="266700" cy="26670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a:t>
            </a:r>
          </a:p>
        </p:txBody>
      </p:sp>
      <p:sp>
        <p:nvSpPr>
          <p:cNvPr id="31" name="TextBox 30"/>
          <p:cNvSpPr txBox="1"/>
          <p:nvPr/>
        </p:nvSpPr>
        <p:spPr>
          <a:xfrm>
            <a:off x="1619250" y="5295900"/>
            <a:ext cx="1771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02E 메타분석</a:t>
            </a:r>
          </a:p>
        </p:txBody>
      </p:sp>
      <p:sp>
        <p:nvSpPr>
          <p:cNvPr id="32" name="Rounded Rectangle 31"/>
          <p:cNvSpPr/>
          <p:nvPr/>
        </p:nvSpPr>
        <p:spPr>
          <a:xfrm>
            <a:off x="3733800" y="2533650"/>
            <a:ext cx="342900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3733800" y="2857500"/>
            <a:ext cx="285750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3733800" y="3181350"/>
            <a:ext cx="371475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3733800" y="3505200"/>
            <a:ext cx="238125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3733800" y="5372100"/>
            <a:ext cx="3390900" cy="495300"/>
          </a:xfrm>
          <a:prstGeom prst="roundRect">
            <a:avLst>
              <a:gd name="adj" fmla="val 50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962400" y="5372100"/>
            <a:ext cx="2933700" cy="4953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질문 입력…</a:t>
            </a:r>
          </a:p>
        </p:txBody>
      </p:sp>
      <p:sp>
        <p:nvSpPr>
          <p:cNvPr id="38" name="Oval 37"/>
          <p:cNvSpPr/>
          <p:nvPr/>
        </p:nvSpPr>
        <p:spPr>
          <a:xfrm>
            <a:off x="514350" y="2714625"/>
            <a:ext cx="495300" cy="495300"/>
          </a:xfrm>
          <a:prstGeom prst="ellipse">
            <a:avLst/>
          </a:prstGeom>
          <a:solidFill>
            <a:srgbClr val="0B7A4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4350" y="2714625"/>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1</a:t>
            </a:r>
          </a:p>
        </p:txBody>
      </p:sp>
      <p:sp>
        <p:nvSpPr>
          <p:cNvPr id="40" name="Oval 39"/>
          <p:cNvSpPr/>
          <p:nvPr/>
        </p:nvSpPr>
        <p:spPr>
          <a:xfrm>
            <a:off x="514350" y="4229100"/>
            <a:ext cx="495300" cy="495300"/>
          </a:xfrm>
          <a:prstGeom prst="ellipse">
            <a:avLst/>
          </a:prstGeom>
          <a:solidFill>
            <a:srgbClr val="0B7A4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14350" y="42291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2</a:t>
            </a:r>
          </a:p>
        </p:txBody>
      </p:sp>
      <p:sp>
        <p:nvSpPr>
          <p:cNvPr id="42" name="Oval 41"/>
          <p:cNvSpPr/>
          <p:nvPr/>
        </p:nvSpPr>
        <p:spPr>
          <a:xfrm>
            <a:off x="7581900" y="1866900"/>
            <a:ext cx="495300" cy="495300"/>
          </a:xfrm>
          <a:prstGeom prst="ellipse">
            <a:avLst/>
          </a:prstGeom>
          <a:solidFill>
            <a:srgbClr val="0B7A4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581900" y="18669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1</a:t>
            </a:r>
          </a:p>
        </p:txBody>
      </p:sp>
      <p:sp>
        <p:nvSpPr>
          <p:cNvPr id="44" name="TextBox 43"/>
          <p:cNvSpPr txBox="1"/>
          <p:nvPr/>
        </p:nvSpPr>
        <p:spPr>
          <a:xfrm>
            <a:off x="8229600" y="1866900"/>
            <a:ext cx="3276600" cy="47625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 소스 추가</a:t>
            </a:r>
          </a:p>
        </p:txBody>
      </p:sp>
      <p:sp>
        <p:nvSpPr>
          <p:cNvPr id="45" name="TextBox 44"/>
          <p:cNvSpPr txBox="1"/>
          <p:nvPr/>
        </p:nvSpPr>
        <p:spPr>
          <a:xfrm>
            <a:off x="7620000" y="2476500"/>
            <a:ext cx="3886200" cy="1143000"/>
          </a:xfrm>
          <a:prstGeom prst="rect">
            <a:avLst/>
          </a:prstGeom>
          <a:noFill/>
        </p:spPr>
        <p:txBody>
          <a:bodyPr wrap="square" lIns="0" tIns="0" rIns="0" bIns="0" anchor="t"/>
          <a:lstStyle/>
          <a:p>
            <a:pPr algn="l" latinLnBrk="0" eaLnBrk="1">
              <a:lnSpc>
                <a:spcPct val="130000"/>
              </a:lnSpc>
            </a:pPr>
            <a:r>
              <a:rPr sz="2100" b="0" spc="-42" lang="ko-KR" altLang="en-US">
                <a:solidFill>
                  <a:srgbClr val="3D3F48"/>
                </a:solidFill>
                <a:latin typeface="맑은 고딕"/>
                <a:ea typeface="맑은 고딕"/>
                <a:cs typeface="맑은 고딕"/>
              </a:rPr>
              <a:t>새 노트북 왼쪽</a:t>
            </a:r>
            <a:br/>
            <a:r>
              <a:rPr sz="2100" b="0" spc="-42" lang="ko-KR" altLang="en-US">
                <a:solidFill>
                  <a:srgbClr val="3D3F48"/>
                </a:solidFill>
                <a:latin typeface="맑은 고딕"/>
                <a:ea typeface="맑은 고딕"/>
                <a:cs typeface="맑은 고딕"/>
              </a:rPr>
              <a:t>소스 칸에서 누릅니다</a:t>
            </a:r>
          </a:p>
        </p:txBody>
      </p:sp>
      <p:sp>
        <p:nvSpPr>
          <p:cNvPr id="46" name="Oval 45"/>
          <p:cNvSpPr/>
          <p:nvPr/>
        </p:nvSpPr>
        <p:spPr>
          <a:xfrm>
            <a:off x="7581900" y="3962400"/>
            <a:ext cx="495300" cy="495300"/>
          </a:xfrm>
          <a:prstGeom prst="ellipse">
            <a:avLst/>
          </a:prstGeom>
          <a:solidFill>
            <a:srgbClr val="0B7A4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581900" y="39624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2</a:t>
            </a:r>
          </a:p>
        </p:txBody>
      </p:sp>
      <p:sp>
        <p:nvSpPr>
          <p:cNvPr id="48" name="TextBox 47"/>
          <p:cNvSpPr txBox="1"/>
          <p:nvPr/>
        </p:nvSpPr>
        <p:spPr>
          <a:xfrm>
            <a:off x="8229600" y="3962400"/>
            <a:ext cx="3276600" cy="47625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02A~02E만</a:t>
            </a:r>
          </a:p>
        </p:txBody>
      </p:sp>
      <p:sp>
        <p:nvSpPr>
          <p:cNvPr id="49" name="TextBox 48"/>
          <p:cNvSpPr txBox="1"/>
          <p:nvPr/>
        </p:nvSpPr>
        <p:spPr>
          <a:xfrm>
            <a:off x="7620000" y="4572000"/>
            <a:ext cx="3886200" cy="1143000"/>
          </a:xfrm>
          <a:prstGeom prst="rect">
            <a:avLst/>
          </a:prstGeom>
          <a:noFill/>
        </p:spPr>
        <p:txBody>
          <a:bodyPr wrap="square" lIns="0" tIns="0" rIns="0" bIns="0" anchor="t"/>
          <a:lstStyle/>
          <a:p>
            <a:pPr algn="l" latinLnBrk="0" eaLnBrk="1">
              <a:lnSpc>
                <a:spcPct val="130000"/>
              </a:lnSpc>
            </a:pPr>
            <a:r>
              <a:rPr sz="2100" b="0" spc="-42" lang="ko-KR" altLang="en-US">
                <a:solidFill>
                  <a:srgbClr val="3D3F48"/>
                </a:solidFill>
                <a:latin typeface="맑은 고딕"/>
                <a:ea typeface="맑은 고딕"/>
                <a:cs typeface="맑은 고딕"/>
              </a:rPr>
              <a:t>다섯 파일만 고릅니다.</a:t>
            </a:r>
            <a:br/>
            <a:r>
              <a:rPr sz="2100" b="0" spc="-42" lang="ko-KR" altLang="en-US">
                <a:solidFill>
                  <a:srgbClr val="3D3F48"/>
                </a:solidFill>
                <a:latin typeface="맑은 고딕"/>
                <a:ea typeface="맑은 고딕"/>
                <a:cs typeface="맑은 고딕"/>
              </a:rPr>
              <a:t>해설 파일은 넣지 않습니다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전체 질문은 사이트 #notebooklm-papers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19</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1-1 · 비교표</a:t>
            </a:r>
          </a:p>
        </p:txBody>
      </p:sp>
      <p:sp>
        <p:nvSpPr>
          <p:cNvPr id="6" name="Rounded Rectangle 5"/>
          <p:cNvSpPr/>
          <p:nvPr/>
        </p:nvSpPr>
        <p:spPr>
          <a:xfrm>
            <a:off x="8392668" y="219075"/>
            <a:ext cx="3105150"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45068" y="357188"/>
            <a:ext cx="133350" cy="1333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3668" y="219075"/>
            <a:ext cx="264795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12분 · Gemini Notebook</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다섯 편의 연구 설계를 한 표로 비교합니다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0B7A4B"/>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02A~02E 올리기</a:t>
            </a:r>
            <a:r>
              <a:rPr sz="2025" b="1" spc="-40" lang="ko-KR" altLang="en-US">
                <a:solidFill>
                  <a:srgbClr val="0B7A4B"/>
                </a:solidFill>
                <a:latin typeface="맑은 고딕"/>
                <a:ea typeface="맑은 고딕"/>
                <a:cs typeface="맑은 고딕"/>
              </a:rPr>
              <a:t>   →   </a:t>
            </a:r>
            <a:r>
              <a:rPr sz="2025" b="1" spc="-40" lang="ko-KR" altLang="en-US">
                <a:solidFill>
                  <a:srgbClr val="0B7A4B"/>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질문 2-1 붙여 넣기</a:t>
            </a:r>
            <a:r>
              <a:rPr sz="2025" b="1" spc="-40" lang="ko-KR" altLang="en-US">
                <a:solidFill>
                  <a:srgbClr val="0B7A4B"/>
                </a:solidFill>
                <a:latin typeface="맑은 고딕"/>
                <a:ea typeface="맑은 고딕"/>
                <a:cs typeface="맑은 고딕"/>
              </a:rPr>
              <a:t>   →   </a:t>
            </a:r>
            <a:r>
              <a:rPr sz="2025" b="1" spc="-40" lang="ko-KR" altLang="en-US">
                <a:solidFill>
                  <a:srgbClr val="0B7A4B"/>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C의 78.3% 인용 누르기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연구 조교</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이 노트북의 소스 5개만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설계·대상·기간·측정·핵심 수치·한계 표, 수치마다 인용</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없는 수치, 효과크기로 순위 매기기</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논문</a:t>
            </a:r>
          </a:p>
        </p:txBody>
      </p:sp>
      <p:sp>
        <p:nvSpPr>
          <p:cNvPr id="18" name="TextBox 17"/>
          <p:cNvSpPr txBox="1"/>
          <p:nvPr/>
        </p:nvSpPr>
        <p:spPr>
          <a:xfrm>
            <a:off x="7258050" y="2895600"/>
            <a:ext cx="1104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설계</a:t>
            </a:r>
          </a:p>
        </p:txBody>
      </p:sp>
      <p:sp>
        <p:nvSpPr>
          <p:cNvPr id="19" name="TextBox 18"/>
          <p:cNvSpPr txBox="1"/>
          <p:nvPr/>
        </p:nvSpPr>
        <p:spPr>
          <a:xfrm>
            <a:off x="8496300" y="2895600"/>
            <a:ext cx="12001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대상</a:t>
            </a:r>
          </a:p>
        </p:txBody>
      </p:sp>
      <p:sp>
        <p:nvSpPr>
          <p:cNvPr id="20" name="TextBox 19"/>
          <p:cNvSpPr txBox="1"/>
          <p:nvPr/>
        </p:nvSpPr>
        <p:spPr>
          <a:xfrm>
            <a:off x="9829800" y="2895600"/>
            <a:ext cx="14097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핵심 수치</a:t>
            </a:r>
          </a:p>
        </p:txBody>
      </p:sp>
      <p:sp>
        <p:nvSpPr>
          <p:cNvPr id="21" name="Rectangle 20"/>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34150" y="329565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A</a:t>
            </a:r>
          </a:p>
        </p:txBody>
      </p:sp>
      <p:sp>
        <p:nvSpPr>
          <p:cNvPr id="23" name="TextBox 22"/>
          <p:cNvSpPr txBox="1"/>
          <p:nvPr/>
        </p:nvSpPr>
        <p:spPr>
          <a:xfrm>
            <a:off x="7258050" y="32956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준실험</a:t>
            </a:r>
          </a:p>
        </p:txBody>
      </p:sp>
      <p:sp>
        <p:nvSpPr>
          <p:cNvPr id="24" name="TextBox 23"/>
          <p:cNvSpPr txBox="1"/>
          <p:nvPr/>
        </p:nvSpPr>
        <p:spPr>
          <a:xfrm>
            <a:off x="8496300" y="329565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212명</a:t>
            </a:r>
          </a:p>
        </p:txBody>
      </p:sp>
      <p:sp>
        <p:nvSpPr>
          <p:cNvPr id="25" name="TextBox 24"/>
          <p:cNvSpPr txBox="1"/>
          <p:nvPr/>
        </p:nvSpPr>
        <p:spPr>
          <a:xfrm>
            <a:off x="9829800" y="329565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6" name="Rectangle 25"/>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34150" y="369570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B</a:t>
            </a:r>
          </a:p>
        </p:txBody>
      </p:sp>
      <p:sp>
        <p:nvSpPr>
          <p:cNvPr id="28" name="TextBox 27"/>
          <p:cNvSpPr txBox="1"/>
          <p:nvPr/>
        </p:nvSpPr>
        <p:spPr>
          <a:xfrm>
            <a:off x="7258050" y="36957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무작위</a:t>
            </a:r>
          </a:p>
        </p:txBody>
      </p:sp>
      <p:sp>
        <p:nvSpPr>
          <p:cNvPr id="29" name="TextBox 28"/>
          <p:cNvSpPr txBox="1"/>
          <p:nvPr/>
        </p:nvSpPr>
        <p:spPr>
          <a:xfrm>
            <a:off x="8496300" y="369570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340명</a:t>
            </a:r>
          </a:p>
        </p:txBody>
      </p:sp>
      <p:sp>
        <p:nvSpPr>
          <p:cNvPr id="30" name="TextBox 29"/>
          <p:cNvSpPr txBox="1"/>
          <p:nvPr/>
        </p:nvSpPr>
        <p:spPr>
          <a:xfrm>
            <a:off x="9829800" y="369570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1" name="Rectangle 30"/>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34150" y="409575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C</a:t>
            </a:r>
          </a:p>
        </p:txBody>
      </p:sp>
      <p:sp>
        <p:nvSpPr>
          <p:cNvPr id="33" name="TextBox 32"/>
          <p:cNvSpPr txBox="1"/>
          <p:nvPr/>
        </p:nvSpPr>
        <p:spPr>
          <a:xfrm>
            <a:off x="7258050" y="40957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설문</a:t>
            </a:r>
          </a:p>
        </p:txBody>
      </p:sp>
      <p:sp>
        <p:nvSpPr>
          <p:cNvPr id="34" name="TextBox 33"/>
          <p:cNvSpPr txBox="1"/>
          <p:nvPr/>
        </p:nvSpPr>
        <p:spPr>
          <a:xfrm>
            <a:off x="8496300" y="409575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1,204명</a:t>
            </a:r>
          </a:p>
        </p:txBody>
      </p:sp>
      <p:sp>
        <p:nvSpPr>
          <p:cNvPr id="35" name="TextBox 34"/>
          <p:cNvSpPr txBox="1"/>
          <p:nvPr/>
        </p:nvSpPr>
        <p:spPr>
          <a:xfrm>
            <a:off x="9829800" y="409575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78.3% [3]</a:t>
            </a:r>
          </a:p>
        </p:txBody>
      </p:sp>
      <p:sp>
        <p:nvSpPr>
          <p:cNvPr id="36" name="Rounded Rectangle 35"/>
          <p:cNvSpPr/>
          <p:nvPr/>
        </p:nvSpPr>
        <p:spPr>
          <a:xfrm>
            <a:off x="9753600" y="4124325"/>
            <a:ext cx="1504950" cy="342900"/>
          </a:xfrm>
          <a:prstGeom prst="roundRect">
            <a:avLst>
              <a:gd name="adj" fmla="val 50000"/>
            </a:avLst>
          </a:prstGeom>
          <a:noFill/>
          <a:ln w="33337">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34150" y="449580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D</a:t>
            </a:r>
          </a:p>
        </p:txBody>
      </p:sp>
      <p:sp>
        <p:nvSpPr>
          <p:cNvPr id="39" name="TextBox 38"/>
          <p:cNvSpPr txBox="1"/>
          <p:nvPr/>
        </p:nvSpPr>
        <p:spPr>
          <a:xfrm>
            <a:off x="7258050" y="44958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3집단</a:t>
            </a:r>
          </a:p>
        </p:txBody>
      </p:sp>
      <p:sp>
        <p:nvSpPr>
          <p:cNvPr id="40" name="TextBox 39"/>
          <p:cNvSpPr txBox="1"/>
          <p:nvPr/>
        </p:nvSpPr>
        <p:spPr>
          <a:xfrm>
            <a:off x="8496300" y="449580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156명</a:t>
            </a:r>
          </a:p>
        </p:txBody>
      </p:sp>
      <p:sp>
        <p:nvSpPr>
          <p:cNvPr id="41" name="TextBox 40"/>
          <p:cNvSpPr txBox="1"/>
          <p:nvPr/>
        </p:nvSpPr>
        <p:spPr>
          <a:xfrm>
            <a:off x="9829800" y="449580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42" name="Rectangle 41"/>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534150" y="489585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E</a:t>
            </a:r>
          </a:p>
        </p:txBody>
      </p:sp>
      <p:sp>
        <p:nvSpPr>
          <p:cNvPr id="44" name="TextBox 43"/>
          <p:cNvSpPr txBox="1"/>
          <p:nvPr/>
        </p:nvSpPr>
        <p:spPr>
          <a:xfrm>
            <a:off x="7258050" y="48958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메타분석</a:t>
            </a:r>
          </a:p>
        </p:txBody>
      </p:sp>
      <p:sp>
        <p:nvSpPr>
          <p:cNvPr id="45" name="TextBox 44"/>
          <p:cNvSpPr txBox="1"/>
          <p:nvPr/>
        </p:nvSpPr>
        <p:spPr>
          <a:xfrm>
            <a:off x="8496300" y="489585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24편</a:t>
            </a:r>
          </a:p>
        </p:txBody>
      </p:sp>
      <p:sp>
        <p:nvSpPr>
          <p:cNvPr id="46" name="TextBox 45"/>
          <p:cNvSpPr txBox="1"/>
          <p:nvPr/>
        </p:nvSpPr>
        <p:spPr>
          <a:xfrm>
            <a:off x="9829800" y="489585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47" name="Rounded Rectangle 46"/>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0B7A4B"/>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논문 C의 78.3%는 몇 명 중 몇 명인가?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전체 질문은 사이트 #notebooklm-papers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20</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1-2 · 인용 확인</a:t>
            </a:r>
          </a:p>
        </p:txBody>
      </p:sp>
      <p:sp>
        <p:nvSpPr>
          <p:cNvPr id="6" name="Rounded Rectangle 5"/>
          <p:cNvSpPr/>
          <p:nvPr/>
        </p:nvSpPr>
        <p:spPr>
          <a:xfrm>
            <a:off x="8392668" y="219075"/>
            <a:ext cx="3105150"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45068" y="357188"/>
            <a:ext cx="133350" cy="1333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3668" y="219075"/>
            <a:ext cx="264795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10분 · Gemini Notebook</a:t>
            </a:r>
          </a:p>
        </p:txBody>
      </p:sp>
      <p:sp>
        <p:nvSpPr>
          <p:cNvPr id="9" name="TextBox 8"/>
          <p:cNvSpPr txBox="1"/>
          <p:nvPr/>
        </p:nvSpPr>
        <p:spPr>
          <a:xfrm>
            <a:off x="685800" y="11049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이 세 문장, 논문에 그대로 써도 될까요?</a:t>
            </a:r>
          </a:p>
        </p:txBody>
      </p:sp>
      <p:sp>
        <p:nvSpPr>
          <p:cNvPr id="10" name="Rounded Rectangle 9"/>
          <p:cNvSpPr/>
          <p:nvPr/>
        </p:nvSpPr>
        <p:spPr>
          <a:xfrm>
            <a:off x="685800" y="1905000"/>
            <a:ext cx="10820400" cy="990600"/>
          </a:xfrm>
          <a:prstGeom prst="roundRect">
            <a:avLst>
              <a:gd name="adj" fmla="val 13461"/>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3450" y="2181225"/>
            <a:ext cx="438150" cy="4381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181225"/>
            <a:ext cx="438150" cy="438150"/>
          </a:xfrm>
          <a:prstGeom prst="rect">
            <a:avLst/>
          </a:prstGeom>
          <a:noFill/>
        </p:spPr>
        <p:txBody>
          <a:bodyPr wrap="square" lIns="0" tIns="0" rIns="0" bIns="0" anchor="ctr"/>
          <a:lstStyle/>
          <a:p>
            <a:pPr algn="ctr" latinLnBrk="0" eaLnBrk="1">
              <a:lnSpc>
                <a:spcPct val="100000"/>
              </a:lnSpc>
            </a:pPr>
            <a:r>
              <a:rPr sz="1950" b="1" spc="-39" lang="ko-KR" altLang="en-US">
                <a:solidFill>
                  <a:srgbClr val="FFFFFF"/>
                </a:solidFill>
                <a:latin typeface="맑은 고딕"/>
                <a:ea typeface="맑은 고딕"/>
                <a:cs typeface="맑은 고딕"/>
              </a:rPr>
              <a:t>1</a:t>
            </a:r>
          </a:p>
        </p:txBody>
      </p:sp>
      <p:sp>
        <p:nvSpPr>
          <p:cNvPr id="13" name="TextBox 12"/>
          <p:cNvSpPr txBox="1"/>
          <p:nvPr/>
        </p:nvSpPr>
        <p:spPr>
          <a:xfrm>
            <a:off x="1600200" y="1905000"/>
            <a:ext cx="9620250" cy="990600"/>
          </a:xfrm>
          <a:prstGeom prst="rect">
            <a:avLst/>
          </a:prstGeom>
          <a:noFill/>
        </p:spPr>
        <p:txBody>
          <a:bodyPr wrap="square" lIns="0" tIns="0" rIns="0" bIns="0" anchor="ctr"/>
          <a:lstStyle/>
          <a:p>
            <a:pPr algn="l" latinLnBrk="0" eaLnBrk="1">
              <a:lnSpc>
                <a:spcPct val="125000"/>
              </a:lnSpc>
            </a:pPr>
            <a:r>
              <a:rPr sz="2250" b="0" spc="-45" lang="ko-KR" altLang="en-US">
                <a:solidFill>
                  <a:srgbClr val="16171C"/>
                </a:solidFill>
                <a:latin typeface="맑은 고딕"/>
                <a:ea typeface="맑은 고딕"/>
                <a:cs typeface="맑은 고딕"/>
              </a:rPr>
              <a:t>대학생의 78%가 생성형 AI가 학습에 도움이 된다고 답했다.</a:t>
            </a:r>
          </a:p>
        </p:txBody>
      </p:sp>
      <p:sp>
        <p:nvSpPr>
          <p:cNvPr id="14" name="Rounded Rectangle 13"/>
          <p:cNvSpPr/>
          <p:nvPr/>
        </p:nvSpPr>
        <p:spPr>
          <a:xfrm>
            <a:off x="685800" y="3028950"/>
            <a:ext cx="10820400" cy="990600"/>
          </a:xfrm>
          <a:prstGeom prst="roundRect">
            <a:avLst>
              <a:gd name="adj" fmla="val 13461"/>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33450" y="3305175"/>
            <a:ext cx="438150" cy="4381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3450" y="3305175"/>
            <a:ext cx="438150" cy="438150"/>
          </a:xfrm>
          <a:prstGeom prst="rect">
            <a:avLst/>
          </a:prstGeom>
          <a:noFill/>
        </p:spPr>
        <p:txBody>
          <a:bodyPr wrap="square" lIns="0" tIns="0" rIns="0" bIns="0" anchor="ctr"/>
          <a:lstStyle/>
          <a:p>
            <a:pPr algn="ctr" latinLnBrk="0" eaLnBrk="1">
              <a:lnSpc>
                <a:spcPct val="100000"/>
              </a:lnSpc>
            </a:pPr>
            <a:r>
              <a:rPr sz="1950" b="1" spc="-39" lang="ko-KR" altLang="en-US">
                <a:solidFill>
                  <a:srgbClr val="FFFFFF"/>
                </a:solidFill>
                <a:latin typeface="맑은 고딕"/>
                <a:ea typeface="맑은 고딕"/>
                <a:cs typeface="맑은 고딕"/>
              </a:rPr>
              <a:t>2</a:t>
            </a:r>
          </a:p>
        </p:txBody>
      </p:sp>
      <p:sp>
        <p:nvSpPr>
          <p:cNvPr id="17" name="TextBox 16"/>
          <p:cNvSpPr txBox="1"/>
          <p:nvPr/>
        </p:nvSpPr>
        <p:spPr>
          <a:xfrm>
            <a:off x="1600200" y="3028950"/>
            <a:ext cx="9620250" cy="990600"/>
          </a:xfrm>
          <a:prstGeom prst="rect">
            <a:avLst/>
          </a:prstGeom>
          <a:noFill/>
        </p:spPr>
        <p:txBody>
          <a:bodyPr wrap="square" lIns="0" tIns="0" rIns="0" bIns="0" anchor="ctr"/>
          <a:lstStyle/>
          <a:p>
            <a:pPr algn="l" latinLnBrk="0" eaLnBrk="1">
              <a:lnSpc>
                <a:spcPct val="125000"/>
              </a:lnSpc>
            </a:pPr>
            <a:r>
              <a:rPr sz="2250" b="0" spc="-45" lang="ko-KR" altLang="en-US">
                <a:solidFill>
                  <a:srgbClr val="16171C"/>
                </a:solidFill>
                <a:latin typeface="맑은 고딕"/>
                <a:ea typeface="맑은 고딕"/>
                <a:cs typeface="맑은 고딕"/>
              </a:rPr>
              <a:t>AI 튜터를 쓴 학생은 시험 점수가 11.2점 올랐다.</a:t>
            </a:r>
          </a:p>
        </p:txBody>
      </p:sp>
      <p:sp>
        <p:nvSpPr>
          <p:cNvPr id="18" name="Rounded Rectangle 17"/>
          <p:cNvSpPr/>
          <p:nvPr/>
        </p:nvSpPr>
        <p:spPr>
          <a:xfrm>
            <a:off x="685800" y="4152900"/>
            <a:ext cx="10820400" cy="990600"/>
          </a:xfrm>
          <a:prstGeom prst="roundRect">
            <a:avLst>
              <a:gd name="adj" fmla="val 13461"/>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33450" y="4429125"/>
            <a:ext cx="438150" cy="4381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 y="4429125"/>
            <a:ext cx="438150" cy="438150"/>
          </a:xfrm>
          <a:prstGeom prst="rect">
            <a:avLst/>
          </a:prstGeom>
          <a:noFill/>
        </p:spPr>
        <p:txBody>
          <a:bodyPr wrap="square" lIns="0" tIns="0" rIns="0" bIns="0" anchor="ctr"/>
          <a:lstStyle/>
          <a:p>
            <a:pPr algn="ctr" latinLnBrk="0" eaLnBrk="1">
              <a:lnSpc>
                <a:spcPct val="100000"/>
              </a:lnSpc>
            </a:pPr>
            <a:r>
              <a:rPr sz="1950" b="1" spc="-39" lang="ko-KR" altLang="en-US">
                <a:solidFill>
                  <a:srgbClr val="FFFFFF"/>
                </a:solidFill>
                <a:latin typeface="맑은 고딕"/>
                <a:ea typeface="맑은 고딕"/>
                <a:cs typeface="맑은 고딕"/>
              </a:rPr>
              <a:t>3</a:t>
            </a:r>
          </a:p>
        </p:txBody>
      </p:sp>
      <p:sp>
        <p:nvSpPr>
          <p:cNvPr id="21" name="TextBox 20"/>
          <p:cNvSpPr txBox="1"/>
          <p:nvPr/>
        </p:nvSpPr>
        <p:spPr>
          <a:xfrm>
            <a:off x="1600200" y="4152900"/>
            <a:ext cx="9620250" cy="990600"/>
          </a:xfrm>
          <a:prstGeom prst="rect">
            <a:avLst/>
          </a:prstGeom>
          <a:noFill/>
        </p:spPr>
        <p:txBody>
          <a:bodyPr wrap="square" lIns="0" tIns="0" rIns="0" bIns="0" anchor="ctr"/>
          <a:lstStyle/>
          <a:p>
            <a:pPr algn="l" latinLnBrk="0" eaLnBrk="1">
              <a:lnSpc>
                <a:spcPct val="125000"/>
              </a:lnSpc>
            </a:pPr>
            <a:r>
              <a:rPr sz="2250" b="0" spc="-45" lang="ko-KR" altLang="en-US">
                <a:solidFill>
                  <a:srgbClr val="16171C"/>
                </a:solidFill>
                <a:latin typeface="맑은 고딕"/>
                <a:ea typeface="맑은 고딕"/>
                <a:cs typeface="맑은 고딕"/>
              </a:rPr>
              <a:t>AI 피드백을 받은 글쓰기 집단은 4.3점 높았다.</a:t>
            </a:r>
          </a:p>
        </p:txBody>
      </p:sp>
      <p:sp>
        <p:nvSpPr>
          <p:cNvPr id="22" name="TextBox 21"/>
          <p:cNvSpPr txBox="1"/>
          <p:nvPr/>
        </p:nvSpPr>
        <p:spPr>
          <a:xfrm>
            <a:off x="685800" y="5410200"/>
            <a:ext cx="10820400" cy="857250"/>
          </a:xfrm>
          <a:prstGeom prst="rect">
            <a:avLst/>
          </a:prstGeom>
          <a:noFill/>
        </p:spPr>
        <p:txBody>
          <a:bodyPr wrap="square" lIns="0" tIns="0" rIns="0" bIns="0" anchor="t"/>
          <a:lstStyle/>
          <a:p>
            <a:pPr algn="l" latinLnBrk="0" eaLnBrk="1">
              <a:lnSpc>
                <a:spcPct val="140000"/>
              </a:lnSpc>
            </a:pPr>
            <a:r>
              <a:rPr sz="1950" b="1" spc="-39" lang="ko-KR" altLang="en-US">
                <a:solidFill>
                  <a:srgbClr val="0B7A4B"/>
                </a:solidFill>
                <a:latin typeface="맑은 고딕"/>
                <a:ea typeface="맑은 고딕"/>
                <a:cs typeface="맑은 고딕"/>
              </a:rPr>
              <a:t>순서  </a:t>
            </a:r>
            <a:r>
              <a:rPr sz="1950" b="0" spc="-39" lang="ko-KR" altLang="en-US">
                <a:solidFill>
                  <a:srgbClr val="16171C"/>
                </a:solidFill>
                <a:latin typeface="맑은 고딕"/>
                <a:ea typeface="맑은 고딕"/>
                <a:cs typeface="맑은 고딕"/>
              </a:rPr>
              <a:t>① 맞음·일부 맞음·틀림을 직접 고르기 3분  ② AI 판정과 인용 확인 7분</a:t>
            </a:r>
          </a:p>
          <a:p>
            <a:pPr algn="l" latinLnBrk="0" eaLnBrk="1">
              <a:lnSpc>
                <a:spcPct val="140000"/>
              </a:lnSpc>
            </a:pPr>
            <a:r>
              <a:rPr sz="1950" b="1" spc="-39" lang="ko-KR" altLang="en-US">
                <a:solidFill>
                  <a:srgbClr val="0B7A4B"/>
                </a:solidFill>
                <a:latin typeface="맑은 고딕"/>
                <a:ea typeface="맑은 고딕"/>
                <a:cs typeface="맑은 고딕"/>
              </a:rPr>
              <a:t>금지  </a:t>
            </a:r>
            <a:r>
              <a:rPr sz="1950" b="0" spc="-39" lang="ko-KR" altLang="en-US">
                <a:solidFill>
                  <a:srgbClr val="16171C"/>
                </a:solidFill>
                <a:latin typeface="맑은 고딕"/>
                <a:ea typeface="맑은 고딕"/>
                <a:cs typeface="맑은 고딕"/>
              </a:rPr>
              <a:t>근거를 못 찾으면 '근거 없음'이라고 쓰게 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정답 기준 · 해설 2-3</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21</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정답 기준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세 문장 모두 원문과 조금씩 다릅니다</a:t>
            </a:r>
          </a:p>
        </p:txBody>
      </p:sp>
      <p:sp>
        <p:nvSpPr>
          <p:cNvPr id="6" name="Rounded Rectangle 5"/>
          <p:cNvSpPr/>
          <p:nvPr/>
        </p:nvSpPr>
        <p:spPr>
          <a:xfrm>
            <a:off x="685800" y="1905000"/>
            <a:ext cx="3454400" cy="3810000"/>
          </a:xfrm>
          <a:prstGeom prst="roundRect">
            <a:avLst>
              <a:gd name="adj" fmla="val 4963"/>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20980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① 78%가 도움</a:t>
            </a:r>
          </a:p>
        </p:txBody>
      </p:sp>
      <p:sp>
        <p:nvSpPr>
          <p:cNvPr id="8" name="Rounded Rectangle 7"/>
          <p:cNvSpPr/>
          <p:nvPr/>
        </p:nvSpPr>
        <p:spPr>
          <a:xfrm>
            <a:off x="971550" y="2819400"/>
            <a:ext cx="838200" cy="476250"/>
          </a:xfrm>
          <a:prstGeom prst="roundRect">
            <a:avLst>
              <a:gd name="adj" fmla="val 5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819400"/>
            <a:ext cx="590550"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틀림</a:t>
            </a:r>
          </a:p>
        </p:txBody>
      </p:sp>
      <p:sp>
        <p:nvSpPr>
          <p:cNvPr id="10" name="TextBox 9"/>
          <p:cNvSpPr txBox="1"/>
          <p:nvPr/>
        </p:nvSpPr>
        <p:spPr>
          <a:xfrm>
            <a:off x="971550" y="3581400"/>
            <a:ext cx="2882900" cy="1905000"/>
          </a:xfrm>
          <a:prstGeom prst="rect">
            <a:avLst/>
          </a:prstGeom>
          <a:noFill/>
        </p:spPr>
        <p:txBody>
          <a:bodyPr wrap="square" lIns="0" tIns="0" rIns="0" bIns="0" anchor="t"/>
          <a:lstStyle/>
          <a:p>
            <a:pPr algn="l" latinLnBrk="0" eaLnBrk="1">
              <a:lnSpc>
                <a:spcPct val="140000"/>
              </a:lnSpc>
            </a:pPr>
            <a:r>
              <a:rPr sz="2100" b="0" spc="-42" lang="ko-KR" altLang="en-US">
                <a:solidFill>
                  <a:srgbClr val="3D3F48"/>
                </a:solidFill>
                <a:latin typeface="맑은 고딕"/>
                <a:ea typeface="맑은 고딕"/>
                <a:cs typeface="맑은 고딕"/>
              </a:rPr>
              <a:t>사용자 862명 기준</a:t>
            </a:r>
            <a:br/>
            <a:r>
              <a:rPr sz="2100" b="0" spc="-42" lang="ko-KR" altLang="en-US">
                <a:solidFill>
                  <a:srgbClr val="3D3F48"/>
                </a:solidFill>
                <a:latin typeface="맑은 고딕"/>
                <a:ea typeface="맑은 고딕"/>
                <a:cs typeface="맑은 고딕"/>
              </a:rPr>
              <a:t>전체는 56.1%</a:t>
            </a:r>
          </a:p>
        </p:txBody>
      </p:sp>
      <p:sp>
        <p:nvSpPr>
          <p:cNvPr id="11" name="Rounded Rectangle 10"/>
          <p:cNvSpPr/>
          <p:nvPr/>
        </p:nvSpPr>
        <p:spPr>
          <a:xfrm>
            <a:off x="4368800" y="1905000"/>
            <a:ext cx="3454400" cy="3810000"/>
          </a:xfrm>
          <a:prstGeom prst="roundRect">
            <a:avLst>
              <a:gd name="adj" fmla="val 4963"/>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54550" y="220980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② 시험 +11.2점</a:t>
            </a:r>
          </a:p>
        </p:txBody>
      </p:sp>
      <p:sp>
        <p:nvSpPr>
          <p:cNvPr id="13" name="Rounded Rectangle 12"/>
          <p:cNvSpPr/>
          <p:nvPr/>
        </p:nvSpPr>
        <p:spPr>
          <a:xfrm>
            <a:off x="4654550" y="2819400"/>
            <a:ext cx="838200" cy="476250"/>
          </a:xfrm>
          <a:prstGeom prst="roundRect">
            <a:avLst>
              <a:gd name="adj" fmla="val 5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826000" y="2819400"/>
            <a:ext cx="590550"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틀림</a:t>
            </a:r>
          </a:p>
        </p:txBody>
      </p:sp>
      <p:sp>
        <p:nvSpPr>
          <p:cNvPr id="15" name="TextBox 14"/>
          <p:cNvSpPr txBox="1"/>
          <p:nvPr/>
        </p:nvSpPr>
        <p:spPr>
          <a:xfrm>
            <a:off x="4654550" y="3581400"/>
            <a:ext cx="2882900" cy="1905000"/>
          </a:xfrm>
          <a:prstGeom prst="rect">
            <a:avLst/>
          </a:prstGeom>
          <a:noFill/>
        </p:spPr>
        <p:txBody>
          <a:bodyPr wrap="square" lIns="0" tIns="0" rIns="0" bIns="0" anchor="t"/>
          <a:lstStyle/>
          <a:p>
            <a:pPr algn="l" latinLnBrk="0" eaLnBrk="1">
              <a:lnSpc>
                <a:spcPct val="140000"/>
              </a:lnSpc>
            </a:pPr>
            <a:r>
              <a:rPr sz="2100" b="0" spc="-42" lang="ko-KR" altLang="en-US">
                <a:solidFill>
                  <a:srgbClr val="3D3F48"/>
                </a:solidFill>
                <a:latin typeface="맑은 고딕"/>
                <a:ea typeface="맑은 고딕"/>
                <a:cs typeface="맑은 고딕"/>
              </a:rPr>
              <a:t>11.2점은 과제 점수</a:t>
            </a:r>
            <a:br/>
            <a:r>
              <a:rPr sz="2100" b="0" spc="-42" lang="ko-KR" altLang="en-US">
                <a:solidFill>
                  <a:srgbClr val="3D3F48"/>
                </a:solidFill>
                <a:latin typeface="맑은 고딕"/>
                <a:ea typeface="맑은 고딕"/>
                <a:cs typeface="맑은 고딕"/>
              </a:rPr>
              <a:t>시험은 +0.8점뿐</a:t>
            </a:r>
          </a:p>
        </p:txBody>
      </p:sp>
      <p:sp>
        <p:nvSpPr>
          <p:cNvPr id="16" name="Rounded Rectangle 15"/>
          <p:cNvSpPr/>
          <p:nvPr/>
        </p:nvSpPr>
        <p:spPr>
          <a:xfrm>
            <a:off x="8051800" y="1905000"/>
            <a:ext cx="3454400" cy="3810000"/>
          </a:xfrm>
          <a:prstGeom prst="roundRect">
            <a:avLst>
              <a:gd name="adj" fmla="val 4963"/>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7550" y="220980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③ 4.3점 높았다</a:t>
            </a:r>
          </a:p>
        </p:txBody>
      </p:sp>
      <p:sp>
        <p:nvSpPr>
          <p:cNvPr id="18" name="Rounded Rectangle 17"/>
          <p:cNvSpPr/>
          <p:nvPr/>
        </p:nvSpPr>
        <p:spPr>
          <a:xfrm>
            <a:off x="8337550" y="2819400"/>
            <a:ext cx="1400175" cy="476250"/>
          </a:xfrm>
          <a:prstGeom prst="roundRect">
            <a:avLst>
              <a:gd name="adj" fmla="val 50000"/>
            </a:avLst>
          </a:prstGeom>
          <a:solidFill>
            <a:srgbClr val="9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09000" y="2819400"/>
            <a:ext cx="1152525"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일부 맞음</a:t>
            </a:r>
          </a:p>
        </p:txBody>
      </p:sp>
      <p:sp>
        <p:nvSpPr>
          <p:cNvPr id="20" name="TextBox 19"/>
          <p:cNvSpPr txBox="1"/>
          <p:nvPr/>
        </p:nvSpPr>
        <p:spPr>
          <a:xfrm>
            <a:off x="8337550" y="3581400"/>
            <a:ext cx="2882900" cy="1905000"/>
          </a:xfrm>
          <a:prstGeom prst="rect">
            <a:avLst/>
          </a:prstGeom>
          <a:noFill/>
        </p:spPr>
        <p:txBody>
          <a:bodyPr wrap="square" lIns="0" tIns="0" rIns="0" bIns="0" anchor="t"/>
          <a:lstStyle/>
          <a:p>
            <a:pPr algn="l" latinLnBrk="0" eaLnBrk="1">
              <a:lnSpc>
                <a:spcPct val="140000"/>
              </a:lnSpc>
            </a:pPr>
            <a:r>
              <a:rPr sz="2100" b="0" spc="-42" lang="ko-KR" altLang="en-US">
                <a:solidFill>
                  <a:srgbClr val="3D3F48"/>
                </a:solidFill>
                <a:latin typeface="맑은 고딕"/>
                <a:ea typeface="맑은 고딕"/>
                <a:cs typeface="맑은 고딕"/>
              </a:rPr>
              <a:t>사후 점수만 본 값</a:t>
            </a:r>
            <a:br/>
            <a:r>
              <a:rPr sz="2100" b="0" spc="-42" lang="ko-KR" altLang="en-US">
                <a:solidFill>
                  <a:srgbClr val="3D3F48"/>
                </a:solidFill>
                <a:latin typeface="맑은 고딕"/>
                <a:ea typeface="맑은 고딕"/>
                <a:cs typeface="맑은 고딕"/>
              </a:rPr>
              <a:t>사전 통제 후 2.6점</a:t>
            </a:r>
          </a:p>
        </p:txBody>
      </p:sp>
      <p:sp>
        <p:nvSpPr>
          <p:cNvPr id="21" name="TextBox 20"/>
          <p:cNvSpPr txBox="1"/>
          <p:nvPr/>
        </p:nvSpPr>
        <p:spPr>
          <a:xfrm>
            <a:off x="685800" y="5924550"/>
            <a:ext cx="10820400" cy="381000"/>
          </a:xfrm>
          <a:prstGeom prst="rect">
            <a:avLst/>
          </a:prstGeom>
          <a:noFill/>
        </p:spPr>
        <p:txBody>
          <a:bodyPr wrap="square" lIns="0" tIns="0" rIns="0" bIns="0" anchor="t"/>
          <a:lstStyle/>
          <a:p>
            <a:pPr algn="l" latinLnBrk="0" eaLnBrk="1">
              <a:lnSpc>
                <a:spcPct val="100000"/>
              </a:lnSpc>
            </a:pPr>
            <a:r>
              <a:rPr sz="1800" b="0" spc="-36" lang="ko-KR" altLang="en-US">
                <a:solidFill>
                  <a:srgbClr val="3D3F48"/>
                </a:solidFill>
                <a:latin typeface="맑은 고딕"/>
                <a:ea typeface="맑은 고딕"/>
                <a:cs typeface="맑은 고딕"/>
              </a:rPr>
              <a:t>근거: 논문 C 2.2절 · 논문 B 2절 · 논문 A 2절 (모두 가상 논문)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Gemini Notebook · 25–70분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22</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42318"/>
                </a:solidFill>
                <a:latin typeface="맑은 고딕"/>
                <a:ea typeface="맑은 고딕"/>
                <a:cs typeface="맑은 고딕"/>
              </a:rPr>
              <a:t>AI가 여기서 틀렸다 · 재현 예시</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출처 번호가 붙어도 퍼센트의 기준은 틀릴 수 있습니다</a:t>
            </a:r>
          </a:p>
        </p:txBody>
      </p:sp>
      <p:sp>
        <p:nvSpPr>
          <p:cNvPr id="6" name="Rounded Rectangle 5"/>
          <p:cNvSpPr/>
          <p:nvPr/>
        </p:nvSpPr>
        <p:spPr>
          <a:xfrm>
            <a:off x="685800" y="1962150"/>
            <a:ext cx="5295900" cy="2971800"/>
          </a:xfrm>
          <a:prstGeom prst="roundRect">
            <a:avLst>
              <a:gd name="adj" fmla="val 512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AI 답</a:t>
            </a:r>
          </a:p>
        </p:txBody>
      </p:sp>
      <p:sp>
        <p:nvSpPr>
          <p:cNvPr id="8" name="TextBox 7"/>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1" spc="-42" lang="ko-KR" altLang="en-US">
                <a:solidFill>
                  <a:srgbClr val="16171C"/>
                </a:solidFill>
                <a:highlight>
                  <a:srgbClr val="FFD2C4"/>
                </a:highlight>
                <a:latin typeface="맑은 고딕"/>
                <a:ea typeface="맑은 고딕"/>
                <a:cs typeface="맑은 고딕"/>
              </a:rPr>
              <a:t>대학생의 78.3%</a:t>
            </a:r>
            <a:r>
              <a:rPr sz="2100" b="0" spc="-42" lang="ko-KR" altLang="en-US">
                <a:solidFill>
                  <a:srgbClr val="16171C"/>
                </a:solidFill>
                <a:latin typeface="맑은 고딕"/>
                <a:ea typeface="맑은 고딕"/>
                <a:cs typeface="맑은 고딕"/>
              </a:rPr>
              <a:t>가 생성형 AI가</a:t>
            </a:r>
            <a:br/>
            <a:r>
              <a:rPr sz="2100" b="0" spc="-42" lang="ko-KR" altLang="en-US">
                <a:solidFill>
                  <a:srgbClr val="16171C"/>
                </a:solidFill>
                <a:latin typeface="맑은 고딕"/>
                <a:ea typeface="맑은 고딕"/>
                <a:cs typeface="맑은 고딕"/>
              </a:rPr>
              <a:t>학습에 도움이 된다고 답했다. [3]</a:t>
            </a:r>
          </a:p>
        </p:txBody>
      </p:sp>
      <p:sp>
        <p:nvSpPr>
          <p:cNvPr id="9" name="Rounded Rectangle 8"/>
          <p:cNvSpPr/>
          <p:nvPr/>
        </p:nvSpPr>
        <p:spPr>
          <a:xfrm>
            <a:off x="6210300" y="1962150"/>
            <a:ext cx="5295900" cy="2971800"/>
          </a:xfrm>
          <a:prstGeom prst="roundRect">
            <a:avLst>
              <a:gd name="adj" fmla="val 5128"/>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원문 · 논문 C 2.2절</a:t>
            </a:r>
          </a:p>
        </p:txBody>
      </p:sp>
      <p:sp>
        <p:nvSpPr>
          <p:cNvPr id="11" name="TextBox 10"/>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비율은 모두 </a:t>
            </a:r>
            <a:r>
              <a:rPr sz="2100" b="0" spc="-42" lang="ko-KR" altLang="en-US">
                <a:solidFill>
                  <a:srgbClr val="16171C"/>
                </a:solidFill>
                <a:highlight>
                  <a:srgbClr val="C9EBD8"/>
                </a:highlight>
                <a:latin typeface="맑은 고딕"/>
                <a:ea typeface="맑은 고딕"/>
                <a:cs typeface="맑은 고딕"/>
              </a:rPr>
              <a:t>사용 경험이 있는 862명</a:t>
            </a:r>
            <a:r>
              <a:rPr sz="2100" b="0" spc="-42" lang="ko-KR" altLang="en-US">
                <a:solidFill>
                  <a:srgbClr val="16171C"/>
                </a:solidFill>
                <a:latin typeface="맑은 고딕"/>
                <a:ea typeface="맑은 고딕"/>
                <a:cs typeface="맑은 고딕"/>
              </a:rPr>
              <a:t>을</a:t>
            </a:r>
            <a:br/>
            <a:r>
              <a:rPr sz="2100" b="0" spc="-42" lang="ko-KR" altLang="en-US">
                <a:solidFill>
                  <a:srgbClr val="16171C"/>
                </a:solidFill>
                <a:latin typeface="맑은 고딕"/>
                <a:ea typeface="맑은 고딕"/>
                <a:cs typeface="맑은 고딕"/>
              </a:rPr>
              <a:t>기준으로 계산했다.</a:t>
            </a:r>
            <a:br/>
            <a:r>
              <a:rPr sz="2100" b="0" spc="-42" lang="ko-KR" altLang="en-US">
                <a:solidFill>
                  <a:srgbClr val="16171C"/>
                </a:solidFill>
                <a:latin typeface="맑은 고딕"/>
                <a:ea typeface="맑은 고딕"/>
                <a:cs typeface="맑은 고딕"/>
              </a:rPr>
              <a:t>전체 1,204명 기준으로는 </a:t>
            </a:r>
            <a:r>
              <a:rPr sz="2100" b="0" spc="-42" lang="ko-KR" altLang="en-US">
                <a:solidFill>
                  <a:srgbClr val="16171C"/>
                </a:solidFill>
                <a:highlight>
                  <a:srgbClr val="C9EBD8"/>
                </a:highlight>
                <a:latin typeface="맑은 고딕"/>
                <a:ea typeface="맑은 고딕"/>
                <a:cs typeface="맑은 고딕"/>
              </a:rPr>
              <a:t>56.1%</a:t>
            </a:r>
            <a:r>
              <a:rPr sz="2100" b="0" spc="-42" lang="ko-KR" altLang="en-US">
                <a:solidFill>
                  <a:srgbClr val="16171C"/>
                </a:solidFill>
                <a:latin typeface="맑은 고딕"/>
                <a:ea typeface="맑은 고딕"/>
                <a:cs typeface="맑은 고딕"/>
              </a:rPr>
              <a:t>다.</a:t>
            </a:r>
          </a:p>
        </p:txBody>
      </p:sp>
      <p:sp>
        <p:nvSpPr>
          <p:cNvPr id="12" name="TextBox 11"/>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B42318"/>
                </a:solidFill>
                <a:latin typeface="맑은 고딕"/>
                <a:ea typeface="맑은 고딕"/>
                <a:cs typeface="맑은 고딕"/>
              </a:rPr>
              <a:t>→ </a:t>
            </a:r>
            <a:r>
              <a:rPr sz="2400" b="1" spc="-48" lang="ko-KR" altLang="en-US">
                <a:solidFill>
                  <a:srgbClr val="16171C"/>
                </a:solidFill>
                <a:latin typeface="맑은 고딕"/>
                <a:ea typeface="맑은 고딕"/>
                <a:cs typeface="맑은 고딕"/>
              </a:rPr>
              <a:t>퍼센트는 '몇 명 중'인지까지 눌러서 확인합니다.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전체 질문은 사이트 #notebooklm-papers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23</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1-3 · 오디오 요약</a:t>
            </a:r>
          </a:p>
        </p:txBody>
      </p:sp>
      <p:sp>
        <p:nvSpPr>
          <p:cNvPr id="6" name="Rounded Rectangle 5"/>
          <p:cNvSpPr/>
          <p:nvPr/>
        </p:nvSpPr>
        <p:spPr>
          <a:xfrm>
            <a:off x="8534400" y="219075"/>
            <a:ext cx="2962275"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0" y="357188"/>
            <a:ext cx="133350" cy="1333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15400" y="219075"/>
            <a:ext cx="2505075"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7분 · Gemini Notebook</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학과 회의에서 틀어 줄 5분 오디오 요약을 만듭니다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0B7A4B"/>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오디오 개요 &gt; 맞춤설정</a:t>
            </a:r>
            <a:r>
              <a:rPr sz="2025" b="1" spc="-40" lang="ko-KR" altLang="en-US">
                <a:solidFill>
                  <a:srgbClr val="0B7A4B"/>
                </a:solidFill>
                <a:latin typeface="맑은 고딕"/>
                <a:ea typeface="맑은 고딕"/>
                <a:cs typeface="맑은 고딕"/>
              </a:rPr>
              <a:t>   →   </a:t>
            </a:r>
            <a:r>
              <a:rPr sz="2025" b="1" spc="-40" lang="ko-KR" altLang="en-US">
                <a:solidFill>
                  <a:srgbClr val="0B7A4B"/>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질문 2-3 붙여 넣기</a:t>
            </a:r>
            <a:r>
              <a:rPr sz="2025" b="1" spc="-40" lang="ko-KR" altLang="en-US">
                <a:solidFill>
                  <a:srgbClr val="0B7A4B"/>
                </a:solidFill>
                <a:latin typeface="맑은 고딕"/>
                <a:ea typeface="맑은 고딕"/>
                <a:cs typeface="맑은 고딕"/>
              </a:rPr>
              <a:t>   →   </a:t>
            </a:r>
            <a:r>
              <a:rPr sz="2025" b="1" spc="-40" lang="ko-KR" altLang="en-US">
                <a:solidFill>
                  <a:srgbClr val="0B7A4B"/>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앞부분 1–2분 듣기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학과 회의용 요약 진행자</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소스 5개만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과제 점수와 AI 없이 본 시험의 차이 중심, 시사점 2개</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인식 조사인 논문 C를 성적 근거로 쓰기</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ounded Rectangle 15"/>
          <p:cNvSpPr/>
          <p:nvPr/>
        </p:nvSpPr>
        <p:spPr>
          <a:xfrm>
            <a:off x="6438900" y="2933700"/>
            <a:ext cx="4838700" cy="476250"/>
          </a:xfrm>
          <a:prstGeom prst="roundRect">
            <a:avLst>
              <a:gd name="adj" fmla="val 5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534150" y="3000375"/>
            <a:ext cx="342900" cy="34290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3000375"/>
            <a:ext cx="342900" cy="342900"/>
          </a:xfrm>
          <a:prstGeom prst="rect">
            <a:avLst/>
          </a:prstGeom>
          <a:noFill/>
        </p:spPr>
        <p:txBody>
          <a:bodyPr wrap="square" lIns="0" tIns="0" rIns="0" bIns="0" anchor="ctr"/>
          <a:lstStyle/>
          <a:p>
            <a:pPr algn="ctr" latinLnBrk="0" eaLnBrk="1">
              <a:lnSpc>
                <a:spcPct val="100000"/>
              </a:lnSpc>
            </a:pPr>
            <a:r>
              <a:rPr sz="1800" b="0" spc="-36" lang="ko-KR" altLang="en-US">
                <a:solidFill>
                  <a:srgbClr val="FFFFFF"/>
                </a:solidFill>
                <a:latin typeface="맑은 고딕"/>
                <a:ea typeface="맑은 고딕"/>
                <a:cs typeface="맑은 고딕"/>
              </a:rPr>
              <a:t>▶</a:t>
            </a:r>
          </a:p>
        </p:txBody>
      </p:sp>
      <p:sp>
        <p:nvSpPr>
          <p:cNvPr id="19" name="Rounded Rectangle 18"/>
          <p:cNvSpPr/>
          <p:nvPr/>
        </p:nvSpPr>
        <p:spPr>
          <a:xfrm>
            <a:off x="7010400" y="3143250"/>
            <a:ext cx="3219450" cy="57150"/>
          </a:xfrm>
          <a:prstGeom prst="roundRect">
            <a:avLst>
              <a:gd name="adj" fmla="val 50000"/>
            </a:avLst>
          </a:prstGeom>
          <a:solidFill>
            <a:srgbClr val="B8D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010400" y="3143250"/>
            <a:ext cx="965835" cy="57150"/>
          </a:xfrm>
          <a:prstGeom prst="roundRect">
            <a:avLst>
              <a:gd name="adj" fmla="val 50000"/>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325100" y="2933700"/>
            <a:ext cx="857250" cy="476250"/>
          </a:xfrm>
          <a:prstGeom prst="rect">
            <a:avLst/>
          </a:prstGeom>
          <a:noFill/>
        </p:spPr>
        <p:txBody>
          <a:bodyPr wrap="square" lIns="0" tIns="0" rIns="0" bIns="0" anchor="ctr"/>
          <a:lstStyle/>
          <a:p>
            <a:pPr algn="r" latinLnBrk="0" eaLnBrk="1">
              <a:lnSpc>
                <a:spcPct val="100000"/>
              </a:lnSpc>
            </a:pPr>
            <a:r>
              <a:rPr sz="1800" b="0" spc="-36" lang="ko-KR" altLang="en-US">
                <a:solidFill>
                  <a:srgbClr val="3D3F48"/>
                </a:solidFill>
                <a:latin typeface="맑은 고딕"/>
                <a:ea typeface="맑은 고딕"/>
                <a:cs typeface="맑은 고딕"/>
              </a:rPr>
              <a:t>1:32</a:t>
            </a:r>
          </a:p>
        </p:txBody>
      </p:sp>
      <p:sp>
        <p:nvSpPr>
          <p:cNvPr id="22" name="TextBox 21"/>
          <p:cNvSpPr txBox="1"/>
          <p:nvPr/>
        </p:nvSpPr>
        <p:spPr>
          <a:xfrm>
            <a:off x="6515100" y="3638550"/>
            <a:ext cx="4686300" cy="438150"/>
          </a:xfrm>
          <a:prstGeom prst="rect">
            <a:avLst/>
          </a:prstGeom>
          <a:noFill/>
        </p:spPr>
        <p:txBody>
          <a:bodyPr wrap="square" lIns="0" tIns="0" rIns="0" bIns="0" anchor="ctr"/>
          <a:lstStyle/>
          <a:p>
            <a:pPr algn="l" latinLnBrk="0" eaLnBrk="1">
              <a:lnSpc>
                <a:spcPct val="100000"/>
              </a:lnSpc>
            </a:pPr>
            <a:r>
              <a:rPr sz="1800" b="1" spc="-36" lang="ko-KR" altLang="en-US">
                <a:solidFill>
                  <a:srgbClr val="0B7A4B"/>
                </a:solidFill>
                <a:latin typeface="맑은 고딕"/>
                <a:ea typeface="맑은 고딕"/>
                <a:cs typeface="맑은 고딕"/>
              </a:rPr>
              <a:t>진행자 A  </a:t>
            </a:r>
            <a:r>
              <a:rPr sz="1800" b="0" spc="-36" lang="ko-KR" altLang="en-US">
                <a:solidFill>
                  <a:srgbClr val="16171C"/>
                </a:solidFill>
                <a:latin typeface="맑은 고딕"/>
                <a:ea typeface="맑은 고딕"/>
                <a:cs typeface="맑은 고딕"/>
              </a:rPr>
              <a:t>과제 점수는 올랐지만…</a:t>
            </a:r>
          </a:p>
        </p:txBody>
      </p:sp>
      <p:sp>
        <p:nvSpPr>
          <p:cNvPr id="23" name="TextBox 22"/>
          <p:cNvSpPr txBox="1"/>
          <p:nvPr/>
        </p:nvSpPr>
        <p:spPr>
          <a:xfrm>
            <a:off x="6515100" y="4171950"/>
            <a:ext cx="4686300" cy="438150"/>
          </a:xfrm>
          <a:prstGeom prst="rect">
            <a:avLst/>
          </a:prstGeom>
          <a:noFill/>
        </p:spPr>
        <p:txBody>
          <a:bodyPr wrap="square" lIns="0" tIns="0" rIns="0" bIns="0" anchor="ctr"/>
          <a:lstStyle/>
          <a:p>
            <a:pPr algn="l" latinLnBrk="0" eaLnBrk="1">
              <a:lnSpc>
                <a:spcPct val="100000"/>
              </a:lnSpc>
            </a:pPr>
            <a:r>
              <a:rPr sz="1800" b="1" spc="-36" lang="ko-KR" altLang="en-US">
                <a:solidFill>
                  <a:srgbClr val="0B7A4B"/>
                </a:solidFill>
                <a:latin typeface="맑은 고딕"/>
                <a:ea typeface="맑은 고딕"/>
                <a:cs typeface="맑은 고딕"/>
              </a:rPr>
              <a:t>진행자 B  </a:t>
            </a:r>
            <a:r>
              <a:rPr sz="1800" b="0" spc="-36" lang="ko-KR" altLang="en-US">
                <a:solidFill>
                  <a:srgbClr val="16171C"/>
                </a:solidFill>
                <a:latin typeface="맑은 고딕"/>
                <a:ea typeface="맑은 고딕"/>
                <a:cs typeface="맑은 고딕"/>
              </a:rPr>
              <a:t>학생 78%가  도움이 된다고…</a:t>
            </a:r>
          </a:p>
        </p:txBody>
      </p:sp>
      <p:sp>
        <p:nvSpPr>
          <p:cNvPr id="24" name="TextBox 23"/>
          <p:cNvSpPr txBox="1"/>
          <p:nvPr/>
        </p:nvSpPr>
        <p:spPr>
          <a:xfrm>
            <a:off x="6515100" y="4705350"/>
            <a:ext cx="4686300" cy="438150"/>
          </a:xfrm>
          <a:prstGeom prst="rect">
            <a:avLst/>
          </a:prstGeom>
          <a:noFill/>
        </p:spPr>
        <p:txBody>
          <a:bodyPr wrap="square" lIns="0" tIns="0" rIns="0" bIns="0" anchor="ctr"/>
          <a:lstStyle/>
          <a:p>
            <a:pPr algn="l" latinLnBrk="0" eaLnBrk="1">
              <a:lnSpc>
                <a:spcPct val="100000"/>
              </a:lnSpc>
            </a:pPr>
            <a:r>
              <a:rPr sz="1800" b="1" spc="-36" lang="ko-KR" altLang="en-US">
                <a:solidFill>
                  <a:srgbClr val="0B7A4B"/>
                </a:solidFill>
                <a:latin typeface="맑은 고딕"/>
                <a:ea typeface="맑은 고딕"/>
                <a:cs typeface="맑은 고딕"/>
              </a:rPr>
              <a:t>진행자 A  </a:t>
            </a:r>
            <a:r>
              <a:rPr sz="1800" b="0" spc="-36" lang="ko-KR" altLang="en-US">
                <a:solidFill>
                  <a:srgbClr val="16171C"/>
                </a:solidFill>
                <a:latin typeface="맑은 고딕"/>
                <a:ea typeface="맑은 고딕"/>
                <a:cs typeface="맑은 고딕"/>
              </a:rPr>
              <a:t>시험은 거의 그대로…</a:t>
            </a:r>
          </a:p>
        </p:txBody>
      </p:sp>
      <p:sp>
        <p:nvSpPr>
          <p:cNvPr id="25" name="Rounded Rectangle 24"/>
          <p:cNvSpPr/>
          <p:nvPr/>
        </p:nvSpPr>
        <p:spPr>
          <a:xfrm>
            <a:off x="7467600" y="4191000"/>
            <a:ext cx="1333500" cy="400050"/>
          </a:xfrm>
          <a:prstGeom prst="roundRect">
            <a:avLst>
              <a:gd name="adj" fmla="val 50000"/>
            </a:avLst>
          </a:prstGeom>
          <a:noFill/>
          <a:ln w="33337">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0B7A4B"/>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'학생 78%'가 어떤 기준으로 나오는가?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1 · 정리 · 66–70분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24</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정리 · 가상 논문 5편이 함께 말하는 것</a:t>
            </a:r>
          </a:p>
        </p:txBody>
      </p:sp>
      <p:sp>
        <p:nvSpPr>
          <p:cNvPr id="5" name="TextBox 4"/>
          <p:cNvSpPr txBox="1"/>
          <p:nvPr/>
        </p:nvSpPr>
        <p:spPr>
          <a:xfrm>
            <a:off x="685800" y="1047750"/>
            <a:ext cx="10820400" cy="1905000"/>
          </a:xfrm>
          <a:prstGeom prst="rect">
            <a:avLst/>
          </a:prstGeom>
          <a:noFill/>
        </p:spPr>
        <p:txBody>
          <a:bodyPr wrap="square" lIns="0" tIns="0" rIns="0" bIns="0" anchor="t"/>
          <a:lstStyle/>
          <a:p>
            <a:pPr algn="l" latinLnBrk="0" eaLnBrk="1">
              <a:lnSpc>
                <a:spcPct val="125000"/>
              </a:lnSpc>
            </a:pPr>
            <a:r>
              <a:rPr sz="4050" b="1" spc="-81" lang="ko-KR" altLang="en-US">
                <a:solidFill>
                  <a:srgbClr val="16171C"/>
                </a:solidFill>
                <a:latin typeface="맑은 고딕"/>
                <a:ea typeface="맑은 고딕"/>
                <a:cs typeface="맑은 고딕"/>
              </a:rPr>
              <a:t>과제 점수는 올랐고,</a:t>
            </a:r>
            <a:br/>
            <a:r>
              <a:rPr sz="4050" b="1" spc="-81" lang="ko-KR" altLang="en-US">
                <a:solidFill>
                  <a:srgbClr val="16171C"/>
                </a:solidFill>
                <a:latin typeface="맑은 고딕"/>
                <a:ea typeface="맑은 고딕"/>
                <a:cs typeface="맑은 고딕"/>
              </a:rPr>
              <a:t>혼자 치른 시험은 거의 그대로였습니다</a:t>
            </a:r>
          </a:p>
        </p:txBody>
      </p:sp>
      <p:sp>
        <p:nvSpPr>
          <p:cNvPr id="6" name="Rounded Rectangle 5"/>
          <p:cNvSpPr/>
          <p:nvPr/>
        </p:nvSpPr>
        <p:spPr>
          <a:xfrm>
            <a:off x="685800" y="3143250"/>
            <a:ext cx="3454400" cy="2000250"/>
          </a:xfrm>
          <a:prstGeom prst="roundRect">
            <a:avLst>
              <a:gd name="adj" fmla="val 7619"/>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85800" y="3143250"/>
            <a:ext cx="95250" cy="2000250"/>
          </a:xfrm>
          <a:prstGeom prst="rect">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8700" y="3390900"/>
            <a:ext cx="2882900" cy="666750"/>
          </a:xfrm>
          <a:prstGeom prst="rect">
            <a:avLst/>
          </a:prstGeom>
          <a:noFill/>
        </p:spPr>
        <p:txBody>
          <a:bodyPr wrap="square" lIns="0" tIns="0" rIns="0" bIns="0" anchor="t"/>
          <a:lstStyle/>
          <a:p>
            <a:pPr algn="l" latinLnBrk="0" eaLnBrk="1">
              <a:lnSpc>
                <a:spcPct val="100000"/>
              </a:lnSpc>
            </a:pPr>
            <a:r>
              <a:rPr sz="3900" b="1" spc="-78" lang="ko-KR" altLang="en-US">
                <a:solidFill>
                  <a:srgbClr val="0B7A4B"/>
                </a:solidFill>
                <a:latin typeface="맑은 고딕"/>
                <a:ea typeface="맑은 고딕"/>
                <a:cs typeface="맑은 고딕"/>
              </a:rPr>
              <a:t>+0.8점</a:t>
            </a:r>
          </a:p>
        </p:txBody>
      </p:sp>
      <p:sp>
        <p:nvSpPr>
          <p:cNvPr id="9" name="TextBox 8"/>
          <p:cNvSpPr txBox="1"/>
          <p:nvPr/>
        </p:nvSpPr>
        <p:spPr>
          <a:xfrm>
            <a:off x="1028700" y="4191000"/>
            <a:ext cx="2882900" cy="85725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논문 B · AI 없이 본 시험</a:t>
            </a:r>
            <a:br/>
            <a:r>
              <a:rPr sz="1950" b="0" spc="-39" lang="ko-KR" altLang="en-US">
                <a:solidFill>
                  <a:srgbClr val="3D3F48"/>
                </a:solidFill>
                <a:latin typeface="맑은 고딕"/>
                <a:ea typeface="맑은 고딕"/>
                <a:cs typeface="맑은 고딕"/>
              </a:rPr>
              <a:t>(p=.61, 차이 없음)</a:t>
            </a:r>
          </a:p>
        </p:txBody>
      </p:sp>
      <p:sp>
        <p:nvSpPr>
          <p:cNvPr id="10" name="Rounded Rectangle 9"/>
          <p:cNvSpPr/>
          <p:nvPr/>
        </p:nvSpPr>
        <p:spPr>
          <a:xfrm>
            <a:off x="4368800" y="3143250"/>
            <a:ext cx="3454400" cy="2000250"/>
          </a:xfrm>
          <a:prstGeom prst="roundRect">
            <a:avLst>
              <a:gd name="adj" fmla="val 7619"/>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68800" y="3143250"/>
            <a:ext cx="95250" cy="2000250"/>
          </a:xfrm>
          <a:prstGeom prst="rect">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11700" y="3390900"/>
            <a:ext cx="2882900" cy="666750"/>
          </a:xfrm>
          <a:prstGeom prst="rect">
            <a:avLst/>
          </a:prstGeom>
          <a:noFill/>
        </p:spPr>
        <p:txBody>
          <a:bodyPr wrap="square" lIns="0" tIns="0" rIns="0" bIns="0" anchor="t"/>
          <a:lstStyle/>
          <a:p>
            <a:pPr algn="l" latinLnBrk="0" eaLnBrk="1">
              <a:lnSpc>
                <a:spcPct val="100000"/>
              </a:lnSpc>
            </a:pPr>
            <a:r>
              <a:rPr sz="3900" b="1" spc="-78" lang="ko-KR" altLang="en-US">
                <a:solidFill>
                  <a:srgbClr val="0B7A4B"/>
                </a:solidFill>
                <a:latin typeface="맑은 고딕"/>
                <a:ea typeface="맑은 고딕"/>
                <a:cs typeface="맑은 고딕"/>
              </a:rPr>
              <a:t>g = 0.12</a:t>
            </a:r>
          </a:p>
        </p:txBody>
      </p:sp>
      <p:sp>
        <p:nvSpPr>
          <p:cNvPr id="13" name="TextBox 12"/>
          <p:cNvSpPr txBox="1"/>
          <p:nvPr/>
        </p:nvSpPr>
        <p:spPr>
          <a:xfrm>
            <a:off x="4711700" y="4191000"/>
            <a:ext cx="2882900" cy="85725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논문 E · 시험 효과</a:t>
            </a:r>
            <a:br/>
            <a:r>
              <a:rPr sz="1950" b="0" spc="-39" lang="ko-KR" altLang="en-US">
                <a:solidFill>
                  <a:srgbClr val="3D3F48"/>
                </a:solidFill>
                <a:latin typeface="맑은 고딕"/>
                <a:ea typeface="맑은 고딕"/>
                <a:cs typeface="맑은 고딕"/>
              </a:rPr>
              <a:t>(신뢰구간 0 포함)</a:t>
            </a:r>
          </a:p>
        </p:txBody>
      </p:sp>
      <p:sp>
        <p:nvSpPr>
          <p:cNvPr id="14" name="Rounded Rectangle 13"/>
          <p:cNvSpPr/>
          <p:nvPr/>
        </p:nvSpPr>
        <p:spPr>
          <a:xfrm>
            <a:off x="8051800" y="3143250"/>
            <a:ext cx="3454400" cy="2000250"/>
          </a:xfrm>
          <a:prstGeom prst="roundRect">
            <a:avLst>
              <a:gd name="adj" fmla="val 7619"/>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051800" y="3143250"/>
            <a:ext cx="95250" cy="2000250"/>
          </a:xfrm>
          <a:prstGeom prst="rect">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94700" y="3390900"/>
            <a:ext cx="2882900" cy="666750"/>
          </a:xfrm>
          <a:prstGeom prst="rect">
            <a:avLst/>
          </a:prstGeom>
          <a:noFill/>
        </p:spPr>
        <p:txBody>
          <a:bodyPr wrap="square" lIns="0" tIns="0" rIns="0" bIns="0" anchor="t"/>
          <a:lstStyle/>
          <a:p>
            <a:pPr algn="l" latinLnBrk="0" eaLnBrk="1">
              <a:lnSpc>
                <a:spcPct val="100000"/>
              </a:lnSpc>
            </a:pPr>
            <a:r>
              <a:rPr sz="3900" b="1" spc="-78" lang="ko-KR" altLang="en-US">
                <a:solidFill>
                  <a:srgbClr val="0B7A4B"/>
                </a:solidFill>
                <a:latin typeface="맑은 고딕"/>
                <a:ea typeface="맑은 고딕"/>
                <a:cs typeface="맑은 고딕"/>
              </a:rPr>
              <a:t>+6.8점</a:t>
            </a:r>
          </a:p>
        </p:txBody>
      </p:sp>
      <p:sp>
        <p:nvSpPr>
          <p:cNvPr id="17" name="TextBox 16"/>
          <p:cNvSpPr txBox="1"/>
          <p:nvPr/>
        </p:nvSpPr>
        <p:spPr>
          <a:xfrm>
            <a:off x="8394700" y="4191000"/>
            <a:ext cx="2882900" cy="857250"/>
          </a:xfrm>
          <a:prstGeom prst="rect">
            <a:avLst/>
          </a:prstGeom>
          <a:noFill/>
        </p:spPr>
        <p:txBody>
          <a:bodyPr wrap="square" lIns="0" tIns="0" rIns="0" bIns="0" anchor="t"/>
          <a:lstStyle/>
          <a:p>
            <a:pPr algn="l" latinLnBrk="0" eaLnBrk="1">
              <a:lnSpc>
                <a:spcPct val="130000"/>
              </a:lnSpc>
            </a:pPr>
            <a:r>
              <a:rPr sz="1950" b="0" spc="-39" lang="ko-KR" altLang="en-US">
                <a:solidFill>
                  <a:srgbClr val="3D3F48"/>
                </a:solidFill>
                <a:latin typeface="맑은 고딕"/>
                <a:ea typeface="맑은 고딕"/>
                <a:cs typeface="맑은 고딕"/>
              </a:rPr>
              <a:t>논문 D · 금지한 반보다</a:t>
            </a:r>
            <a:br/>
            <a:r>
              <a:rPr sz="1950" b="0" spc="-39" lang="ko-KR" altLang="en-US">
                <a:solidFill>
                  <a:srgbClr val="3D3F48"/>
                </a:solidFill>
                <a:latin typeface="맑은 고딕"/>
                <a:ea typeface="맑은 고딕"/>
                <a:cs typeface="맑은 고딕"/>
              </a:rPr>
              <a:t>사용법을 안내한 반</a:t>
            </a:r>
          </a:p>
        </p:txBody>
      </p:sp>
      <p:sp>
        <p:nvSpPr>
          <p:cNvPr id="18" name="TextBox 17"/>
          <p:cNvSpPr txBox="1"/>
          <p:nvPr/>
        </p:nvSpPr>
        <p:spPr>
          <a:xfrm>
            <a:off x="685800" y="5486400"/>
            <a:ext cx="10820400" cy="762000"/>
          </a:xfrm>
          <a:prstGeom prst="rect">
            <a:avLst/>
          </a:prstGeom>
          <a:noFill/>
        </p:spPr>
        <p:txBody>
          <a:bodyPr wrap="square" lIns="0" tIns="0" rIns="0" bIns="0" anchor="t"/>
          <a:lstStyle/>
          <a:p>
            <a:pPr algn="l" latinLnBrk="0" eaLnBrk="1">
              <a:lnSpc>
                <a:spcPct val="120000"/>
              </a:lnSpc>
            </a:pPr>
            <a:r>
              <a:rPr sz="2400" b="1" spc="-48" lang="ko-KR" altLang="en-US">
                <a:solidFill>
                  <a:srgbClr val="0B7A4B"/>
                </a:solidFill>
                <a:latin typeface="맑은 고딕"/>
                <a:ea typeface="맑은 고딕"/>
                <a:cs typeface="맑은 고딕"/>
              </a:rPr>
              <a:t>→ </a:t>
            </a:r>
            <a:r>
              <a:rPr sz="2400" b="1" spc="-48" lang="ko-KR" altLang="en-US">
                <a:solidFill>
                  <a:srgbClr val="16171C"/>
                </a:solidFill>
                <a:latin typeface="맑은 고딕"/>
                <a:ea typeface="맑은 고딕"/>
                <a:cs typeface="맑은 고딕"/>
              </a:rPr>
              <a:t>인용은 누르기 전까지 확인한 것이 아닙니다.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C2410C"/>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실습 2 · 70–105분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25</a:t>
            </a:r>
          </a:p>
        </p:txBody>
      </p:sp>
      <p:sp>
        <p:nvSpPr>
          <p:cNvPr id="4" name="TextBox 3"/>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FFF"/>
                </a:solidFill>
                <a:latin typeface="맑은 고딕"/>
                <a:ea typeface="맑은 고딕"/>
                <a:cs typeface="맑은 고딕"/>
              </a:rPr>
              <a:t>실습 2 · 70–105분 · 강의평가 180개</a:t>
            </a:r>
          </a:p>
        </p:txBody>
      </p:sp>
      <p:sp>
        <p:nvSpPr>
          <p:cNvPr id="5" name="TextBox 4"/>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FFF"/>
                </a:solidFill>
                <a:latin typeface="맑은 고딕"/>
                <a:ea typeface="맑은 고딕"/>
                <a:cs typeface="맑은 고딕"/>
              </a:rPr>
              <a:t>Claude</a:t>
            </a:r>
          </a:p>
        </p:txBody>
      </p:sp>
      <p:sp>
        <p:nvSpPr>
          <p:cNvPr id="6" name="TextBox 5"/>
          <p:cNvSpPr txBox="1"/>
          <p:nvPr/>
        </p:nvSpPr>
        <p:spPr>
          <a:xfrm>
            <a:off x="685800" y="28765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FFF"/>
                </a:solidFill>
                <a:latin typeface="맑은 고딕"/>
                <a:ea typeface="맑은 고딕"/>
                <a:cs typeface="맑은 고딕"/>
              </a:rPr>
              <a:t>긴 자료를 읽고 세고 나눈 뒤</a:t>
            </a:r>
            <a:br/>
            <a:r>
              <a:rPr sz="2250" b="0" spc="-45" lang="ko-KR" altLang="en-US">
                <a:solidFill>
                  <a:srgbClr val="FFFFFF"/>
                </a:solidFill>
                <a:latin typeface="맑은 고딕"/>
                <a:ea typeface="맑은 고딕"/>
                <a:cs typeface="맑은 고딕"/>
              </a:rPr>
              <a:t>초안을 씁니다.</a:t>
            </a:r>
          </a:p>
        </p:txBody>
      </p:sp>
      <p:sp>
        <p:nvSpPr>
          <p:cNvPr id="7" name="Rounded Rectangle 6"/>
          <p:cNvSpPr/>
          <p:nvPr/>
        </p:nvSpPr>
        <p:spPr>
          <a:xfrm>
            <a:off x="7810500" y="1428750"/>
            <a:ext cx="3695700" cy="3619500"/>
          </a:xfrm>
          <a:prstGeom prst="roundRect">
            <a:avLst>
              <a:gd name="adj" fmla="val 5263"/>
            </a:avLst>
          </a:prstGeom>
          <a:solidFill>
            <a:srgbClr val="9A3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FFF"/>
                </a:solidFill>
                <a:latin typeface="맑은 고딕"/>
                <a:ea typeface="맑은 고딕"/>
                <a:cs typeface="맑은 고딕"/>
              </a:rPr>
              <a:t>이 시간에 할 일</a:t>
            </a:r>
          </a:p>
        </p:txBody>
      </p:sp>
      <p:sp>
        <p:nvSpPr>
          <p:cNvPr id="9" name="Oval 8"/>
          <p:cNvSpPr/>
          <p:nvPr/>
        </p:nvSpPr>
        <p:spPr>
          <a:xfrm>
            <a:off x="8115300" y="22860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C2410C"/>
                </a:solidFill>
                <a:latin typeface="맑은 고딕"/>
                <a:ea typeface="맑은 고딕"/>
                <a:cs typeface="맑은 고딕"/>
              </a:rPr>
              <a:t>1</a:t>
            </a:r>
          </a:p>
        </p:txBody>
      </p:sp>
      <p:sp>
        <p:nvSpPr>
          <p:cNvPr id="11" name="TextBox 10"/>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개인정보부터 찾기</a:t>
            </a:r>
          </a:p>
        </p:txBody>
      </p:sp>
      <p:sp>
        <p:nvSpPr>
          <p:cNvPr id="12" name="Oval 11"/>
          <p:cNvSpPr/>
          <p:nvPr/>
        </p:nvSpPr>
        <p:spPr>
          <a:xfrm>
            <a:off x="8115300" y="32004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C2410C"/>
                </a:solidFill>
                <a:latin typeface="맑은 고딕"/>
                <a:ea typeface="맑은 고딕"/>
                <a:cs typeface="맑은 고딕"/>
              </a:rPr>
              <a:t>2</a:t>
            </a:r>
          </a:p>
        </p:txBody>
      </p:sp>
      <p:sp>
        <p:nvSpPr>
          <p:cNvPr id="14" name="TextBox 13"/>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주제별로 세기</a:t>
            </a:r>
          </a:p>
        </p:txBody>
      </p:sp>
      <p:sp>
        <p:nvSpPr>
          <p:cNvPr id="15" name="Oval 14"/>
          <p:cNvSpPr/>
          <p:nvPr/>
        </p:nvSpPr>
        <p:spPr>
          <a:xfrm>
            <a:off x="8115300" y="41148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C2410C"/>
                </a:solidFill>
                <a:latin typeface="맑은 고딕"/>
                <a:ea typeface="맑은 고딕"/>
                <a:cs typeface="맑은 고딕"/>
              </a:rPr>
              <a:t>3</a:t>
            </a:r>
          </a:p>
        </p:txBody>
      </p:sp>
      <p:sp>
        <p:nvSpPr>
          <p:cNvPr id="17" name="TextBox 16"/>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다음 학기 계획·공지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Claude · 70–105분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26</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왜 이 도구인가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180개를 끝까지 읽고 세는 일은 AI에게 맡깁니다</a:t>
            </a:r>
          </a:p>
        </p:txBody>
      </p:sp>
      <p:sp>
        <p:nvSpPr>
          <p:cNvPr id="6" name="Rounded Rectangle 5"/>
          <p:cNvSpPr/>
          <p:nvPr/>
        </p:nvSpPr>
        <p:spPr>
          <a:xfrm>
            <a:off x="685800" y="1866900"/>
            <a:ext cx="4953000" cy="4000500"/>
          </a:xfrm>
          <a:prstGeom prst="roundRect">
            <a:avLst>
              <a:gd name="adj" fmla="val 4285"/>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90600" y="2095500"/>
            <a:ext cx="438150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혼자 읽으면</a:t>
            </a:r>
          </a:p>
        </p:txBody>
      </p:sp>
      <p:sp>
        <p:nvSpPr>
          <p:cNvPr id="8" name="Rounded Rectangle 7"/>
          <p:cNvSpPr/>
          <p:nvPr/>
        </p:nvSpPr>
        <p:spPr>
          <a:xfrm>
            <a:off x="99060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13760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8460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43160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57861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725613"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87261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01961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16662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31362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46062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260762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75463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290163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04863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19563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34264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348964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63664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78364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393065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07765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422465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437165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451866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466566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812665"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4959668"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5106670"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5253672" y="262890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9060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13760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28460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43160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157861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725613"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87261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201961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216662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231362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246062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260762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275463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290163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304863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319563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34264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348964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363664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378364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393065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unded Rectangle 58"/>
          <p:cNvSpPr/>
          <p:nvPr/>
        </p:nvSpPr>
        <p:spPr>
          <a:xfrm>
            <a:off x="407765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422465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437165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ounded Rectangle 61"/>
          <p:cNvSpPr/>
          <p:nvPr/>
        </p:nvSpPr>
        <p:spPr>
          <a:xfrm>
            <a:off x="451866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ounded Rectangle 62"/>
          <p:cNvSpPr/>
          <p:nvPr/>
        </p:nvSpPr>
        <p:spPr>
          <a:xfrm>
            <a:off x="466566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ounded Rectangle 63"/>
          <p:cNvSpPr/>
          <p:nvPr/>
        </p:nvSpPr>
        <p:spPr>
          <a:xfrm>
            <a:off x="4812665"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unded Rectangle 64"/>
          <p:cNvSpPr/>
          <p:nvPr/>
        </p:nvSpPr>
        <p:spPr>
          <a:xfrm>
            <a:off x="4959668"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5106670"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5253672" y="284638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ounded Rectangle 67"/>
          <p:cNvSpPr/>
          <p:nvPr/>
        </p:nvSpPr>
        <p:spPr>
          <a:xfrm>
            <a:off x="99060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unded Rectangle 68"/>
          <p:cNvSpPr/>
          <p:nvPr/>
        </p:nvSpPr>
        <p:spPr>
          <a:xfrm>
            <a:off x="113760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ounded Rectangle 69"/>
          <p:cNvSpPr/>
          <p:nvPr/>
        </p:nvSpPr>
        <p:spPr>
          <a:xfrm>
            <a:off x="128460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ounded Rectangle 70"/>
          <p:cNvSpPr/>
          <p:nvPr/>
        </p:nvSpPr>
        <p:spPr>
          <a:xfrm>
            <a:off x="143160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ounded Rectangle 71"/>
          <p:cNvSpPr/>
          <p:nvPr/>
        </p:nvSpPr>
        <p:spPr>
          <a:xfrm>
            <a:off x="157861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1725613"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ounded Rectangle 73"/>
          <p:cNvSpPr/>
          <p:nvPr/>
        </p:nvSpPr>
        <p:spPr>
          <a:xfrm>
            <a:off x="187261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ounded Rectangle 74"/>
          <p:cNvSpPr/>
          <p:nvPr/>
        </p:nvSpPr>
        <p:spPr>
          <a:xfrm>
            <a:off x="201961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216662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ounded Rectangle 76"/>
          <p:cNvSpPr/>
          <p:nvPr/>
        </p:nvSpPr>
        <p:spPr>
          <a:xfrm>
            <a:off x="231362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246062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a:off x="260762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ounded Rectangle 79"/>
          <p:cNvSpPr/>
          <p:nvPr/>
        </p:nvSpPr>
        <p:spPr>
          <a:xfrm>
            <a:off x="275463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unded Rectangle 80"/>
          <p:cNvSpPr/>
          <p:nvPr/>
        </p:nvSpPr>
        <p:spPr>
          <a:xfrm>
            <a:off x="290163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ounded Rectangle 81"/>
          <p:cNvSpPr/>
          <p:nvPr/>
        </p:nvSpPr>
        <p:spPr>
          <a:xfrm>
            <a:off x="304863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ounded Rectangle 82"/>
          <p:cNvSpPr/>
          <p:nvPr/>
        </p:nvSpPr>
        <p:spPr>
          <a:xfrm>
            <a:off x="319563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ounded Rectangle 83"/>
          <p:cNvSpPr/>
          <p:nvPr/>
        </p:nvSpPr>
        <p:spPr>
          <a:xfrm>
            <a:off x="334264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ounded Rectangle 84"/>
          <p:cNvSpPr/>
          <p:nvPr/>
        </p:nvSpPr>
        <p:spPr>
          <a:xfrm>
            <a:off x="348964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ounded Rectangle 85"/>
          <p:cNvSpPr/>
          <p:nvPr/>
        </p:nvSpPr>
        <p:spPr>
          <a:xfrm>
            <a:off x="363664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ounded Rectangle 86"/>
          <p:cNvSpPr/>
          <p:nvPr/>
        </p:nvSpPr>
        <p:spPr>
          <a:xfrm>
            <a:off x="378364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ounded Rectangle 87"/>
          <p:cNvSpPr/>
          <p:nvPr/>
        </p:nvSpPr>
        <p:spPr>
          <a:xfrm>
            <a:off x="393065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ounded Rectangle 88"/>
          <p:cNvSpPr/>
          <p:nvPr/>
        </p:nvSpPr>
        <p:spPr>
          <a:xfrm>
            <a:off x="407765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422465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unded Rectangle 90"/>
          <p:cNvSpPr/>
          <p:nvPr/>
        </p:nvSpPr>
        <p:spPr>
          <a:xfrm>
            <a:off x="437165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ounded Rectangle 91"/>
          <p:cNvSpPr/>
          <p:nvPr/>
        </p:nvSpPr>
        <p:spPr>
          <a:xfrm>
            <a:off x="451866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ounded Rectangle 92"/>
          <p:cNvSpPr/>
          <p:nvPr/>
        </p:nvSpPr>
        <p:spPr>
          <a:xfrm>
            <a:off x="466566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ounded Rectangle 93"/>
          <p:cNvSpPr/>
          <p:nvPr/>
        </p:nvSpPr>
        <p:spPr>
          <a:xfrm>
            <a:off x="4812665"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unded Rectangle 94"/>
          <p:cNvSpPr/>
          <p:nvPr/>
        </p:nvSpPr>
        <p:spPr>
          <a:xfrm>
            <a:off x="4959668"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ounded Rectangle 95"/>
          <p:cNvSpPr/>
          <p:nvPr/>
        </p:nvSpPr>
        <p:spPr>
          <a:xfrm>
            <a:off x="5106670"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ounded Rectangle 96"/>
          <p:cNvSpPr/>
          <p:nvPr/>
        </p:nvSpPr>
        <p:spPr>
          <a:xfrm>
            <a:off x="5253672" y="3063875"/>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99060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113760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128460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ounded Rectangle 100"/>
          <p:cNvSpPr/>
          <p:nvPr/>
        </p:nvSpPr>
        <p:spPr>
          <a:xfrm>
            <a:off x="143160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ounded Rectangle 101"/>
          <p:cNvSpPr/>
          <p:nvPr/>
        </p:nvSpPr>
        <p:spPr>
          <a:xfrm>
            <a:off x="157861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ounded Rectangle 102"/>
          <p:cNvSpPr/>
          <p:nvPr/>
        </p:nvSpPr>
        <p:spPr>
          <a:xfrm>
            <a:off x="1725613"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ounded Rectangle 103"/>
          <p:cNvSpPr/>
          <p:nvPr/>
        </p:nvSpPr>
        <p:spPr>
          <a:xfrm>
            <a:off x="187261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201961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216662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ounded Rectangle 106"/>
          <p:cNvSpPr/>
          <p:nvPr/>
        </p:nvSpPr>
        <p:spPr>
          <a:xfrm>
            <a:off x="231362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246062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ounded Rectangle 108"/>
          <p:cNvSpPr/>
          <p:nvPr/>
        </p:nvSpPr>
        <p:spPr>
          <a:xfrm>
            <a:off x="260762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ounded Rectangle 109"/>
          <p:cNvSpPr/>
          <p:nvPr/>
        </p:nvSpPr>
        <p:spPr>
          <a:xfrm>
            <a:off x="275463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ounded Rectangle 110"/>
          <p:cNvSpPr/>
          <p:nvPr/>
        </p:nvSpPr>
        <p:spPr>
          <a:xfrm>
            <a:off x="290163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ounded Rectangle 111"/>
          <p:cNvSpPr/>
          <p:nvPr/>
        </p:nvSpPr>
        <p:spPr>
          <a:xfrm>
            <a:off x="304863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319563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ounded Rectangle 113"/>
          <p:cNvSpPr/>
          <p:nvPr/>
        </p:nvSpPr>
        <p:spPr>
          <a:xfrm>
            <a:off x="334264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ounded Rectangle 114"/>
          <p:cNvSpPr/>
          <p:nvPr/>
        </p:nvSpPr>
        <p:spPr>
          <a:xfrm>
            <a:off x="348964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ounded Rectangle 115"/>
          <p:cNvSpPr/>
          <p:nvPr/>
        </p:nvSpPr>
        <p:spPr>
          <a:xfrm>
            <a:off x="363664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378364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393065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ounded Rectangle 118"/>
          <p:cNvSpPr/>
          <p:nvPr/>
        </p:nvSpPr>
        <p:spPr>
          <a:xfrm>
            <a:off x="407765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ounded Rectangle 119"/>
          <p:cNvSpPr/>
          <p:nvPr/>
        </p:nvSpPr>
        <p:spPr>
          <a:xfrm>
            <a:off x="422465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437165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ounded Rectangle 121"/>
          <p:cNvSpPr/>
          <p:nvPr/>
        </p:nvSpPr>
        <p:spPr>
          <a:xfrm>
            <a:off x="451866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466566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ounded Rectangle 123"/>
          <p:cNvSpPr/>
          <p:nvPr/>
        </p:nvSpPr>
        <p:spPr>
          <a:xfrm>
            <a:off x="4812665"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ounded Rectangle 124"/>
          <p:cNvSpPr/>
          <p:nvPr/>
        </p:nvSpPr>
        <p:spPr>
          <a:xfrm>
            <a:off x="4959668"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ounded Rectangle 125"/>
          <p:cNvSpPr/>
          <p:nvPr/>
        </p:nvSpPr>
        <p:spPr>
          <a:xfrm>
            <a:off x="5106670"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ounded Rectangle 126"/>
          <p:cNvSpPr/>
          <p:nvPr/>
        </p:nvSpPr>
        <p:spPr>
          <a:xfrm>
            <a:off x="5253672" y="3281362"/>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ounded Rectangle 127"/>
          <p:cNvSpPr/>
          <p:nvPr/>
        </p:nvSpPr>
        <p:spPr>
          <a:xfrm>
            <a:off x="99060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113760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ounded Rectangle 129"/>
          <p:cNvSpPr/>
          <p:nvPr/>
        </p:nvSpPr>
        <p:spPr>
          <a:xfrm>
            <a:off x="128460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ounded Rectangle 130"/>
          <p:cNvSpPr/>
          <p:nvPr/>
        </p:nvSpPr>
        <p:spPr>
          <a:xfrm>
            <a:off x="143160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ounded Rectangle 131"/>
          <p:cNvSpPr/>
          <p:nvPr/>
        </p:nvSpPr>
        <p:spPr>
          <a:xfrm>
            <a:off x="157861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ounded Rectangle 132"/>
          <p:cNvSpPr/>
          <p:nvPr/>
        </p:nvSpPr>
        <p:spPr>
          <a:xfrm>
            <a:off x="1725613"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ounded Rectangle 133"/>
          <p:cNvSpPr/>
          <p:nvPr/>
        </p:nvSpPr>
        <p:spPr>
          <a:xfrm>
            <a:off x="187261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ounded Rectangle 134"/>
          <p:cNvSpPr/>
          <p:nvPr/>
        </p:nvSpPr>
        <p:spPr>
          <a:xfrm>
            <a:off x="201961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ounded Rectangle 135"/>
          <p:cNvSpPr/>
          <p:nvPr/>
        </p:nvSpPr>
        <p:spPr>
          <a:xfrm>
            <a:off x="216662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ounded Rectangle 136"/>
          <p:cNvSpPr/>
          <p:nvPr/>
        </p:nvSpPr>
        <p:spPr>
          <a:xfrm>
            <a:off x="231362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ounded Rectangle 137"/>
          <p:cNvSpPr/>
          <p:nvPr/>
        </p:nvSpPr>
        <p:spPr>
          <a:xfrm>
            <a:off x="246062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ounded Rectangle 138"/>
          <p:cNvSpPr/>
          <p:nvPr/>
        </p:nvSpPr>
        <p:spPr>
          <a:xfrm>
            <a:off x="260762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ounded Rectangle 139"/>
          <p:cNvSpPr/>
          <p:nvPr/>
        </p:nvSpPr>
        <p:spPr>
          <a:xfrm>
            <a:off x="275463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ounded Rectangle 140"/>
          <p:cNvSpPr/>
          <p:nvPr/>
        </p:nvSpPr>
        <p:spPr>
          <a:xfrm>
            <a:off x="290163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ounded Rectangle 141"/>
          <p:cNvSpPr/>
          <p:nvPr/>
        </p:nvSpPr>
        <p:spPr>
          <a:xfrm>
            <a:off x="304863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ounded Rectangle 142"/>
          <p:cNvSpPr/>
          <p:nvPr/>
        </p:nvSpPr>
        <p:spPr>
          <a:xfrm>
            <a:off x="319563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ounded Rectangle 143"/>
          <p:cNvSpPr/>
          <p:nvPr/>
        </p:nvSpPr>
        <p:spPr>
          <a:xfrm>
            <a:off x="334264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348964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ounded Rectangle 145"/>
          <p:cNvSpPr/>
          <p:nvPr/>
        </p:nvSpPr>
        <p:spPr>
          <a:xfrm>
            <a:off x="363664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378364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ounded Rectangle 147"/>
          <p:cNvSpPr/>
          <p:nvPr/>
        </p:nvSpPr>
        <p:spPr>
          <a:xfrm>
            <a:off x="393065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ounded Rectangle 148"/>
          <p:cNvSpPr/>
          <p:nvPr/>
        </p:nvSpPr>
        <p:spPr>
          <a:xfrm>
            <a:off x="407765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422465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ounded Rectangle 150"/>
          <p:cNvSpPr/>
          <p:nvPr/>
        </p:nvSpPr>
        <p:spPr>
          <a:xfrm>
            <a:off x="437165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ounded Rectangle 151"/>
          <p:cNvSpPr/>
          <p:nvPr/>
        </p:nvSpPr>
        <p:spPr>
          <a:xfrm>
            <a:off x="451866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ounded Rectangle 152"/>
          <p:cNvSpPr/>
          <p:nvPr/>
        </p:nvSpPr>
        <p:spPr>
          <a:xfrm>
            <a:off x="466566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4812665"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959668"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ounded Rectangle 155"/>
          <p:cNvSpPr/>
          <p:nvPr/>
        </p:nvSpPr>
        <p:spPr>
          <a:xfrm>
            <a:off x="5106670"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ounded Rectangle 156"/>
          <p:cNvSpPr/>
          <p:nvPr/>
        </p:nvSpPr>
        <p:spPr>
          <a:xfrm>
            <a:off x="5253672" y="3498850"/>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ounded Rectangle 157"/>
          <p:cNvSpPr/>
          <p:nvPr/>
        </p:nvSpPr>
        <p:spPr>
          <a:xfrm>
            <a:off x="99060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113760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ounded Rectangle 159"/>
          <p:cNvSpPr/>
          <p:nvPr/>
        </p:nvSpPr>
        <p:spPr>
          <a:xfrm>
            <a:off x="128460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143160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157861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1725613"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ounded Rectangle 163"/>
          <p:cNvSpPr/>
          <p:nvPr/>
        </p:nvSpPr>
        <p:spPr>
          <a:xfrm>
            <a:off x="187261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ounded Rectangle 164"/>
          <p:cNvSpPr/>
          <p:nvPr/>
        </p:nvSpPr>
        <p:spPr>
          <a:xfrm>
            <a:off x="201961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ounded Rectangle 165"/>
          <p:cNvSpPr/>
          <p:nvPr/>
        </p:nvSpPr>
        <p:spPr>
          <a:xfrm>
            <a:off x="216662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ounded Rectangle 166"/>
          <p:cNvSpPr/>
          <p:nvPr/>
        </p:nvSpPr>
        <p:spPr>
          <a:xfrm>
            <a:off x="231362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ounded Rectangle 167"/>
          <p:cNvSpPr/>
          <p:nvPr/>
        </p:nvSpPr>
        <p:spPr>
          <a:xfrm>
            <a:off x="246062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260762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ounded Rectangle 169"/>
          <p:cNvSpPr/>
          <p:nvPr/>
        </p:nvSpPr>
        <p:spPr>
          <a:xfrm>
            <a:off x="275463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290163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ounded Rectangle 171"/>
          <p:cNvSpPr/>
          <p:nvPr/>
        </p:nvSpPr>
        <p:spPr>
          <a:xfrm>
            <a:off x="304863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ounded Rectangle 172"/>
          <p:cNvSpPr/>
          <p:nvPr/>
        </p:nvSpPr>
        <p:spPr>
          <a:xfrm>
            <a:off x="319563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ounded Rectangle 173"/>
          <p:cNvSpPr/>
          <p:nvPr/>
        </p:nvSpPr>
        <p:spPr>
          <a:xfrm>
            <a:off x="334264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ounded Rectangle 174"/>
          <p:cNvSpPr/>
          <p:nvPr/>
        </p:nvSpPr>
        <p:spPr>
          <a:xfrm>
            <a:off x="348964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ounded Rectangle 175"/>
          <p:cNvSpPr/>
          <p:nvPr/>
        </p:nvSpPr>
        <p:spPr>
          <a:xfrm>
            <a:off x="363664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ounded Rectangle 176"/>
          <p:cNvSpPr/>
          <p:nvPr/>
        </p:nvSpPr>
        <p:spPr>
          <a:xfrm>
            <a:off x="378364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393065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407765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ounded Rectangle 179"/>
          <p:cNvSpPr/>
          <p:nvPr/>
        </p:nvSpPr>
        <p:spPr>
          <a:xfrm>
            <a:off x="422465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ounded Rectangle 180"/>
          <p:cNvSpPr/>
          <p:nvPr/>
        </p:nvSpPr>
        <p:spPr>
          <a:xfrm>
            <a:off x="437165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ounded Rectangle 181"/>
          <p:cNvSpPr/>
          <p:nvPr/>
        </p:nvSpPr>
        <p:spPr>
          <a:xfrm>
            <a:off x="451866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ounded Rectangle 182"/>
          <p:cNvSpPr/>
          <p:nvPr/>
        </p:nvSpPr>
        <p:spPr>
          <a:xfrm>
            <a:off x="466566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ounded Rectangle 183"/>
          <p:cNvSpPr/>
          <p:nvPr/>
        </p:nvSpPr>
        <p:spPr>
          <a:xfrm>
            <a:off x="4812665"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ounded Rectangle 184"/>
          <p:cNvSpPr/>
          <p:nvPr/>
        </p:nvSpPr>
        <p:spPr>
          <a:xfrm>
            <a:off x="4959668"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5106670"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ounded Rectangle 186"/>
          <p:cNvSpPr/>
          <p:nvPr/>
        </p:nvSpPr>
        <p:spPr>
          <a:xfrm>
            <a:off x="5253672" y="3716338"/>
            <a:ext cx="80328" cy="150812"/>
          </a:xfrm>
          <a:prstGeom prst="roundRect">
            <a:avLst>
              <a:gd name="adj" fmla="val 35573"/>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990600" y="4095750"/>
            <a:ext cx="4381500" cy="11430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앞의 몇 개만 읽고 인상으로</a:t>
            </a:r>
            <a:br/>
            <a:r>
              <a:rPr sz="2100" b="0" spc="-42" lang="ko-KR" altLang="en-US">
                <a:solidFill>
                  <a:srgbClr val="3D3F48"/>
                </a:solidFill>
                <a:latin typeface="맑은 고딕"/>
                <a:ea typeface="맑은 고딕"/>
                <a:cs typeface="맑은 고딕"/>
              </a:rPr>
              <a:t>판단하기 쉽습니다.</a:t>
            </a:r>
          </a:p>
        </p:txBody>
      </p:sp>
      <p:sp>
        <p:nvSpPr>
          <p:cNvPr id="189" name="TextBox 188"/>
          <p:cNvSpPr txBox="1"/>
          <p:nvPr/>
        </p:nvSpPr>
        <p:spPr>
          <a:xfrm>
            <a:off x="990600" y="5334000"/>
            <a:ext cx="4381500" cy="381000"/>
          </a:xfrm>
          <a:prstGeom prst="rect">
            <a:avLst/>
          </a:prstGeom>
          <a:noFill/>
        </p:spPr>
        <p:txBody>
          <a:bodyPr wrap="square" lIns="0" tIns="0" rIns="0" bIns="0" anchor="t"/>
          <a:lstStyle/>
          <a:p>
            <a:pPr algn="l" latinLnBrk="0" eaLnBrk="1">
              <a:lnSpc>
                <a:spcPct val="100000"/>
              </a:lnSpc>
            </a:pPr>
            <a:r>
              <a:rPr sz="1950" b="1" spc="-39" lang="ko-KR" altLang="en-US">
                <a:solidFill>
                  <a:srgbClr val="3D3F48"/>
                </a:solidFill>
                <a:latin typeface="맑은 고딕"/>
                <a:ea typeface="맑은 고딕"/>
                <a:cs typeface="맑은 고딕"/>
              </a:rPr>
              <a:t>걸린 시간 ______분</a:t>
            </a:r>
          </a:p>
        </p:txBody>
      </p:sp>
      <p:sp>
        <p:nvSpPr>
          <p:cNvPr id="190" name="TextBox 189"/>
          <p:cNvSpPr txBox="1"/>
          <p:nvPr/>
        </p:nvSpPr>
        <p:spPr>
          <a:xfrm>
            <a:off x="5676900" y="3429000"/>
            <a:ext cx="495300" cy="571500"/>
          </a:xfrm>
          <a:prstGeom prst="rect">
            <a:avLst/>
          </a:prstGeom>
          <a:noFill/>
        </p:spPr>
        <p:txBody>
          <a:bodyPr wrap="square" lIns="0" tIns="0" rIns="0" bIns="0" anchor="t"/>
          <a:lstStyle/>
          <a:p>
            <a:pPr algn="ctr" latinLnBrk="0" eaLnBrk="1">
              <a:lnSpc>
                <a:spcPct val="100000"/>
              </a:lnSpc>
            </a:pPr>
            <a:r>
              <a:rPr sz="3300" b="1" spc="-66" lang="ko-KR" altLang="en-US">
                <a:solidFill>
                  <a:srgbClr val="C2410C"/>
                </a:solidFill>
                <a:latin typeface="맑은 고딕"/>
                <a:ea typeface="맑은 고딕"/>
                <a:cs typeface="맑은 고딕"/>
              </a:rPr>
              <a:t>→</a:t>
            </a:r>
          </a:p>
        </p:txBody>
      </p:sp>
      <p:sp>
        <p:nvSpPr>
          <p:cNvPr id="191" name="Rounded Rectangle 190"/>
          <p:cNvSpPr/>
          <p:nvPr/>
        </p:nvSpPr>
        <p:spPr>
          <a:xfrm>
            <a:off x="6210300" y="1866900"/>
            <a:ext cx="5295900" cy="4000500"/>
          </a:xfrm>
          <a:prstGeom prst="roundRect">
            <a:avLst>
              <a:gd name="adj" fmla="val 4285"/>
            </a:avLst>
          </a:prstGeom>
          <a:solidFill>
            <a:srgbClr val="FFFFFF"/>
          </a:solidFill>
          <a:ln w="285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6515100" y="2095500"/>
            <a:ext cx="4667250" cy="3810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Claude가 먼저 읽으면</a:t>
            </a:r>
          </a:p>
        </p:txBody>
      </p:sp>
      <p:sp>
        <p:nvSpPr>
          <p:cNvPr id="193" name="Rounded Rectangle 192"/>
          <p:cNvSpPr/>
          <p:nvPr/>
        </p:nvSpPr>
        <p:spPr>
          <a:xfrm>
            <a:off x="6515100" y="2628900"/>
            <a:ext cx="4686300" cy="666750"/>
          </a:xfrm>
          <a:prstGeom prst="roundRect">
            <a:avLst>
              <a:gd name="adj" fmla="val 14285"/>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Box 193"/>
          <p:cNvSpPr txBox="1"/>
          <p:nvPr/>
        </p:nvSpPr>
        <p:spPr>
          <a:xfrm>
            <a:off x="6705600" y="262890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① 개인정보 든 응답부터</a:t>
            </a:r>
          </a:p>
        </p:txBody>
      </p:sp>
      <p:sp>
        <p:nvSpPr>
          <p:cNvPr id="195" name="Rounded Rectangle 194"/>
          <p:cNvSpPr/>
          <p:nvPr/>
        </p:nvSpPr>
        <p:spPr>
          <a:xfrm>
            <a:off x="6515100" y="3409950"/>
            <a:ext cx="4686300" cy="666750"/>
          </a:xfrm>
          <a:prstGeom prst="roundRect">
            <a:avLst>
              <a:gd name="adj" fmla="val 14285"/>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TextBox 195"/>
          <p:cNvSpPr txBox="1"/>
          <p:nvPr/>
        </p:nvSpPr>
        <p:spPr>
          <a:xfrm>
            <a:off x="6705600" y="340995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② 주제별로 나눠 세기</a:t>
            </a:r>
          </a:p>
        </p:txBody>
      </p:sp>
      <p:sp>
        <p:nvSpPr>
          <p:cNvPr id="197" name="Rounded Rectangle 196"/>
          <p:cNvSpPr/>
          <p:nvPr/>
        </p:nvSpPr>
        <p:spPr>
          <a:xfrm>
            <a:off x="6515100" y="4191000"/>
            <a:ext cx="4686300" cy="666750"/>
          </a:xfrm>
          <a:prstGeom prst="roundRect">
            <a:avLst>
              <a:gd name="adj" fmla="val 14285"/>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6705600" y="4191000"/>
            <a:ext cx="43815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③ 바꿀 것은 교수님이</a:t>
            </a:r>
          </a:p>
        </p:txBody>
      </p:sp>
      <p:sp>
        <p:nvSpPr>
          <p:cNvPr id="199" name="TextBox 198"/>
          <p:cNvSpPr txBox="1"/>
          <p:nvPr/>
        </p:nvSpPr>
        <p:spPr>
          <a:xfrm>
            <a:off x="6515100" y="5334000"/>
            <a:ext cx="4667250" cy="381000"/>
          </a:xfrm>
          <a:prstGeom prst="rect">
            <a:avLst/>
          </a:prstGeom>
          <a:noFill/>
        </p:spPr>
        <p:txBody>
          <a:bodyPr wrap="square" lIns="0" tIns="0" rIns="0" bIns="0" anchor="t"/>
          <a:lstStyle/>
          <a:p>
            <a:pPr algn="l" latinLnBrk="0" eaLnBrk="1">
              <a:lnSpc>
                <a:spcPct val="100000"/>
              </a:lnSpc>
            </a:pPr>
            <a:r>
              <a:rPr sz="1950" b="1" spc="-39" lang="ko-KR" altLang="en-US">
                <a:solidFill>
                  <a:srgbClr val="3D3F48"/>
                </a:solidFill>
                <a:latin typeface="맑은 고딕"/>
                <a:ea typeface="맑은 고딕"/>
                <a:cs typeface="맑은 고딕"/>
              </a:rPr>
              <a:t>걸린 시간 ______분 (오늘 실측)</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전체 질문은 사이트 #claude-evaluations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27</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2-1 · 주제 분류</a:t>
            </a:r>
          </a:p>
        </p:txBody>
      </p:sp>
      <p:sp>
        <p:nvSpPr>
          <p:cNvPr id="6" name="Rounded Rectangle 5"/>
          <p:cNvSpPr/>
          <p:nvPr/>
        </p:nvSpPr>
        <p:spPr>
          <a:xfrm>
            <a:off x="9435084" y="219075"/>
            <a:ext cx="2066925"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87484" y="357188"/>
            <a:ext cx="133350" cy="13335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16084" y="219075"/>
            <a:ext cx="1609725"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12분 · Claude</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응답 180개를 주제별로 나누고 개수를 셉니다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C2410C"/>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CSV 올리기 (깨져 보여도 그대로)</a:t>
            </a:r>
            <a:r>
              <a:rPr sz="2025" b="1" spc="-40" lang="ko-KR" altLang="en-US">
                <a:solidFill>
                  <a:srgbClr val="C2410C"/>
                </a:solidFill>
                <a:latin typeface="맑은 고딕"/>
                <a:ea typeface="맑은 고딕"/>
                <a:cs typeface="맑은 고딕"/>
              </a:rPr>
              <a:t>   →   </a:t>
            </a:r>
            <a:r>
              <a:rPr sz="2025" b="1" spc="-40" lang="ko-KR" altLang="en-US">
                <a:solidFill>
                  <a:srgbClr val="C2410C"/>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질문 3-1</a:t>
            </a:r>
            <a:r>
              <a:rPr sz="2025" b="1" spc="-40" lang="ko-KR" altLang="en-US">
                <a:solidFill>
                  <a:srgbClr val="C2410C"/>
                </a:solidFill>
                <a:latin typeface="맑은 고딕"/>
                <a:ea typeface="맑은 고딕"/>
                <a:cs typeface="맑은 고딕"/>
              </a:rPr>
              <a:t>   →   </a:t>
            </a:r>
            <a:r>
              <a:rPr sz="2025" b="1" spc="-40" lang="ko-KR" altLang="en-US">
                <a:solidFill>
                  <a:srgbClr val="C2410C"/>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응답 수 더하기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수업 개선을 돕는 교육 컨설턴트</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CSV의 응답 180개만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개인정보 든 응답번호 먼저, 주제 10~14개 표, 합 180</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개인정보 옮기기, 무관한 응답을 개선점으로</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주제</a:t>
            </a:r>
          </a:p>
        </p:txBody>
      </p:sp>
      <p:sp>
        <p:nvSpPr>
          <p:cNvPr id="18" name="TextBox 17"/>
          <p:cNvSpPr txBox="1"/>
          <p:nvPr/>
        </p:nvSpPr>
        <p:spPr>
          <a:xfrm>
            <a:off x="10134600" y="2895600"/>
            <a:ext cx="1104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응답 수</a:t>
            </a:r>
          </a:p>
        </p:txBody>
      </p:sp>
      <p:sp>
        <p:nvSpPr>
          <p:cNvPr id="19" name="Rectangle 18"/>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34150" y="329565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실습·실제 데이터</a:t>
            </a:r>
          </a:p>
        </p:txBody>
      </p:sp>
      <p:sp>
        <p:nvSpPr>
          <p:cNvPr id="21" name="TextBox 20"/>
          <p:cNvSpPr txBox="1"/>
          <p:nvPr/>
        </p:nvSpPr>
        <p:spPr>
          <a:xfrm>
            <a:off x="10134600" y="32956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26</a:t>
            </a:r>
          </a:p>
        </p:txBody>
      </p:sp>
      <p:sp>
        <p:nvSpPr>
          <p:cNvPr id="22" name="Rectangle 21"/>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34150" y="369570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설명이 친절함</a:t>
            </a:r>
          </a:p>
        </p:txBody>
      </p:sp>
      <p:sp>
        <p:nvSpPr>
          <p:cNvPr id="24" name="TextBox 23"/>
          <p:cNvSpPr txBox="1"/>
          <p:nvPr/>
        </p:nvSpPr>
        <p:spPr>
          <a:xfrm>
            <a:off x="10134600" y="36957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26</a:t>
            </a:r>
          </a:p>
        </p:txBody>
      </p:sp>
      <p:sp>
        <p:nvSpPr>
          <p:cNvPr id="25" name="Rectangle 24"/>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4150" y="409575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진도가 빠름</a:t>
            </a:r>
          </a:p>
        </p:txBody>
      </p:sp>
      <p:sp>
        <p:nvSpPr>
          <p:cNvPr id="27" name="TextBox 26"/>
          <p:cNvSpPr txBox="1"/>
          <p:nvPr/>
        </p:nvSpPr>
        <p:spPr>
          <a:xfrm>
            <a:off x="10134600" y="40957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14</a:t>
            </a:r>
          </a:p>
        </p:txBody>
      </p:sp>
      <p:sp>
        <p:nvSpPr>
          <p:cNvPr id="28" name="Rectangle 27"/>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34150" y="449580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 (10~14개)</a:t>
            </a:r>
          </a:p>
        </p:txBody>
      </p:sp>
      <p:sp>
        <p:nvSpPr>
          <p:cNvPr id="30" name="TextBox 29"/>
          <p:cNvSpPr txBox="1"/>
          <p:nvPr/>
        </p:nvSpPr>
        <p:spPr>
          <a:xfrm>
            <a:off x="10134600" y="44958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1" name="Rectangle 30"/>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34150" y="489585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합계</a:t>
            </a:r>
          </a:p>
        </p:txBody>
      </p:sp>
      <p:sp>
        <p:nvSpPr>
          <p:cNvPr id="33" name="TextBox 32"/>
          <p:cNvSpPr txBox="1"/>
          <p:nvPr/>
        </p:nvSpPr>
        <p:spPr>
          <a:xfrm>
            <a:off x="10134600" y="48958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180?</a:t>
            </a:r>
          </a:p>
        </p:txBody>
      </p:sp>
      <p:sp>
        <p:nvSpPr>
          <p:cNvPr id="34" name="Rounded Rectangle 33"/>
          <p:cNvSpPr/>
          <p:nvPr/>
        </p:nvSpPr>
        <p:spPr>
          <a:xfrm>
            <a:off x="10058400" y="4924425"/>
            <a:ext cx="1200150" cy="342900"/>
          </a:xfrm>
          <a:prstGeom prst="roundRect">
            <a:avLst>
              <a:gd name="adj" fmla="val 50000"/>
            </a:avLst>
          </a:prstGeom>
          <a:noFill/>
          <a:ln w="33337">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C2410C"/>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표의 응답 수를 모두 더하면 180인가?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Claude · 70–105분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28</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화면 재현 · 정답 기준</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개인정보가 든 응답 6개를 먼저 찾아 결과에서 뺍니다</a:t>
            </a:r>
          </a:p>
        </p:txBody>
      </p:sp>
      <p:sp>
        <p:nvSpPr>
          <p:cNvPr id="6" name="Rounded Rectangle 5"/>
          <p:cNvSpPr/>
          <p:nvPr/>
        </p:nvSpPr>
        <p:spPr>
          <a:xfrm>
            <a:off x="685800" y="1962150"/>
            <a:ext cx="6858000" cy="4191000"/>
          </a:xfrm>
          <a:prstGeom prst="roundRect">
            <a:avLst>
              <a:gd name="adj" fmla="val 3636"/>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85800" y="1962150"/>
            <a:ext cx="6858000" cy="552450"/>
          </a:xfrm>
          <a:prstGeom prst="roundRect">
            <a:avLst>
              <a:gd name="adj" fmla="val 27586"/>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2286000"/>
            <a:ext cx="6858000" cy="22860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95350" y="2171700"/>
            <a:ext cx="133350" cy="133350"/>
          </a:xfrm>
          <a:prstGeom prst="ellipse">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3950" y="2171700"/>
            <a:ext cx="133350" cy="133350"/>
          </a:xfrm>
          <a:prstGeom prst="ellipse">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52550" y="2171700"/>
            <a:ext cx="133350" cy="133350"/>
          </a:xfrm>
          <a:prstGeom prst="ellipse">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733550" y="1962150"/>
            <a:ext cx="5715000" cy="5524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Claude · 03_강의평가_서술형응답.csv</a:t>
            </a:r>
          </a:p>
        </p:txBody>
      </p:sp>
      <p:sp>
        <p:nvSpPr>
          <p:cNvPr id="13" name="TextBox 12"/>
          <p:cNvSpPr txBox="1"/>
          <p:nvPr/>
        </p:nvSpPr>
        <p:spPr>
          <a:xfrm>
            <a:off x="990600" y="2743200"/>
            <a:ext cx="6286500" cy="381000"/>
          </a:xfrm>
          <a:prstGeom prst="rect">
            <a:avLst/>
          </a:prstGeom>
          <a:noFill/>
        </p:spPr>
        <p:txBody>
          <a:bodyPr wrap="square" lIns="0" tIns="0" rIns="0" bIns="0" anchor="t"/>
          <a:lstStyle/>
          <a:p>
            <a:pPr algn="l" latinLnBrk="0" eaLnBrk="1">
              <a:lnSpc>
                <a:spcPct val="100000"/>
              </a:lnSpc>
            </a:pPr>
            <a:r>
              <a:rPr sz="2100" b="1" spc="-42" lang="ko-KR" altLang="en-US">
                <a:solidFill>
                  <a:srgbClr val="16171C"/>
                </a:solidFill>
                <a:latin typeface="맑은 고딕"/>
                <a:ea typeface="맑은 고딕"/>
                <a:cs typeface="맑은 고딕"/>
              </a:rPr>
              <a:t>개인정보가 들어간 응답</a:t>
            </a:r>
          </a:p>
        </p:txBody>
      </p:sp>
      <p:sp>
        <p:nvSpPr>
          <p:cNvPr id="14" name="Rounded Rectangle 13"/>
          <p:cNvSpPr/>
          <p:nvPr/>
        </p:nvSpPr>
        <p:spPr>
          <a:xfrm>
            <a:off x="990600" y="3295650"/>
            <a:ext cx="3009900" cy="723900"/>
          </a:xfrm>
          <a:prstGeom prst="roundRect">
            <a:avLst>
              <a:gd name="adj" fmla="val 13157"/>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32956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C2410C"/>
                </a:solidFill>
                <a:latin typeface="맑은 고딕"/>
                <a:ea typeface="맑은 고딕"/>
                <a:cs typeface="맑은 고딕"/>
              </a:rPr>
              <a:t>R031  </a:t>
            </a:r>
            <a:r>
              <a:rPr sz="1950" b="0" spc="-39" lang="ko-KR" altLang="en-US">
                <a:solidFill>
                  <a:srgbClr val="16171C"/>
                </a:solidFill>
                <a:latin typeface="맑은 고딕"/>
                <a:ea typeface="맑은 고딕"/>
                <a:cs typeface="맑은 고딕"/>
              </a:rPr>
              <a:t>전화번호</a:t>
            </a:r>
          </a:p>
        </p:txBody>
      </p:sp>
      <p:sp>
        <p:nvSpPr>
          <p:cNvPr id="16" name="Rounded Rectangle 15"/>
          <p:cNvSpPr/>
          <p:nvPr/>
        </p:nvSpPr>
        <p:spPr>
          <a:xfrm>
            <a:off x="990600" y="4171950"/>
            <a:ext cx="3009900" cy="723900"/>
          </a:xfrm>
          <a:prstGeom prst="roundRect">
            <a:avLst>
              <a:gd name="adj" fmla="val 13157"/>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81100" y="41719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C2410C"/>
                </a:solidFill>
                <a:latin typeface="맑은 고딕"/>
                <a:ea typeface="맑은 고딕"/>
                <a:cs typeface="맑은 고딕"/>
              </a:rPr>
              <a:t>R101  </a:t>
            </a:r>
            <a:r>
              <a:rPr sz="1950" b="0" spc="-39" lang="ko-KR" altLang="en-US">
                <a:solidFill>
                  <a:srgbClr val="16171C"/>
                </a:solidFill>
                <a:latin typeface="맑은 고딕"/>
                <a:ea typeface="맑은 고딕"/>
                <a:cs typeface="맑은 고딕"/>
              </a:rPr>
              <a:t>다른 학생 이름</a:t>
            </a:r>
          </a:p>
        </p:txBody>
      </p:sp>
      <p:sp>
        <p:nvSpPr>
          <p:cNvPr id="18" name="Rounded Rectangle 17"/>
          <p:cNvSpPr/>
          <p:nvPr/>
        </p:nvSpPr>
        <p:spPr>
          <a:xfrm>
            <a:off x="990600" y="5048250"/>
            <a:ext cx="3009900" cy="723900"/>
          </a:xfrm>
          <a:prstGeom prst="roundRect">
            <a:avLst>
              <a:gd name="adj" fmla="val 13157"/>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1100" y="50482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C2410C"/>
                </a:solidFill>
                <a:latin typeface="맑은 고딕"/>
                <a:ea typeface="맑은 고딕"/>
                <a:cs typeface="맑은 고딕"/>
              </a:rPr>
              <a:t>R114  </a:t>
            </a:r>
            <a:r>
              <a:rPr sz="1950" b="0" spc="-39" lang="ko-KR" altLang="en-US">
                <a:solidFill>
                  <a:srgbClr val="16171C"/>
                </a:solidFill>
                <a:latin typeface="맑은 고딕"/>
                <a:ea typeface="맑은 고딕"/>
                <a:cs typeface="맑은 고딕"/>
              </a:rPr>
              <a:t>다른 학생 2명</a:t>
            </a:r>
          </a:p>
        </p:txBody>
      </p:sp>
      <p:sp>
        <p:nvSpPr>
          <p:cNvPr id="20" name="Rounded Rectangle 19"/>
          <p:cNvSpPr/>
          <p:nvPr/>
        </p:nvSpPr>
        <p:spPr>
          <a:xfrm>
            <a:off x="4191000" y="3295650"/>
            <a:ext cx="3009900" cy="723900"/>
          </a:xfrm>
          <a:prstGeom prst="roundRect">
            <a:avLst>
              <a:gd name="adj" fmla="val 13157"/>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381500" y="32956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C2410C"/>
                </a:solidFill>
                <a:latin typeface="맑은 고딕"/>
                <a:ea typeface="맑은 고딕"/>
                <a:cs typeface="맑은 고딕"/>
              </a:rPr>
              <a:t>R146  </a:t>
            </a:r>
            <a:r>
              <a:rPr sz="1950" b="0" spc="-39" lang="ko-KR" altLang="en-US">
                <a:solidFill>
                  <a:srgbClr val="16171C"/>
                </a:solidFill>
                <a:latin typeface="맑은 고딕"/>
                <a:ea typeface="맑은 고딕"/>
                <a:cs typeface="맑은 고딕"/>
              </a:rPr>
              <a:t>학번·전화번호</a:t>
            </a:r>
          </a:p>
        </p:txBody>
      </p:sp>
      <p:sp>
        <p:nvSpPr>
          <p:cNvPr id="22" name="Rounded Rectangle 21"/>
          <p:cNvSpPr/>
          <p:nvPr/>
        </p:nvSpPr>
        <p:spPr>
          <a:xfrm>
            <a:off x="4191000" y="4171950"/>
            <a:ext cx="3009900" cy="723900"/>
          </a:xfrm>
          <a:prstGeom prst="roundRect">
            <a:avLst>
              <a:gd name="adj" fmla="val 13157"/>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81500" y="41719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C2410C"/>
                </a:solidFill>
                <a:latin typeface="맑은 고딕"/>
                <a:ea typeface="맑은 고딕"/>
                <a:cs typeface="맑은 고딕"/>
              </a:rPr>
              <a:t>R158  </a:t>
            </a:r>
            <a:r>
              <a:rPr sz="1950" b="0" spc="-39" lang="ko-KR" altLang="en-US">
                <a:solidFill>
                  <a:srgbClr val="16171C"/>
                </a:solidFill>
                <a:latin typeface="맑은 고딕"/>
                <a:ea typeface="맑은 고딕"/>
                <a:cs typeface="맑은 고딕"/>
              </a:rPr>
              <a:t>본인 이름·메일</a:t>
            </a:r>
          </a:p>
        </p:txBody>
      </p:sp>
      <p:sp>
        <p:nvSpPr>
          <p:cNvPr id="24" name="Rounded Rectangle 23"/>
          <p:cNvSpPr/>
          <p:nvPr/>
        </p:nvSpPr>
        <p:spPr>
          <a:xfrm>
            <a:off x="4191000" y="5048250"/>
            <a:ext cx="3009900" cy="723900"/>
          </a:xfrm>
          <a:prstGeom prst="roundRect">
            <a:avLst>
              <a:gd name="adj" fmla="val 13157"/>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381500" y="50482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C2410C"/>
                </a:solidFill>
                <a:latin typeface="맑은 고딕"/>
                <a:ea typeface="맑은 고딕"/>
                <a:cs typeface="맑은 고딕"/>
              </a:rPr>
              <a:t>R166  </a:t>
            </a:r>
            <a:r>
              <a:rPr sz="1950" b="0" spc="-39" lang="ko-KR" altLang="en-US">
                <a:solidFill>
                  <a:srgbClr val="16171C"/>
                </a:solidFill>
                <a:latin typeface="맑은 고딕"/>
                <a:ea typeface="맑은 고딕"/>
                <a:cs typeface="맑은 고딕"/>
              </a:rPr>
              <a:t>건강 정보</a:t>
            </a:r>
          </a:p>
        </p:txBody>
      </p:sp>
      <p:sp>
        <p:nvSpPr>
          <p:cNvPr id="26" name="Oval 25"/>
          <p:cNvSpPr/>
          <p:nvPr/>
        </p:nvSpPr>
        <p:spPr>
          <a:xfrm>
            <a:off x="7905750" y="2247900"/>
            <a:ext cx="495300" cy="495300"/>
          </a:xfrm>
          <a:prstGeom prst="ellipse">
            <a:avLst/>
          </a:prstGeom>
          <a:solidFill>
            <a:srgbClr val="C2410C"/>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05750" y="22479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1</a:t>
            </a:r>
          </a:p>
        </p:txBody>
      </p:sp>
      <p:sp>
        <p:nvSpPr>
          <p:cNvPr id="28" name="TextBox 27"/>
          <p:cNvSpPr txBox="1"/>
          <p:nvPr/>
        </p:nvSpPr>
        <p:spPr>
          <a:xfrm>
            <a:off x="8534400" y="2247900"/>
            <a:ext cx="2971800" cy="1333500"/>
          </a:xfrm>
          <a:prstGeom prst="rect">
            <a:avLst/>
          </a:prstGeom>
          <a:noFill/>
        </p:spPr>
        <p:txBody>
          <a:bodyPr wrap="square" lIns="0" tIns="0" rIns="0" bIns="0" anchor="t"/>
          <a:lstStyle/>
          <a:p>
            <a:pPr algn="l" latinLnBrk="0" eaLnBrk="1">
              <a:lnSpc>
                <a:spcPct val="130000"/>
              </a:lnSpc>
            </a:pPr>
            <a:r>
              <a:rPr sz="2100" b="1" spc="-42" lang="ko-KR" altLang="en-US">
                <a:solidFill>
                  <a:srgbClr val="16171C"/>
                </a:solidFill>
                <a:latin typeface="맑은 고딕"/>
                <a:ea typeface="맑은 고딕"/>
                <a:cs typeface="맑은 고딕"/>
              </a:rPr>
              <a:t>번호만 적고</a:t>
            </a:r>
            <a:br/>
            <a:r>
              <a:rPr sz="2100" b="1" spc="-42" lang="ko-KR" altLang="en-US">
                <a:solidFill>
                  <a:srgbClr val="16171C"/>
                </a:solidFill>
                <a:latin typeface="맑은 고딕"/>
                <a:ea typeface="맑은 고딕"/>
                <a:cs typeface="맑은 고딕"/>
              </a:rPr>
              <a:t>내용은 옮기지</a:t>
            </a:r>
            <a:br/>
            <a:r>
              <a:rPr sz="2100" b="1" spc="-42" lang="ko-KR" altLang="en-US">
                <a:solidFill>
                  <a:srgbClr val="16171C"/>
                </a:solidFill>
                <a:latin typeface="맑은 고딕"/>
                <a:ea typeface="맑은 고딕"/>
                <a:cs typeface="맑은 고딕"/>
              </a:rPr>
              <a:t>않게 합니다</a:t>
            </a:r>
          </a:p>
        </p:txBody>
      </p:sp>
      <p:sp>
        <p:nvSpPr>
          <p:cNvPr id="29" name="Oval 28"/>
          <p:cNvSpPr/>
          <p:nvPr/>
        </p:nvSpPr>
        <p:spPr>
          <a:xfrm>
            <a:off x="7905750" y="4057650"/>
            <a:ext cx="495300" cy="495300"/>
          </a:xfrm>
          <a:prstGeom prst="ellipse">
            <a:avLst/>
          </a:prstGeom>
          <a:solidFill>
            <a:srgbClr val="C2410C"/>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05750" y="405765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2</a:t>
            </a:r>
          </a:p>
        </p:txBody>
      </p:sp>
      <p:sp>
        <p:nvSpPr>
          <p:cNvPr id="31" name="TextBox 30"/>
          <p:cNvSpPr txBox="1"/>
          <p:nvPr/>
        </p:nvSpPr>
        <p:spPr>
          <a:xfrm>
            <a:off x="8534400" y="4057650"/>
            <a:ext cx="2971800" cy="1714500"/>
          </a:xfrm>
          <a:prstGeom prst="rect">
            <a:avLst/>
          </a:prstGeom>
          <a:noFill/>
        </p:spPr>
        <p:txBody>
          <a:bodyPr wrap="square" lIns="0" tIns="0" rIns="0" bIns="0" anchor="t"/>
          <a:lstStyle/>
          <a:p>
            <a:pPr algn="l" latinLnBrk="0" eaLnBrk="1">
              <a:lnSpc>
                <a:spcPct val="130000"/>
              </a:lnSpc>
            </a:pPr>
            <a:r>
              <a:rPr sz="2100" b="1" spc="-42" lang="ko-KR" altLang="en-US">
                <a:solidFill>
                  <a:srgbClr val="16171C"/>
                </a:solidFill>
                <a:latin typeface="맑은 고딕"/>
                <a:ea typeface="맑은 고딕"/>
                <a:cs typeface="맑은 고딕"/>
              </a:rPr>
              <a:t>건강 정보도</a:t>
            </a:r>
            <a:br/>
            <a:r>
              <a:rPr sz="2100" b="1" spc="-42" lang="ko-KR" altLang="en-US">
                <a:solidFill>
                  <a:srgbClr val="16171C"/>
                </a:solidFill>
                <a:latin typeface="맑은 고딕"/>
                <a:ea typeface="맑은 고딕"/>
                <a:cs typeface="맑은 고딕"/>
              </a:rPr>
              <a:t>개인정보입니다</a:t>
            </a:r>
            <a:br/>
            <a:r>
              <a:rPr sz="2100" b="1" spc="-42" lang="ko-KR" altLang="en-US">
                <a:solidFill>
                  <a:srgbClr val="16171C"/>
                </a:solidFill>
                <a:latin typeface="맑은 고딕"/>
                <a:ea typeface="맑은 고딕"/>
                <a:cs typeface="맑은 고딕"/>
              </a:rPr>
              <a:t>(R166)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Claude · 70–105분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29</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42318"/>
                </a:solidFill>
                <a:latin typeface="맑은 고딕"/>
                <a:ea typeface="맑은 고딕"/>
                <a:cs typeface="맑은 고딕"/>
              </a:rPr>
              <a:t>AI가 여기서 틀렸다 · 재현 예시</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수업과 관계없는 의견을 개선점으로 세기도 합니다</a:t>
            </a:r>
          </a:p>
        </p:txBody>
      </p:sp>
      <p:sp>
        <p:nvSpPr>
          <p:cNvPr id="6" name="Rounded Rectangle 5"/>
          <p:cNvSpPr/>
          <p:nvPr/>
        </p:nvSpPr>
        <p:spPr>
          <a:xfrm>
            <a:off x="685800" y="1962150"/>
            <a:ext cx="5295900" cy="2971800"/>
          </a:xfrm>
          <a:prstGeom prst="roundRect">
            <a:avLst>
              <a:gd name="adj" fmla="val 512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AI 답</a:t>
            </a:r>
          </a:p>
        </p:txBody>
      </p:sp>
      <p:sp>
        <p:nvSpPr>
          <p:cNvPr id="8" name="TextBox 7"/>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개선 요청 2위:</a:t>
            </a:r>
            <a:br/>
            <a:r>
              <a:rPr sz="2100" b="1" spc="-42" lang="ko-KR" altLang="en-US">
                <a:solidFill>
                  <a:srgbClr val="16171C"/>
                </a:solidFill>
                <a:highlight>
                  <a:srgbClr val="FFD2C4"/>
                </a:highlight>
                <a:latin typeface="맑은 고딕"/>
                <a:ea typeface="맑은 고딕"/>
                <a:cs typeface="맑은 고딕"/>
              </a:rPr>
              <a:t>학교 시설·식당 (12건)</a:t>
            </a:r>
          </a:p>
        </p:txBody>
      </p:sp>
      <p:sp>
        <p:nvSpPr>
          <p:cNvPr id="9" name="Rounded Rectangle 8"/>
          <p:cNvSpPr/>
          <p:nvPr/>
        </p:nvSpPr>
        <p:spPr>
          <a:xfrm>
            <a:off x="6210300" y="1962150"/>
            <a:ext cx="5295900" cy="2971800"/>
          </a:xfrm>
          <a:prstGeom prst="roundRect">
            <a:avLst>
              <a:gd name="adj" fmla="val 5128"/>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원문 · 03_강의평가 CSV</a:t>
            </a:r>
          </a:p>
        </p:txBody>
      </p:sp>
      <p:sp>
        <p:nvSpPr>
          <p:cNvPr id="11" name="TextBox 10"/>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R150 “</a:t>
            </a:r>
            <a:r>
              <a:rPr sz="2100" b="0" spc="-42" lang="ko-KR" altLang="en-US">
                <a:solidFill>
                  <a:srgbClr val="16171C"/>
                </a:solidFill>
                <a:highlight>
                  <a:srgbClr val="C9EBD8"/>
                </a:highlight>
                <a:latin typeface="맑은 고딕"/>
                <a:ea typeface="맑은 고딕"/>
                <a:cs typeface="맑은 고딕"/>
              </a:rPr>
              <a:t>학식 메뉴</a:t>
            </a:r>
            <a:r>
              <a:rPr sz="2100" b="0" spc="-42" lang="ko-KR" altLang="en-US">
                <a:solidFill>
                  <a:srgbClr val="16171C"/>
                </a:solidFill>
                <a:latin typeface="맑은 고딕"/>
                <a:ea typeface="맑은 고딕"/>
                <a:cs typeface="맑은 고딕"/>
              </a:rPr>
              <a:t>가 좀 더</a:t>
            </a:r>
            <a:br/>
            <a:r>
              <a:rPr sz="2100" b="0" spc="-42" lang="ko-KR" altLang="en-US">
                <a:solidFill>
                  <a:srgbClr val="16171C"/>
                </a:solidFill>
                <a:latin typeface="맑은 고딕"/>
                <a:ea typeface="맑은 고딕"/>
                <a:cs typeface="맑은 고딕"/>
              </a:rPr>
              <a:t>다양해졌으면 좋겠습니다.”</a:t>
            </a:r>
            <a:br/>
            <a:r>
              <a:rPr sz="2100" b="0" spc="-42" lang="ko-KR" altLang="en-US">
                <a:solidFill>
                  <a:srgbClr val="16171C"/>
                </a:solidFill>
                <a:latin typeface="맑은 고딕"/>
                <a:ea typeface="맑은 고딕"/>
                <a:cs typeface="맑은 고딕"/>
              </a:rPr>
              <a:t>R159 “</a:t>
            </a:r>
            <a:r>
              <a:rPr sz="2100" b="0" spc="-42" lang="ko-KR" altLang="en-US">
                <a:solidFill>
                  <a:srgbClr val="16171C"/>
                </a:solidFill>
                <a:highlight>
                  <a:srgbClr val="C9EBD8"/>
                </a:highlight>
                <a:latin typeface="맑은 고딕"/>
                <a:ea typeface="맑은 고딕"/>
                <a:cs typeface="맑은 고딕"/>
              </a:rPr>
              <a:t>도서관 열람실</a:t>
            </a:r>
            <a:r>
              <a:rPr sz="2100" b="0" spc="-42" lang="ko-KR" altLang="en-US">
                <a:solidFill>
                  <a:srgbClr val="16171C"/>
                </a:solidFill>
                <a:latin typeface="맑은 고딕"/>
                <a:ea typeface="맑은 고딕"/>
                <a:cs typeface="맑은 고딕"/>
              </a:rPr>
              <a:t> 자리가</a:t>
            </a:r>
            <a:br/>
            <a:r>
              <a:rPr sz="2100" b="0" spc="-42" lang="ko-KR" altLang="en-US">
                <a:solidFill>
                  <a:srgbClr val="16171C"/>
                </a:solidFill>
                <a:latin typeface="맑은 고딕"/>
                <a:ea typeface="맑은 고딕"/>
                <a:cs typeface="맑은 고딕"/>
              </a:rPr>
              <a:t>부족합니다.”</a:t>
            </a:r>
          </a:p>
        </p:txBody>
      </p:sp>
      <p:sp>
        <p:nvSpPr>
          <p:cNvPr id="12" name="TextBox 11"/>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B42318"/>
                </a:solidFill>
                <a:latin typeface="맑은 고딕"/>
                <a:ea typeface="맑은 고딕"/>
                <a:cs typeface="맑은 고딕"/>
              </a:rPr>
              <a:t>→ </a:t>
            </a:r>
            <a:r>
              <a:rPr sz="2400" b="1" spc="-48" lang="ko-KR" altLang="en-US">
                <a:solidFill>
                  <a:srgbClr val="16171C"/>
                </a:solidFill>
                <a:latin typeface="맑은 고딕"/>
                <a:ea typeface="맑은 고딕"/>
                <a:cs typeface="맑은 고딕"/>
              </a:rPr>
              <a:t>수업과 관계없는 응답 12개는 개선점에서 뺍니다.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Claude · 70–105분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30</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서로 반대되는 의견</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반대 의견은 분반을 나눠 봐야 이유가 보입니다</a:t>
            </a:r>
          </a:p>
        </p:txBody>
      </p:sp>
      <p:sp>
        <p:nvSpPr>
          <p:cNvPr id="6" name="Rounded Rectangle 5"/>
          <p:cNvSpPr/>
          <p:nvPr/>
        </p:nvSpPr>
        <p:spPr>
          <a:xfrm>
            <a:off x="685800" y="1866900"/>
            <a:ext cx="5295900" cy="2762250"/>
          </a:xfrm>
          <a:prstGeom prst="roundRect">
            <a:avLst>
              <a:gd name="adj" fmla="val 6206"/>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8700" y="2038350"/>
            <a:ext cx="2095500" cy="1714500"/>
          </a:xfrm>
          <a:prstGeom prst="rect">
            <a:avLst/>
          </a:prstGeom>
          <a:noFill/>
        </p:spPr>
        <p:txBody>
          <a:bodyPr wrap="square" lIns="0" tIns="0" rIns="0" bIns="0" anchor="t"/>
          <a:lstStyle/>
          <a:p>
            <a:pPr algn="l" latinLnBrk="0" eaLnBrk="1">
              <a:lnSpc>
                <a:spcPct val="100000"/>
              </a:lnSpc>
            </a:pPr>
            <a:r>
              <a:rPr sz="11250" b="1" spc="-225" lang="ko-KR" altLang="en-US">
                <a:solidFill>
                  <a:srgbClr val="C2410C"/>
                </a:solidFill>
                <a:latin typeface="맑은 고딕"/>
                <a:ea typeface="맑은 고딕"/>
                <a:cs typeface="맑은 고딕"/>
              </a:rPr>
              <a:t>14</a:t>
            </a:r>
          </a:p>
        </p:txBody>
      </p:sp>
      <p:sp>
        <p:nvSpPr>
          <p:cNvPr id="8" name="TextBox 7"/>
          <p:cNvSpPr txBox="1"/>
          <p:nvPr/>
        </p:nvSpPr>
        <p:spPr>
          <a:xfrm>
            <a:off x="3067050" y="2381250"/>
            <a:ext cx="2762250" cy="476250"/>
          </a:xfrm>
          <a:prstGeom prst="rect">
            <a:avLst/>
          </a:prstGeom>
          <a:noFill/>
        </p:spPr>
        <p:txBody>
          <a:bodyPr wrap="square" lIns="0" tIns="0" rIns="0" bIns="0" anchor="t"/>
          <a:lstStyle/>
          <a:p>
            <a:pPr algn="l" latinLnBrk="0" eaLnBrk="1">
              <a:lnSpc>
                <a:spcPct val="110000"/>
              </a:lnSpc>
            </a:pPr>
            <a:r>
              <a:rPr sz="2250" b="1" spc="-45" lang="ko-KR" altLang="en-US">
                <a:solidFill>
                  <a:srgbClr val="16171C"/>
                </a:solidFill>
                <a:latin typeface="맑은 고딕"/>
                <a:ea typeface="맑은 고딕"/>
                <a:cs typeface="맑은 고딕"/>
              </a:rPr>
              <a:t>진도가 빠르다</a:t>
            </a:r>
          </a:p>
        </p:txBody>
      </p:sp>
      <p:sp>
        <p:nvSpPr>
          <p:cNvPr id="9" name="TextBox 8"/>
          <p:cNvSpPr txBox="1"/>
          <p:nvPr/>
        </p:nvSpPr>
        <p:spPr>
          <a:xfrm>
            <a:off x="3067050" y="2952750"/>
            <a:ext cx="2762250" cy="762000"/>
          </a:xfrm>
          <a:prstGeom prst="rect">
            <a:avLst/>
          </a:prstGeom>
          <a:noFill/>
        </p:spPr>
        <p:txBody>
          <a:bodyPr wrap="square" lIns="0" tIns="0" rIns="0" bIns="0" anchor="t"/>
          <a:lstStyle/>
          <a:p>
            <a:pPr algn="l" latinLnBrk="0" eaLnBrk="1">
              <a:lnSpc>
                <a:spcPct val="130000"/>
              </a:lnSpc>
            </a:pPr>
            <a:r>
              <a:rPr sz="2100" b="0" spc="-42" lang="ko-KR" altLang="en-US">
                <a:solidFill>
                  <a:srgbClr val="3D3F48"/>
                </a:solidFill>
                <a:latin typeface="맑은 고딕"/>
                <a:ea typeface="맑은 고딕"/>
                <a:cs typeface="맑은 고딕"/>
              </a:rPr>
              <a:t>01분반 10 · 02분반 4</a:t>
            </a:r>
          </a:p>
        </p:txBody>
      </p:sp>
      <p:sp>
        <p:nvSpPr>
          <p:cNvPr id="10" name="Rounded Rectangle 9"/>
          <p:cNvSpPr/>
          <p:nvPr/>
        </p:nvSpPr>
        <p:spPr>
          <a:xfrm>
            <a:off x="6210300" y="1866900"/>
            <a:ext cx="5295900" cy="2762250"/>
          </a:xfrm>
          <a:prstGeom prst="roundRect">
            <a:avLst>
              <a:gd name="adj" fmla="val 6206"/>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53200" y="2038350"/>
            <a:ext cx="2095500" cy="1714500"/>
          </a:xfrm>
          <a:prstGeom prst="rect">
            <a:avLst/>
          </a:prstGeom>
          <a:noFill/>
        </p:spPr>
        <p:txBody>
          <a:bodyPr wrap="square" lIns="0" tIns="0" rIns="0" bIns="0" anchor="t"/>
          <a:lstStyle/>
          <a:p>
            <a:pPr algn="l" latinLnBrk="0" eaLnBrk="1">
              <a:lnSpc>
                <a:spcPct val="100000"/>
              </a:lnSpc>
            </a:pPr>
            <a:r>
              <a:rPr sz="11250" b="1" spc="-225" lang="ko-KR" altLang="en-US">
                <a:solidFill>
                  <a:srgbClr val="3D3F48"/>
                </a:solidFill>
                <a:latin typeface="맑은 고딕"/>
                <a:ea typeface="맑은 고딕"/>
                <a:cs typeface="맑은 고딕"/>
              </a:rPr>
              <a:t>5</a:t>
            </a:r>
          </a:p>
        </p:txBody>
      </p:sp>
      <p:sp>
        <p:nvSpPr>
          <p:cNvPr id="12" name="TextBox 11"/>
          <p:cNvSpPr txBox="1"/>
          <p:nvPr/>
        </p:nvSpPr>
        <p:spPr>
          <a:xfrm>
            <a:off x="8591550" y="2381250"/>
            <a:ext cx="2762250" cy="476250"/>
          </a:xfrm>
          <a:prstGeom prst="rect">
            <a:avLst/>
          </a:prstGeom>
          <a:noFill/>
        </p:spPr>
        <p:txBody>
          <a:bodyPr wrap="square" lIns="0" tIns="0" rIns="0" bIns="0" anchor="t"/>
          <a:lstStyle/>
          <a:p>
            <a:pPr algn="l" latinLnBrk="0" eaLnBrk="1">
              <a:lnSpc>
                <a:spcPct val="110000"/>
              </a:lnSpc>
            </a:pPr>
            <a:r>
              <a:rPr sz="2250" b="1" spc="-45" lang="ko-KR" altLang="en-US">
                <a:solidFill>
                  <a:srgbClr val="16171C"/>
                </a:solidFill>
                <a:latin typeface="맑은 고딕"/>
                <a:ea typeface="맑은 고딕"/>
                <a:cs typeface="맑은 고딕"/>
              </a:rPr>
              <a:t>진도가 느리거나 쉽다</a:t>
            </a:r>
          </a:p>
        </p:txBody>
      </p:sp>
      <p:sp>
        <p:nvSpPr>
          <p:cNvPr id="13" name="TextBox 12"/>
          <p:cNvSpPr txBox="1"/>
          <p:nvPr/>
        </p:nvSpPr>
        <p:spPr>
          <a:xfrm>
            <a:off x="8591550" y="2952750"/>
            <a:ext cx="2762250" cy="762000"/>
          </a:xfrm>
          <a:prstGeom prst="rect">
            <a:avLst/>
          </a:prstGeom>
          <a:noFill/>
        </p:spPr>
        <p:txBody>
          <a:bodyPr wrap="square" lIns="0" tIns="0" rIns="0" bIns="0" anchor="t"/>
          <a:lstStyle/>
          <a:p>
            <a:pPr algn="l" latinLnBrk="0" eaLnBrk="1">
              <a:lnSpc>
                <a:spcPct val="130000"/>
              </a:lnSpc>
            </a:pPr>
            <a:r>
              <a:rPr sz="2100" b="0" spc="-42" lang="ko-KR" altLang="en-US">
                <a:solidFill>
                  <a:srgbClr val="3D3F48"/>
                </a:solidFill>
                <a:latin typeface="맑은 고딕"/>
                <a:ea typeface="맑은 고딕"/>
                <a:cs typeface="맑은 고딕"/>
              </a:rPr>
              <a:t>01분반 4 · 02분반 1</a:t>
            </a:r>
          </a:p>
        </p:txBody>
      </p:sp>
      <p:sp>
        <p:nvSpPr>
          <p:cNvPr id="14" name="Rounded Rectangle 13"/>
          <p:cNvSpPr/>
          <p:nvPr/>
        </p:nvSpPr>
        <p:spPr>
          <a:xfrm>
            <a:off x="685800" y="4895850"/>
            <a:ext cx="10820400" cy="1219200"/>
          </a:xfrm>
          <a:prstGeom prst="roundRect">
            <a:avLst>
              <a:gd name="adj" fmla="val 125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 y="5086350"/>
            <a:ext cx="10210800" cy="838200"/>
          </a:xfrm>
          <a:prstGeom prst="rect">
            <a:avLst/>
          </a:prstGeom>
          <a:noFill/>
        </p:spPr>
        <p:txBody>
          <a:bodyPr wrap="square" lIns="0" tIns="0" rIns="0" bIns="0" anchor="t"/>
          <a:lstStyle/>
          <a:p>
            <a:pPr algn="l" latinLnBrk="0" eaLnBrk="1">
              <a:lnSpc>
                <a:spcPct val="135000"/>
              </a:lnSpc>
            </a:pPr>
            <a:r>
              <a:rPr sz="2250" b="1" spc="-45" lang="ko-KR" altLang="en-US">
                <a:solidFill>
                  <a:srgbClr val="16171C"/>
                </a:solidFill>
                <a:latin typeface="맑은 고딕"/>
                <a:ea typeface="맑은 고딕"/>
                <a:cs typeface="맑은 고딕"/>
              </a:rPr>
              <a:t>01분반</a:t>
            </a:r>
            <a:r>
              <a:rPr sz="2250" b="0" spc="-45" lang="ko-KR" altLang="en-US">
                <a:solidFill>
                  <a:srgbClr val="16171C"/>
                </a:solidFill>
                <a:latin typeface="맑은 고딕"/>
                <a:ea typeface="맑은 고딕"/>
                <a:cs typeface="맑은 고딕"/>
              </a:rPr>
              <a:t>에 수준 차이가 큽니다.</a:t>
            </a:r>
            <a:br/>
            <a:r>
              <a:rPr sz="2250" b="0" spc="-45" lang="ko-KR" altLang="en-US">
                <a:solidFill>
                  <a:srgbClr val="16171C"/>
                </a:solidFill>
                <a:latin typeface="맑은 고딕"/>
                <a:ea typeface="맑은 고딕"/>
                <a:cs typeface="맑은 고딕"/>
              </a:rPr>
              <a:t>기초는 줄이고, 회귀 단원에 시간을 더 씁니다.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전체 질문은 사이트 #claude-evaluations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31</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2-2 · 개선 계획</a:t>
            </a:r>
          </a:p>
        </p:txBody>
      </p:sp>
      <p:sp>
        <p:nvSpPr>
          <p:cNvPr id="6" name="Rounded Rectangle 5"/>
          <p:cNvSpPr/>
          <p:nvPr/>
        </p:nvSpPr>
        <p:spPr>
          <a:xfrm>
            <a:off x="9435084" y="219075"/>
            <a:ext cx="2066925"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87484" y="357188"/>
            <a:ext cx="133350" cy="13335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16084" y="219075"/>
            <a:ext cx="1609725"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10분 · Claude</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개선점을 세 칸으로 나누고 학생 공지까지 씁니다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C2410C"/>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같은 대화에서 질문 3-2</a:t>
            </a:r>
            <a:r>
              <a:rPr sz="2025" b="1" spc="-40" lang="ko-KR" altLang="en-US">
                <a:solidFill>
                  <a:srgbClr val="C2410C"/>
                </a:solidFill>
                <a:latin typeface="맑은 고딕"/>
                <a:ea typeface="맑은 고딕"/>
                <a:cs typeface="맑은 고딕"/>
              </a:rPr>
              <a:t>   →   </a:t>
            </a:r>
            <a:r>
              <a:rPr sz="2025" b="1" spc="-40" lang="ko-KR" altLang="en-US">
                <a:solidFill>
                  <a:srgbClr val="C2410C"/>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이어서 3-3</a:t>
            </a:r>
            <a:r>
              <a:rPr sz="2025" b="1" spc="-40" lang="ko-KR" altLang="en-US">
                <a:solidFill>
                  <a:srgbClr val="C2410C"/>
                </a:solidFill>
                <a:latin typeface="맑은 고딕"/>
                <a:ea typeface="맑은 고딕"/>
                <a:cs typeface="맑은 고딕"/>
              </a:rPr>
              <a:t>   →   </a:t>
            </a:r>
            <a:r>
              <a:rPr sz="2025" b="1" spc="-40" lang="ko-KR" altLang="en-US">
                <a:solidFill>
                  <a:srgbClr val="C2410C"/>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공지의 약속 읽기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같은 교육 컨설턴트</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방금 만든 주제 표만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바꿀 것·요청할 것·둘 것 + 응답 수, 계획 1쪽, 공지 5문장</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강의실 교체처럼 교수가 못 하는 약속</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TextBox 15"/>
          <p:cNvSpPr txBox="1"/>
          <p:nvPr/>
        </p:nvSpPr>
        <p:spPr>
          <a:xfrm>
            <a:off x="6515100" y="2895600"/>
            <a:ext cx="4838700" cy="323850"/>
          </a:xfrm>
          <a:prstGeom prst="rect">
            <a:avLst/>
          </a:prstGeom>
          <a:noFill/>
        </p:spPr>
        <p:txBody>
          <a:bodyPr wrap="square" lIns="0" tIns="0" rIns="0" bIns="0" anchor="t"/>
          <a:lstStyle/>
          <a:p>
            <a:pPr algn="l" latinLnBrk="0" eaLnBrk="1">
              <a:lnSpc>
                <a:spcPct val="100000"/>
              </a:lnSpc>
            </a:pPr>
            <a:r>
              <a:rPr sz="1800" b="1" spc="-36" lang="ko-KR" altLang="en-US">
                <a:solidFill>
                  <a:srgbClr val="16171C"/>
                </a:solidFill>
                <a:latin typeface="맑은 고딕"/>
                <a:ea typeface="맑은 고딕"/>
                <a:cs typeface="맑은 고딕"/>
              </a:rPr>
              <a:t>학생 공지 초안</a:t>
            </a:r>
          </a:p>
        </p:txBody>
      </p:sp>
      <p:sp>
        <p:nvSpPr>
          <p:cNvPr id="17" name="TextBox 16"/>
          <p:cNvSpPr txBox="1"/>
          <p:nvPr/>
        </p:nvSpPr>
        <p:spPr>
          <a:xfrm>
            <a:off x="6515100" y="329565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 지난 학기 의견을 읽었습니다.</a:t>
            </a:r>
          </a:p>
        </p:txBody>
      </p:sp>
      <p:sp>
        <p:nvSpPr>
          <p:cNvPr id="18" name="TextBox 17"/>
          <p:cNvSpPr txBox="1"/>
          <p:nvPr/>
        </p:nvSpPr>
        <p:spPr>
          <a:xfrm>
            <a:off x="6515100" y="369570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2. 과제 피드백을 1주 안에…</a:t>
            </a:r>
          </a:p>
        </p:txBody>
      </p:sp>
      <p:sp>
        <p:nvSpPr>
          <p:cNvPr id="19" name="TextBox 18"/>
          <p:cNvSpPr txBox="1"/>
          <p:nvPr/>
        </p:nvSpPr>
        <p:spPr>
          <a:xfrm>
            <a:off x="6515100" y="409575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3. 평가 기준을 미리 공개…</a:t>
            </a:r>
          </a:p>
        </p:txBody>
      </p:sp>
      <p:sp>
        <p:nvSpPr>
          <p:cNvPr id="20" name="TextBox 19"/>
          <p:cNvSpPr txBox="1"/>
          <p:nvPr/>
        </p:nvSpPr>
        <p:spPr>
          <a:xfrm>
            <a:off x="6515100" y="449580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4. 강의실을 바꾸겠습니다.</a:t>
            </a:r>
          </a:p>
        </p:txBody>
      </p:sp>
      <p:sp>
        <p:nvSpPr>
          <p:cNvPr id="21" name="TextBox 20"/>
          <p:cNvSpPr txBox="1"/>
          <p:nvPr/>
        </p:nvSpPr>
        <p:spPr>
          <a:xfrm>
            <a:off x="6515100" y="489585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5. …</a:t>
            </a:r>
          </a:p>
        </p:txBody>
      </p:sp>
      <p:sp>
        <p:nvSpPr>
          <p:cNvPr id="22" name="Rounded Rectangle 21"/>
          <p:cNvSpPr/>
          <p:nvPr/>
        </p:nvSpPr>
        <p:spPr>
          <a:xfrm>
            <a:off x="6438900" y="4495800"/>
            <a:ext cx="2857500" cy="381000"/>
          </a:xfrm>
          <a:prstGeom prst="roundRect">
            <a:avLst>
              <a:gd name="adj" fmla="val 50000"/>
            </a:avLst>
          </a:prstGeom>
          <a:noFill/>
          <a:ln w="33337">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C2410C"/>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공지에 교수가 정할 수 없는 약속이 있는가?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2 · 정답 기준 · 101–105분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32</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정답 기준 · 해설 3-4</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개선점은 세 칸으로 나눠야 지킬 약속만 남습니다</a:t>
            </a:r>
          </a:p>
        </p:txBody>
      </p:sp>
      <p:sp>
        <p:nvSpPr>
          <p:cNvPr id="6" name="Rounded Rectangle 5"/>
          <p:cNvSpPr/>
          <p:nvPr/>
        </p:nvSpPr>
        <p:spPr>
          <a:xfrm>
            <a:off x="685800" y="1866900"/>
            <a:ext cx="3454400" cy="4191000"/>
          </a:xfrm>
          <a:prstGeom prst="roundRect">
            <a:avLst>
              <a:gd name="adj" fmla="val 4963"/>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11455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내가 바꿀 것</a:t>
            </a:r>
          </a:p>
        </p:txBody>
      </p:sp>
      <p:sp>
        <p:nvSpPr>
          <p:cNvPr id="8" name="TextBox 7"/>
          <p:cNvSpPr txBox="1"/>
          <p:nvPr/>
        </p:nvSpPr>
        <p:spPr>
          <a:xfrm>
            <a:off x="971550" y="27813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개인 기여 반영</a:t>
            </a:r>
          </a:p>
        </p:txBody>
      </p:sp>
      <p:sp>
        <p:nvSpPr>
          <p:cNvPr id="9" name="TextBox 8"/>
          <p:cNvSpPr txBox="1"/>
          <p:nvPr/>
        </p:nvSpPr>
        <p:spPr>
          <a:xfrm>
            <a:off x="3092450" y="27813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16171C"/>
                </a:solidFill>
                <a:latin typeface="맑은 고딕"/>
                <a:ea typeface="맑은 고딕"/>
                <a:cs typeface="맑은 고딕"/>
              </a:rPr>
              <a:t>14</a:t>
            </a:r>
          </a:p>
        </p:txBody>
      </p:sp>
      <p:sp>
        <p:nvSpPr>
          <p:cNvPr id="10" name="Rectangle 9"/>
          <p:cNvSpPr/>
          <p:nvPr/>
        </p:nvSpPr>
        <p:spPr>
          <a:xfrm>
            <a:off x="971550" y="3448050"/>
            <a:ext cx="28829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71550" y="35814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피드백 속도</a:t>
            </a:r>
          </a:p>
        </p:txBody>
      </p:sp>
      <p:sp>
        <p:nvSpPr>
          <p:cNvPr id="12" name="TextBox 11"/>
          <p:cNvSpPr txBox="1"/>
          <p:nvPr/>
        </p:nvSpPr>
        <p:spPr>
          <a:xfrm>
            <a:off x="3092450" y="35814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16171C"/>
                </a:solidFill>
                <a:latin typeface="맑은 고딕"/>
                <a:ea typeface="맑은 고딕"/>
                <a:cs typeface="맑은 고딕"/>
              </a:rPr>
              <a:t>12</a:t>
            </a:r>
          </a:p>
        </p:txBody>
      </p:sp>
      <p:sp>
        <p:nvSpPr>
          <p:cNvPr id="13" name="Rectangle 12"/>
          <p:cNvSpPr/>
          <p:nvPr/>
        </p:nvSpPr>
        <p:spPr>
          <a:xfrm>
            <a:off x="971550" y="4248150"/>
            <a:ext cx="28829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71550" y="43815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평가 기준 공개</a:t>
            </a:r>
          </a:p>
        </p:txBody>
      </p:sp>
      <p:sp>
        <p:nvSpPr>
          <p:cNvPr id="15" name="TextBox 14"/>
          <p:cNvSpPr txBox="1"/>
          <p:nvPr/>
        </p:nvSpPr>
        <p:spPr>
          <a:xfrm>
            <a:off x="3092450" y="43815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16171C"/>
                </a:solidFill>
                <a:latin typeface="맑은 고딕"/>
                <a:ea typeface="맑은 고딕"/>
                <a:cs typeface="맑은 고딕"/>
              </a:rPr>
              <a:t>9</a:t>
            </a:r>
          </a:p>
        </p:txBody>
      </p:sp>
      <p:sp>
        <p:nvSpPr>
          <p:cNvPr id="16" name="Rectangle 15"/>
          <p:cNvSpPr/>
          <p:nvPr/>
        </p:nvSpPr>
        <p:spPr>
          <a:xfrm>
            <a:off x="971550" y="5048250"/>
            <a:ext cx="28829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368800" y="1866900"/>
            <a:ext cx="3454400" cy="4191000"/>
          </a:xfrm>
          <a:prstGeom prst="roundRect">
            <a:avLst>
              <a:gd name="adj" fmla="val 4963"/>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54550" y="211455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학교에 요청할 것</a:t>
            </a:r>
          </a:p>
        </p:txBody>
      </p:sp>
      <p:sp>
        <p:nvSpPr>
          <p:cNvPr id="19" name="TextBox 18"/>
          <p:cNvSpPr txBox="1"/>
          <p:nvPr/>
        </p:nvSpPr>
        <p:spPr>
          <a:xfrm>
            <a:off x="4654550" y="27813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마이크·냉난방</a:t>
            </a:r>
            <a:br/>
            <a:r>
              <a:rPr sz="2100" b="0" spc="-42" lang="ko-KR" altLang="en-US">
                <a:solidFill>
                  <a:srgbClr val="16171C"/>
                </a:solidFill>
                <a:latin typeface="맑은 고딕"/>
                <a:ea typeface="맑은 고딕"/>
                <a:cs typeface="맑은 고딕"/>
              </a:rPr>
              <a:t>(모두 02분반)</a:t>
            </a:r>
          </a:p>
        </p:txBody>
      </p:sp>
      <p:sp>
        <p:nvSpPr>
          <p:cNvPr id="20" name="TextBox 19"/>
          <p:cNvSpPr txBox="1"/>
          <p:nvPr/>
        </p:nvSpPr>
        <p:spPr>
          <a:xfrm>
            <a:off x="6775450" y="27813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16171C"/>
                </a:solidFill>
                <a:latin typeface="맑은 고딕"/>
                <a:ea typeface="맑은 고딕"/>
                <a:cs typeface="맑은 고딕"/>
              </a:rPr>
              <a:t>6</a:t>
            </a:r>
          </a:p>
        </p:txBody>
      </p:sp>
      <p:sp>
        <p:nvSpPr>
          <p:cNvPr id="21" name="Rectangle 20"/>
          <p:cNvSpPr/>
          <p:nvPr/>
        </p:nvSpPr>
        <p:spPr>
          <a:xfrm>
            <a:off x="4654550" y="3448050"/>
            <a:ext cx="28829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051800" y="1866900"/>
            <a:ext cx="3454400" cy="4191000"/>
          </a:xfrm>
          <a:prstGeom prst="roundRect">
            <a:avLst>
              <a:gd name="adj" fmla="val 4963"/>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37550" y="211455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그대로 둘 것</a:t>
            </a:r>
          </a:p>
        </p:txBody>
      </p:sp>
      <p:sp>
        <p:nvSpPr>
          <p:cNvPr id="24" name="TextBox 23"/>
          <p:cNvSpPr txBox="1"/>
          <p:nvPr/>
        </p:nvSpPr>
        <p:spPr>
          <a:xfrm>
            <a:off x="8337550" y="27813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실제 데이터 실습</a:t>
            </a:r>
          </a:p>
        </p:txBody>
      </p:sp>
      <p:sp>
        <p:nvSpPr>
          <p:cNvPr id="25" name="TextBox 24"/>
          <p:cNvSpPr txBox="1"/>
          <p:nvPr/>
        </p:nvSpPr>
        <p:spPr>
          <a:xfrm>
            <a:off x="10458450" y="27813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16171C"/>
                </a:solidFill>
                <a:latin typeface="맑은 고딕"/>
                <a:ea typeface="맑은 고딕"/>
                <a:cs typeface="맑은 고딕"/>
              </a:rPr>
              <a:t>26</a:t>
            </a:r>
          </a:p>
        </p:txBody>
      </p:sp>
      <p:sp>
        <p:nvSpPr>
          <p:cNvPr id="26" name="Rectangle 25"/>
          <p:cNvSpPr/>
          <p:nvPr/>
        </p:nvSpPr>
        <p:spPr>
          <a:xfrm>
            <a:off x="8337550" y="3448050"/>
            <a:ext cx="28829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37550" y="35814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16171C"/>
                </a:solidFill>
                <a:latin typeface="맑은 고딕"/>
                <a:ea typeface="맑은 고딕"/>
                <a:cs typeface="맑은 고딕"/>
              </a:rPr>
              <a:t>친절한 설명</a:t>
            </a:r>
          </a:p>
        </p:txBody>
      </p:sp>
      <p:sp>
        <p:nvSpPr>
          <p:cNvPr id="28" name="TextBox 27"/>
          <p:cNvSpPr txBox="1"/>
          <p:nvPr/>
        </p:nvSpPr>
        <p:spPr>
          <a:xfrm>
            <a:off x="10458450" y="35814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16171C"/>
                </a:solidFill>
                <a:latin typeface="맑은 고딕"/>
                <a:ea typeface="맑은 고딕"/>
                <a:cs typeface="맑은 고딕"/>
              </a:rPr>
              <a:t>26</a:t>
            </a:r>
          </a:p>
        </p:txBody>
      </p:sp>
      <p:sp>
        <p:nvSpPr>
          <p:cNvPr id="29" name="Rectangle 28"/>
          <p:cNvSpPr/>
          <p:nvPr/>
        </p:nvSpPr>
        <p:spPr>
          <a:xfrm>
            <a:off x="8337550" y="4248150"/>
            <a:ext cx="2882900" cy="14288"/>
          </a:xfrm>
          <a:prstGeom prst="rect">
            <a:avLst/>
          </a:prstGeom>
          <a:solidFill>
            <a:srgbClr val="C9C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171C"/>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휴식 · 105–115분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33</a:t>
            </a:r>
          </a:p>
        </p:txBody>
      </p:sp>
      <p:sp>
        <p:nvSpPr>
          <p:cNvPr id="4" name="TextBox 3"/>
          <p:cNvSpPr txBox="1"/>
          <p:nvPr/>
        </p:nvSpPr>
        <p:spPr>
          <a:xfrm>
            <a:off x="685800" y="6096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9BEC6"/>
                </a:solidFill>
                <a:latin typeface="맑은 고딕"/>
                <a:ea typeface="맑은 고딕"/>
                <a:cs typeface="맑은 고딕"/>
              </a:rPr>
              <a:t>휴식 · 105–115분</a:t>
            </a:r>
          </a:p>
        </p:txBody>
      </p:sp>
      <p:sp>
        <p:nvSpPr>
          <p:cNvPr id="5" name="TextBox 4"/>
          <p:cNvSpPr txBox="1"/>
          <p:nvPr/>
        </p:nvSpPr>
        <p:spPr>
          <a:xfrm>
            <a:off x="685800" y="1905000"/>
            <a:ext cx="10820400" cy="1905000"/>
          </a:xfrm>
          <a:prstGeom prst="rect">
            <a:avLst/>
          </a:prstGeom>
          <a:noFill/>
        </p:spPr>
        <p:txBody>
          <a:bodyPr wrap="square" lIns="0" tIns="0" rIns="0" bIns="0" anchor="t"/>
          <a:lstStyle/>
          <a:p>
            <a:pPr algn="l" latinLnBrk="0" eaLnBrk="1">
              <a:lnSpc>
                <a:spcPct val="125000"/>
              </a:lnSpc>
            </a:pPr>
            <a:r>
              <a:rPr sz="4800" b="1" spc="-96" lang="ko-KR" altLang="en-US">
                <a:solidFill>
                  <a:srgbClr val="FFFFFF"/>
                </a:solidFill>
                <a:latin typeface="맑은 고딕"/>
                <a:ea typeface="맑은 고딕"/>
                <a:cs typeface="맑은 고딕"/>
              </a:rPr>
              <a:t>10분 쉬고,</a:t>
            </a:r>
            <a:br/>
            <a:r>
              <a:rPr sz="4800" b="1" spc="-96" lang="ko-KR" altLang="en-US">
                <a:solidFill>
                  <a:srgbClr val="8FB4FF"/>
                </a:solidFill>
                <a:latin typeface="맑은 고딕"/>
                <a:ea typeface="맑은 고딕"/>
                <a:cs typeface="맑은 고딕"/>
              </a:rPr>
              <a:t>Gemini</a:t>
            </a:r>
            <a:r>
              <a:rPr sz="4800" b="1" spc="-96" lang="ko-KR" altLang="en-US">
                <a:solidFill>
                  <a:srgbClr val="FFFFFF"/>
                </a:solidFill>
                <a:latin typeface="맑은 고딕"/>
                <a:ea typeface="맑은 고딕"/>
                <a:cs typeface="맑은 고딕"/>
              </a:rPr>
              <a:t>로 강의계획서를 고칩니다</a:t>
            </a:r>
          </a:p>
        </p:txBody>
      </p:sp>
      <p:sp>
        <p:nvSpPr>
          <p:cNvPr id="6" name="TextBox 5"/>
          <p:cNvSpPr txBox="1"/>
          <p:nvPr/>
        </p:nvSpPr>
        <p:spPr>
          <a:xfrm>
            <a:off x="685800" y="4381500"/>
            <a:ext cx="10820400" cy="952500"/>
          </a:xfrm>
          <a:prstGeom prst="rect">
            <a:avLst/>
          </a:prstGeom>
          <a:noFill/>
        </p:spPr>
        <p:txBody>
          <a:bodyPr wrap="square" lIns="0" tIns="0" rIns="0" bIns="0" anchor="t"/>
          <a:lstStyle/>
          <a:p>
            <a:pPr algn="l" latinLnBrk="0" eaLnBrk="1">
              <a:lnSpc>
                <a:spcPct val="140000"/>
              </a:lnSpc>
            </a:pPr>
            <a:r>
              <a:rPr sz="2250" b="0" spc="-45" lang="ko-KR" altLang="en-US">
                <a:solidFill>
                  <a:srgbClr val="D5D8DD"/>
                </a:solidFill>
                <a:latin typeface="맑은 고딕"/>
                <a:ea typeface="맑은 고딕"/>
                <a:cs typeface="맑은 고딕"/>
              </a:rPr>
              <a:t>쉬는 동안: Gemini에 로그인하고</a:t>
            </a:r>
            <a:br/>
            <a:r>
              <a:rPr sz="2250" b="0" spc="-45" lang="ko-KR" altLang="en-US">
                <a:solidFill>
                  <a:srgbClr val="D5D8DD"/>
                </a:solidFill>
                <a:latin typeface="맑은 고딕"/>
                <a:ea typeface="맑은 고딕"/>
                <a:cs typeface="맑은 고딕"/>
              </a:rPr>
              <a:t>계획서와 학칙 파일을 내려받아 두세요.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5FD8"/>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실습 3 · 115–150분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34</a:t>
            </a:r>
          </a:p>
        </p:txBody>
      </p:sp>
      <p:sp>
        <p:nvSpPr>
          <p:cNvPr id="4" name="TextBox 3"/>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FFF"/>
                </a:solidFill>
                <a:latin typeface="맑은 고딕"/>
                <a:ea typeface="맑은 고딕"/>
                <a:cs typeface="맑은 고딕"/>
              </a:rPr>
              <a:t>실습 3 · 115–150분 · 계획서·루브릭·답장</a:t>
            </a:r>
          </a:p>
        </p:txBody>
      </p:sp>
      <p:sp>
        <p:nvSpPr>
          <p:cNvPr id="5" name="TextBox 4"/>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FFF"/>
                </a:solidFill>
                <a:latin typeface="맑은 고딕"/>
                <a:ea typeface="맑은 고딕"/>
                <a:cs typeface="맑은 고딕"/>
              </a:rPr>
              <a:t>Gemini</a:t>
            </a:r>
          </a:p>
        </p:txBody>
      </p:sp>
      <p:sp>
        <p:nvSpPr>
          <p:cNvPr id="6" name="TextBox 5"/>
          <p:cNvSpPr txBox="1"/>
          <p:nvPr/>
        </p:nvSpPr>
        <p:spPr>
          <a:xfrm>
            <a:off x="685800" y="28765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FFF"/>
                </a:solidFill>
                <a:latin typeface="맑은 고딕"/>
                <a:ea typeface="맑은 고딕"/>
                <a:cs typeface="맑은 고딕"/>
              </a:rPr>
              <a:t>Google 문서·메일과 이어집니다.</a:t>
            </a:r>
            <a:br/>
            <a:r>
              <a:rPr sz="2250" b="0" spc="-45" lang="ko-KR" altLang="en-US">
                <a:solidFill>
                  <a:srgbClr val="FFFFFF"/>
                </a:solidFill>
                <a:latin typeface="맑은 고딕"/>
                <a:ea typeface="맑은 고딕"/>
                <a:cs typeface="맑은 고딕"/>
              </a:rPr>
              <a:t>오늘은 파일을 올려 씁니다.</a:t>
            </a:r>
          </a:p>
        </p:txBody>
      </p:sp>
      <p:sp>
        <p:nvSpPr>
          <p:cNvPr id="7" name="Rounded Rectangle 6"/>
          <p:cNvSpPr/>
          <p:nvPr/>
        </p:nvSpPr>
        <p:spPr>
          <a:xfrm>
            <a:off x="7810500" y="1428750"/>
            <a:ext cx="3695700" cy="3619500"/>
          </a:xfrm>
          <a:prstGeom prst="roundRect">
            <a:avLst>
              <a:gd name="adj" fmla="val 5263"/>
            </a:avLst>
          </a:prstGeom>
          <a:solidFill>
            <a:srgbClr val="144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FFF"/>
                </a:solidFill>
                <a:latin typeface="맑은 고딕"/>
                <a:ea typeface="맑은 고딕"/>
                <a:cs typeface="맑은 고딕"/>
              </a:rPr>
              <a:t>이 시간에 할 일</a:t>
            </a:r>
          </a:p>
        </p:txBody>
      </p:sp>
      <p:sp>
        <p:nvSpPr>
          <p:cNvPr id="9" name="Oval 8"/>
          <p:cNvSpPr/>
          <p:nvPr/>
        </p:nvSpPr>
        <p:spPr>
          <a:xfrm>
            <a:off x="8115300" y="22860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1A5FD8"/>
                </a:solidFill>
                <a:latin typeface="맑은 고딕"/>
                <a:ea typeface="맑은 고딕"/>
                <a:cs typeface="맑은 고딕"/>
              </a:rPr>
              <a:t>1</a:t>
            </a:r>
          </a:p>
        </p:txBody>
      </p:sp>
      <p:sp>
        <p:nvSpPr>
          <p:cNvPr id="11" name="TextBox 10"/>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강의계획서 고치기</a:t>
            </a:r>
          </a:p>
        </p:txBody>
      </p:sp>
      <p:sp>
        <p:nvSpPr>
          <p:cNvPr id="12" name="Oval 11"/>
          <p:cNvSpPr/>
          <p:nvPr/>
        </p:nvSpPr>
        <p:spPr>
          <a:xfrm>
            <a:off x="8115300" y="32004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1A5FD8"/>
                </a:solidFill>
                <a:latin typeface="맑은 고딕"/>
                <a:ea typeface="맑은 고딕"/>
                <a:cs typeface="맑은 고딕"/>
              </a:rPr>
              <a:t>2</a:t>
            </a:r>
          </a:p>
        </p:txBody>
      </p:sp>
      <p:sp>
        <p:nvSpPr>
          <p:cNvPr id="14" name="TextBox 13"/>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기말 프로젝트 루브릭</a:t>
            </a:r>
          </a:p>
        </p:txBody>
      </p:sp>
      <p:sp>
        <p:nvSpPr>
          <p:cNvPr id="15" name="Oval 14"/>
          <p:cNvSpPr/>
          <p:nvPr/>
        </p:nvSpPr>
        <p:spPr>
          <a:xfrm>
            <a:off x="8115300" y="4114800"/>
            <a:ext cx="400050" cy="4000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1A5FD8"/>
                </a:solidFill>
                <a:latin typeface="맑은 고딕"/>
                <a:ea typeface="맑은 고딕"/>
                <a:cs typeface="맑은 고딕"/>
              </a:rPr>
              <a:t>3</a:t>
            </a:r>
          </a:p>
        </p:txBody>
      </p:sp>
      <p:sp>
        <p:nvSpPr>
          <p:cNvPr id="17" name="TextBox 16"/>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FFF"/>
                </a:solidFill>
                <a:latin typeface="맑은 고딕"/>
                <a:ea typeface="맑은 고딕"/>
                <a:cs typeface="맑은 고딕"/>
              </a:rPr>
              <a:t>학칙 근거 답장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Gemini · 115–150분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35</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화면 예시(구성도) · Gemini</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활동마다 새 채팅을 열고 파일을 올립니다</a:t>
            </a:r>
          </a:p>
        </p:txBody>
      </p:sp>
      <p:sp>
        <p:nvSpPr>
          <p:cNvPr id="6" name="Rounded Rectangle 5"/>
          <p:cNvSpPr/>
          <p:nvPr/>
        </p:nvSpPr>
        <p:spPr>
          <a:xfrm>
            <a:off x="1066800" y="1714500"/>
            <a:ext cx="6343650" cy="4381500"/>
          </a:xfrm>
          <a:prstGeom prst="roundRect">
            <a:avLst>
              <a:gd name="adj" fmla="val 3043"/>
            </a:avLst>
          </a:prstGeom>
          <a:solidFill>
            <a:srgbClr val="FFFFFF"/>
          </a:solidFill>
          <a:ln w="19050">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066800" y="1714500"/>
            <a:ext cx="6343650" cy="476250"/>
          </a:xfrm>
          <a:prstGeom prst="roundRect">
            <a:avLst>
              <a:gd name="adj" fmla="val 28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66800" y="2000250"/>
            <a:ext cx="6343650" cy="190500"/>
          </a:xfrm>
          <a:prstGeom prst="rect">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7300" y="1885950"/>
            <a:ext cx="133350" cy="1333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04950" y="1714500"/>
            <a:ext cx="3810000" cy="476250"/>
          </a:xfrm>
          <a:prstGeom prst="rect">
            <a:avLst/>
          </a:prstGeom>
          <a:noFill/>
        </p:spPr>
        <p:txBody>
          <a:bodyPr wrap="square" lIns="0" tIns="0" rIns="0" bIns="0" anchor="ctr"/>
          <a:lstStyle/>
          <a:p>
            <a:pPr algn="l" latinLnBrk="0" eaLnBrk="1">
              <a:lnSpc>
                <a:spcPct val="100000"/>
              </a:lnSpc>
            </a:pPr>
            <a:r>
              <a:rPr sz="1800" b="1" spc="-36" lang="ko-KR" altLang="en-US">
                <a:solidFill>
                  <a:srgbClr val="1A5FD8"/>
                </a:solidFill>
                <a:latin typeface="맑은 고딕"/>
                <a:ea typeface="맑은 고딕"/>
                <a:cs typeface="맑은 고딕"/>
              </a:rPr>
              <a:t>Gemini</a:t>
            </a:r>
          </a:p>
        </p:txBody>
      </p:sp>
      <p:sp>
        <p:nvSpPr>
          <p:cNvPr id="11" name="Rounded Rectangle 10"/>
          <p:cNvSpPr/>
          <p:nvPr/>
        </p:nvSpPr>
        <p:spPr>
          <a:xfrm>
            <a:off x="5162550" y="1781175"/>
            <a:ext cx="2228850" cy="342900"/>
          </a:xfrm>
          <a:prstGeom prst="roundRect">
            <a:avLst>
              <a:gd name="adj" fmla="val 50000"/>
            </a:avLst>
          </a:prstGeom>
          <a:solidFill>
            <a:srgbClr val="FFFFFF"/>
          </a:solidFill>
          <a:ln w="11429">
            <a:solidFill>
              <a:srgbClr val="1A5F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34000" y="1781175"/>
            <a:ext cx="1981200" cy="342900"/>
          </a:xfrm>
          <a:prstGeom prst="rect">
            <a:avLst/>
          </a:prstGeom>
          <a:noFill/>
        </p:spPr>
        <p:txBody>
          <a:bodyPr wrap="square" lIns="0" tIns="0" rIns="0" bIns="0" anchor="ctr"/>
          <a:lstStyle/>
          <a:p>
            <a:pPr algn="l" latinLnBrk="0" eaLnBrk="1">
              <a:lnSpc>
                <a:spcPct val="100000"/>
              </a:lnSpc>
            </a:pPr>
            <a:r>
              <a:rPr sz="1800" b="1" spc="-36" lang="ko-KR" altLang="en-US">
                <a:solidFill>
                  <a:srgbClr val="1A5FD8"/>
                </a:solidFill>
                <a:latin typeface="맑은 고딕"/>
                <a:ea typeface="맑은 고딕"/>
                <a:cs typeface="맑은 고딕"/>
              </a:rPr>
              <a:t>화면 예시(구성도)</a:t>
            </a:r>
          </a:p>
        </p:txBody>
      </p:sp>
      <p:sp>
        <p:nvSpPr>
          <p:cNvPr id="13" name="Rectangle 12"/>
          <p:cNvSpPr/>
          <p:nvPr/>
        </p:nvSpPr>
        <p:spPr>
          <a:xfrm>
            <a:off x="1066800" y="2190750"/>
            <a:ext cx="1905000" cy="377190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38250" y="2400300"/>
            <a:ext cx="1562100" cy="438150"/>
          </a:xfrm>
          <a:prstGeom prst="roundRect">
            <a:avLst>
              <a:gd name="adj" fmla="val 50000"/>
            </a:avLst>
          </a:prstGeom>
          <a:solidFill>
            <a:srgbClr val="FFFFFF"/>
          </a:solidFill>
          <a:ln w="23812">
            <a:solidFill>
              <a:srgbClr val="1A5F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2400300"/>
            <a:ext cx="1562100" cy="438150"/>
          </a:xfrm>
          <a:prstGeom prst="rect">
            <a:avLst/>
          </a:prstGeom>
          <a:noFill/>
        </p:spPr>
        <p:txBody>
          <a:bodyPr wrap="square" lIns="0" tIns="0" rIns="0" bIns="0" anchor="ctr"/>
          <a:lstStyle/>
          <a:p>
            <a:pPr algn="ctr" latinLnBrk="0" eaLnBrk="1">
              <a:lnSpc>
                <a:spcPct val="100000"/>
              </a:lnSpc>
            </a:pPr>
            <a:r>
              <a:rPr sz="1800" b="1" spc="-36" lang="ko-KR" altLang="en-US">
                <a:solidFill>
                  <a:srgbClr val="1A5FD8"/>
                </a:solidFill>
                <a:latin typeface="맑은 고딕"/>
                <a:ea typeface="맑은 고딕"/>
                <a:cs typeface="맑은 고딕"/>
              </a:rPr>
              <a:t>✎ 새 채팅</a:t>
            </a:r>
          </a:p>
        </p:txBody>
      </p:sp>
      <p:sp>
        <p:nvSpPr>
          <p:cNvPr id="16" name="TextBox 15"/>
          <p:cNvSpPr txBox="1"/>
          <p:nvPr/>
        </p:nvSpPr>
        <p:spPr>
          <a:xfrm>
            <a:off x="1257300" y="3048000"/>
            <a:ext cx="161925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최근 대화</a:t>
            </a:r>
          </a:p>
        </p:txBody>
      </p:sp>
      <p:sp>
        <p:nvSpPr>
          <p:cNvPr id="17" name="Rounded Rectangle 16"/>
          <p:cNvSpPr/>
          <p:nvPr/>
        </p:nvSpPr>
        <p:spPr>
          <a:xfrm>
            <a:off x="1257300" y="3467100"/>
            <a:ext cx="142875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257300" y="3790950"/>
            <a:ext cx="123825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257300" y="4114800"/>
            <a:ext cx="1047750" cy="1333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3448050" y="2762250"/>
            <a:ext cx="2857500" cy="171450"/>
          </a:xfrm>
          <a:prstGeom prst="roundRect">
            <a:avLst>
              <a:gd name="adj" fmla="val 50000"/>
            </a:avLst>
          </a:prstGeom>
          <a:solidFill>
            <a:srgbClr val="E5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352800" y="4000500"/>
            <a:ext cx="2800350" cy="40005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524250" y="4000500"/>
            <a:ext cx="2552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05_강의계획서_초안.md</a:t>
            </a:r>
          </a:p>
        </p:txBody>
      </p:sp>
      <p:sp>
        <p:nvSpPr>
          <p:cNvPr id="23" name="Rounded Rectangle 22"/>
          <p:cNvSpPr/>
          <p:nvPr/>
        </p:nvSpPr>
        <p:spPr>
          <a:xfrm>
            <a:off x="3352800" y="4533900"/>
            <a:ext cx="2009775" cy="40005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524250" y="4533900"/>
            <a:ext cx="1762125"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04_학칙발췌.md</a:t>
            </a:r>
          </a:p>
        </p:txBody>
      </p:sp>
      <p:sp>
        <p:nvSpPr>
          <p:cNvPr id="25" name="Rounded Rectangle 24"/>
          <p:cNvSpPr/>
          <p:nvPr/>
        </p:nvSpPr>
        <p:spPr>
          <a:xfrm>
            <a:off x="3257550" y="5181600"/>
            <a:ext cx="3905250" cy="609600"/>
          </a:xfrm>
          <a:prstGeom prst="roundRect">
            <a:avLst>
              <a:gd name="adj" fmla="val 50000"/>
            </a:avLst>
          </a:prstGeom>
          <a:solidFill>
            <a:srgbClr val="F3F1EC"/>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3390900" y="5276850"/>
            <a:ext cx="419100" cy="419100"/>
          </a:xfrm>
          <a:prstGeom prst="ellipse">
            <a:avLst/>
          </a:prstGeom>
          <a:solidFill>
            <a:srgbClr val="FFFFFF"/>
          </a:solidFill>
          <a:ln w="23812">
            <a:solidFill>
              <a:srgbClr val="1A5F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390900" y="5276850"/>
            <a:ext cx="419100" cy="419100"/>
          </a:xfrm>
          <a:prstGeom prst="rect">
            <a:avLst/>
          </a:prstGeom>
          <a:noFill/>
        </p:spPr>
        <p:txBody>
          <a:bodyPr wrap="square" lIns="0" tIns="0" rIns="0" bIns="0" anchor="ctr"/>
          <a:lstStyle/>
          <a:p>
            <a:pPr algn="ctr" latinLnBrk="0" eaLnBrk="1">
              <a:lnSpc>
                <a:spcPct val="100000"/>
              </a:lnSpc>
            </a:pPr>
            <a:r>
              <a:rPr sz="2250" b="1" spc="-45" lang="ko-KR" altLang="en-US">
                <a:solidFill>
                  <a:srgbClr val="1A5FD8"/>
                </a:solidFill>
                <a:latin typeface="맑은 고딕"/>
                <a:ea typeface="맑은 고딕"/>
                <a:cs typeface="맑은 고딕"/>
              </a:rPr>
              <a:t>+</a:t>
            </a:r>
          </a:p>
        </p:txBody>
      </p:sp>
      <p:sp>
        <p:nvSpPr>
          <p:cNvPr id="28" name="TextBox 27"/>
          <p:cNvSpPr txBox="1"/>
          <p:nvPr/>
        </p:nvSpPr>
        <p:spPr>
          <a:xfrm>
            <a:off x="3962400" y="5181600"/>
            <a:ext cx="2857500" cy="609600"/>
          </a:xfrm>
          <a:prstGeom prst="rect">
            <a:avLst/>
          </a:prstGeom>
          <a:noFill/>
        </p:spPr>
        <p:txBody>
          <a:bodyPr wrap="square" lIns="0" tIns="0" rIns="0" bIns="0" anchor="ctr"/>
          <a:lstStyle/>
          <a:p>
            <a:pPr algn="l" latinLnBrk="0" eaLnBrk="1">
              <a:lnSpc>
                <a:spcPct val="100000"/>
              </a:lnSpc>
            </a:pPr>
            <a:r>
              <a:rPr sz="1800" b="0" spc="-36" lang="ko-KR" altLang="en-US">
                <a:solidFill>
                  <a:srgbClr val="3D3F48"/>
                </a:solidFill>
                <a:latin typeface="맑은 고딕"/>
                <a:ea typeface="맑은 고딕"/>
                <a:cs typeface="맑은 고딕"/>
              </a:rPr>
              <a:t>Gemini에게 물어보기</a:t>
            </a:r>
          </a:p>
        </p:txBody>
      </p:sp>
      <p:sp>
        <p:nvSpPr>
          <p:cNvPr id="29" name="Oval 28"/>
          <p:cNvSpPr/>
          <p:nvPr/>
        </p:nvSpPr>
        <p:spPr>
          <a:xfrm>
            <a:off x="514350" y="2371725"/>
            <a:ext cx="495300" cy="495300"/>
          </a:xfrm>
          <a:prstGeom prst="ellipse">
            <a:avLst/>
          </a:prstGeom>
          <a:solidFill>
            <a:srgbClr val="1A5FD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4350" y="2371725"/>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1</a:t>
            </a:r>
          </a:p>
        </p:txBody>
      </p:sp>
      <p:sp>
        <p:nvSpPr>
          <p:cNvPr id="31" name="Oval 30"/>
          <p:cNvSpPr/>
          <p:nvPr/>
        </p:nvSpPr>
        <p:spPr>
          <a:xfrm>
            <a:off x="2933700" y="5238750"/>
            <a:ext cx="495300" cy="495300"/>
          </a:xfrm>
          <a:prstGeom prst="ellipse">
            <a:avLst/>
          </a:prstGeom>
          <a:solidFill>
            <a:srgbClr val="1A5FD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933700" y="523875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2</a:t>
            </a:r>
          </a:p>
        </p:txBody>
      </p:sp>
      <p:sp>
        <p:nvSpPr>
          <p:cNvPr id="33" name="Oval 32"/>
          <p:cNvSpPr/>
          <p:nvPr/>
        </p:nvSpPr>
        <p:spPr>
          <a:xfrm>
            <a:off x="7581900" y="1866900"/>
            <a:ext cx="495300" cy="495300"/>
          </a:xfrm>
          <a:prstGeom prst="ellipse">
            <a:avLst/>
          </a:prstGeom>
          <a:solidFill>
            <a:srgbClr val="1A5FD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581900" y="18669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1</a:t>
            </a:r>
          </a:p>
        </p:txBody>
      </p:sp>
      <p:sp>
        <p:nvSpPr>
          <p:cNvPr id="35" name="TextBox 34"/>
          <p:cNvSpPr txBox="1"/>
          <p:nvPr/>
        </p:nvSpPr>
        <p:spPr>
          <a:xfrm>
            <a:off x="8229600" y="1866900"/>
            <a:ext cx="3276600" cy="47625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새 채팅</a:t>
            </a:r>
          </a:p>
        </p:txBody>
      </p:sp>
      <p:sp>
        <p:nvSpPr>
          <p:cNvPr id="36" name="TextBox 35"/>
          <p:cNvSpPr txBox="1"/>
          <p:nvPr/>
        </p:nvSpPr>
        <p:spPr>
          <a:xfrm>
            <a:off x="7620000" y="2476500"/>
            <a:ext cx="3886200" cy="1143000"/>
          </a:xfrm>
          <a:prstGeom prst="rect">
            <a:avLst/>
          </a:prstGeom>
          <a:noFill/>
        </p:spPr>
        <p:txBody>
          <a:bodyPr wrap="square" lIns="0" tIns="0" rIns="0" bIns="0" anchor="t"/>
          <a:lstStyle/>
          <a:p>
            <a:pPr algn="l" latinLnBrk="0" eaLnBrk="1">
              <a:lnSpc>
                <a:spcPct val="130000"/>
              </a:lnSpc>
            </a:pPr>
            <a:r>
              <a:rPr sz="2100" b="0" spc="-42" lang="ko-KR" altLang="en-US">
                <a:solidFill>
                  <a:srgbClr val="3D3F48"/>
                </a:solidFill>
                <a:latin typeface="맑은 고딕"/>
                <a:ea typeface="맑은 고딕"/>
                <a:cs typeface="맑은 고딕"/>
              </a:rPr>
              <a:t>활동마다 새로 엽니다.</a:t>
            </a:r>
            <a:br/>
            <a:r>
              <a:rPr sz="2100" b="0" spc="-42" lang="ko-KR" altLang="en-US">
                <a:solidFill>
                  <a:srgbClr val="3D3F48"/>
                </a:solidFill>
                <a:latin typeface="맑은 고딕"/>
                <a:ea typeface="맑은 고딕"/>
                <a:cs typeface="맑은 고딕"/>
              </a:rPr>
              <a:t>자료가 섞이지 않습니다.</a:t>
            </a:r>
          </a:p>
        </p:txBody>
      </p:sp>
      <p:sp>
        <p:nvSpPr>
          <p:cNvPr id="37" name="Oval 36"/>
          <p:cNvSpPr/>
          <p:nvPr/>
        </p:nvSpPr>
        <p:spPr>
          <a:xfrm>
            <a:off x="7581900" y="3962400"/>
            <a:ext cx="495300" cy="495300"/>
          </a:xfrm>
          <a:prstGeom prst="ellipse">
            <a:avLst/>
          </a:prstGeom>
          <a:solidFill>
            <a:srgbClr val="1A5FD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581900" y="39624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FFF"/>
                </a:solidFill>
                <a:latin typeface="맑은 고딕"/>
                <a:ea typeface="맑은 고딕"/>
                <a:cs typeface="맑은 고딕"/>
              </a:rPr>
              <a:t>2</a:t>
            </a:r>
          </a:p>
        </p:txBody>
      </p:sp>
      <p:sp>
        <p:nvSpPr>
          <p:cNvPr id="39" name="TextBox 38"/>
          <p:cNvSpPr txBox="1"/>
          <p:nvPr/>
        </p:nvSpPr>
        <p:spPr>
          <a:xfrm>
            <a:off x="8229600" y="3962400"/>
            <a:ext cx="3276600" cy="476250"/>
          </a:xfrm>
          <a:prstGeom prst="rect">
            <a:avLst/>
          </a:prstGeom>
          <a:noFill/>
        </p:spPr>
        <p:txBody>
          <a:bodyPr wrap="square" lIns="0" tIns="0" rIns="0" bIns="0" anchor="t"/>
          <a:lstStyle/>
          <a:p>
            <a:pPr algn="l" latinLnBrk="0" eaLnBrk="1">
              <a:lnSpc>
                <a:spcPct val="100000"/>
              </a:lnSpc>
            </a:pPr>
            <a:r>
              <a:rPr sz="2400" b="1" spc="-48" lang="ko-KR" altLang="en-US">
                <a:solidFill>
                  <a:srgbClr val="16171C"/>
                </a:solidFill>
                <a:latin typeface="맑은 고딕"/>
                <a:ea typeface="맑은 고딕"/>
                <a:cs typeface="맑은 고딕"/>
              </a:rPr>
              <a:t>+ 버튼</a:t>
            </a:r>
          </a:p>
        </p:txBody>
      </p:sp>
      <p:sp>
        <p:nvSpPr>
          <p:cNvPr id="40" name="TextBox 39"/>
          <p:cNvSpPr txBox="1"/>
          <p:nvPr/>
        </p:nvSpPr>
        <p:spPr>
          <a:xfrm>
            <a:off x="7620000" y="4572000"/>
            <a:ext cx="3886200" cy="1143000"/>
          </a:xfrm>
          <a:prstGeom prst="rect">
            <a:avLst/>
          </a:prstGeom>
          <a:noFill/>
        </p:spPr>
        <p:txBody>
          <a:bodyPr wrap="square" lIns="0" tIns="0" rIns="0" bIns="0" anchor="t"/>
          <a:lstStyle/>
          <a:p>
            <a:pPr algn="l" latinLnBrk="0" eaLnBrk="1">
              <a:lnSpc>
                <a:spcPct val="130000"/>
              </a:lnSpc>
            </a:pPr>
            <a:r>
              <a:rPr sz="2100" b="0" spc="-42" lang="ko-KR" altLang="en-US">
                <a:solidFill>
                  <a:srgbClr val="3D3F48"/>
                </a:solidFill>
                <a:latin typeface="맑은 고딕"/>
                <a:ea typeface="맑은 고딕"/>
                <a:cs typeface="맑은 고딕"/>
              </a:rPr>
              <a:t>파일 두 개를 올립니다.</a:t>
            </a:r>
            <a:br/>
            <a:r>
              <a:rPr sz="2100" b="0" spc="-42" lang="ko-KR" altLang="en-US">
                <a:solidFill>
                  <a:srgbClr val="3D3F48"/>
                </a:solidFill>
                <a:latin typeface="맑은 고딕"/>
                <a:ea typeface="맑은 고딕"/>
                <a:cs typeface="맑은 고딕"/>
              </a:rPr>
              <a:t>계획서와 학칙 발췌.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전체 질문은 사이트 #gemini-syllabus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36</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3-1 · 강의계획서</a:t>
            </a:r>
          </a:p>
        </p:txBody>
      </p:sp>
      <p:sp>
        <p:nvSpPr>
          <p:cNvPr id="6" name="Rounded Rectangle 5"/>
          <p:cNvSpPr/>
          <p:nvPr/>
        </p:nvSpPr>
        <p:spPr>
          <a:xfrm>
            <a:off x="9435084" y="219075"/>
            <a:ext cx="2066925"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87484" y="357188"/>
            <a:ext cx="133350" cy="1333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16084" y="219075"/>
            <a:ext cx="1609725"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10분 · Gemini</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강의계획서 초안의 틀린 곳을 학칙과 맞춰 고칩니다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1A5FD8"/>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계획서·학칙 두 파일 올리기</a:t>
            </a:r>
            <a:r>
              <a:rPr sz="2025" b="1" spc="-40" lang="ko-KR" altLang="en-US">
                <a:solidFill>
                  <a:srgbClr val="1A5FD8"/>
                </a:solidFill>
                <a:latin typeface="맑은 고딕"/>
                <a:ea typeface="맑은 고딕"/>
                <a:cs typeface="맑은 고딕"/>
              </a:rPr>
              <a:t>   →   </a:t>
            </a:r>
            <a:r>
              <a:rPr sz="2025" b="1" spc="-40" lang="ko-KR" altLang="en-US">
                <a:solidFill>
                  <a:srgbClr val="1A5FD8"/>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질문 4-1 붙여 넣기</a:t>
            </a:r>
            <a:r>
              <a:rPr sz="2025" b="1" spc="-40" lang="ko-KR" altLang="en-US">
                <a:solidFill>
                  <a:srgbClr val="1A5FD8"/>
                </a:solidFill>
                <a:latin typeface="맑은 고딕"/>
                <a:ea typeface="맑은 고딕"/>
                <a:cs typeface="맑은 고딕"/>
              </a:rPr>
              <a:t>   →   </a:t>
            </a:r>
            <a:r>
              <a:rPr sz="2025" b="1" spc="-40" lang="ko-KR" altLang="en-US">
                <a:solidFill>
                  <a:srgbClr val="1A5FD8"/>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비율 더하기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강의계획서를 검토하는 동료 교수</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계획서 초안과 학칙 발췌만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위치·문제·고친 문장 표, 다음에 고친 계획서</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학칙과 다른 출석 기준 · 교수가 안 정한 값은 [확인 필요]로</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위치</a:t>
            </a:r>
          </a:p>
        </p:txBody>
      </p:sp>
      <p:sp>
        <p:nvSpPr>
          <p:cNvPr id="18" name="TextBox 17"/>
          <p:cNvSpPr txBox="1"/>
          <p:nvPr/>
        </p:nvSpPr>
        <p:spPr>
          <a:xfrm>
            <a:off x="7962900" y="28956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문제</a:t>
            </a:r>
          </a:p>
        </p:txBody>
      </p:sp>
      <p:sp>
        <p:nvSpPr>
          <p:cNvPr id="19" name="TextBox 18"/>
          <p:cNvSpPr txBox="1"/>
          <p:nvPr/>
        </p:nvSpPr>
        <p:spPr>
          <a:xfrm>
            <a:off x="9582150" y="2895600"/>
            <a:ext cx="1657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고친 문장</a:t>
            </a:r>
          </a:p>
        </p:txBody>
      </p:sp>
      <p:sp>
        <p:nvSpPr>
          <p:cNvPr id="20" name="Rectangle 19"/>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34150" y="329565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평가 방법</a:t>
            </a:r>
          </a:p>
        </p:txBody>
      </p:sp>
      <p:sp>
        <p:nvSpPr>
          <p:cNvPr id="22" name="TextBox 21"/>
          <p:cNvSpPr txBox="1"/>
          <p:nvPr/>
        </p:nvSpPr>
        <p:spPr>
          <a:xfrm>
            <a:off x="7962900" y="329565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3" name="TextBox 22"/>
          <p:cNvSpPr txBox="1"/>
          <p:nvPr/>
        </p:nvSpPr>
        <p:spPr>
          <a:xfrm>
            <a:off x="9582150" y="329565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4" name="Rectangle 23"/>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34150" y="369570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출석 기준</a:t>
            </a:r>
          </a:p>
        </p:txBody>
      </p:sp>
      <p:sp>
        <p:nvSpPr>
          <p:cNvPr id="26" name="TextBox 25"/>
          <p:cNvSpPr txBox="1"/>
          <p:nvPr/>
        </p:nvSpPr>
        <p:spPr>
          <a:xfrm>
            <a:off x="7962900" y="369570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7" name="TextBox 26"/>
          <p:cNvSpPr txBox="1"/>
          <p:nvPr/>
        </p:nvSpPr>
        <p:spPr>
          <a:xfrm>
            <a:off x="9582150" y="369570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8" name="Rectangle 27"/>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34150" y="409575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주차별 일정</a:t>
            </a:r>
          </a:p>
        </p:txBody>
      </p:sp>
      <p:sp>
        <p:nvSpPr>
          <p:cNvPr id="30" name="TextBox 29"/>
          <p:cNvSpPr txBox="1"/>
          <p:nvPr/>
        </p:nvSpPr>
        <p:spPr>
          <a:xfrm>
            <a:off x="7962900" y="409575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1" name="TextBox 30"/>
          <p:cNvSpPr txBox="1"/>
          <p:nvPr/>
        </p:nvSpPr>
        <p:spPr>
          <a:xfrm>
            <a:off x="9582150" y="409575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2" name="Rectangle 31"/>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4150" y="449580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a:t>
            </a:r>
          </a:p>
        </p:txBody>
      </p:sp>
      <p:sp>
        <p:nvSpPr>
          <p:cNvPr id="34" name="TextBox 33"/>
          <p:cNvSpPr txBox="1"/>
          <p:nvPr/>
        </p:nvSpPr>
        <p:spPr>
          <a:xfrm>
            <a:off x="7962900" y="449580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5" name="TextBox 34"/>
          <p:cNvSpPr txBox="1"/>
          <p:nvPr/>
        </p:nvSpPr>
        <p:spPr>
          <a:xfrm>
            <a:off x="9582150" y="449580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6" name="Rectangle 35"/>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34150" y="489585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고친 비율 합</a:t>
            </a:r>
          </a:p>
        </p:txBody>
      </p:sp>
      <p:sp>
        <p:nvSpPr>
          <p:cNvPr id="38" name="TextBox 37"/>
          <p:cNvSpPr txBox="1"/>
          <p:nvPr/>
        </p:nvSpPr>
        <p:spPr>
          <a:xfrm>
            <a:off x="7962900" y="4895850"/>
            <a:ext cx="1485900" cy="400050"/>
          </a:xfrm>
          <a:prstGeom prst="rect">
            <a:avLst/>
          </a:prstGeom>
          <a:noFill/>
        </p:spPr>
        <p:txBody>
          <a:bodyPr wrap="square" lIns="0" tIns="0" rIns="0" bIns="0" anchor="ctr"/>
          <a:lstStyle/>
          <a:p>
            <a:pPr algn="l" latinLnBrk="0" eaLnBrk="1">
              <a:lnSpc>
                <a:spcPct val="100000"/>
              </a:lnSpc>
            </a:pPr>
          </a:p>
        </p:txBody>
      </p:sp>
      <p:sp>
        <p:nvSpPr>
          <p:cNvPr id="39" name="TextBox 38"/>
          <p:cNvSpPr txBox="1"/>
          <p:nvPr/>
        </p:nvSpPr>
        <p:spPr>
          <a:xfrm>
            <a:off x="9582150" y="489585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100%?</a:t>
            </a:r>
          </a:p>
        </p:txBody>
      </p:sp>
      <p:sp>
        <p:nvSpPr>
          <p:cNvPr id="40" name="Rounded Rectangle 39"/>
          <p:cNvSpPr/>
          <p:nvPr/>
        </p:nvSpPr>
        <p:spPr>
          <a:xfrm>
            <a:off x="9505950" y="4924425"/>
            <a:ext cx="1752600" cy="342900"/>
          </a:xfrm>
          <a:prstGeom prst="roundRect">
            <a:avLst>
              <a:gd name="adj" fmla="val 50000"/>
            </a:avLst>
          </a:prstGeom>
          <a:noFill/>
          <a:ln w="33337">
            <a:solidFill>
              <a:srgbClr val="1A5F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A5FD8"/>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고친 평가 비율의 합이 100%인가?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정답 기준 · 해설 4-1</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37</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정답 기준 · 12곳 중 핵심 4곳</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초안에는 고칠 곳이 열두 군데 숨어 있습니다</a:t>
            </a:r>
          </a:p>
        </p:txBody>
      </p:sp>
      <p:sp>
        <p:nvSpPr>
          <p:cNvPr id="6" name="TextBox 5"/>
          <p:cNvSpPr txBox="1"/>
          <p:nvPr/>
        </p:nvSpPr>
        <p:spPr>
          <a:xfrm>
            <a:off x="685800" y="1866900"/>
            <a:ext cx="4381500" cy="1809750"/>
          </a:xfrm>
          <a:prstGeom prst="rect">
            <a:avLst/>
          </a:prstGeom>
          <a:noFill/>
        </p:spPr>
        <p:txBody>
          <a:bodyPr wrap="square" lIns="0" tIns="0" rIns="0" bIns="0" anchor="t"/>
          <a:lstStyle/>
          <a:p>
            <a:pPr algn="l" latinLnBrk="0" eaLnBrk="1">
              <a:lnSpc>
                <a:spcPct val="100000"/>
              </a:lnSpc>
            </a:pPr>
            <a:r>
              <a:rPr sz="11250" b="1" spc="-225" lang="ko-KR" altLang="en-US">
                <a:solidFill>
                  <a:srgbClr val="B42318"/>
                </a:solidFill>
                <a:latin typeface="맑은 고딕"/>
                <a:ea typeface="맑은 고딕"/>
                <a:cs typeface="맑은 고딕"/>
              </a:rPr>
              <a:t>110%</a:t>
            </a:r>
          </a:p>
        </p:txBody>
      </p:sp>
      <p:sp>
        <p:nvSpPr>
          <p:cNvPr id="7" name="TextBox 6"/>
          <p:cNvSpPr txBox="1"/>
          <p:nvPr/>
        </p:nvSpPr>
        <p:spPr>
          <a:xfrm>
            <a:off x="685800" y="3619500"/>
            <a:ext cx="4191000" cy="857250"/>
          </a:xfrm>
          <a:prstGeom prst="rect">
            <a:avLst/>
          </a:prstGeom>
          <a:noFill/>
        </p:spPr>
        <p:txBody>
          <a:bodyPr wrap="square" lIns="0" tIns="0" rIns="0" bIns="0" anchor="t"/>
          <a:lstStyle/>
          <a:p>
            <a:pPr algn="l" latinLnBrk="0" eaLnBrk="1">
              <a:lnSpc>
                <a:spcPct val="130000"/>
              </a:lnSpc>
            </a:pPr>
            <a:r>
              <a:rPr sz="2100" b="1" spc="-42" lang="ko-KR" altLang="en-US">
                <a:solidFill>
                  <a:srgbClr val="3D3F48"/>
                </a:solidFill>
                <a:latin typeface="맑은 고딕"/>
                <a:ea typeface="맑은 고딕"/>
                <a:cs typeface="맑은 고딕"/>
              </a:rPr>
              <a:t>평가 비율의 합</a:t>
            </a:r>
            <a:br/>
            <a:r>
              <a:rPr sz="2100" b="1" spc="-42" lang="ko-KR" altLang="en-US">
                <a:solidFill>
                  <a:srgbClr val="3D3F48"/>
                </a:solidFill>
                <a:latin typeface="맑은 고딕"/>
                <a:ea typeface="맑은 고딕"/>
                <a:cs typeface="맑은 고딕"/>
              </a:rPr>
              <a:t>10+15+15+25+35+10</a:t>
            </a:r>
          </a:p>
        </p:txBody>
      </p:sp>
      <p:sp>
        <p:nvSpPr>
          <p:cNvPr id="8" name="Rounded Rectangle 7"/>
          <p:cNvSpPr/>
          <p:nvPr/>
        </p:nvSpPr>
        <p:spPr>
          <a:xfrm>
            <a:off x="5334000" y="1866900"/>
            <a:ext cx="6172200" cy="952500"/>
          </a:xfrm>
          <a:prstGeom prst="roundRect">
            <a:avLst>
              <a:gd name="adj" fmla="val 1400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334000" y="1866900"/>
            <a:ext cx="95250" cy="9525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76900" y="1866900"/>
            <a:ext cx="2857500" cy="952500"/>
          </a:xfrm>
          <a:prstGeom prst="rect">
            <a:avLst/>
          </a:prstGeom>
          <a:noFill/>
        </p:spPr>
        <p:txBody>
          <a:bodyPr wrap="square" lIns="0" tIns="0" rIns="0" bIns="0" anchor="ctr"/>
          <a:lstStyle/>
          <a:p>
            <a:pPr algn="l" latinLnBrk="0" eaLnBrk="1">
              <a:lnSpc>
                <a:spcPct val="110000"/>
              </a:lnSpc>
            </a:pPr>
            <a:r>
              <a:rPr sz="2100" b="1" spc="-42" lang="ko-KR" altLang="en-US">
                <a:solidFill>
                  <a:srgbClr val="16171C"/>
                </a:solidFill>
                <a:latin typeface="맑은 고딕"/>
                <a:ea typeface="맑은 고딕"/>
                <a:cs typeface="맑은 고딕"/>
              </a:rPr>
              <a:t>결석 5회 이상 F</a:t>
            </a:r>
          </a:p>
        </p:txBody>
      </p:sp>
      <p:sp>
        <p:nvSpPr>
          <p:cNvPr id="11" name="TextBox 10"/>
          <p:cNvSpPr txBox="1"/>
          <p:nvPr/>
        </p:nvSpPr>
        <p:spPr>
          <a:xfrm>
            <a:off x="8572500" y="1866900"/>
            <a:ext cx="2762250" cy="952500"/>
          </a:xfrm>
          <a:prstGeom prst="rect">
            <a:avLst/>
          </a:prstGeom>
          <a:noFill/>
        </p:spPr>
        <p:txBody>
          <a:bodyPr wrap="square" lIns="0" tIns="0" rIns="0" bIns="0" anchor="ctr"/>
          <a:lstStyle/>
          <a:p>
            <a:pPr algn="l" latinLnBrk="0" eaLnBrk="1">
              <a:lnSpc>
                <a:spcPct val="110000"/>
              </a:lnSpc>
            </a:pPr>
            <a:r>
              <a:rPr sz="2100" b="0" spc="-42" lang="ko-KR" altLang="en-US">
                <a:solidFill>
                  <a:srgbClr val="1A5FD8"/>
                </a:solidFill>
                <a:latin typeface="맑은 고딕"/>
                <a:ea typeface="맑은 고딕"/>
                <a:cs typeface="맑은 고딕"/>
              </a:rPr>
              <a:t>→ </a:t>
            </a:r>
            <a:r>
              <a:rPr sz="2100" b="0" spc="-42" lang="ko-KR" altLang="en-US">
                <a:solidFill>
                  <a:srgbClr val="3D3F48"/>
                </a:solidFill>
                <a:latin typeface="맑은 고딕"/>
                <a:ea typeface="맑은 고딕"/>
                <a:cs typeface="맑은 고딕"/>
              </a:rPr>
              <a:t>학칙은 8회부터 F</a:t>
            </a:r>
          </a:p>
        </p:txBody>
      </p:sp>
      <p:sp>
        <p:nvSpPr>
          <p:cNvPr id="12" name="Rounded Rectangle 11"/>
          <p:cNvSpPr/>
          <p:nvPr/>
        </p:nvSpPr>
        <p:spPr>
          <a:xfrm>
            <a:off x="5334000" y="2971800"/>
            <a:ext cx="6172200" cy="952500"/>
          </a:xfrm>
          <a:prstGeom prst="roundRect">
            <a:avLst>
              <a:gd name="adj" fmla="val 1400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334000" y="2971800"/>
            <a:ext cx="95250" cy="9525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76900" y="2971800"/>
            <a:ext cx="2857500" cy="952500"/>
          </a:xfrm>
          <a:prstGeom prst="rect">
            <a:avLst/>
          </a:prstGeom>
          <a:noFill/>
        </p:spPr>
        <p:txBody>
          <a:bodyPr wrap="square" lIns="0" tIns="0" rIns="0" bIns="0" anchor="ctr"/>
          <a:lstStyle/>
          <a:p>
            <a:pPr algn="l" latinLnBrk="0" eaLnBrk="1">
              <a:lnSpc>
                <a:spcPct val="110000"/>
              </a:lnSpc>
            </a:pPr>
            <a:r>
              <a:rPr sz="2100" b="1" spc="-42" lang="ko-KR" altLang="en-US">
                <a:solidFill>
                  <a:srgbClr val="16171C"/>
                </a:solidFill>
                <a:latin typeface="맑은 고딕"/>
                <a:ea typeface="맑은 고딕"/>
                <a:cs typeface="맑은 고딕"/>
              </a:rPr>
              <a:t>과제2 마감 10/20</a:t>
            </a:r>
          </a:p>
        </p:txBody>
      </p:sp>
      <p:sp>
        <p:nvSpPr>
          <p:cNvPr id="15" name="TextBox 14"/>
          <p:cNvSpPr txBox="1"/>
          <p:nvPr/>
        </p:nvSpPr>
        <p:spPr>
          <a:xfrm>
            <a:off x="8572500" y="2971800"/>
            <a:ext cx="2762250" cy="952500"/>
          </a:xfrm>
          <a:prstGeom prst="rect">
            <a:avLst/>
          </a:prstGeom>
          <a:noFill/>
        </p:spPr>
        <p:txBody>
          <a:bodyPr wrap="square" lIns="0" tIns="0" rIns="0" bIns="0" anchor="ctr"/>
          <a:lstStyle/>
          <a:p>
            <a:pPr algn="l" latinLnBrk="0" eaLnBrk="1">
              <a:lnSpc>
                <a:spcPct val="110000"/>
              </a:lnSpc>
            </a:pPr>
            <a:r>
              <a:rPr sz="2100" b="0" spc="-42" lang="ko-KR" altLang="en-US">
                <a:solidFill>
                  <a:srgbClr val="1A5FD8"/>
                </a:solidFill>
                <a:latin typeface="맑은 고딕"/>
                <a:ea typeface="맑은 고딕"/>
                <a:cs typeface="맑은 고딕"/>
              </a:rPr>
              <a:t>→ </a:t>
            </a:r>
            <a:r>
              <a:rPr sz="2100" b="0" spc="-42" lang="ko-KR" altLang="en-US">
                <a:solidFill>
                  <a:srgbClr val="3D3F48"/>
                </a:solidFill>
                <a:latin typeface="맑은 고딕"/>
                <a:ea typeface="맑은 고딕"/>
                <a:cs typeface="맑은 고딕"/>
              </a:rPr>
              <a:t>일정표에는 10/15</a:t>
            </a:r>
          </a:p>
        </p:txBody>
      </p:sp>
      <p:sp>
        <p:nvSpPr>
          <p:cNvPr id="16" name="Rounded Rectangle 15"/>
          <p:cNvSpPr/>
          <p:nvPr/>
        </p:nvSpPr>
        <p:spPr>
          <a:xfrm>
            <a:off x="5334000" y="4076700"/>
            <a:ext cx="6172200" cy="952500"/>
          </a:xfrm>
          <a:prstGeom prst="roundRect">
            <a:avLst>
              <a:gd name="adj" fmla="val 1400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334000" y="4076700"/>
            <a:ext cx="95250" cy="9525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76900" y="4076700"/>
            <a:ext cx="2857500" cy="952500"/>
          </a:xfrm>
          <a:prstGeom prst="rect">
            <a:avLst/>
          </a:prstGeom>
          <a:noFill/>
        </p:spPr>
        <p:txBody>
          <a:bodyPr wrap="square" lIns="0" tIns="0" rIns="0" bIns="0" anchor="ctr"/>
          <a:lstStyle/>
          <a:p>
            <a:pPr algn="l" latinLnBrk="0" eaLnBrk="1">
              <a:lnSpc>
                <a:spcPct val="110000"/>
              </a:lnSpc>
            </a:pPr>
            <a:r>
              <a:rPr sz="2100" b="1" spc="-42" lang="ko-KR" altLang="en-US">
                <a:solidFill>
                  <a:srgbClr val="16171C"/>
                </a:solidFill>
                <a:latin typeface="맑은 고딕"/>
                <a:ea typeface="맑은 고딕"/>
                <a:cs typeface="맑은 고딕"/>
              </a:rPr>
              <a:t>9주차가 두 번</a:t>
            </a:r>
          </a:p>
        </p:txBody>
      </p:sp>
      <p:sp>
        <p:nvSpPr>
          <p:cNvPr id="19" name="TextBox 18"/>
          <p:cNvSpPr txBox="1"/>
          <p:nvPr/>
        </p:nvSpPr>
        <p:spPr>
          <a:xfrm>
            <a:off x="8572500" y="4076700"/>
            <a:ext cx="2762250" cy="952500"/>
          </a:xfrm>
          <a:prstGeom prst="rect">
            <a:avLst/>
          </a:prstGeom>
          <a:noFill/>
        </p:spPr>
        <p:txBody>
          <a:bodyPr wrap="square" lIns="0" tIns="0" rIns="0" bIns="0" anchor="ctr"/>
          <a:lstStyle/>
          <a:p>
            <a:pPr algn="l" latinLnBrk="0" eaLnBrk="1">
              <a:lnSpc>
                <a:spcPct val="110000"/>
              </a:lnSpc>
            </a:pPr>
            <a:r>
              <a:rPr sz="2100" b="0" spc="-42" lang="ko-KR" altLang="en-US">
                <a:solidFill>
                  <a:srgbClr val="1A5FD8"/>
                </a:solidFill>
                <a:latin typeface="맑은 고딕"/>
                <a:ea typeface="맑은 고딕"/>
                <a:cs typeface="맑은 고딕"/>
              </a:rPr>
              <a:t>→ </a:t>
            </a:r>
            <a:r>
              <a:rPr sz="2100" b="0" spc="-42" lang="ko-KR" altLang="en-US">
                <a:solidFill>
                  <a:srgbClr val="3D3F48"/>
                </a:solidFill>
                <a:latin typeface="맑은 고딕"/>
                <a:ea typeface="맑은 고딕"/>
                <a:cs typeface="맑은 고딕"/>
              </a:rPr>
              <a:t>13주차가 없음</a:t>
            </a:r>
          </a:p>
        </p:txBody>
      </p:sp>
      <p:sp>
        <p:nvSpPr>
          <p:cNvPr id="20" name="Rounded Rectangle 19"/>
          <p:cNvSpPr/>
          <p:nvPr/>
        </p:nvSpPr>
        <p:spPr>
          <a:xfrm>
            <a:off x="685800" y="5334000"/>
            <a:ext cx="10820400" cy="762000"/>
          </a:xfrm>
          <a:prstGeom prst="roundRect">
            <a:avLst>
              <a:gd name="adj" fmla="val 15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500" y="5334000"/>
            <a:ext cx="10287000" cy="762000"/>
          </a:xfrm>
          <a:prstGeom prst="rect">
            <a:avLst/>
          </a:prstGeom>
          <a:noFill/>
        </p:spPr>
        <p:txBody>
          <a:bodyPr wrap="square" lIns="0" tIns="0" rIns="0" bIns="0" anchor="ctr"/>
          <a:lstStyle/>
          <a:p>
            <a:pPr algn="l" latinLnBrk="0" eaLnBrk="1">
              <a:lnSpc>
                <a:spcPct val="120000"/>
              </a:lnSpc>
            </a:pPr>
            <a:r>
              <a:rPr sz="1950" b="0" spc="-39" lang="ko-KR" altLang="en-US">
                <a:solidFill>
                  <a:srgbClr val="3D3F48"/>
                </a:solidFill>
                <a:latin typeface="맑은 고딕"/>
                <a:ea typeface="맑은 고딕"/>
                <a:cs typeface="맑은 고딕"/>
              </a:rPr>
              <a:t>그 밖 8곳: 감점 기준, 평가 기준 '추후 안내', 면담 장소, 공지 채널, AI 원칙 등</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전체 질문은 사이트 #gemini-syllabus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38</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3-2 · 루브릭</a:t>
            </a:r>
          </a:p>
        </p:txBody>
      </p:sp>
      <p:sp>
        <p:nvSpPr>
          <p:cNvPr id="6" name="Rounded Rectangle 5"/>
          <p:cNvSpPr/>
          <p:nvPr/>
        </p:nvSpPr>
        <p:spPr>
          <a:xfrm>
            <a:off x="9576816" y="219075"/>
            <a:ext cx="1924050"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729216" y="357188"/>
            <a:ext cx="133350" cy="1333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57816" y="219075"/>
            <a:ext cx="146685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6분 · Gemini</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기말 프로젝트 루브릭에 '개인 기여'를 넣습니다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1A5FD8"/>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같은 채팅에서 질문 4-2</a:t>
            </a:r>
            <a:r>
              <a:rPr sz="2025" b="1" spc="-40" lang="ko-KR" altLang="en-US">
                <a:solidFill>
                  <a:srgbClr val="1A5FD8"/>
                </a:solidFill>
                <a:latin typeface="맑은 고딕"/>
                <a:ea typeface="맑은 고딕"/>
                <a:cs typeface="맑은 고딕"/>
              </a:rPr>
              <a:t>   →   </a:t>
            </a:r>
            <a:r>
              <a:rPr sz="2025" b="1" spc="-40" lang="ko-KR" altLang="en-US">
                <a:solidFill>
                  <a:srgbClr val="1A5FD8"/>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배점 더하기</a:t>
            </a:r>
            <a:r>
              <a:rPr sz="2025" b="1" spc="-40" lang="ko-KR" altLang="en-US">
                <a:solidFill>
                  <a:srgbClr val="1A5FD8"/>
                </a:solidFill>
                <a:latin typeface="맑은 고딕"/>
                <a:ea typeface="맑은 고딕"/>
                <a:cs typeface="맑은 고딕"/>
              </a:rPr>
              <a:t>   →   </a:t>
            </a:r>
            <a:r>
              <a:rPr sz="2025" b="1" spc="-40" lang="ko-KR" altLang="en-US">
                <a:solidFill>
                  <a:srgbClr val="1A5FD8"/>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'개인 기여' 확인</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같은 동료 교수</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계획서의 '기말 프로젝트'만</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100점, 기준 5개 × 수준 4단계, '개인 기여' 포함</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'우수·미흡'만 쓰기, 계획서에 없는 제출물</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기준</a:t>
            </a:r>
          </a:p>
        </p:txBody>
      </p:sp>
      <p:sp>
        <p:nvSpPr>
          <p:cNvPr id="18" name="TextBox 17"/>
          <p:cNvSpPr txBox="1"/>
          <p:nvPr/>
        </p:nvSpPr>
        <p:spPr>
          <a:xfrm>
            <a:off x="8153400" y="2895600"/>
            <a:ext cx="723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배점</a:t>
            </a:r>
          </a:p>
        </p:txBody>
      </p:sp>
      <p:sp>
        <p:nvSpPr>
          <p:cNvPr id="19" name="TextBox 18"/>
          <p:cNvSpPr txBox="1"/>
          <p:nvPr/>
        </p:nvSpPr>
        <p:spPr>
          <a:xfrm>
            <a:off x="9010650" y="2895600"/>
            <a:ext cx="22288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수준 4단계</a:t>
            </a:r>
          </a:p>
        </p:txBody>
      </p:sp>
      <p:sp>
        <p:nvSpPr>
          <p:cNvPr id="20" name="Rectangle 19"/>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34150" y="329565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자료 수집</a:t>
            </a:r>
          </a:p>
        </p:txBody>
      </p:sp>
      <p:sp>
        <p:nvSpPr>
          <p:cNvPr id="22" name="TextBox 21"/>
          <p:cNvSpPr txBox="1"/>
          <p:nvPr/>
        </p:nvSpPr>
        <p:spPr>
          <a:xfrm>
            <a:off x="8153400" y="329565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__</a:t>
            </a:r>
          </a:p>
        </p:txBody>
      </p:sp>
      <p:sp>
        <p:nvSpPr>
          <p:cNvPr id="23" name="TextBox 22"/>
          <p:cNvSpPr txBox="1"/>
          <p:nvPr/>
        </p:nvSpPr>
        <p:spPr>
          <a:xfrm>
            <a:off x="9010650" y="329565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4" name="Rectangle 23"/>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34150" y="36957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분석</a:t>
            </a:r>
          </a:p>
        </p:txBody>
      </p:sp>
      <p:sp>
        <p:nvSpPr>
          <p:cNvPr id="26" name="TextBox 25"/>
          <p:cNvSpPr txBox="1"/>
          <p:nvPr/>
        </p:nvSpPr>
        <p:spPr>
          <a:xfrm>
            <a:off x="8153400" y="369570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__</a:t>
            </a:r>
          </a:p>
        </p:txBody>
      </p:sp>
      <p:sp>
        <p:nvSpPr>
          <p:cNvPr id="27" name="TextBox 26"/>
          <p:cNvSpPr txBox="1"/>
          <p:nvPr/>
        </p:nvSpPr>
        <p:spPr>
          <a:xfrm>
            <a:off x="9010650" y="369570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28" name="Rectangle 27"/>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34150" y="409575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개인 기여</a:t>
            </a:r>
          </a:p>
        </p:txBody>
      </p:sp>
      <p:sp>
        <p:nvSpPr>
          <p:cNvPr id="30" name="TextBox 29"/>
          <p:cNvSpPr txBox="1"/>
          <p:nvPr/>
        </p:nvSpPr>
        <p:spPr>
          <a:xfrm>
            <a:off x="8153400" y="409575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__</a:t>
            </a:r>
          </a:p>
        </p:txBody>
      </p:sp>
      <p:sp>
        <p:nvSpPr>
          <p:cNvPr id="31" name="TextBox 30"/>
          <p:cNvSpPr txBox="1"/>
          <p:nvPr/>
        </p:nvSpPr>
        <p:spPr>
          <a:xfrm>
            <a:off x="9010650" y="409575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조원 평가 반영</a:t>
            </a:r>
          </a:p>
        </p:txBody>
      </p:sp>
      <p:sp>
        <p:nvSpPr>
          <p:cNvPr id="32" name="Rectangle 31"/>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4150" y="44958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a:t>
            </a:r>
          </a:p>
        </p:txBody>
      </p:sp>
      <p:sp>
        <p:nvSpPr>
          <p:cNvPr id="34" name="TextBox 33"/>
          <p:cNvSpPr txBox="1"/>
          <p:nvPr/>
        </p:nvSpPr>
        <p:spPr>
          <a:xfrm>
            <a:off x="8153400" y="449580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5" name="TextBox 34"/>
          <p:cNvSpPr txBox="1"/>
          <p:nvPr/>
        </p:nvSpPr>
        <p:spPr>
          <a:xfrm>
            <a:off x="9010650" y="449580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a:t>
            </a:r>
          </a:p>
        </p:txBody>
      </p:sp>
      <p:sp>
        <p:nvSpPr>
          <p:cNvPr id="36" name="Rectangle 35"/>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34150" y="489585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합계</a:t>
            </a:r>
          </a:p>
        </p:txBody>
      </p:sp>
      <p:sp>
        <p:nvSpPr>
          <p:cNvPr id="38" name="TextBox 37"/>
          <p:cNvSpPr txBox="1"/>
          <p:nvPr/>
        </p:nvSpPr>
        <p:spPr>
          <a:xfrm>
            <a:off x="8153400" y="489585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100?</a:t>
            </a:r>
          </a:p>
        </p:txBody>
      </p:sp>
      <p:sp>
        <p:nvSpPr>
          <p:cNvPr id="39" name="Rounded Rectangle 38"/>
          <p:cNvSpPr/>
          <p:nvPr/>
        </p:nvSpPr>
        <p:spPr>
          <a:xfrm>
            <a:off x="8077200" y="4924425"/>
            <a:ext cx="819150" cy="342900"/>
          </a:xfrm>
          <a:prstGeom prst="roundRect">
            <a:avLst>
              <a:gd name="adj" fmla="val 50000"/>
            </a:avLst>
          </a:prstGeom>
          <a:noFill/>
          <a:ln w="33337">
            <a:solidFill>
              <a:srgbClr val="1A5F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10650" y="4895850"/>
            <a:ext cx="2228850" cy="400050"/>
          </a:xfrm>
          <a:prstGeom prst="rect">
            <a:avLst/>
          </a:prstGeom>
          <a:noFill/>
        </p:spPr>
        <p:txBody>
          <a:bodyPr wrap="square" lIns="0" tIns="0" rIns="0" bIns="0" anchor="ctr"/>
          <a:lstStyle/>
          <a:p>
            <a:pPr algn="l" latinLnBrk="0" eaLnBrk="1">
              <a:lnSpc>
                <a:spcPct val="100000"/>
              </a:lnSpc>
            </a:pPr>
          </a:p>
        </p:txBody>
      </p:sp>
      <p:sp>
        <p:nvSpPr>
          <p:cNvPr id="41" name="Rounded Rectangle 40"/>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A5FD8"/>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기준별 배점을 더하면 100점인가?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전체 질문은 사이트 #gemini-syllabus</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39</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3-3 · 학칙 근거 답장</a:t>
            </a:r>
          </a:p>
        </p:txBody>
      </p:sp>
      <p:sp>
        <p:nvSpPr>
          <p:cNvPr id="6" name="Rounded Rectangle 5"/>
          <p:cNvSpPr/>
          <p:nvPr/>
        </p:nvSpPr>
        <p:spPr>
          <a:xfrm>
            <a:off x="9576816" y="219075"/>
            <a:ext cx="1924050"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729216" y="357188"/>
            <a:ext cx="133350" cy="1333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57816" y="219075"/>
            <a:ext cx="146685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8분 · Gemini</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학칙을 근거로 까다로운 메일 다섯 통에 답합니다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1A5FD8"/>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새 채팅에 학칙·메일 올리기</a:t>
            </a:r>
            <a:r>
              <a:rPr sz="2025" b="1" spc="-40" lang="ko-KR" altLang="en-US">
                <a:solidFill>
                  <a:srgbClr val="1A5FD8"/>
                </a:solidFill>
                <a:latin typeface="맑은 고딕"/>
                <a:ea typeface="맑은 고딕"/>
                <a:cs typeface="맑은 고딕"/>
              </a:rPr>
              <a:t>   →   </a:t>
            </a:r>
            <a:r>
              <a:rPr sz="2025" b="1" spc="-40" lang="ko-KR" altLang="en-US">
                <a:solidFill>
                  <a:srgbClr val="1A5FD8"/>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질문 4-3</a:t>
            </a:r>
            <a:r>
              <a:rPr sz="2025" b="1" spc="-40" lang="ko-KR" altLang="en-US">
                <a:solidFill>
                  <a:srgbClr val="1A5FD8"/>
                </a:solidFill>
                <a:latin typeface="맑은 고딕"/>
                <a:ea typeface="맑은 고딕"/>
                <a:cs typeface="맑은 고딕"/>
              </a:rPr>
              <a:t>   →   </a:t>
            </a:r>
            <a:r>
              <a:rPr sz="2025" b="1" spc="-40" lang="ko-KR" altLang="en-US">
                <a:solidFill>
                  <a:srgbClr val="1A5FD8"/>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M16 답장부터 읽기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답장 초안 조교, 오늘은 2026-10-19(월)</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학칙 발췌, M11·M16·M23·M33·M35</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메일마다 5문장 이내 + 근거 조항 번호</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학칙에 없는 예외, 보호자에게 학생 정보</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메일</a:t>
            </a:r>
          </a:p>
        </p:txBody>
      </p:sp>
      <p:sp>
        <p:nvSpPr>
          <p:cNvPr id="18" name="TextBox 17"/>
          <p:cNvSpPr txBox="1"/>
          <p:nvPr/>
        </p:nvSpPr>
        <p:spPr>
          <a:xfrm>
            <a:off x="7334250" y="2895600"/>
            <a:ext cx="26670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답장 요지</a:t>
            </a:r>
          </a:p>
        </p:txBody>
      </p:sp>
      <p:sp>
        <p:nvSpPr>
          <p:cNvPr id="19" name="TextBox 18"/>
          <p:cNvSpPr txBox="1"/>
          <p:nvPr/>
        </p:nvSpPr>
        <p:spPr>
          <a:xfrm>
            <a:off x="10134600" y="2895600"/>
            <a:ext cx="1104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조항</a:t>
            </a:r>
          </a:p>
        </p:txBody>
      </p:sp>
      <p:sp>
        <p:nvSpPr>
          <p:cNvPr id="20" name="Rectangle 19"/>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34150" y="329565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M11</a:t>
            </a:r>
          </a:p>
        </p:txBody>
      </p:sp>
      <p:sp>
        <p:nvSpPr>
          <p:cNvPr id="22" name="TextBox 21"/>
          <p:cNvSpPr txBox="1"/>
          <p:nvPr/>
        </p:nvSpPr>
        <p:spPr>
          <a:xfrm>
            <a:off x="7334250" y="329565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외래 진료는 공결 아님</a:t>
            </a:r>
          </a:p>
        </p:txBody>
      </p:sp>
      <p:sp>
        <p:nvSpPr>
          <p:cNvPr id="23" name="TextBox 22"/>
          <p:cNvSpPr txBox="1"/>
          <p:nvPr/>
        </p:nvSpPr>
        <p:spPr>
          <a:xfrm>
            <a:off x="10134600" y="32956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13조 2항</a:t>
            </a:r>
          </a:p>
        </p:txBody>
      </p:sp>
      <p:sp>
        <p:nvSpPr>
          <p:cNvPr id="24" name="Rectangle 23"/>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34150" y="369570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M16</a:t>
            </a:r>
          </a:p>
        </p:txBody>
      </p:sp>
      <p:sp>
        <p:nvSpPr>
          <p:cNvPr id="26" name="TextBox 25"/>
          <p:cNvSpPr txBox="1"/>
          <p:nvPr/>
        </p:nvSpPr>
        <p:spPr>
          <a:xfrm>
            <a:off x="7334250" y="369570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한 번 더 결석하면 F?</a:t>
            </a:r>
          </a:p>
        </p:txBody>
      </p:sp>
      <p:sp>
        <p:nvSpPr>
          <p:cNvPr id="27" name="Rounded Rectangle 26"/>
          <p:cNvSpPr/>
          <p:nvPr/>
        </p:nvSpPr>
        <p:spPr>
          <a:xfrm>
            <a:off x="7258050" y="3724275"/>
            <a:ext cx="2762250" cy="342900"/>
          </a:xfrm>
          <a:prstGeom prst="roundRect">
            <a:avLst>
              <a:gd name="adj" fmla="val 50000"/>
            </a:avLst>
          </a:prstGeom>
          <a:noFill/>
          <a:ln w="33337">
            <a:solidFill>
              <a:srgbClr val="1A5F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134600" y="36957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12조</a:t>
            </a:r>
          </a:p>
        </p:txBody>
      </p:sp>
      <p:sp>
        <p:nvSpPr>
          <p:cNvPr id="29" name="Rectangle 28"/>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34150" y="409575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M23</a:t>
            </a:r>
          </a:p>
        </p:txBody>
      </p:sp>
      <p:sp>
        <p:nvSpPr>
          <p:cNvPr id="31" name="TextBox 30"/>
          <p:cNvSpPr txBox="1"/>
          <p:nvPr/>
        </p:nvSpPr>
        <p:spPr>
          <a:xfrm>
            <a:off x="7334250" y="409575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학과장 확인 필요</a:t>
            </a:r>
          </a:p>
        </p:txBody>
      </p:sp>
      <p:sp>
        <p:nvSpPr>
          <p:cNvPr id="32" name="TextBox 31"/>
          <p:cNvSpPr txBox="1"/>
          <p:nvPr/>
        </p:nvSpPr>
        <p:spPr>
          <a:xfrm>
            <a:off x="10134600" y="40957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13조 5항</a:t>
            </a:r>
          </a:p>
        </p:txBody>
      </p:sp>
      <p:sp>
        <p:nvSpPr>
          <p:cNvPr id="33" name="Rectangle 32"/>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34150" y="449580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M33</a:t>
            </a:r>
          </a:p>
        </p:txBody>
      </p:sp>
      <p:sp>
        <p:nvSpPr>
          <p:cNvPr id="35" name="TextBox 34"/>
          <p:cNvSpPr txBox="1"/>
          <p:nvPr/>
        </p:nvSpPr>
        <p:spPr>
          <a:xfrm>
            <a:off x="7334250" y="449580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대신 철회 못 함</a:t>
            </a:r>
          </a:p>
        </p:txBody>
      </p:sp>
      <p:sp>
        <p:nvSpPr>
          <p:cNvPr id="36" name="TextBox 35"/>
          <p:cNvSpPr txBox="1"/>
          <p:nvPr/>
        </p:nvSpPr>
        <p:spPr>
          <a:xfrm>
            <a:off x="10134600" y="44958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17조</a:t>
            </a:r>
          </a:p>
        </p:txBody>
      </p:sp>
      <p:sp>
        <p:nvSpPr>
          <p:cNvPr id="37" name="Rectangle 36"/>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34150" y="489585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M35</a:t>
            </a:r>
          </a:p>
        </p:txBody>
      </p:sp>
      <p:sp>
        <p:nvSpPr>
          <p:cNvPr id="39" name="TextBox 38"/>
          <p:cNvSpPr txBox="1"/>
          <p:nvPr/>
        </p:nvSpPr>
        <p:spPr>
          <a:xfrm>
            <a:off x="7334250" y="489585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본인 동의 없이 불가</a:t>
            </a:r>
          </a:p>
        </p:txBody>
      </p:sp>
      <p:sp>
        <p:nvSpPr>
          <p:cNvPr id="40" name="TextBox 39"/>
          <p:cNvSpPr txBox="1"/>
          <p:nvPr/>
        </p:nvSpPr>
        <p:spPr>
          <a:xfrm>
            <a:off x="10134600" y="48958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19조</a:t>
            </a:r>
          </a:p>
        </p:txBody>
      </p:sp>
      <p:sp>
        <p:nvSpPr>
          <p:cNvPr id="41" name="Rounded Rectangle 40"/>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A5FD8"/>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M16 답장이 '한 번 더 결석하면 F'라고 하는가?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Gemini · 115–150분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40</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42318"/>
                </a:solidFill>
                <a:latin typeface="맑은 고딕"/>
                <a:ea typeface="맑은 고딕"/>
                <a:cs typeface="맑은 고딕"/>
              </a:rPr>
              <a:t>AI가 여기서 틀렸다 · 재현 예시</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지각을 결석으로 바꾸는 계산에서 AI가 틀립니다</a:t>
            </a:r>
          </a:p>
        </p:txBody>
      </p:sp>
      <p:sp>
        <p:nvSpPr>
          <p:cNvPr id="6" name="Rounded Rectangle 5"/>
          <p:cNvSpPr/>
          <p:nvPr/>
        </p:nvSpPr>
        <p:spPr>
          <a:xfrm>
            <a:off x="685800" y="1962150"/>
            <a:ext cx="5295900" cy="2971800"/>
          </a:xfrm>
          <a:prstGeom prst="roundRect">
            <a:avLst>
              <a:gd name="adj" fmla="val 512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AI 답 · M16 답장</a:t>
            </a:r>
          </a:p>
        </p:txBody>
      </p:sp>
      <p:sp>
        <p:nvSpPr>
          <p:cNvPr id="8" name="TextBox 7"/>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지금 결석 6회이므로</a:t>
            </a:r>
            <a:br/>
            <a:r>
              <a:rPr sz="2100" b="1" spc="-42" lang="ko-KR" altLang="en-US">
                <a:solidFill>
                  <a:srgbClr val="16171C"/>
                </a:solidFill>
                <a:highlight>
                  <a:srgbClr val="FFD2C4"/>
                </a:highlight>
                <a:latin typeface="맑은 고딕"/>
                <a:ea typeface="맑은 고딕"/>
                <a:cs typeface="맑은 고딕"/>
              </a:rPr>
              <a:t>한 번 더 결석해도 F가 아닙니다.</a:t>
            </a:r>
          </a:p>
        </p:txBody>
      </p:sp>
      <p:sp>
        <p:nvSpPr>
          <p:cNvPr id="9" name="Rounded Rectangle 8"/>
          <p:cNvSpPr/>
          <p:nvPr/>
        </p:nvSpPr>
        <p:spPr>
          <a:xfrm>
            <a:off x="6210300" y="1962150"/>
            <a:ext cx="5295900" cy="2971800"/>
          </a:xfrm>
          <a:prstGeom prst="roundRect">
            <a:avLst>
              <a:gd name="adj" fmla="val 5128"/>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원문 · 학칙 제12조 · M16</a:t>
            </a:r>
          </a:p>
        </p:txBody>
      </p:sp>
      <p:sp>
        <p:nvSpPr>
          <p:cNvPr id="11" name="TextBox 10"/>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M16: 결석 6번, </a:t>
            </a:r>
            <a:r>
              <a:rPr sz="2100" b="0" spc="-42" lang="ko-KR" altLang="en-US">
                <a:solidFill>
                  <a:srgbClr val="16171C"/>
                </a:solidFill>
                <a:highlight>
                  <a:srgbClr val="C9EBD8"/>
                </a:highlight>
                <a:latin typeface="맑은 고딕"/>
                <a:ea typeface="맑은 고딕"/>
                <a:cs typeface="맑은 고딕"/>
              </a:rPr>
              <a:t>지각 3번</a:t>
            </a:r>
            <a:br/>
            <a:r>
              <a:rPr sz="2100" b="0" spc="-42" lang="ko-KR" altLang="en-US">
                <a:solidFill>
                  <a:srgbClr val="16171C"/>
                </a:solidFill>
                <a:latin typeface="맑은 고딕"/>
                <a:ea typeface="맑은 고딕"/>
                <a:cs typeface="맑은 고딕"/>
              </a:rPr>
              <a:t>제12조 3항: 지각 3회는 결석 1회</a:t>
            </a:r>
            <a:br/>
            <a:r>
              <a:rPr sz="2100" b="0" spc="-42" lang="ko-KR" altLang="en-US">
                <a:solidFill>
                  <a:srgbClr val="16171C"/>
                </a:solidFill>
                <a:latin typeface="맑은 고딕"/>
                <a:ea typeface="맑은 고딕"/>
                <a:cs typeface="맑은 고딕"/>
              </a:rPr>
              <a:t>2항: </a:t>
            </a:r>
            <a:r>
              <a:rPr sz="2100" b="0" spc="-42" lang="ko-KR" altLang="en-US">
                <a:solidFill>
                  <a:srgbClr val="16171C"/>
                </a:solidFill>
                <a:highlight>
                  <a:srgbClr val="C9EBD8"/>
                </a:highlight>
                <a:latin typeface="맑은 고딕"/>
                <a:ea typeface="맑은 고딕"/>
                <a:cs typeface="맑은 고딕"/>
              </a:rPr>
              <a:t>결석 8회가 되면 F</a:t>
            </a:r>
          </a:p>
        </p:txBody>
      </p:sp>
      <p:sp>
        <p:nvSpPr>
          <p:cNvPr id="12" name="TextBox 11"/>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B42318"/>
                </a:solidFill>
                <a:latin typeface="맑은 고딕"/>
                <a:ea typeface="맑은 고딕"/>
                <a:cs typeface="맑은 고딕"/>
              </a:rPr>
              <a:t>→ </a:t>
            </a:r>
            <a:r>
              <a:rPr sz="2400" b="1" spc="-48" lang="ko-KR" altLang="en-US">
                <a:solidFill>
                  <a:srgbClr val="16171C"/>
                </a:solidFill>
                <a:latin typeface="맑은 고딕"/>
                <a:ea typeface="맑은 고딕"/>
                <a:cs typeface="맑은 고딕"/>
              </a:rPr>
              <a:t>지금 이미 7회입니다. 계산이 든 답장은 직접 셉니다.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실습 3 · 정답 기준 · 147–150분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41</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정답 기준 · 해설 1-4</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조항 번호로 답하고, 판단할 건은 학과장에게 넘깁니다</a:t>
            </a:r>
          </a:p>
        </p:txBody>
      </p:sp>
      <p:sp>
        <p:nvSpPr>
          <p:cNvPr id="6" name="Rounded Rectangle 5"/>
          <p:cNvSpPr/>
          <p:nvPr/>
        </p:nvSpPr>
        <p:spPr>
          <a:xfrm>
            <a:off x="685800" y="2038350"/>
            <a:ext cx="10820400" cy="895350"/>
          </a:xfrm>
          <a:prstGeom prst="roundRect">
            <a:avLst>
              <a:gd name="adj" fmla="val 12765"/>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95350" y="2247900"/>
            <a:ext cx="914400" cy="476250"/>
          </a:xfrm>
          <a:prstGeom prst="roundRect">
            <a:avLst>
              <a:gd name="adj" fmla="val 1600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5350" y="22479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M23</a:t>
            </a:r>
          </a:p>
        </p:txBody>
      </p:sp>
      <p:sp>
        <p:nvSpPr>
          <p:cNvPr id="9" name="TextBox 8"/>
          <p:cNvSpPr txBox="1"/>
          <p:nvPr/>
        </p:nvSpPr>
        <p:spPr>
          <a:xfrm>
            <a:off x="2076450" y="20383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16171C"/>
                </a:solidFill>
                <a:latin typeface="맑은 고딕"/>
                <a:ea typeface="맑은 고딕"/>
                <a:cs typeface="맑은 고딕"/>
              </a:rPr>
              <a:t>서류 기한이 지남 → 학과장 확인 필요</a:t>
            </a:r>
          </a:p>
        </p:txBody>
      </p:sp>
      <p:sp>
        <p:nvSpPr>
          <p:cNvPr id="10" name="TextBox 9"/>
          <p:cNvSpPr txBox="1"/>
          <p:nvPr/>
        </p:nvSpPr>
        <p:spPr>
          <a:xfrm>
            <a:off x="9410700" y="20383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1A5FD8"/>
                </a:solidFill>
                <a:latin typeface="맑은 고딕"/>
                <a:ea typeface="맑은 고딕"/>
                <a:cs typeface="맑은 고딕"/>
              </a:rPr>
              <a:t>제13조 5항</a:t>
            </a:r>
          </a:p>
        </p:txBody>
      </p:sp>
      <p:sp>
        <p:nvSpPr>
          <p:cNvPr id="11" name="Rounded Rectangle 10"/>
          <p:cNvSpPr/>
          <p:nvPr/>
        </p:nvSpPr>
        <p:spPr>
          <a:xfrm>
            <a:off x="685800" y="3067050"/>
            <a:ext cx="10820400" cy="895350"/>
          </a:xfrm>
          <a:prstGeom prst="roundRect">
            <a:avLst>
              <a:gd name="adj" fmla="val 1276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95350" y="3276600"/>
            <a:ext cx="914400" cy="476250"/>
          </a:xfrm>
          <a:prstGeom prst="roundRect">
            <a:avLst>
              <a:gd name="adj" fmla="val 1600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5350" y="32766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M33</a:t>
            </a:r>
          </a:p>
        </p:txBody>
      </p:sp>
      <p:sp>
        <p:nvSpPr>
          <p:cNvPr id="14" name="TextBox 13"/>
          <p:cNvSpPr txBox="1"/>
          <p:nvPr/>
        </p:nvSpPr>
        <p:spPr>
          <a:xfrm>
            <a:off x="2076450" y="30670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16171C"/>
                </a:solidFill>
                <a:latin typeface="맑은 고딕"/>
                <a:ea typeface="맑은 고딕"/>
                <a:cs typeface="맑은 고딕"/>
              </a:rPr>
              <a:t>철회 마감 뒤 → 교수가 대신 못 함</a:t>
            </a:r>
          </a:p>
        </p:txBody>
      </p:sp>
      <p:sp>
        <p:nvSpPr>
          <p:cNvPr id="15" name="TextBox 14"/>
          <p:cNvSpPr txBox="1"/>
          <p:nvPr/>
        </p:nvSpPr>
        <p:spPr>
          <a:xfrm>
            <a:off x="9410700" y="30670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1A5FD8"/>
                </a:solidFill>
                <a:latin typeface="맑은 고딕"/>
                <a:ea typeface="맑은 고딕"/>
                <a:cs typeface="맑은 고딕"/>
              </a:rPr>
              <a:t>제17조</a:t>
            </a:r>
          </a:p>
        </p:txBody>
      </p:sp>
      <p:sp>
        <p:nvSpPr>
          <p:cNvPr id="16" name="Rounded Rectangle 15"/>
          <p:cNvSpPr/>
          <p:nvPr/>
        </p:nvSpPr>
        <p:spPr>
          <a:xfrm>
            <a:off x="685800" y="4095750"/>
            <a:ext cx="10820400" cy="895350"/>
          </a:xfrm>
          <a:prstGeom prst="roundRect">
            <a:avLst>
              <a:gd name="adj" fmla="val 1276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95350" y="4305300"/>
            <a:ext cx="914400" cy="476250"/>
          </a:xfrm>
          <a:prstGeom prst="roundRect">
            <a:avLst>
              <a:gd name="adj" fmla="val 1600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5350" y="43053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M35</a:t>
            </a:r>
          </a:p>
        </p:txBody>
      </p:sp>
      <p:sp>
        <p:nvSpPr>
          <p:cNvPr id="19" name="TextBox 18"/>
          <p:cNvSpPr txBox="1"/>
          <p:nvPr/>
        </p:nvSpPr>
        <p:spPr>
          <a:xfrm>
            <a:off x="2076450" y="40957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16171C"/>
                </a:solidFill>
                <a:latin typeface="맑은 고딕"/>
                <a:ea typeface="맑은 고딕"/>
                <a:cs typeface="맑은 고딕"/>
              </a:rPr>
              <a:t>보호자 문의 → 본인 동의 없이 불가</a:t>
            </a:r>
          </a:p>
        </p:txBody>
      </p:sp>
      <p:sp>
        <p:nvSpPr>
          <p:cNvPr id="20" name="TextBox 19"/>
          <p:cNvSpPr txBox="1"/>
          <p:nvPr/>
        </p:nvSpPr>
        <p:spPr>
          <a:xfrm>
            <a:off x="9410700" y="40957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1A5FD8"/>
                </a:solidFill>
                <a:latin typeface="맑은 고딕"/>
                <a:ea typeface="맑은 고딕"/>
                <a:cs typeface="맑은 고딕"/>
              </a:rPr>
              <a:t>제19조</a:t>
            </a:r>
          </a:p>
        </p:txBody>
      </p:sp>
      <p:sp>
        <p:nvSpPr>
          <p:cNvPr id="21" name="Rounded Rectangle 20"/>
          <p:cNvSpPr/>
          <p:nvPr/>
        </p:nvSpPr>
        <p:spPr>
          <a:xfrm>
            <a:off x="685800" y="5124450"/>
            <a:ext cx="10820400" cy="895350"/>
          </a:xfrm>
          <a:prstGeom prst="roundRect">
            <a:avLst>
              <a:gd name="adj" fmla="val 1276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95350" y="5334000"/>
            <a:ext cx="914400" cy="476250"/>
          </a:xfrm>
          <a:prstGeom prst="roundRect">
            <a:avLst>
              <a:gd name="adj" fmla="val 1600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5350" y="53340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FFF"/>
                </a:solidFill>
                <a:latin typeface="맑은 고딕"/>
                <a:ea typeface="맑은 고딕"/>
                <a:cs typeface="맑은 고딕"/>
              </a:rPr>
              <a:t>M11</a:t>
            </a:r>
          </a:p>
        </p:txBody>
      </p:sp>
      <p:sp>
        <p:nvSpPr>
          <p:cNvPr id="24" name="TextBox 23"/>
          <p:cNvSpPr txBox="1"/>
          <p:nvPr/>
        </p:nvSpPr>
        <p:spPr>
          <a:xfrm>
            <a:off x="2076450" y="51244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16171C"/>
                </a:solidFill>
                <a:latin typeface="맑은 고딕"/>
                <a:ea typeface="맑은 고딕"/>
                <a:cs typeface="맑은 고딕"/>
              </a:rPr>
              <a:t>외래 진료 → 공결 아님, 사유 기록</a:t>
            </a:r>
          </a:p>
        </p:txBody>
      </p:sp>
      <p:sp>
        <p:nvSpPr>
          <p:cNvPr id="25" name="TextBox 24"/>
          <p:cNvSpPr txBox="1"/>
          <p:nvPr/>
        </p:nvSpPr>
        <p:spPr>
          <a:xfrm>
            <a:off x="9410700" y="51244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1A5FD8"/>
                </a:solidFill>
                <a:latin typeface="맑은 고딕"/>
                <a:ea typeface="맑은 고딕"/>
                <a:cs typeface="맑은 고딕"/>
              </a:rPr>
              <a:t>제13조 2항</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학생의 AI 사용 · 150–152분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42</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실제 자료 · 세계 교수 설문</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교수 83%가 학생이 AI 결과를 따져 보지 못할까 걱정했습니다</a:t>
            </a:r>
          </a:p>
        </p:txBody>
      </p:sp>
      <p:sp>
        <p:nvSpPr>
          <p:cNvPr id="6" name="Rounded Rectangle 5"/>
          <p:cNvSpPr/>
          <p:nvPr/>
        </p:nvSpPr>
        <p:spPr>
          <a:xfrm>
            <a:off x="685800" y="1866900"/>
            <a:ext cx="3454400" cy="3048000"/>
          </a:xfrm>
          <a:prstGeom prst="roundRect">
            <a:avLst>
              <a:gd name="adj" fmla="val 562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057400"/>
            <a:ext cx="2882900" cy="1047750"/>
          </a:xfrm>
          <a:prstGeom prst="rect">
            <a:avLst/>
          </a:prstGeom>
          <a:noFill/>
        </p:spPr>
        <p:txBody>
          <a:bodyPr wrap="square" lIns="0" tIns="0" rIns="0" bIns="0" anchor="t"/>
          <a:lstStyle/>
          <a:p>
            <a:pPr algn="l" latinLnBrk="0" eaLnBrk="1">
              <a:lnSpc>
                <a:spcPct val="100000"/>
              </a:lnSpc>
            </a:pPr>
            <a:r>
              <a:rPr sz="6600" b="1" spc="-132" lang="ko-KR" altLang="en-US">
                <a:solidFill>
                  <a:srgbClr val="E8590C"/>
                </a:solidFill>
                <a:latin typeface="맑은 고딕"/>
                <a:ea typeface="맑은 고딕"/>
                <a:cs typeface="맑은 고딕"/>
              </a:rPr>
              <a:t>83%</a:t>
            </a:r>
          </a:p>
        </p:txBody>
      </p:sp>
      <p:sp>
        <p:nvSpPr>
          <p:cNvPr id="8" name="TextBox 7"/>
          <p:cNvSpPr txBox="1"/>
          <p:nvPr/>
        </p:nvSpPr>
        <p:spPr>
          <a:xfrm>
            <a:off x="971550" y="3238500"/>
            <a:ext cx="2882900" cy="15240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학생이 AI 결과를</a:t>
            </a:r>
            <a:br/>
            <a:r>
              <a:rPr sz="2100" b="0" spc="-42" lang="ko-KR" altLang="en-US">
                <a:solidFill>
                  <a:srgbClr val="3D3F48"/>
                </a:solidFill>
                <a:latin typeface="맑은 고딕"/>
                <a:ea typeface="맑은 고딕"/>
                <a:cs typeface="맑은 고딕"/>
              </a:rPr>
              <a:t>따져 보지 못할까</a:t>
            </a:r>
            <a:br/>
            <a:r>
              <a:rPr sz="2100" b="0" spc="-42" lang="ko-KR" altLang="en-US">
                <a:solidFill>
                  <a:srgbClr val="3D3F48"/>
                </a:solidFill>
                <a:latin typeface="맑은 고딕"/>
                <a:ea typeface="맑은 고딕"/>
                <a:cs typeface="맑은 고딕"/>
              </a:rPr>
              <a:t>걱정한다</a:t>
            </a:r>
          </a:p>
        </p:txBody>
      </p:sp>
      <p:sp>
        <p:nvSpPr>
          <p:cNvPr id="9" name="Rounded Rectangle 8"/>
          <p:cNvSpPr/>
          <p:nvPr/>
        </p:nvSpPr>
        <p:spPr>
          <a:xfrm>
            <a:off x="4368800" y="1866900"/>
            <a:ext cx="3454400" cy="3048000"/>
          </a:xfrm>
          <a:prstGeom prst="roundRect">
            <a:avLst>
              <a:gd name="adj" fmla="val 562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54550" y="2057400"/>
            <a:ext cx="2882900" cy="1047750"/>
          </a:xfrm>
          <a:prstGeom prst="rect">
            <a:avLst/>
          </a:prstGeom>
          <a:noFill/>
        </p:spPr>
        <p:txBody>
          <a:bodyPr wrap="square" lIns="0" tIns="0" rIns="0" bIns="0" anchor="t"/>
          <a:lstStyle/>
          <a:p>
            <a:pPr algn="l" latinLnBrk="0" eaLnBrk="1">
              <a:lnSpc>
                <a:spcPct val="100000"/>
              </a:lnSpc>
            </a:pPr>
            <a:r>
              <a:rPr sz="6600" b="1" spc="-132" lang="ko-KR" altLang="en-US">
                <a:solidFill>
                  <a:srgbClr val="16171C"/>
                </a:solidFill>
                <a:latin typeface="맑은 고딕"/>
                <a:ea typeface="맑은 고딕"/>
                <a:cs typeface="맑은 고딕"/>
              </a:rPr>
              <a:t>54%</a:t>
            </a:r>
          </a:p>
        </p:txBody>
      </p:sp>
      <p:sp>
        <p:nvSpPr>
          <p:cNvPr id="11" name="TextBox 10"/>
          <p:cNvSpPr txBox="1"/>
          <p:nvPr/>
        </p:nvSpPr>
        <p:spPr>
          <a:xfrm>
            <a:off x="4654550" y="3238500"/>
            <a:ext cx="2882900" cy="15240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지금의 학생 평가</a:t>
            </a:r>
            <a:br/>
            <a:r>
              <a:rPr sz="2100" b="0" spc="-42" lang="ko-KR" altLang="en-US">
                <a:solidFill>
                  <a:srgbClr val="3D3F48"/>
                </a:solidFill>
                <a:latin typeface="맑은 고딕"/>
                <a:ea typeface="맑은 고딕"/>
                <a:cs typeface="맑은 고딕"/>
              </a:rPr>
              <a:t>방식이 AI 시대에</a:t>
            </a:r>
            <a:br/>
            <a:r>
              <a:rPr sz="2100" b="0" spc="-42" lang="ko-KR" altLang="en-US">
                <a:solidFill>
                  <a:srgbClr val="3D3F48"/>
                </a:solidFill>
                <a:latin typeface="맑은 고딕"/>
                <a:ea typeface="맑은 고딕"/>
                <a:cs typeface="맑은 고딕"/>
              </a:rPr>
              <a:t>충분하지 않다</a:t>
            </a:r>
          </a:p>
        </p:txBody>
      </p:sp>
      <p:sp>
        <p:nvSpPr>
          <p:cNvPr id="12" name="Rounded Rectangle 11"/>
          <p:cNvSpPr/>
          <p:nvPr/>
        </p:nvSpPr>
        <p:spPr>
          <a:xfrm>
            <a:off x="8051800" y="1866900"/>
            <a:ext cx="3454400" cy="3048000"/>
          </a:xfrm>
          <a:prstGeom prst="roundRect">
            <a:avLst>
              <a:gd name="adj" fmla="val 562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37550" y="2057400"/>
            <a:ext cx="2882900" cy="1047750"/>
          </a:xfrm>
          <a:prstGeom prst="rect">
            <a:avLst/>
          </a:prstGeom>
          <a:noFill/>
        </p:spPr>
        <p:txBody>
          <a:bodyPr wrap="square" lIns="0" tIns="0" rIns="0" bIns="0" anchor="t"/>
          <a:lstStyle/>
          <a:p>
            <a:pPr algn="l" latinLnBrk="0" eaLnBrk="1">
              <a:lnSpc>
                <a:spcPct val="100000"/>
              </a:lnSpc>
            </a:pPr>
            <a:r>
              <a:rPr sz="6600" b="1" spc="-132" lang="ko-KR" altLang="en-US">
                <a:solidFill>
                  <a:srgbClr val="16171C"/>
                </a:solidFill>
                <a:latin typeface="맑은 고딕"/>
                <a:ea typeface="맑은 고딕"/>
                <a:cs typeface="맑은 고딕"/>
              </a:rPr>
              <a:t>4%</a:t>
            </a:r>
          </a:p>
        </p:txBody>
      </p:sp>
      <p:sp>
        <p:nvSpPr>
          <p:cNvPr id="14" name="TextBox 13"/>
          <p:cNvSpPr txBox="1"/>
          <p:nvPr/>
        </p:nvSpPr>
        <p:spPr>
          <a:xfrm>
            <a:off x="8337550" y="3238500"/>
            <a:ext cx="2882900" cy="1524000"/>
          </a:xfrm>
          <a:prstGeom prst="rect">
            <a:avLst/>
          </a:prstGeom>
          <a:noFill/>
        </p:spPr>
        <p:txBody>
          <a:bodyPr wrap="square" lIns="0" tIns="0" rIns="0" bIns="0" anchor="t"/>
          <a:lstStyle/>
          <a:p>
            <a:pPr algn="l" latinLnBrk="0" eaLnBrk="1">
              <a:lnSpc>
                <a:spcPct val="135000"/>
              </a:lnSpc>
            </a:pPr>
            <a:r>
              <a:rPr sz="2100" b="0" spc="-42" lang="ko-KR" altLang="en-US">
                <a:solidFill>
                  <a:srgbClr val="3D3F48"/>
                </a:solidFill>
                <a:latin typeface="맑은 고딕"/>
                <a:ea typeface="맑은 고딕"/>
                <a:cs typeface="맑은 고딕"/>
              </a:rPr>
              <a:t>학교 AI 지침을</a:t>
            </a:r>
            <a:br/>
            <a:r>
              <a:rPr sz="2100" b="0" spc="-42" lang="ko-KR" altLang="en-US">
                <a:solidFill>
                  <a:srgbClr val="3D3F48"/>
                </a:solidFill>
                <a:latin typeface="맑은 고딕"/>
                <a:ea typeface="맑은 고딕"/>
                <a:cs typeface="맑은 고딕"/>
              </a:rPr>
              <a:t>잘 알고 충분하다고</a:t>
            </a:r>
            <a:br/>
            <a:r>
              <a:rPr sz="2100" b="0" spc="-42" lang="ko-KR" altLang="en-US">
                <a:solidFill>
                  <a:srgbClr val="3D3F48"/>
                </a:solidFill>
                <a:latin typeface="맑은 고딕"/>
                <a:ea typeface="맑은 고딕"/>
                <a:cs typeface="맑은 고딕"/>
              </a:rPr>
              <a:t>본다</a:t>
            </a:r>
          </a:p>
        </p:txBody>
      </p:sp>
      <p:sp>
        <p:nvSpPr>
          <p:cNvPr id="15" name="Rounded Rectangle 14"/>
          <p:cNvSpPr/>
          <p:nvPr/>
        </p:nvSpPr>
        <p:spPr>
          <a:xfrm>
            <a:off x="685800" y="5143500"/>
            <a:ext cx="10820400" cy="952500"/>
          </a:xfrm>
          <a:prstGeom prst="roundRect">
            <a:avLst>
              <a:gd name="adj" fmla="val 1200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2500" y="5276850"/>
            <a:ext cx="10287000" cy="685800"/>
          </a:xfrm>
          <a:prstGeom prst="rect">
            <a:avLst/>
          </a:prstGeom>
          <a:noFill/>
        </p:spPr>
        <p:txBody>
          <a:bodyPr wrap="square" lIns="0" tIns="0" rIns="0" bIns="0" anchor="t"/>
          <a:lstStyle/>
          <a:p>
            <a:pPr algn="l" latinLnBrk="0" eaLnBrk="1">
              <a:lnSpc>
                <a:spcPct val="140000"/>
              </a:lnSpc>
            </a:pPr>
            <a:r>
              <a:rPr sz="1950" b="1" spc="-39" lang="ko-KR" altLang="en-US">
                <a:solidFill>
                  <a:srgbClr val="E8590C"/>
                </a:solidFill>
                <a:latin typeface="맑은 고딕"/>
                <a:ea typeface="맑은 고딕"/>
                <a:cs typeface="맑은 고딕"/>
              </a:rPr>
              <a:t>출처  </a:t>
            </a:r>
            <a:r>
              <a:rPr sz="1950" b="1" spc="-39" lang="ko-KR" altLang="en-US">
                <a:solidFill>
                  <a:srgbClr val="16171C"/>
                </a:solidFill>
                <a:latin typeface="맑은 고딕"/>
                <a:ea typeface="맑은 고딕"/>
                <a:cs typeface="맑은 고딕"/>
              </a:rPr>
              <a:t>Digital Education Council, Global AI Faculty Survey 2025</a:t>
            </a:r>
          </a:p>
          <a:p>
            <a:pPr algn="l" latinLnBrk="0" eaLnBrk="1">
              <a:lnSpc>
                <a:spcPct val="140000"/>
              </a:lnSpc>
            </a:pPr>
            <a:r>
              <a:rPr sz="1950" b="0" spc="-39" lang="ko-KR" altLang="en-US">
                <a:solidFill>
                  <a:srgbClr val="3D3F48"/>
                </a:solidFill>
                <a:latin typeface="맑은 고딕"/>
                <a:ea typeface="맑은 고딕"/>
                <a:cs typeface="맑은 고딕"/>
              </a:rPr>
              <a:t>28개국 교수 1,681명 응답 (2025년 1월 발표)</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6171C"/>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학생의 AI 사용 · 150–170분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43</a:t>
            </a:r>
          </a:p>
        </p:txBody>
      </p:sp>
      <p:sp>
        <p:nvSpPr>
          <p:cNvPr id="4" name="TextBox 3"/>
          <p:cNvSpPr txBox="1"/>
          <p:nvPr/>
        </p:nvSpPr>
        <p:spPr>
          <a:xfrm>
            <a:off x="685800" y="6096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9BEC6"/>
                </a:solidFill>
                <a:latin typeface="맑은 고딕"/>
                <a:ea typeface="맑은 고딕"/>
                <a:cs typeface="맑은 고딕"/>
              </a:rPr>
              <a:t>20초 생각 · 손으로 A / B</a:t>
            </a:r>
          </a:p>
        </p:txBody>
      </p:sp>
      <p:sp>
        <p:nvSpPr>
          <p:cNvPr id="5" name="TextBox 4"/>
          <p:cNvSpPr txBox="1"/>
          <p:nvPr/>
        </p:nvSpPr>
        <p:spPr>
          <a:xfrm>
            <a:off x="685800" y="1428750"/>
            <a:ext cx="10820400" cy="1905000"/>
          </a:xfrm>
          <a:prstGeom prst="rect">
            <a:avLst/>
          </a:prstGeom>
          <a:noFill/>
        </p:spPr>
        <p:txBody>
          <a:bodyPr wrap="square" lIns="0" tIns="0" rIns="0" bIns="0" anchor="t"/>
          <a:lstStyle/>
          <a:p>
            <a:pPr algn="l" latinLnBrk="0" eaLnBrk="1">
              <a:lnSpc>
                <a:spcPct val="125000"/>
              </a:lnSpc>
            </a:pPr>
            <a:r>
              <a:rPr sz="4950" b="1" spc="-99" lang="ko-KR" altLang="en-US">
                <a:solidFill>
                  <a:srgbClr val="FFFFFF"/>
                </a:solidFill>
                <a:latin typeface="맑은 고딕"/>
                <a:ea typeface="맑은 고딕"/>
                <a:cs typeface="맑은 고딕"/>
              </a:rPr>
              <a:t>학생이 이 과제를</a:t>
            </a:r>
            <a:br/>
            <a:r>
              <a:rPr sz="4950" b="1" spc="-99" lang="ko-KR" altLang="en-US">
                <a:solidFill>
                  <a:srgbClr val="FFFFFF"/>
                </a:solidFill>
                <a:latin typeface="맑은 고딕"/>
                <a:ea typeface="맑은 고딕"/>
                <a:cs typeface="맑은 고딕"/>
              </a:rPr>
              <a:t>AI로 10분 만에 끝낸다면?</a:t>
            </a:r>
          </a:p>
        </p:txBody>
      </p:sp>
      <p:sp>
        <p:nvSpPr>
          <p:cNvPr id="6" name="TextBox 5"/>
          <p:cNvSpPr txBox="1"/>
          <p:nvPr/>
        </p:nvSpPr>
        <p:spPr>
          <a:xfrm>
            <a:off x="685800" y="4000500"/>
            <a:ext cx="10820400" cy="571500"/>
          </a:xfrm>
          <a:prstGeom prst="rect">
            <a:avLst/>
          </a:prstGeom>
          <a:noFill/>
        </p:spPr>
        <p:txBody>
          <a:bodyPr wrap="square" lIns="0" tIns="0" rIns="0" bIns="0" anchor="t"/>
          <a:lstStyle/>
          <a:p>
            <a:pPr algn="l" latinLnBrk="0" eaLnBrk="1">
              <a:lnSpc>
                <a:spcPct val="100000"/>
              </a:lnSpc>
            </a:pPr>
            <a:r>
              <a:rPr sz="2550" b="1" spc="-51" lang="ko-KR" altLang="en-US">
                <a:solidFill>
                  <a:srgbClr val="FFC4A8"/>
                </a:solidFill>
                <a:latin typeface="맑은 고딕"/>
                <a:ea typeface="맑은 고딕"/>
                <a:cs typeface="맑은 고딕"/>
              </a:rPr>
              <a:t>A  </a:t>
            </a:r>
            <a:r>
              <a:rPr sz="2550" b="0" spc="-51" lang="ko-KR" altLang="en-US">
                <a:solidFill>
                  <a:srgbClr val="FFC4A8"/>
                </a:solidFill>
                <a:latin typeface="맑은 고딕"/>
                <a:ea typeface="맑은 고딕"/>
                <a:cs typeface="맑은 고딕"/>
              </a:rPr>
              <a:t>사용을 금지하고 찾아낸다</a:t>
            </a:r>
          </a:p>
        </p:txBody>
      </p:sp>
      <p:sp>
        <p:nvSpPr>
          <p:cNvPr id="7" name="TextBox 6"/>
          <p:cNvSpPr txBox="1"/>
          <p:nvPr/>
        </p:nvSpPr>
        <p:spPr>
          <a:xfrm>
            <a:off x="685800" y="4686300"/>
            <a:ext cx="10820400" cy="571500"/>
          </a:xfrm>
          <a:prstGeom prst="rect">
            <a:avLst/>
          </a:prstGeom>
          <a:noFill/>
        </p:spPr>
        <p:txBody>
          <a:bodyPr wrap="square" lIns="0" tIns="0" rIns="0" bIns="0" anchor="t"/>
          <a:lstStyle/>
          <a:p>
            <a:pPr algn="l" latinLnBrk="0" eaLnBrk="1">
              <a:lnSpc>
                <a:spcPct val="100000"/>
              </a:lnSpc>
            </a:pPr>
            <a:r>
              <a:rPr sz="2550" b="1" spc="-51" lang="ko-KR" altLang="en-US">
                <a:solidFill>
                  <a:srgbClr val="FFC4A8"/>
                </a:solidFill>
                <a:latin typeface="맑은 고딕"/>
                <a:ea typeface="맑은 고딕"/>
                <a:cs typeface="맑은 고딕"/>
              </a:rPr>
              <a:t>B  </a:t>
            </a:r>
            <a:r>
              <a:rPr sz="2550" b="0" spc="-51" lang="ko-KR" altLang="en-US">
                <a:solidFill>
                  <a:srgbClr val="FFC4A8"/>
                </a:solidFill>
                <a:latin typeface="맑은 고딕"/>
                <a:ea typeface="맑은 고딕"/>
                <a:cs typeface="맑은 고딕"/>
              </a:rPr>
              <a:t>과정이 드러나게 과제를 바꾼다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학생의 AI 사용 · 150–170분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44</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가상 논문 D · AI 없이 치른 기말 시험</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150" b="1" spc="-63" lang="ko-KR" altLang="en-US">
                <a:solidFill>
                  <a:srgbClr val="16171C"/>
                </a:solidFill>
                <a:latin typeface="맑은 고딕"/>
                <a:ea typeface="맑은 고딕"/>
                <a:cs typeface="맑은 고딕"/>
              </a:rPr>
              <a:t>(가상 자료) 안내한 반이 금지한 반보다 6.8점 높았다면?</a:t>
            </a:r>
          </a:p>
        </p:txBody>
      </p:sp>
      <p:sp>
        <p:nvSpPr>
          <p:cNvPr id="6" name="Rounded Rectangle 5"/>
          <p:cNvSpPr/>
          <p:nvPr/>
        </p:nvSpPr>
        <p:spPr>
          <a:xfrm>
            <a:off x="9886950" y="1962150"/>
            <a:ext cx="1400175" cy="476250"/>
          </a:xfrm>
          <a:prstGeom prst="roundRect">
            <a:avLst>
              <a:gd name="adj" fmla="val 5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0" y="1962150"/>
            <a:ext cx="1152525"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FFF"/>
                </a:solidFill>
                <a:latin typeface="맑은 고딕"/>
                <a:ea typeface="맑은 고딕"/>
                <a:cs typeface="맑은 고딕"/>
              </a:rPr>
              <a:t>가상 자료</a:t>
            </a:r>
          </a:p>
        </p:txBody>
      </p:sp>
      <p:sp>
        <p:nvSpPr>
          <p:cNvPr id="8" name="TextBox 7"/>
          <p:cNvSpPr txBox="1"/>
          <p:nvPr/>
        </p:nvSpPr>
        <p:spPr>
          <a:xfrm>
            <a:off x="685800" y="2038350"/>
            <a:ext cx="22860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안내한 사용</a:t>
            </a:r>
          </a:p>
        </p:txBody>
      </p:sp>
      <p:sp>
        <p:nvSpPr>
          <p:cNvPr id="9" name="Rounded Rectangle 8"/>
          <p:cNvSpPr/>
          <p:nvPr/>
        </p:nvSpPr>
        <p:spPr>
          <a:xfrm>
            <a:off x="3143250" y="2085975"/>
            <a:ext cx="4993958" cy="571500"/>
          </a:xfrm>
          <a:prstGeom prst="roundRect">
            <a:avLst>
              <a:gd name="adj" fmla="val 6666"/>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89608" y="2038350"/>
            <a:ext cx="1428750" cy="666750"/>
          </a:xfrm>
          <a:prstGeom prst="rect">
            <a:avLst/>
          </a:prstGeom>
          <a:noFill/>
        </p:spPr>
        <p:txBody>
          <a:bodyPr wrap="square" lIns="0" tIns="0" rIns="0" bIns="0" anchor="ctr"/>
          <a:lstStyle/>
          <a:p>
            <a:pPr algn="l" latinLnBrk="0" eaLnBrk="1">
              <a:lnSpc>
                <a:spcPct val="100000"/>
              </a:lnSpc>
            </a:pPr>
            <a:r>
              <a:rPr sz="2250" b="1" spc="-45" lang="ko-KR" altLang="en-US">
                <a:solidFill>
                  <a:srgbClr val="16171C"/>
                </a:solidFill>
                <a:latin typeface="맑은 고딕"/>
                <a:ea typeface="맑은 고딕"/>
                <a:cs typeface="맑은 고딕"/>
              </a:rPr>
              <a:t>74.9점</a:t>
            </a:r>
          </a:p>
        </p:txBody>
      </p:sp>
      <p:sp>
        <p:nvSpPr>
          <p:cNvPr id="11" name="TextBox 10"/>
          <p:cNvSpPr txBox="1"/>
          <p:nvPr/>
        </p:nvSpPr>
        <p:spPr>
          <a:xfrm>
            <a:off x="685800" y="2933700"/>
            <a:ext cx="22860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사용 금지</a:t>
            </a:r>
          </a:p>
        </p:txBody>
      </p:sp>
      <p:sp>
        <p:nvSpPr>
          <p:cNvPr id="12" name="Rounded Rectangle 11"/>
          <p:cNvSpPr/>
          <p:nvPr/>
        </p:nvSpPr>
        <p:spPr>
          <a:xfrm>
            <a:off x="3143250" y="2981325"/>
            <a:ext cx="4540567" cy="571500"/>
          </a:xfrm>
          <a:prstGeom prst="roundRect">
            <a:avLst>
              <a:gd name="adj" fmla="val 6666"/>
            </a:avLst>
          </a:prstGeom>
          <a:solidFill>
            <a:srgbClr val="A8A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36217" y="2933700"/>
            <a:ext cx="1428750" cy="666750"/>
          </a:xfrm>
          <a:prstGeom prst="rect">
            <a:avLst/>
          </a:prstGeom>
          <a:noFill/>
        </p:spPr>
        <p:txBody>
          <a:bodyPr wrap="square" lIns="0" tIns="0" rIns="0" bIns="0" anchor="ctr"/>
          <a:lstStyle/>
          <a:p>
            <a:pPr algn="l" latinLnBrk="0" eaLnBrk="1">
              <a:lnSpc>
                <a:spcPct val="100000"/>
              </a:lnSpc>
            </a:pPr>
            <a:r>
              <a:rPr sz="2250" b="1" spc="-45" lang="ko-KR" altLang="en-US">
                <a:solidFill>
                  <a:srgbClr val="16171C"/>
                </a:solidFill>
                <a:latin typeface="맑은 고딕"/>
                <a:ea typeface="맑은 고딕"/>
                <a:cs typeface="맑은 고딕"/>
              </a:rPr>
              <a:t>68.1점</a:t>
            </a:r>
          </a:p>
        </p:txBody>
      </p:sp>
      <p:sp>
        <p:nvSpPr>
          <p:cNvPr id="14" name="TextBox 13"/>
          <p:cNvSpPr txBox="1"/>
          <p:nvPr/>
        </p:nvSpPr>
        <p:spPr>
          <a:xfrm>
            <a:off x="685800" y="3829050"/>
            <a:ext cx="2286000" cy="66675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자유 사용</a:t>
            </a:r>
          </a:p>
        </p:txBody>
      </p:sp>
      <p:sp>
        <p:nvSpPr>
          <p:cNvPr id="15" name="Rounded Rectangle 14"/>
          <p:cNvSpPr/>
          <p:nvPr/>
        </p:nvSpPr>
        <p:spPr>
          <a:xfrm>
            <a:off x="3143250" y="3876675"/>
            <a:ext cx="4400550" cy="571500"/>
          </a:xfrm>
          <a:prstGeom prst="roundRect">
            <a:avLst>
              <a:gd name="adj" fmla="val 6666"/>
            </a:avLst>
          </a:prstGeom>
          <a:solidFill>
            <a:srgbClr val="A8A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96200" y="3829050"/>
            <a:ext cx="1428750" cy="666750"/>
          </a:xfrm>
          <a:prstGeom prst="rect">
            <a:avLst/>
          </a:prstGeom>
          <a:noFill/>
        </p:spPr>
        <p:txBody>
          <a:bodyPr wrap="square" lIns="0" tIns="0" rIns="0" bIns="0" anchor="ctr"/>
          <a:lstStyle/>
          <a:p>
            <a:pPr algn="l" latinLnBrk="0" eaLnBrk="1">
              <a:lnSpc>
                <a:spcPct val="100000"/>
              </a:lnSpc>
            </a:pPr>
            <a:r>
              <a:rPr sz="2250" b="1" spc="-45" lang="ko-KR" altLang="en-US">
                <a:solidFill>
                  <a:srgbClr val="16171C"/>
                </a:solidFill>
                <a:latin typeface="맑은 고딕"/>
                <a:ea typeface="맑은 고딕"/>
                <a:cs typeface="맑은 고딕"/>
              </a:rPr>
              <a:t>66.0점</a:t>
            </a:r>
          </a:p>
        </p:txBody>
      </p:sp>
      <p:sp>
        <p:nvSpPr>
          <p:cNvPr id="17" name="Rectangle 16"/>
          <p:cNvSpPr/>
          <p:nvPr/>
        </p:nvSpPr>
        <p:spPr>
          <a:xfrm>
            <a:off x="3143250" y="1962150"/>
            <a:ext cx="23812" cy="2667000"/>
          </a:xfrm>
          <a:prstGeom prst="rect">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4953000"/>
            <a:ext cx="10820400" cy="381000"/>
          </a:xfrm>
          <a:prstGeom prst="rect">
            <a:avLst/>
          </a:prstGeom>
          <a:noFill/>
        </p:spPr>
        <p:txBody>
          <a:bodyPr wrap="square" lIns="0" tIns="0" rIns="0" bIns="0" anchor="t"/>
          <a:lstStyle/>
          <a:p>
            <a:pPr algn="l" latinLnBrk="0" eaLnBrk="1">
              <a:lnSpc>
                <a:spcPct val="100000"/>
              </a:lnSpc>
            </a:pPr>
            <a:r>
              <a:rPr sz="1800" b="0" spc="-36" lang="ko-KR" altLang="en-US">
                <a:solidFill>
                  <a:srgbClr val="3D3F48"/>
                </a:solidFill>
                <a:latin typeface="맑은 고딕"/>
                <a:ea typeface="맑은 고딕"/>
                <a:cs typeface="맑은 고딕"/>
              </a:rPr>
              <a:t>금지와 자유 사용의 차이(2.1점)는 통계적으로 유의하지 않음 (p=.38)</a:t>
            </a:r>
          </a:p>
        </p:txBody>
      </p:sp>
      <p:sp>
        <p:nvSpPr>
          <p:cNvPr id="19" name="Rounded Rectangle 18"/>
          <p:cNvSpPr/>
          <p:nvPr/>
        </p:nvSpPr>
        <p:spPr>
          <a:xfrm>
            <a:off x="685800" y="5467350"/>
            <a:ext cx="10820400" cy="723900"/>
          </a:xfrm>
          <a:prstGeom prst="roundRect">
            <a:avLst>
              <a:gd name="adj" fmla="val 15789"/>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2500" y="5467350"/>
            <a:ext cx="10287000" cy="723900"/>
          </a:xfrm>
          <a:prstGeom prst="rect">
            <a:avLst/>
          </a:prstGeom>
          <a:noFill/>
        </p:spPr>
        <p:txBody>
          <a:bodyPr wrap="square" lIns="0" tIns="0" rIns="0" bIns="0" anchor="ctr"/>
          <a:lstStyle/>
          <a:p>
            <a:pPr algn="l" latinLnBrk="0" eaLnBrk="1">
              <a:lnSpc>
                <a:spcPct val="100000"/>
              </a:lnSpc>
            </a:pPr>
            <a:r>
              <a:rPr sz="2550" b="1" spc="-51" lang="ko-KR" altLang="en-US">
                <a:solidFill>
                  <a:srgbClr val="E8590C"/>
                </a:solidFill>
                <a:latin typeface="맑은 고딕"/>
                <a:ea typeface="맑은 고딕"/>
                <a:cs typeface="맑은 고딕"/>
              </a:rPr>
              <a:t>52.7%  </a:t>
            </a:r>
            <a:r>
              <a:rPr sz="1950" b="0" spc="-39" lang="ko-KR" altLang="en-US">
                <a:solidFill>
                  <a:srgbClr val="16171C"/>
                </a:solidFill>
                <a:latin typeface="맑은 고딕"/>
                <a:ea typeface="맑은 고딕"/>
                <a:cs typeface="맑은 고딕"/>
              </a:rPr>
              <a:t>AI를 써 본 학생 중 수업의 AI 규칙을 모르는 비율 (논문 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학생의 AI 사용 · 전체 질문은 사이트 #student-ai-use</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45</a:t>
            </a:r>
          </a:p>
        </p:txBody>
      </p:sp>
      <p:sp>
        <p:nvSpPr>
          <p:cNvPr id="4" name="Rectangle 3"/>
          <p:cNvSpPr/>
          <p:nvPr/>
        </p:nvSpPr>
        <p:spPr>
          <a:xfrm>
            <a:off x="0" y="0"/>
            <a:ext cx="12192000" cy="87630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16171C"/>
                </a:solidFill>
                <a:latin typeface="맑은 고딕"/>
                <a:ea typeface="맑은 고딕"/>
                <a:cs typeface="맑은 고딕"/>
              </a:rPr>
              <a:t>실습 4 · 과제와 AI 원칙</a:t>
            </a:r>
          </a:p>
        </p:txBody>
      </p:sp>
      <p:sp>
        <p:nvSpPr>
          <p:cNvPr id="6" name="Rounded Rectangle 5"/>
          <p:cNvSpPr/>
          <p:nvPr/>
        </p:nvSpPr>
        <p:spPr>
          <a:xfrm>
            <a:off x="8113776" y="219075"/>
            <a:ext cx="3390900" cy="409575"/>
          </a:xfrm>
          <a:prstGeom prst="roundRect">
            <a:avLst>
              <a:gd name="adj" fmla="val 50000"/>
            </a:avLst>
          </a:prstGeom>
          <a:solidFill>
            <a:srgbClr val="FFFFFF"/>
          </a:solidFill>
          <a:ln w="11429">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66176" y="357188"/>
            <a:ext cx="133350" cy="13335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94776" y="219075"/>
            <a:ext cx="2933700" cy="409575"/>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10분 · Claude 또는 Gemini</a:t>
            </a:r>
          </a:p>
        </p:txBody>
      </p:sp>
      <p:sp>
        <p:nvSpPr>
          <p:cNvPr id="9" name="TextBox 8"/>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16171C"/>
                </a:solidFill>
                <a:latin typeface="맑은 고딕"/>
                <a:ea typeface="맑은 고딕"/>
                <a:cs typeface="맑은 고딕"/>
              </a:rPr>
              <a:t>AI로 끝나지 않는 과제와 수업 AI 원칙을 씁니다</a:t>
            </a:r>
          </a:p>
        </p:txBody>
      </p:sp>
      <p:sp>
        <p:nvSpPr>
          <p:cNvPr id="10" name="TextBox 9"/>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E8590C"/>
                </a:solidFill>
                <a:latin typeface="맑은 고딕"/>
                <a:ea typeface="맑은 고딕"/>
                <a:cs typeface="맑은 고딕"/>
              </a:rPr>
              <a:t>① </a:t>
            </a:r>
            <a:r>
              <a:rPr sz="2025" b="0" spc="-40" lang="ko-KR" altLang="en-US">
                <a:solidFill>
                  <a:srgbClr val="16171C"/>
                </a:solidFill>
                <a:latin typeface="맑은 고딕"/>
                <a:ea typeface="맑은 고딕"/>
                <a:cs typeface="맑은 고딕"/>
              </a:rPr>
              <a:t>계획서 올리기 (M18은 질문 안에)</a:t>
            </a:r>
            <a:r>
              <a:rPr sz="2025" b="1" spc="-40" lang="ko-KR" altLang="en-US">
                <a:solidFill>
                  <a:srgbClr val="E8590C"/>
                </a:solidFill>
                <a:latin typeface="맑은 고딕"/>
                <a:ea typeface="맑은 고딕"/>
                <a:cs typeface="맑은 고딕"/>
              </a:rPr>
              <a:t>   →   </a:t>
            </a:r>
            <a:r>
              <a:rPr sz="2025" b="1" spc="-40" lang="ko-KR" altLang="en-US">
                <a:solidFill>
                  <a:srgbClr val="E8590C"/>
                </a:solidFill>
                <a:latin typeface="맑은 고딕"/>
                <a:ea typeface="맑은 고딕"/>
                <a:cs typeface="맑은 고딕"/>
              </a:rPr>
              <a:t>② </a:t>
            </a:r>
            <a:r>
              <a:rPr sz="2025" b="0" spc="-40" lang="ko-KR" altLang="en-US">
                <a:solidFill>
                  <a:srgbClr val="16171C"/>
                </a:solidFill>
                <a:latin typeface="맑은 고딕"/>
                <a:ea typeface="맑은 고딕"/>
                <a:cs typeface="맑은 고딕"/>
              </a:rPr>
              <a:t>질문 5-1, 5-2</a:t>
            </a:r>
            <a:r>
              <a:rPr sz="2025" b="1" spc="-40" lang="ko-KR" altLang="en-US">
                <a:solidFill>
                  <a:srgbClr val="E8590C"/>
                </a:solidFill>
                <a:latin typeface="맑은 고딕"/>
                <a:ea typeface="맑은 고딕"/>
                <a:cs typeface="맑은 고딕"/>
              </a:rPr>
              <a:t>   →   </a:t>
            </a:r>
            <a:r>
              <a:rPr sz="2025" b="1" spc="-40" lang="ko-KR" altLang="en-US">
                <a:solidFill>
                  <a:srgbClr val="E8590C"/>
                </a:solidFill>
                <a:latin typeface="맑은 고딕"/>
                <a:ea typeface="맑은 고딕"/>
                <a:cs typeface="맑은 고딕"/>
              </a:rPr>
              <a:t>③ </a:t>
            </a:r>
            <a:r>
              <a:rPr sz="2025" b="0" spc="-40" lang="ko-KR" altLang="en-US">
                <a:solidFill>
                  <a:srgbClr val="16171C"/>
                </a:solidFill>
                <a:latin typeface="맑은 고딕"/>
                <a:ea typeface="맑은 고딕"/>
                <a:cs typeface="맑은 고딕"/>
              </a:rPr>
              <a:t>'위반 시 처리' 읽기</a:t>
            </a:r>
          </a:p>
        </p:txBody>
      </p:sp>
      <p:sp>
        <p:nvSpPr>
          <p:cNvPr id="11" name="Rounded Rectangle 10"/>
          <p:cNvSpPr/>
          <p:nvPr/>
        </p:nvSpPr>
        <p:spPr>
          <a:xfrm>
            <a:off x="685800" y="2324100"/>
            <a:ext cx="5334000" cy="3181350"/>
          </a:xfrm>
          <a:prstGeom prst="roundRect">
            <a:avLst>
              <a:gd name="adj" fmla="val 4790"/>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C9CDD3"/>
                </a:solidFill>
                <a:latin typeface="맑은 고딕"/>
                <a:ea typeface="맑은 고딕"/>
                <a:cs typeface="맑은 고딕"/>
              </a:rPr>
              <a:t>복사할 질문 · 줄임</a:t>
            </a:r>
          </a:p>
        </p:txBody>
      </p:sp>
      <p:sp>
        <p:nvSpPr>
          <p:cNvPr id="13" name="TextBox 12"/>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역할</a:t>
            </a:r>
            <a:r>
              <a:rPr sz="1875" b="0" spc="-37" lang="ko-KR" altLang="en-US">
                <a:solidFill>
                  <a:srgbClr val="F3F1EA"/>
                </a:solidFill>
                <a:latin typeface="맑은 고딕"/>
                <a:ea typeface="맑은 고딕"/>
                <a:cs typeface="맑은 고딕"/>
              </a:rPr>
              <a:t>	평가 설계를 돕는 교수학습 전문가</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자료</a:t>
            </a:r>
            <a:r>
              <a:rPr sz="1875" b="0" spc="-37" lang="ko-KR" altLang="en-US">
                <a:solidFill>
                  <a:srgbClr val="F3F1EA"/>
                </a:solidFill>
                <a:latin typeface="맑은 고딕"/>
                <a:ea typeface="맑은 고딕"/>
                <a:cs typeface="맑은 고딕"/>
              </a:rPr>
              <a:t>	기말 프로젝트 부분 + 질문 속 M18</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형태</a:t>
            </a:r>
            <a:r>
              <a:rPr sz="1875" b="0" spc="-37" lang="ko-KR" altLang="en-US">
                <a:solidFill>
                  <a:srgbClr val="F3F1EA"/>
                </a:solidFill>
                <a:latin typeface="맑은 고딕"/>
                <a:ea typeface="맑은 고딕"/>
                <a:cs typeface="맑은 고딕"/>
              </a:rPr>
              <a:t>	고친 과제 안내, 허용·조건부·금지 표, 표시 문장 한 줄</a:t>
            </a:r>
          </a:p>
          <a:p>
            <a:pPr algn="l" latinLnBrk="0" eaLnBrk="1" marL="666750" indent="-666750">
              <a:lnSpc>
                <a:spcPct val="130000"/>
              </a:lnSpc>
              <a:spcAft>
                <a:spcPts val="600"/>
              </a:spcAft>
              <a:tabLst>
                <a:tab pos="666750" algn="l"/>
              </a:tabLst>
            </a:pPr>
            <a:r>
              <a:rPr sz="1875" b="1" spc="-37" lang="ko-KR" altLang="en-US">
                <a:solidFill>
                  <a:srgbClr val="FF9A5C"/>
                </a:solidFill>
                <a:latin typeface="맑은 고딕"/>
                <a:ea typeface="맑은 고딕"/>
                <a:cs typeface="맑은 고딕"/>
              </a:rPr>
              <a:t>금지</a:t>
            </a:r>
            <a:r>
              <a:rPr sz="1875" b="0" spc="-37" lang="ko-KR" altLang="en-US">
                <a:solidFill>
                  <a:srgbClr val="F3F1EA"/>
                </a:solidFill>
                <a:latin typeface="맑은 고딕"/>
                <a:ea typeface="맑은 고딕"/>
                <a:cs typeface="맑은 고딕"/>
              </a:rPr>
              <a:t>	전면 금지, AI 탐지기, 없는 처벌 조항</a:t>
            </a:r>
          </a:p>
        </p:txBody>
      </p:sp>
      <p:sp>
        <p:nvSpPr>
          <p:cNvPr id="14" name="Rounded Rectangle 13"/>
          <p:cNvSpPr/>
          <p:nvPr/>
        </p:nvSpPr>
        <p:spPr>
          <a:xfrm>
            <a:off x="6210300" y="2324100"/>
            <a:ext cx="5295900" cy="3181350"/>
          </a:xfrm>
          <a:prstGeom prst="roundRect">
            <a:avLst>
              <a:gd name="adj" fmla="val 4790"/>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결과 미리보기 · 동그라미를 확인</a:t>
            </a:r>
          </a:p>
        </p:txBody>
      </p:sp>
      <p:sp>
        <p:nvSpPr>
          <p:cNvPr id="16" name="Rectangle 15"/>
          <p:cNvSpPr/>
          <p:nvPr/>
        </p:nvSpPr>
        <p:spPr>
          <a:xfrm>
            <a:off x="6438900" y="2895600"/>
            <a:ext cx="4838700" cy="40005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4150" y="2895600"/>
            <a:ext cx="28956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단계</a:t>
            </a:r>
          </a:p>
        </p:txBody>
      </p:sp>
      <p:sp>
        <p:nvSpPr>
          <p:cNvPr id="18" name="TextBox 17"/>
          <p:cNvSpPr txBox="1"/>
          <p:nvPr/>
        </p:nvSpPr>
        <p:spPr>
          <a:xfrm>
            <a:off x="9563100" y="2895600"/>
            <a:ext cx="1676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3D3F48"/>
                </a:solidFill>
                <a:latin typeface="맑은 고딕"/>
                <a:ea typeface="맑은 고딕"/>
                <a:cs typeface="맑은 고딕"/>
              </a:rPr>
              <a:t>AI 사용</a:t>
            </a:r>
          </a:p>
        </p:txBody>
      </p:sp>
      <p:sp>
        <p:nvSpPr>
          <p:cNvPr id="19" name="Rectangle 18"/>
          <p:cNvSpPr/>
          <p:nvPr/>
        </p:nvSpPr>
        <p:spPr>
          <a:xfrm>
            <a:off x="6438900" y="36814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34150" y="3295650"/>
            <a:ext cx="28956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자료 조사</a:t>
            </a:r>
          </a:p>
        </p:txBody>
      </p:sp>
      <p:sp>
        <p:nvSpPr>
          <p:cNvPr id="21" name="TextBox 20"/>
          <p:cNvSpPr txBox="1"/>
          <p:nvPr/>
        </p:nvSpPr>
        <p:spPr>
          <a:xfrm>
            <a:off x="9563100" y="3295650"/>
            <a:ext cx="16764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조건부 허용</a:t>
            </a:r>
          </a:p>
        </p:txBody>
      </p:sp>
      <p:sp>
        <p:nvSpPr>
          <p:cNvPr id="22" name="Rectangle 21"/>
          <p:cNvSpPr/>
          <p:nvPr/>
        </p:nvSpPr>
        <p:spPr>
          <a:xfrm>
            <a:off x="6438900" y="40814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34150" y="3695700"/>
            <a:ext cx="28956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분석·결론</a:t>
            </a:r>
          </a:p>
        </p:txBody>
      </p:sp>
      <p:sp>
        <p:nvSpPr>
          <p:cNvPr id="24" name="TextBox 23"/>
          <p:cNvSpPr txBox="1"/>
          <p:nvPr/>
        </p:nvSpPr>
        <p:spPr>
          <a:xfrm>
            <a:off x="9563100" y="3695700"/>
            <a:ext cx="16764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금지</a:t>
            </a:r>
          </a:p>
        </p:txBody>
      </p:sp>
      <p:sp>
        <p:nvSpPr>
          <p:cNvPr id="25" name="Rectangle 24"/>
          <p:cNvSpPr/>
          <p:nvPr/>
        </p:nvSpPr>
        <p:spPr>
          <a:xfrm>
            <a:off x="6438900" y="44815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4150" y="4095750"/>
            <a:ext cx="28956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문장 다듬기</a:t>
            </a:r>
          </a:p>
        </p:txBody>
      </p:sp>
      <p:sp>
        <p:nvSpPr>
          <p:cNvPr id="27" name="TextBox 26"/>
          <p:cNvSpPr txBox="1"/>
          <p:nvPr/>
        </p:nvSpPr>
        <p:spPr>
          <a:xfrm>
            <a:off x="9563100" y="4095750"/>
            <a:ext cx="16764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허용 + 표시</a:t>
            </a:r>
          </a:p>
        </p:txBody>
      </p:sp>
      <p:sp>
        <p:nvSpPr>
          <p:cNvPr id="28" name="Rectangle 27"/>
          <p:cNvSpPr/>
          <p:nvPr/>
        </p:nvSpPr>
        <p:spPr>
          <a:xfrm>
            <a:off x="6438900" y="488156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34150" y="4495800"/>
            <a:ext cx="28956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M18 답: 표시 문장</a:t>
            </a:r>
          </a:p>
        </p:txBody>
      </p:sp>
      <p:sp>
        <p:nvSpPr>
          <p:cNvPr id="30" name="TextBox 29"/>
          <p:cNvSpPr txBox="1"/>
          <p:nvPr/>
        </p:nvSpPr>
        <p:spPr>
          <a:xfrm>
            <a:off x="9563100" y="4495800"/>
            <a:ext cx="16764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한 줄 예시</a:t>
            </a:r>
          </a:p>
        </p:txBody>
      </p:sp>
      <p:sp>
        <p:nvSpPr>
          <p:cNvPr id="31" name="Rectangle 30"/>
          <p:cNvSpPr/>
          <p:nvPr/>
        </p:nvSpPr>
        <p:spPr>
          <a:xfrm>
            <a:off x="6438900" y="5281612"/>
            <a:ext cx="4838700" cy="14288"/>
          </a:xfrm>
          <a:prstGeom prst="rect">
            <a:avLst/>
          </a:prstGeom>
          <a:solidFill>
            <a:srgbClr val="D9D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34150" y="4895850"/>
            <a:ext cx="2895600" cy="400050"/>
          </a:xfrm>
          <a:prstGeom prst="rect">
            <a:avLst/>
          </a:prstGeom>
          <a:noFill/>
        </p:spPr>
        <p:txBody>
          <a:bodyPr wrap="square" lIns="0" tIns="0" rIns="0" bIns="0" anchor="ctr"/>
          <a:lstStyle/>
          <a:p>
            <a:pPr algn="l" latinLnBrk="0" eaLnBrk="1">
              <a:lnSpc>
                <a:spcPct val="100000"/>
              </a:lnSpc>
            </a:pPr>
            <a:r>
              <a:rPr sz="1800" b="1" spc="-36" lang="ko-KR" altLang="en-US">
                <a:solidFill>
                  <a:srgbClr val="16171C"/>
                </a:solidFill>
                <a:latin typeface="맑은 고딕"/>
                <a:ea typeface="맑은 고딕"/>
                <a:cs typeface="맑은 고딕"/>
              </a:rPr>
              <a:t>위반 시 처리</a:t>
            </a:r>
          </a:p>
        </p:txBody>
      </p:sp>
      <p:sp>
        <p:nvSpPr>
          <p:cNvPr id="33" name="TextBox 32"/>
          <p:cNvSpPr txBox="1"/>
          <p:nvPr/>
        </p:nvSpPr>
        <p:spPr>
          <a:xfrm>
            <a:off x="9563100" y="4895850"/>
            <a:ext cx="1676400" cy="400050"/>
          </a:xfrm>
          <a:prstGeom prst="rect">
            <a:avLst/>
          </a:prstGeom>
          <a:noFill/>
        </p:spPr>
        <p:txBody>
          <a:bodyPr wrap="square" lIns="0" tIns="0" rIns="0" bIns="0" anchor="ctr"/>
          <a:lstStyle/>
          <a:p>
            <a:pPr algn="l" latinLnBrk="0" eaLnBrk="1">
              <a:lnSpc>
                <a:spcPct val="100000"/>
              </a:lnSpc>
            </a:pPr>
            <a:r>
              <a:rPr sz="1800" b="0" spc="-36" lang="ko-KR" altLang="en-US">
                <a:solidFill>
                  <a:srgbClr val="16171C"/>
                </a:solidFill>
                <a:latin typeface="맑은 고딕"/>
                <a:ea typeface="맑은 고딕"/>
                <a:cs typeface="맑은 고딕"/>
              </a:rPr>
              <a:t>[학칙 확인]?</a:t>
            </a:r>
          </a:p>
        </p:txBody>
      </p:sp>
      <p:sp>
        <p:nvSpPr>
          <p:cNvPr id="34" name="Rounded Rectangle 33"/>
          <p:cNvSpPr/>
          <p:nvPr/>
        </p:nvSpPr>
        <p:spPr>
          <a:xfrm>
            <a:off x="9486900" y="4924425"/>
            <a:ext cx="1771650" cy="342900"/>
          </a:xfrm>
          <a:prstGeom prst="roundRect">
            <a:avLst>
              <a:gd name="adj" fmla="val 50000"/>
            </a:avLst>
          </a:prstGeom>
          <a:noFill/>
          <a:ln w="33337">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85800" y="5676900"/>
            <a:ext cx="10820400" cy="666750"/>
          </a:xfrm>
          <a:prstGeom prst="roundRect">
            <a:avLst>
              <a:gd name="adj" fmla="val 17142"/>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E8590C"/>
                </a:solidFill>
                <a:latin typeface="맑은 고딕"/>
                <a:ea typeface="맑은 고딕"/>
                <a:cs typeface="맑은 고딕"/>
              </a:rPr>
              <a:t>확인할 한 곳  </a:t>
            </a:r>
            <a:r>
              <a:rPr sz="2100" b="1" spc="-42" lang="ko-KR" altLang="en-US">
                <a:solidFill>
                  <a:srgbClr val="16171C"/>
                </a:solidFill>
                <a:latin typeface="맑은 고딕"/>
                <a:ea typeface="맑은 고딕"/>
                <a:cs typeface="맑은 고딕"/>
              </a:rPr>
              <a:t>'위반 시 처리'에 [학칙 확인]이 남았는가?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학생의 AI 사용 · 150–170분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46</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42318"/>
                </a:solidFill>
                <a:latin typeface="맑은 고딕"/>
                <a:ea typeface="맑은 고딕"/>
                <a:cs typeface="맑은 고딕"/>
              </a:rPr>
              <a:t>AI가 여기서 틀렸다 · 재현 예시</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AI는 없는 처벌 조항을 만들어 넣기도 합니다</a:t>
            </a:r>
          </a:p>
        </p:txBody>
      </p:sp>
      <p:sp>
        <p:nvSpPr>
          <p:cNvPr id="6" name="Rounded Rectangle 5"/>
          <p:cNvSpPr/>
          <p:nvPr/>
        </p:nvSpPr>
        <p:spPr>
          <a:xfrm>
            <a:off x="685800" y="1962150"/>
            <a:ext cx="5295900" cy="2971800"/>
          </a:xfrm>
          <a:prstGeom prst="roundRect">
            <a:avLst>
              <a:gd name="adj" fmla="val 5128"/>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AI 답 · 수업 AI 원칙</a:t>
            </a:r>
          </a:p>
        </p:txBody>
      </p:sp>
      <p:sp>
        <p:nvSpPr>
          <p:cNvPr id="8" name="TextBox 7"/>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위반 시 </a:t>
            </a:r>
            <a:r>
              <a:rPr sz="2100" b="1" spc="-42" lang="ko-KR" altLang="en-US">
                <a:solidFill>
                  <a:srgbClr val="16171C"/>
                </a:solidFill>
                <a:highlight>
                  <a:srgbClr val="FFD2C4"/>
                </a:highlight>
                <a:latin typeface="맑은 고딕"/>
                <a:ea typeface="맑은 고딕"/>
                <a:cs typeface="맑은 고딕"/>
              </a:rPr>
              <a:t>학칙 제20조에 따라</a:t>
            </a:r>
            <a:br/>
            <a:r>
              <a:rPr sz="2100" b="0" spc="-42" lang="ko-KR" altLang="en-US">
                <a:solidFill>
                  <a:srgbClr val="16171C"/>
                </a:solidFill>
                <a:latin typeface="맑은 고딕"/>
                <a:ea typeface="맑은 고딕"/>
                <a:cs typeface="맑은 고딕"/>
              </a:rPr>
              <a:t>해당 과제를 0점 처리합니다.</a:t>
            </a:r>
          </a:p>
        </p:txBody>
      </p:sp>
      <p:sp>
        <p:nvSpPr>
          <p:cNvPr id="9" name="Rounded Rectangle 8"/>
          <p:cNvSpPr/>
          <p:nvPr/>
        </p:nvSpPr>
        <p:spPr>
          <a:xfrm>
            <a:off x="6210300" y="1962150"/>
            <a:ext cx="5295900" cy="2971800"/>
          </a:xfrm>
          <a:prstGeom prst="roundRect">
            <a:avLst>
              <a:gd name="adj" fmla="val 5128"/>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원문 · 04_학칙발췌</a:t>
            </a:r>
          </a:p>
        </p:txBody>
      </p:sp>
      <p:sp>
        <p:nvSpPr>
          <p:cNvPr id="11" name="TextBox 10"/>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16171C"/>
                </a:solidFill>
                <a:latin typeface="맑은 고딕"/>
                <a:ea typeface="맑은 고딕"/>
                <a:cs typeface="맑은 고딕"/>
              </a:rPr>
              <a:t>발췌 범위: </a:t>
            </a:r>
            <a:r>
              <a:rPr sz="2100" b="0" spc="-42" lang="ko-KR" altLang="en-US">
                <a:solidFill>
                  <a:srgbClr val="16171C"/>
                </a:solidFill>
                <a:highlight>
                  <a:srgbClr val="C9EBD8"/>
                </a:highlight>
                <a:latin typeface="맑은 고딕"/>
                <a:ea typeface="맑은 고딕"/>
                <a:cs typeface="맑은 고딕"/>
              </a:rPr>
              <a:t>제12조~제19조</a:t>
            </a:r>
            <a:br/>
            <a:r>
              <a:rPr sz="2100" b="0" spc="-42" lang="ko-KR" altLang="en-US">
                <a:solidFill>
                  <a:srgbClr val="16171C"/>
                </a:solidFill>
                <a:latin typeface="맑은 고딕"/>
                <a:ea typeface="맑은 고딕"/>
                <a:cs typeface="맑은 고딕"/>
              </a:rPr>
              <a:t>출석·공결·과제·성적·철회·학생 정보.</a:t>
            </a:r>
            <a:br/>
            <a:r>
              <a:rPr sz="2100" b="0" spc="-42" lang="ko-KR" altLang="en-US">
                <a:solidFill>
                  <a:srgbClr val="16171C"/>
                </a:solidFill>
                <a:highlight>
                  <a:srgbClr val="C9EBD8"/>
                </a:highlight>
                <a:latin typeface="맑은 고딕"/>
                <a:ea typeface="맑은 고딕"/>
                <a:cs typeface="맑은 고딕"/>
              </a:rPr>
              <a:t>AI 사용 조항은 없습니다.</a:t>
            </a:r>
          </a:p>
        </p:txBody>
      </p:sp>
      <p:sp>
        <p:nvSpPr>
          <p:cNvPr id="12" name="TextBox 11"/>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B42318"/>
                </a:solidFill>
                <a:latin typeface="맑은 고딕"/>
                <a:ea typeface="맑은 고딕"/>
                <a:cs typeface="맑은 고딕"/>
              </a:rPr>
              <a:t>→ </a:t>
            </a:r>
            <a:r>
              <a:rPr sz="2400" b="1" spc="-48" lang="ko-KR" altLang="en-US">
                <a:solidFill>
                  <a:srgbClr val="16171C"/>
                </a:solidFill>
                <a:latin typeface="맑은 고딕"/>
                <a:ea typeface="맑은 고딕"/>
                <a:cs typeface="맑은 고딕"/>
              </a:rPr>
              <a:t>모르는 규정은 [학칙 확인]으로 비워 둡니다.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학생의 AI 사용 · 150–170분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47</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학생이 쓰는 AI 사용 표시 · 예시</a:t>
            </a:r>
          </a:p>
        </p:txBody>
      </p:sp>
      <p:sp>
        <p:nvSpPr>
          <p:cNvPr id="5" name="Rectangle 4"/>
          <p:cNvSpPr/>
          <p:nvPr/>
        </p:nvSpPr>
        <p:spPr>
          <a:xfrm>
            <a:off x="800100" y="1905000"/>
            <a:ext cx="95250" cy="1181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6800" y="1905000"/>
            <a:ext cx="10287000" cy="2095500"/>
          </a:xfrm>
          <a:prstGeom prst="rect">
            <a:avLst/>
          </a:prstGeom>
          <a:noFill/>
        </p:spPr>
        <p:txBody>
          <a:bodyPr wrap="square" lIns="0" tIns="0" rIns="0" bIns="0" anchor="t"/>
          <a:lstStyle/>
          <a:p>
            <a:pPr algn="l" latinLnBrk="0" eaLnBrk="1">
              <a:lnSpc>
                <a:spcPct val="145000"/>
              </a:lnSpc>
            </a:pPr>
            <a:r>
              <a:rPr sz="3300" b="1" spc="-66" lang="ko-KR" altLang="en-US">
                <a:solidFill>
                  <a:srgbClr val="16171C"/>
                </a:solidFill>
                <a:latin typeface="맑은 고딕"/>
                <a:ea typeface="맑은 고딕"/>
                <a:cs typeface="맑은 고딕"/>
              </a:rPr>
              <a:t>이 보고서의 문장 다듬기에 ○○ AI를 사용했고,</a:t>
            </a:r>
            <a:br/>
            <a:r>
              <a:rPr sz="3300" b="1" spc="-66" lang="ko-KR" altLang="en-US">
                <a:solidFill>
                  <a:srgbClr val="16171C"/>
                </a:solidFill>
                <a:latin typeface="맑은 고딕"/>
                <a:ea typeface="맑은 고딕"/>
                <a:cs typeface="맑은 고딕"/>
              </a:rPr>
              <a:t>분석과 결론은 직접 작성했습니다.</a:t>
            </a:r>
          </a:p>
        </p:txBody>
      </p:sp>
      <p:sp>
        <p:nvSpPr>
          <p:cNvPr id="7" name="TextBox 6"/>
          <p:cNvSpPr txBox="1"/>
          <p:nvPr/>
        </p:nvSpPr>
        <p:spPr>
          <a:xfrm>
            <a:off x="1066800" y="4457700"/>
            <a:ext cx="10096500" cy="1143000"/>
          </a:xfrm>
          <a:prstGeom prst="rect">
            <a:avLst/>
          </a:prstGeom>
          <a:noFill/>
        </p:spPr>
        <p:txBody>
          <a:bodyPr wrap="square" lIns="0" tIns="0" rIns="0" bIns="0" anchor="t"/>
          <a:lstStyle/>
          <a:p>
            <a:pPr algn="l" latinLnBrk="0" eaLnBrk="1">
              <a:lnSpc>
                <a:spcPct val="145000"/>
              </a:lnSpc>
            </a:pPr>
            <a:r>
              <a:rPr sz="1950" b="0" spc="-39" lang="ko-KR" altLang="en-US">
                <a:solidFill>
                  <a:srgbClr val="3D3F48"/>
                </a:solidFill>
                <a:latin typeface="맑은 고딕"/>
                <a:ea typeface="맑은 고딕"/>
                <a:cs typeface="맑은 고딕"/>
              </a:rPr>
              <a:t>학생 메일 M18의 질문</a:t>
            </a:r>
            <a:br/>
            <a:r>
              <a:rPr sz="1950" b="0" spc="-39" lang="ko-KR" altLang="en-US">
                <a:solidFill>
                  <a:srgbClr val="3D3F48"/>
                </a:solidFill>
                <a:latin typeface="맑은 고딕"/>
                <a:ea typeface="맑은 고딕"/>
                <a:cs typeface="맑은 고딕"/>
              </a:rPr>
              <a:t>“ChatGPT로 문장을 다듬어도 되나요? 어떻게 표시하나요?”</a:t>
            </a:r>
            <a:br/>
            <a:r>
              <a:rPr sz="1950" b="0" spc="-39" lang="ko-KR" altLang="en-US">
                <a:solidFill>
                  <a:srgbClr val="3D3F48"/>
                </a:solidFill>
                <a:latin typeface="맑은 고딕"/>
                <a:ea typeface="맑은 고딕"/>
                <a:cs typeface="맑은 고딕"/>
              </a:rPr>
              <a:t>이 한 문장으로 답합니다.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마치며 · 170–180분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48</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마치며</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내일 아침, 딱 하나만 해 보세요</a:t>
            </a:r>
          </a:p>
        </p:txBody>
      </p:sp>
      <p:sp>
        <p:nvSpPr>
          <p:cNvPr id="6" name="TextBox 5"/>
          <p:cNvSpPr txBox="1"/>
          <p:nvPr/>
        </p:nvSpPr>
        <p:spPr>
          <a:xfrm>
            <a:off x="685800" y="2038350"/>
            <a:ext cx="2286000" cy="571500"/>
          </a:xfrm>
          <a:prstGeom prst="rect">
            <a:avLst/>
          </a:prstGeom>
          <a:noFill/>
        </p:spPr>
        <p:txBody>
          <a:bodyPr wrap="square" lIns="0" tIns="0" rIns="0" bIns="0" anchor="b"/>
          <a:lstStyle/>
          <a:p>
            <a:pPr algn="l" latinLnBrk="0" eaLnBrk="1">
              <a:lnSpc>
                <a:spcPct val="100000"/>
              </a:lnSpc>
            </a:pPr>
            <a:r>
              <a:rPr sz="2400" b="1" spc="-48" lang="ko-KR" altLang="en-US">
                <a:solidFill>
                  <a:srgbClr val="16171C"/>
                </a:solidFill>
                <a:latin typeface="맑은 고딕"/>
                <a:ea typeface="맑은 고딕"/>
                <a:cs typeface="맑은 고딕"/>
              </a:rPr>
              <a:t>업무</a:t>
            </a:r>
          </a:p>
        </p:txBody>
      </p:sp>
      <p:sp>
        <p:nvSpPr>
          <p:cNvPr id="7" name="TextBox 6"/>
          <p:cNvSpPr txBox="1"/>
          <p:nvPr/>
        </p:nvSpPr>
        <p:spPr>
          <a:xfrm>
            <a:off x="3257550" y="2038350"/>
            <a:ext cx="8191500" cy="571500"/>
          </a:xfrm>
          <a:prstGeom prst="rect">
            <a:avLst/>
          </a:prstGeom>
          <a:noFill/>
        </p:spPr>
        <p:txBody>
          <a:bodyPr wrap="square" lIns="0" tIns="0" rIns="0" bIns="0" anchor="b"/>
          <a:lstStyle/>
          <a:p>
            <a:pPr algn="l" latinLnBrk="0" eaLnBrk="1">
              <a:lnSpc>
                <a:spcPct val="100000"/>
              </a:lnSpc>
            </a:pPr>
            <a:r>
              <a:rPr sz="2100" b="0" spc="-42" lang="ko-KR" altLang="en-US">
                <a:solidFill>
                  <a:srgbClr val="3D3F48"/>
                </a:solidFill>
                <a:latin typeface="맑은 고딕"/>
                <a:ea typeface="맑은 고딕"/>
                <a:cs typeface="맑은 고딕"/>
              </a:rPr>
              <a:t>예: 이번 주 학생 메일 정리</a:t>
            </a:r>
          </a:p>
        </p:txBody>
      </p:sp>
      <p:sp>
        <p:nvSpPr>
          <p:cNvPr id="8" name="Rectangle 7"/>
          <p:cNvSpPr/>
          <p:nvPr/>
        </p:nvSpPr>
        <p:spPr>
          <a:xfrm>
            <a:off x="3257550" y="2705100"/>
            <a:ext cx="8248650" cy="23812"/>
          </a:xfrm>
          <a:prstGeom prst="rect">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3086100"/>
            <a:ext cx="2286000" cy="571500"/>
          </a:xfrm>
          <a:prstGeom prst="rect">
            <a:avLst/>
          </a:prstGeom>
          <a:noFill/>
        </p:spPr>
        <p:txBody>
          <a:bodyPr wrap="square" lIns="0" tIns="0" rIns="0" bIns="0" anchor="b"/>
          <a:lstStyle/>
          <a:p>
            <a:pPr algn="l" latinLnBrk="0" eaLnBrk="1">
              <a:lnSpc>
                <a:spcPct val="100000"/>
              </a:lnSpc>
            </a:pPr>
            <a:r>
              <a:rPr sz="2400" b="1" spc="-48" lang="ko-KR" altLang="en-US">
                <a:solidFill>
                  <a:srgbClr val="16171C"/>
                </a:solidFill>
                <a:latin typeface="맑은 고딕"/>
                <a:ea typeface="맑은 고딕"/>
                <a:cs typeface="맑은 고딕"/>
              </a:rPr>
              <a:t>도구</a:t>
            </a:r>
          </a:p>
        </p:txBody>
      </p:sp>
      <p:sp>
        <p:nvSpPr>
          <p:cNvPr id="10" name="TextBox 9"/>
          <p:cNvSpPr txBox="1"/>
          <p:nvPr/>
        </p:nvSpPr>
        <p:spPr>
          <a:xfrm>
            <a:off x="3257550" y="3086100"/>
            <a:ext cx="8191500" cy="571500"/>
          </a:xfrm>
          <a:prstGeom prst="rect">
            <a:avLst/>
          </a:prstGeom>
          <a:noFill/>
        </p:spPr>
        <p:txBody>
          <a:bodyPr wrap="square" lIns="0" tIns="0" rIns="0" bIns="0" anchor="b"/>
          <a:lstStyle/>
          <a:p>
            <a:pPr algn="l" latinLnBrk="0" eaLnBrk="1">
              <a:lnSpc>
                <a:spcPct val="100000"/>
              </a:lnSpc>
            </a:pPr>
            <a:r>
              <a:rPr sz="2100" b="0" spc="-42" lang="ko-KR" altLang="en-US">
                <a:solidFill>
                  <a:srgbClr val="3D3F48"/>
                </a:solidFill>
                <a:latin typeface="맑은 고딕"/>
                <a:ea typeface="맑은 고딕"/>
                <a:cs typeface="맑은 고딕"/>
              </a:rPr>
              <a:t>예: 학교 계정 도구 (없으면 개인 계정 + 학습 설정 끄기)</a:t>
            </a:r>
          </a:p>
        </p:txBody>
      </p:sp>
      <p:sp>
        <p:nvSpPr>
          <p:cNvPr id="11" name="Rectangle 10"/>
          <p:cNvSpPr/>
          <p:nvPr/>
        </p:nvSpPr>
        <p:spPr>
          <a:xfrm>
            <a:off x="3257550" y="3752850"/>
            <a:ext cx="8248650" cy="23812"/>
          </a:xfrm>
          <a:prstGeom prst="rect">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4133850"/>
            <a:ext cx="2286000" cy="571500"/>
          </a:xfrm>
          <a:prstGeom prst="rect">
            <a:avLst/>
          </a:prstGeom>
          <a:noFill/>
        </p:spPr>
        <p:txBody>
          <a:bodyPr wrap="square" lIns="0" tIns="0" rIns="0" bIns="0" anchor="b"/>
          <a:lstStyle/>
          <a:p>
            <a:pPr algn="l" latinLnBrk="0" eaLnBrk="1">
              <a:lnSpc>
                <a:spcPct val="100000"/>
              </a:lnSpc>
            </a:pPr>
            <a:r>
              <a:rPr sz="2400" b="1" spc="-48" lang="ko-KR" altLang="en-US">
                <a:solidFill>
                  <a:srgbClr val="16171C"/>
                </a:solidFill>
                <a:latin typeface="맑은 고딕"/>
                <a:ea typeface="맑은 고딕"/>
                <a:cs typeface="맑은 고딕"/>
              </a:rPr>
              <a:t>확인할 한 곳</a:t>
            </a:r>
          </a:p>
        </p:txBody>
      </p:sp>
      <p:sp>
        <p:nvSpPr>
          <p:cNvPr id="13" name="TextBox 12"/>
          <p:cNvSpPr txBox="1"/>
          <p:nvPr/>
        </p:nvSpPr>
        <p:spPr>
          <a:xfrm>
            <a:off x="3257550" y="4133850"/>
            <a:ext cx="8191500" cy="571500"/>
          </a:xfrm>
          <a:prstGeom prst="rect">
            <a:avLst/>
          </a:prstGeom>
          <a:noFill/>
        </p:spPr>
        <p:txBody>
          <a:bodyPr wrap="square" lIns="0" tIns="0" rIns="0" bIns="0" anchor="b"/>
          <a:lstStyle/>
          <a:p>
            <a:pPr algn="l" latinLnBrk="0" eaLnBrk="1">
              <a:lnSpc>
                <a:spcPct val="100000"/>
              </a:lnSpc>
            </a:pPr>
            <a:r>
              <a:rPr sz="2100" b="0" spc="-42" lang="ko-KR" altLang="en-US">
                <a:solidFill>
                  <a:srgbClr val="3D3F48"/>
                </a:solidFill>
                <a:latin typeface="맑은 고딕"/>
                <a:ea typeface="맑은 고딕"/>
                <a:cs typeface="맑은 고딕"/>
              </a:rPr>
              <a:t>예: 날짜와 숫자 하나를 원문과 대조</a:t>
            </a:r>
          </a:p>
        </p:txBody>
      </p:sp>
      <p:sp>
        <p:nvSpPr>
          <p:cNvPr id="14" name="Rectangle 13"/>
          <p:cNvSpPr/>
          <p:nvPr/>
        </p:nvSpPr>
        <p:spPr>
          <a:xfrm>
            <a:off x="3257550" y="4800600"/>
            <a:ext cx="8248650" cy="23812"/>
          </a:xfrm>
          <a:prstGeom prst="rect">
            <a:avLst/>
          </a:prstGeom>
          <a:solidFill>
            <a:srgbClr val="16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85800" y="5334000"/>
            <a:ext cx="10820400" cy="800100"/>
          </a:xfrm>
          <a:prstGeom prst="roundRect">
            <a:avLst>
              <a:gd name="adj" fmla="val 14285"/>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2500" y="5334000"/>
            <a:ext cx="10287000" cy="800100"/>
          </a:xfrm>
          <a:prstGeom prst="rect">
            <a:avLst/>
          </a:prstGeom>
          <a:noFill/>
        </p:spPr>
        <p:txBody>
          <a:bodyPr wrap="square" lIns="0" tIns="0" rIns="0" bIns="0" anchor="ctr"/>
          <a:lstStyle/>
          <a:p>
            <a:pPr algn="l" latinLnBrk="0" eaLnBrk="1">
              <a:lnSpc>
                <a:spcPct val="100000"/>
              </a:lnSpc>
            </a:pPr>
            <a:r>
              <a:rPr sz="1950" b="1" spc="-39" lang="ko-KR" altLang="en-US">
                <a:solidFill>
                  <a:srgbClr val="E8590C"/>
                </a:solidFill>
                <a:latin typeface="맑은 고딕"/>
                <a:ea typeface="맑은 고딕"/>
                <a:cs typeface="맑은 고딕"/>
              </a:rPr>
              <a:t>질문은 네 줄로  </a:t>
            </a:r>
            <a:r>
              <a:rPr sz="1950" b="0" spc="-39" lang="ko-KR" altLang="en-US">
                <a:solidFill>
                  <a:srgbClr val="16171C"/>
                </a:solidFill>
                <a:latin typeface="맑은 고딕"/>
                <a:ea typeface="맑은 고딕"/>
                <a:cs typeface="맑은 고딕"/>
              </a:rPr>
              <a:t>역할 · 자료 · 형태 · 금지  →  사이트 질문 6을 복사해 쓰세요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3D3F48"/>
                </a:solidFill>
                <a:latin typeface="맑은 고딕"/>
                <a:ea typeface="맑은 고딕"/>
                <a:cs typeface="맑은 고딕"/>
              </a:rPr>
              <a:t>마치며 · 무료 계정 안내</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3D3F48"/>
                </a:solidFill>
                <a:latin typeface="맑은 고딕"/>
                <a:ea typeface="맑은 고딕"/>
                <a:cs typeface="맑은 고딕"/>
              </a:rPr>
              <a:t>49</a:t>
            </a:r>
          </a:p>
        </p:txBody>
      </p:sp>
      <p:sp>
        <p:nvSpPr>
          <p:cNvPr id="4" name="TextBox 3"/>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3D3F48"/>
                </a:solidFill>
                <a:latin typeface="맑은 고딕"/>
                <a:ea typeface="맑은 고딕"/>
                <a:cs typeface="맑은 고딕"/>
              </a:rPr>
              <a:t>무료 계정 안내 · 2026-09-27 확인</a:t>
            </a:r>
          </a:p>
        </p:txBody>
      </p:sp>
      <p:sp>
        <p:nvSpPr>
          <p:cNvPr id="5" name="TextBox 4"/>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16171C"/>
                </a:solidFill>
                <a:latin typeface="맑은 고딕"/>
                <a:ea typeface="맑은 고딕"/>
                <a:cs typeface="맑은 고딕"/>
              </a:rPr>
              <a:t>세 도구 모두 무료 계정으로 다시 해 볼 수 있습니다</a:t>
            </a:r>
          </a:p>
        </p:txBody>
      </p:sp>
      <p:sp>
        <p:nvSpPr>
          <p:cNvPr id="6" name="Rounded Rectangle 5"/>
          <p:cNvSpPr/>
          <p:nvPr/>
        </p:nvSpPr>
        <p:spPr>
          <a:xfrm>
            <a:off x="685800" y="2038350"/>
            <a:ext cx="3454400" cy="3143250"/>
          </a:xfrm>
          <a:prstGeom prst="roundRect">
            <a:avLst>
              <a:gd name="adj" fmla="val 5454"/>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85800" y="2038350"/>
            <a:ext cx="3454400" cy="95250"/>
          </a:xfrm>
          <a:prstGeom prst="rect">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71550" y="2457450"/>
            <a:ext cx="171450" cy="171450"/>
          </a:xfrm>
          <a:prstGeom prst="ellipse">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57300" y="2343150"/>
            <a:ext cx="2692400" cy="4191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Gemini Notebook</a:t>
            </a:r>
          </a:p>
        </p:txBody>
      </p:sp>
      <p:sp>
        <p:nvSpPr>
          <p:cNvPr id="10" name="TextBox 9"/>
          <p:cNvSpPr txBox="1"/>
          <p:nvPr/>
        </p:nvSpPr>
        <p:spPr>
          <a:xfrm>
            <a:off x="971550" y="3028950"/>
            <a:ext cx="2882900" cy="2000250"/>
          </a:xfrm>
          <a:prstGeom prst="rect">
            <a:avLst/>
          </a:prstGeom>
          <a:noFill/>
        </p:spPr>
        <p:txBody>
          <a:bodyPr wrap="square" lIns="0" tIns="0" rIns="0" bIns="0" anchor="t"/>
          <a:lstStyle/>
          <a:p>
            <a:pPr algn="l" latinLnBrk="0" eaLnBrk="1">
              <a:lnSpc>
                <a:spcPct val="140000"/>
              </a:lnSpc>
            </a:pPr>
            <a:r>
              <a:rPr sz="2100" b="0" spc="-42" lang="ko-KR" altLang="en-US">
                <a:solidFill>
                  <a:srgbClr val="3D3F48"/>
                </a:solidFill>
                <a:latin typeface="맑은 고딕"/>
                <a:ea typeface="맑은 고딕"/>
                <a:cs typeface="맑은 고딕"/>
              </a:rPr>
              <a:t>개인 Google 계정</a:t>
            </a:r>
            <a:br/>
            <a:r>
              <a:rPr sz="2100" b="0" spc="-42" lang="ko-KR" altLang="en-US">
                <a:solidFill>
                  <a:srgbClr val="3D3F48"/>
                </a:solidFill>
                <a:latin typeface="맑은 고딕"/>
                <a:ea typeface="맑은 고딕"/>
                <a:cs typeface="맑은 고딕"/>
              </a:rPr>
              <a:t>무료 · 약 5시간마다</a:t>
            </a:r>
            <a:br/>
            <a:r>
              <a:rPr sz="2100" b="0" spc="-42" lang="ko-KR" altLang="en-US">
                <a:solidFill>
                  <a:srgbClr val="3D3F48"/>
                </a:solidFill>
                <a:latin typeface="맑은 고딕"/>
                <a:ea typeface="맑은 고딕"/>
                <a:cs typeface="맑은 고딕"/>
              </a:rPr>
              <a:t>사용량 갱신</a:t>
            </a:r>
          </a:p>
        </p:txBody>
      </p:sp>
      <p:sp>
        <p:nvSpPr>
          <p:cNvPr id="11" name="Rounded Rectangle 10"/>
          <p:cNvSpPr/>
          <p:nvPr/>
        </p:nvSpPr>
        <p:spPr>
          <a:xfrm>
            <a:off x="4368800" y="2038350"/>
            <a:ext cx="3454400" cy="3143250"/>
          </a:xfrm>
          <a:prstGeom prst="roundRect">
            <a:avLst>
              <a:gd name="adj" fmla="val 5454"/>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68800" y="2038350"/>
            <a:ext cx="3454400" cy="9525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54550" y="2457450"/>
            <a:ext cx="171450" cy="17145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40300" y="2343150"/>
            <a:ext cx="2692400" cy="4191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Claude</a:t>
            </a:r>
          </a:p>
        </p:txBody>
      </p:sp>
      <p:sp>
        <p:nvSpPr>
          <p:cNvPr id="15" name="TextBox 14"/>
          <p:cNvSpPr txBox="1"/>
          <p:nvPr/>
        </p:nvSpPr>
        <p:spPr>
          <a:xfrm>
            <a:off x="4654550" y="3028950"/>
            <a:ext cx="2882900" cy="2000250"/>
          </a:xfrm>
          <a:prstGeom prst="rect">
            <a:avLst/>
          </a:prstGeom>
          <a:noFill/>
        </p:spPr>
        <p:txBody>
          <a:bodyPr wrap="square" lIns="0" tIns="0" rIns="0" bIns="0" anchor="t"/>
          <a:lstStyle/>
          <a:p>
            <a:pPr algn="l" latinLnBrk="0" eaLnBrk="1">
              <a:lnSpc>
                <a:spcPct val="140000"/>
              </a:lnSpc>
            </a:pPr>
            <a:r>
              <a:rPr sz="2100" b="0" spc="-42" lang="ko-KR" altLang="en-US">
                <a:solidFill>
                  <a:srgbClr val="3D3F48"/>
                </a:solidFill>
                <a:latin typeface="맑은 고딕"/>
                <a:ea typeface="맑은 고딕"/>
                <a:cs typeface="맑은 고딕"/>
              </a:rPr>
              <a:t>무료 계정 가능</a:t>
            </a:r>
            <a:br/>
            <a:r>
              <a:rPr sz="2100" b="0" spc="-42" lang="ko-KR" altLang="en-US">
                <a:solidFill>
                  <a:srgbClr val="3D3F48"/>
                </a:solidFill>
                <a:latin typeface="맑은 고딕"/>
                <a:ea typeface="맑은 고딕"/>
                <a:cs typeface="맑은 고딕"/>
              </a:rPr>
              <a:t>5시간 단위 한도</a:t>
            </a:r>
            <a:br/>
            <a:r>
              <a:rPr sz="2100" b="0" spc="-42" lang="ko-KR" altLang="en-US">
                <a:solidFill>
                  <a:srgbClr val="3D3F48"/>
                </a:solidFill>
                <a:latin typeface="맑은 고딕"/>
                <a:ea typeface="맑은 고딕"/>
                <a:cs typeface="맑은 고딕"/>
              </a:rPr>
              <a:t>학습 설정 확인</a:t>
            </a:r>
          </a:p>
        </p:txBody>
      </p:sp>
      <p:sp>
        <p:nvSpPr>
          <p:cNvPr id="16" name="Rounded Rectangle 15"/>
          <p:cNvSpPr/>
          <p:nvPr/>
        </p:nvSpPr>
        <p:spPr>
          <a:xfrm>
            <a:off x="8051800" y="2038350"/>
            <a:ext cx="3454400" cy="3143250"/>
          </a:xfrm>
          <a:prstGeom prst="roundRect">
            <a:avLst>
              <a:gd name="adj" fmla="val 5454"/>
            </a:avLst>
          </a:prstGeom>
          <a:solidFill>
            <a:srgbClr val="FFFFFF"/>
          </a:solidFill>
          <a:ln w="14287">
            <a:solidFill>
              <a:srgbClr val="D9D4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51800" y="2038350"/>
            <a:ext cx="3454400" cy="95250"/>
          </a:xfrm>
          <a:prstGeom prst="rect">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337550" y="2457450"/>
            <a:ext cx="171450" cy="171450"/>
          </a:xfrm>
          <a:prstGeom prst="ellipse">
            <a:avLst/>
          </a:prstGeom>
          <a:solidFill>
            <a:srgbClr val="1A5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23300" y="2343150"/>
            <a:ext cx="2692400" cy="419100"/>
          </a:xfrm>
          <a:prstGeom prst="rect">
            <a:avLst/>
          </a:prstGeom>
          <a:noFill/>
        </p:spPr>
        <p:txBody>
          <a:bodyPr wrap="square" lIns="0" tIns="0" rIns="0" bIns="0" anchor="t"/>
          <a:lstStyle/>
          <a:p>
            <a:pPr algn="l" latinLnBrk="0" eaLnBrk="1">
              <a:lnSpc>
                <a:spcPct val="100000"/>
              </a:lnSpc>
            </a:pPr>
            <a:r>
              <a:rPr sz="2250" b="1" spc="-45" lang="ko-KR" altLang="en-US">
                <a:solidFill>
                  <a:srgbClr val="16171C"/>
                </a:solidFill>
                <a:latin typeface="맑은 고딕"/>
                <a:ea typeface="맑은 고딕"/>
                <a:cs typeface="맑은 고딕"/>
              </a:rPr>
              <a:t>Gemini</a:t>
            </a:r>
          </a:p>
        </p:txBody>
      </p:sp>
      <p:sp>
        <p:nvSpPr>
          <p:cNvPr id="20" name="TextBox 19"/>
          <p:cNvSpPr txBox="1"/>
          <p:nvPr/>
        </p:nvSpPr>
        <p:spPr>
          <a:xfrm>
            <a:off x="8337550" y="3028950"/>
            <a:ext cx="2882900" cy="2000250"/>
          </a:xfrm>
          <a:prstGeom prst="rect">
            <a:avLst/>
          </a:prstGeom>
          <a:noFill/>
        </p:spPr>
        <p:txBody>
          <a:bodyPr wrap="square" lIns="0" tIns="0" rIns="0" bIns="0" anchor="t"/>
          <a:lstStyle/>
          <a:p>
            <a:pPr algn="l" latinLnBrk="0" eaLnBrk="1">
              <a:lnSpc>
                <a:spcPct val="140000"/>
              </a:lnSpc>
            </a:pPr>
            <a:r>
              <a:rPr sz="2100" b="0" spc="-42" lang="ko-KR" altLang="en-US">
                <a:solidFill>
                  <a:srgbClr val="3D3F48"/>
                </a:solidFill>
                <a:latin typeface="맑은 고딕"/>
                <a:ea typeface="맑은 고딕"/>
                <a:cs typeface="맑은 고딕"/>
              </a:rPr>
              <a:t>개인 Google 계정</a:t>
            </a:r>
            <a:br/>
            <a:r>
              <a:rPr sz="2100" b="0" spc="-42" lang="ko-KR" altLang="en-US">
                <a:solidFill>
                  <a:srgbClr val="3D3F48"/>
                </a:solidFill>
                <a:latin typeface="맑은 고딕"/>
                <a:ea typeface="맑은 고딕"/>
                <a:cs typeface="맑은 고딕"/>
              </a:rPr>
              <a:t>무료 · 약 5시간마다</a:t>
            </a:r>
            <a:br/>
            <a:r>
              <a:rPr sz="2100" b="0" spc="-42" lang="ko-KR" altLang="en-US">
                <a:solidFill>
                  <a:srgbClr val="3D3F48"/>
                </a:solidFill>
                <a:latin typeface="맑은 고딕"/>
                <a:ea typeface="맑은 고딕"/>
                <a:cs typeface="맑은 고딕"/>
              </a:rPr>
              <a:t>갱신, 주간 한도</a:t>
            </a:r>
          </a:p>
        </p:txBody>
      </p:sp>
      <p:sp>
        <p:nvSpPr>
          <p:cNvPr id="21" name="Rounded Rectangle 20"/>
          <p:cNvSpPr/>
          <p:nvPr/>
        </p:nvSpPr>
        <p:spPr>
          <a:xfrm>
            <a:off x="685800" y="5410200"/>
            <a:ext cx="10820400" cy="723900"/>
          </a:xfrm>
          <a:prstGeom prst="roundRect">
            <a:avLst>
              <a:gd name="adj" fmla="val 15789"/>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500" y="5410200"/>
            <a:ext cx="10287000" cy="723900"/>
          </a:xfrm>
          <a:prstGeom prst="rect">
            <a:avLst/>
          </a:prstGeom>
          <a:noFill/>
        </p:spPr>
        <p:txBody>
          <a:bodyPr wrap="square" lIns="0" tIns="0" rIns="0" bIns="0" anchor="ctr"/>
          <a:lstStyle/>
          <a:p>
            <a:pPr algn="l" latinLnBrk="0" eaLnBrk="1">
              <a:lnSpc>
                <a:spcPct val="100000"/>
              </a:lnSpc>
            </a:pPr>
            <a:r>
              <a:rPr sz="1950" b="1" spc="-39" lang="ko-KR" altLang="en-US">
                <a:solidFill>
                  <a:srgbClr val="16171C"/>
                </a:solidFill>
                <a:latin typeface="맑은 고딕"/>
                <a:ea typeface="맑은 고딕"/>
                <a:cs typeface="맑은 고딕"/>
              </a:rPr>
              <a:t>학교 계정이 있으면 그 계정을 먼저 쓰세요. 자세한 안내는 사이트에.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6171C"/>
        </a:solidFill>
        <a:effectLst/>
      </p:bgPr>
    </p:bg>
    <p:spTree>
      <p:nvGrpSpPr>
        <p:cNvPr id="1" name=""/>
        <p:cNvGrpSpPr/>
        <p:nvPr/>
      </p:nvGrpSpPr>
      <p:grpSpPr/>
      <p:sp>
        <p:nvSpPr>
          <p:cNvPr id="2" name="TextBox 1"/>
          <p:cNvSpPr txBox="1"/>
          <p:nvPr/>
        </p:nvSpPr>
        <p:spPr>
          <a:xfrm>
            <a:off x="685800" y="6496050"/>
            <a:ext cx="8572500" cy="228600"/>
          </a:xfrm>
          <a:prstGeom prst="rect">
            <a:avLst/>
          </a:prstGeom>
          <a:noFill/>
        </p:spPr>
        <p:txBody>
          <a:bodyPr wrap="square" lIns="0" tIns="0" rIns="0" bIns="0" anchor="t"/>
          <a:lstStyle/>
          <a:p>
            <a:pPr algn="l" latinLnBrk="0" eaLnBrk="1">
              <a:lnSpc>
                <a:spcPct val="100000"/>
              </a:lnSpc>
            </a:pPr>
            <a:r>
              <a:rPr sz="1350" b="0" spc="-27" lang="ko-KR" altLang="en-US">
                <a:solidFill>
                  <a:srgbClr val="B9BEC6"/>
                </a:solidFill>
                <a:latin typeface="맑은 고딕"/>
                <a:ea typeface="맑은 고딕"/>
                <a:cs typeface="맑은 고딕"/>
              </a:rPr>
              <a:t>마치며 · 178–180분</a:t>
            </a:r>
          </a:p>
        </p:txBody>
      </p:sp>
      <p:sp>
        <p:nvSpPr>
          <p:cNvPr id="3" name="TextBox 2"/>
          <p:cNvSpPr txBox="1"/>
          <p:nvPr/>
        </p:nvSpPr>
        <p:spPr>
          <a:xfrm>
            <a:off x="10363200" y="6496050"/>
            <a:ext cx="1143000" cy="228600"/>
          </a:xfrm>
          <a:prstGeom prst="rect">
            <a:avLst/>
          </a:prstGeom>
          <a:noFill/>
        </p:spPr>
        <p:txBody>
          <a:bodyPr wrap="square" lIns="0" tIns="0" rIns="0" bIns="0" anchor="t"/>
          <a:lstStyle/>
          <a:p>
            <a:pPr algn="r" latinLnBrk="0" eaLnBrk="1">
              <a:lnSpc>
                <a:spcPct val="100000"/>
              </a:lnSpc>
            </a:pPr>
            <a:r>
              <a:rPr sz="1350" b="0" spc="-27" lang="ko-KR" altLang="en-US">
                <a:solidFill>
                  <a:srgbClr val="B9BEC6"/>
                </a:solidFill>
                <a:latin typeface="맑은 고딕"/>
                <a:ea typeface="맑은 고딕"/>
                <a:cs typeface="맑은 고딕"/>
              </a:rPr>
              <a:t>50</a:t>
            </a:r>
          </a:p>
        </p:txBody>
      </p:sp>
      <p:sp>
        <p:nvSpPr>
          <p:cNvPr id="4" name="TextBox 3"/>
          <p:cNvSpPr txBox="1"/>
          <p:nvPr/>
        </p:nvSpPr>
        <p:spPr>
          <a:xfrm>
            <a:off x="685800" y="6096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B9BEC6"/>
                </a:solidFill>
                <a:latin typeface="맑은 고딕"/>
                <a:ea typeface="맑은 고딕"/>
                <a:cs typeface="맑은 고딕"/>
              </a:rPr>
              <a:t>마치며</a:t>
            </a:r>
          </a:p>
        </p:txBody>
      </p:sp>
      <p:sp>
        <p:nvSpPr>
          <p:cNvPr id="5" name="TextBox 4"/>
          <p:cNvSpPr txBox="1"/>
          <p:nvPr/>
        </p:nvSpPr>
        <p:spPr>
          <a:xfrm>
            <a:off x="685800" y="1619250"/>
            <a:ext cx="10820400" cy="1905000"/>
          </a:xfrm>
          <a:prstGeom prst="rect">
            <a:avLst/>
          </a:prstGeom>
          <a:noFill/>
        </p:spPr>
        <p:txBody>
          <a:bodyPr wrap="square" lIns="0" tIns="0" rIns="0" bIns="0" anchor="t"/>
          <a:lstStyle/>
          <a:p>
            <a:pPr algn="l" latinLnBrk="0" eaLnBrk="1">
              <a:lnSpc>
                <a:spcPct val="125000"/>
              </a:lnSpc>
            </a:pPr>
            <a:r>
              <a:rPr sz="5250" b="1" spc="-105" lang="ko-KR" altLang="en-US">
                <a:solidFill>
                  <a:srgbClr val="FFFFFF"/>
                </a:solidFill>
                <a:latin typeface="맑은 고딕"/>
                <a:ea typeface="맑은 고딕"/>
                <a:cs typeface="맑은 고딕"/>
              </a:rPr>
              <a:t>AI는 초안을 쓰고,</a:t>
            </a:r>
            <a:br/>
            <a:r>
              <a:rPr sz="5250" b="1" spc="-105" lang="ko-KR" altLang="en-US">
                <a:solidFill>
                  <a:srgbClr val="FF9A5C"/>
                </a:solidFill>
                <a:latin typeface="맑은 고딕"/>
                <a:ea typeface="맑은 고딕"/>
                <a:cs typeface="맑은 고딕"/>
              </a:rPr>
              <a:t>판단은 교수님이</a:t>
            </a:r>
            <a:r>
              <a:rPr sz="5250" b="1" spc="-105" lang="ko-KR" altLang="en-US">
                <a:solidFill>
                  <a:srgbClr val="FFFFFF"/>
                </a:solidFill>
                <a:latin typeface="맑은 고딕"/>
                <a:ea typeface="맑은 고딕"/>
                <a:cs typeface="맑은 고딕"/>
              </a:rPr>
              <a:t> 합니다</a:t>
            </a:r>
          </a:p>
        </p:txBody>
      </p:sp>
      <p:sp>
        <p:nvSpPr>
          <p:cNvPr id="6" name="TextBox 5"/>
          <p:cNvSpPr txBox="1"/>
          <p:nvPr/>
        </p:nvSpPr>
        <p:spPr>
          <a:xfrm>
            <a:off x="685800" y="4286250"/>
            <a:ext cx="10820400" cy="381000"/>
          </a:xfrm>
          <a:prstGeom prst="rect">
            <a:avLst/>
          </a:prstGeom>
          <a:noFill/>
        </p:spPr>
        <p:txBody>
          <a:bodyPr wrap="square" lIns="0" tIns="0" rIns="0" bIns="0" anchor="t"/>
          <a:lstStyle/>
          <a:p>
            <a:pPr algn="l" latinLnBrk="0" eaLnBrk="1">
              <a:lnSpc>
                <a:spcPct val="100000"/>
              </a:lnSpc>
            </a:pPr>
            <a:r>
              <a:rPr sz="1950" b="1" spc="-39" lang="ko-KR" altLang="en-US">
                <a:solidFill>
                  <a:srgbClr val="B9BEC6"/>
                </a:solidFill>
                <a:latin typeface="맑은 고딕"/>
                <a:ea typeface="맑은 고딕"/>
                <a:cs typeface="맑은 고딕"/>
              </a:rPr>
              <a:t>자료 · 복사할 질문 · 해설</a:t>
            </a:r>
          </a:p>
        </p:txBody>
      </p:sp>
      <p:sp>
        <p:nvSpPr>
          <p:cNvPr id="7" name="TextBox 6"/>
          <p:cNvSpPr txBox="1"/>
          <p:nvPr/>
        </p:nvSpPr>
        <p:spPr>
          <a:xfrm>
            <a:off x="685800" y="4724400"/>
            <a:ext cx="7620000" cy="476250"/>
          </a:xfrm>
          <a:prstGeom prst="rect">
            <a:avLst/>
          </a:prstGeom>
          <a:noFill/>
        </p:spPr>
        <p:txBody>
          <a:bodyPr wrap="square" lIns="0" tIns="0" rIns="0" bIns="0" anchor="t"/>
          <a:lstStyle/>
          <a:p>
            <a:pPr algn="l" latinLnBrk="0" eaLnBrk="1">
              <a:lnSpc>
                <a:spcPct val="100000"/>
              </a:lnSpc>
            </a:pPr>
            <a:r>
              <a:rPr sz="2400" b="1" spc="-48" lang="ko-KR" altLang="en-US">
                <a:solidFill>
                  <a:srgbClr val="FFFFFF"/>
                </a:solidFill>
                <a:latin typeface="맑은 고딕"/>
                <a:ea typeface="맑은 고딕"/>
                <a:cs typeface="맑은 고딕"/>
              </a:rPr>
              <a:t>zeusk302-png.github.io/gyeongnam-ai-workshop</a:t>
            </a:r>
          </a:p>
        </p:txBody>
      </p:sp>
      <p:pic>
        <p:nvPicPr>
          <p:cNvPr id="8" name="Picture 7" descr="qr_16171C_FFFFFF.png"/>
          <p:cNvPicPr>
            <a:picLocks noChangeAspect="1"/>
          </p:cNvPicPr>
          <p:nvPr/>
        </p:nvPicPr>
        <p:blipFill>
          <a:blip r:embed="rId3"/>
          <a:stretch>
            <a:fillRect/>
          </a:stretch>
        </p:blipFill>
        <p:spPr>
          <a:xfrm>
            <a:off x="9315450" y="3810000"/>
            <a:ext cx="2190750" cy="2190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