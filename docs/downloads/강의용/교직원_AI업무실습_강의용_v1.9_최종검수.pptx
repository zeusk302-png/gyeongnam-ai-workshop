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580006f0ce43fc" /><Relationship Type="http://schemas.openxmlformats.org/officeDocument/2006/relationships/extended-properties" Target="/docProps/app.xml" Id="R5743d43ef3fb474d" /><Relationship Type="http://schemas.openxmlformats.org/officeDocument/2006/relationships/officeDocument" Target="/ppt/presentation.xml" Id="R132e299d0070422a" /></Relationships>
</file>

<file path=ppt/presentation.xml><?xml version="1.0" encoding="utf-8"?>
<p:presentation xmlns:p="http://schemas.openxmlformats.org/presentationml/2006/main">
  <p:sldMasterIdLst>
    <p:sldMasterId xmlns:r="http://schemas.openxmlformats.org/officeDocument/2006/relationships" id="2147483648" r:id="R51bf812c891e4e09"/>
  </p:sldMasterIdLst>
  <p:notesMasterIdLst>
    <p:notesMasterId xmlns:r="http://schemas.openxmlformats.org/officeDocument/2006/relationships" r:id="R055e86f8dc0f47cb"/>
  </p:notesMasterIdLst>
  <p:sldIdLst>
    <p:sldId xmlns:r="http://schemas.openxmlformats.org/officeDocument/2006/relationships" id="256" r:id="R55e8cf0003174d79"/>
    <p:sldId xmlns:r="http://schemas.openxmlformats.org/officeDocument/2006/relationships" id="257" r:id="Rb6f0a4cf2c3d46c9"/>
    <p:sldId xmlns:r="http://schemas.openxmlformats.org/officeDocument/2006/relationships" id="258" r:id="Rda241e25963045ca"/>
    <p:sldId xmlns:r="http://schemas.openxmlformats.org/officeDocument/2006/relationships" id="259" r:id="R8225d0ed9842498f"/>
    <p:sldId xmlns:r="http://schemas.openxmlformats.org/officeDocument/2006/relationships" id="260" r:id="Rf8b2eca5ce7e43e9"/>
    <p:sldId xmlns:r="http://schemas.openxmlformats.org/officeDocument/2006/relationships" id="261" r:id="R4a630b86472a41f0"/>
    <p:sldId xmlns:r="http://schemas.openxmlformats.org/officeDocument/2006/relationships" id="262" r:id="R4dbd8540a2024876"/>
    <p:sldId xmlns:r="http://schemas.openxmlformats.org/officeDocument/2006/relationships" id="263" r:id="R8ac23c5ea0664ef2"/>
    <p:sldId xmlns:r="http://schemas.openxmlformats.org/officeDocument/2006/relationships" id="264" r:id="Re1c3494dca2f4fd0"/>
    <p:sldId xmlns:r="http://schemas.openxmlformats.org/officeDocument/2006/relationships" id="265" r:id="Rb0be96f387364dfc"/>
    <p:sldId xmlns:r="http://schemas.openxmlformats.org/officeDocument/2006/relationships" id="266" r:id="Ra1c06e19e33d4176"/>
    <p:sldId xmlns:r="http://schemas.openxmlformats.org/officeDocument/2006/relationships" id="267" r:id="R522adbb650c94d2c"/>
    <p:sldId xmlns:r="http://schemas.openxmlformats.org/officeDocument/2006/relationships" id="268" r:id="R39b3af19e2cd40e8"/>
    <p:sldId xmlns:r="http://schemas.openxmlformats.org/officeDocument/2006/relationships" id="269" r:id="R4f8d64bd01534f45"/>
    <p:sldId xmlns:r="http://schemas.openxmlformats.org/officeDocument/2006/relationships" id="270" r:id="R80ae1bd4bcd5414d"/>
    <p:sldId xmlns:r="http://schemas.openxmlformats.org/officeDocument/2006/relationships" id="271" r:id="R8412342bdef84c2c"/>
    <p:sldId xmlns:r="http://schemas.openxmlformats.org/officeDocument/2006/relationships" id="272" r:id="R2f9fb0d720f641e4"/>
    <p:sldId xmlns:r="http://schemas.openxmlformats.org/officeDocument/2006/relationships" id="273" r:id="Ra0f33d87ddd44d01"/>
    <p:sldId xmlns:r="http://schemas.openxmlformats.org/officeDocument/2006/relationships" id="274" r:id="Rff4c3a6253a34c8f"/>
    <p:sldId xmlns:r="http://schemas.openxmlformats.org/officeDocument/2006/relationships" id="275" r:id="Raba4d886959a4a2c"/>
    <p:sldId xmlns:r="http://schemas.openxmlformats.org/officeDocument/2006/relationships" id="276" r:id="R05139b7204c84529"/>
    <p:sldId xmlns:r="http://schemas.openxmlformats.org/officeDocument/2006/relationships" id="277" r:id="Rd7869f3ce6ee4ba4"/>
    <p:sldId xmlns:r="http://schemas.openxmlformats.org/officeDocument/2006/relationships" id="278" r:id="R50c3fc71692b4a9f"/>
    <p:sldId xmlns:r="http://schemas.openxmlformats.org/officeDocument/2006/relationships" id="279" r:id="R38999cdd78544b6a"/>
    <p:sldId xmlns:r="http://schemas.openxmlformats.org/officeDocument/2006/relationships" id="280" r:id="R51e9c86d2c6b4d71"/>
    <p:sldId xmlns:r="http://schemas.openxmlformats.org/officeDocument/2006/relationships" id="281" r:id="R801b461563824ea6"/>
    <p:sldId xmlns:r="http://schemas.openxmlformats.org/officeDocument/2006/relationships" id="282" r:id="R42af8cdecc7e4133"/>
    <p:sldId xmlns:r="http://schemas.openxmlformats.org/officeDocument/2006/relationships" id="283" r:id="R740cd12f98264448"/>
    <p:sldId xmlns:r="http://schemas.openxmlformats.org/officeDocument/2006/relationships" id="284" r:id="R7e8dd79bac4645cb"/>
    <p:sldId xmlns:r="http://schemas.openxmlformats.org/officeDocument/2006/relationships" id="285" r:id="R4b3fbcca4dcc4c83"/>
    <p:sldId xmlns:r="http://schemas.openxmlformats.org/officeDocument/2006/relationships" id="286" r:id="R4b7bb47694ef40a3"/>
    <p:sldId xmlns:r="http://schemas.openxmlformats.org/officeDocument/2006/relationships" id="287" r:id="R0b45c8b5f9e94b4f"/>
    <p:sldId xmlns:r="http://schemas.openxmlformats.org/officeDocument/2006/relationships" id="288" r:id="Rd5a9855bdc824f3e"/>
    <p:sldId xmlns:r="http://schemas.openxmlformats.org/officeDocument/2006/relationships" id="289" r:id="R23f9e9b369094d8b"/>
    <p:sldId xmlns:r="http://schemas.openxmlformats.org/officeDocument/2006/relationships" id="290" r:id="R156b7520bd3e43c5"/>
    <p:sldId xmlns:r="http://schemas.openxmlformats.org/officeDocument/2006/relationships" id="291" r:id="Rf121ff5eb8e34ebc"/>
    <p:sldId xmlns:r="http://schemas.openxmlformats.org/officeDocument/2006/relationships" id="292" r:id="Rf278b3676b89400c"/>
    <p:sldId xmlns:r="http://schemas.openxmlformats.org/officeDocument/2006/relationships" id="293" r:id="R677f5a750eda44cc"/>
    <p:sldId xmlns:r="http://schemas.openxmlformats.org/officeDocument/2006/relationships" id="294" r:id="R5d22bf3022af44e6"/>
    <p:sldId xmlns:r="http://schemas.openxmlformats.org/officeDocument/2006/relationships" id="295" r:id="R57afb4c7fcb24f73"/>
    <p:sldId xmlns:r="http://schemas.openxmlformats.org/officeDocument/2006/relationships" id="296" r:id="R392dd2b93b7b4e98"/>
    <p:sldId xmlns:r="http://schemas.openxmlformats.org/officeDocument/2006/relationships" id="297" r:id="Rbbbe4e6848404830"/>
    <p:sldId xmlns:r="http://schemas.openxmlformats.org/officeDocument/2006/relationships" id="298" r:id="R274c60ffaab942a1"/>
    <p:sldId xmlns:r="http://schemas.openxmlformats.org/officeDocument/2006/relationships" id="299" r:id="Rb5937514fe5b4044"/>
    <p:sldId xmlns:r="http://schemas.openxmlformats.org/officeDocument/2006/relationships" id="300" r:id="Rf8f0b0966f4040ff"/>
    <p:sldId xmlns:r="http://schemas.openxmlformats.org/officeDocument/2006/relationships" id="301" r:id="R24e6983e655a4a8b"/>
    <p:sldId xmlns:r="http://schemas.openxmlformats.org/officeDocument/2006/relationships" id="302" r:id="Rfb3e7787588d46d5"/>
    <p:sldId xmlns:r="http://schemas.openxmlformats.org/officeDocument/2006/relationships" id="303" r:id="Rbcfdea88a4fd4fc0"/>
    <p:sldId xmlns:r="http://schemas.openxmlformats.org/officeDocument/2006/relationships" id="304" r:id="R69d513e3a3164ce2"/>
    <p:sldId xmlns:r="http://schemas.openxmlformats.org/officeDocument/2006/relationships" id="305" r:id="R0599cced36da4177"/>
    <p:sldId xmlns:r="http://schemas.openxmlformats.org/officeDocument/2006/relationships" id="306" r:id="Rbe605416a7834d41"/>
    <p:sldId xmlns:r="http://schemas.openxmlformats.org/officeDocument/2006/relationships" id="307" r:id="R0fe596106b7a4afb"/>
    <p:sldId xmlns:r="http://schemas.openxmlformats.org/officeDocument/2006/relationships" id="308" r:id="Ra1806e323f7440e2"/>
    <p:sldId xmlns:r="http://schemas.openxmlformats.org/officeDocument/2006/relationships" id="309" r:id="Rae05eccd18d8467a"/>
    <p:sldId xmlns:r="http://schemas.openxmlformats.org/officeDocument/2006/relationships" id="310" r:id="R66b7f4b165a2440d"/>
    <p:sldId xmlns:r="http://schemas.openxmlformats.org/officeDocument/2006/relationships" id="311" r:id="Rf914e2b7d34b41b0"/>
    <p:sldId xmlns:r="http://schemas.openxmlformats.org/officeDocument/2006/relationships" id="312" r:id="R19e947c087674010"/>
    <p:sldId xmlns:r="http://schemas.openxmlformats.org/officeDocument/2006/relationships" id="313" r:id="R249e9201af6d46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5fcddf3b5c4173" /><Relationship Type="http://schemas.openxmlformats.org/officeDocument/2006/relationships/slideMaster" Target="/ppt/slideMasters/slideMaster1.xml" Id="R51bf812c891e4e09" /><Relationship Type="http://schemas.openxmlformats.org/officeDocument/2006/relationships/notesMaster" Target="/ppt/notesMasters/notesMaster1.xml" Id="R055e86f8dc0f47cb" /><Relationship Type="http://schemas.openxmlformats.org/officeDocument/2006/relationships/presProps" Target="/ppt/presProps.xml" Id="Rdb20a0fe50c740d3" /><Relationship Type="http://schemas.openxmlformats.org/officeDocument/2006/relationships/tableStyles" Target="/ppt/tableStyles.xml" Id="Rf1913cdd06a34f51" /><Relationship Type="http://schemas.openxmlformats.org/officeDocument/2006/relationships/slide" Target="/ppt/slides/slide1.xml" Id="R55e8cf0003174d79" /><Relationship Type="http://schemas.openxmlformats.org/officeDocument/2006/relationships/slide" Target="/ppt/slides/slide2.xml" Id="Rb6f0a4cf2c3d46c9" /><Relationship Type="http://schemas.openxmlformats.org/officeDocument/2006/relationships/slide" Target="/ppt/slides/slide3.xml" Id="Rda241e25963045ca" /><Relationship Type="http://schemas.openxmlformats.org/officeDocument/2006/relationships/slide" Target="/ppt/slides/slide4.xml" Id="R8225d0ed9842498f" /><Relationship Type="http://schemas.openxmlformats.org/officeDocument/2006/relationships/slide" Target="/ppt/slides/slide5.xml" Id="Rf8b2eca5ce7e43e9" /><Relationship Type="http://schemas.openxmlformats.org/officeDocument/2006/relationships/slide" Target="/ppt/slides/slide6.xml" Id="R4a630b86472a41f0" /><Relationship Type="http://schemas.openxmlformats.org/officeDocument/2006/relationships/slide" Target="/ppt/slides/slide7.xml" Id="R4dbd8540a2024876" /><Relationship Type="http://schemas.openxmlformats.org/officeDocument/2006/relationships/slide" Target="/ppt/slides/slide8.xml" Id="R8ac23c5ea0664ef2" /><Relationship Type="http://schemas.openxmlformats.org/officeDocument/2006/relationships/slide" Target="/ppt/slides/slide9.xml" Id="Re1c3494dca2f4fd0" /><Relationship Type="http://schemas.openxmlformats.org/officeDocument/2006/relationships/slide" Target="/ppt/slides/slide10.xml" Id="Rb0be96f387364dfc" /><Relationship Type="http://schemas.openxmlformats.org/officeDocument/2006/relationships/slide" Target="/ppt/slides/slide11.xml" Id="Ra1c06e19e33d4176" /><Relationship Type="http://schemas.openxmlformats.org/officeDocument/2006/relationships/slide" Target="/ppt/slides/slide12.xml" Id="R522adbb650c94d2c" /><Relationship Type="http://schemas.openxmlformats.org/officeDocument/2006/relationships/slide" Target="/ppt/slides/slide13.xml" Id="R39b3af19e2cd40e8" /><Relationship Type="http://schemas.openxmlformats.org/officeDocument/2006/relationships/slide" Target="/ppt/slides/slide14.xml" Id="R4f8d64bd01534f45" /><Relationship Type="http://schemas.openxmlformats.org/officeDocument/2006/relationships/slide" Target="/ppt/slides/slide15.xml" Id="R80ae1bd4bcd5414d" /><Relationship Type="http://schemas.openxmlformats.org/officeDocument/2006/relationships/slide" Target="/ppt/slides/slide16.xml" Id="R8412342bdef84c2c" /><Relationship Type="http://schemas.openxmlformats.org/officeDocument/2006/relationships/slide" Target="/ppt/slides/slide17.xml" Id="R2f9fb0d720f641e4" /><Relationship Type="http://schemas.openxmlformats.org/officeDocument/2006/relationships/slide" Target="/ppt/slides/slide18.xml" Id="Ra0f33d87ddd44d01" /><Relationship Type="http://schemas.openxmlformats.org/officeDocument/2006/relationships/slide" Target="/ppt/slides/slide19.xml" Id="Rff4c3a6253a34c8f" /><Relationship Type="http://schemas.openxmlformats.org/officeDocument/2006/relationships/slide" Target="/ppt/slides/slide20.xml" Id="Raba4d886959a4a2c" /><Relationship Type="http://schemas.openxmlformats.org/officeDocument/2006/relationships/slide" Target="/ppt/slides/slide21.xml" Id="R05139b7204c84529" /><Relationship Type="http://schemas.openxmlformats.org/officeDocument/2006/relationships/slide" Target="/ppt/slides/slide22.xml" Id="Rd7869f3ce6ee4ba4" /><Relationship Type="http://schemas.openxmlformats.org/officeDocument/2006/relationships/slide" Target="/ppt/slides/slide23.xml" Id="R50c3fc71692b4a9f" /><Relationship Type="http://schemas.openxmlformats.org/officeDocument/2006/relationships/slide" Target="/ppt/slides/slide24.xml" Id="R38999cdd78544b6a" /><Relationship Type="http://schemas.openxmlformats.org/officeDocument/2006/relationships/slide" Target="/ppt/slides/slide25.xml" Id="R51e9c86d2c6b4d71" /><Relationship Type="http://schemas.openxmlformats.org/officeDocument/2006/relationships/slide" Target="/ppt/slides/slide26.xml" Id="R801b461563824ea6" /><Relationship Type="http://schemas.openxmlformats.org/officeDocument/2006/relationships/slide" Target="/ppt/slides/slide27.xml" Id="R42af8cdecc7e4133" /><Relationship Type="http://schemas.openxmlformats.org/officeDocument/2006/relationships/slide" Target="/ppt/slides/slide28.xml" Id="R740cd12f98264448" /><Relationship Type="http://schemas.openxmlformats.org/officeDocument/2006/relationships/slide" Target="/ppt/slides/slide29.xml" Id="R7e8dd79bac4645cb" /><Relationship Type="http://schemas.openxmlformats.org/officeDocument/2006/relationships/slide" Target="/ppt/slides/slide30.xml" Id="R4b3fbcca4dcc4c83" /><Relationship Type="http://schemas.openxmlformats.org/officeDocument/2006/relationships/slide" Target="/ppt/slides/slide31.xml" Id="R4b7bb47694ef40a3" /><Relationship Type="http://schemas.openxmlformats.org/officeDocument/2006/relationships/slide" Target="/ppt/slides/slide32.xml" Id="R0b45c8b5f9e94b4f" /><Relationship Type="http://schemas.openxmlformats.org/officeDocument/2006/relationships/slide" Target="/ppt/slides/slide33.xml" Id="Rd5a9855bdc824f3e" /><Relationship Type="http://schemas.openxmlformats.org/officeDocument/2006/relationships/slide" Target="/ppt/slides/slide34.xml" Id="R23f9e9b369094d8b" /><Relationship Type="http://schemas.openxmlformats.org/officeDocument/2006/relationships/slide" Target="/ppt/slides/slide35.xml" Id="R156b7520bd3e43c5" /><Relationship Type="http://schemas.openxmlformats.org/officeDocument/2006/relationships/slide" Target="/ppt/slides/slide36.xml" Id="Rf121ff5eb8e34ebc" /><Relationship Type="http://schemas.openxmlformats.org/officeDocument/2006/relationships/slide" Target="/ppt/slides/slide37.xml" Id="Rf278b3676b89400c" /><Relationship Type="http://schemas.openxmlformats.org/officeDocument/2006/relationships/slide" Target="/ppt/slides/slide38.xml" Id="R677f5a750eda44cc" /><Relationship Type="http://schemas.openxmlformats.org/officeDocument/2006/relationships/slide" Target="/ppt/slides/slide39.xml" Id="R5d22bf3022af44e6" /><Relationship Type="http://schemas.openxmlformats.org/officeDocument/2006/relationships/slide" Target="/ppt/slides/slide40.xml" Id="R57afb4c7fcb24f73" /><Relationship Type="http://schemas.openxmlformats.org/officeDocument/2006/relationships/slide" Target="/ppt/slides/slide41.xml" Id="R392dd2b93b7b4e98" /><Relationship Type="http://schemas.openxmlformats.org/officeDocument/2006/relationships/slide" Target="/ppt/slides/slide42.xml" Id="Rbbbe4e6848404830" /><Relationship Type="http://schemas.openxmlformats.org/officeDocument/2006/relationships/slide" Target="/ppt/slides/slide43.xml" Id="R274c60ffaab942a1" /><Relationship Type="http://schemas.openxmlformats.org/officeDocument/2006/relationships/slide" Target="/ppt/slides/slide44.xml" Id="Rb5937514fe5b4044" /><Relationship Type="http://schemas.openxmlformats.org/officeDocument/2006/relationships/slide" Target="/ppt/slides/slide45.xml" Id="Rf8f0b0966f4040ff" /><Relationship Type="http://schemas.openxmlformats.org/officeDocument/2006/relationships/slide" Target="/ppt/slides/slide46.xml" Id="R24e6983e655a4a8b" /><Relationship Type="http://schemas.openxmlformats.org/officeDocument/2006/relationships/slide" Target="/ppt/slides/slide47.xml" Id="Rfb3e7787588d46d5" /><Relationship Type="http://schemas.openxmlformats.org/officeDocument/2006/relationships/slide" Target="/ppt/slides/slide48.xml" Id="Rbcfdea88a4fd4fc0" /><Relationship Type="http://schemas.openxmlformats.org/officeDocument/2006/relationships/slide" Target="/ppt/slides/slide49.xml" Id="R69d513e3a3164ce2" /><Relationship Type="http://schemas.openxmlformats.org/officeDocument/2006/relationships/slide" Target="/ppt/slides/slide50.xml" Id="R0599cced36da4177" /><Relationship Type="http://schemas.openxmlformats.org/officeDocument/2006/relationships/slide" Target="/ppt/slides/slide51.xml" Id="Rbe605416a7834d41" /><Relationship Type="http://schemas.openxmlformats.org/officeDocument/2006/relationships/slide" Target="/ppt/slides/slide52.xml" Id="R0fe596106b7a4afb" /><Relationship Type="http://schemas.openxmlformats.org/officeDocument/2006/relationships/slide" Target="/ppt/slides/slide53.xml" Id="Ra1806e323f7440e2" /><Relationship Type="http://schemas.openxmlformats.org/officeDocument/2006/relationships/slide" Target="/ppt/slides/slide54.xml" Id="Rae05eccd18d8467a" /><Relationship Type="http://schemas.openxmlformats.org/officeDocument/2006/relationships/slide" Target="/ppt/slides/slide55.xml" Id="R66b7f4b165a2440d" /><Relationship Type="http://schemas.openxmlformats.org/officeDocument/2006/relationships/slide" Target="/ppt/slides/slide56.xml" Id="Rf914e2b7d34b41b0" /><Relationship Type="http://schemas.openxmlformats.org/officeDocument/2006/relationships/slide" Target="/ppt/slides/slide57.xml" Id="R19e947c087674010" /><Relationship Type="http://schemas.openxmlformats.org/officeDocument/2006/relationships/slide" Target="/ppt/slides/slide58.xml" Id="R249e9201af6d46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0cd3980c6c49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dd5ac88d8b478f" /><Relationship Type="http://schemas.openxmlformats.org/officeDocument/2006/relationships/notesMaster" Target="/ppt/notesMasters/notesMaster1.xml" Id="R06943325c8374a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ede07bc12042af" /><Relationship Type="http://schemas.openxmlformats.org/officeDocument/2006/relationships/notesMaster" Target="/ppt/notesMasters/notesMaster1.xml" Id="R29d419a3629240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2a048a0bba42fd" /><Relationship Type="http://schemas.openxmlformats.org/officeDocument/2006/relationships/notesMaster" Target="/ppt/notesMasters/notesMaster1.xml" Id="Rae4d49e0a51343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47d7469b8f4d36" /><Relationship Type="http://schemas.openxmlformats.org/officeDocument/2006/relationships/notesMaster" Target="/ppt/notesMasters/notesMaster1.xml" Id="Rf52a9f22ea7d4b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1ff3abaec1466f" /><Relationship Type="http://schemas.openxmlformats.org/officeDocument/2006/relationships/notesMaster" Target="/ppt/notesMasters/notesMaster1.xml" Id="Rd02c8dfd766742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bd1f0ee15c4f83" /><Relationship Type="http://schemas.openxmlformats.org/officeDocument/2006/relationships/notesMaster" Target="/ppt/notesMasters/notesMaster1.xml" Id="R9bb2eb96106d4a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0b894090944701" /><Relationship Type="http://schemas.openxmlformats.org/officeDocument/2006/relationships/notesMaster" Target="/ppt/notesMasters/notesMaster1.xml" Id="R31dfe827170c45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dbeca556dd4f42" /><Relationship Type="http://schemas.openxmlformats.org/officeDocument/2006/relationships/notesMaster" Target="/ppt/notesMasters/notesMaster1.xml" Id="R15309b75c25644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9e45a22d2c405f" /><Relationship Type="http://schemas.openxmlformats.org/officeDocument/2006/relationships/notesMaster" Target="/ppt/notesMasters/notesMaster1.xml" Id="R086d80aeea0e42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34a7ad020f4951" /><Relationship Type="http://schemas.openxmlformats.org/officeDocument/2006/relationships/notesMaster" Target="/ppt/notesMasters/notesMaster1.xml" Id="R7dcc943a572646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3f2a83951347e2" /><Relationship Type="http://schemas.openxmlformats.org/officeDocument/2006/relationships/notesMaster" Target="/ppt/notesMasters/notesMaster1.xml" Id="R9b043a7f80c1487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31d2a264564ef0" /><Relationship Type="http://schemas.openxmlformats.org/officeDocument/2006/relationships/notesMaster" Target="/ppt/notesMasters/notesMaster1.xml" Id="Rca0a49a408f9491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f973d0594f3411a" /><Relationship Type="http://schemas.openxmlformats.org/officeDocument/2006/relationships/notesMaster" Target="/ppt/notesMasters/notesMaster1.xml" Id="Rebc9049f4e7f4a0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5d55b1072d4be8" /><Relationship Type="http://schemas.openxmlformats.org/officeDocument/2006/relationships/notesMaster" Target="/ppt/notesMasters/notesMaster1.xml" Id="R4f4cca17710745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94ff78a4cde4b59" /><Relationship Type="http://schemas.openxmlformats.org/officeDocument/2006/relationships/notesMaster" Target="/ppt/notesMasters/notesMaster1.xml" Id="R83c680718a7b401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9f3d62015a84361" /><Relationship Type="http://schemas.openxmlformats.org/officeDocument/2006/relationships/notesMaster" Target="/ppt/notesMasters/notesMaster1.xml" Id="R2f7137858f0a4e8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4a84060e5b94745" /><Relationship Type="http://schemas.openxmlformats.org/officeDocument/2006/relationships/notesMaster" Target="/ppt/notesMasters/notesMaster1.xml" Id="R8ffe8fbf33684da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24d59846fb149a9" /><Relationship Type="http://schemas.openxmlformats.org/officeDocument/2006/relationships/notesMaster" Target="/ppt/notesMasters/notesMaster1.xml" Id="R51ee3513f3b248a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047cc78e82a4c8e" /><Relationship Type="http://schemas.openxmlformats.org/officeDocument/2006/relationships/notesMaster" Target="/ppt/notesMasters/notesMaster1.xml" Id="Reef09ccffe65431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588dd8663a54009" /><Relationship Type="http://schemas.openxmlformats.org/officeDocument/2006/relationships/notesMaster" Target="/ppt/notesMasters/notesMaster1.xml" Id="Rf68e131e1ef246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592a03cd907490f" /><Relationship Type="http://schemas.openxmlformats.org/officeDocument/2006/relationships/notesMaster" Target="/ppt/notesMasters/notesMaster1.xml" Id="R9e7deee6b492483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b39afe036e04a85" /><Relationship Type="http://schemas.openxmlformats.org/officeDocument/2006/relationships/notesMaster" Target="/ppt/notesMasters/notesMaster1.xml" Id="Racef92a1e8c2405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1e7dfdb044744c2" /><Relationship Type="http://schemas.openxmlformats.org/officeDocument/2006/relationships/notesMaster" Target="/ppt/notesMasters/notesMaster1.xml" Id="R1b2afdf96e784e2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50bf7820dc24cb1" /><Relationship Type="http://schemas.openxmlformats.org/officeDocument/2006/relationships/notesMaster" Target="/ppt/notesMasters/notesMaster1.xml" Id="R11a4196508b7482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218e3cfa9894076" /><Relationship Type="http://schemas.openxmlformats.org/officeDocument/2006/relationships/notesMaster" Target="/ppt/notesMasters/notesMaster1.xml" Id="R1409b8b703544b3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fa45e2ab38e430d" /><Relationship Type="http://schemas.openxmlformats.org/officeDocument/2006/relationships/notesMaster" Target="/ppt/notesMasters/notesMaster1.xml" Id="Rfa19a9f6280c492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82df9bbccff4011" /><Relationship Type="http://schemas.openxmlformats.org/officeDocument/2006/relationships/notesMaster" Target="/ppt/notesMasters/notesMaster1.xml" Id="Rdce81be390a741b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311a8d78d9946f1" /><Relationship Type="http://schemas.openxmlformats.org/officeDocument/2006/relationships/notesMaster" Target="/ppt/notesMasters/notesMaster1.xml" Id="R19971f0a802b4ff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0f9462cabe141aa" /><Relationship Type="http://schemas.openxmlformats.org/officeDocument/2006/relationships/notesMaster" Target="/ppt/notesMasters/notesMaster1.xml" Id="Rff898b78c4904d9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afce35376954cc6" /><Relationship Type="http://schemas.openxmlformats.org/officeDocument/2006/relationships/notesMaster" Target="/ppt/notesMasters/notesMaster1.xml" Id="R640bf21723124d6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7a32597978e409d" /><Relationship Type="http://schemas.openxmlformats.org/officeDocument/2006/relationships/notesMaster" Target="/ppt/notesMasters/notesMaster1.xml" Id="Rf91f777042c24d2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491838a18db47e4" /><Relationship Type="http://schemas.openxmlformats.org/officeDocument/2006/relationships/notesMaster" Target="/ppt/notesMasters/notesMaster1.xml" Id="Re308c2dfd7c64ee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11ef3a309a94bfc" /><Relationship Type="http://schemas.openxmlformats.org/officeDocument/2006/relationships/notesMaster" Target="/ppt/notesMasters/notesMaster1.xml" Id="R95952836861c4da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4803edb0e214c9a" /><Relationship Type="http://schemas.openxmlformats.org/officeDocument/2006/relationships/notesMaster" Target="/ppt/notesMasters/notesMaster1.xml" Id="R997bc9951eef482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cfa9deba37649ab" /><Relationship Type="http://schemas.openxmlformats.org/officeDocument/2006/relationships/notesMaster" Target="/ppt/notesMasters/notesMaster1.xml" Id="R967f0db01b6f43d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fbf90a1beec47d6" /><Relationship Type="http://schemas.openxmlformats.org/officeDocument/2006/relationships/notesMaster" Target="/ppt/notesMasters/notesMaster1.xml" Id="Rb2869fcf179f447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52333a2eb9a4ae2" /><Relationship Type="http://schemas.openxmlformats.org/officeDocument/2006/relationships/notesMaster" Target="/ppt/notesMasters/notesMaster1.xml" Id="Rb65a63d6937443a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4c9f7f4c77243bb" /><Relationship Type="http://schemas.openxmlformats.org/officeDocument/2006/relationships/notesMaster" Target="/ppt/notesMasters/notesMaster1.xml" Id="Rbcdfbf5d7b8c410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a1215222da74ddb" /><Relationship Type="http://schemas.openxmlformats.org/officeDocument/2006/relationships/notesMaster" Target="/ppt/notesMasters/notesMaster1.xml" Id="R6f5931ef2a054f9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63494f98cd9408d" /><Relationship Type="http://schemas.openxmlformats.org/officeDocument/2006/relationships/notesMaster" Target="/ppt/notesMasters/notesMaster1.xml" Id="R03192e4a2cd74ea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11b19acdc044af6" /><Relationship Type="http://schemas.openxmlformats.org/officeDocument/2006/relationships/notesMaster" Target="/ppt/notesMasters/notesMaster1.xml" Id="Rdfdb74768f74453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75a74ce0e5e4846" /><Relationship Type="http://schemas.openxmlformats.org/officeDocument/2006/relationships/notesMaster" Target="/ppt/notesMasters/notesMaster1.xml" Id="Rcdf91609b01f4b2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e8b9ba256ff4573" /><Relationship Type="http://schemas.openxmlformats.org/officeDocument/2006/relationships/notesMaster" Target="/ppt/notesMasters/notesMaster1.xml" Id="R3098ea90beec451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80ef7bb1bd14b9b" /><Relationship Type="http://schemas.openxmlformats.org/officeDocument/2006/relationships/notesMaster" Target="/ppt/notesMasters/notesMaster1.xml" Id="R80cba3d8f1c745d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e03a4657ad24c45" /><Relationship Type="http://schemas.openxmlformats.org/officeDocument/2006/relationships/notesMaster" Target="/ppt/notesMasters/notesMaster1.xml" Id="R6439ec2b85134da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2d7ff65a621472e" /><Relationship Type="http://schemas.openxmlformats.org/officeDocument/2006/relationships/notesMaster" Target="/ppt/notesMasters/notesMaster1.xml" Id="R8e656eaa00784eb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6f68aef436e415d" /><Relationship Type="http://schemas.openxmlformats.org/officeDocument/2006/relationships/notesMaster" Target="/ppt/notesMasters/notesMaster1.xml" Id="Rf1b981221dc744f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fc6065051b1438b" /><Relationship Type="http://schemas.openxmlformats.org/officeDocument/2006/relationships/notesMaster" Target="/ppt/notesMasters/notesMaster1.xml" Id="R7e88dbd9d62d433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542dce892fc4ada" /><Relationship Type="http://schemas.openxmlformats.org/officeDocument/2006/relationships/notesMaster" Target="/ppt/notesMasters/notesMaster1.xml" Id="R46893d64b4f04df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d4b5ad9ce54479b" /><Relationship Type="http://schemas.openxmlformats.org/officeDocument/2006/relationships/notesMaster" Target="/ppt/notesMasters/notesMaster1.xml" Id="R0f81836ce3864d1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ccdf018545b4f02" /><Relationship Type="http://schemas.openxmlformats.org/officeDocument/2006/relationships/notesMaster" Target="/ppt/notesMasters/notesMaster1.xml" Id="R0c1d21107f74453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cf201f9b8d24cd9" /><Relationship Type="http://schemas.openxmlformats.org/officeDocument/2006/relationships/notesMaster" Target="/ppt/notesMasters/notesMaster1.xml" Id="R0147d382e2c5486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98bd9d421be4055" /><Relationship Type="http://schemas.openxmlformats.org/officeDocument/2006/relationships/notesMaster" Target="/ppt/notesMasters/notesMaster1.xml" Id="R89732f8503e14fe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be7d2c93d6f4a01" /><Relationship Type="http://schemas.openxmlformats.org/officeDocument/2006/relationships/notesMaster" Target="/ppt/notesMasters/notesMaster1.xml" Id="Re221ca1d6a4b428c"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d7fa7e9b97046e3" /><Relationship Type="http://schemas.openxmlformats.org/officeDocument/2006/relationships/notesMaster" Target="/ppt/notesMasters/notesMaster1.xml" Id="Ra2cd480b9976488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da39325a9e14f3f" /><Relationship Type="http://schemas.openxmlformats.org/officeDocument/2006/relationships/notesMaster" Target="/ppt/notesMasters/notesMaster1.xml" Id="R090f3c6826994bb0"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ef5bb52bda84382" /><Relationship Type="http://schemas.openxmlformats.org/officeDocument/2006/relationships/notesMaster" Target="/ppt/notesMasters/notesMaster1.xml" Id="Rd937f26da0f64fe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89417a2f4064330" /><Relationship Type="http://schemas.openxmlformats.org/officeDocument/2006/relationships/notesMaster" Target="/ppt/notesMasters/notesMaster1.xml" Id="Rba2811d57ba049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 메일 60개가 쌓였습니다</a:t>
            </a:r>
          </a:p>
          <a:p xmlns:a="http://schemas.openxmlformats.org/drawingml/2006/main">
            <a:r>
              <a:t/>
            </a:r>
          </a:p>
          <a:p xmlns:a="http://schemas.openxmlformats.org/drawingml/2006/main">
            <a:r>
              <a:t>시간: 시작 후 0–1분, 1분 진행.</a:t>
            </a:r>
          </a:p>
          <a:p xmlns:a="http://schemas.openxmlformats.org/drawingml/2006/main">
            <a:r>
              <a:t/>
            </a:r>
          </a:p>
          <a:p xmlns:a="http://schemas.openxmlformats.org/drawingml/2006/main">
            <a:r>
              <a:t>말할 내용: 오늘 받은 메일을 정리해야 하는 업무 장면으로 시작합니다. 취소 뒤 복구 요청, 변경된 장소, 승인 대기 건이 섞여 있습니다. 처리표와 답장을 만들고, 실제로 보낼 수 있는 문장인지 확인합니다. 자료는 모두 수업용 가상 자료입니다.</a:t>
            </a:r>
          </a:p>
          <a:p xmlns:a="http://schemas.openxmlformats.org/drawingml/2006/main">
            <a:r>
              <a:t/>
            </a:r>
          </a:p>
          <a:p xmlns:a="http://schemas.openxmlformats.org/drawingml/2006/main">
            <a:r>
              <a:t>참가자에게 할 질문: 메일을 읽는 시간과 답장을 쓰는 시간, 어느 쪽이 더 드나요?</a:t>
            </a:r>
          </a:p>
          <a:p xmlns:a="http://schemas.openxmlformats.org/drawingml/2006/main">
            <a:r>
              <a:t/>
            </a:r>
          </a:p>
          <a:p xmlns:a="http://schemas.openxmlformats.org/drawingml/2006/main">
            <a:r>
              <a:t>예상 오류와 대응: 가상 사례임을 한 번 안내합니다.</a:t>
            </a:r>
          </a:p>
          <a:p xmlns:a="http://schemas.openxmlformats.org/drawingml/2006/main">
            <a:r>
              <a:t/>
            </a:r>
          </a:p>
          <a:p xmlns:a="http://schemas.openxmlformats.org/drawingml/2006/main">
            <a:r>
              <a:t>수업 링크: https://zeusk302-png.github.io/gyeongnam-ai-workshop/#orientation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 오늘 함께할 강사</a:t>
            </a:r>
          </a:p>
          <a:p xmlns:a="http://schemas.openxmlformats.org/drawingml/2006/main">
            <a:r>
              <a:t/>
            </a:r>
          </a:p>
          <a:p xmlns:a="http://schemas.openxmlformats.org/drawingml/2006/main">
            <a:r>
              <a:t>시간: 시작 후 1–3분, 2분 진행.</a:t>
            </a:r>
          </a:p>
          <a:p xmlns:a="http://schemas.openxmlformats.org/drawingml/2006/main">
            <a:r>
              <a:t/>
            </a:r>
          </a:p>
          <a:p xmlns:a="http://schemas.openxmlformats.org/drawingml/2006/main">
            <a:r>
              <a:t>말할 내용: 산업용 AI와 임베디드 소프트웨어를 개발하며 시스템 설계, 시험·검증, 기술 문서 작성을 해 왔습니다. 오늘도 작성한 결과가 실제 기록과 맞는지 함께 확인하겠습니다. 상세 경력은 웹 강사 소개에 있습니다.</a:t>
            </a:r>
          </a:p>
          <a:p xmlns:a="http://schemas.openxmlformats.org/drawingml/2006/main">
            <a:r>
              <a:t/>
            </a:r>
          </a:p>
          <a:p xmlns:a="http://schemas.openxmlformats.org/drawingml/2006/main">
            <a:r>
              <a:t>참가자에게 할 질문: 요즘 가장 자주 고쳐 쓰는 문서는 무엇인가요?</a:t>
            </a:r>
          </a:p>
          <a:p xmlns:a="http://schemas.openxmlformats.org/drawingml/2006/main">
            <a:r>
              <a:t/>
            </a:r>
          </a:p>
          <a:p xmlns:a="http://schemas.openxmlformats.org/drawingml/2006/main">
            <a:r>
              <a:t>예상 오류와 대응: </a:t>
            </a:r>
          </a:p>
          <a:p xmlns:a="http://schemas.openxmlformats.org/drawingml/2006/main">
            <a:r>
              <a:t/>
            </a:r>
          </a:p>
          <a:p xmlns:a="http://schemas.openxmlformats.org/drawingml/2006/main">
            <a:r>
              <a:t>수업 링크: https://zeusk302-png.github.io/gyeongnam-ai-workshop/#instructor</a:t>
            </a:r>
          </a:p>
          <a:p xmlns:a="http://schemas.openxmlformats.org/drawingml/2006/main">
            <a:r>
              <a:t/>
            </a:r>
          </a:p>
          <a:p xmlns:a="http://schemas.openxmlformats.org/drawingml/2006/main">
            <a:r>
              <a:t>화면 설명: 설계한 내용을 구현하고 시험하는 일을 합니다.</a:t>
            </a:r>
          </a:p>
          <a:p xmlns:a="http://schemas.openxmlformats.org/drawingml/2006/main">
            <a:r>
              <a:t/>
            </a:r>
          </a:p>
          <a:p xmlns:a="http://schemas.openxmlformats.org/drawingml/2006/main">
            <a:r>
              <a:t>화면 원본: assets/instructor/kim-seyoung.jpg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 어느 일에 먼저 써 볼까요?</a:t>
            </a:r>
          </a:p>
          <a:p xmlns:a="http://schemas.openxmlformats.org/drawingml/2006/main">
            <a:r>
              <a:t/>
            </a:r>
          </a:p>
          <a:p xmlns:a="http://schemas.openxmlformats.org/drawingml/2006/main">
            <a:r>
              <a:t>시간: 시작 후 3–5분, 2분 진행.</a:t>
            </a:r>
          </a:p>
          <a:p xmlns:a="http://schemas.openxmlformats.org/drawingml/2006/main">
            <a:r>
              <a:t/>
            </a:r>
          </a:p>
          <a:p xmlns:a="http://schemas.openxmlformats.org/drawingml/2006/main">
            <a:r>
              <a:t>말할 내용: 두 업무 중 어디에 AI를 먼저 써 볼지 고르게 합니다. 답장 한 줄은 직접 쓰거나 기존 서식을 쓰는 편이 간단할 수 있습니다. 메일 묶음은 같은 문의의 마지막 요청과 승인 상태를 연결하는 반복이 있습니다. 다음 장에서 선택 이유를 비교합니다.</a:t>
            </a:r>
          </a:p>
          <a:p xmlns:a="http://schemas.openxmlformats.org/drawingml/2006/main">
            <a:r>
              <a:t/>
            </a:r>
          </a:p>
          <a:p xmlns:a="http://schemas.openxmlformats.org/drawingml/2006/main">
            <a:r>
              <a:t>참가자에게 할 질문: 입력하고 검토하는 시간까지 들여도 써 볼 이유가 있나요?</a:t>
            </a:r>
          </a:p>
          <a:p xmlns:a="http://schemas.openxmlformats.org/drawingml/2006/main">
            <a:r>
              <a:t/>
            </a:r>
          </a:p>
          <a:p xmlns:a="http://schemas.openxmlformats.org/drawingml/2006/main">
            <a:r>
              <a:t>예상 오류와 대응: 자료가 길다는 이유만으로 반드시 AI가 빠르다고 말하지 않습니다.</a:t>
            </a:r>
          </a:p>
          <a:p xmlns:a="http://schemas.openxmlformats.org/drawingml/2006/main">
            <a:r>
              <a:t/>
            </a:r>
          </a:p>
          <a:p xmlns:a="http://schemas.openxmlformats.org/drawingml/2006/main">
            <a:r>
              <a:t>수업 링크: https://zeusk302-png.github.io/gyeongnam-ai-workshop/#resources</a:t>
            </a:r>
          </a:p>
          <a:p xmlns:a="http://schemas.openxmlformats.org/drawingml/2006/main">
            <a:r>
              <a:t/>
            </a:r>
          </a:p>
          <a:p xmlns:a="http://schemas.openxmlformats.org/drawingml/2006/main">
            <a:r>
              <a:t>참여 진행: {"kind":"vote","seconds":20,"prompt":"AI를 먼저 시험할 일 하나를 고릅니다."}</a:t>
            </a:r>
          </a:p>
          <a:p xmlns:a="http://schemas.openxmlformats.org/drawingml/2006/main">
            <a:r>
              <a:t/>
            </a:r>
          </a:p>
          <a:p xmlns:a="http://schemas.openxmlformats.org/drawingml/2006/main">
            <a:r>
              <a:t>답 공개 참고: {"questionSlide":3,"answerSlide":4,"answer":"B를 먼저 시험할 만합니다. 여러 기록을 같은 문의별로 연결하는 반복이 있기 때문입니다.","evidence":"입력·검토를 포함한 실무 선택 원칙","role":"question"}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 여러 기록을 묶는 일을 시험합니다</a:t>
            </a:r>
          </a:p>
          <a:p xmlns:a="http://schemas.openxmlformats.org/drawingml/2006/main">
            <a:r>
              <a:t/>
            </a:r>
          </a:p>
          <a:p xmlns:a="http://schemas.openxmlformats.org/drawingml/2006/main">
            <a:r>
              <a:t>시간: 시작 후 5–8분, 3분 진행.</a:t>
            </a:r>
          </a:p>
          <a:p xmlns:a="http://schemas.openxmlformats.org/drawingml/2006/main">
            <a:r>
              <a:t/>
            </a:r>
          </a:p>
          <a:p xmlns:a="http://schemas.openxmlformats.org/drawingml/2006/main">
            <a:r>
              <a:t>말할 내용: B를 먼저 시험할 만합니다. AI가 여러 문서의 항목을 묶고 같은 형식으로 초안을 쓰는 일을 도울 수 있기 때문입니다. 그래도 준비와 검토에 시간이 더 들면 기존 방법을 선택합니다. 계산은 스프레드시트가 더 직접적입니다.</a:t>
            </a:r>
          </a:p>
          <a:p xmlns:a="http://schemas.openxmlformats.org/drawingml/2006/main">
            <a:r>
              <a:t/>
            </a:r>
          </a:p>
          <a:p xmlns:a="http://schemas.openxmlformats.org/drawingml/2006/main">
            <a:r>
              <a:t>참가자에게 할 질문: 내 업무에서는 어디를 반복해서 읽고 있나요?</a:t>
            </a:r>
          </a:p>
          <a:p xmlns:a="http://schemas.openxmlformats.org/drawingml/2006/main">
            <a:r>
              <a:t/>
            </a:r>
          </a:p>
          <a:p xmlns:a="http://schemas.openxmlformats.org/drawingml/2006/main">
            <a:r>
              <a:t>예상 오류와 대응: 시간 절감률을 미리 약속하지 않습니다.</a:t>
            </a:r>
          </a:p>
          <a:p xmlns:a="http://schemas.openxmlformats.org/drawingml/2006/main">
            <a:r>
              <a:t/>
            </a:r>
          </a:p>
          <a:p xmlns:a="http://schemas.openxmlformats.org/drawingml/2006/main">
            <a:r>
              <a:t>수업 링크: https://zeusk302-png.github.io/gyeongnam-ai-workshop/#orientation</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"일의 성격",</a:t>
            </a:r>
          </a:p>
          <a:p xmlns:a="http://schemas.openxmlformats.org/drawingml/2006/main">
            <a:r>
              <a:t>    "기본 수단",</a:t>
            </a:r>
          </a:p>
          <a:p xmlns:a="http://schemas.openxmlformats.org/drawingml/2006/main">
            <a:r>
              <a:t>    "AI를 시험할 지점"</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"짧고 정형적인 답장",</a:t>
            </a:r>
          </a:p>
          <a:p xmlns:a="http://schemas.openxmlformats.org/drawingml/2006/main">
            <a:r>
              <a:t>      "직접 작성·기존 서식",</a:t>
            </a:r>
          </a:p>
          <a:p xmlns:a="http://schemas.openxmlformats.org/drawingml/2006/main">
            <a:r>
              <a:t>      "반복할 이유가 있을 때만"</a:t>
            </a:r>
          </a:p>
          <a:p xmlns:a="http://schemas.openxmlformats.org/drawingml/2006/main">
            <a:r>
              <a:t>    ],</a:t>
            </a:r>
          </a:p>
          <a:p xmlns:a="http://schemas.openxmlformats.org/drawingml/2006/main">
            <a:r>
              <a:t>    [</a:t>
            </a:r>
          </a:p>
          <a:p xmlns:a="http://schemas.openxmlformats.org/drawingml/2006/main">
            <a:r>
              <a:t>      "합계와 비율 계산",</a:t>
            </a:r>
          </a:p>
          <a:p xmlns:a="http://schemas.openxmlformats.org/drawingml/2006/main">
            <a:r>
              <a:t>      "스프레드시트 수식",</a:t>
            </a:r>
          </a:p>
          <a:p xmlns:a="http://schemas.openxmlformats.org/drawingml/2006/main">
            <a:r>
              <a:t>      "집계 조건 정리와 보고 문장"</a:t>
            </a:r>
          </a:p>
          <a:p xmlns:a="http://schemas.openxmlformats.org/drawingml/2006/main">
            <a:r>
              <a:t>    ],</a:t>
            </a:r>
          </a:p>
          <a:p xmlns:a="http://schemas.openxmlformats.org/drawingml/2006/main">
            <a:r>
              <a:t>    [</a:t>
            </a:r>
          </a:p>
          <a:p xmlns:a="http://schemas.openxmlformats.org/drawingml/2006/main">
            <a:r>
              <a:t>      "여러 문의와 승인 기록",</a:t>
            </a:r>
          </a:p>
          <a:p xmlns:a="http://schemas.openxmlformats.org/drawingml/2006/main">
            <a:r>
              <a:t>      "원문·대장 대조",</a:t>
            </a:r>
          </a:p>
          <a:p xmlns:a="http://schemas.openxmlformats.org/drawingml/2006/main">
            <a:r>
              <a:t>      "건별 마지막 요청과 상태 분류"</a:t>
            </a:r>
          </a:p>
          <a:p xmlns:a="http://schemas.openxmlformats.org/drawingml/2006/main">
            <a:r>
              <a:t>    ],</a:t>
            </a:r>
          </a:p>
          <a:p xmlns:a="http://schemas.openxmlformats.org/drawingml/2006/main">
            <a:r>
              <a:t>    [</a:t>
            </a:r>
          </a:p>
          <a:p xmlns:a="http://schemas.openxmlformats.org/drawingml/2006/main">
            <a:r>
              <a:t>      "수정된 규정 여러 개",</a:t>
            </a:r>
          </a:p>
          <a:p xmlns:a="http://schemas.openxmlformats.org/drawingml/2006/main">
            <a:r>
              <a:t>      "승인 범위 확인",</a:t>
            </a:r>
          </a:p>
          <a:p xmlns:a="http://schemas.openxmlformats.org/drawingml/2006/main">
            <a:r>
              <a:t>      "충돌 문장·근거 위치 찾기"</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 오늘 펼칠 자료</a:t>
            </a:r>
          </a:p>
          <a:p xmlns:a="http://schemas.openxmlformats.org/drawingml/2006/main">
            <a:r>
              <a:t/>
            </a:r>
          </a:p>
          <a:p xmlns:a="http://schemas.openxmlformats.org/drawingml/2006/main">
            <a:r>
              <a:t>시간: 시작 후 8–10분, 2분 진행.</a:t>
            </a:r>
          </a:p>
          <a:p xmlns:a="http://schemas.openxmlformats.org/drawingml/2006/main">
            <a:r>
              <a:t/>
            </a:r>
          </a:p>
          <a:p xmlns:a="http://schemas.openxmlformats.org/drawingml/2006/main">
            <a:r>
              <a:t>말할 내용: 본수업은 대표 30건을 사용합니다. 기존 6건은 도구 조작을 익히는 짧은 연습으로 남겨 두었습니다. 뒤에 사용할 회의, 행사 인수인계, 결과 보고 자료와 날짜·조건이 다르므로 섞지 않습니다. 대표 세 건을 먼저 직접 작성하고 같은 세 건의 AI 답변을 대조합니다.</a:t>
            </a:r>
          </a:p>
          <a:p xmlns:a="http://schemas.openxmlformats.org/drawingml/2006/main">
            <a:r>
              <a:t/>
            </a:r>
          </a:p>
          <a:p xmlns:a="http://schemas.openxmlformats.org/drawingml/2006/main">
            <a:r>
              <a:t>참가자에게 할 질문: 37번 파일과 35번 비교 샘플을 찾았나요?</a:t>
            </a:r>
          </a:p>
          <a:p xmlns:a="http://schemas.openxmlformats.org/drawingml/2006/main">
            <a:r>
              <a:t/>
            </a:r>
          </a:p>
          <a:p xmlns:a="http://schemas.openxmlformats.org/drawingml/2006/main">
            <a:r>
              <a:t>예상 오류와 대응: 옛 6건 자료를 대표 30건의 결과로 표시하지 않습니다.</a:t>
            </a:r>
          </a:p>
          <a:p xmlns:a="http://schemas.openxmlformats.org/drawingml/2006/main">
            <a:r>
              <a:t/>
            </a:r>
          </a:p>
          <a:p xmlns:a="http://schemas.openxmlformats.org/drawingml/2006/main">
            <a:r>
              <a:t>수업 링크: https://zeusk302-png.github.io/gyeongnam-ai-workshop/#resources</a:t>
            </a:r>
          </a:p>
          <a:p xmlns:a="http://schemas.openxmlformats.org/drawingml/2006/main">
            <a:r>
              <a:t/>
            </a:r>
          </a:p>
          <a:p xmlns:a="http://schemas.openxmlformats.org/drawingml/2006/main">
            <a:r>
              <a:t>원자료: https://zeusk302-png.github.io/gyeongnam-ai-workshop/downloads/%ED%99%95%EC%9E%A5/00_%ED%99%95%EC%9E%A5%EB%B3%B8_%EC%82%AC%EC%9A%A9%EC%95%88%EB%82%B4.md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6. 어디까지 확인했는지 남깁니다</a:t>
            </a:r>
          </a:p>
          <a:p xmlns:a="http://schemas.openxmlformats.org/drawingml/2006/main">
            <a:r>
              <a:t/>
            </a:r>
          </a:p>
          <a:p xmlns:a="http://schemas.openxmlformats.org/drawingml/2006/main">
            <a:r>
              <a:t>시간: 시작 후 10–12분, 2분 진행.</a:t>
            </a:r>
          </a:p>
          <a:p xmlns:a="http://schemas.openxmlformats.org/drawingml/2006/main">
            <a:r>
              <a:t/>
            </a:r>
          </a:p>
          <a:p xmlns:a="http://schemas.openxmlformats.org/drawingml/2006/main">
            <a:r>
              <a:t>말할 내용: 30행 초안을 받아도 수업에서 자세히 대조할 대상은 Q01, Q04, Q12입니다. 나머지 27행과 대조하지 않은 답장·공지에는 검토 대기를 표시합니다. 제공된 가상 자료만 사용하고 실제 신청이나 발송은 하지 않습니다. 길게 생성한 것과 업무를 마친 것을 구분합니다.</a:t>
            </a:r>
          </a:p>
          <a:p xmlns:a="http://schemas.openxmlformats.org/drawingml/2006/main">
            <a:r>
              <a:t/>
            </a:r>
          </a:p>
          <a:p xmlns:a="http://schemas.openxmlformats.org/drawingml/2006/main">
            <a:r>
              <a:t>참가자에게 할 질문: 확인하지 못한 부분을 어디에 표시할까요?</a:t>
            </a:r>
          </a:p>
          <a:p xmlns:a="http://schemas.openxmlformats.org/drawingml/2006/main">
            <a:r>
              <a:t/>
            </a:r>
          </a:p>
          <a:p xmlns:a="http://schemas.openxmlformats.org/drawingml/2006/main">
            <a:r>
              <a:t>예상 오류와 대응: 표본 세 건의 확인을 전체 검토 완료로 확대하지 않습니다.</a:t>
            </a:r>
          </a:p>
          <a:p xmlns:a="http://schemas.openxmlformats.org/drawingml/2006/main">
            <a:r>
              <a:t/>
            </a:r>
          </a:p>
          <a:p xmlns:a="http://schemas.openxmlformats.org/drawingml/2006/main">
            <a:r>
              <a:t>수업 링크: https://zeusk302-png.github.io/gyeongnam-ai-workshop/#orientation</a:t>
            </a:r>
          </a:p>
          <a:p xmlns:a="http://schemas.openxmlformats.org/drawingml/2006/main">
            <a:r>
              <a:t/>
            </a:r>
          </a:p>
          <a:p xmlns:a="http://schemas.openxmlformats.org/drawingml/2006/main">
            <a:r>
              <a:t>참여 진행: {"kind":"write","seconds":30,"prompt":"내 기록에 “확인한 범위” 한 칸을 만듭니다."}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7. 전송하기 전, 사용량 확인</a:t>
            </a:r>
          </a:p>
          <a:p xmlns:a="http://schemas.openxmlformats.org/drawingml/2006/main">
            <a:r>
              <a:t/>
            </a:r>
          </a:p>
          <a:p xmlns:a="http://schemas.openxmlformats.org/drawingml/2006/main">
            <a:r>
              <a:t>시간: 시작 후 12–15분, 3분 진행.</a:t>
            </a:r>
          </a:p>
          <a:p xmlns:a="http://schemas.openxmlformats.org/drawingml/2006/main">
            <a:r>
              <a:t/>
            </a:r>
          </a:p>
          <a:p xmlns:a="http://schemas.openxmlformats.org/drawingml/2006/main">
            <a:r>
              <a:t>말할 내용: 각자 사용할 계정에서 제한 알림과 재개 시각을 확인합니다. 무료 계정의 한도와 잔여량은 조건에 따라 달라집니다. 2026-09-27 확인한 공식 안내와 링크는 웹 무료 가이드에 보관했습니다. 과거 일일 횟수를 오늘의 보장량으로 안내하지 않습니다.</a:t>
            </a:r>
          </a:p>
          <a:p xmlns:a="http://schemas.openxmlformats.org/drawingml/2006/main">
            <a:r>
              <a:t/>
            </a:r>
          </a:p>
          <a:p xmlns:a="http://schemas.openxmlformats.org/drawingml/2006/main">
            <a:r>
              <a:t>참가자에게 할 질문: 지금 실행 가능한 도구가 어느 것인가요?</a:t>
            </a:r>
          </a:p>
          <a:p xmlns:a="http://schemas.openxmlformats.org/drawingml/2006/main">
            <a:r>
              <a:t/>
            </a:r>
          </a:p>
          <a:p xmlns:a="http://schemas.openxmlformats.org/drawingml/2006/main">
            <a:r>
              <a:t>예상 오류와 대응: 특정 계정의 성공 횟수를 모든 계정에 약속하지 않습니다.</a:t>
            </a:r>
          </a:p>
          <a:p xmlns:a="http://schemas.openxmlformats.org/drawingml/2006/main">
            <a:r>
              <a:t/>
            </a:r>
          </a:p>
          <a:p xmlns:a="http://schemas.openxmlformats.org/drawingml/2006/main">
            <a:r>
              <a:t>수업 링크: https://zeusk302-png.github.io/gyeongnam-ai-workshop/#free-guide</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"도구",</a:t>
            </a:r>
          </a:p>
          <a:p xmlns:a="http://schemas.openxmlformats.org/drawingml/2006/main">
            <a:r>
              <a:t>    "공식 안내 확인 기준",</a:t>
            </a:r>
          </a:p>
          <a:p xmlns:a="http://schemas.openxmlformats.org/drawingml/2006/main">
            <a:r>
              <a:t>    "수업에서 볼 곳"</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"Gemini",</a:t>
            </a:r>
          </a:p>
          <a:p xmlns:a="http://schemas.openxmlformats.org/drawingml/2006/main">
            <a:r>
              <a:t>      "5시간 갱신과 주간 한도",</a:t>
            </a:r>
          </a:p>
          <a:p xmlns:a="http://schemas.openxmlformats.org/drawingml/2006/main">
            <a:r>
              <a:t>      "사용량 메뉴 또는 제한 알림"</a:t>
            </a:r>
          </a:p>
          <a:p xmlns:a="http://schemas.openxmlformats.org/drawingml/2006/main">
            <a:r>
              <a:t>    ],</a:t>
            </a:r>
          </a:p>
          <a:p xmlns:a="http://schemas.openxmlformats.org/drawingml/2006/main">
            <a:r>
              <a:t>    [</a:t>
            </a:r>
          </a:p>
          <a:p xmlns:a="http://schemas.openxmlformats.org/drawingml/2006/main">
            <a:r>
              <a:t>      "NotebookLM",</a:t>
            </a:r>
          </a:p>
          <a:p xmlns:a="http://schemas.openxmlformats.org/drawingml/2006/main">
            <a:r>
              <a:t>      "9월 2일 계산량 기준 전환 안내",</a:t>
            </a:r>
          </a:p>
          <a:p xmlns:a="http://schemas.openxmlformats.org/drawingml/2006/main">
            <a:r>
              <a:t>      "사용량 메뉴와 생성 예상 사용량"</a:t>
            </a:r>
          </a:p>
          <a:p xmlns:a="http://schemas.openxmlformats.org/drawingml/2006/main">
            <a:r>
              <a:t>    ],</a:t>
            </a:r>
          </a:p>
          <a:p xmlns:a="http://schemas.openxmlformats.org/drawingml/2006/main">
            <a:r>
              <a:t>    [</a:t>
            </a:r>
          </a:p>
          <a:p xmlns:a="http://schemas.openxmlformats.org/drawingml/2006/main">
            <a:r>
              <a:t>      "Claude",</a:t>
            </a:r>
          </a:p>
          <a:p xmlns:a="http://schemas.openxmlformats.org/drawingml/2006/main">
            <a:r>
              <a:t>      "5시간 세션, 메시지 수는 가변",</a:t>
            </a:r>
          </a:p>
          <a:p xmlns:a="http://schemas.openxmlformats.org/drawingml/2006/main">
            <a:r>
              <a:t>      "대화의 제한 경고와 재개 시각"</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원자료: https://zeusk302-png.github.io/gyeongnam-ai-workshop/downloads/10_%EB%AC%B4%EB%A3%8C%EA%B3%84%EC%A0%95_%ED%95%9C%EB%8F%84%EC%99%80_%EC%8B%A4%EC%8A%B5%EC%82%AC%EC%9A%A9%EB%B2%95.md</a:t>
            </a:r>
          </a:p>
          <a:p xmlns:a="http://schemas.openxmlformats.org/drawingml/2006/main">
            <a:r>
              <a:t/>
            </a:r>
          </a:p>
          <a:p xmlns:a="http://schemas.openxmlformats.org/drawingml/2006/main">
            <a:r>
              <a:t>정책 확인 기준은 2026-09-27이며 당일 서비스 표시와 공식 문서를 확인합니다. https://zeusk302-png.github.io/gyeongnam-ai-workshop/#free-guide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8. 한도에 걸려도 할 일이 있습니다</a:t>
            </a:r>
          </a:p>
          <a:p xmlns:a="http://schemas.openxmlformats.org/drawingml/2006/main">
            <a:r>
              <a:t/>
            </a:r>
          </a:p>
          <a:p xmlns:a="http://schemas.openxmlformats.org/drawingml/2006/main">
            <a:r>
              <a:t>시간: 시작 후 15–17분, 2분 진행.</a:t>
            </a:r>
          </a:p>
          <a:p xmlns:a="http://schemas.openxmlformats.org/drawingml/2006/main">
            <a:r>
              <a:t/>
            </a:r>
          </a:p>
          <a:p xmlns:a="http://schemas.openxmlformats.org/drawingml/2006/main">
            <a:r>
              <a:t>말할 내용: 전송이 막히면 같은 요청을 반복하지 않습니다. 이미 받은 답변과 원문을 나란히 놓거나 짝과 입력·검토 역할을 나눕니다. 각자 고친 문장과 확인 범위를 남깁니다. 결제나 체험 등록은 수업 조건이 아닙니다. 새 대화가 계정 한도를 초기화하지도 않습니다.</a:t>
            </a:r>
          </a:p>
          <a:p xmlns:a="http://schemas.openxmlformats.org/drawingml/2006/main">
            <a:r>
              <a:t/>
            </a:r>
          </a:p>
          <a:p xmlns:a="http://schemas.openxmlformats.org/drawingml/2006/main">
            <a:r>
              <a:t>참가자에게 할 질문: 짝과 역할을 어떻게 나눌까요?</a:t>
            </a:r>
          </a:p>
          <a:p xmlns:a="http://schemas.openxmlformats.org/drawingml/2006/main">
            <a:r>
              <a:t/>
            </a:r>
          </a:p>
          <a:p xmlns:a="http://schemas.openxmlformats.org/drawingml/2006/main">
            <a:r>
              <a:t>예상 오류와 대응: 계정과 비밀번호를 공유하지 않습니다.</a:t>
            </a:r>
          </a:p>
          <a:p xmlns:a="http://schemas.openxmlformats.org/drawingml/2006/main">
            <a:r>
              <a:t/>
            </a:r>
          </a:p>
          <a:p xmlns:a="http://schemas.openxmlformats.org/drawingml/2006/main">
            <a:r>
              <a:t>수업 링크: https://zeusk302-png.github.io/gyeongnam-ai-workshop/#free-guide</a:t>
            </a:r>
          </a:p>
          <a:p xmlns:a="http://schemas.openxmlformats.org/drawingml/2006/main">
            <a:r>
              <a:t/>
            </a:r>
          </a:p>
          <a:p xmlns:a="http://schemas.openxmlformats.org/drawingml/2006/main">
            <a:r>
              <a:t>원자료: https://zeusk302-png.github.io/gyeongnam-ai-workshop/downloads/10_%EB%AC%B4%EB%A3%8C%EA%B3%84%EC%A0%95_%ED%95%9C%EB%8F%84%EC%99%80_%EC%8B%A4%EC%8A%B5%EC%82%AC%EC%9A%A9%EB%B2%95.md</a:t>
            </a:r>
          </a:p>
          <a:p xmlns:a="http://schemas.openxmlformats.org/drawingml/2006/main">
            <a:r>
              <a:t/>
            </a:r>
          </a:p>
          <a:p xmlns:a="http://schemas.openxmlformats.org/drawingml/2006/main">
            <a:r>
              <a:t>정책 확인 기준은 2026-09-27이며 당일 서비스 표시와 공식 문서를 확인합니다. https://zeusk302-png.github.io/gyeongnam-ai-workshop/#free-guide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9. 원문 파일과 받을 결과</a:t>
            </a:r>
          </a:p>
          <a:p xmlns:a="http://schemas.openxmlformats.org/drawingml/2006/main">
            <a:r>
              <a:t/>
            </a:r>
          </a:p>
          <a:p xmlns:a="http://schemas.openxmlformats.org/drawingml/2006/main">
            <a:r>
              <a:t>시간: 시작 후 17–20분, 3분 진행.</a:t>
            </a:r>
          </a:p>
          <a:p xmlns:a="http://schemas.openxmlformats.org/drawingml/2006/main">
            <a:r>
              <a:t/>
            </a:r>
          </a:p>
          <a:p xmlns:a="http://schemas.openxmlformats.org/drawingml/2006/main">
            <a:r>
              <a:t>말할 내용: 37번 합본을 첨부하고 웹의 짧은 지시를 사용합니다. 원자료, 기준 시각, 문의 ID, 결과의 열, 승인 판단의 범위를 지정하는 모습을 보여 줍니다. 참가자가 문장을 새로 길게 작성할 필요는 없습니다. 결과에는 처리표 30행, 답장 5개, 내부 확인 요청, 공지 수정 3행이 포함됩니다. 파일 준비와 첨부도 작업 시간에 포함합니다.</a:t>
            </a:r>
          </a:p>
          <a:p xmlns:a="http://schemas.openxmlformats.org/drawingml/2006/main">
            <a:r>
              <a:t/>
            </a:r>
          </a:p>
          <a:p xmlns:a="http://schemas.openxmlformats.org/drawingml/2006/main">
            <a:r>
              <a:t>참가자에게 할 질문: 메일 60개를 처리표 60행으로 만들면 어떤 문제가 생길까요?</a:t>
            </a:r>
          </a:p>
          <a:p xmlns:a="http://schemas.openxmlformats.org/drawingml/2006/main">
            <a:r>
              <a:t/>
            </a:r>
          </a:p>
          <a:p xmlns:a="http://schemas.openxmlformats.org/drawingml/2006/main">
            <a:r>
              <a:t>예상 오류와 대응: 합본 없이 지시만 보내지 않았는지 확인합니다.</a:t>
            </a:r>
          </a:p>
          <a:p xmlns:a="http://schemas.openxmlformats.org/drawingml/2006/main">
            <a:r>
              <a:t/>
            </a:r>
          </a:p>
          <a:p xmlns:a="http://schemas.openxmlformats.org/drawingml/2006/main">
            <a:r>
              <a:t>수업 링크: https://zeusk302-png.github.io/gyeongnam-ai-workshop/#orientation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10. 먼저, 직접 세 건</a:t>
            </a:r>
          </a:p>
          <a:p xmlns:a="http://schemas.openxmlformats.org/drawingml/2006/main">
            <a:r>
              <a:t/>
            </a:r>
          </a:p>
          <a:p xmlns:a="http://schemas.openxmlformats.org/drawingml/2006/main">
            <a:r>
              <a:t>시간: 시작 후 20–23분, 3분 진행.</a:t>
            </a:r>
          </a:p>
          <a:p xmlns:a="http://schemas.openxmlformats.org/drawingml/2006/main">
            <a:r>
              <a:t/>
            </a:r>
          </a:p>
          <a:p xmlns:a="http://schemas.openxmlformats.org/drawingml/2006/main">
            <a:r>
              <a:t>말할 내용: 35번 비교 샘플을 열고 3분간 직접 작성합니다. 여섯 열은 문의 ID, 최신 요청, 확인된 상태, 지금 안내할 한 문장, 추가 확인, 근거 ID입니다. 정책·승인·메일·대장 발췌를 보고 씁니다. 못 채운 칸은 그대로 두고 나중에 처음부터 다 했다고 수정하지 않습니다.</a:t>
            </a:r>
          </a:p>
          <a:p xmlns:a="http://schemas.openxmlformats.org/drawingml/2006/main">
            <a:r>
              <a:t/>
            </a:r>
          </a:p>
          <a:p xmlns:a="http://schemas.openxmlformats.org/drawingml/2006/main">
            <a:r>
              <a:t>참가자에게 할 질문: “다시 참가하고 싶다”와 “참가 확정”을 나눠 적었나요?</a:t>
            </a:r>
          </a:p>
          <a:p xmlns:a="http://schemas.openxmlformats.org/drawingml/2006/main">
            <a:r>
              <a:t/>
            </a:r>
          </a:p>
          <a:p xmlns:a="http://schemas.openxmlformats.org/drawingml/2006/main">
            <a:r>
              <a:t>예상 오류와 대응: AI와 비교하려고 수작업 기록을 뒤늦게 바꾸지 않습니다.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실습 안내: 35번 샘플에서 처리표 세 행 작성</a:t>
            </a:r>
          </a:p>
          <a:p xmlns:a="http://schemas.openxmlformats.org/drawingml/2006/main">
            <a:r>
              <a:t/>
            </a:r>
          </a:p>
          <a:p xmlns:a="http://schemas.openxmlformats.org/drawingml/2006/main">
            <a:r>
              <a:t>진행 순서: 마지막 요청과 현재 상태 구분 / 안내 문장·추가 확인·원문 ID 기록 / 빈칸도 그대로 저장</a:t>
            </a:r>
          </a:p>
          <a:p xmlns:a="http://schemas.openxmlformats.org/drawingml/2006/main">
            <a:r>
              <a:t/>
            </a:r>
          </a:p>
          <a:p xmlns:a="http://schemas.openxmlformats.org/drawingml/2006/main">
            <a:r>
              <a:t>남길 결과: 같은 여섯 열의 처리표 3행</a:t>
            </a:r>
          </a:p>
          <a:p xmlns:a="http://schemas.openxmlformats.org/drawingml/2006/main">
            <a:r>
              <a:t/>
            </a:r>
          </a:p>
          <a:p xmlns:a="http://schemas.openxmlformats.org/drawingml/2006/main">
            <a:r>
              <a:t>원자료: https://zeusk302-png.github.io/gyeongnam-ai-workshop/downloads/%EC%97%85%EB%AC%B4%EB%AC%B6%EC%9D%8C/31_%EA%B5%90%EC%A7%81%EC%9B%90%EC%97%B0%EC%88%98_%EC%9A%B4%EC%98%81%EA%B8%B0%EC%A4%80.txt</a:t>
            </a:r>
          </a:p>
          <a:p xmlns:a="http://schemas.openxmlformats.org/drawingml/2006/main">
            <a:r>
              <a:t/>
            </a:r>
          </a:p>
          <a:p xmlns:a="http://schemas.openxmlformats.org/drawingml/2006/main">
            <a:r>
              <a:t>원자료: https://zeusk302-png.github.io/gyeongnam-ai-workshop/downloads/%EC%97%85%EB%AC%B4%EB%AC%B6%EC%9D%8C/32_%EB%B3%80%EA%B2%BD%EC%8A%B9%EC%9D%B8_%EC%97%85%EB%AC%B4%ED%9A%8C%EC%8B%A0.txt</a:t>
            </a:r>
          </a:p>
          <a:p xmlns:a="http://schemas.openxmlformats.org/drawingml/2006/main">
            <a:r>
              <a:t/>
            </a:r>
          </a:p>
          <a:p xmlns:a="http://schemas.openxmlformats.org/drawingml/2006/main">
            <a:r>
              <a:t>원자료: https://zeusk302-png.github.io/gyeongnam-ai-workshop/downloads/%EC%97%85%EB%AC%B4%EB%AC%B6%EC%9D%8C/33_%EB%AC%B8%EC%9D%98%EB%A9%94%EC%9D%BC_60%EA%B0%9C.txt</a:t>
            </a:r>
          </a:p>
          <a:p xmlns:a="http://schemas.openxmlformats.org/drawingml/2006/main">
            <a:r>
              <a:t/>
            </a:r>
          </a:p>
          <a:p xmlns:a="http://schemas.openxmlformats.org/drawingml/2006/main">
            <a:r>
              <a:t>원자료: https://zeusk302-png.github.io/gyeongnam-ai-workshop/downloads/%EC%97%85%EB%AC%B4%EB%AC%B6%EC%9D%8C/34_%EC%A0%91%EC%88%98%EC%A2%8C%EC%84%9D_%ED%99%95%EC%9D%B8%EB%8C%80%EC%9E%A5.txt</a:t>
            </a:r>
          </a:p>
          <a:p xmlns:a="http://schemas.openxmlformats.org/drawingml/2006/main">
            <a:r>
              <a:t/>
            </a:r>
          </a:p>
          <a:p xmlns:a="http://schemas.openxmlformats.org/drawingml/2006/main">
            <a:r>
              <a:t>원자료: https://zeusk302-png.github.io/gyeongnam-ai-workshop/downloads/%EC%97%85%EB%AC%B4%EB%AC%B6%EC%9D%8C/36_%EB%B3%B5%EC%82%AC%EC%9A%A9_%EC%A7%88%EB%AC%B8.txt</a:t>
            </a:r>
          </a:p>
          <a:p xmlns:a="http://schemas.openxmlformats.org/drawingml/2006/main">
            <a:r>
              <a:t/>
            </a:r>
          </a:p>
          <a:p xmlns:a="http://schemas.openxmlformats.org/drawingml/2006/main">
            <a:r>
              <a:t>원자료: https://zeusk302-png.github.io/gyeongnam-ai-workshop/downloads/%EC%97%85%EB%AC%B4%EB%AC%B6%EC%9D%8C/37_%EC%9B%90%EB%AC%B8%EB%84%A4%EA%B0%9C_%ED%95%A9%EB%B3%B8.txt</a:t>
            </a:r>
          </a:p>
          <a:p xmlns:a="http://schemas.openxmlformats.org/drawingml/2006/main">
            <a:r>
              <a:t/>
            </a:r>
          </a:p>
          <a:p xmlns:a="http://schemas.openxmlformats.org/drawingml/2006/main">
            <a:r>
              <a:t>원자료: https://zeusk302-png.github.io/gyeongnam-ai-workshop/downloads/%EC%97%85%EB%AC%B4%EB%AC%B6%EC%9D%8C/35_%EB%B9%84%EA%B5%90%EC%83%98%ED%94%8C_%EC%84%B8%EA%B1%B4.txt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11. AI에 맡길 초안</a:t>
            </a:r>
          </a:p>
          <a:p xmlns:a="http://schemas.openxmlformats.org/drawingml/2006/main">
            <a:r>
              <a:t/>
            </a:r>
          </a:p>
          <a:p xmlns:a="http://schemas.openxmlformats.org/drawingml/2006/main">
            <a:r>
              <a:t>시간: 시작 후 23–24분, 1분 진행.</a:t>
            </a:r>
          </a:p>
          <a:p xmlns:a="http://schemas.openxmlformats.org/drawingml/2006/main">
            <a:r>
              <a:t/>
            </a:r>
          </a:p>
          <a:p xmlns:a="http://schemas.openxmlformats.org/drawingml/2006/main">
            <a:r>
              <a:t>말할 내용: 지금부터 파일 준비와 전송·대기를 합쳐 5분입니다. 같은 문의 ID로 온 메일을 묶어 30행을 만듭니다. 답장 5개와 내부 확인 요청, 공지 수정 3행도 초안으로 요청합니다. 60개 메시지가 60명 또는 60건의 신규 신청을 뜻하지는 않습니다.</a:t>
            </a:r>
          </a:p>
          <a:p xmlns:a="http://schemas.openxmlformats.org/drawingml/2006/main">
            <a:r>
              <a:t/>
            </a:r>
          </a:p>
          <a:p xmlns:a="http://schemas.openxmlformats.org/drawingml/2006/main">
            <a:r>
              <a:t>참가자에게 할 질문: 같은 문의의 후속 메일이 몇 개씩 있나요?</a:t>
            </a:r>
          </a:p>
          <a:p xmlns:a="http://schemas.openxmlformats.org/drawingml/2006/main">
            <a:r>
              <a:t/>
            </a:r>
          </a:p>
          <a:p xmlns:a="http://schemas.openxmlformats.org/drawingml/2006/main">
            <a:r>
              <a:t>예상 오류와 대응: 처리표 행 수가 맞는 것과 내용이 맞는 것은 따로 확인합니다.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"산출물",</a:t>
            </a:r>
          </a:p>
          <a:p xmlns:a="http://schemas.openxmlformats.org/drawingml/2006/main">
            <a:r>
              <a:t>    "필수 조건",</a:t>
            </a:r>
          </a:p>
          <a:p xmlns:a="http://schemas.openxmlformats.org/drawingml/2006/main">
            <a:r>
              <a:t>    "직접 확인할 것"</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"전체 처리표",</a:t>
            </a:r>
          </a:p>
          <a:p xmlns:a="http://schemas.openxmlformats.org/drawingml/2006/main">
            <a:r>
              <a:t>      "접수번호 30건 유지",</a:t>
            </a:r>
          </a:p>
          <a:p xmlns:a="http://schemas.openxmlformats.org/drawingml/2006/main">
            <a:r>
              <a:t>      "중복·누락·마지막 의사"</a:t>
            </a:r>
          </a:p>
          <a:p xmlns:a="http://schemas.openxmlformats.org/drawingml/2006/main">
            <a:r>
              <a:t>    ],</a:t>
            </a:r>
          </a:p>
          <a:p xmlns:a="http://schemas.openxmlformats.org/drawingml/2006/main">
            <a:r>
              <a:t>    [</a:t>
            </a:r>
          </a:p>
          <a:p xmlns:a="http://schemas.openxmlformats.org/drawingml/2006/main">
            <a:r>
              <a:t>      "우선 답장 5건",</a:t>
            </a:r>
          </a:p>
          <a:p xmlns:a="http://schemas.openxmlformats.org/drawingml/2006/main">
            <a:r>
              <a:t>      "참가자별 다음 행동 포함",</a:t>
            </a:r>
          </a:p>
          <a:p xmlns:a="http://schemas.openxmlformats.org/drawingml/2006/main">
            <a:r>
              <a:t>      "접수대장과 승인 범위"</a:t>
            </a:r>
          </a:p>
          <a:p xmlns:a="http://schemas.openxmlformats.org/drawingml/2006/main">
            <a:r>
              <a:t>    ],</a:t>
            </a:r>
          </a:p>
          <a:p xmlns:a="http://schemas.openxmlformats.org/drawingml/2006/main">
            <a:r>
              <a:t>    [</a:t>
            </a:r>
          </a:p>
          <a:p xmlns:a="http://schemas.openxmlformats.org/drawingml/2006/main">
            <a:r>
              <a:t>      "내부 확인 요청",</a:t>
            </a:r>
          </a:p>
          <a:p xmlns:a="http://schemas.openxmlformats.org/drawingml/2006/main">
            <a:r>
              <a:t>      "미확인 항목을 따로 정리",</a:t>
            </a:r>
          </a:p>
          <a:p xmlns:a="http://schemas.openxmlformats.org/drawingml/2006/main">
            <a:r>
              <a:t>      "담당과 질문의 근거"</a:t>
            </a:r>
          </a:p>
          <a:p xmlns:a="http://schemas.openxmlformats.org/drawingml/2006/main">
            <a:r>
              <a:t>    ],</a:t>
            </a:r>
          </a:p>
          <a:p xmlns:a="http://schemas.openxmlformats.org/drawingml/2006/main">
            <a:r>
              <a:t>    [</a:t>
            </a:r>
          </a:p>
          <a:p xmlns:a="http://schemas.openxmlformats.org/drawingml/2006/main">
            <a:r>
              <a:t>      "공지 수정 3행",</a:t>
            </a:r>
          </a:p>
          <a:p xmlns:a="http://schemas.openxmlformats.org/drawingml/2006/main">
            <a:r>
              <a:t>      "구문장과 새문장·근거 구분",</a:t>
            </a:r>
          </a:p>
          <a:p xmlns:a="http://schemas.openxmlformats.org/drawingml/2006/main">
            <a:r>
              <a:t>      "게시 완료로 바꾸지 않기"</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원자료: https://zeusk302-png.github.io/gyeongnam-ai-workshop/downloads/%EC%97%85%EB%AC%B4%EB%AC%B6%EC%9D%8C/31_%EA%B5%90%EC%A7%81%EC%9B%90%EC%97%B0%EC%88%98_%EC%9A%B4%EC%98%81%EA%B8%B0%EC%A4%80.txt</a:t>
            </a:r>
          </a:p>
          <a:p xmlns:a="http://schemas.openxmlformats.org/drawingml/2006/main">
            <a:r>
              <a:t/>
            </a:r>
          </a:p>
          <a:p xmlns:a="http://schemas.openxmlformats.org/drawingml/2006/main">
            <a:r>
              <a:t>원자료: https://zeusk302-png.github.io/gyeongnam-ai-workshop/downloads/%EC%97%85%EB%AC%B4%EB%AC%B6%EC%9D%8C/32_%EB%B3%80%EA%B2%BD%EC%8A%B9%EC%9D%B8_%EC%97%85%EB%AC%B4%ED%9A%8C%EC%8B%A0.txt</a:t>
            </a:r>
          </a:p>
          <a:p xmlns:a="http://schemas.openxmlformats.org/drawingml/2006/main">
            <a:r>
              <a:t/>
            </a:r>
          </a:p>
          <a:p xmlns:a="http://schemas.openxmlformats.org/drawingml/2006/main">
            <a:r>
              <a:t>원자료: https://zeusk302-png.github.io/gyeongnam-ai-workshop/downloads/%EC%97%85%EB%AC%B4%EB%AC%B6%EC%9D%8C/33_%EB%AC%B8%EC%9D%98%EB%A9%94%EC%9D%BC_60%EA%B0%9C.txt</a:t>
            </a:r>
          </a:p>
          <a:p xmlns:a="http://schemas.openxmlformats.org/drawingml/2006/main">
            <a:r>
              <a:t/>
            </a:r>
          </a:p>
          <a:p xmlns:a="http://schemas.openxmlformats.org/drawingml/2006/main">
            <a:r>
              <a:t>원자료: https://zeusk302-png.github.io/gyeongnam-ai-workshop/downloads/%EC%97%85%EB%AC%B4%EB%AC%B6%EC%9D%8C/34_%EC%A0%91%EC%88%98%EC%A2%8C%EC%84%9D_%ED%99%95%EC%9D%B8%EB%8C%80%EC%9E%A5.txt</a:t>
            </a:r>
          </a:p>
          <a:p xmlns:a="http://schemas.openxmlformats.org/drawingml/2006/main">
            <a:r>
              <a:t/>
            </a:r>
          </a:p>
          <a:p xmlns:a="http://schemas.openxmlformats.org/drawingml/2006/main">
            <a:r>
              <a:t>원자료: https://zeusk302-png.github.io/gyeongnam-ai-workshop/downloads/%EC%97%85%EB%AC%B4%EB%AC%B6%EC%9D%8C/36_%EB%B3%B5%EC%82%AC%EC%9A%A9_%EC%A7%88%EB%AC%B8.txt</a:t>
            </a:r>
          </a:p>
          <a:p xmlns:a="http://schemas.openxmlformats.org/drawingml/2006/main">
            <a:r>
              <a:t/>
            </a:r>
          </a:p>
          <a:p xmlns:a="http://schemas.openxmlformats.org/drawingml/2006/main">
            <a:r>
              <a:t>원자료: https://zeusk302-png.github.io/gyeongnam-ai-workshop/downloads/%EC%97%85%EB%AC%B4%EB%AC%B6%EC%9D%8C/37_%EC%9B%90%EB%AC%B8%EB%84%A4%EA%B0%9C_%ED%95%A9%EB%B3%B8.txt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12. 원문은 파일로, 질문은 짧게</a:t>
            </a:r>
          </a:p>
          <a:p xmlns:a="http://schemas.openxmlformats.org/drawingml/2006/main">
            <a:r>
              <a:t/>
            </a:r>
          </a:p>
          <a:p xmlns:a="http://schemas.openxmlformats.org/drawingml/2006/main">
            <a:r>
              <a:t>시간: 시작 후 24–26분, 2분 진행.</a:t>
            </a:r>
          </a:p>
          <a:p xmlns:a="http://schemas.openxmlformats.org/drawingml/2006/main">
            <a:r>
              <a:t/>
            </a:r>
          </a:p>
          <a:p xmlns:a="http://schemas.openxmlformats.org/drawingml/2006/main">
            <a:r>
              <a:t>말할 내용: 37_원문네개_합본.txt를 첨부한 실제 화면입니다. 마지막 메일 ML060과 끝 문단 L9가 들어 있는지 원문에서 확인합니다. 이전 긴 붙여넣기 시험에서는 원문 뒷부분이 빠졌습니다. 원인은 확인하지 않았으므로 서비스의 글자 수 한도로 설명하지 않습니다. 합본 첨부 후 전체 요청도 완료되지 않았고, 후속 세 건 조회만 확인됐습니다. 남은 입력·대기 시간을 포함해 5분을 넘기지 않습니다.</a:t>
            </a:r>
          </a:p>
          <a:p xmlns:a="http://schemas.openxmlformats.org/drawingml/2006/main">
            <a:r>
              <a:t/>
            </a:r>
          </a:p>
          <a:p xmlns:a="http://schemas.openxmlformats.org/drawingml/2006/main">
            <a:r>
              <a:t>참가자에게 할 질문: 첨부한 파일 이름이 37번 합본인가요?</a:t>
            </a:r>
          </a:p>
          <a:p xmlns:a="http://schemas.openxmlformats.org/drawingml/2006/main">
            <a:r>
              <a:t/>
            </a:r>
          </a:p>
          <a:p xmlns:a="http://schemas.openxmlformats.org/drawingml/2006/main">
            <a:r>
              <a:t>예상 오류와 대응: 첨부 성공을 답변 생성 성공으로 설명하지 않습니다.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화면 설명: 실제 Gemini 입력 화면 · 2026-09-28</a:t>
            </a:r>
          </a:p>
          <a:p xmlns:a="http://schemas.openxmlformats.org/drawingml/2006/main">
            <a:r>
              <a:t/>
            </a:r>
          </a:p>
          <a:p xmlns:a="http://schemas.openxmlformats.org/drawingml/2006/main">
            <a:r>
              <a:t>화면 원본: assets/captures/w06-gemini-batch30-upload.png</a:t>
            </a:r>
          </a:p>
          <a:p xmlns:a="http://schemas.openxmlformats.org/drawingml/2006/main">
            <a:r>
              <a:t/>
            </a:r>
          </a:p>
          <a:p xmlns:a="http://schemas.openxmlformats.org/drawingml/2006/main">
            <a:r>
              <a:t>원자료: https://zeusk302-png.github.io/gyeongnam-ai-workshop/downloads/%EC%97%85%EB%AC%B4%EB%AC%B6%EC%9D%8C/31_%EA%B5%90%EC%A7%81%EC%9B%90%EC%97%B0%EC%88%98_%EC%9A%B4%EC%98%81%EA%B8%B0%EC%A4%80.txt</a:t>
            </a:r>
          </a:p>
          <a:p xmlns:a="http://schemas.openxmlformats.org/drawingml/2006/main">
            <a:r>
              <a:t/>
            </a:r>
          </a:p>
          <a:p xmlns:a="http://schemas.openxmlformats.org/drawingml/2006/main">
            <a:r>
              <a:t>원자료: https://zeusk302-png.github.io/gyeongnam-ai-workshop/downloads/%EC%97%85%EB%AC%B4%EB%AC%B6%EC%9D%8C/32_%EB%B3%80%EA%B2%BD%EC%8A%B9%EC%9D%B8_%EC%97%85%EB%AC%B4%ED%9A%8C%EC%8B%A0.txt</a:t>
            </a:r>
          </a:p>
          <a:p xmlns:a="http://schemas.openxmlformats.org/drawingml/2006/main">
            <a:r>
              <a:t/>
            </a:r>
          </a:p>
          <a:p xmlns:a="http://schemas.openxmlformats.org/drawingml/2006/main">
            <a:r>
              <a:t>원자료: https://zeusk302-png.github.io/gyeongnam-ai-workshop/downloads/%EC%97%85%EB%AC%B4%EB%AC%B6%EC%9D%8C/33_%EB%AC%B8%EC%9D%98%EB%A9%94%EC%9D%BC_60%EA%B0%9C.txt</a:t>
            </a:r>
          </a:p>
          <a:p xmlns:a="http://schemas.openxmlformats.org/drawingml/2006/main">
            <a:r>
              <a:t/>
            </a:r>
          </a:p>
          <a:p xmlns:a="http://schemas.openxmlformats.org/drawingml/2006/main">
            <a:r>
              <a:t>원자료: https://zeusk302-png.github.io/gyeongnam-ai-workshop/downloads/%EC%97%85%EB%AC%B4%EB%AC%B6%EC%9D%8C/34_%EC%A0%91%EC%88%98%EC%A2%8C%EC%84%9D_%ED%99%95%EC%9D%B8%EB%8C%80%EC%9E%A5.txt</a:t>
            </a:r>
          </a:p>
          <a:p xmlns:a="http://schemas.openxmlformats.org/drawingml/2006/main">
            <a:r>
              <a:t/>
            </a:r>
          </a:p>
          <a:p xmlns:a="http://schemas.openxmlformats.org/drawingml/2006/main">
            <a:r>
              <a:t>원자료: https://zeusk302-png.github.io/gyeongnam-ai-workshop/downloads/%EC%97%85%EB%AC%B4%EB%AC%B6%EC%9D%8C/36_%EB%B3%B5%EC%82%AC%EC%9A%A9_%EC%A7%88%EB%AC%B8.txt</a:t>
            </a:r>
          </a:p>
          <a:p xmlns:a="http://schemas.openxmlformats.org/drawingml/2006/main">
            <a:r>
              <a:t/>
            </a:r>
          </a:p>
          <a:p xmlns:a="http://schemas.openxmlformats.org/drawingml/2006/main">
            <a:r>
              <a:t>원자료: https://zeusk302-png.github.io/gyeongnam-ai-workshop/downloads/%EC%97%85%EB%AC%B4%EB%AC%B6%EC%9D%8C/37_%EC%9B%90%EB%AC%B8%EB%84%A4%EA%B0%9C_%ED%95%A9%EB%B3%B8.txt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13. 30행이 나오지 않았다면</a:t>
            </a:r>
          </a:p>
          <a:p xmlns:a="http://schemas.openxmlformats.org/drawingml/2006/main">
            <a:r>
              <a:t/>
            </a:r>
          </a:p>
          <a:p xmlns:a="http://schemas.openxmlformats.org/drawingml/2006/main">
            <a:r>
              <a:t>시간: 시작 후 26–28분, 2분 진행.</a:t>
            </a:r>
          </a:p>
          <a:p xmlns:a="http://schemas.openxmlformats.org/drawingml/2006/main">
            <a:r>
              <a:t/>
            </a:r>
          </a:p>
          <a:p xmlns:a="http://schemas.openxmlformats.org/drawingml/2006/main">
            <a:r>
              <a:t>말할 내용: 2026-09-28 시험에서 전체 요청은 도움 불가 응답으로 끝났고, 후속 30행 요청도 Q01~Q07 도중 중단됐습니다. 후속 세 건 조회에서는 Q01 확정, Q04 취소, Q12 대기가 대장과 맞았습니다. 파일 준비·입력·대기 5분 내 실패하면 반복 생성하지 않습니다. 90번 교사 예시에서 같은 세 행만 열어 검토합니다. 교사 예시는 교사가 쓴 자료이고 AI의 성능 비교에 쓰지 않습니다.</a:t>
            </a:r>
          </a:p>
          <a:p xmlns:a="http://schemas.openxmlformats.org/drawingml/2006/main">
            <a:r>
              <a:t/>
            </a:r>
          </a:p>
          <a:p xmlns:a="http://schemas.openxmlformats.org/drawingml/2006/main">
            <a:r>
              <a:t>참가자에게 할 질문: 이번에는 어디까지 응답을 받았나요?</a:t>
            </a:r>
          </a:p>
          <a:p xmlns:a="http://schemas.openxmlformats.org/drawingml/2006/main">
            <a:r>
              <a:t/>
            </a:r>
          </a:p>
          <a:p xmlns:a="http://schemas.openxmlformats.org/drawingml/2006/main">
            <a:r>
              <a:t>예상 오류와 대응: 세 행 조회 성공을 전체 30행 생성 성공으로 말하지 않습니다.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실습 안내: 받은 응답을 저장하고 범위를 확인</a:t>
            </a:r>
          </a:p>
          <a:p xmlns:a="http://schemas.openxmlformats.org/drawingml/2006/main">
            <a:r>
              <a:t/>
            </a:r>
          </a:p>
          <a:p xmlns:a="http://schemas.openxmlformats.org/drawingml/2006/main">
            <a:r>
              <a:t>진행 순서: 문의 ID의 중복·누락 확인 / 5분 안에 실패하면 교사 예시로 전환 / Q01·Q04·Q12 세 행 검토 계속</a:t>
            </a:r>
          </a:p>
          <a:p xmlns:a="http://schemas.openxmlformats.org/drawingml/2006/main">
            <a:r>
              <a:t/>
            </a:r>
          </a:p>
          <a:p xmlns:a="http://schemas.openxmlformats.org/drawingml/2006/main">
            <a:r>
              <a:t>남길 결과: 받은 응답 또는 실패 기록</a:t>
            </a:r>
          </a:p>
          <a:p xmlns:a="http://schemas.openxmlformats.org/drawingml/2006/main">
            <a:r>
              <a:t/>
            </a:r>
          </a:p>
          <a:p xmlns:a="http://schemas.openxmlformats.org/drawingml/2006/main">
            <a:r>
              <a:t>원자료: https://zeusk302-png.github.io/gyeongnam-ai-workshop/downloads/%EC%97%85%EB%AC%B4%EB%AC%B6%EC%9D%8C/31_%EA%B5%90%EC%A7%81%EC%9B%90%EC%97%B0%EC%88%98_%EC%9A%B4%EC%98%81%EA%B8%B0%EC%A4%80.txt</a:t>
            </a:r>
          </a:p>
          <a:p xmlns:a="http://schemas.openxmlformats.org/drawingml/2006/main">
            <a:r>
              <a:t/>
            </a:r>
          </a:p>
          <a:p xmlns:a="http://schemas.openxmlformats.org/drawingml/2006/main">
            <a:r>
              <a:t>원자료: https://zeusk302-png.github.io/gyeongnam-ai-workshop/downloads/%EC%97%85%EB%AC%B4%EB%AC%B6%EC%9D%8C/32_%EB%B3%80%EA%B2%BD%EC%8A%B9%EC%9D%B8_%EC%97%85%EB%AC%B4%ED%9A%8C%EC%8B%A0.txt</a:t>
            </a:r>
          </a:p>
          <a:p xmlns:a="http://schemas.openxmlformats.org/drawingml/2006/main">
            <a:r>
              <a:t/>
            </a:r>
          </a:p>
          <a:p xmlns:a="http://schemas.openxmlformats.org/drawingml/2006/main">
            <a:r>
              <a:t>원자료: https://zeusk302-png.github.io/gyeongnam-ai-workshop/downloads/%EC%97%85%EB%AC%B4%EB%AC%B6%EC%9D%8C/33_%EB%AC%B8%EC%9D%98%EB%A9%94%EC%9D%BC_60%EA%B0%9C.txt</a:t>
            </a:r>
          </a:p>
          <a:p xmlns:a="http://schemas.openxmlformats.org/drawingml/2006/main">
            <a:r>
              <a:t/>
            </a:r>
          </a:p>
          <a:p xmlns:a="http://schemas.openxmlformats.org/drawingml/2006/main">
            <a:r>
              <a:t>원자료: https://zeusk302-png.github.io/gyeongnam-ai-workshop/downloads/%EC%97%85%EB%AC%B4%EB%AC%B6%EC%9D%8C/34_%EC%A0%91%EC%88%98%EC%A2%8C%EC%84%9D_%ED%99%95%EC%9D%B8%EB%8C%80%EC%9E%A5.txt</a:t>
            </a:r>
          </a:p>
          <a:p xmlns:a="http://schemas.openxmlformats.org/drawingml/2006/main">
            <a:r>
              <a:t/>
            </a:r>
          </a:p>
          <a:p xmlns:a="http://schemas.openxmlformats.org/drawingml/2006/main">
            <a:r>
              <a:t>원자료: https://zeusk302-png.github.io/gyeongnam-ai-workshop/downloads/%EC%97%85%EB%AC%B4%EB%AC%B6%EC%9D%8C/36_%EB%B3%B5%EC%82%AC%EC%9A%A9_%EC%A7%88%EB%AC%B8.txt</a:t>
            </a:r>
          </a:p>
          <a:p xmlns:a="http://schemas.openxmlformats.org/drawingml/2006/main">
            <a:r>
              <a:t/>
            </a:r>
          </a:p>
          <a:p xmlns:a="http://schemas.openxmlformats.org/drawingml/2006/main">
            <a:r>
              <a:t>원자료: https://zeusk302-png.github.io/gyeongnam-ai-workshop/downloads/%EC%97%85%EB%AC%B4%EB%AC%B6%EC%9D%8C/37_%EC%9B%90%EB%AC%B8%EB%84%A4%EA%B0%9C_%ED%95%A9%EB%B3%B8.txt</a:t>
            </a:r>
          </a:p>
          <a:p xmlns:a="http://schemas.openxmlformats.org/drawingml/2006/main">
            <a:r>
              <a:t/>
            </a:r>
          </a:p>
          <a:p xmlns:a="http://schemas.openxmlformats.org/drawingml/2006/main">
            <a:r>
              <a:t>원자료: https://zeusk302-png.github.io/gyeongnam-ai-workshop/downloads/%EC%97%85%EB%AC%B4%EB%AC%B6%EC%9D%8C/90_%EB%8C%80%ED%91%9C%EC%8B%A4%EC%8A%B5_%ED%95%B4%EC%84%A4.md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14. 복구 요청과 복구 승인은 다릅니다</a:t>
            </a:r>
          </a:p>
          <a:p xmlns:a="http://schemas.openxmlformats.org/drawingml/2006/main">
            <a:r>
              <a:t/>
            </a:r>
          </a:p>
          <a:p xmlns:a="http://schemas.openxmlformats.org/drawingml/2006/main">
            <a:r>
              <a:t>시간: 시작 후 28–33분, 5분 진행.</a:t>
            </a:r>
          </a:p>
          <a:p xmlns:a="http://schemas.openxmlformats.org/drawingml/2006/main">
            <a:r>
              <a:t/>
            </a:r>
          </a:p>
          <a:p xmlns:a="http://schemas.openxmlformats.org/drawingml/2006/main">
            <a:r>
              <a:t>말할 내용: 5분 중 1분은 짝이 서로 다른 자료를 읽습니다. Q01은 11월 20일 14~17시 202호, 개인 노트북·충전기, 재신청 불필요를 확인합니다. Q04는 14:10 취소가 반영됐고 15:35 복구를 요청했으나 승인 기록은 없습니다. Q12는 대기 상태이며 추가 추천·기관 간 배정 검토가 승인이 아닙니다. AI 응답이 있으면 교사 예시를 먼저 보지 않고 원문에서 확인합니다.</a:t>
            </a:r>
          </a:p>
          <a:p xmlns:a="http://schemas.openxmlformats.org/drawingml/2006/main">
            <a:r>
              <a:t/>
            </a:r>
          </a:p>
          <a:p xmlns:a="http://schemas.openxmlformats.org/drawingml/2006/main">
            <a:r>
              <a:t>참가자에게 할 질문: 확정이라고 쓴 문장 바로 옆에 승인 기록이 있나요?</a:t>
            </a:r>
          </a:p>
          <a:p xmlns:a="http://schemas.openxmlformats.org/drawingml/2006/main">
            <a:r>
              <a:t/>
            </a:r>
          </a:p>
          <a:p xmlns:a="http://schemas.openxmlformats.org/drawingml/2006/main">
            <a:r>
              <a:t>예상 오류와 대응: 교사 예시를 썼다면 AI 답변을 검증했다고 기록하지 않습니다.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실습 안내: 같은 세 행을 원문과 나란히 비교</a:t>
            </a:r>
          </a:p>
          <a:p xmlns:a="http://schemas.openxmlformats.org/drawingml/2006/main">
            <a:r>
              <a:t/>
            </a:r>
          </a:p>
          <a:p xmlns:a="http://schemas.openxmlformats.org/drawingml/2006/main">
            <a:r>
              <a:t>진행 순서: Q01의 장소·준비물 확인 / Q04의 취소 반영·복구 요청 구분 / Q12의 대기·예외 검토 구분</a:t>
            </a:r>
          </a:p>
          <a:p xmlns:a="http://schemas.openxmlformats.org/drawingml/2006/main">
            <a:r>
              <a:t/>
            </a:r>
          </a:p>
          <a:p xmlns:a="http://schemas.openxmlformats.org/drawingml/2006/main">
            <a:r>
              <a:t>남길 결과: 수정할 문장과 해당 원문 ID</a:t>
            </a:r>
          </a:p>
          <a:p xmlns:a="http://schemas.openxmlformats.org/drawingml/2006/main">
            <a:r>
              <a:t/>
            </a:r>
          </a:p>
          <a:p xmlns:a="http://schemas.openxmlformats.org/drawingml/2006/main">
            <a:r>
              <a:t>참여 진행: {"kind":"pair","seconds":60,"prompt":"한 사람은 답변을, 한 사람은 대장을 읽습니다."}</a:t>
            </a:r>
          </a:p>
          <a:p xmlns:a="http://schemas.openxmlformats.org/drawingml/2006/main">
            <a:r>
              <a:t/>
            </a:r>
          </a:p>
          <a:p xmlns:a="http://schemas.openxmlformats.org/drawingml/2006/main">
            <a:r>
              <a:t>원자료: https://zeusk302-png.github.io/gyeongnam-ai-workshop/downloads/%EC%97%85%EB%AC%B4%EB%AC%B6%EC%9D%8C/31_%EA%B5%90%EC%A7%81%EC%9B%90%EC%97%B0%EC%88%98_%EC%9A%B4%EC%98%81%EA%B8%B0%EC%A4%80.txt</a:t>
            </a:r>
          </a:p>
          <a:p xmlns:a="http://schemas.openxmlformats.org/drawingml/2006/main">
            <a:r>
              <a:t/>
            </a:r>
          </a:p>
          <a:p xmlns:a="http://schemas.openxmlformats.org/drawingml/2006/main">
            <a:r>
              <a:t>원자료: https://zeusk302-png.github.io/gyeongnam-ai-workshop/downloads/%EC%97%85%EB%AC%B4%EB%AC%B6%EC%9D%8C/32_%EB%B3%80%EA%B2%BD%EC%8A%B9%EC%9D%B8_%EC%97%85%EB%AC%B4%ED%9A%8C%EC%8B%A0.txt</a:t>
            </a:r>
          </a:p>
          <a:p xmlns:a="http://schemas.openxmlformats.org/drawingml/2006/main">
            <a:r>
              <a:t/>
            </a:r>
          </a:p>
          <a:p xmlns:a="http://schemas.openxmlformats.org/drawingml/2006/main">
            <a:r>
              <a:t>원자료: https://zeusk302-png.github.io/gyeongnam-ai-workshop/downloads/%EC%97%85%EB%AC%B4%EB%AC%B6%EC%9D%8C/33_%EB%AC%B8%EC%9D%98%EB%A9%94%EC%9D%BC_60%EA%B0%9C.txt</a:t>
            </a:r>
          </a:p>
          <a:p xmlns:a="http://schemas.openxmlformats.org/drawingml/2006/main">
            <a:r>
              <a:t/>
            </a:r>
          </a:p>
          <a:p xmlns:a="http://schemas.openxmlformats.org/drawingml/2006/main">
            <a:r>
              <a:t>원자료: https://zeusk302-png.github.io/gyeongnam-ai-workshop/downloads/%EC%97%85%EB%AC%B4%EB%AC%B6%EC%9D%8C/34_%EC%A0%91%EC%88%98%EC%A2%8C%EC%84%9D_%ED%99%95%EC%9D%B8%EB%8C%80%EC%9E%A5.txt</a:t>
            </a:r>
          </a:p>
          <a:p xmlns:a="http://schemas.openxmlformats.org/drawingml/2006/main">
            <a:r>
              <a:t/>
            </a:r>
          </a:p>
          <a:p xmlns:a="http://schemas.openxmlformats.org/drawingml/2006/main">
            <a:r>
              <a:t>원자료: https://zeusk302-png.github.io/gyeongnam-ai-workshop/downloads/%EC%97%85%EB%AC%B4%EB%AC%B6%EC%9D%8C/36_%EB%B3%B5%EC%82%AC%EC%9A%A9_%EC%A7%88%EB%AC%B8.txt</a:t>
            </a:r>
          </a:p>
          <a:p xmlns:a="http://schemas.openxmlformats.org/drawingml/2006/main">
            <a:r>
              <a:t/>
            </a:r>
          </a:p>
          <a:p xmlns:a="http://schemas.openxmlformats.org/drawingml/2006/main">
            <a:r>
              <a:t>원자료: https://zeusk302-png.github.io/gyeongnam-ai-workshop/downloads/%EC%97%85%EB%AC%B4%EB%AC%B6%EC%9D%8C/37_%EC%9B%90%EB%AC%B8%EB%84%A4%EA%B0%9C_%ED%95%A9%EB%B3%B8.txt</a:t>
            </a:r>
          </a:p>
          <a:p xmlns:a="http://schemas.openxmlformats.org/drawingml/2006/main">
            <a:r>
              <a:t/>
            </a:r>
          </a:p>
          <a:p xmlns:a="http://schemas.openxmlformats.org/drawingml/2006/main">
            <a:r>
              <a:t>원자료: https://zeusk302-png.github.io/gyeongnam-ai-workshop/downloads/%EC%97%85%EB%AC%B4%EB%AC%B6%EC%9D%8C/90_%EB%8C%80%ED%91%9C%EC%8B%A4%EC%8A%B5_%ED%95%B4%EC%84%A4.md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15. 다음에도 이 방법을 쓸까요?</a:t>
            </a:r>
          </a:p>
          <a:p xmlns:a="http://schemas.openxmlformats.org/drawingml/2006/main">
            <a:r>
              <a:t/>
            </a:r>
          </a:p>
          <a:p xmlns:a="http://schemas.openxmlformats.org/drawingml/2006/main">
            <a:r>
              <a:t>시간: 시작 후 33–38분, 5분 진행.</a:t>
            </a:r>
          </a:p>
          <a:p xmlns:a="http://schemas.openxmlformats.org/drawingml/2006/main">
            <a:r>
              <a:t/>
            </a:r>
          </a:p>
          <a:p xmlns:a="http://schemas.openxmlformats.org/drawingml/2006/main">
            <a:r>
              <a:t>말할 내용: 5분간 세 행을 고치고 이번 방식이 편했는지 기록합니다. 같은 세 건, 같은 여섯 열, 같은 검토 기준으로 비교합니다. 30행 전체와 세 행 수작업의 시간을 그대로 비교하지 않습니다. 교사 예시로 전환했다면 AI 실행 미완료와 원문 검토 결과를 따로 남깁니다.</a:t>
            </a:r>
          </a:p>
          <a:p xmlns:a="http://schemas.openxmlformats.org/drawingml/2006/main">
            <a:r>
              <a:t/>
            </a:r>
          </a:p>
          <a:p xmlns:a="http://schemas.openxmlformats.org/drawingml/2006/main">
            <a:r>
              <a:t>참가자에게 할 질문: 직접 처리할 때보다 줄어든 일과 늘어난 일은 무엇인가요?</a:t>
            </a:r>
          </a:p>
          <a:p xmlns:a="http://schemas.openxmlformats.org/drawingml/2006/main">
            <a:r>
              <a:t/>
            </a:r>
          </a:p>
          <a:p xmlns:a="http://schemas.openxmlformats.org/drawingml/2006/main">
            <a:r>
              <a:t>예상 오류와 대응: 한 번의 연습을 일반적인 효율 개선 수치로 발표하지 않습니다.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"기록할 항목",</a:t>
            </a:r>
          </a:p>
          <a:p xmlns:a="http://schemas.openxmlformats.org/drawingml/2006/main">
            <a:r>
              <a:t>    "남길 내용"</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"투입 시간",</a:t>
            </a:r>
          </a:p>
          <a:p xmlns:a="http://schemas.openxmlformats.org/drawingml/2006/main">
            <a:r>
              <a:t>      "입력 준비·기다림·검토·수정을 따로 기록"</a:t>
            </a:r>
          </a:p>
          <a:p xmlns:a="http://schemas.openxmlformats.org/drawingml/2006/main">
            <a:r>
              <a:t>    ],</a:t>
            </a:r>
          </a:p>
          <a:p xmlns:a="http://schemas.openxmlformats.org/drawingml/2006/main">
            <a:r>
              <a:t>    [</a:t>
            </a:r>
          </a:p>
          <a:p xmlns:a="http://schemas.openxmlformats.org/drawingml/2006/main">
            <a:r>
              <a:t>      "품질과 미완료",</a:t>
            </a:r>
          </a:p>
          <a:p xmlns:a="http://schemas.openxmlformats.org/drawingml/2006/main">
            <a:r>
              <a:t>      "수정한 3행·남은 27행·미검토 답장 구분"</a:t>
            </a:r>
          </a:p>
          <a:p xmlns:a="http://schemas.openxmlformats.org/drawingml/2006/main">
            <a:r>
              <a:t>    ],</a:t>
            </a:r>
          </a:p>
          <a:p xmlns:a="http://schemas.openxmlformats.org/drawingml/2006/main">
            <a:r>
              <a:t>    [</a:t>
            </a:r>
          </a:p>
          <a:p xmlns:a="http://schemas.openxmlformats.org/drawingml/2006/main">
            <a:r>
              <a:t>      "같은 3건 비교",</a:t>
            </a:r>
          </a:p>
          <a:p xmlns:a="http://schemas.openxmlformats.org/drawingml/2006/main">
            <a:r>
              <a:t>      "같은 근거와 완료 기준을 적용한 결과"</a:t>
            </a:r>
          </a:p>
          <a:p xmlns:a="http://schemas.openxmlformats.org/drawingml/2006/main">
            <a:r>
              <a:t>    ],</a:t>
            </a:r>
          </a:p>
          <a:p xmlns:a="http://schemas.openxmlformats.org/drawingml/2006/main">
            <a:r>
              <a:t>    [</a:t>
            </a:r>
          </a:p>
          <a:p xmlns:a="http://schemas.openxmlformats.org/drawingml/2006/main">
            <a:r>
              <a:t>      "다음 업무의 선택",</a:t>
            </a:r>
          </a:p>
          <a:p xmlns:a="http://schemas.openxmlformats.org/drawingml/2006/main">
            <a:r>
              <a:t>      "직접 작성·서식·스프레드시트·AI 중 선택"</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원자료: https://zeusk302-png.github.io/gyeongnam-ai-workshop/downloads/%EC%97%85%EB%AC%B4%EB%AC%B6%EC%9D%8C/31_%EA%B5%90%EC%A7%81%EC%9B%90%EC%97%B0%EC%88%98_%EC%9A%B4%EC%98%81%EA%B8%B0%EC%A4%80.txt</a:t>
            </a:r>
          </a:p>
          <a:p xmlns:a="http://schemas.openxmlformats.org/drawingml/2006/main">
            <a:r>
              <a:t/>
            </a:r>
          </a:p>
          <a:p xmlns:a="http://schemas.openxmlformats.org/drawingml/2006/main">
            <a:r>
              <a:t>원자료: https://zeusk302-png.github.io/gyeongnam-ai-workshop/downloads/%EC%97%85%EB%AC%B4%EB%AC%B6%EC%9D%8C/32_%EB%B3%80%EA%B2%BD%EC%8A%B9%EC%9D%B8_%EC%97%85%EB%AC%B4%ED%9A%8C%EC%8B%A0.txt</a:t>
            </a:r>
          </a:p>
          <a:p xmlns:a="http://schemas.openxmlformats.org/drawingml/2006/main">
            <a:r>
              <a:t/>
            </a:r>
          </a:p>
          <a:p xmlns:a="http://schemas.openxmlformats.org/drawingml/2006/main">
            <a:r>
              <a:t>원자료: https://zeusk302-png.github.io/gyeongnam-ai-workshop/downloads/%EC%97%85%EB%AC%B4%EB%AC%B6%EC%9D%8C/33_%EB%AC%B8%EC%9D%98%EB%A9%94%EC%9D%BC_60%EA%B0%9C.txt</a:t>
            </a:r>
          </a:p>
          <a:p xmlns:a="http://schemas.openxmlformats.org/drawingml/2006/main">
            <a:r>
              <a:t/>
            </a:r>
          </a:p>
          <a:p xmlns:a="http://schemas.openxmlformats.org/drawingml/2006/main">
            <a:r>
              <a:t>원자료: https://zeusk302-png.github.io/gyeongnam-ai-workshop/downloads/%EC%97%85%EB%AC%B4%EB%AC%B6%EC%9D%8C/34_%EC%A0%91%EC%88%98%EC%A2%8C%EC%84%9D_%ED%99%95%EC%9D%B8%EB%8C%80%EC%9E%A5.txt</a:t>
            </a:r>
          </a:p>
          <a:p xmlns:a="http://schemas.openxmlformats.org/drawingml/2006/main">
            <a:r>
              <a:t/>
            </a:r>
          </a:p>
          <a:p xmlns:a="http://schemas.openxmlformats.org/drawingml/2006/main">
            <a:r>
              <a:t>원자료: https://zeusk302-png.github.io/gyeongnam-ai-workshop/downloads/%EC%97%85%EB%AC%B4%EB%AC%B6%EC%9D%8C/36_%EB%B3%B5%EC%82%AC%EC%9A%A9_%EC%A7%88%EB%AC%B8.txt</a:t>
            </a:r>
          </a:p>
          <a:p xmlns:a="http://schemas.openxmlformats.org/drawingml/2006/main">
            <a:r>
              <a:t/>
            </a:r>
          </a:p>
          <a:p xmlns:a="http://schemas.openxmlformats.org/drawingml/2006/main">
            <a:r>
              <a:t>원자료: https://zeusk302-png.github.io/gyeongnam-ai-workshop/downloads/%EC%97%85%EB%AC%B4%EB%AC%B6%EC%9D%8C/37_%EC%9B%90%EB%AC%B8%EB%84%A4%EA%B0%9C_%ED%95%A9%EB%B3%B8.txt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16. 회의에서 날짜가 두 번 바뀌었습니다</a:t>
            </a:r>
          </a:p>
          <a:p xmlns:a="http://schemas.openxmlformats.org/drawingml/2006/main">
            <a:r>
              <a:t/>
            </a:r>
          </a:p>
          <a:p xmlns:a="http://schemas.openxmlformats.org/drawingml/2006/main">
            <a:r>
              <a:t>시간: 시작 후 38–40분, 2분 진행.</a:t>
            </a:r>
          </a:p>
          <a:p xmlns:a="http://schemas.openxmlformats.org/drawingml/2006/main">
            <a:r>
              <a:t/>
            </a:r>
          </a:p>
          <a:p xmlns:a="http://schemas.openxmlformats.org/drawingml/2006/main">
            <a:r>
              <a:t>말할 내용: 이제 10월 30일 워크숍이라는 별도 사례로 바뀝니다. 앞의 11월 공동연수와 섞지 않습니다. 같은 발언 묶음에서 21일이 20일로 정정됐습니다. 날짜 하나만 찾는 문제가 아니라 같은 업무의 변경 전후를 연결하는 사례입니다.</a:t>
            </a:r>
          </a:p>
          <a:p xmlns:a="http://schemas.openxmlformats.org/drawingml/2006/main">
            <a:r>
              <a:t/>
            </a:r>
          </a:p>
          <a:p xmlns:a="http://schemas.openxmlformats.org/drawingml/2006/main">
            <a:r>
              <a:t>참가자에게 할 질문: 정정 전 날짜도 남길 필요가 있을까요?</a:t>
            </a:r>
          </a:p>
          <a:p xmlns:a="http://schemas.openxmlformats.org/drawingml/2006/main">
            <a:r>
              <a:t/>
            </a:r>
          </a:p>
          <a:p xmlns:a="http://schemas.openxmlformats.org/drawingml/2006/main">
            <a:r>
              <a:t>예상 오류와 대응: 나중에 받는 변경 공지를 당시 회의 내용에 섞지 않습니다.</a:t>
            </a:r>
          </a:p>
          <a:p xmlns:a="http://schemas.openxmlformats.org/drawingml/2006/main">
            <a:r>
              <a:t/>
            </a:r>
          </a:p>
          <a:p xmlns:a="http://schemas.openxmlformats.org/drawingml/2006/main">
            <a:r>
              <a:t>수업 링크: https://zeusk302-png.github.io/gyeongnam-ai-workshop/#g-meeting</a:t>
            </a:r>
          </a:p>
          <a:p xmlns:a="http://schemas.openxmlformats.org/drawingml/2006/main">
            <a:r>
              <a:t/>
            </a:r>
          </a:p>
          <a:p xmlns:a="http://schemas.openxmlformats.org/drawingml/2006/main">
            <a:r>
              <a:t>참여 진행: {"kind":"vote","seconds":20,"prompt":"현재 마감일을 고른 뒤, 정정 위치를 가리킵니다."}</a:t>
            </a:r>
          </a:p>
          <a:p xmlns:a="http://schemas.openxmlformats.org/drawingml/2006/main">
            <a:r>
              <a:t/>
            </a:r>
          </a:p>
          <a:p xmlns:a="http://schemas.openxmlformats.org/drawingml/2006/main">
            <a:r>
              <a:t>답 공개 참고: {"questionSlide":16,"answerSlide":17,"answer":"A. 현재 마감은 10월 20일입니다. 정정 전 21일은 변경 기록에 남깁니다.","evidence":"12번 회의 14:33 시설담당 정정 발언","role":"question"}</a:t>
            </a:r>
          </a:p>
          <a:p xmlns:a="http://schemas.openxmlformats.org/drawingml/2006/main">
            <a:r>
              <a:t/>
            </a:r>
          </a:p>
          <a:p xmlns:a="http://schemas.openxmlformats.org/drawingml/2006/main">
            <a:r>
              <a:t>원자료: https://zeusk302-png.github.io/gyeongnam-ai-workshop/downloads/%ED%99%95%EC%9E%A5/12_Gemini_%EC%9A%B4%EC%98%81%ED%9A%8C%EC%9D%98_%EC%83%81%EC%84%B8%EA%B8%B0%EB%A1%9D.txt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17. 현재 마감은 10월 20일</a:t>
            </a:r>
          </a:p>
          <a:p xmlns:a="http://schemas.openxmlformats.org/drawingml/2006/main">
            <a:r>
              <a:t/>
            </a:r>
          </a:p>
          <a:p xmlns:a="http://schemas.openxmlformats.org/drawingml/2006/main">
            <a:r>
              <a:t>시간: 시작 후 40–44분, 4분 진행.</a:t>
            </a:r>
          </a:p>
          <a:p xmlns:a="http://schemas.openxmlformats.org/drawingml/2006/main">
            <a:r>
              <a:t/>
            </a:r>
          </a:p>
          <a:p xmlns:a="http://schemas.openxmlformats.org/drawingml/2006/main">
            <a:r>
              <a:t>말할 내용: 정답은 A입니다. 14:33 시설담당이 10월 20일까지 점검하겠다고 정정했습니다. 이제 전체 회의 기록으로 업무표를 만들게 합니다. 4분 동안 최종 결정, 담당과 마감, 보류된 안건을 정리합니다. 시설 점검이 개별 참가자의 계정 로그인까지 완료한 뜻은 아닙니다.</a:t>
            </a:r>
          </a:p>
          <a:p xmlns:a="http://schemas.openxmlformats.org/drawingml/2006/main">
            <a:r>
              <a:t/>
            </a:r>
          </a:p>
          <a:p xmlns:a="http://schemas.openxmlformats.org/drawingml/2006/main">
            <a:r>
              <a:t>참가자에게 할 질문: 업무마다 누가, 언제까지, 무엇을 하기로 했나요?</a:t>
            </a:r>
          </a:p>
          <a:p xmlns:a="http://schemas.openxmlformats.org/drawingml/2006/main">
            <a:r>
              <a:t/>
            </a:r>
          </a:p>
          <a:p xmlns:a="http://schemas.openxmlformats.org/drawingml/2006/main">
            <a:r>
              <a:t>예상 오류와 대응: 정정 전후를 서로 다른 두 업무로 늘리지 않습니다.</a:t>
            </a:r>
          </a:p>
          <a:p xmlns:a="http://schemas.openxmlformats.org/drawingml/2006/main">
            <a:r>
              <a:t/>
            </a:r>
          </a:p>
          <a:p xmlns:a="http://schemas.openxmlformats.org/drawingml/2006/main">
            <a:r>
              <a:t>수업 링크: https://zeusk302-png.github.io/gyeongnam-ai-workshop/#g-meeting</a:t>
            </a:r>
          </a:p>
          <a:p xmlns:a="http://schemas.openxmlformats.org/drawingml/2006/main">
            <a:r>
              <a:t/>
            </a:r>
          </a:p>
          <a:p xmlns:a="http://schemas.openxmlformats.org/drawingml/2006/main">
            <a:r>
              <a:t>실습 안내: 회의 전체를 후속 업무표로 작성</a:t>
            </a:r>
          </a:p>
          <a:p xmlns:a="http://schemas.openxmlformats.org/drawingml/2006/main">
            <a:r>
              <a:t/>
            </a:r>
          </a:p>
          <a:p xmlns:a="http://schemas.openxmlformats.org/drawingml/2006/main">
            <a:r>
              <a:t>진행 순서: 같은 업무의 정정 전후 연결 / 담당·마감·발언 시각을 함께 기록 / 보류된 안건은 따로 남김</a:t>
            </a:r>
          </a:p>
          <a:p xmlns:a="http://schemas.openxmlformats.org/drawingml/2006/main">
            <a:r>
              <a:t/>
            </a:r>
          </a:p>
          <a:p xmlns:a="http://schemas.openxmlformats.org/drawingml/2006/main">
            <a:r>
              <a:t>남길 결과: 업무표와 정정 기록</a:t>
            </a:r>
          </a:p>
          <a:p xmlns:a="http://schemas.openxmlformats.org/drawingml/2006/main">
            <a:r>
              <a:t/>
            </a:r>
          </a:p>
          <a:p xmlns:a="http://schemas.openxmlformats.org/drawingml/2006/main">
            <a:r>
              <a:t>원자료: https://zeusk302-png.github.io/gyeongnam-ai-workshop/downloads/%ED%99%95%EC%9E%A5/12_Gemini_%EC%9A%B4%EC%98%81%ED%9A%8C%EC%9D%98_%EC%83%81%EC%84%B8%EA%B8%B0%EB%A1%9D.txt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18. 인계표에서 세 줄만 먼저 검사</a:t>
            </a:r>
          </a:p>
          <a:p xmlns:a="http://schemas.openxmlformats.org/drawingml/2006/main">
            <a:r>
              <a:t/>
            </a:r>
          </a:p>
          <a:p xmlns:a="http://schemas.openxmlformats.org/drawingml/2006/main">
            <a:r>
              <a:t>시간: 시작 후 44–48분, 4분 진행.</a:t>
            </a:r>
          </a:p>
          <a:p xmlns:a="http://schemas.openxmlformats.org/drawingml/2006/main">
            <a:r>
              <a:t/>
            </a:r>
          </a:p>
          <a:p xmlns:a="http://schemas.openxmlformats.org/drawingml/2006/main">
            <a:r>
              <a:t>말할 내용: 표 전체는 아홉 행입니다. 시설 점검, 수정 예산표, 최종 명단 세 행부터 참가자가 찾은 원문과 맞춰 봅니다. 안내문·실습 자료·사용량 안내·오프라인 자료·대여 예약·설문 초안도 빠지지 않았는지 확인합니다. 업무에 담당과 마감이 있다고 완료로 쓰지 않습니다.</a:t>
            </a:r>
          </a:p>
          <a:p xmlns:a="http://schemas.openxmlformats.org/drawingml/2006/main">
            <a:r>
              <a:t/>
            </a:r>
          </a:p>
          <a:p xmlns:a="http://schemas.openxmlformats.org/drawingml/2006/main">
            <a:r>
              <a:t>참가자에게 할 질문: 내 표에 담당이 없는 업무를 임의로 넣지는 않았나요?</a:t>
            </a:r>
          </a:p>
          <a:p xmlns:a="http://schemas.openxmlformats.org/drawingml/2006/main">
            <a:r>
              <a:t/>
            </a:r>
          </a:p>
          <a:p xmlns:a="http://schemas.openxmlformats.org/drawingml/2006/main">
            <a:r>
              <a:t>예상 오류와 대응: 표의 예시는 교사가 정리한 기준표이며 실제 AI 응답이 아닙니다.</a:t>
            </a:r>
          </a:p>
          <a:p xmlns:a="http://schemas.openxmlformats.org/drawingml/2006/main">
            <a:r>
              <a:t/>
            </a:r>
          </a:p>
          <a:p xmlns:a="http://schemas.openxmlformats.org/drawingml/2006/main">
            <a:r>
              <a:t>수업 링크: https://zeusk302-png.github.io/gyeongnam-ai-workshop/#g-meeting</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"업무",</a:t>
            </a:r>
          </a:p>
          <a:p xmlns:a="http://schemas.openxmlformats.org/drawingml/2006/main">
            <a:r>
              <a:t>    "담당",</a:t>
            </a:r>
          </a:p>
          <a:p xmlns:a="http://schemas.openxmlformats.org/drawingml/2006/main">
            <a:r>
              <a:t>    "마감",</a:t>
            </a:r>
          </a:p>
          <a:p xmlns:a="http://schemas.openxmlformats.org/drawingml/2006/main">
            <a:r>
              <a:t>    "발언"</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"참가 안내문 정리",</a:t>
            </a:r>
          </a:p>
          <a:p xmlns:a="http://schemas.openxmlformats.org/drawingml/2006/main">
            <a:r>
              <a:t>      "운영",</a:t>
            </a:r>
          </a:p>
          <a:p xmlns:a="http://schemas.openxmlformats.org/drawingml/2006/main">
            <a:r>
              <a:t>      "10/19",</a:t>
            </a:r>
          </a:p>
          <a:p xmlns:a="http://schemas.openxmlformats.org/drawingml/2006/main">
            <a:r>
              <a:t>      "14:37"</a:t>
            </a:r>
          </a:p>
          <a:p xmlns:a="http://schemas.openxmlformats.org/drawingml/2006/main">
            <a:r>
              <a:t>    ],</a:t>
            </a:r>
          </a:p>
          <a:p xmlns:a="http://schemas.openxmlformats.org/drawingml/2006/main">
            <a:r>
              <a:t>    [</a:t>
            </a:r>
          </a:p>
          <a:p xmlns:a="http://schemas.openxmlformats.org/drawingml/2006/main">
            <a:r>
              <a:t>      "가상 실습 자료 완성",</a:t>
            </a:r>
          </a:p>
          <a:p xmlns:a="http://schemas.openxmlformats.org/drawingml/2006/main">
            <a:r>
              <a:t>      "교육",</a:t>
            </a:r>
          </a:p>
          <a:p xmlns:a="http://schemas.openxmlformats.org/drawingml/2006/main">
            <a:r>
              <a:t>      "10/21",</a:t>
            </a:r>
          </a:p>
          <a:p xmlns:a="http://schemas.openxmlformats.org/drawingml/2006/main">
            <a:r>
              <a:t>      "14:20"</a:t>
            </a:r>
          </a:p>
          <a:p xmlns:a="http://schemas.openxmlformats.org/drawingml/2006/main">
            <a:r>
              <a:t>    ],</a:t>
            </a:r>
          </a:p>
          <a:p xmlns:a="http://schemas.openxmlformats.org/drawingml/2006/main">
            <a:r>
              <a:t>    [</a:t>
            </a:r>
          </a:p>
          <a:p xmlns:a="http://schemas.openxmlformats.org/drawingml/2006/main">
            <a:r>
              <a:t>      "수정 예산표 공유",</a:t>
            </a:r>
          </a:p>
          <a:p xmlns:a="http://schemas.openxmlformats.org/drawingml/2006/main">
            <a:r>
              <a:t>      "행정",</a:t>
            </a:r>
          </a:p>
          <a:p xmlns:a="http://schemas.openxmlformats.org/drawingml/2006/main">
            <a:r>
              <a:t>      "10/23",</a:t>
            </a:r>
          </a:p>
          <a:p xmlns:a="http://schemas.openxmlformats.org/drawingml/2006/main">
            <a:r>
              <a:t>      "14:29"</a:t>
            </a:r>
          </a:p>
          <a:p xmlns:a="http://schemas.openxmlformats.org/drawingml/2006/main">
            <a:r>
              <a:t>    ],</a:t>
            </a:r>
          </a:p>
          <a:p xmlns:a="http://schemas.openxmlformats.org/drawingml/2006/main">
            <a:r>
              <a:t>    [</a:t>
            </a:r>
          </a:p>
          <a:p xmlns:a="http://schemas.openxmlformats.org/drawingml/2006/main">
            <a:r>
              <a:t>      "201호 전원·무선망 점검",</a:t>
            </a:r>
          </a:p>
          <a:p xmlns:a="http://schemas.openxmlformats.org/drawingml/2006/main">
            <a:r>
              <a:t>      "시설",</a:t>
            </a:r>
          </a:p>
          <a:p xmlns:a="http://schemas.openxmlformats.org/drawingml/2006/main">
            <a:r>
              <a:t>      "10/20",</a:t>
            </a:r>
          </a:p>
          <a:p xmlns:a="http://schemas.openxmlformats.org/drawingml/2006/main">
            <a:r>
              <a:t>      "14:33"</a:t>
            </a:r>
          </a:p>
          <a:p xmlns:a="http://schemas.openxmlformats.org/drawingml/2006/main">
            <a:r>
              <a:t>    ],</a:t>
            </a:r>
          </a:p>
          <a:p xmlns:a="http://schemas.openxmlformats.org/drawingml/2006/main">
            <a:r>
              <a:t>    [</a:t>
            </a:r>
          </a:p>
          <a:p xmlns:a="http://schemas.openxmlformats.org/drawingml/2006/main">
            <a:r>
              <a:t>      "로그인·사용량 안내 작성",</a:t>
            </a:r>
          </a:p>
          <a:p xmlns:a="http://schemas.openxmlformats.org/drawingml/2006/main">
            <a:r>
              <a:t>      "교육",</a:t>
            </a:r>
          </a:p>
          <a:p xmlns:a="http://schemas.openxmlformats.org/drawingml/2006/main">
            <a:r>
              <a:t>      "10/22",</a:t>
            </a:r>
          </a:p>
          <a:p xmlns:a="http://schemas.openxmlformats.org/drawingml/2006/main">
            <a:r>
              <a:t>      "14:41"</a:t>
            </a:r>
          </a:p>
          <a:p xmlns:a="http://schemas.openxmlformats.org/drawingml/2006/main">
            <a:r>
              <a:t>    ],</a:t>
            </a:r>
          </a:p>
          <a:p xmlns:a="http://schemas.openxmlformats.org/drawingml/2006/main">
            <a:r>
              <a:t>    [</a:t>
            </a:r>
          </a:p>
          <a:p xmlns:a="http://schemas.openxmlformats.org/drawingml/2006/main">
            <a:r>
              <a:t>      "캡처·오프라인 자료 확인",</a:t>
            </a:r>
          </a:p>
          <a:p xmlns:a="http://schemas.openxmlformats.org/drawingml/2006/main">
            <a:r>
              <a:t>      "보조진행",</a:t>
            </a:r>
          </a:p>
          <a:p xmlns:a="http://schemas.openxmlformats.org/drawingml/2006/main">
            <a:r>
              <a:t>      "10/27",</a:t>
            </a:r>
          </a:p>
          <a:p xmlns:a="http://schemas.openxmlformats.org/drawingml/2006/main">
            <a:r>
              <a:t>      "14:49"</a:t>
            </a:r>
          </a:p>
          <a:p xmlns:a="http://schemas.openxmlformats.org/drawingml/2006/main">
            <a:r>
              <a:t>    ],</a:t>
            </a:r>
          </a:p>
          <a:p xmlns:a="http://schemas.openxmlformats.org/drawingml/2006/main">
            <a:r>
              <a:t>    [</a:t>
            </a:r>
          </a:p>
          <a:p xmlns:a="http://schemas.openxmlformats.org/drawingml/2006/main">
            <a:r>
              <a:t>      "최종 명단·대기 순서 정리",</a:t>
            </a:r>
          </a:p>
          <a:p xmlns:a="http://schemas.openxmlformats.org/drawingml/2006/main">
            <a:r>
              <a:t>      "운영",</a:t>
            </a:r>
          </a:p>
          <a:p xmlns:a="http://schemas.openxmlformats.org/drawingml/2006/main">
            <a:r>
              <a:t>      "10/26",</a:t>
            </a:r>
          </a:p>
          <a:p xmlns:a="http://schemas.openxmlformats.org/drawingml/2006/main">
            <a:r>
              <a:t>      "14:53"</a:t>
            </a:r>
          </a:p>
          <a:p xmlns:a="http://schemas.openxmlformats.org/drawingml/2006/main">
            <a:r>
              <a:t>    ],</a:t>
            </a:r>
          </a:p>
          <a:p xmlns:a="http://schemas.openxmlformats.org/drawingml/2006/main">
            <a:r>
              <a:t>    [</a:t>
            </a:r>
          </a:p>
          <a:p xmlns:a="http://schemas.openxmlformats.org/drawingml/2006/main">
            <a:r>
              <a:t>      "대여 장비 예약 확인",</a:t>
            </a:r>
          </a:p>
          <a:p xmlns:a="http://schemas.openxmlformats.org/drawingml/2006/main">
            <a:r>
              <a:t>      "행정",</a:t>
            </a:r>
          </a:p>
          <a:p xmlns:a="http://schemas.openxmlformats.org/drawingml/2006/main">
            <a:r>
              <a:t>      "10/23",</a:t>
            </a:r>
          </a:p>
          <a:p xmlns:a="http://schemas.openxmlformats.org/drawingml/2006/main">
            <a:r>
              <a:t>      "14:57"</a:t>
            </a:r>
          </a:p>
          <a:p xmlns:a="http://schemas.openxmlformats.org/drawingml/2006/main">
            <a:r>
              <a:t>    ],</a:t>
            </a:r>
          </a:p>
          <a:p xmlns:a="http://schemas.openxmlformats.org/drawingml/2006/main">
            <a:r>
              <a:t>    [</a:t>
            </a:r>
          </a:p>
          <a:p xmlns:a="http://schemas.openxmlformats.org/drawingml/2006/main">
            <a:r>
              <a:t>      "설문 초안 작성",</a:t>
            </a:r>
          </a:p>
          <a:p xmlns:a="http://schemas.openxmlformats.org/drawingml/2006/main">
            <a:r>
              <a:t>      "교육",</a:t>
            </a:r>
          </a:p>
          <a:p xmlns:a="http://schemas.openxmlformats.org/drawingml/2006/main">
            <a:r>
              <a:t>      "10/26",</a:t>
            </a:r>
          </a:p>
          <a:p xmlns:a="http://schemas.openxmlformats.org/drawingml/2006/main">
            <a:r>
              <a:t>      "15:11"</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원자료: https://zeusk302-png.github.io/gyeongnam-ai-workshop/downloads/%ED%99%95%EC%9E%A5/12_Gemini_%EC%9A%B4%EC%98%81%ED%9A%8C%EC%9D%98_%EC%83%81%EC%84%B8%EA%B8%B0%EB%A1%9D.txt</a:t>
            </a:r>
          </a:p>
          <a:p xmlns:a="http://schemas.openxmlformats.org/drawingml/2006/main">
            <a:r>
              <a:t/>
            </a:r>
          </a:p>
          <a:p xmlns:a="http://schemas.openxmlformats.org/drawingml/2006/main">
            <a:r>
              <a:t>원자료: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19. “준비하기로 함”을 “완료”로 쓰면</a:t>
            </a:r>
          </a:p>
          <a:p xmlns:a="http://schemas.openxmlformats.org/drawingml/2006/main">
            <a:r>
              <a:t/>
            </a:r>
          </a:p>
          <a:p xmlns:a="http://schemas.openxmlformats.org/drawingml/2006/main">
            <a:r>
              <a:t>시간: 시작 후 48–51분, 3분 진행.</a:t>
            </a:r>
          </a:p>
          <a:p xmlns:a="http://schemas.openxmlformats.org/drawingml/2006/main">
            <a:r>
              <a:t/>
            </a:r>
          </a:p>
          <a:p xmlns:a="http://schemas.openxmlformats.org/drawingml/2006/main">
            <a:r>
              <a:t>말할 내용: 결정된 예산을 지급 완료액으로 쓰지 않았는지 봅니다. 녹화와 사진 공개, 주차는 보류됐고 담당·기한도 배정되지 않았습니다. 40명 제안은 채택되지 않았습니다. 서로의 표에서 완료로 잘못 쓴 표현 한 곳을 찾습니다.</a:t>
            </a:r>
          </a:p>
          <a:p xmlns:a="http://schemas.openxmlformats.org/drawingml/2006/main">
            <a:r>
              <a:t/>
            </a:r>
          </a:p>
          <a:p xmlns:a="http://schemas.openxmlformats.org/drawingml/2006/main">
            <a:r>
              <a:t>참가자에게 할 질문: “하기로 했다”가 “했다”로 바뀐 곳이 있나요?</a:t>
            </a:r>
          </a:p>
          <a:p xmlns:a="http://schemas.openxmlformats.org/drawingml/2006/main">
            <a:r>
              <a:t/>
            </a:r>
          </a:p>
          <a:p xmlns:a="http://schemas.openxmlformats.org/drawingml/2006/main">
            <a:r>
              <a:t>예상 오류와 대응: 근거 없는 담당자나 기한을 만들어 넣지 않습니다.</a:t>
            </a:r>
          </a:p>
          <a:p xmlns:a="http://schemas.openxmlformats.org/drawingml/2006/main">
            <a:r>
              <a:t/>
            </a:r>
          </a:p>
          <a:p xmlns:a="http://schemas.openxmlformats.org/drawingml/2006/main">
            <a:r>
              <a:t>수업 링크: https://zeusk302-png.github.io/gyeongnam-ai-workshop/#g-meeting</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"내용",</a:t>
            </a:r>
          </a:p>
          <a:p xmlns:a="http://schemas.openxmlformats.org/drawingml/2006/main">
            <a:r>
              <a:t>    "회의가 끝난 시점의 상태"</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"201호, 30명, 참가비 무료",</a:t>
            </a:r>
          </a:p>
          <a:p xmlns:a="http://schemas.openxmlformats.org/drawingml/2006/main">
            <a:r>
              <a:t>      "최종 운영 조건"</a:t>
            </a:r>
          </a:p>
          <a:p xmlns:a="http://schemas.openxmlformats.org/drawingml/2006/main">
            <a:r>
              <a:t>    ],</a:t>
            </a:r>
          </a:p>
          <a:p xmlns:a="http://schemas.openxmlformats.org/drawingml/2006/main">
            <a:r>
              <a:t>    [</a:t>
            </a:r>
          </a:p>
          <a:p xmlns:a="http://schemas.openxmlformats.org/drawingml/2006/main">
            <a:r>
              <a:t>      "준비 예산 845,000원",</a:t>
            </a:r>
          </a:p>
          <a:p xmlns:a="http://schemas.openxmlformats.org/drawingml/2006/main">
            <a:r>
              <a:t>      "준비하기로 결정, 지급 완료는 아님"</a:t>
            </a:r>
          </a:p>
          <a:p xmlns:a="http://schemas.openxmlformats.org/drawingml/2006/main">
            <a:r>
              <a:t>    ],</a:t>
            </a:r>
          </a:p>
          <a:p xmlns:a="http://schemas.openxmlformats.org/drawingml/2006/main">
            <a:r>
              <a:t>    [</a:t>
            </a:r>
          </a:p>
          <a:p xmlns:a="http://schemas.openxmlformats.org/drawingml/2006/main">
            <a:r>
              <a:t>      "녹화본 제공, 사진 촬영·공개, 주차 안내",</a:t>
            </a:r>
          </a:p>
          <a:p xmlns:a="http://schemas.openxmlformats.org/drawingml/2006/main">
            <a:r>
              <a:t>      "보류. 담당과 기한 미배정"</a:t>
            </a:r>
          </a:p>
          <a:p xmlns:a="http://schemas.openxmlformats.org/drawingml/2006/main">
            <a:r>
              <a:t>    ],</a:t>
            </a:r>
          </a:p>
          <a:p xmlns:a="http://schemas.openxmlformats.org/drawingml/2006/main">
            <a:r>
              <a:t>    [</a:t>
            </a:r>
          </a:p>
          <a:p xmlns:a="http://schemas.openxmlformats.org/drawingml/2006/main">
            <a:r>
              <a:t>      "정원 40명, 예비비·통신장치 비용",</a:t>
            </a:r>
          </a:p>
          <a:p xmlns:a="http://schemas.openxmlformats.org/drawingml/2006/main">
            <a:r>
              <a:t>      "채택하지 않은 제안"</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참여 진행: {"kind":"pair","seconds":45,"prompt":"한 사람은 결정 한 건, 한 사람은 보류 한 건을 설명합니다."}</a:t>
            </a:r>
          </a:p>
          <a:p xmlns:a="http://schemas.openxmlformats.org/drawingml/2006/main">
            <a:r>
              <a:t/>
            </a:r>
          </a:p>
          <a:p xmlns:a="http://schemas.openxmlformats.org/drawingml/2006/main">
            <a:r>
              <a:t>원자료: https://zeusk302-png.github.io/gyeongnam-ai-workshop/downloads/%ED%99%95%EC%9E%A5/12_Gemini_%EC%9A%B4%EC%98%81%ED%9A%8C%EC%9D%98_%EC%83%81%EC%84%B8%EA%B8%B0%EB%A1%9D.txt</a:t>
            </a:r>
          </a:p>
          <a:p xmlns:a="http://schemas.openxmlformats.org/drawingml/2006/main">
            <a:r>
              <a:t/>
            </a:r>
          </a:p>
          <a:p xmlns:a="http://schemas.openxmlformats.org/drawingml/2006/main">
            <a:r>
              <a:t>원자료: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20. 30초, 이상한 금액 찾기</a:t>
            </a:r>
          </a:p>
          <a:p xmlns:a="http://schemas.openxmlformats.org/drawingml/2006/main">
            <a:r>
              <a:t/>
            </a:r>
          </a:p>
          <a:p xmlns:a="http://schemas.openxmlformats.org/drawingml/2006/main">
            <a:r>
              <a:t>시간: 시작 후 51–54분, 3분 진행.</a:t>
            </a:r>
          </a:p>
          <a:p xmlns:a="http://schemas.openxmlformats.org/drawingml/2006/main">
            <a:r>
              <a:t/>
            </a:r>
          </a:p>
          <a:p xmlns:a="http://schemas.openxmlformats.org/drawingml/2006/main">
            <a:r>
              <a:t>말할 내용: 30초 동안 A06의 곱셈을 직접 확인하게 합니다. 다음 장에서 50,000원을 공개합니다. 이어 중복, 취소, 승인 단가를 묻습니다. AI가 도울 부분은 흩어진 기록을 행 ID에 연결하는 일이고, 계산은 시트에서 다시 확인합니다. A·B·C 세 행사의 24행을 다루며 앞의 회의 준비예산 한 표와 구분합니다.</a:t>
            </a:r>
          </a:p>
          <a:p xmlns:a="http://schemas.openxmlformats.org/drawingml/2006/main">
            <a:r>
              <a:t/>
            </a:r>
          </a:p>
          <a:p xmlns:a="http://schemas.openxmlformats.org/drawingml/2006/main">
            <a:r>
              <a:t>참가자에게 할 질문: 곱셈이 맞으면 지급 검토액도 맞을까요?</a:t>
            </a:r>
          </a:p>
          <a:p xmlns:a="http://schemas.openxmlformats.org/drawingml/2006/main">
            <a:r>
              <a:t/>
            </a:r>
          </a:p>
          <a:p xmlns:a="http://schemas.openxmlformats.org/drawingml/2006/main">
            <a:r>
              <a:t>예상 오류와 대응: 원표 값을 덮어쓰지 말고 원금액과 반영액을 구분합니다.</a:t>
            </a:r>
          </a:p>
          <a:p xmlns:a="http://schemas.openxmlformats.org/drawingml/2006/main">
            <a:r>
              <a:t/>
            </a:r>
          </a:p>
          <a:p xmlns:a="http://schemas.openxmlformats.org/drawingml/2006/main">
            <a:r>
              <a:t>수업 링크: https://zeusk302-png.github.io/gyeongnam-ai-workshop/#g-budget</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"항목",</a:t>
            </a:r>
          </a:p>
          <a:p xmlns:a="http://schemas.openxmlformats.org/drawingml/2006/main">
            <a:r>
              <a:t>    "원표 기재"</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"A06",</a:t>
            </a:r>
          </a:p>
          <a:p xmlns:a="http://schemas.openxmlformats.org/drawingml/2006/main">
            <a:r>
              <a:t>      "장비대여 2개 × 25,000원 / 60,000원 기재",</a:t>
            </a:r>
          </a:p>
          <a:p xmlns:a="http://schemas.openxmlformats.org/drawingml/2006/main">
            <a:r>
              <a:t>      "AP-A-1016"</a:t>
            </a:r>
          </a:p>
          <a:p xmlns:a="http://schemas.openxmlformats.org/drawingml/2006/main">
            <a:r>
              <a:t>    ],</a:t>
            </a:r>
          </a:p>
          <a:p xmlns:a="http://schemas.openxmlformats.org/drawingml/2006/main">
            <a:r>
              <a:t>    [</a:t>
            </a:r>
          </a:p>
          <a:p xmlns:a="http://schemas.openxmlformats.org/drawingml/2006/main">
            <a:r>
              <a:t>      "B04",</a:t>
            </a:r>
          </a:p>
          <a:p xmlns:a="http://schemas.openxmlformats.org/drawingml/2006/main">
            <a:r>
              <a:t>      "다과 40개 / 최초 단가 6,000원",</a:t>
            </a:r>
          </a:p>
          <a:p xmlns:a="http://schemas.openxmlformats.org/drawingml/2006/main">
            <a:r>
              <a:t>      "최종 승인 단가 5,500원"</a:t>
            </a:r>
          </a:p>
          <a:p xmlns:a="http://schemas.openxmlformats.org/drawingml/2006/main">
            <a:r>
              <a:t>    ],</a:t>
            </a:r>
          </a:p>
          <a:p xmlns:a="http://schemas.openxmlformats.org/drawingml/2006/main">
            <a:r>
              <a:t>    [</a:t>
            </a:r>
          </a:p>
          <a:p xmlns:a="http://schemas.openxmlformats.org/drawingml/2006/main">
            <a:r>
              <a:t>      "B07·B08",</a:t>
            </a:r>
          </a:p>
          <a:p xmlns:a="http://schemas.openxmlformats.org/drawingml/2006/main">
            <a:r>
              <a:t>      "현수막과 “추가 전달분”",</a:t>
            </a:r>
          </a:p>
          <a:p xmlns:a="http://schemas.openxmlformats.org/drawingml/2006/main">
            <a:r>
              <a:t>      "같은 견적을 다시 전달"</a:t>
            </a:r>
          </a:p>
          <a:p xmlns:a="http://schemas.openxmlformats.org/drawingml/2006/main">
            <a:r>
              <a:t>    ],</a:t>
            </a:r>
          </a:p>
          <a:p xmlns:a="http://schemas.openxmlformats.org/drawingml/2006/main">
            <a:r>
              <a:t>    [</a:t>
            </a:r>
          </a:p>
          <a:p xmlns:a="http://schemas.openxmlformats.org/drawingml/2006/main">
            <a:r>
              <a:t>      "C05",</a:t>
            </a:r>
          </a:p>
          <a:p xmlns:a="http://schemas.openxmlformats.org/drawingml/2006/main">
            <a:r>
              <a:t>      "제본교재 24권",</a:t>
            </a:r>
          </a:p>
          <a:p xmlns:a="http://schemas.openxmlformats.org/drawingml/2006/main">
            <a:r>
              <a:t>      "제본교재만 취소, 인쇄·배송 유지"</a:t>
            </a:r>
          </a:p>
          <a:p xmlns:a="http://schemas.openxmlformats.org/drawingml/2006/main">
            <a:r>
              <a:t>    ],</a:t>
            </a:r>
          </a:p>
          <a:p xmlns:a="http://schemas.openxmlformats.org/drawingml/2006/main">
            <a:r>
              <a:t>    [</a:t>
            </a:r>
          </a:p>
          <a:p xmlns:a="http://schemas.openxmlformats.org/drawingml/2006/main">
            <a:r>
              <a:t>      "C09",</a:t>
            </a:r>
          </a:p>
          <a:p xmlns:a="http://schemas.openxmlformats.org/drawingml/2006/main">
            <a:r>
              <a:t>      "사진기록 견적 80,000원",</a:t>
            </a:r>
          </a:p>
          <a:p xmlns:a="http://schemas.openxmlformats.org/drawingml/2006/main">
            <a:r>
              <a:t>      "최종 승인 대기"</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참여 진행: {"kind":"spot-error","seconds":30,"prompt":"틀린 금액 한 곳과 더 확인할 기록을 말해 봅니다."}</a:t>
            </a:r>
          </a:p>
          <a:p xmlns:a="http://schemas.openxmlformats.org/drawingml/2006/main">
            <a:r>
              <a:t/>
            </a:r>
          </a:p>
          <a:p xmlns:a="http://schemas.openxmlformats.org/drawingml/2006/main">
            <a:r>
              <a:t>답 공개 참고: {"questionSlide":20,"answerSlide":21,"answer":"2 × 25,000 = 50,000원입니다. 이후 승인·중복·취소 상태도 대조합니다.","evidence":"13번 A06 및 AP-A-1016","role":"question"}</a:t>
            </a:r>
          </a:p>
          <a:p xmlns:a="http://schemas.openxmlformats.org/drawingml/2006/main">
            <a:r>
              <a:t/>
            </a:r>
          </a:p>
          <a:p xmlns:a="http://schemas.openxmlformats.org/drawingml/2006/main">
            <a:r>
              <a:t>원자료: https://zeusk302-png.github.io/gyeongnam-ai-workshop/downloads/%ED%99%95%EC%9E%A5/13_Gemini_%EC%98%88%EC%82%B0%EA%B2%80%ED%86%A0_%EC%A7%91%ED%96%89%EC%A4%80%EB%B9%84%EC%9E%90%EB%A3%8C.txt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21. 곱셈 정답은 50,000원</a:t>
            </a:r>
          </a:p>
          <a:p xmlns:a="http://schemas.openxmlformats.org/drawingml/2006/main">
            <a:r>
              <a:t/>
            </a:r>
          </a:p>
          <a:p xmlns:a="http://schemas.openxmlformats.org/drawingml/2006/main">
            <a:r>
              <a:t>시간: 시작 후 54–58분, 4분 진행.</a:t>
            </a:r>
          </a:p>
          <a:p xmlns:a="http://schemas.openxmlformats.org/drawingml/2006/main">
            <a:r>
              <a:t/>
            </a:r>
          </a:p>
          <a:p xmlns:a="http://schemas.openxmlformats.org/drawingml/2006/main">
            <a:r>
              <a:t>말할 내용: A06의 2개 곱하기 25,000원은 50,000원입니다. 곱셈을 고친 뒤에도 B04 승인 단가, B07·B08 중복, C05 취소, C09 승인 대기를 확인해야 합니다. C09 견적 80,000원을 지우지 말고 이번 반영액과 구분합니다. 원자료 24행을 시트에 옮겨 계산합니다. 마지막에 전체 잔액이 있으면 각 행사도 발주 가능한지 묻고 다음 장에서 확인합니다.</a:t>
            </a:r>
          </a:p>
          <a:p xmlns:a="http://schemas.openxmlformats.org/drawingml/2006/main">
            <a:r>
              <a:t/>
            </a:r>
          </a:p>
          <a:p xmlns:a="http://schemas.openxmlformats.org/drawingml/2006/main">
            <a:r>
              <a:t>참가자에게 할 질문: 전체 잔액 165,000원이 남으면 B행사도 한도 안일까요?</a:t>
            </a:r>
          </a:p>
          <a:p xmlns:a="http://schemas.openxmlformats.org/drawingml/2006/main">
            <a:r>
              <a:t/>
            </a:r>
          </a:p>
          <a:p xmlns:a="http://schemas.openxmlformats.org/drawingml/2006/main">
            <a:r>
              <a:t>예상 오류와 대응: AI의 합계를 같은 AI에게 다시 물은 것을 독립 검산으로 보지 않습니다.</a:t>
            </a:r>
          </a:p>
          <a:p xmlns:a="http://schemas.openxmlformats.org/drawingml/2006/main">
            <a:r>
              <a:t/>
            </a:r>
          </a:p>
          <a:p xmlns:a="http://schemas.openxmlformats.org/drawingml/2006/main">
            <a:r>
              <a:t>수업 링크: https://zeusk302-png.github.io/gyeongnam-ai-workshop/#g-budget</a:t>
            </a:r>
          </a:p>
          <a:p xmlns:a="http://schemas.openxmlformats.org/drawingml/2006/main">
            <a:r>
              <a:t/>
            </a:r>
          </a:p>
          <a:p xmlns:a="http://schemas.openxmlformats.org/drawingml/2006/main">
            <a:r>
              <a:t>실습 안내: 24행의 상태와 반영액을 검토</a:t>
            </a:r>
          </a:p>
          <a:p xmlns:a="http://schemas.openxmlformats.org/drawingml/2006/main">
            <a:r>
              <a:t/>
            </a:r>
          </a:p>
          <a:p xmlns:a="http://schemas.openxmlformats.org/drawingml/2006/main">
            <a:r>
              <a:t>진행 순서: 원표 기재액과 곱셈을 따로 계산 / 승인·중복·취소·대기 기록 연결 / 행사별 합계와 한도 대조</a:t>
            </a:r>
          </a:p>
          <a:p xmlns:a="http://schemas.openxmlformats.org/drawingml/2006/main">
            <a:r>
              <a:t/>
            </a:r>
          </a:p>
          <a:p xmlns:a="http://schemas.openxmlformats.org/drawingml/2006/main">
            <a:r>
              <a:t>남길 결과: 24행 검토표와 행사별 계산</a:t>
            </a:r>
          </a:p>
          <a:p xmlns:a="http://schemas.openxmlformats.org/drawingml/2006/main">
            <a:r>
              <a:t/>
            </a:r>
          </a:p>
          <a:p xmlns:a="http://schemas.openxmlformats.org/drawingml/2006/main">
            <a:r>
              <a:t>답 공개 참고: {"questionSlide":21,"answerSlide":22,"answer":"전체 잔액은 165,000원이지만 B행사는 11,000원 초과입니다.","evidence":"13번 24행 검토와 행사별 한도","role":"question"}</a:t>
            </a:r>
          </a:p>
          <a:p xmlns:a="http://schemas.openxmlformats.org/drawingml/2006/main">
            <a:r>
              <a:t/>
            </a:r>
          </a:p>
          <a:p xmlns:a="http://schemas.openxmlformats.org/drawingml/2006/main">
            <a:r>
              <a:t>원자료: https://zeusk302-png.github.io/gyeongnam-ai-workshop/downloads/%ED%99%95%EC%9E%A5/13_Gemini_%EC%98%88%EC%82%B0%EA%B2%80%ED%86%A0_%EC%A7%91%ED%96%89%EC%A4%80%EB%B9%84%EC%9E%90%EB%A3%8C.txt</a:t>
            </a:r>
          </a:p>
          <a:p xmlns:a="http://schemas.openxmlformats.org/drawingml/2006/main">
            <a:r>
              <a:t/>
            </a:r>
          </a:p>
          <a:p xmlns:a="http://schemas.openxmlformats.org/drawingml/2006/main">
            <a:r>
              <a:t>원자료: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22. 전체 잔액은 남아도 B는 초과</a:t>
            </a:r>
          </a:p>
          <a:p xmlns:a="http://schemas.openxmlformats.org/drawingml/2006/main">
            <a:r>
              <a:t/>
            </a:r>
          </a:p>
          <a:p xmlns:a="http://schemas.openxmlformats.org/drawingml/2006/main">
            <a:r>
              <a:t>시간: 시작 후 58–65분, 7분 진행.</a:t>
            </a:r>
          </a:p>
          <a:p xmlns:a="http://schemas.openxmlformats.org/drawingml/2006/main">
            <a:r>
              <a:t/>
            </a:r>
          </a:p>
          <a:p xmlns:a="http://schemas.openxmlformats.org/drawingml/2006/main">
            <a:r>
              <a:t>말할 내용: 7분 중 3분은 시트와 표를 대조하고, 2분은 보완 요청문을 작성하고, 2분은 짝과 확인합니다. 원표 기재 합계는 2,882,000원, 단순 곱셈은 2,867,000원, 승인·중복·취소·대기 반영액은 2,530,000원입니다. 전체 잔액이 있어도 B행사의 11,000원 초과는 별도 승인 확인이 필요합니다.</a:t>
            </a:r>
          </a:p>
          <a:p xmlns:a="http://schemas.openxmlformats.org/drawingml/2006/main">
            <a:r>
              <a:t/>
            </a:r>
          </a:p>
          <a:p xmlns:a="http://schemas.openxmlformats.org/drawingml/2006/main">
            <a:r>
              <a:t>참가자에게 할 질문: 보완 요청문에는 누구에게 무엇을 확인하겠다고 썼나요?</a:t>
            </a:r>
          </a:p>
          <a:p xmlns:a="http://schemas.openxmlformats.org/drawingml/2006/main">
            <a:r>
              <a:t/>
            </a:r>
          </a:p>
          <a:p xmlns:a="http://schemas.openxmlformats.org/drawingml/2006/main">
            <a:r>
              <a:t>예상 오류와 대응: C09가 앞으로 승인될 경우를 현재 반영액에 섞지 않습니다.</a:t>
            </a:r>
          </a:p>
          <a:p xmlns:a="http://schemas.openxmlformats.org/drawingml/2006/main">
            <a:r>
              <a:t/>
            </a:r>
          </a:p>
          <a:p xmlns:a="http://schemas.openxmlformats.org/drawingml/2006/main">
            <a:r>
              <a:t>수업 링크: https://zeusk302-png.github.io/gyeongnam-ai-workshop/#g-budget</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"행사",</a:t>
            </a:r>
          </a:p>
          <a:p xmlns:a="http://schemas.openxmlformats.org/drawingml/2006/main">
            <a:r>
              <a:t>    "지급 검토액(원)",</a:t>
            </a:r>
          </a:p>
          <a:p xmlns:a="http://schemas.openxmlformats.org/drawingml/2006/main">
            <a:r>
              <a:t>    "예산 한도(원)",</a:t>
            </a:r>
          </a:p>
          <a:p xmlns:a="http://schemas.openxmlformats.org/drawingml/2006/main">
            <a:r>
              <a:t>    "남는 금액·초과"</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"A",</a:t>
            </a:r>
          </a:p>
          <a:p xmlns:a="http://schemas.openxmlformats.org/drawingml/2006/main">
            <a:r>
              <a:t>      "845,000",</a:t>
            </a:r>
          </a:p>
          <a:p xmlns:a="http://schemas.openxmlformats.org/drawingml/2006/main">
            <a:r>
              <a:t>      "845,000",</a:t>
            </a:r>
          </a:p>
          <a:p xmlns:a="http://schemas.openxmlformats.org/drawingml/2006/main">
            <a:r>
              <a:t>      "잔액 0원"</a:t>
            </a:r>
          </a:p>
          <a:p xmlns:a="http://schemas.openxmlformats.org/drawingml/2006/main">
            <a:r>
              <a:t>    ],</a:t>
            </a:r>
          </a:p>
          <a:p xmlns:a="http://schemas.openxmlformats.org/drawingml/2006/main">
            <a:r>
              <a:t>    [</a:t>
            </a:r>
          </a:p>
          <a:p xmlns:a="http://schemas.openxmlformats.org/drawingml/2006/main">
            <a:r>
              <a:t>      "B",</a:t>
            </a:r>
          </a:p>
          <a:p xmlns:a="http://schemas.openxmlformats.org/drawingml/2006/main">
            <a:r>
              <a:t>      "961,000",</a:t>
            </a:r>
          </a:p>
          <a:p xmlns:a="http://schemas.openxmlformats.org/drawingml/2006/main">
            <a:r>
              <a:t>      "950,000",</a:t>
            </a:r>
          </a:p>
          <a:p xmlns:a="http://schemas.openxmlformats.org/drawingml/2006/main">
            <a:r>
              <a:t>      "11,000원 초과"</a:t>
            </a:r>
          </a:p>
          <a:p xmlns:a="http://schemas.openxmlformats.org/drawingml/2006/main">
            <a:r>
              <a:t>    ],</a:t>
            </a:r>
          </a:p>
          <a:p xmlns:a="http://schemas.openxmlformats.org/drawingml/2006/main">
            <a:r>
              <a:t>    [</a:t>
            </a:r>
          </a:p>
          <a:p xmlns:a="http://schemas.openxmlformats.org/drawingml/2006/main">
            <a:r>
              <a:t>      "C",</a:t>
            </a:r>
          </a:p>
          <a:p xmlns:a="http://schemas.openxmlformats.org/drawingml/2006/main">
            <a:r>
              <a:t>      "724,000",</a:t>
            </a:r>
          </a:p>
          <a:p xmlns:a="http://schemas.openxmlformats.org/drawingml/2006/main">
            <a:r>
              <a:t>      "900,000",</a:t>
            </a:r>
          </a:p>
          <a:p xmlns:a="http://schemas.openxmlformats.org/drawingml/2006/main">
            <a:r>
              <a:t>      "잔액 176,000원"</a:t>
            </a:r>
          </a:p>
          <a:p xmlns:a="http://schemas.openxmlformats.org/drawingml/2006/main">
            <a:r>
              <a:t>    ],</a:t>
            </a:r>
          </a:p>
          <a:p xmlns:a="http://schemas.openxmlformats.org/drawingml/2006/main">
            <a:r>
              <a:t>    [</a:t>
            </a:r>
          </a:p>
          <a:p xmlns:a="http://schemas.openxmlformats.org/drawingml/2006/main">
            <a:r>
              <a:t>      "전체",</a:t>
            </a:r>
          </a:p>
          <a:p xmlns:a="http://schemas.openxmlformats.org/drawingml/2006/main">
            <a:r>
              <a:t>      "2,530,000",</a:t>
            </a:r>
          </a:p>
          <a:p xmlns:a="http://schemas.openxmlformats.org/drawingml/2006/main">
            <a:r>
              <a:t>      "2,695,000",</a:t>
            </a:r>
          </a:p>
          <a:p xmlns:a="http://schemas.openxmlformats.org/drawingml/2006/main">
            <a:r>
              <a:t>      "잔액 165,000원"</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원자료: https://zeusk302-png.github.io/gyeongnam-ai-workshop/downloads/%ED%99%95%EC%9E%A5/13_Gemini_%EC%98%88%EC%82%B0%EA%B2%80%ED%86%A0_%EC%A7%91%ED%96%89%EC%A4%80%EB%B9%84%EC%9E%90%EB%A3%8C.txt</a:t>
            </a:r>
          </a:p>
          <a:p xmlns:a="http://schemas.openxmlformats.org/drawingml/2006/main">
            <a:r>
              <a:t/>
            </a:r>
          </a:p>
          <a:p xmlns:a="http://schemas.openxmlformats.org/drawingml/2006/main">
            <a:r>
              <a:t>원자료: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23. 5분 쉬겠습니다</a:t>
            </a:r>
          </a:p>
          <a:p xmlns:a="http://schemas.openxmlformats.org/drawingml/2006/main">
            <a:r>
              <a:t/>
            </a:r>
          </a:p>
          <a:p xmlns:a="http://schemas.openxmlformats.org/drawingml/2006/main">
            <a:r>
              <a:t>시간: 시작 후 65–70분, 5분 진행.</a:t>
            </a:r>
          </a:p>
          <a:p xmlns:a="http://schemas.openxmlformats.org/drawingml/2006/main">
            <a:r>
              <a:t/>
            </a:r>
          </a:p>
          <a:p xmlns:a="http://schemas.openxmlformats.org/drawingml/2006/main">
            <a:r>
              <a:t>말할 내용: 처리표와 확인 메모를 저장하게 하고 5분 휴식합니다. 다음에는 새로 온 변경 승인과 기존 공지를 함께 읽습니다.</a:t>
            </a:r>
          </a:p>
          <a:p xmlns:a="http://schemas.openxmlformats.org/drawingml/2006/main">
            <a:r>
              <a:t/>
            </a:r>
          </a:p>
          <a:p xmlns:a="http://schemas.openxmlformats.org/drawingml/2006/main">
            <a:r>
              <a:t>참가자에게 할 질문: </a:t>
            </a:r>
          </a:p>
          <a:p xmlns:a="http://schemas.openxmlformats.org/drawingml/2006/main">
            <a:r>
              <a:t/>
            </a:r>
          </a:p>
          <a:p xmlns:a="http://schemas.openxmlformats.org/drawingml/2006/main">
            <a:r>
              <a:t>예상 오류와 대응: </a:t>
            </a:r>
          </a:p>
          <a:p xmlns:a="http://schemas.openxmlformats.org/drawingml/2006/main">
            <a:r>
              <a:t/>
            </a:r>
          </a:p>
          <a:p xmlns:a="http://schemas.openxmlformats.org/drawingml/2006/main">
            <a:r>
              <a:t>수업 링크: https://zeusk302-png.github.io/gyeongnam-ai-workshop/#g-budget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24. 공지와 승인 기록의 날짜가 다릅니다</a:t>
            </a:r>
          </a:p>
          <a:p xmlns:a="http://schemas.openxmlformats.org/drawingml/2006/main">
            <a:r>
              <a:t/>
            </a:r>
          </a:p>
          <a:p xmlns:a="http://schemas.openxmlformats.org/drawingml/2006/main">
            <a:r>
              <a:t>시간: 시작 후 70–73분, 3분 진행.</a:t>
            </a:r>
          </a:p>
          <a:p xmlns:a="http://schemas.openxmlformats.org/drawingml/2006/main">
            <a:r>
              <a:t/>
            </a:r>
          </a:p>
          <a:p xmlns:a="http://schemas.openxmlformats.org/drawingml/2006/main">
            <a:r>
              <a:t>말할 내용: 새 담당자가 인계를 받는 상황입니다. 최초 안내, 업무 인계, 변경 승인, 문의 목록 네 파일이 있습니다. 신청 마감만 바뀌었는지 다른 날짜도 바뀌었는지 확인해야 합니다. 자료가 여러 개일 때 답변의 출처를 직접 여는 과정을 익힙니다.</a:t>
            </a:r>
          </a:p>
          <a:p xmlns:a="http://schemas.openxmlformats.org/drawingml/2006/main">
            <a:r>
              <a:t/>
            </a:r>
          </a:p>
          <a:p xmlns:a="http://schemas.openxmlformats.org/drawingml/2006/main">
            <a:r>
              <a:t>참가자에게 할 질문: 날짜가 나중이라는 이유만으로 모두 적용해도 될까요?</a:t>
            </a:r>
          </a:p>
          <a:p xmlns:a="http://schemas.openxmlformats.org/drawingml/2006/main">
            <a:r>
              <a:t/>
            </a:r>
          </a:p>
          <a:p xmlns:a="http://schemas.openxmlformats.org/drawingml/2006/main">
            <a:r>
              <a:t>예상 오류와 대응: 최신 문서의 제안과 승인 사항을 구분합니다.</a:t>
            </a:r>
          </a:p>
          <a:p xmlns:a="http://schemas.openxmlformats.org/drawingml/2006/main">
            <a:r>
              <a:t/>
            </a:r>
          </a:p>
          <a:p xmlns:a="http://schemas.openxmlformats.org/drawingml/2006/main">
            <a:r>
              <a:t>수업 링크: https://zeusk302-png.github.io/gyeongnam-ai-workshop/#n-create</a:t>
            </a:r>
          </a:p>
          <a:p xmlns:a="http://schemas.openxmlformats.org/drawingml/2006/main">
            <a:r>
              <a:t/>
            </a:r>
          </a:p>
          <a:p xmlns:a="http://schemas.openxmlformats.org/drawingml/2006/main">
            <a:r>
              <a:t>참여 진행: {"kind":"vote","seconds":20,"prompt":"어느 문서부터 확인할지 골라 봅니다."}</a:t>
            </a:r>
          </a:p>
          <a:p xmlns:a="http://schemas.openxmlformats.org/drawingml/2006/main">
            <a:r>
              <a:t/>
            </a:r>
          </a:p>
          <a:p xmlns:a="http://schemas.openxmlformats.org/drawingml/2006/main">
            <a:r>
              <a:t>답 공개 참고: {"questionSlide":24,"answerSlide":25,"answer":"B. 14C C2에서 신청 연장 승인을 확인합니다.","evidence":"14C C2, C3","role":"question"}</a:t>
            </a:r>
          </a:p>
          <a:p xmlns:a="http://schemas.openxmlformats.org/drawingml/2006/main">
            <a:r>
              <a:t/>
            </a:r>
          </a:p>
          <a:p xmlns:a="http://schemas.openxmlformats.org/drawingml/2006/main">
            <a:r>
              <a:t>원자료: https://zeusk302-png.github.io/gyeongnam-ai-workshop/downloads/%ED%99%95%EC%9E%A5/14A_NotebookLM_%EA%B5%90%EC%9C%A1%EC%9A%B4%EC%98%81%EC%95%88%EB%82%B4_%EC%83%81%EC%84%B8.txt</a:t>
            </a:r>
          </a:p>
          <a:p xmlns:a="http://schemas.openxmlformats.org/drawingml/2006/main">
            <a:r>
              <a:t/>
            </a:r>
          </a:p>
          <a:p xmlns:a="http://schemas.openxmlformats.org/drawingml/2006/main">
            <a:r>
              <a:t>원자료: https://zeusk302-png.github.io/gyeongnam-ai-workshop/downloads/%ED%99%95%EC%9E%A5/14B_NotebookLM_%EC%9A%B4%EC%98%81%ED%9A%8C%EC%9D%98_%EC%97%85%EB%AC%B4%EC%9D%B8%EA%B3%84.txt</a:t>
            </a:r>
          </a:p>
          <a:p xmlns:a="http://schemas.openxmlformats.org/drawingml/2006/main">
            <a:r>
              <a:t/>
            </a:r>
          </a:p>
          <a:p xmlns:a="http://schemas.openxmlformats.org/drawingml/2006/main">
            <a:r>
              <a:t>원자료: https://zeusk302-png.github.io/gyeongnam-ai-workshop/downloads/%ED%99%95%EC%9E%A5/14C_%EB%B3%80%EA%B2%BD%EA%B3%B5%EC%A7%80%EC%99%80_%EC%8A%B9%EC%9D%B8%EA%B8%B0%EB%A1%9D.txt</a:t>
            </a:r>
          </a:p>
          <a:p xmlns:a="http://schemas.openxmlformats.org/drawingml/2006/main">
            <a:r>
              <a:t/>
            </a:r>
          </a:p>
          <a:p xmlns:a="http://schemas.openxmlformats.org/drawingml/2006/main">
            <a:r>
              <a:t>원자료: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25. 승인한 항목을 찾아야 합니다</a:t>
            </a:r>
          </a:p>
          <a:p xmlns:a="http://schemas.openxmlformats.org/drawingml/2006/main">
            <a:r>
              <a:t/>
            </a:r>
          </a:p>
          <a:p xmlns:a="http://schemas.openxmlformats.org/drawingml/2006/main">
            <a:r>
              <a:t>시간: 시작 후 73–77분, 4분 진행.</a:t>
            </a:r>
          </a:p>
          <a:p xmlns:a="http://schemas.openxmlformats.org/drawingml/2006/main">
            <a:r>
              <a:t/>
            </a:r>
          </a:p>
          <a:p xmlns:a="http://schemas.openxmlformats.org/drawingml/2006/main">
            <a:r>
              <a:t>말할 내용: 정답은 B입니다. 14C의 C2에는 신청 마감 연장이 승인됐고, C3의 장소 제안은 승인되지 않았습니다. 네 파일을 각각 넣어 인용에서 문서 이름을 구분할 수 있게 합니다. 교사용 검토 기준 17번과 행사 후 자료 15번은 넣지 않습니다.</a:t>
            </a:r>
          </a:p>
          <a:p xmlns:a="http://schemas.openxmlformats.org/drawingml/2006/main">
            <a:r>
              <a:t/>
            </a:r>
          </a:p>
          <a:p xmlns:a="http://schemas.openxmlformats.org/drawingml/2006/main">
            <a:r>
              <a:t>참가자에게 할 질문: 무엇을 승인했고 무엇은 아직 확인 중인가요?</a:t>
            </a:r>
          </a:p>
          <a:p xmlns:a="http://schemas.openxmlformats.org/drawingml/2006/main">
            <a:r>
              <a:t/>
            </a:r>
          </a:p>
          <a:p xmlns:a="http://schemas.openxmlformats.org/drawingml/2006/main">
            <a:r>
              <a:t>예상 오류와 대응: 해설을 소스로 넣어 원자료 답변처럼 만들지 않습니다.</a:t>
            </a:r>
          </a:p>
          <a:p xmlns:a="http://schemas.openxmlformats.org/drawingml/2006/main">
            <a:r>
              <a:t/>
            </a:r>
          </a:p>
          <a:p xmlns:a="http://schemas.openxmlformats.org/drawingml/2006/main">
            <a:r>
              <a:t>수업 링크: https://zeusk302-png.github.io/gyeongnam-ai-workshop/#n-sources</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"문서",</a:t>
            </a:r>
          </a:p>
          <a:p xmlns:a="http://schemas.openxmlformats.org/drawingml/2006/main">
            <a:r>
              <a:t>    "기준일",</a:t>
            </a:r>
          </a:p>
          <a:p xmlns:a="http://schemas.openxmlformats.org/drawingml/2006/main">
            <a:r>
              <a:t>    "읽을 내용"</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"14A 최초 안내",</a:t>
            </a:r>
          </a:p>
          <a:p xmlns:a="http://schemas.openxmlformats.org/drawingml/2006/main">
            <a:r>
              <a:t>      "10/16",</a:t>
            </a:r>
          </a:p>
          <a:p xmlns:a="http://schemas.openxmlformats.org/drawingml/2006/main">
            <a:r>
              <a:t>      "행사 조건과 구 신청 마감"</a:t>
            </a:r>
          </a:p>
          <a:p xmlns:a="http://schemas.openxmlformats.org/drawingml/2006/main">
            <a:r>
              <a:t>    ],</a:t>
            </a:r>
          </a:p>
          <a:p xmlns:a="http://schemas.openxmlformats.org/drawingml/2006/main">
            <a:r>
              <a:t>    [</a:t>
            </a:r>
          </a:p>
          <a:p xmlns:a="http://schemas.openxmlformats.org/drawingml/2006/main">
            <a:r>
              <a:t>      "14B 업무 인계",</a:t>
            </a:r>
          </a:p>
          <a:p xmlns:a="http://schemas.openxmlformats.org/drawingml/2006/main">
            <a:r>
              <a:t>      "10/20",</a:t>
            </a:r>
          </a:p>
          <a:p xmlns:a="http://schemas.openxmlformats.org/drawingml/2006/main">
            <a:r>
              <a:t>      "업무별 완료·대기 상태"</a:t>
            </a:r>
          </a:p>
          <a:p xmlns:a="http://schemas.openxmlformats.org/drawingml/2006/main">
            <a:r>
              <a:t>    ],</a:t>
            </a:r>
          </a:p>
          <a:p xmlns:a="http://schemas.openxmlformats.org/drawingml/2006/main">
            <a:r>
              <a:t>    [</a:t>
            </a:r>
          </a:p>
          <a:p xmlns:a="http://schemas.openxmlformats.org/drawingml/2006/main">
            <a:r>
              <a:t>      "14C 변경 승인",</a:t>
            </a:r>
          </a:p>
          <a:p xmlns:a="http://schemas.openxmlformats.org/drawingml/2006/main">
            <a:r>
              <a:t>      "10/22",</a:t>
            </a:r>
          </a:p>
          <a:p xmlns:a="http://schemas.openxmlformats.org/drawingml/2006/main">
            <a:r>
              <a:t>      "신청 연장 승인, 장소 제안, 대여 확보"</a:t>
            </a:r>
          </a:p>
          <a:p xmlns:a="http://schemas.openxmlformats.org/drawingml/2006/main">
            <a:r>
              <a:t>    ],</a:t>
            </a:r>
          </a:p>
          <a:p xmlns:a="http://schemas.openxmlformats.org/drawingml/2006/main">
            <a:r>
              <a:t>    [</a:t>
            </a:r>
          </a:p>
          <a:p xmlns:a="http://schemas.openxmlformats.org/drawingml/2006/main">
            <a:r>
              <a:t>      "14D 문의 목록",</a:t>
            </a:r>
          </a:p>
          <a:p xmlns:a="http://schemas.openxmlformats.org/drawingml/2006/main">
            <a:r>
              <a:t>      "10/22 16:20",</a:t>
            </a:r>
          </a:p>
          <a:p xmlns:a="http://schemas.openxmlformats.org/drawingml/2006/main">
            <a:r>
              <a:t>      "참가자와 내부 문의 14건"</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원자료: https://zeusk302-png.github.io/gyeongnam-ai-workshop/downloads/%ED%99%95%EC%9E%A5/14A_NotebookLM_%EA%B5%90%EC%9C%A1%EC%9A%B4%EC%98%81%EC%95%88%EB%82%B4_%EC%83%81%EC%84%B8.txt</a:t>
            </a:r>
          </a:p>
          <a:p xmlns:a="http://schemas.openxmlformats.org/drawingml/2006/main">
            <a:r>
              <a:t/>
            </a:r>
          </a:p>
          <a:p xmlns:a="http://schemas.openxmlformats.org/drawingml/2006/main">
            <a:r>
              <a:t>원자료: https://zeusk302-png.github.io/gyeongnam-ai-workshop/downloads/%ED%99%95%EC%9E%A5/14B_NotebookLM_%EC%9A%B4%EC%98%81%ED%9A%8C%EC%9D%98_%EC%97%85%EB%AC%B4%EC%9D%B8%EA%B3%84.txt</a:t>
            </a:r>
          </a:p>
          <a:p xmlns:a="http://schemas.openxmlformats.org/drawingml/2006/main">
            <a:r>
              <a:t/>
            </a:r>
          </a:p>
          <a:p xmlns:a="http://schemas.openxmlformats.org/drawingml/2006/main">
            <a:r>
              <a:t>원자료: https://zeusk302-png.github.io/gyeongnam-ai-workshop/downloads/%ED%99%95%EC%9E%A5/14C_%EB%B3%80%EA%B2%BD%EA%B3%B5%EC%A7%80%EC%99%80_%EC%8A%B9%EC%9D%B8%EA%B8%B0%EB%A1%9D.txt</a:t>
            </a:r>
          </a:p>
          <a:p xmlns:a="http://schemas.openxmlformats.org/drawingml/2006/main">
            <a:r>
              <a:t/>
            </a:r>
          </a:p>
          <a:p xmlns:a="http://schemas.openxmlformats.org/drawingml/2006/main">
            <a:r>
              <a:t>원자료: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26. 네 파일이 모두 들어갔나요?</a:t>
            </a:r>
          </a:p>
          <a:p xmlns:a="http://schemas.openxmlformats.org/drawingml/2006/main">
            <a:r>
              <a:t/>
            </a:r>
          </a:p>
          <a:p xmlns:a="http://schemas.openxmlformats.org/drawingml/2006/main">
            <a:r>
              <a:t>시간: 시작 후 77–80분, 3분 진행.</a:t>
            </a:r>
          </a:p>
          <a:p xmlns:a="http://schemas.openxmlformats.org/drawingml/2006/main">
            <a:r>
              <a:t/>
            </a:r>
          </a:p>
          <a:p xmlns:a="http://schemas.openxmlformats.org/drawingml/2006/main">
            <a:r>
              <a:t>말할 내용: 새 노트북에서 네 파일을 각각 추가하고 이름과 선택 상태를 확인합니다. 업로드가 어려우면 파일별 텍스트 소스로 추가합니다. 이 캡처는 기본연습 조작 참고이므로 화면의 예전 파일을 오늘 소스로 따라 넣지 않게 합니다.</a:t>
            </a:r>
          </a:p>
          <a:p xmlns:a="http://schemas.openxmlformats.org/drawingml/2006/main">
            <a:r>
              <a:t/>
            </a:r>
          </a:p>
          <a:p xmlns:a="http://schemas.openxmlformats.org/drawingml/2006/main">
            <a:r>
              <a:t>참가자에게 할 질문: 중복한 파일 대신 빠진 파일은 없나요?</a:t>
            </a:r>
          </a:p>
          <a:p xmlns:a="http://schemas.openxmlformats.org/drawingml/2006/main">
            <a:r>
              <a:t/>
            </a:r>
          </a:p>
          <a:p xmlns:a="http://schemas.openxmlformats.org/drawingml/2006/main">
            <a:r>
              <a:t>예상 오류와 대응: 합본 한 개와 네 개 개별 소스를 혼동하지 않습니다.</a:t>
            </a:r>
          </a:p>
          <a:p xmlns:a="http://schemas.openxmlformats.org/drawingml/2006/main">
            <a:r>
              <a:t/>
            </a:r>
          </a:p>
          <a:p xmlns:a="http://schemas.openxmlformats.org/drawingml/2006/main">
            <a:r>
              <a:t>수업 링크: https://zeusk302-png.github.io/gyeongnam-ai-workshop/#n-sources</a:t>
            </a:r>
          </a:p>
          <a:p xmlns:a="http://schemas.openxmlformats.org/drawingml/2006/main">
            <a:r>
              <a:t/>
            </a:r>
          </a:p>
          <a:p xmlns:a="http://schemas.openxmlformats.org/drawingml/2006/main">
            <a:r>
              <a:t>화면 설명: 기본연습의 실제 소스 추가 화면 · 오늘은 14A~14D 사용</a:t>
            </a:r>
          </a:p>
          <a:p xmlns:a="http://schemas.openxmlformats.org/drawingml/2006/main">
            <a:r>
              <a:t/>
            </a:r>
          </a:p>
          <a:p xmlns:a="http://schemas.openxmlformats.org/drawingml/2006/main">
            <a:r>
              <a:t>화면 원본: assets/captures/n02-upload.png</a:t>
            </a:r>
          </a:p>
          <a:p xmlns:a="http://schemas.openxmlformats.org/drawingml/2006/main">
            <a:r>
              <a:t/>
            </a:r>
          </a:p>
          <a:p xmlns:a="http://schemas.openxmlformats.org/drawingml/2006/main">
            <a:r>
              <a:t>원자료: https://zeusk302-png.github.io/gyeongnam-ai-workshop/downloads/%ED%99%95%EC%9E%A5/14A_NotebookLM_%EA%B5%90%EC%9C%A1%EC%9A%B4%EC%98%81%EC%95%88%EB%82%B4_%EC%83%81%EC%84%B8.txt</a:t>
            </a:r>
          </a:p>
          <a:p xmlns:a="http://schemas.openxmlformats.org/drawingml/2006/main">
            <a:r>
              <a:t/>
            </a:r>
          </a:p>
          <a:p xmlns:a="http://schemas.openxmlformats.org/drawingml/2006/main">
            <a:r>
              <a:t>원자료: https://zeusk302-png.github.io/gyeongnam-ai-workshop/downloads/%ED%99%95%EC%9E%A5/14B_NotebookLM_%EC%9A%B4%EC%98%81%ED%9A%8C%EC%9D%98_%EC%97%85%EB%AC%B4%EC%9D%B8%EA%B3%84.txt</a:t>
            </a:r>
          </a:p>
          <a:p xmlns:a="http://schemas.openxmlformats.org/drawingml/2006/main">
            <a:r>
              <a:t/>
            </a:r>
          </a:p>
          <a:p xmlns:a="http://schemas.openxmlformats.org/drawingml/2006/main">
            <a:r>
              <a:t>원자료: https://zeusk302-png.github.io/gyeongnam-ai-workshop/downloads/%ED%99%95%EC%9E%A5/14C_%EB%B3%80%EA%B2%BD%EA%B3%B5%EC%A7%80%EC%99%80_%EC%8A%B9%EC%9D%B8%EA%B8%B0%EB%A1%9D.txt</a:t>
            </a:r>
          </a:p>
          <a:p xmlns:a="http://schemas.openxmlformats.org/drawingml/2006/main">
            <a:r>
              <a:t/>
            </a:r>
          </a:p>
          <a:p xmlns:a="http://schemas.openxmlformats.org/drawingml/2006/main">
            <a:r>
              <a:t>원자료: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27. 마감만 연장됐습니다</a:t>
            </a:r>
          </a:p>
          <a:p xmlns:a="http://schemas.openxmlformats.org/drawingml/2006/main">
            <a:r>
              <a:t/>
            </a:r>
          </a:p>
          <a:p xmlns:a="http://schemas.openxmlformats.org/drawingml/2006/main">
            <a:r>
              <a:t>시간: 시작 후 80–83분, 3분 진행.</a:t>
            </a:r>
          </a:p>
          <a:p xmlns:a="http://schemas.openxmlformats.org/drawingml/2006/main">
            <a:r>
              <a:t/>
            </a:r>
          </a:p>
          <a:p xmlns:a="http://schemas.openxmlformats.org/drawingml/2006/main">
            <a:r>
              <a:t>말할 내용: 신청 마감만 연장됐습니다. 취소 기한과 201호는 유지합니다. 네 대 확보는 개인별 배정이나 남은 수량을 뜻하지 않습니다. 잘못된 공지에서 신청·취소 날짜를 같이 늦추거나 장소를 301호로 바꾼 부분이 있다면 수정하게 합니다.</a:t>
            </a:r>
          </a:p>
          <a:p xmlns:a="http://schemas.openxmlformats.org/drawingml/2006/main">
            <a:r>
              <a:t/>
            </a:r>
          </a:p>
          <a:p xmlns:a="http://schemas.openxmlformats.org/drawingml/2006/main">
            <a:r>
              <a:t>참가자에게 할 질문: 같은 승인 묶음에서 바뀌지 않은 조건은 무엇인가요?</a:t>
            </a:r>
          </a:p>
          <a:p xmlns:a="http://schemas.openxmlformats.org/drawingml/2006/main">
            <a:r>
              <a:t/>
            </a:r>
          </a:p>
          <a:p xmlns:a="http://schemas.openxmlformats.org/drawingml/2006/main">
            <a:r>
              <a:t>예상 오류와 대응: 추가 확인 요청을 조건부 승인으로 바꾸지 않습니다.</a:t>
            </a:r>
          </a:p>
          <a:p xmlns:a="http://schemas.openxmlformats.org/drawingml/2006/main">
            <a:r>
              <a:t/>
            </a:r>
          </a:p>
          <a:p xmlns:a="http://schemas.openxmlformats.org/drawingml/2006/main">
            <a:r>
              <a:t>수업 링크: https://zeusk302-png.github.io/gyeongnam-ai-workshop/#n-summary</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"항목",</a:t>
            </a:r>
          </a:p>
          <a:p xmlns:a="http://schemas.openxmlformats.org/drawingml/2006/main">
            <a:r>
              <a:t>    "최초 조건 또는 제안",</a:t>
            </a:r>
          </a:p>
          <a:p xmlns:a="http://schemas.openxmlformats.org/drawingml/2006/main">
            <a:r>
              <a:t>    "10월 22일 현재 적용"</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"신청 마감",</a:t>
            </a:r>
          </a:p>
          <a:p xmlns:a="http://schemas.openxmlformats.org/drawingml/2006/main">
            <a:r>
              <a:t>      "10월 23일 18:00",</a:t>
            </a:r>
          </a:p>
          <a:p xmlns:a="http://schemas.openxmlformats.org/drawingml/2006/main">
            <a:r>
              <a:t>      "10월 26일 18:00 승인 연장"</a:t>
            </a:r>
          </a:p>
          <a:p xmlns:a="http://schemas.openxmlformats.org/drawingml/2006/main">
            <a:r>
              <a:t>    ],</a:t>
            </a:r>
          </a:p>
          <a:p xmlns:a="http://schemas.openxmlformats.org/drawingml/2006/main">
            <a:r>
              <a:t>    [</a:t>
            </a:r>
          </a:p>
          <a:p xmlns:a="http://schemas.openxmlformats.org/drawingml/2006/main">
            <a:r>
              <a:t>      "취소 통보",</a:t>
            </a:r>
          </a:p>
          <a:p xmlns:a="http://schemas.openxmlformats.org/drawingml/2006/main">
            <a:r>
              <a:t>      "10월 28일 12:00",</a:t>
            </a:r>
          </a:p>
          <a:p xmlns:a="http://schemas.openxmlformats.org/drawingml/2006/main">
            <a:r>
              <a:t>      "그대로 유지"</a:t>
            </a:r>
          </a:p>
          <a:p xmlns:a="http://schemas.openxmlformats.org/drawingml/2006/main">
            <a:r>
              <a:t>    ],</a:t>
            </a:r>
          </a:p>
          <a:p xmlns:a="http://schemas.openxmlformats.org/drawingml/2006/main">
            <a:r>
              <a:t>    [</a:t>
            </a:r>
          </a:p>
          <a:p xmlns:a="http://schemas.openxmlformats.org/drawingml/2006/main">
            <a:r>
              <a:t>      "장소",</a:t>
            </a:r>
          </a:p>
          <a:p xmlns:a="http://schemas.openxmlformats.org/drawingml/2006/main">
            <a:r>
              <a:t>      "201호 / 301호 제안",</a:t>
            </a:r>
          </a:p>
          <a:p xmlns:a="http://schemas.openxmlformats.org/drawingml/2006/main">
            <a:r>
              <a:t>      "301호 미승인, 201호 유지"</a:t>
            </a:r>
          </a:p>
          <a:p xmlns:a="http://schemas.openxmlformats.org/drawingml/2006/main">
            <a:r>
              <a:t>    ],</a:t>
            </a:r>
          </a:p>
          <a:p xmlns:a="http://schemas.openxmlformats.org/drawingml/2006/main">
            <a:r>
              <a:t>    [</a:t>
            </a:r>
          </a:p>
          <a:p xmlns:a="http://schemas.openxmlformats.org/drawingml/2006/main">
            <a:r>
              <a:t>      "대여 기기",</a:t>
            </a:r>
          </a:p>
          <a:p xmlns:a="http://schemas.openxmlformats.org/drawingml/2006/main">
            <a:r>
              <a:t>      "보유 노트북 사용 검토",</a:t>
            </a:r>
          </a:p>
          <a:p xmlns:a="http://schemas.openxmlformats.org/drawingml/2006/main">
            <a:r>
              <a:t>      "4대 확보 승인, 개인 배정 미확정"</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원자료: https://zeusk302-png.github.io/gyeongnam-ai-workshop/downloads/%ED%99%95%EC%9E%A5/14C_%EB%B3%80%EA%B2%BD%EA%B3%B5%EC%A7%80%EC%99%80_%EC%8A%B9%EC%9D%B8%EA%B8%B0%EB%A1%9D.txt</a:t>
            </a:r>
          </a:p>
          <a:p xmlns:a="http://schemas.openxmlformats.org/drawingml/2006/main">
            <a:r>
              <a:t/>
            </a:r>
          </a:p>
          <a:p xmlns:a="http://schemas.openxmlformats.org/drawingml/2006/main">
            <a:r>
              <a:t>원자료: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28. 낡은 문장이 세 곳에 남았습니다</a:t>
            </a:r>
          </a:p>
          <a:p xmlns:a="http://schemas.openxmlformats.org/drawingml/2006/main">
            <a:r>
              <a:t/>
            </a:r>
          </a:p>
          <a:p xmlns:a="http://schemas.openxmlformats.org/drawingml/2006/main">
            <a:r>
              <a:t>시간: 시작 후 83–87분, 4분 진행.</a:t>
            </a:r>
          </a:p>
          <a:p xmlns:a="http://schemas.openxmlformats.org/drawingml/2006/main">
            <a:r>
              <a:t/>
            </a:r>
          </a:p>
          <a:p xmlns:a="http://schemas.openxmlformats.org/drawingml/2006/main">
            <a:r>
              <a:t>말할 내용: 4분 동안 최신 운영 조건과 구공지 수정표를 요청합니다. 같은 날짜가 세 곳에 남아 있습니다. 수정 요청을 받았다는 사실과 실제 게시물을 고쳤다는 기록은 다르므로 완료 회신을 별도로 봅니다.</a:t>
            </a:r>
          </a:p>
          <a:p xmlns:a="http://schemas.openxmlformats.org/drawingml/2006/main">
            <a:r>
              <a:t/>
            </a:r>
          </a:p>
          <a:p xmlns:a="http://schemas.openxmlformats.org/drawingml/2006/main">
            <a:r>
              <a:t>참가자에게 할 질문: 문안을 만들었다는 이유로 게시 완료라고 쓰진 않았나요?</a:t>
            </a:r>
          </a:p>
          <a:p xmlns:a="http://schemas.openxmlformats.org/drawingml/2006/main">
            <a:r>
              <a:t/>
            </a:r>
          </a:p>
          <a:p xmlns:a="http://schemas.openxmlformats.org/drawingml/2006/main">
            <a:r>
              <a:t>예상 오류와 대응: 수정안을 실제 게시 결과로 표시하지 않습니다.</a:t>
            </a:r>
          </a:p>
          <a:p xmlns:a="http://schemas.openxmlformats.org/drawingml/2006/main">
            <a:r>
              <a:t/>
            </a:r>
          </a:p>
          <a:p xmlns:a="http://schemas.openxmlformats.org/drawingml/2006/main">
            <a:r>
              <a:t>수업 링크: https://zeusk302-png.github.io/gyeongnam-ai-workshop/#n-summary</a:t>
            </a:r>
          </a:p>
          <a:p xmlns:a="http://schemas.openxmlformats.org/drawingml/2006/main">
            <a:r>
              <a:t/>
            </a:r>
          </a:p>
          <a:p xmlns:a="http://schemas.openxmlformats.org/drawingml/2006/main">
            <a:r>
              <a:t>실습 안내: 구공지 세 곳과 남은 업무 정리</a:t>
            </a:r>
          </a:p>
          <a:p xmlns:a="http://schemas.openxmlformats.org/drawingml/2006/main">
            <a:r>
              <a:t/>
            </a:r>
          </a:p>
          <a:p xmlns:a="http://schemas.openxmlformats.org/drawingml/2006/main">
            <a:r>
              <a:t>진행 순서: A3의 신청 안내 수정 / A5-2 부서 문안·C5 포털 문안 수정 / 수정 완료 회신이 있는지 확인</a:t>
            </a:r>
          </a:p>
          <a:p xmlns:a="http://schemas.openxmlformats.org/drawingml/2006/main">
            <a:r>
              <a:t/>
            </a:r>
          </a:p>
          <a:p xmlns:a="http://schemas.openxmlformats.org/drawingml/2006/main">
            <a:r>
              <a:t>남길 결과: 수정표 3행과 남은 업무</a:t>
            </a:r>
          </a:p>
          <a:p xmlns:a="http://schemas.openxmlformats.org/drawingml/2006/main">
            <a:r>
              <a:t/>
            </a:r>
          </a:p>
          <a:p xmlns:a="http://schemas.openxmlformats.org/drawingml/2006/main">
            <a:r>
              <a:t>원자료: https://zeusk302-png.github.io/gyeongnam-ai-workshop/downloads/%ED%99%95%EC%9E%A5/14A_NotebookLM_%EA%B5%90%EC%9C%A1%EC%9A%B4%EC%98%81%EC%95%88%EB%82%B4_%EC%83%81%EC%84%B8.txt</a:t>
            </a:r>
          </a:p>
          <a:p xmlns:a="http://schemas.openxmlformats.org/drawingml/2006/main">
            <a:r>
              <a:t/>
            </a:r>
          </a:p>
          <a:p xmlns:a="http://schemas.openxmlformats.org/drawingml/2006/main">
            <a:r>
              <a:t>원자료: https://zeusk302-png.github.io/gyeongnam-ai-workshop/downloads/%ED%99%95%EC%9E%A5/14B_NotebookLM_%EC%9A%B4%EC%98%81%ED%9A%8C%EC%9D%98_%EC%97%85%EB%AC%B4%EC%9D%B8%EA%B3%84.txt</a:t>
            </a:r>
          </a:p>
          <a:p xmlns:a="http://schemas.openxmlformats.org/drawingml/2006/main">
            <a:r>
              <a:t/>
            </a:r>
          </a:p>
          <a:p xmlns:a="http://schemas.openxmlformats.org/drawingml/2006/main">
            <a:r>
              <a:t>원자료: https://zeusk302-png.github.io/gyeongnam-ai-workshop/downloads/%ED%99%95%EC%9E%A5/14C_%EB%B3%80%EA%B2%BD%EA%B3%B5%EC%A7%80%EC%99%80_%EC%8A%B9%EC%9D%B8%EA%B8%B0%EB%A1%9D.txt</a:t>
            </a:r>
          </a:p>
          <a:p xmlns:a="http://schemas.openxmlformats.org/drawingml/2006/main">
            <a:r>
              <a:t/>
            </a:r>
          </a:p>
          <a:p xmlns:a="http://schemas.openxmlformats.org/drawingml/2006/main">
            <a:r>
              <a:t>원자료: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29. 이 표에서 “완료”를 찾아보세요</a:t>
            </a:r>
          </a:p>
          <a:p xmlns:a="http://schemas.openxmlformats.org/drawingml/2006/main">
            <a:r>
              <a:t/>
            </a:r>
          </a:p>
          <a:p xmlns:a="http://schemas.openxmlformats.org/drawingml/2006/main">
            <a:r>
              <a:t>시간: 시작 후 87–89분, 2분 진행.</a:t>
            </a:r>
          </a:p>
          <a:p xmlns:a="http://schemas.openxmlformats.org/drawingml/2006/main">
            <a:r>
              <a:t/>
            </a:r>
          </a:p>
          <a:p xmlns:a="http://schemas.openxmlformats.org/drawingml/2006/main">
            <a:r>
              <a:t>말할 내용: 실제 인계표를 크게 보여 줍니다. 표가 정돈돼 보여도 기기를 확보한 것과 특정 참가자에게 배정한 것은 다릅니다. 실제로 없는 오류를 있다고 몰아가지 않고, 완료로 오해할 수 있는 문장을 골라 원문 상태와 비교하게 합니다.</a:t>
            </a:r>
          </a:p>
          <a:p xmlns:a="http://schemas.openxmlformats.org/drawingml/2006/main">
            <a:r>
              <a:t/>
            </a:r>
          </a:p>
          <a:p xmlns:a="http://schemas.openxmlformats.org/drawingml/2006/main">
            <a:r>
              <a:t>참가자에게 할 질문: 내 표의 완료 표시는 어떤 회신을 근거로 했나요?</a:t>
            </a:r>
          </a:p>
          <a:p xmlns:a="http://schemas.openxmlformats.org/drawingml/2006/main">
            <a:r>
              <a:t/>
            </a:r>
          </a:p>
          <a:p xmlns:a="http://schemas.openxmlformats.org/drawingml/2006/main">
            <a:r>
              <a:t>예상 오류와 대응: 실제 응답 화면을 정답표로 취급하지 않습니다.</a:t>
            </a:r>
          </a:p>
          <a:p xmlns:a="http://schemas.openxmlformats.org/drawingml/2006/main">
            <a:r>
              <a:t/>
            </a:r>
          </a:p>
          <a:p xmlns:a="http://schemas.openxmlformats.org/drawingml/2006/main">
            <a:r>
              <a:t>수업 링크: https://zeusk302-png.github.io/gyeongnam-ai-workshop/#n-summary</a:t>
            </a:r>
          </a:p>
          <a:p xmlns:a="http://schemas.openxmlformats.org/drawingml/2006/main">
            <a:r>
              <a:t/>
            </a:r>
          </a:p>
          <a:p xmlns:a="http://schemas.openxmlformats.org/drawingml/2006/main">
            <a:r>
              <a:t>화면 설명: 네 소스를 사용한 실제 NotebookLM 답변 일부</a:t>
            </a:r>
          </a:p>
          <a:p xmlns:a="http://schemas.openxmlformats.org/drawingml/2006/main">
            <a:r>
              <a:t/>
            </a:r>
          </a:p>
          <a:p xmlns:a="http://schemas.openxmlformats.org/drawingml/2006/main">
            <a:r>
              <a:t>화면 원본: assets/captures/w02-notebook-handoff.png</a:t>
            </a:r>
          </a:p>
          <a:p xmlns:a="http://schemas.openxmlformats.org/drawingml/2006/main">
            <a:r>
              <a:t/>
            </a:r>
          </a:p>
          <a:p xmlns:a="http://schemas.openxmlformats.org/drawingml/2006/main">
            <a:r>
              <a:t>참여 진행: {"kind":"spot-error","seconds":30,"prompt":"완료로 오해하기 쉬운 상태 하나를 골라 원문과 비교합니다."}</a:t>
            </a:r>
          </a:p>
          <a:p xmlns:a="http://schemas.openxmlformats.org/drawingml/2006/main">
            <a:r>
              <a:t/>
            </a:r>
          </a:p>
          <a:p xmlns:a="http://schemas.openxmlformats.org/drawingml/2006/main">
            <a:r>
              <a:t>원자료: https://zeusk302-png.github.io/gyeongnam-ai-workshop/downloads/%ED%99%95%EC%9E%A5/14A_NotebookLM_%EA%B5%90%EC%9C%A1%EC%9A%B4%EC%98%81%EC%95%88%EB%82%B4_%EC%83%81%EC%84%B8.txt</a:t>
            </a:r>
          </a:p>
          <a:p xmlns:a="http://schemas.openxmlformats.org/drawingml/2006/main">
            <a:r>
              <a:t/>
            </a:r>
          </a:p>
          <a:p xmlns:a="http://schemas.openxmlformats.org/drawingml/2006/main">
            <a:r>
              <a:t>원자료: https://zeusk302-png.github.io/gyeongnam-ai-workshop/downloads/%ED%99%95%EC%9E%A5/14B_NotebookLM_%EC%9A%B4%EC%98%81%ED%9A%8C%EC%9D%98_%EC%97%85%EB%AC%B4%EC%9D%B8%EA%B3%84.txt</a:t>
            </a:r>
          </a:p>
          <a:p xmlns:a="http://schemas.openxmlformats.org/drawingml/2006/main">
            <a:r>
              <a:t/>
            </a:r>
          </a:p>
          <a:p xmlns:a="http://schemas.openxmlformats.org/drawingml/2006/main">
            <a:r>
              <a:t>원자료: https://zeusk302-png.github.io/gyeongnam-ai-workshop/downloads/%ED%99%95%EC%9E%A5/14C_%EB%B3%80%EA%B2%BD%EA%B3%B5%EC%A7%80%EC%99%80_%EC%8A%B9%EC%9D%B8%EA%B8%B0%EB%A1%9D.txt</a:t>
            </a:r>
          </a:p>
          <a:p xmlns:a="http://schemas.openxmlformats.org/drawingml/2006/main">
            <a:r>
              <a:t/>
            </a:r>
          </a:p>
          <a:p xmlns:a="http://schemas.openxmlformats.org/drawingml/2006/main">
            <a:r>
              <a:t>원자료: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30. 인용 문서 밖에 무엇이 있을까요?</a:t>
            </a:r>
          </a:p>
          <a:p xmlns:a="http://schemas.openxmlformats.org/drawingml/2006/main">
            <a:r>
              <a:t/>
            </a:r>
          </a:p>
          <a:p xmlns:a="http://schemas.openxmlformats.org/drawingml/2006/main">
            <a:r>
              <a:t>시간: 시작 후 89–92분, 3분 진행.</a:t>
            </a:r>
          </a:p>
          <a:p xmlns:a="http://schemas.openxmlformats.org/drawingml/2006/main">
            <a:r>
              <a:t/>
            </a:r>
          </a:p>
          <a:p xmlns:a="http://schemas.openxmlformats.org/drawingml/2006/main">
            <a:r>
              <a:t>말할 내용: 기본연습 인용 화면에 보이는 10월 23일은 구기한이라고 먼저 표시합니다. 다음으로 무엇을 확인할지 묻습니다. 이 화면은 인용을 여는 조작 참고이며 오늘 업무실습의 최신 결과가 아닙니다. C2의 승인 연장과 C2-1의 유지 항목을 함께 확인하게 합니다. 다음 장에서 최신 마감 10월 26일 18시를 공개합니다.</a:t>
            </a:r>
          </a:p>
          <a:p xmlns:a="http://schemas.openxmlformats.org/drawingml/2006/main">
            <a:r>
              <a:t/>
            </a:r>
          </a:p>
          <a:p xmlns:a="http://schemas.openxmlformats.org/drawingml/2006/main">
            <a:r>
              <a:t>참가자에게 할 질문: 인용한 문서보다 나중에 승인된 문서는 없나요?</a:t>
            </a:r>
          </a:p>
          <a:p xmlns:a="http://schemas.openxmlformats.org/drawingml/2006/main">
            <a:r>
              <a:t/>
            </a:r>
          </a:p>
          <a:p xmlns:a="http://schemas.openxmlformats.org/drawingml/2006/main">
            <a:r>
              <a:t>예상 오류와 대응: 옛 캡처의 날짜를 최신 업무 조건으로 제시하지 않습니다.</a:t>
            </a:r>
          </a:p>
          <a:p xmlns:a="http://schemas.openxmlformats.org/drawingml/2006/main">
            <a:r>
              <a:t/>
            </a:r>
          </a:p>
          <a:p xmlns:a="http://schemas.openxmlformats.org/drawingml/2006/main">
            <a:r>
              <a:t>수업 링크: https://zeusk302-png.github.io/gyeongnam-ai-workshop/#n-citation</a:t>
            </a:r>
          </a:p>
          <a:p xmlns:a="http://schemas.openxmlformats.org/drawingml/2006/main">
            <a:r>
              <a:t/>
            </a:r>
          </a:p>
          <a:p xmlns:a="http://schemas.openxmlformats.org/drawingml/2006/main">
            <a:r>
              <a:t>화면 설명: 기본연습의 실제 인용 화면 · 10월 23일은 구기한</a:t>
            </a:r>
          </a:p>
          <a:p xmlns:a="http://schemas.openxmlformats.org/drawingml/2006/main">
            <a:r>
              <a:t/>
            </a:r>
          </a:p>
          <a:p xmlns:a="http://schemas.openxmlformats.org/drawingml/2006/main">
            <a:r>
              <a:t>화면 원본: assets/captures/n09-citation-a3.png</a:t>
            </a:r>
          </a:p>
          <a:p xmlns:a="http://schemas.openxmlformats.org/drawingml/2006/main">
            <a:r>
              <a:t/>
            </a:r>
          </a:p>
          <a:p xmlns:a="http://schemas.openxmlformats.org/drawingml/2006/main">
            <a:r>
              <a:t>참여 진행: {"kind":"vote","seconds":20,"prompt":"A와 B 중 하나를 고르고, 볼 문서를 말합니다."}</a:t>
            </a:r>
          </a:p>
          <a:p xmlns:a="http://schemas.openxmlformats.org/drawingml/2006/main">
            <a:r>
              <a:t/>
            </a:r>
          </a:p>
          <a:p xmlns:a="http://schemas.openxmlformats.org/drawingml/2006/main">
            <a:r>
              <a:t>답 공개 참고: {"questionSlide":30,"answerSlide":31,"answer":"B. 최신 신청 마감은 10월 26일 18:00입니다.","evidence":"14C C2, C2-1","role":"question"}</a:t>
            </a:r>
          </a:p>
          <a:p xmlns:a="http://schemas.openxmlformats.org/drawingml/2006/main">
            <a:r>
              <a:t/>
            </a:r>
          </a:p>
          <a:p xmlns:a="http://schemas.openxmlformats.org/drawingml/2006/main">
            <a:r>
              <a:t>원자료: https://zeusk302-png.github.io/gyeongnam-ai-workshop/downloads/%ED%99%95%EC%9E%A5/14A_NotebookLM_%EA%B5%90%EC%9C%A1%EC%9A%B4%EC%98%81%EC%95%88%EB%82%B4_%EC%83%81%EC%84%B8.txt</a:t>
            </a:r>
          </a:p>
          <a:p xmlns:a="http://schemas.openxmlformats.org/drawingml/2006/main">
            <a:r>
              <a:t/>
            </a:r>
          </a:p>
          <a:p xmlns:a="http://schemas.openxmlformats.org/drawingml/2006/main">
            <a:r>
              <a:t>원자료: https://zeusk302-png.github.io/gyeongnam-ai-workshop/downloads/%ED%99%95%EC%9E%A5/14B_NotebookLM_%EC%9A%B4%EC%98%81%ED%9A%8C%EC%9D%98_%EC%97%85%EB%AC%B4%EC%9D%B8%EA%B3%84.txt</a:t>
            </a:r>
          </a:p>
          <a:p xmlns:a="http://schemas.openxmlformats.org/drawingml/2006/main">
            <a:r>
              <a:t/>
            </a:r>
          </a:p>
          <a:p xmlns:a="http://schemas.openxmlformats.org/drawingml/2006/main">
            <a:r>
              <a:t>원자료: https://zeusk302-png.github.io/gyeongnam-ai-workshop/downloads/%ED%99%95%EC%9E%A5/14C_%EB%B3%80%EA%B2%BD%EA%B3%B5%EC%A7%80%EC%99%80_%EC%8A%B9%EC%9D%B8%EA%B8%B0%EB%A1%9D.txt</a:t>
            </a:r>
          </a:p>
          <a:p xmlns:a="http://schemas.openxmlformats.org/drawingml/2006/main">
            <a:r>
              <a:t/>
            </a:r>
          </a:p>
          <a:p xmlns:a="http://schemas.openxmlformats.org/drawingml/2006/main">
            <a:r>
              <a:t>원자료: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31. 최신 마감은 10월 26일 18시</a:t>
            </a:r>
          </a:p>
          <a:p xmlns:a="http://schemas.openxmlformats.org/drawingml/2006/main">
            <a:r>
              <a:t/>
            </a:r>
          </a:p>
          <a:p xmlns:a="http://schemas.openxmlformats.org/drawingml/2006/main">
            <a:r>
              <a:t>시간: 시작 후 92–96분, 4분 진행.</a:t>
            </a:r>
          </a:p>
          <a:p xmlns:a="http://schemas.openxmlformats.org/drawingml/2006/main">
            <a:r>
              <a:t/>
            </a:r>
          </a:p>
          <a:p xmlns:a="http://schemas.openxmlformats.org/drawingml/2006/main">
            <a:r>
              <a:t>말할 내용: 앞 장은 B가 맞습니다. 인용한 문장이 원문에 있어도 현재 적용할 답인지 확인해야 합니다. 최신 마감은 C2의 10월 26일 18시입니다. 3분 동안 FAQ 여섯 항목을 만들고 마지막 1분에 마감과 대여 배정 인용을 확인합니다. 일시·장소, 취소, 참가비·주차, 녹화도 다룹니다.</a:t>
            </a:r>
          </a:p>
          <a:p xmlns:a="http://schemas.openxmlformats.org/drawingml/2006/main">
            <a:r>
              <a:t/>
            </a:r>
          </a:p>
          <a:p xmlns:a="http://schemas.openxmlformats.org/drawingml/2006/main">
            <a:r>
              <a:t>참가자에게 할 질문: 인용한 문서의 기준일과 승인 범위까지 읽었나요?</a:t>
            </a:r>
          </a:p>
          <a:p xmlns:a="http://schemas.openxmlformats.org/drawingml/2006/main">
            <a:r>
              <a:t/>
            </a:r>
          </a:p>
          <a:p xmlns:a="http://schemas.openxmlformats.org/drawingml/2006/main">
            <a:r>
              <a:t>예상 오류와 대응: 신청 가능 기한을 개인의 참가 확정으로 바꾸지 않습니다.</a:t>
            </a:r>
          </a:p>
          <a:p xmlns:a="http://schemas.openxmlformats.org/drawingml/2006/main">
            <a:r>
              <a:t/>
            </a:r>
          </a:p>
          <a:p xmlns:a="http://schemas.openxmlformats.org/drawingml/2006/main">
            <a:r>
              <a:t>수업 링크: https://zeusk302-png.github.io/gyeongnam-ai-workshop/#n-citation</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"FAQ 항목",</a:t>
            </a:r>
          </a:p>
          <a:p xmlns:a="http://schemas.openxmlformats.org/drawingml/2006/main">
            <a:r>
              <a:t>    "답변에 남길 조건"</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"교육 일시·장소",</a:t>
            </a:r>
          </a:p>
          <a:p xmlns:a="http://schemas.openxmlformats.org/drawingml/2006/main">
            <a:r>
              <a:t>      "10월 30일 14:00~17:00, 201호"</a:t>
            </a:r>
          </a:p>
          <a:p xmlns:a="http://schemas.openxmlformats.org/drawingml/2006/main">
            <a:r>
              <a:t>    ],</a:t>
            </a:r>
          </a:p>
          <a:p xmlns:a="http://schemas.openxmlformats.org/drawingml/2006/main">
            <a:r>
              <a:t>    [</a:t>
            </a:r>
          </a:p>
          <a:p xmlns:a="http://schemas.openxmlformats.org/drawingml/2006/main">
            <a:r>
              <a:t>      "신청 마감",</a:t>
            </a:r>
          </a:p>
          <a:p xmlns:a="http://schemas.openxmlformats.org/drawingml/2006/main">
            <a:r>
              <a:t>      "10월 26일 18:00, 참가 확정은 별도 확인"</a:t>
            </a:r>
          </a:p>
          <a:p xmlns:a="http://schemas.openxmlformats.org/drawingml/2006/main">
            <a:r>
              <a:t>    ],</a:t>
            </a:r>
          </a:p>
          <a:p xmlns:a="http://schemas.openxmlformats.org/drawingml/2006/main">
            <a:r>
              <a:t>    [</a:t>
            </a:r>
          </a:p>
          <a:p xmlns:a="http://schemas.openxmlformats.org/drawingml/2006/main">
            <a:r>
              <a:t>      "취소 마감",</a:t>
            </a:r>
          </a:p>
          <a:p xmlns:a="http://schemas.openxmlformats.org/drawingml/2006/main">
            <a:r>
              <a:t>      "10월 28일 12:00, 통보와 처리 완료 구분"</a:t>
            </a:r>
          </a:p>
          <a:p xmlns:a="http://schemas.openxmlformats.org/drawingml/2006/main">
            <a:r>
              <a:t>    ],</a:t>
            </a:r>
          </a:p>
          <a:p xmlns:a="http://schemas.openxmlformats.org/drawingml/2006/main">
            <a:r>
              <a:t>    [</a:t>
            </a:r>
          </a:p>
          <a:p xmlns:a="http://schemas.openxmlformats.org/drawingml/2006/main">
            <a:r>
              <a:t>      "참가비·주차",</a:t>
            </a:r>
          </a:p>
          <a:p xmlns:a="http://schemas.openxmlformats.org/drawingml/2006/main">
            <a:r>
              <a:t>      "참가비 무료, 주차 금액은 확인 필요"</a:t>
            </a:r>
          </a:p>
          <a:p xmlns:a="http://schemas.openxmlformats.org/drawingml/2006/main">
            <a:r>
              <a:t>    ],</a:t>
            </a:r>
          </a:p>
          <a:p xmlns:a="http://schemas.openxmlformats.org/drawingml/2006/main">
            <a:r>
              <a:t>    [</a:t>
            </a:r>
          </a:p>
          <a:p xmlns:a="http://schemas.openxmlformats.org/drawingml/2006/main">
            <a:r>
              <a:t>      "노트북 대여",</a:t>
            </a:r>
          </a:p>
          <a:p xmlns:a="http://schemas.openxmlformats.org/drawingml/2006/main">
            <a:r>
              <a:t>      "4대 확보, 개인 배정·수령 시간 미확정"</a:t>
            </a:r>
          </a:p>
          <a:p xmlns:a="http://schemas.openxmlformats.org/drawingml/2006/main">
            <a:r>
              <a:t>    ],</a:t>
            </a:r>
          </a:p>
          <a:p xmlns:a="http://schemas.openxmlformats.org/drawingml/2006/main">
            <a:r>
              <a:t>    [</a:t>
            </a:r>
          </a:p>
          <a:p xmlns:a="http://schemas.openxmlformats.org/drawingml/2006/main">
            <a:r>
              <a:t>      "녹화본",</a:t>
            </a:r>
          </a:p>
          <a:p xmlns:a="http://schemas.openxmlformats.org/drawingml/2006/main">
            <a:r>
              <a:t>      "제공 여부·일정 미정"</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원자료: https://zeusk302-png.github.io/gyeongnam-ai-workshop/downloads/%ED%99%95%EC%9E%A5/14A_NotebookLM_%EA%B5%90%EC%9C%A1%EC%9A%B4%EC%98%81%EC%95%88%EB%82%B4_%EC%83%81%EC%84%B8.txt</a:t>
            </a:r>
          </a:p>
          <a:p xmlns:a="http://schemas.openxmlformats.org/drawingml/2006/main">
            <a:r>
              <a:t/>
            </a:r>
          </a:p>
          <a:p xmlns:a="http://schemas.openxmlformats.org/drawingml/2006/main">
            <a:r>
              <a:t>원자료: https://zeusk302-png.github.io/gyeongnam-ai-workshop/downloads/%ED%99%95%EC%9E%A5/14B_NotebookLM_%EC%9A%B4%EC%98%81%ED%9A%8C%EC%9D%98_%EC%97%85%EB%AC%B4%EC%9D%B8%EA%B3%84.txt</a:t>
            </a:r>
          </a:p>
          <a:p xmlns:a="http://schemas.openxmlformats.org/drawingml/2006/main">
            <a:r>
              <a:t/>
            </a:r>
          </a:p>
          <a:p xmlns:a="http://schemas.openxmlformats.org/drawingml/2006/main">
            <a:r>
              <a:t>원자료: https://zeusk302-png.github.io/gyeongnam-ai-workshop/downloads/%ED%99%95%EC%9E%A5/14C_%EB%B3%80%EA%B2%BD%EA%B3%B5%EC%A7%80%EC%99%80_%EC%8A%B9%EC%9D%B8%EA%B8%B0%EB%A1%9D.txt</a:t>
            </a:r>
          </a:p>
          <a:p xmlns:a="http://schemas.openxmlformats.org/drawingml/2006/main">
            <a:r>
              <a:t/>
            </a:r>
          </a:p>
          <a:p xmlns:a="http://schemas.openxmlformats.org/drawingml/2006/main">
            <a:r>
              <a:t>원자료: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32. 이 문장을 참가자에게 보내려면</a:t>
            </a:r>
          </a:p>
          <a:p xmlns:a="http://schemas.openxmlformats.org/drawingml/2006/main">
            <a:r>
              <a:t/>
            </a:r>
          </a:p>
          <a:p xmlns:a="http://schemas.openxmlformats.org/drawingml/2006/main">
            <a:r>
              <a:t>시간: 시작 후 96–100분, 4분 진행.</a:t>
            </a:r>
          </a:p>
          <a:p xmlns:a="http://schemas.openxmlformats.org/drawingml/2006/main">
            <a:r>
              <a:t/>
            </a:r>
          </a:p>
          <a:p xmlns:a="http://schemas.openxmlformats.org/drawingml/2006/main">
            <a:r>
              <a:t>말할 내용: 실제 답변에서 HTML 표시 기호나 내부 검토 설명을 참가자가 읽기 쉬운 문장으로 고칩니다. 문장을 짧게 만들면서 미정이나 개인 배정 확인 조건까지 지우지 않았는지 봅니다.</a:t>
            </a:r>
          </a:p>
          <a:p xmlns:a="http://schemas.openxmlformats.org/drawingml/2006/main">
            <a:r>
              <a:t/>
            </a:r>
          </a:p>
          <a:p xmlns:a="http://schemas.openxmlformats.org/drawingml/2006/main">
            <a:r>
              <a:t>참가자에게 할 질문: 외부 답변에 내부 업무 메모가 섞이지 않았나요?</a:t>
            </a:r>
          </a:p>
          <a:p xmlns:a="http://schemas.openxmlformats.org/drawingml/2006/main">
            <a:r>
              <a:t/>
            </a:r>
          </a:p>
          <a:p xmlns:a="http://schemas.openxmlformats.org/drawingml/2006/main">
            <a:r>
              <a:t>예상 오류와 대응: 문장을 매끄럽게 고치며 미확정 조건을 삭제하지 않습니다.</a:t>
            </a:r>
          </a:p>
          <a:p xmlns:a="http://schemas.openxmlformats.org/drawingml/2006/main">
            <a:r>
              <a:t/>
            </a:r>
          </a:p>
          <a:p xmlns:a="http://schemas.openxmlformats.org/drawingml/2006/main">
            <a:r>
              <a:t>수업 링크: https://zeusk302-png.github.io/gyeongnam-ai-workshop/#n-citation</a:t>
            </a:r>
          </a:p>
          <a:p xmlns:a="http://schemas.openxmlformats.org/drawingml/2006/main">
            <a:r>
              <a:t/>
            </a:r>
          </a:p>
          <a:p xmlns:a="http://schemas.openxmlformats.org/drawingml/2006/main">
            <a:r>
              <a:t>화면 설명: 실제 NotebookLM FAQ 일부 · 형식과 수신 대상도 확인</a:t>
            </a:r>
          </a:p>
          <a:p xmlns:a="http://schemas.openxmlformats.org/drawingml/2006/main">
            <a:r>
              <a:t/>
            </a:r>
          </a:p>
          <a:p xmlns:a="http://schemas.openxmlformats.org/drawingml/2006/main">
            <a:r>
              <a:t>화면 원본: assets/captures/w03-notebook-faq.png</a:t>
            </a:r>
          </a:p>
          <a:p xmlns:a="http://schemas.openxmlformats.org/drawingml/2006/main">
            <a:r>
              <a:t/>
            </a:r>
          </a:p>
          <a:p xmlns:a="http://schemas.openxmlformats.org/drawingml/2006/main">
            <a:r>
              <a:t>참여 진행: {"kind":"write","seconds":30,"prompt":"화면의 답변 한 항목을 참가자에게 보낼 한 문장으로 고칩니다."}</a:t>
            </a:r>
          </a:p>
          <a:p xmlns:a="http://schemas.openxmlformats.org/drawingml/2006/main">
            <a:r>
              <a:t/>
            </a:r>
          </a:p>
          <a:p xmlns:a="http://schemas.openxmlformats.org/drawingml/2006/main">
            <a:r>
              <a:t>원자료: https://zeusk302-png.github.io/gyeongnam-ai-workshop/downloads/%ED%99%95%EC%9E%A5/14A_NotebookLM_%EA%B5%90%EC%9C%A1%EC%9A%B4%EC%98%81%EC%95%88%EB%82%B4_%EC%83%81%EC%84%B8.txt</a:t>
            </a:r>
          </a:p>
          <a:p xmlns:a="http://schemas.openxmlformats.org/drawingml/2006/main">
            <a:r>
              <a:t/>
            </a:r>
          </a:p>
          <a:p xmlns:a="http://schemas.openxmlformats.org/drawingml/2006/main">
            <a:r>
              <a:t>원자료: https://zeusk302-png.github.io/gyeongnam-ai-workshop/downloads/%ED%99%95%EC%9E%A5/14B_NotebookLM_%EC%9A%B4%EC%98%81%ED%9A%8C%EC%9D%98_%EC%97%85%EB%AC%B4%EC%9D%B8%EA%B3%84.txt</a:t>
            </a:r>
          </a:p>
          <a:p xmlns:a="http://schemas.openxmlformats.org/drawingml/2006/main">
            <a:r>
              <a:t/>
            </a:r>
          </a:p>
          <a:p xmlns:a="http://schemas.openxmlformats.org/drawingml/2006/main">
            <a:r>
              <a:t>원자료: https://zeusk302-png.github.io/gyeongnam-ai-workshop/downloads/%ED%99%95%EC%9E%A5/14C_%EB%B3%80%EA%B2%BD%EA%B3%B5%EC%A7%80%EC%99%80_%EC%8A%B9%EC%9D%B8%EA%B8%B0%EB%A1%9D.txt</a:t>
            </a:r>
          </a:p>
          <a:p xmlns:a="http://schemas.openxmlformats.org/drawingml/2006/main">
            <a:r>
              <a:t/>
            </a:r>
          </a:p>
          <a:p xmlns:a="http://schemas.openxmlformats.org/drawingml/2006/main">
            <a:r>
              <a:t>원자료: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33. 참가비가 무료면 주차도 무료?</a:t>
            </a:r>
          </a:p>
          <a:p xmlns:a="http://schemas.openxmlformats.org/drawingml/2006/main">
            <a:r>
              <a:t/>
            </a:r>
          </a:p>
          <a:p xmlns:a="http://schemas.openxmlformats.org/drawingml/2006/main">
            <a:r>
              <a:t>시간: 시작 후 100–105분, 5분 진행.</a:t>
            </a:r>
          </a:p>
          <a:p xmlns:a="http://schemas.openxmlformats.org/drawingml/2006/main">
            <a:r>
              <a:t/>
            </a:r>
          </a:p>
          <a:p xmlns:a="http://schemas.openxmlformats.org/drawingml/2006/main">
            <a:r>
              <a:t>말할 내용: 먼저 주차 문의 하나로 판단을 묻습니다. 참가비와 주차비는 다른 항목이며 원자료에는 주차 요금표가 없습니다. 답 공개는 다음 장에서 합니다. 5분 동안 세 번째 질문으로 D01~D14 처리표를 만들고 참가자 문의 12건과 내부 문의 2건을 나눕니다.</a:t>
            </a:r>
          </a:p>
          <a:p xmlns:a="http://schemas.openxmlformats.org/drawingml/2006/main">
            <a:r>
              <a:t/>
            </a:r>
          </a:p>
          <a:p xmlns:a="http://schemas.openxmlformats.org/drawingml/2006/main">
            <a:r>
              <a:t>참가자에게 할 질문: 주차 안내를 위해 어떤 정보가 더 있어야 하나요?</a:t>
            </a:r>
          </a:p>
          <a:p xmlns:a="http://schemas.openxmlformats.org/drawingml/2006/main">
            <a:r>
              <a:t/>
            </a:r>
          </a:p>
          <a:p xmlns:a="http://schemas.openxmlformats.org/drawingml/2006/main">
            <a:r>
              <a:t>예상 오류와 대응: 자료가 없다는 이유로 유료 또는 무료를 단정하지 않습니다.</a:t>
            </a:r>
          </a:p>
          <a:p xmlns:a="http://schemas.openxmlformats.org/drawingml/2006/main">
            <a:r>
              <a:t/>
            </a:r>
          </a:p>
          <a:p xmlns:a="http://schemas.openxmlformats.org/drawingml/2006/main">
            <a:r>
              <a:t>수업 링크: https://zeusk302-png.github.io/gyeongnam-ai-workshop/#n-missing</a:t>
            </a:r>
          </a:p>
          <a:p xmlns:a="http://schemas.openxmlformats.org/drawingml/2006/main">
            <a:r>
              <a:t/>
            </a:r>
          </a:p>
          <a:p xmlns:a="http://schemas.openxmlformats.org/drawingml/2006/main">
            <a:r>
              <a:t>실습 안내: 문의 14건의 답변과 확인 요청 분리</a:t>
            </a:r>
          </a:p>
          <a:p xmlns:a="http://schemas.openxmlformats.org/drawingml/2006/main">
            <a:r>
              <a:t/>
            </a:r>
          </a:p>
          <a:p xmlns:a="http://schemas.openxmlformats.org/drawingml/2006/main">
            <a:r>
              <a:t>진행 순서: D01~D14를 빠짐없이 정리 / 외부 문의와 내부 문의 구분 / 말할 수 없는 항목은 확인 요청</a:t>
            </a:r>
          </a:p>
          <a:p xmlns:a="http://schemas.openxmlformats.org/drawingml/2006/main">
            <a:r>
              <a:t/>
            </a:r>
          </a:p>
          <a:p xmlns:a="http://schemas.openxmlformats.org/drawingml/2006/main">
            <a:r>
              <a:t>남길 결과: 문의 처리표 14행</a:t>
            </a:r>
          </a:p>
          <a:p xmlns:a="http://schemas.openxmlformats.org/drawingml/2006/main">
            <a:r>
              <a:t/>
            </a:r>
          </a:p>
          <a:p xmlns:a="http://schemas.openxmlformats.org/drawingml/2006/main">
            <a:r>
              <a:t>참여 진행: {"kind":"vote","seconds":20,"prompt":"A와 B를 고른 뒤, 확인할 정보를 한 가지 적습니다."}</a:t>
            </a:r>
          </a:p>
          <a:p xmlns:a="http://schemas.openxmlformats.org/drawingml/2006/main">
            <a:r>
              <a:t/>
            </a:r>
          </a:p>
          <a:p xmlns:a="http://schemas.openxmlformats.org/drawingml/2006/main">
            <a:r>
              <a:t>답 공개 참고: {"questionSlide":33,"answerSlide":34,"answer":"A. 주차 요금은 별도 확인해야 합니다. 참가비 무료만으로 알 수 없습니다.","evidence":"14C C6, C7 및 주차 문의","role":"question"}</a:t>
            </a:r>
          </a:p>
          <a:p xmlns:a="http://schemas.openxmlformats.org/drawingml/2006/main">
            <a:r>
              <a:t/>
            </a:r>
          </a:p>
          <a:p xmlns:a="http://schemas.openxmlformats.org/drawingml/2006/main">
            <a:r>
              <a:t>원자료: https://zeusk302-png.github.io/gyeongnam-ai-workshop/downloads/%ED%99%95%EC%9E%A5/14A_NotebookLM_%EA%B5%90%EC%9C%A1%EC%9A%B4%EC%98%81%EC%95%88%EB%82%B4_%EC%83%81%EC%84%B8.txt</a:t>
            </a:r>
          </a:p>
          <a:p xmlns:a="http://schemas.openxmlformats.org/drawingml/2006/main">
            <a:r>
              <a:t/>
            </a:r>
          </a:p>
          <a:p xmlns:a="http://schemas.openxmlformats.org/drawingml/2006/main">
            <a:r>
              <a:t>원자료: https://zeusk302-png.github.io/gyeongnam-ai-workshop/downloads/%ED%99%95%EC%9E%A5/14B_NotebookLM_%EC%9A%B4%EC%98%81%ED%9A%8C%EC%9D%98_%EC%97%85%EB%AC%B4%EC%9D%B8%EA%B3%84.txt</a:t>
            </a:r>
          </a:p>
          <a:p xmlns:a="http://schemas.openxmlformats.org/drawingml/2006/main">
            <a:r>
              <a:t/>
            </a:r>
          </a:p>
          <a:p xmlns:a="http://schemas.openxmlformats.org/drawingml/2006/main">
            <a:r>
              <a:t>원자료: https://zeusk302-png.github.io/gyeongnam-ai-workshop/downloads/%ED%99%95%EC%9E%A5/14C_%EB%B3%80%EA%B2%BD%EA%B3%B5%EC%A7%80%EC%99%80_%EC%8A%B9%EC%9D%B8%EA%B8%B0%EB%A1%9D.txt</a:t>
            </a:r>
          </a:p>
          <a:p xmlns:a="http://schemas.openxmlformats.org/drawingml/2006/main">
            <a:r>
              <a:t/>
            </a:r>
          </a:p>
          <a:p xmlns:a="http://schemas.openxmlformats.org/drawingml/2006/main">
            <a:r>
              <a:t>원자료: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34. 주차 요금은 확인이 필요합니다</a:t>
            </a:r>
          </a:p>
          <a:p xmlns:a="http://schemas.openxmlformats.org/drawingml/2006/main">
            <a:r>
              <a:t/>
            </a:r>
          </a:p>
          <a:p xmlns:a="http://schemas.openxmlformats.org/drawingml/2006/main">
            <a:r>
              <a:t>시간: 시작 후 105–108분, 3분 진행.</a:t>
            </a:r>
          </a:p>
          <a:p xmlns:a="http://schemas.openxmlformats.org/drawingml/2006/main">
            <a:r>
              <a:t/>
            </a:r>
          </a:p>
          <a:p xmlns:a="http://schemas.openxmlformats.org/drawingml/2006/main">
            <a:r>
              <a:t>말할 내용: 정답은 A입니다. 주차는 요금표가 없고, 녹화는 아직 결정하지 않았습니다. 대여는 확보량과 대여료 일부 조건은 확인됐지만 개인 배정이 미정입니다. 각 행에 알고 있는 내용과 담당자에게 물을 항목을 나눠 씁니다.</a:t>
            </a:r>
          </a:p>
          <a:p xmlns:a="http://schemas.openxmlformats.org/drawingml/2006/main">
            <a:r>
              <a:t/>
            </a:r>
          </a:p>
          <a:p xmlns:a="http://schemas.openxmlformats.org/drawingml/2006/main">
            <a:r>
              <a:t>참가자에게 할 질문: 자료 없음과 아직 결정하지 않음을 구분했나요?</a:t>
            </a:r>
          </a:p>
          <a:p xmlns:a="http://schemas.openxmlformats.org/drawingml/2006/main">
            <a:r>
              <a:t/>
            </a:r>
          </a:p>
          <a:p xmlns:a="http://schemas.openxmlformats.org/drawingml/2006/main">
            <a:r>
              <a:t>예상 오류와 대응: 단순히 모두 “확인 필요”로만 적어 확인할 질문을 없애지 않습니다.</a:t>
            </a:r>
          </a:p>
          <a:p xmlns:a="http://schemas.openxmlformats.org/drawingml/2006/main">
            <a:r>
              <a:t/>
            </a:r>
          </a:p>
          <a:p xmlns:a="http://schemas.openxmlformats.org/drawingml/2006/main">
            <a:r>
              <a:t>수업 링크: https://zeusk302-png.github.io/gyeongnam-ai-workshop/#n-missing</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"문의",</a:t>
            </a:r>
          </a:p>
          <a:p xmlns:a="http://schemas.openxmlformats.org/drawingml/2006/main">
            <a:r>
              <a:t>    "현재 말할 수 있는 내용",</a:t>
            </a:r>
          </a:p>
          <a:p xmlns:a="http://schemas.openxmlformats.org/drawingml/2006/main">
            <a:r>
              <a:t>    "추가 확인"</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"주차 요금",</a:t>
            </a:r>
          </a:p>
          <a:p xmlns:a="http://schemas.openxmlformats.org/drawingml/2006/main">
            <a:r>
              <a:t>      "참가비 무료와 별도 항목",</a:t>
            </a:r>
          </a:p>
          <a:p xmlns:a="http://schemas.openxmlformats.org/drawingml/2006/main">
            <a:r>
              <a:t>      "3시간 요금, 감면, 등록 절차"</a:t>
            </a:r>
          </a:p>
          <a:p xmlns:a="http://schemas.openxmlformats.org/drawingml/2006/main">
            <a:r>
              <a:t>    ],</a:t>
            </a:r>
          </a:p>
          <a:p xmlns:a="http://schemas.openxmlformats.org/drawingml/2006/main">
            <a:r>
              <a:t>    [</a:t>
            </a:r>
          </a:p>
          <a:p xmlns:a="http://schemas.openxmlformats.org/drawingml/2006/main">
            <a:r>
              <a:t>      "녹화본",</a:t>
            </a:r>
          </a:p>
          <a:p xmlns:a="http://schemas.openxmlformats.org/drawingml/2006/main">
            <a:r>
              <a:t>      "제공 여부와 일정 미정",</a:t>
            </a:r>
          </a:p>
          <a:p xmlns:a="http://schemas.openxmlformats.org/drawingml/2006/main">
            <a:r>
              <a:t>      "촬영·배포 결정, 대체 이수"</a:t>
            </a:r>
          </a:p>
          <a:p xmlns:a="http://schemas.openxmlformats.org/drawingml/2006/main">
            <a:r>
              <a:t>    ],</a:t>
            </a:r>
          </a:p>
          <a:p xmlns:a="http://schemas.openxmlformats.org/drawingml/2006/main">
            <a:r>
              <a:t>    [</a:t>
            </a:r>
          </a:p>
          <a:p xmlns:a="http://schemas.openxmlformats.org/drawingml/2006/main">
            <a:r>
              <a:t>      "노트북 대여",</a:t>
            </a:r>
          </a:p>
          <a:p xmlns:a="http://schemas.openxmlformats.org/drawingml/2006/main">
            <a:r>
              <a:t>      "4대 확보와 대여료 없음",</a:t>
            </a:r>
          </a:p>
          <a:p xmlns:a="http://schemas.openxmlformats.org/drawingml/2006/main">
            <a:r>
              <a:t>      "개인 배정, 수령·반납 시각"</a:t>
            </a:r>
          </a:p>
          <a:p xmlns:a="http://schemas.openxmlformats.org/drawingml/2006/main">
            <a:r>
              <a:t>    ],</a:t>
            </a:r>
          </a:p>
          <a:p xmlns:a="http://schemas.openxmlformats.org/drawingml/2006/main">
            <a:r>
              <a:t>    [</a:t>
            </a:r>
          </a:p>
          <a:p xmlns:a="http://schemas.openxmlformats.org/drawingml/2006/main">
            <a:r>
              <a:t>      "기간 안의 신청",</a:t>
            </a:r>
          </a:p>
          <a:p xmlns:a="http://schemas.openxmlformats.org/drawingml/2006/main">
            <a:r>
              <a:t>      "연장된 신청 기간 안",</a:t>
            </a:r>
          </a:p>
          <a:p xmlns:a="http://schemas.openxmlformats.org/drawingml/2006/main">
            <a:r>
              <a:t>      "접수 상태, 잔여석, 참가 확정"</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원자료: https://zeusk302-png.github.io/gyeongnam-ai-workshop/downloads/%ED%99%95%EC%9E%A5/14A_NotebookLM_%EA%B5%90%EC%9C%A1%EC%9A%B4%EC%98%81%EC%95%88%EB%82%B4_%EC%83%81%EC%84%B8.txt</a:t>
            </a:r>
          </a:p>
          <a:p xmlns:a="http://schemas.openxmlformats.org/drawingml/2006/main">
            <a:r>
              <a:t/>
            </a:r>
          </a:p>
          <a:p xmlns:a="http://schemas.openxmlformats.org/drawingml/2006/main">
            <a:r>
              <a:t>원자료: https://zeusk302-png.github.io/gyeongnam-ai-workshop/downloads/%ED%99%95%EC%9E%A5/14B_NotebookLM_%EC%9A%B4%EC%98%81%ED%9A%8C%EC%9D%98_%EC%97%85%EB%AC%B4%EC%9D%B8%EA%B3%84.txt</a:t>
            </a:r>
          </a:p>
          <a:p xmlns:a="http://schemas.openxmlformats.org/drawingml/2006/main">
            <a:r>
              <a:t/>
            </a:r>
          </a:p>
          <a:p xmlns:a="http://schemas.openxmlformats.org/drawingml/2006/main">
            <a:r>
              <a:t>원자료: https://zeusk302-png.github.io/gyeongnam-ai-workshop/downloads/%ED%99%95%EC%9E%A5/14C_%EB%B3%80%EA%B2%BD%EA%B3%B5%EC%A7%80%EC%99%80_%EC%8A%B9%EC%9D%B8%EA%B8%B0%EB%A1%9D.txt</a:t>
            </a:r>
          </a:p>
          <a:p xmlns:a="http://schemas.openxmlformats.org/drawingml/2006/main">
            <a:r>
              <a:t/>
            </a:r>
          </a:p>
          <a:p xmlns:a="http://schemas.openxmlformats.org/drawingml/2006/main">
            <a:r>
              <a:t>원자료: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35. 안내문 완료가 변경 반영 완료일까요?</a:t>
            </a:r>
          </a:p>
          <a:p xmlns:a="http://schemas.openxmlformats.org/drawingml/2006/main">
            <a:r>
              <a:t/>
            </a:r>
          </a:p>
          <a:p xmlns:a="http://schemas.openxmlformats.org/drawingml/2006/main">
            <a:r>
              <a:t>시간: 시작 후 108–111분, 3분 진행.</a:t>
            </a:r>
          </a:p>
          <a:p xmlns:a="http://schemas.openxmlformats.org/drawingml/2006/main">
            <a:r>
              <a:t/>
            </a:r>
          </a:p>
          <a:p xmlns:a="http://schemas.openxmlformats.org/drawingml/2006/main">
            <a:r>
              <a:t>말할 내용: 최초 안내문의 정리·내부 공유는 완료됐습니다. 하지만 이후 승인 변경을 반영했는지는 별도 회신이 없습니다. 변경 공지 수정 완료 미확인으로 적어야 하며 무조건 미완료라고 단정하지 않습니다. 표의 완료 범위를 짝에게 설명하게 합니다.</a:t>
            </a:r>
          </a:p>
          <a:p xmlns:a="http://schemas.openxmlformats.org/drawingml/2006/main">
            <a:r>
              <a:t/>
            </a:r>
          </a:p>
          <a:p xmlns:a="http://schemas.openxmlformats.org/drawingml/2006/main">
            <a:r>
              <a:t>참가자에게 할 질문: 무엇까지 완료됐다는 기록인가요?</a:t>
            </a:r>
          </a:p>
          <a:p xmlns:a="http://schemas.openxmlformats.org/drawingml/2006/main">
            <a:r>
              <a:t/>
            </a:r>
          </a:p>
          <a:p xmlns:a="http://schemas.openxmlformats.org/drawingml/2006/main">
            <a:r>
              <a:t>예상 오류와 대응: 완료 회신이 없는 것을 미완료 확정으로 표현하지 않습니다.</a:t>
            </a:r>
          </a:p>
          <a:p xmlns:a="http://schemas.openxmlformats.org/drawingml/2006/main">
            <a:r>
              <a:t/>
            </a:r>
          </a:p>
          <a:p xmlns:a="http://schemas.openxmlformats.org/drawingml/2006/main">
            <a:r>
              <a:t>수업 링크: https://zeusk302-png.github.io/gyeongnam-ai-workshop/#n-missing</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"업무",</a:t>
            </a:r>
          </a:p>
          <a:p xmlns:a="http://schemas.openxmlformats.org/drawingml/2006/main">
            <a:r>
              <a:t>    "마지막 기록",</a:t>
            </a:r>
          </a:p>
          <a:p xmlns:a="http://schemas.openxmlformats.org/drawingml/2006/main">
            <a:r>
              <a:t>    "남은 확인"</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"최초 참가 안내문",</a:t>
            </a:r>
          </a:p>
          <a:p xmlns:a="http://schemas.openxmlformats.org/drawingml/2006/main">
            <a:r>
              <a:t>      "정리·내부 공유 완료",</a:t>
            </a:r>
          </a:p>
          <a:p xmlns:a="http://schemas.openxmlformats.org/drawingml/2006/main">
            <a:r>
              <a:t>      "부서 게시·전달, 승인 변경 반영"</a:t>
            </a:r>
          </a:p>
          <a:p xmlns:a="http://schemas.openxmlformats.org/drawingml/2006/main">
            <a:r>
              <a:t>    ],</a:t>
            </a:r>
          </a:p>
          <a:p xmlns:a="http://schemas.openxmlformats.org/drawingml/2006/main">
            <a:r>
              <a:t>    [</a:t>
            </a:r>
          </a:p>
          <a:p xmlns:a="http://schemas.openxmlformats.org/drawingml/2006/main">
            <a:r>
              <a:t>      "가상 실습 자료",</a:t>
            </a:r>
          </a:p>
          <a:p xmlns:a="http://schemas.openxmlformats.org/drawingml/2006/main">
            <a:r>
              <a:t>      "작성 중",</a:t>
            </a:r>
          </a:p>
          <a:p xmlns:a="http://schemas.openxmlformats.org/drawingml/2006/main">
            <a:r>
              <a:t>      "완성·배포 여부"</a:t>
            </a:r>
          </a:p>
          <a:p xmlns:a="http://schemas.openxmlformats.org/drawingml/2006/main">
            <a:r>
              <a:t>    ],</a:t>
            </a:r>
          </a:p>
          <a:p xmlns:a="http://schemas.openxmlformats.org/drawingml/2006/main">
            <a:r>
              <a:t>    [</a:t>
            </a:r>
          </a:p>
          <a:p xmlns:a="http://schemas.openxmlformats.org/drawingml/2006/main">
            <a:r>
              <a:t>      "수정 예산표",</a:t>
            </a:r>
          </a:p>
          <a:p xmlns:a="http://schemas.openxmlformats.org/drawingml/2006/main">
            <a:r>
              <a:t>      "금액 수정 완료, 공유 대기",</a:t>
            </a:r>
          </a:p>
          <a:p xmlns:a="http://schemas.openxmlformats.org/drawingml/2006/main">
            <a:r>
              <a:t>      "최종 공유 기록과 수신 대상"</a:t>
            </a:r>
          </a:p>
          <a:p xmlns:a="http://schemas.openxmlformats.org/drawingml/2006/main">
            <a:r>
              <a:t>    ],</a:t>
            </a:r>
          </a:p>
          <a:p xmlns:a="http://schemas.openxmlformats.org/drawingml/2006/main">
            <a:r>
              <a:t>    [</a:t>
            </a:r>
          </a:p>
          <a:p xmlns:a="http://schemas.openxmlformats.org/drawingml/2006/main">
            <a:r>
              <a:t>      "공지 세 곳 수정",</a:t>
            </a:r>
          </a:p>
          <a:p xmlns:a="http://schemas.openxmlformats.org/drawingml/2006/main">
            <a:r>
              <a:t>      "수정 요청, 완료 회신 없음",</a:t>
            </a:r>
          </a:p>
          <a:p xmlns:a="http://schemas.openxmlformats.org/drawingml/2006/main">
            <a:r>
              <a:t>      "세 곳의 실제 수정과 부서 전달"</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원자료: https://zeusk302-png.github.io/gyeongnam-ai-workshop/downloads/%ED%99%95%EC%9E%A5/14A_NotebookLM_%EA%B5%90%EC%9C%A1%EC%9A%B4%EC%98%81%EC%95%88%EB%82%B4_%EC%83%81%EC%84%B8.txt</a:t>
            </a:r>
          </a:p>
          <a:p xmlns:a="http://schemas.openxmlformats.org/drawingml/2006/main">
            <a:r>
              <a:t/>
            </a:r>
          </a:p>
          <a:p xmlns:a="http://schemas.openxmlformats.org/drawingml/2006/main">
            <a:r>
              <a:t>원자료: https://zeusk302-png.github.io/gyeongnam-ai-workshop/downloads/%ED%99%95%EC%9E%A5/14B_NotebookLM_%EC%9A%B4%EC%98%81%ED%9A%8C%EC%9D%98_%EC%97%85%EB%AC%B4%EC%9D%B8%EA%B3%84.txt</a:t>
            </a:r>
          </a:p>
          <a:p xmlns:a="http://schemas.openxmlformats.org/drawingml/2006/main">
            <a:r>
              <a:t/>
            </a:r>
          </a:p>
          <a:p xmlns:a="http://schemas.openxmlformats.org/drawingml/2006/main">
            <a:r>
              <a:t>원자료: https://zeusk302-png.github.io/gyeongnam-ai-workshop/downloads/%ED%99%95%EC%9E%A5/14C_%EB%B3%80%EA%B2%BD%EA%B3%B5%EC%A7%80%EC%99%80_%EC%8A%B9%EC%9D%B8%EA%B8%B0%EB%A1%9D.txt</a:t>
            </a:r>
          </a:p>
          <a:p xmlns:a="http://schemas.openxmlformats.org/drawingml/2006/main">
            <a:r>
              <a:t/>
            </a:r>
          </a:p>
          <a:p xmlns:a="http://schemas.openxmlformats.org/drawingml/2006/main">
            <a:r>
              <a:t>원자료: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36. 내일 담당자에게 30초만 설명한다면</a:t>
            </a:r>
          </a:p>
          <a:p xmlns:a="http://schemas.openxmlformats.org/drawingml/2006/main">
            <a:r>
              <a:t/>
            </a:r>
          </a:p>
          <a:p xmlns:a="http://schemas.openxmlformats.org/drawingml/2006/main">
            <a:r>
              <a:t>시간: 시작 후 111–115분, 4분 진행.</a:t>
            </a:r>
          </a:p>
          <a:p xmlns:a="http://schemas.openxmlformats.org/drawingml/2006/main">
            <a:r>
              <a:t/>
            </a:r>
          </a:p>
          <a:p xmlns:a="http://schemas.openxmlformats.org/drawingml/2006/main">
            <a:r>
              <a:t>말할 내용: 4분 동안 짝이 번갈아 30초씩 설명하고 원문을 확인합니다. 최신 신청 마감과 남은 확인 두 가지를 말합니다. 듣는 사람은 빠진 조건을 하나 짚어 줍니다. 오디오 생성은 선택이며 지금 활동의 완료 조건이 아닙니다.</a:t>
            </a:r>
          </a:p>
          <a:p xmlns:a="http://schemas.openxmlformats.org/drawingml/2006/main">
            <a:r>
              <a:t/>
            </a:r>
          </a:p>
          <a:p xmlns:a="http://schemas.openxmlformats.org/drawingml/2006/main">
            <a:r>
              <a:t>참가자에게 할 질문: 내일 담당자가 다시 물어볼 말은 무엇인가요?</a:t>
            </a:r>
          </a:p>
          <a:p xmlns:a="http://schemas.openxmlformats.org/drawingml/2006/main">
            <a:r>
              <a:t/>
            </a:r>
          </a:p>
          <a:p xmlns:a="http://schemas.openxmlformats.org/drawingml/2006/main">
            <a:r>
              <a:t>예상 오류와 대응: 오디오 생성을 기다리느라 짝 검토를 생략하지 않습니다.</a:t>
            </a:r>
          </a:p>
          <a:p xmlns:a="http://schemas.openxmlformats.org/drawingml/2006/main">
            <a:r>
              <a:t/>
            </a:r>
          </a:p>
          <a:p xmlns:a="http://schemas.openxmlformats.org/drawingml/2006/main">
            <a:r>
              <a:t>수업 링크: https://zeusk302-png.github.io/gyeongnam-ai-workshop/#n-audio</a:t>
            </a:r>
          </a:p>
          <a:p xmlns:a="http://schemas.openxmlformats.org/drawingml/2006/main">
            <a:r>
              <a:t/>
            </a:r>
          </a:p>
          <a:p xmlns:a="http://schemas.openxmlformats.org/drawingml/2006/main">
            <a:r>
              <a:t>실습 안내: 최신 마감과 남은 확인 두 가지 설명</a:t>
            </a:r>
          </a:p>
          <a:p xmlns:a="http://schemas.openxmlformats.org/drawingml/2006/main">
            <a:r>
              <a:t/>
            </a:r>
          </a:p>
          <a:p xmlns:a="http://schemas.openxmlformats.org/drawingml/2006/main">
            <a:r>
              <a:t>진행 순서: 듣는 사람은 원문 문단 찾기 / 빠진 조건 한 가지 알려 주기 / 역할을 바꿔 다시 설명</a:t>
            </a:r>
          </a:p>
          <a:p xmlns:a="http://schemas.openxmlformats.org/drawingml/2006/main">
            <a:r>
              <a:t/>
            </a:r>
          </a:p>
          <a:p xmlns:a="http://schemas.openxmlformats.org/drawingml/2006/main">
            <a:r>
              <a:t>남길 결과: 인계 메모와 확인한 문단 ID</a:t>
            </a:r>
          </a:p>
          <a:p xmlns:a="http://schemas.openxmlformats.org/drawingml/2006/main">
            <a:r>
              <a:t/>
            </a:r>
          </a:p>
          <a:p xmlns:a="http://schemas.openxmlformats.org/drawingml/2006/main">
            <a:r>
              <a:t>참여 진행: {"kind":"pair","seconds":30,"prompt":"한 사람이 인계하고 다른 사람은 원문으로 확인합니다."}</a:t>
            </a:r>
          </a:p>
          <a:p xmlns:a="http://schemas.openxmlformats.org/drawingml/2006/main">
            <a:r>
              <a:t/>
            </a:r>
          </a:p>
          <a:p xmlns:a="http://schemas.openxmlformats.org/drawingml/2006/main">
            <a:r>
              <a:t>원자료: https://zeusk302-png.github.io/gyeongnam-ai-workshop/downloads/%ED%99%95%EC%9E%A5/14A_NotebookLM_%EA%B5%90%EC%9C%A1%EC%9A%B4%EC%98%81%EC%95%88%EB%82%B4_%EC%83%81%EC%84%B8.txt</a:t>
            </a:r>
          </a:p>
          <a:p xmlns:a="http://schemas.openxmlformats.org/drawingml/2006/main">
            <a:r>
              <a:t/>
            </a:r>
          </a:p>
          <a:p xmlns:a="http://schemas.openxmlformats.org/drawingml/2006/main">
            <a:r>
              <a:t>원자료: https://zeusk302-png.github.io/gyeongnam-ai-workshop/downloads/%ED%99%95%EC%9E%A5/14B_NotebookLM_%EC%9A%B4%EC%98%81%ED%9A%8C%EC%9D%98_%EC%97%85%EB%AC%B4%EC%9D%B8%EA%B3%84.txt</a:t>
            </a:r>
          </a:p>
          <a:p xmlns:a="http://schemas.openxmlformats.org/drawingml/2006/main">
            <a:r>
              <a:t/>
            </a:r>
          </a:p>
          <a:p xmlns:a="http://schemas.openxmlformats.org/drawingml/2006/main">
            <a:r>
              <a:t>원자료: https://zeusk302-png.github.io/gyeongnam-ai-workshop/downloads/%ED%99%95%EC%9E%A5/14C_%EB%B3%80%EA%B2%BD%EA%B3%B5%EC%A7%80%EC%99%80_%EC%8A%B9%EC%9D%B8%EA%B8%B0%EB%A1%9D.txt</a:t>
            </a:r>
          </a:p>
          <a:p xmlns:a="http://schemas.openxmlformats.org/drawingml/2006/main">
            <a:r>
              <a:t/>
            </a:r>
          </a:p>
          <a:p xmlns:a="http://schemas.openxmlformats.org/drawingml/2006/main">
            <a:r>
              <a:t>원자료: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37. 5분 쉬겠습니다</a:t>
            </a:r>
          </a:p>
          <a:p xmlns:a="http://schemas.openxmlformats.org/drawingml/2006/main">
            <a:r>
              <a:t/>
            </a:r>
          </a:p>
          <a:p xmlns:a="http://schemas.openxmlformats.org/drawingml/2006/main">
            <a:r>
              <a:t>시간: 시작 후 115–120분, 5분 진행.</a:t>
            </a:r>
          </a:p>
          <a:p xmlns:a="http://schemas.openxmlformats.org/drawingml/2006/main">
            <a:r>
              <a:t/>
            </a:r>
          </a:p>
          <a:p xmlns:a="http://schemas.openxmlformats.org/drawingml/2006/main">
            <a:r>
              <a:t>말할 내용: 인계표, FAQ, 문의 처리표를 저장하게 하고 5분 휴식합니다.</a:t>
            </a:r>
          </a:p>
          <a:p xmlns:a="http://schemas.openxmlformats.org/drawingml/2006/main">
            <a:r>
              <a:t/>
            </a:r>
          </a:p>
          <a:p xmlns:a="http://schemas.openxmlformats.org/drawingml/2006/main">
            <a:r>
              <a:t>참가자에게 할 질문: </a:t>
            </a:r>
          </a:p>
          <a:p xmlns:a="http://schemas.openxmlformats.org/drawingml/2006/main">
            <a:r>
              <a:t/>
            </a:r>
          </a:p>
          <a:p xmlns:a="http://schemas.openxmlformats.org/drawingml/2006/main">
            <a:r>
              <a:t>예상 오류와 대응: </a:t>
            </a:r>
          </a:p>
          <a:p xmlns:a="http://schemas.openxmlformats.org/drawingml/2006/main">
            <a:r>
              <a:t/>
            </a:r>
          </a:p>
          <a:p xmlns:a="http://schemas.openxmlformats.org/drawingml/2006/main">
            <a:r>
              <a:t>수업 링크: https://zeusk302-png.github.io/gyeongnam-ai-workshop/#n-audio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38. 서명 29줄, 참석자 29명?</a:t>
            </a:r>
          </a:p>
          <a:p xmlns:a="http://schemas.openxmlformats.org/drawingml/2006/main">
            <a:r>
              <a:t/>
            </a:r>
          </a:p>
          <a:p xmlns:a="http://schemas.openxmlformats.org/drawingml/2006/main">
            <a:r>
              <a:t>시간: 시작 후 120–123분, 3분 진행.</a:t>
            </a:r>
          </a:p>
          <a:p xmlns:a="http://schemas.openxmlformats.org/drawingml/2006/main">
            <a:r>
              <a:t/>
            </a:r>
          </a:p>
          <a:p xmlns:a="http://schemas.openxmlformats.org/drawingml/2006/main">
            <a:r>
              <a:t>말할 내용: 행사 결과 보고 상황입니다. 원자료에는 대장 30행, 설문 25행, 지출 전표 6건, 현장 메모가 있습니다. 임시 집계는 서명 줄 수와 제출 묶음 수라서 사람 수와 다를 수 있습니다. 다음 장에서 중복 기록을 공개합니다.</a:t>
            </a:r>
          </a:p>
          <a:p xmlns:a="http://schemas.openxmlformats.org/drawingml/2006/main">
            <a:r>
              <a:t/>
            </a:r>
          </a:p>
          <a:p xmlns:a="http://schemas.openxmlformats.org/drawingml/2006/main">
            <a:r>
              <a:t>참가자에게 할 질문: 줄 수를 사람 수로 세면 어디가 틀릴 수 있나요?</a:t>
            </a:r>
          </a:p>
          <a:p xmlns:a="http://schemas.openxmlformats.org/drawingml/2006/main">
            <a:r>
              <a:t/>
            </a:r>
          </a:p>
          <a:p xmlns:a="http://schemas.openxmlformats.org/drawingml/2006/main">
            <a:r>
              <a:t>예상 오류와 대응: 원자료를 가상 행사 실적으로 설명하고 실제 기관 성과로 제시하지 않습니다.</a:t>
            </a:r>
          </a:p>
          <a:p xmlns:a="http://schemas.openxmlformats.org/drawingml/2006/main">
            <a:r>
              <a:t/>
            </a:r>
          </a:p>
          <a:p xmlns:a="http://schemas.openxmlformats.org/drawingml/2006/main">
            <a:r>
              <a:t>수업 링크: https://zeusk302-png.github.io/gyeongnam-ai-workshop/#c-outline</a:t>
            </a:r>
          </a:p>
          <a:p xmlns:a="http://schemas.openxmlformats.org/drawingml/2006/main">
            <a:r>
              <a:t/>
            </a:r>
          </a:p>
          <a:p xmlns:a="http://schemas.openxmlformats.org/drawingml/2006/main">
            <a:r>
              <a:t>참여 진행: {"kind":"vote","seconds":20,"prompt":"집계하기 전에 확인할 행을 짚어 봅니다."}</a:t>
            </a:r>
          </a:p>
          <a:p xmlns:a="http://schemas.openxmlformats.org/drawingml/2006/main">
            <a:r>
              <a:t/>
            </a:r>
          </a:p>
          <a:p xmlns:a="http://schemas.openxmlformats.org/drawingml/2006/main">
            <a:r>
              <a:t>답 공개 참고: {"questionSlide":38,"answerSlide":39,"answer":"B. P16 재입장 중복을 제외하면 실제 참여는 28명입니다.","evidence":"15번 출석·제출 대장","role":"question"}</a:t>
            </a:r>
          </a:p>
          <a:p xmlns:a="http://schemas.openxmlformats.org/drawingml/2006/main">
            <a:r>
              <a:t/>
            </a:r>
          </a:p>
          <a:p xmlns:a="http://schemas.openxmlformats.org/drawingml/2006/main">
            <a:r>
              <a:t>원자료: https://zeusk302-png.github.io/gyeongnam-ai-workshop/downloads/%ED%99%95%EC%9E%A5/15_Claude_%EC%9A%B4%EC%98%81%EA%B2%B0%EA%B3%BC_%EC%A7%91%EA%B3%84%EC%99%80%ED%98%84%EC%9E%A5%EB%A9%94%EB%AA%A8.txt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39. 참여 28명, 이수 24명</a:t>
            </a:r>
          </a:p>
          <a:p xmlns:a="http://schemas.openxmlformats.org/drawingml/2006/main">
            <a:r>
              <a:t/>
            </a:r>
          </a:p>
          <a:p xmlns:a="http://schemas.openxmlformats.org/drawingml/2006/main">
            <a:r>
              <a:t>시간: 시작 후 123–127분, 4분 진행.</a:t>
            </a:r>
          </a:p>
          <a:p xmlns:a="http://schemas.openxmlformats.org/drawingml/2006/main">
            <a:r>
              <a:t/>
            </a:r>
          </a:p>
          <a:p xmlns:a="http://schemas.openxmlformats.org/drawingml/2006/main">
            <a:r>
              <a:t>말할 내용: B가 맞습니다. P16 재입장을 중복 제외하면 참여 28명이고 P22 재제출을 중복 제외하면 이수 24명입니다. 설문은 마감 후 S01~S25를 사용합니다. 원자료의 대장을 시트로 옮겨 조건별로 세고 임시 집계 숫자와 무엇이 다른지 확인합니다.</a:t>
            </a:r>
          </a:p>
          <a:p xmlns:a="http://schemas.openxmlformats.org/drawingml/2006/main">
            <a:r>
              <a:t/>
            </a:r>
          </a:p>
          <a:p xmlns:a="http://schemas.openxmlformats.org/drawingml/2006/main">
            <a:r>
              <a:t>참가자에게 할 질문: 이번 표는 무엇을 센 숫자인가요?</a:t>
            </a:r>
          </a:p>
          <a:p xmlns:a="http://schemas.openxmlformats.org/drawingml/2006/main">
            <a:r>
              <a:t/>
            </a:r>
          </a:p>
          <a:p xmlns:a="http://schemas.openxmlformats.org/drawingml/2006/main">
            <a:r>
              <a:t>예상 오류와 대응: 설문·의견 번호를 참가자 번호와 임의 연결하지 않습니다.</a:t>
            </a:r>
          </a:p>
          <a:p xmlns:a="http://schemas.openxmlformats.org/drawingml/2006/main">
            <a:r>
              <a:t/>
            </a:r>
          </a:p>
          <a:p xmlns:a="http://schemas.openxmlformats.org/drawingml/2006/main">
            <a:r>
              <a:t>수업 링크: https://zeusk302-png.github.io/gyeongnam-ai-workshop/#c-outline</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"받은 숫자",</a:t>
            </a:r>
          </a:p>
          <a:p xmlns:a="http://schemas.openxmlformats.org/drawingml/2006/main">
            <a:r>
              <a:t>    "무엇을 센 값인가",</a:t>
            </a:r>
          </a:p>
          <a:p xmlns:a="http://schemas.openxmlformats.org/drawingml/2006/main">
            <a:r>
              <a:t>    "보고서에 사용할 기준"</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"참석 29",</a:t>
            </a:r>
          </a:p>
          <a:p xmlns:a="http://schemas.openxmlformats.org/drawingml/2006/main">
            <a:r>
              <a:t>      "입장 서명 줄 수",</a:t>
            </a:r>
          </a:p>
          <a:p xmlns:a="http://schemas.openxmlformats.org/drawingml/2006/main">
            <a:r>
              <a:t>      "P16 재입장 중복 제외"</a:t>
            </a:r>
          </a:p>
          <a:p xmlns:a="http://schemas.openxmlformats.org/drawingml/2006/main">
            <a:r>
              <a:t>    ],</a:t>
            </a:r>
          </a:p>
          <a:p xmlns:a="http://schemas.openxmlformats.org/drawingml/2006/main">
            <a:r>
              <a:t>    [</a:t>
            </a:r>
          </a:p>
          <a:p xmlns:a="http://schemas.openxmlformats.org/drawingml/2006/main">
            <a:r>
              <a:t>      "완료 25",</a:t>
            </a:r>
          </a:p>
          <a:p xmlns:a="http://schemas.openxmlformats.org/drawingml/2006/main">
            <a:r>
              <a:t>      "제출 폴더 묶음 수",</a:t>
            </a:r>
          </a:p>
          <a:p xmlns:a="http://schemas.openxmlformats.org/drawingml/2006/main">
            <a:r>
              <a:t>      "P22 재제출 중복 제외"</a:t>
            </a:r>
          </a:p>
          <a:p xmlns:a="http://schemas.openxmlformats.org/drawingml/2006/main">
            <a:r>
              <a:t>    ],</a:t>
            </a:r>
          </a:p>
          <a:p xmlns:a="http://schemas.openxmlformats.org/drawingml/2006/main">
            <a:r>
              <a:t>    [</a:t>
            </a:r>
          </a:p>
          <a:p xmlns:a="http://schemas.openxmlformats.org/drawingml/2006/main">
            <a:r>
              <a:t>      "설문 24건, 평균 4.5",</a:t>
            </a:r>
          </a:p>
          <a:p xmlns:a="http://schemas.openxmlformats.org/drawingml/2006/main">
            <a:r>
              <a:t>      "마감 전 중간 화면",</a:t>
            </a:r>
          </a:p>
          <a:p xmlns:a="http://schemas.openxmlformats.org/drawingml/2006/main">
            <a:r>
              <a:t>      "20:00 마감 원응답 25건"</a:t>
            </a:r>
          </a:p>
          <a:p xmlns:a="http://schemas.openxmlformats.org/drawingml/2006/main">
            <a:r>
              <a:t>    ],</a:t>
            </a:r>
          </a:p>
          <a:p xmlns:a="http://schemas.openxmlformats.org/drawingml/2006/main">
            <a:r>
              <a:t>    [</a:t>
            </a:r>
          </a:p>
          <a:p xmlns:a="http://schemas.openxmlformats.org/drawingml/2006/main">
            <a:r>
              <a:t>      "지출 전표 6건",</a:t>
            </a:r>
          </a:p>
          <a:p xmlns:a="http://schemas.openxmlformats.org/drawingml/2006/main">
            <a:r>
              <a:t>      "행사 후 집행 기록",</a:t>
            </a:r>
          </a:p>
          <a:p xmlns:a="http://schemas.openxmlformats.org/drawingml/2006/main">
            <a:r>
              <a:t>      "준비 예산과 중복 합산하지 않음"</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원자료: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40. 부서장은 무엇을 결정해야 할까요?</a:t>
            </a:r>
          </a:p>
          <a:p xmlns:a="http://schemas.openxmlformats.org/drawingml/2006/main">
            <a:r>
              <a:t/>
            </a:r>
          </a:p>
          <a:p xmlns:a="http://schemas.openxmlformats.org/drawingml/2006/main">
            <a:r>
              <a:t>시간: 시작 후 127–131분, 4분 진행.</a:t>
            </a:r>
          </a:p>
          <a:p xmlns:a="http://schemas.openxmlformats.org/drawingml/2006/main">
            <a:r>
              <a:t/>
            </a:r>
          </a:p>
          <a:p xmlns:a="http://schemas.openxmlformats.org/drawingml/2006/main">
            <a:r>
              <a:t>말할 내용: 전체 15번 자료와 첫 질문을 넣습니다. 결과 수치만 나열하지 않고 로그인 사전 점검 절차와 보충 실습 안내 두 안건을 드러냅니다. 누가 무엇을 결정해야 하는지 정한 뒤 보고서 목차 네 개를 만듭니다.</a:t>
            </a:r>
          </a:p>
          <a:p xmlns:a="http://schemas.openxmlformats.org/drawingml/2006/main">
            <a:r>
              <a:t/>
            </a:r>
          </a:p>
          <a:p xmlns:a="http://schemas.openxmlformats.org/drawingml/2006/main">
            <a:r>
              <a:t>참가자에게 할 질문: 보고를 받은 사람이 결정할 두 가지는 무엇인가요?</a:t>
            </a:r>
          </a:p>
          <a:p xmlns:a="http://schemas.openxmlformats.org/drawingml/2006/main">
            <a:r>
              <a:t/>
            </a:r>
          </a:p>
          <a:p xmlns:a="http://schemas.openxmlformats.org/drawingml/2006/main">
            <a:r>
              <a:t>예상 오류와 대응: 제안 단계의 안건을 확정한 운영 방침으로 쓰지 않습니다.</a:t>
            </a:r>
          </a:p>
          <a:p xmlns:a="http://schemas.openxmlformats.org/drawingml/2006/main">
            <a:r>
              <a:t/>
            </a:r>
          </a:p>
          <a:p xmlns:a="http://schemas.openxmlformats.org/drawingml/2006/main">
            <a:r>
              <a:t>수업 링크: https://zeusk302-png.github.io/gyeongnam-ai-workshop/#c-outline</a:t>
            </a:r>
          </a:p>
          <a:p xmlns:a="http://schemas.openxmlformats.org/drawingml/2006/main">
            <a:r>
              <a:t/>
            </a:r>
          </a:p>
          <a:p xmlns:a="http://schemas.openxmlformats.org/drawingml/2006/main">
            <a:r>
              <a:t>실습 안내: 자료 기준과 목차부터 요청</a:t>
            </a:r>
          </a:p>
          <a:p xmlns:a="http://schemas.openxmlformats.org/drawingml/2006/main">
            <a:r>
              <a:t/>
            </a:r>
          </a:p>
          <a:p xmlns:a="http://schemas.openxmlformats.org/drawingml/2006/main">
            <a:r>
              <a:t>진행 순서: 확정 대장과 중간 집계 구분 / 지표별 분모를 먼저 표시 / 결정 요청 두 건을 목차에 포함</a:t>
            </a:r>
          </a:p>
          <a:p xmlns:a="http://schemas.openxmlformats.org/drawingml/2006/main">
            <a:r>
              <a:t/>
            </a:r>
          </a:p>
          <a:p xmlns:a="http://schemas.openxmlformats.org/drawingml/2006/main">
            <a:r>
              <a:t>남길 결과: 목차와 결정 요청 2건</a:t>
            </a:r>
          </a:p>
          <a:p xmlns:a="http://schemas.openxmlformats.org/drawingml/2006/main">
            <a:r>
              <a:t/>
            </a:r>
          </a:p>
          <a:p xmlns:a="http://schemas.openxmlformats.org/drawingml/2006/main">
            <a:r>
              <a:t>원자료: https://zeusk302-png.github.io/gyeongnam-ai-workshop/downloads/%ED%99%95%EC%9E%A5/15_Claude_%EC%9A%B4%EC%98%81%EA%B2%B0%EA%B3%BC_%EC%A7%91%EA%B3%84%EC%99%80%ED%98%84%EC%9E%A5%EB%A9%94%EB%AA%A8.txt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41. 초안을 읽을 사람을 정했습니다</a:t>
            </a:r>
          </a:p>
          <a:p xmlns:a="http://schemas.openxmlformats.org/drawingml/2006/main">
            <a:r>
              <a:t/>
            </a:r>
          </a:p>
          <a:p xmlns:a="http://schemas.openxmlformats.org/drawingml/2006/main">
            <a:r>
              <a:t>시간: 시작 후 131–137분, 6분 진행.</a:t>
            </a:r>
          </a:p>
          <a:p xmlns:a="http://schemas.openxmlformats.org/drawingml/2006/main">
            <a:r>
              <a:t/>
            </a:r>
          </a:p>
          <a:p xmlns:a="http://schemas.openxmlformats.org/drawingml/2006/main">
            <a:r>
              <a:t>말할 내용: 6분 동안 두 번째 질문으로 보고서 초안을 만듭니다. 본문은 1,200~1,600자이고 비교표와 후속 업무표, 계산 메모는 별도로 받습니다. 숫자와 결정 상태를 유지한 채 읽는 사람이 필요한 정보부터 보게 합니다. 아직 검토 전 초안입니다.</a:t>
            </a:r>
          </a:p>
          <a:p xmlns:a="http://schemas.openxmlformats.org/drawingml/2006/main">
            <a:r>
              <a:t/>
            </a:r>
          </a:p>
          <a:p xmlns:a="http://schemas.openxmlformats.org/drawingml/2006/main">
            <a:r>
              <a:t>참가자에게 할 질문: 첫 문단만 읽어도 결정 요청을 알 수 있나요?</a:t>
            </a:r>
          </a:p>
          <a:p xmlns:a="http://schemas.openxmlformats.org/drawingml/2006/main">
            <a:r>
              <a:t/>
            </a:r>
          </a:p>
          <a:p xmlns:a="http://schemas.openxmlformats.org/drawingml/2006/main">
            <a:r>
              <a:t>예상 오류와 대응: 생성된 문서 길이를 완성도나 정확성으로 평가하지 않습니다.</a:t>
            </a:r>
          </a:p>
          <a:p xmlns:a="http://schemas.openxmlformats.org/drawingml/2006/main">
            <a:r>
              <a:t/>
            </a:r>
          </a:p>
          <a:p xmlns:a="http://schemas.openxmlformats.org/drawingml/2006/main">
            <a:r>
              <a:t>수업 링크: https://zeusk302-png.github.io/gyeongnam-ai-workshop/#c-draft</a:t>
            </a:r>
          </a:p>
          <a:p xmlns:a="http://schemas.openxmlformats.org/drawingml/2006/main">
            <a:r>
              <a:t/>
            </a:r>
          </a:p>
          <a:p xmlns:a="http://schemas.openxmlformats.org/drawingml/2006/main">
            <a:r>
              <a:t>실습 안내: 같은 대화에서 본문과 표 작성</a:t>
            </a:r>
          </a:p>
          <a:p xmlns:a="http://schemas.openxmlformats.org/drawingml/2006/main">
            <a:r>
              <a:t/>
            </a:r>
          </a:p>
          <a:p xmlns:a="http://schemas.openxmlformats.org/drawingml/2006/main">
            <a:r>
              <a:t>진행 순서: 결과와 이전 회차 비교 포함 / 결정 요청 두 건 앞에 배치 / 후속 업무와 계산 메모 분리</a:t>
            </a:r>
          </a:p>
          <a:p xmlns:a="http://schemas.openxmlformats.org/drawingml/2006/main">
            <a:r>
              <a:t/>
            </a:r>
          </a:p>
          <a:p xmlns:a="http://schemas.openxmlformats.org/drawingml/2006/main">
            <a:r>
              <a:t>남길 결과: 본문 1,200~1,600자 + 표</a:t>
            </a:r>
          </a:p>
          <a:p xmlns:a="http://schemas.openxmlformats.org/drawingml/2006/main">
            <a:r>
              <a:t/>
            </a:r>
          </a:p>
          <a:p xmlns:a="http://schemas.openxmlformats.org/drawingml/2006/main">
            <a:r>
              <a:t>원자료: https://zeusk302-png.github.io/gyeongnam-ai-workshop/downloads/%ED%99%95%EC%9E%A5/15_Claude_%EC%9A%B4%EC%98%81%EA%B2%B0%EA%B3%BC_%EC%A7%91%EA%B3%84%EC%99%80%ED%98%84%EC%9E%A5%EB%A9%94%EB%AA%A8.txt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42. 계산은 맞아도 원인은 모를 수 있습니다</a:t>
            </a:r>
          </a:p>
          <a:p xmlns:a="http://schemas.openxmlformats.org/drawingml/2006/main">
            <a:r>
              <a:t/>
            </a:r>
          </a:p>
          <a:p xmlns:a="http://schemas.openxmlformats.org/drawingml/2006/main">
            <a:r>
              <a:t>시간: 시작 후 137–142분, 5분 진행.</a:t>
            </a:r>
          </a:p>
          <a:p xmlns:a="http://schemas.openxmlformats.org/drawingml/2006/main">
            <a:r>
              <a:t/>
            </a:r>
          </a:p>
          <a:p xmlns:a="http://schemas.openxmlformats.org/drawingml/2006/main">
            <a:r>
              <a:t>말할 내용: 실제 계산 메모의 숫자는 원대장과 시트로 확인합니다. 참여 28명, 이수 24명, 설문 합계 112점, 지출 845,000원을 확인합니다. 화면 밖 수치 요약은 교사가 편집한 텍스트이며 캡처 원문은 바꾸지 않았습니다. 그 뒤 수업용 문장 “로그인 문제로 4명이 미이수했다”를 제시합니다. 이 문장은 실제 응답의 인용이 아닙니다. 현장 지연 기록과 미이수 사실만으로 원인을 연결할 수 있는지 묻습니다.</a:t>
            </a:r>
          </a:p>
          <a:p xmlns:a="http://schemas.openxmlformats.org/drawingml/2006/main">
            <a:r>
              <a:t/>
            </a:r>
          </a:p>
          <a:p xmlns:a="http://schemas.openxmlformats.org/drawingml/2006/main">
            <a:r>
              <a:t>참가자에게 할 질문: 같이 기록됐다는 사실만으로 원인이라고 말할 수 있나요?</a:t>
            </a:r>
          </a:p>
          <a:p xmlns:a="http://schemas.openxmlformats.org/drawingml/2006/main">
            <a:r>
              <a:t/>
            </a:r>
          </a:p>
          <a:p xmlns:a="http://schemas.openxmlformats.org/drawingml/2006/main">
            <a:r>
              <a:t>예상 오류와 대응: 교사가 만든 문장을 실제 AI가 작성한 것으로 소개하지 않습니다.</a:t>
            </a:r>
          </a:p>
          <a:p xmlns:a="http://schemas.openxmlformats.org/drawingml/2006/main">
            <a:r>
              <a:t/>
            </a:r>
          </a:p>
          <a:p xmlns:a="http://schemas.openxmlformats.org/drawingml/2006/main">
            <a:r>
              <a:t>수업 링크: https://zeusk302-png.github.io/gyeongnam-ai-workshop/#c-draft</a:t>
            </a:r>
          </a:p>
          <a:p xmlns:a="http://schemas.openxmlformats.org/drawingml/2006/main">
            <a:r>
              <a:t/>
            </a:r>
          </a:p>
          <a:p xmlns:a="http://schemas.openxmlformats.org/drawingml/2006/main">
            <a:r>
              <a:t>화면 설명: 실제 Claude 계산 메모 / 위 문장은 수업용 검토 예문</a:t>
            </a:r>
          </a:p>
          <a:p xmlns:a="http://schemas.openxmlformats.org/drawingml/2006/main">
            <a:r>
              <a:t/>
            </a:r>
          </a:p>
          <a:p xmlns:a="http://schemas.openxmlformats.org/drawingml/2006/main">
            <a:r>
              <a:t>화면 원본: assets/captures/w04-claude-calculation.png</a:t>
            </a:r>
          </a:p>
          <a:p xmlns:a="http://schemas.openxmlformats.org/drawingml/2006/main">
            <a:r>
              <a:t/>
            </a:r>
          </a:p>
          <a:p xmlns:a="http://schemas.openxmlformats.org/drawingml/2006/main">
            <a:r>
              <a:t>참여 진행: {"kind":"vote","seconds":20,"prompt":"보고서에 이 문장을 넣어도 될지 고릅니다."}</a:t>
            </a:r>
          </a:p>
          <a:p xmlns:a="http://schemas.openxmlformats.org/drawingml/2006/main">
            <a:r>
              <a:t/>
            </a:r>
          </a:p>
          <a:p xmlns:a="http://schemas.openxmlformats.org/drawingml/2006/main">
            <a:r>
              <a:t>답 공개 참고: {"questionSlide":42,"answerSlide":43,"answer":"A. 로그인 지연과 미이수 4명의 인과는 자료로 확인되지 않습니다.","evidence":"15번 현장 메모, P07·P12·P19·P25","role":"question"}</a:t>
            </a:r>
          </a:p>
          <a:p xmlns:a="http://schemas.openxmlformats.org/drawingml/2006/main">
            <a:r>
              <a:t/>
            </a:r>
          </a:p>
          <a:p xmlns:a="http://schemas.openxmlformats.org/drawingml/2006/main">
            <a:r>
              <a:t>원자료: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43. 두 사실을 각각 씁니다</a:t>
            </a:r>
          </a:p>
          <a:p xmlns:a="http://schemas.openxmlformats.org/drawingml/2006/main">
            <a:r>
              <a:t/>
            </a:r>
          </a:p>
          <a:p xmlns:a="http://schemas.openxmlformats.org/drawingml/2006/main">
            <a:r>
              <a:t>시간: 시작 후 142–147분, 5분 진행.</a:t>
            </a:r>
          </a:p>
          <a:p xmlns:a="http://schemas.openxmlformats.org/drawingml/2006/main">
            <a:r>
              <a:t/>
            </a:r>
          </a:p>
          <a:p xmlns:a="http://schemas.openxmlformats.org/drawingml/2006/main">
            <a:r>
              <a:t>말할 내용: 정답은 A입니다. 일부 참가자의 로그인 지연과 네 명의 결과물 미제출은 확인됐지만 인과는 확인되지 않았습니다. 5분 동안 문체 수정 요청을 보내고 확인한 사실과 결정 요청이 드러나도록 고칩니다. 기대 효과는 기대라고 쓰며 필요한 금액·인력을 임의로 확정하지 않습니다.</a:t>
            </a:r>
          </a:p>
          <a:p xmlns:a="http://schemas.openxmlformats.org/drawingml/2006/main">
            <a:r>
              <a:t/>
            </a:r>
          </a:p>
          <a:p xmlns:a="http://schemas.openxmlformats.org/drawingml/2006/main">
            <a:r>
              <a:t>참가자에게 할 질문: 원인을 단정하지 않아도 필요한 조치를 설명할 수 있나요?</a:t>
            </a:r>
          </a:p>
          <a:p xmlns:a="http://schemas.openxmlformats.org/drawingml/2006/main">
            <a:r>
              <a:t/>
            </a:r>
          </a:p>
          <a:p xmlns:a="http://schemas.openxmlformats.org/drawingml/2006/main">
            <a:r>
              <a:t>예상 오류와 대응: 모든 원인 표현을 기계적으로 삭제하지 말고 자료가 지지하는 범위를 확인합니다.</a:t>
            </a:r>
          </a:p>
          <a:p xmlns:a="http://schemas.openxmlformats.org/drawingml/2006/main">
            <a:r>
              <a:t/>
            </a:r>
          </a:p>
          <a:p xmlns:a="http://schemas.openxmlformats.org/drawingml/2006/main">
            <a:r>
              <a:t>수업 링크: https://zeusk302-png.github.io/gyeongnam-ai-workshop/#c-revise-tone</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"초안에서 흔한 표현",</a:t>
            </a:r>
          </a:p>
          <a:p xmlns:a="http://schemas.openxmlformats.org/drawingml/2006/main">
            <a:r>
              <a:t>    "수정 방향"</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"교육 효과가 크게 향상됐다",</a:t>
            </a:r>
          </a:p>
          <a:p xmlns:a="http://schemas.openxmlformats.org/drawingml/2006/main">
            <a:r>
              <a:t>      "참여·이수 수치를 먼저 제시하고 효과의 원인은 확인 필요로 남김"</a:t>
            </a:r>
          </a:p>
          <a:p xmlns:a="http://schemas.openxmlformats.org/drawingml/2006/main">
            <a:r>
              <a:t>    ],</a:t>
            </a:r>
          </a:p>
          <a:p xmlns:a="http://schemas.openxmlformats.org/drawingml/2006/main">
            <a:r>
              <a:t>    [</a:t>
            </a:r>
          </a:p>
          <a:p xmlns:a="http://schemas.openxmlformats.org/drawingml/2006/main">
            <a:r>
              <a:t>      "로그인 문제로 4명이 미이수했다",</a:t>
            </a:r>
          </a:p>
          <a:p xmlns:a="http://schemas.openxmlformats.org/drawingml/2006/main">
            <a:r>
              <a:t>      "로그인 지연과 미이수 4명은 각각 기록하고 인과는 단정하지 않음"</a:t>
            </a:r>
          </a:p>
          <a:p xmlns:a="http://schemas.openxmlformats.org/drawingml/2006/main">
            <a:r>
              <a:t>    ],</a:t>
            </a:r>
          </a:p>
          <a:p xmlns:a="http://schemas.openxmlformats.org/drawingml/2006/main">
            <a:r>
              <a:t>    [</a:t>
            </a:r>
          </a:p>
          <a:p xmlns:a="http://schemas.openxmlformats.org/drawingml/2006/main">
            <a:r>
              <a:t>      "사전 점검을 시행하지 않았다",</a:t>
            </a:r>
          </a:p>
          <a:p xmlns:a="http://schemas.openxmlformats.org/drawingml/2006/main">
            <a:r>
              <a:t>      "이번 자료에 시행을 확인할 기록이 없다고 범위를 한정"</a:t>
            </a:r>
          </a:p>
          <a:p xmlns:a="http://schemas.openxmlformats.org/drawingml/2006/main">
            <a:r>
              <a:t>    ],</a:t>
            </a:r>
          </a:p>
          <a:p xmlns:a="http://schemas.openxmlformats.org/drawingml/2006/main">
            <a:r>
              <a:t>    [</a:t>
            </a:r>
          </a:p>
          <a:p xmlns:a="http://schemas.openxmlformats.org/drawingml/2006/main">
            <a:r>
              <a:t>      "보충 실습을 실시한다",</a:t>
            </a:r>
          </a:p>
          <a:p xmlns:a="http://schemas.openxmlformats.org/drawingml/2006/main">
            <a:r>
              <a:t>      "안내 여부와 이수 변경 기준을 승인 전 결정 요청으로 표시"</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참여 진행: {"kind":"write","seconds":30,"prompt":"내 보고서에서 “때문에”가 들어간 문장 한 곳을 확인합니다."}</a:t>
            </a:r>
          </a:p>
          <a:p xmlns:a="http://schemas.openxmlformats.org/drawingml/2006/main">
            <a:r>
              <a:t/>
            </a:r>
          </a:p>
          <a:p xmlns:a="http://schemas.openxmlformats.org/drawingml/2006/main">
            <a:r>
              <a:t>원자료: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44. 짧아진 메일에서 달라진 숫자</a:t>
            </a:r>
          </a:p>
          <a:p xmlns:a="http://schemas.openxmlformats.org/drawingml/2006/main">
            <a:r>
              <a:t/>
            </a:r>
          </a:p>
          <a:p xmlns:a="http://schemas.openxmlformats.org/drawingml/2006/main">
            <a:r>
              <a:t>시간: 시작 후 147–151분, 4분 진행.</a:t>
            </a:r>
          </a:p>
          <a:p xmlns:a="http://schemas.openxmlformats.org/drawingml/2006/main">
            <a:r>
              <a:t/>
            </a:r>
          </a:p>
          <a:p xmlns:a="http://schemas.openxmlformats.org/drawingml/2006/main">
            <a:r>
              <a:t>말할 내용: 전체 보고서를 보관하고 전달 메일 350~500자를 별도로 요청합니다. 참여·이수와 결정 안건 두 건은 유지합니다. 메일을 줄이며 5.7%p를 5.7%로 바꾸면 뜻이 달라집니다. 이 화면 문장은 교사가 만든 오류 찾기 예시이며 실제 AI 응답이 아닙니다. 다음 장에서 계산을 공개합니다.</a:t>
            </a:r>
          </a:p>
          <a:p xmlns:a="http://schemas.openxmlformats.org/drawingml/2006/main">
            <a:r>
              <a:t/>
            </a:r>
          </a:p>
          <a:p xmlns:a="http://schemas.openxmlformats.org/drawingml/2006/main">
            <a:r>
              <a:t>참가자에게 할 질문: 두 비율의 차이를 어떤 단위로 쓸까요?</a:t>
            </a:r>
          </a:p>
          <a:p xmlns:a="http://schemas.openxmlformats.org/drawingml/2006/main">
            <a:r>
              <a:t/>
            </a:r>
          </a:p>
          <a:p xmlns:a="http://schemas.openxmlformats.org/drawingml/2006/main">
            <a:r>
              <a:t>예상 오류와 대응: 메일 작성과 실제 발송을 구분합니다.</a:t>
            </a:r>
          </a:p>
          <a:p xmlns:a="http://schemas.openxmlformats.org/drawingml/2006/main">
            <a:r>
              <a:t/>
            </a:r>
          </a:p>
          <a:p xmlns:a="http://schemas.openxmlformats.org/drawingml/2006/main">
            <a:r>
              <a:t>수업 링크: https://zeusk302-png.github.io/gyeongnam-ai-workshop/#c-revise-length</a:t>
            </a:r>
          </a:p>
          <a:p xmlns:a="http://schemas.openxmlformats.org/drawingml/2006/main">
            <a:r>
              <a:t/>
            </a:r>
          </a:p>
          <a:p xmlns:a="http://schemas.openxmlformats.org/drawingml/2006/main">
            <a:r>
              <a:t>참여 진행: {"kind":"spot-error","seconds":30,"prompt":"메일의 숫자 표현 한 곳을 고칩니다."}</a:t>
            </a:r>
          </a:p>
          <a:p xmlns:a="http://schemas.openxmlformats.org/drawingml/2006/main">
            <a:r>
              <a:t/>
            </a:r>
          </a:p>
          <a:p xmlns:a="http://schemas.openxmlformats.org/drawingml/2006/main">
            <a:r>
              <a:t>답 공개 참고: {"questionSlide":44,"answerSlide":45,"answer":"두 이수율의 차이는 약 5.7%p입니다.","evidence":"15번 이전 확정표와 이번 대장: 24/28×100−16/20×100","role":"question"}</a:t>
            </a:r>
          </a:p>
          <a:p xmlns:a="http://schemas.openxmlformats.org/drawingml/2006/main">
            <a:r>
              <a:t/>
            </a:r>
          </a:p>
          <a:p xmlns:a="http://schemas.openxmlformats.org/drawingml/2006/main">
            <a:r>
              <a:t>원자료: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45. 5.7%가 아니라 5.7%p</a:t>
            </a:r>
          </a:p>
          <a:p xmlns:a="http://schemas.openxmlformats.org/drawingml/2006/main">
            <a:r>
              <a:t/>
            </a:r>
          </a:p>
          <a:p xmlns:a="http://schemas.openxmlformats.org/drawingml/2006/main">
            <a:r>
              <a:t>시간: 시작 후 151–156분, 5분 진행.</a:t>
            </a:r>
          </a:p>
          <a:p xmlns:a="http://schemas.openxmlformats.org/drawingml/2006/main">
            <a:r>
              <a:t/>
            </a:r>
          </a:p>
          <a:p xmlns:a="http://schemas.openxmlformats.org/drawingml/2006/main">
            <a:r>
              <a:t>말할 내용: 앞 장의 메일 표현을 약 5.7%p 상승으로 고칩니다. 80.0%에서 약 85.7%로 바뀐 비율의 차이입니다. 원대장으로 28명과 24명을 확인하고 나머지 지표도 계산합니다. 실제 참여는 20명에서 28명으로 40.0% 증가했고, 집행액은 845,000원입니다. 설문 합계 112점을 25개 응답으로 나누면 4.48점입니다. 이전 평균은 표시값 4.2만 있어 정확한 원평균 차이를 계산할 수 없습니다.</a:t>
            </a:r>
          </a:p>
          <a:p xmlns:a="http://schemas.openxmlformats.org/drawingml/2006/main">
            <a:r>
              <a:t/>
            </a:r>
          </a:p>
          <a:p xmlns:a="http://schemas.openxmlformats.org/drawingml/2006/main">
            <a:r>
              <a:t>참가자에게 할 질문: 보고서와 메일에서 같은 분모를 썼나요?</a:t>
            </a:r>
          </a:p>
          <a:p xmlns:a="http://schemas.openxmlformats.org/drawingml/2006/main">
            <a:r>
              <a:t/>
            </a:r>
          </a:p>
          <a:p xmlns:a="http://schemas.openxmlformats.org/drawingml/2006/main">
            <a:r>
              <a:t>예상 오류와 대응: 표시값 차이와 원점수 평균 차이를 혼동하지 않습니다.</a:t>
            </a:r>
          </a:p>
          <a:p xmlns:a="http://schemas.openxmlformats.org/drawingml/2006/main">
            <a:r>
              <a:t/>
            </a:r>
          </a:p>
          <a:p xmlns:a="http://schemas.openxmlformats.org/drawingml/2006/main">
            <a:r>
              <a:t>수업 링크: https://zeusk302-png.github.io/gyeongnam-ai-workshop/#c-verify</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"지표",</a:t>
            </a:r>
          </a:p>
          <a:p xmlns:a="http://schemas.openxmlformats.org/drawingml/2006/main">
            <a:r>
              <a:t>    "이전 회차",</a:t>
            </a:r>
          </a:p>
          <a:p xmlns:a="http://schemas.openxmlformats.org/drawingml/2006/main">
            <a:r>
              <a:t>    "이번 회차",</a:t>
            </a:r>
          </a:p>
          <a:p xmlns:a="http://schemas.openxmlformats.org/drawingml/2006/main">
            <a:r>
              <a:t>    "변화·계산"</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"실제 참여",</a:t>
            </a:r>
          </a:p>
          <a:p xmlns:a="http://schemas.openxmlformats.org/drawingml/2006/main">
            <a:r>
              <a:t>      "20명",</a:t>
            </a:r>
          </a:p>
          <a:p xmlns:a="http://schemas.openxmlformats.org/drawingml/2006/main">
            <a:r>
              <a:t>      "28명",</a:t>
            </a:r>
          </a:p>
          <a:p xmlns:a="http://schemas.openxmlformats.org/drawingml/2006/main">
            <a:r>
              <a:t>      "8명, 40.0% 증가"</a:t>
            </a:r>
          </a:p>
          <a:p xmlns:a="http://schemas.openxmlformats.org/drawingml/2006/main">
            <a:r>
              <a:t>    ],</a:t>
            </a:r>
          </a:p>
          <a:p xmlns:a="http://schemas.openxmlformats.org/drawingml/2006/main">
            <a:r>
              <a:t>    [</a:t>
            </a:r>
          </a:p>
          <a:p xmlns:a="http://schemas.openxmlformats.org/drawingml/2006/main">
            <a:r>
              <a:t>      "이수율",</a:t>
            </a:r>
          </a:p>
          <a:p xmlns:a="http://schemas.openxmlformats.org/drawingml/2006/main">
            <a:r>
              <a:t>      "16÷20 = 80.0%",</a:t>
            </a:r>
          </a:p>
          <a:p xmlns:a="http://schemas.openxmlformats.org/drawingml/2006/main">
            <a:r>
              <a:t>      "24÷28 ≈ 85.7%",</a:t>
            </a:r>
          </a:p>
          <a:p xmlns:a="http://schemas.openxmlformats.org/drawingml/2006/main">
            <a:r>
              <a:t>      "약 5.7%p 상승"</a:t>
            </a:r>
          </a:p>
          <a:p xmlns:a="http://schemas.openxmlformats.org/drawingml/2006/main">
            <a:r>
              <a:t>    ],</a:t>
            </a:r>
          </a:p>
          <a:p xmlns:a="http://schemas.openxmlformats.org/drawingml/2006/main">
            <a:r>
              <a:t>    [</a:t>
            </a:r>
          </a:p>
          <a:p xmlns:a="http://schemas.openxmlformats.org/drawingml/2006/main">
            <a:r>
              <a:t>      "집행액",</a:t>
            </a:r>
          </a:p>
          <a:p xmlns:a="http://schemas.openxmlformats.org/drawingml/2006/main">
            <a:r>
              <a:t>      "720,000원",</a:t>
            </a:r>
          </a:p>
          <a:p xmlns:a="http://schemas.openxmlformats.org/drawingml/2006/main">
            <a:r>
              <a:t>      "845,000원",</a:t>
            </a:r>
          </a:p>
          <a:p xmlns:a="http://schemas.openxmlformats.org/drawingml/2006/main">
            <a:r>
              <a:t>      "125,000원, 약 17.4% 증가"</a:t>
            </a:r>
          </a:p>
          <a:p xmlns:a="http://schemas.openxmlformats.org/drawingml/2006/main">
            <a:r>
              <a:t>    ],</a:t>
            </a:r>
          </a:p>
          <a:p xmlns:a="http://schemas.openxmlformats.org/drawingml/2006/main">
            <a:r>
              <a:t>    [</a:t>
            </a:r>
          </a:p>
          <a:p xmlns:a="http://schemas.openxmlformats.org/drawingml/2006/main">
            <a:r>
              <a:t>      "1인당 집행액",</a:t>
            </a:r>
          </a:p>
          <a:p xmlns:a="http://schemas.openxmlformats.org/drawingml/2006/main">
            <a:r>
              <a:t>      "36,000원",</a:t>
            </a:r>
          </a:p>
          <a:p xmlns:a="http://schemas.openxmlformats.org/drawingml/2006/main">
            <a:r>
              <a:t>      "약 30,179원",</a:t>
            </a:r>
          </a:p>
          <a:p xmlns:a="http://schemas.openxmlformats.org/drawingml/2006/main">
            <a:r>
              <a:t>      "약 16.2% 감소"</a:t>
            </a:r>
          </a:p>
          <a:p xmlns:a="http://schemas.openxmlformats.org/drawingml/2006/main">
            <a:r>
              <a:t>    ],</a:t>
            </a:r>
          </a:p>
          <a:p xmlns:a="http://schemas.openxmlformats.org/drawingml/2006/main">
            <a:r>
              <a:t>    [</a:t>
            </a:r>
          </a:p>
          <a:p xmlns:a="http://schemas.openxmlformats.org/drawingml/2006/main">
            <a:r>
              <a:t>      "설문 응답률",</a:t>
            </a:r>
          </a:p>
          <a:p xmlns:a="http://schemas.openxmlformats.org/drawingml/2006/main">
            <a:r>
              <a:t>      "18÷20 = 90.0%",</a:t>
            </a:r>
          </a:p>
          <a:p xmlns:a="http://schemas.openxmlformats.org/drawingml/2006/main">
            <a:r>
              <a:t>      "25÷28 ≈ 89.3%",</a:t>
            </a:r>
          </a:p>
          <a:p xmlns:a="http://schemas.openxmlformats.org/drawingml/2006/main">
            <a:r>
              <a:t>      "실제 참여자 기준"</a:t>
            </a:r>
          </a:p>
          <a:p xmlns:a="http://schemas.openxmlformats.org/drawingml/2006/main">
            <a:r>
              <a:t>    ],</a:t>
            </a:r>
          </a:p>
          <a:p xmlns:a="http://schemas.openxmlformats.org/drawingml/2006/main">
            <a:r>
              <a:t>    [</a:t>
            </a:r>
          </a:p>
          <a:p xmlns:a="http://schemas.openxmlformats.org/drawingml/2006/main">
            <a:r>
              <a:t>      "만족도 평균",</a:t>
            </a:r>
          </a:p>
          <a:p xmlns:a="http://schemas.openxmlformats.org/drawingml/2006/main">
            <a:r>
              <a:t>      "표시값 4.2점",</a:t>
            </a:r>
          </a:p>
          <a:p xmlns:a="http://schemas.openxmlformats.org/drawingml/2006/main">
            <a:r>
              <a:t>      "112÷25 = 4.48점",</a:t>
            </a:r>
          </a:p>
          <a:p xmlns:a="http://schemas.openxmlformats.org/drawingml/2006/main">
            <a:r>
              <a:t>      "표시 4.5점"</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참여 진행: {"kind":"pair","seconds":60,"prompt":"짝의 보고서와 메일에서 이수율·분모를 확인합니다."}</a:t>
            </a:r>
          </a:p>
          <a:p xmlns:a="http://schemas.openxmlformats.org/drawingml/2006/main">
            <a:r>
              <a:t/>
            </a:r>
          </a:p>
          <a:p xmlns:a="http://schemas.openxmlformats.org/drawingml/2006/main">
            <a:r>
              <a:t>원자료: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46. 비용이 줄면 교육 효과도 좋아졌을까요?</a:t>
            </a:r>
          </a:p>
          <a:p xmlns:a="http://schemas.openxmlformats.org/drawingml/2006/main">
            <a:r>
              <a:t/>
            </a:r>
          </a:p>
          <a:p xmlns:a="http://schemas.openxmlformats.org/drawingml/2006/main">
            <a:r>
              <a:t>시간: 시작 후 156–160분, 4분 진행.</a:t>
            </a:r>
          </a:p>
          <a:p xmlns:a="http://schemas.openxmlformats.org/drawingml/2006/main">
            <a:r>
              <a:t/>
            </a:r>
          </a:p>
          <a:p xmlns:a="http://schemas.openxmlformats.org/drawingml/2006/main">
            <a:r>
              <a:t>말할 내용: 1인당 비용이 감소해도 교육 효과나 도구의 생산성이 높아졌다는 뜻은 아닙니다. 확인된 사실과 추가 자료가 필요한 판단을 분리합니다. 비용을 잘못 계산한 문제와 계산값을 과장 해석한 문제를 구분하게 합니다.</a:t>
            </a:r>
          </a:p>
          <a:p xmlns:a="http://schemas.openxmlformats.org/drawingml/2006/main">
            <a:r>
              <a:t/>
            </a:r>
          </a:p>
          <a:p xmlns:a="http://schemas.openxmlformats.org/drawingml/2006/main">
            <a:r>
              <a:t>참가자에게 할 질문: 이 주장을 하려면 무엇을 더 알아야 하나요?</a:t>
            </a:r>
          </a:p>
          <a:p xmlns:a="http://schemas.openxmlformats.org/drawingml/2006/main">
            <a:r>
              <a:t/>
            </a:r>
          </a:p>
          <a:p xmlns:a="http://schemas.openxmlformats.org/drawingml/2006/main">
            <a:r>
              <a:t>예상 오류와 대응: 자유 의견 12건으로 전체 참가자의 의견 비율을 만들지 않습니다.</a:t>
            </a:r>
          </a:p>
          <a:p xmlns:a="http://schemas.openxmlformats.org/drawingml/2006/main">
            <a:r>
              <a:t/>
            </a:r>
          </a:p>
          <a:p xmlns:a="http://schemas.openxmlformats.org/drawingml/2006/main">
            <a:r>
              <a:t>수업 링크: https://zeusk302-png.github.io/gyeongnam-ai-workshop/#c-verify</a:t>
            </a:r>
          </a:p>
          <a:p xmlns:a="http://schemas.openxmlformats.org/drawingml/2006/main">
            <a:r>
              <a:t/>
            </a:r>
          </a:p>
          <a:p xmlns:a="http://schemas.openxmlformats.org/drawingml/2006/main">
            <a:r>
              <a:t>전체 원자료 표(화면에 핵심 발췌만 보이면 웹 자료로 전체 확인):</a:t>
            </a:r>
          </a:p>
          <a:p xmlns:a="http://schemas.openxmlformats.org/drawingml/2006/main">
            <a:r>
              <a:t/>
            </a:r>
          </a:p>
          <a:p xmlns:a="http://schemas.openxmlformats.org/drawingml/2006/main">
            <a:r>
              <a:t>{</a:t>
            </a:r>
          </a:p>
          <a:p xmlns:a="http://schemas.openxmlformats.org/drawingml/2006/main">
            <a:r>
              <a:t>  "headers": [</a:t>
            </a:r>
          </a:p>
          <a:p xmlns:a="http://schemas.openxmlformats.org/drawingml/2006/main">
            <a:r>
              <a:t>    "확인한 사실",</a:t>
            </a:r>
          </a:p>
          <a:p xmlns:a="http://schemas.openxmlformats.org/drawingml/2006/main">
            <a:r>
              <a:t>    "추가 자료가 필요한 판단"</a:t>
            </a:r>
          </a:p>
          <a:p xmlns:a="http://schemas.openxmlformats.org/drawingml/2006/main">
            <a:r>
              <a:t>  ],</a:t>
            </a:r>
          </a:p>
          <a:p xmlns:a="http://schemas.openxmlformats.org/drawingml/2006/main">
            <a:r>
              <a:t>  "rows": [</a:t>
            </a:r>
          </a:p>
          <a:p xmlns:a="http://schemas.openxmlformats.org/drawingml/2006/main">
            <a:r>
              <a:t>    [</a:t>
            </a:r>
          </a:p>
          <a:p xmlns:a="http://schemas.openxmlformats.org/drawingml/2006/main">
            <a:r>
              <a:t>      "P07·P12·P19·P25는 일부 결과물 미제출",</a:t>
            </a:r>
          </a:p>
          <a:p xmlns:a="http://schemas.openxmlformats.org/drawingml/2006/main">
            <a:r>
              <a:t>      "미이수한 이유"</a:t>
            </a:r>
          </a:p>
          <a:p xmlns:a="http://schemas.openxmlformats.org/drawingml/2006/main">
            <a:r>
              <a:t>    ],</a:t>
            </a:r>
          </a:p>
          <a:p xmlns:a="http://schemas.openxmlformats.org/drawingml/2006/main">
            <a:r>
              <a:t>    [</a:t>
            </a:r>
          </a:p>
          <a:p xmlns:a="http://schemas.openxmlformats.org/drawingml/2006/main">
            <a:r>
              <a:t>      "일부 참가자의 로그인 지연 기록",</a:t>
            </a:r>
          </a:p>
          <a:p xmlns:a="http://schemas.openxmlformats.org/drawingml/2006/main">
            <a:r>
              <a:t>      "전체 지연 인원과 분 단위 소요 시간"</a:t>
            </a:r>
          </a:p>
          <a:p xmlns:a="http://schemas.openxmlformats.org/drawingml/2006/main">
            <a:r>
              <a:t>    ],</a:t>
            </a:r>
          </a:p>
          <a:p xmlns:a="http://schemas.openxmlformats.org/drawingml/2006/main">
            <a:r>
              <a:t>    [</a:t>
            </a:r>
          </a:p>
          <a:p xmlns:a="http://schemas.openxmlformats.org/drawingml/2006/main">
            <a:r>
              <a:t>      "자유 의견 12건",</a:t>
            </a:r>
          </a:p>
          <a:p xmlns:a="http://schemas.openxmlformats.org/drawingml/2006/main">
            <a:r>
              <a:t>      "전체 참가자의 의견 비율과 인과"</a:t>
            </a:r>
          </a:p>
          <a:p xmlns:a="http://schemas.openxmlformats.org/drawingml/2006/main">
            <a:r>
              <a:t>    ],</a:t>
            </a:r>
          </a:p>
          <a:p xmlns:a="http://schemas.openxmlformats.org/drawingml/2006/main">
            <a:r>
              <a:t>    [</a:t>
            </a:r>
          </a:p>
          <a:p xmlns:a="http://schemas.openxmlformats.org/drawingml/2006/main">
            <a:r>
              <a:t>      "1인당 집행액 감소",</a:t>
            </a:r>
          </a:p>
          <a:p xmlns:a="http://schemas.openxmlformats.org/drawingml/2006/main">
            <a:r>
              <a:t>      "교육 효과나 도구별 생산성 향상"</a:t>
            </a:r>
          </a:p>
          <a:p xmlns:a="http://schemas.openxmlformats.org/drawingml/2006/main">
            <a:r>
              <a:t>    ],</a:t>
            </a:r>
          </a:p>
          <a:p xmlns:a="http://schemas.openxmlformats.org/drawingml/2006/main">
            <a:r>
              <a:t>    [</a:t>
            </a:r>
          </a:p>
          <a:p xmlns:a="http://schemas.openxmlformats.org/drawingml/2006/main">
            <a:r>
              <a:t>      "이번 설문 원응답 25건 제공",</a:t>
            </a:r>
          </a:p>
          <a:p xmlns:a="http://schemas.openxmlformats.org/drawingml/2006/main">
            <a:r>
              <a:t>      "이전 회차의 응답별 점수"</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원자료: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47. 작성자와 검토자 역할을 바꿉니다</a:t>
            </a:r>
          </a:p>
          <a:p xmlns:a="http://schemas.openxmlformats.org/drawingml/2006/main">
            <a:r>
              <a:t/>
            </a:r>
          </a:p>
          <a:p xmlns:a="http://schemas.openxmlformats.org/drawingml/2006/main">
            <a:r>
              <a:t>시간: 시작 후 160–165분, 5분 진행.</a:t>
            </a:r>
          </a:p>
          <a:p xmlns:a="http://schemas.openxmlformats.org/drawingml/2006/main">
            <a:r>
              <a:t/>
            </a:r>
          </a:p>
          <a:p xmlns:a="http://schemas.openxmlformats.org/drawingml/2006/main">
            <a:r>
              <a:t>말할 내용: 5분간 서로의 결과물을 확인합니다. 보고서와 메일의 수치가 같은지, 제안한 담당과 기한을 확정한 것처럼 썼는지 봅니다. 확인자는 문장만 고쳐 주는 대신 원문 위치나 수식도 남깁니다.</a:t>
            </a:r>
          </a:p>
          <a:p xmlns:a="http://schemas.openxmlformats.org/drawingml/2006/main">
            <a:r>
              <a:t/>
            </a:r>
          </a:p>
          <a:p xmlns:a="http://schemas.openxmlformats.org/drawingml/2006/main">
            <a:r>
              <a:t>참가자에게 할 질문: 작성자가 다시 확인해야 할 가장 중요한 한 곳은 어디인가요?</a:t>
            </a:r>
          </a:p>
          <a:p xmlns:a="http://schemas.openxmlformats.org/drawingml/2006/main">
            <a:r>
              <a:t/>
            </a:r>
          </a:p>
          <a:p xmlns:a="http://schemas.openxmlformats.org/drawingml/2006/main">
            <a:r>
              <a:t>예상 오류와 대응: 짝 검토를 기관의 실제 결재나 발송 승인으로 표현하지 않습니다.</a:t>
            </a:r>
          </a:p>
          <a:p xmlns:a="http://schemas.openxmlformats.org/drawingml/2006/main">
            <a:r>
              <a:t/>
            </a:r>
          </a:p>
          <a:p xmlns:a="http://schemas.openxmlformats.org/drawingml/2006/main">
            <a:r>
              <a:t>수업 링크: https://zeusk302-png.github.io/gyeongnam-ai-workshop/#c-verify</a:t>
            </a:r>
          </a:p>
          <a:p xmlns:a="http://schemas.openxmlformats.org/drawingml/2006/main">
            <a:r>
              <a:t/>
            </a:r>
          </a:p>
          <a:p xmlns:a="http://schemas.openxmlformats.org/drawingml/2006/main">
            <a:r>
              <a:t>실습 안내: 짝의 보고서와 메일을 대조</a:t>
            </a:r>
          </a:p>
          <a:p xmlns:a="http://schemas.openxmlformats.org/drawingml/2006/main">
            <a:r>
              <a:t/>
            </a:r>
          </a:p>
          <a:p xmlns:a="http://schemas.openxmlformats.org/drawingml/2006/main">
            <a:r>
              <a:t>진행 순서: 숫자 하나를 원대장·수식으로 확인 / 결정 요청 두 건의 상태 비교 / 수정 문장과 남은 확인 기록</a:t>
            </a:r>
          </a:p>
          <a:p xmlns:a="http://schemas.openxmlformats.org/drawingml/2006/main">
            <a:r>
              <a:t/>
            </a:r>
          </a:p>
          <a:p xmlns:a="http://schemas.openxmlformats.org/drawingml/2006/main">
            <a:r>
              <a:t>남길 결과: 보고서·메일·계산표·확인 메모</a:t>
            </a:r>
          </a:p>
          <a:p xmlns:a="http://schemas.openxmlformats.org/drawingml/2006/main">
            <a:r>
              <a:t/>
            </a:r>
          </a:p>
          <a:p xmlns:a="http://schemas.openxmlformats.org/drawingml/2006/main">
            <a:r>
              <a:t>참여 진행: {"kind":"pair","seconds":60,"prompt":"서로의 문서에서 숫자와 확정 표현을 한 곳씩 확인합니다."}</a:t>
            </a:r>
          </a:p>
          <a:p xmlns:a="http://schemas.openxmlformats.org/drawingml/2006/main">
            <a:r>
              <a:t/>
            </a:r>
          </a:p>
          <a:p xmlns:a="http://schemas.openxmlformats.org/drawingml/2006/main">
            <a:r>
              <a:t>원자료: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48. 내려받은 파일을 한 번 엽니다</a:t>
            </a:r>
          </a:p>
          <a:p xmlns:a="http://schemas.openxmlformats.org/drawingml/2006/main">
            <a:r>
              <a:t/>
            </a:r>
          </a:p>
          <a:p xmlns:a="http://schemas.openxmlformats.org/drawingml/2006/main">
            <a:r>
              <a:t>시간: 시작 후 165–169분, 4분 진행.</a:t>
            </a:r>
          </a:p>
          <a:p xmlns:a="http://schemas.openxmlformats.org/drawingml/2006/main">
            <a:r>
              <a:t/>
            </a:r>
          </a:p>
          <a:p xmlns:a="http://schemas.openxmlformats.org/drawingml/2006/main">
            <a:r>
              <a:t>말할 내용: 웹의 기록을 내려받은 뒤 실제 내용이 있는지 엽니다. 준비·대기·검토·수정 시간을 남기고 확인하지 못한 범위를 표시합니다. 직접 실행, 짝 활동, 시연 관찰을 구분합니다.</a:t>
            </a:r>
          </a:p>
          <a:p xmlns:a="http://schemas.openxmlformats.org/drawingml/2006/main">
            <a:r>
              <a:t/>
            </a:r>
          </a:p>
          <a:p xmlns:a="http://schemas.openxmlformats.org/drawingml/2006/main">
            <a:r>
              <a:t>참가자에게 할 질문: 다음에 이 파일만 보고 이어서 할 수 있나요?</a:t>
            </a:r>
          </a:p>
          <a:p xmlns:a="http://schemas.openxmlformats.org/drawingml/2006/main">
            <a:r>
              <a:t/>
            </a:r>
          </a:p>
          <a:p xmlns:a="http://schemas.openxmlformats.org/drawingml/2006/main">
            <a:r>
              <a:t>예상 오류와 대응: 파일이 비어 있거나 저장되지 않았는데 완료로 끝내지 않습니다.</a:t>
            </a:r>
          </a:p>
          <a:p xmlns:a="http://schemas.openxmlformats.org/drawingml/2006/main">
            <a:r>
              <a:t/>
            </a:r>
          </a:p>
          <a:p xmlns:a="http://schemas.openxmlformats.org/drawingml/2006/main">
            <a:r>
              <a:t>수업 링크: https://zeusk302-png.github.io/gyeongnam-ai-workshop/#wrap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49. 내 업무 하나로 바꿔 봅니다</a:t>
            </a:r>
          </a:p>
          <a:p xmlns:a="http://schemas.openxmlformats.org/drawingml/2006/main">
            <a:r>
              <a:t/>
            </a:r>
          </a:p>
          <a:p xmlns:a="http://schemas.openxmlformats.org/drawingml/2006/main">
            <a:r>
              <a:t>시간: 시작 후 169–175분, 6분 진행.</a:t>
            </a:r>
          </a:p>
          <a:p xmlns:a="http://schemas.openxmlformats.org/drawingml/2006/main">
            <a:r>
              <a:t/>
            </a:r>
          </a:p>
          <a:p xmlns:a="http://schemas.openxmlformats.org/drawingml/2006/main">
            <a:r>
              <a:t>말할 내용: 6분 동안 반복 업무 세 가지를 쓰되, 다음 주 바로 시험할 일 한 가지를 먼저 고릅니다. 기존 서식이나 시트면 충분한 일도 그대로 선택합니다. AI를 고른 업무는 입력 가능한 자료와 본인이 끝까지 확인할 범위를 정합니다.</a:t>
            </a:r>
          </a:p>
          <a:p xmlns:a="http://schemas.openxmlformats.org/drawingml/2006/main">
            <a:r>
              <a:t/>
            </a:r>
          </a:p>
          <a:p xmlns:a="http://schemas.openxmlformats.org/drawingml/2006/main">
            <a:r>
              <a:t>참가자에게 할 질문: 어느 조건이면 기존 방법으로 돌아가겠습니까?</a:t>
            </a:r>
          </a:p>
          <a:p xmlns:a="http://schemas.openxmlformats.org/drawingml/2006/main">
            <a:r>
              <a:t/>
            </a:r>
          </a:p>
          <a:p xmlns:a="http://schemas.openxmlformats.org/drawingml/2006/main">
            <a:r>
              <a:t>예상 오류와 대응: 검토 없는 승인·발송 자동화로 계획을 넓히지 않습니다.</a:t>
            </a:r>
          </a:p>
          <a:p xmlns:a="http://schemas.openxmlformats.org/drawingml/2006/main">
            <a:r>
              <a:t/>
            </a:r>
          </a:p>
          <a:p xmlns:a="http://schemas.openxmlformats.org/drawingml/2006/main">
            <a:r>
              <a:t>수업 링크: https://zeusk302-png.github.io/gyeongnam-ai-workshop/#wrap</a:t>
            </a:r>
          </a:p>
          <a:p xmlns:a="http://schemas.openxmlformats.org/drawingml/2006/main">
            <a:r>
              <a:t/>
            </a:r>
          </a:p>
          <a:p xmlns:a="http://schemas.openxmlformats.org/drawingml/2006/main">
            <a:r>
              <a:t>실습 안내: 반복 업무 세 가지의 처리 방법 선택</a:t>
            </a:r>
          </a:p>
          <a:p xmlns:a="http://schemas.openxmlformats.org/drawingml/2006/main">
            <a:r>
              <a:t/>
            </a:r>
          </a:p>
          <a:p xmlns:a="http://schemas.openxmlformats.org/drawingml/2006/main">
            <a:r>
              <a:t>진행 순서: 직접 작성·서식·시트·AI 중 선택 / AI에 맡길 범위를 한 문장으로 / 내가 확인할 항목과 중단 조건 기록</a:t>
            </a:r>
          </a:p>
          <a:p xmlns:a="http://schemas.openxmlformats.org/drawingml/2006/main">
            <a:r>
              <a:t/>
            </a:r>
          </a:p>
          <a:p xmlns:a="http://schemas.openxmlformats.org/drawingml/2006/main">
            <a:r>
              <a:t>남길 결과: 업무별 사용 여부와 검토 계획 3행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50. 오늘 바꾼 문장 하나</a:t>
            </a:r>
          </a:p>
          <a:p xmlns:a="http://schemas.openxmlformats.org/drawingml/2006/main">
            <a:r>
              <a:t/>
            </a:r>
          </a:p>
          <a:p xmlns:a="http://schemas.openxmlformats.org/drawingml/2006/main">
            <a:r>
              <a:t>시간: 시작 후 175–180분, 5분 진행.</a:t>
            </a:r>
          </a:p>
          <a:p xmlns:a="http://schemas.openxmlformats.org/drawingml/2006/main">
            <a:r>
              <a:t/>
            </a:r>
          </a:p>
          <a:p xmlns:a="http://schemas.openxmlformats.org/drawingml/2006/main">
            <a:r>
              <a:t>말할 내용: 마지막 5분에는 고친 문장 하나와 이유를 공유합니다. AI를 쓰지 않기로 한 업무도 좋은 결론입니다. 추가 여덟 과제는 수업 후 복습 또는 별도 심화이며 본수업 180분에 포함되지 않습니다. 다시 비교할 때 같은 건수와 완료 기준을 사용하고 검토 시간도 포함합니다.</a:t>
            </a:r>
          </a:p>
          <a:p xmlns:a="http://schemas.openxmlformats.org/drawingml/2006/main">
            <a:r>
              <a:t/>
            </a:r>
          </a:p>
          <a:p xmlns:a="http://schemas.openxmlformats.org/drawingml/2006/main">
            <a:r>
              <a:t>참가자에게 할 질문: 내가 오늘 가장 자주 고친 것은 날짜, 숫자, 상태 중 무엇인가요?</a:t>
            </a:r>
          </a:p>
          <a:p xmlns:a="http://schemas.openxmlformats.org/drawingml/2006/main">
            <a:r>
              <a:t/>
            </a:r>
          </a:p>
          <a:p xmlns:a="http://schemas.openxmlformats.org/drawingml/2006/main">
            <a:r>
              <a:t>예상 오류와 대응: 다른 분량·난도의 시간을 단순 비교해 생산성 수치로 만들지 않습니다.</a:t>
            </a:r>
          </a:p>
          <a:p xmlns:a="http://schemas.openxmlformats.org/drawingml/2006/main">
            <a:r>
              <a:t/>
            </a:r>
          </a:p>
          <a:p xmlns:a="http://schemas.openxmlformats.org/drawingml/2006/main">
            <a:r>
              <a:t>수업 링크: https://zeusk302-png.github.io/gyeongnam-ai-workshop/#practice-bank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51. 같은 학생에게 메일이 또 왔습니다</a:t>
            </a:r>
          </a:p>
          <a:p xmlns:a="http://schemas.openxmlformats.org/drawingml/2006/main">
            <a:r>
              <a:t/>
            </a:r>
          </a:p>
          <a:p xmlns:a="http://schemas.openxmlformats.org/drawingml/2006/main">
            <a:r>
              <a:t>시간: 선택 활동 15분. 본수업 180분 밖의 복습 자료입니다.</a:t>
            </a:r>
          </a:p>
          <a:p xmlns:a="http://schemas.openxmlformats.org/drawingml/2006/main">
            <a:r>
              <a:t/>
            </a:r>
          </a:p>
          <a:p xmlns:a="http://schemas.openxmlformats.org/drawingml/2006/main">
            <a:r>
              <a:t>말할 내용: 15분 동안 원래 문의와 다음 날 후속 회신을 이어 봅니다. 읽기 3분, 작성 4분, 대조 6분, 저장 2분입니다. 12개 회신을 신규 12명으로 세지 않고 S01·S03·S05 세 학생의 상태를 갱신합니다. 해설은 첫 초안 저장 뒤 확인합니다.</a:t>
            </a:r>
          </a:p>
          <a:p xmlns:a="http://schemas.openxmlformats.org/drawingml/2006/main">
            <a:r>
              <a:t/>
            </a:r>
          </a:p>
          <a:p xmlns:a="http://schemas.openxmlformats.org/drawingml/2006/main">
            <a:r>
              <a:t>참가자에게 할 질문: 12건을 신규 학생 12명으로 세지 않았는가</a:t>
            </a:r>
          </a:p>
          <a:p xmlns:a="http://schemas.openxmlformats.org/drawingml/2006/main">
            <a:r>
              <a:t/>
            </a:r>
          </a:p>
          <a:p xmlns:a="http://schemas.openxmlformats.org/drawingml/2006/main">
            <a:r>
              <a:t>예상 오류와 대응: S01의 담당 조회와 학생 진술을 구별했는가 S03·S05 검토 접수를 신청 완료나 불승인으로 바꾸지 않았는가 기준일이 바뀌었는데 오늘 18시까지 신청하라고 쓰지 않았는가</a:t>
            </a:r>
          </a:p>
          <a:p xmlns:a="http://schemas.openxmlformats.org/drawingml/2006/main">
            <a:r>
              <a:t/>
            </a:r>
          </a:p>
          <a:p xmlns:a="http://schemas.openxmlformats.org/drawingml/2006/main">
            <a:r>
              <a:t>수업 링크: https://zeusk302-png.github.io/gyeongnam-ai-workshop/#practice-p01</a:t>
            </a:r>
          </a:p>
          <a:p xmlns:a="http://schemas.openxmlformats.org/drawingml/2006/main">
            <a:r>
              <a:t/>
            </a:r>
          </a:p>
          <a:p xmlns:a="http://schemas.openxmlformats.org/drawingml/2006/main">
            <a:r>
              <a:t>실습 안내: 변경 12행 · 상태 3행 · 답장 3개</a:t>
            </a:r>
          </a:p>
          <a:p xmlns:a="http://schemas.openxmlformats.org/drawingml/2006/main">
            <a:r>
              <a:t/>
            </a:r>
          </a:p>
          <a:p xmlns:a="http://schemas.openxmlformats.org/drawingml/2006/main">
            <a:r>
              <a:t>진행 순서: 원문 11·21에서 같은 ID 연결 / 최신 상태 세 행과 답장 세 개 / 신청 완료와 검토 접수 대조</a:t>
            </a:r>
          </a:p>
          <a:p xmlns:a="http://schemas.openxmlformats.org/drawingml/2006/main">
            <a:r>
              <a:t/>
            </a:r>
          </a:p>
          <a:p xmlns:a="http://schemas.openxmlformats.org/drawingml/2006/main">
            <a:r>
              <a:t>남길 결과: 변경 12행 · 상태 3행 · 답장 3개</a:t>
            </a:r>
          </a:p>
          <a:p xmlns:a="http://schemas.openxmlformats.org/drawingml/2006/main">
            <a:r>
              <a:t/>
            </a:r>
          </a:p>
          <a:p xmlns:a="http://schemas.openxmlformats.org/drawingml/2006/main">
            <a:r>
              <a:t>산출물: 변경 이력 12행(F01~F12) / 최신 상태표 3행(S01·S03·S05) / 학생 답장 초안 3건(각 250~400자)</a:t>
            </a:r>
          </a:p>
          <a:p xmlns:a="http://schemas.openxmlformats.org/drawingml/2006/main">
            <a:r>
              <a:t>통과 기준: 12건을 신규 학생 12명으로 세지 않았는가 / S01의 담당 조회와 학생 진술을 구별했는가 / S03·S05 검토 접수를 신청 완료나 불승인으로 바꾸지 않았는가 / 기준일이 바뀌었는데 오늘 18시까지 신청하라고 쓰지 않았는가</a:t>
            </a:r>
          </a:p>
          <a:p xmlns:a="http://schemas.openxmlformats.org/drawingml/2006/main">
            <a:r>
              <a:t/>
            </a:r>
          </a:p>
          <a:p xmlns:a="http://schemas.openxmlformats.org/drawingml/2006/main">
            <a:r>
              <a:t>원자료: https://zeusk302-png.github.io/gyeongnam-ai-workshop/downloads/%ED%99%95%EC%9E%A5/11_Gemini_%ED%95%99%EC%83%9D%EB%AC%B8%EC%9D%98_%EB%A9%94%EC%9D%BC%EA%B3%BC%EC%97%85%EB%AC%B4%EC%95%88%EB%82%B4.txt</a:t>
            </a:r>
          </a:p>
          <a:p xmlns:a="http://schemas.openxmlformats.org/drawingml/2006/main">
            <a:r>
              <a:t/>
            </a:r>
          </a:p>
          <a:p xmlns:a="http://schemas.openxmlformats.org/drawingml/2006/main">
            <a:r>
              <a:t>원자료: https://zeusk302-png.github.io/gyeongnam-ai-workshop/downloads/%EC%B6%94%EA%B0%80%EC%8B%A4%EC%8A%B5/21_Gemini_%EC%A0%91%EC%88%98%EB%B3%80%EA%B2%BD_12%EA%B1%B4.txt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52. 완료 회신 뒤에 보완 요청이 왔다면</a:t>
            </a:r>
          </a:p>
          <a:p xmlns:a="http://schemas.openxmlformats.org/drawingml/2006/main">
            <a:r>
              <a:t/>
            </a:r>
          </a:p>
          <a:p xmlns:a="http://schemas.openxmlformats.org/drawingml/2006/main">
            <a:r>
              <a:t>시간: 선택 활동 15분. 본수업 180분 밖의 복습 자료입니다.</a:t>
            </a:r>
          </a:p>
          <a:p xmlns:a="http://schemas.openxmlformats.org/drawingml/2006/main">
            <a:r>
              <a:t/>
            </a:r>
          </a:p>
          <a:p xmlns:a="http://schemas.openxmlformats.org/drawingml/2006/main">
            <a:r>
              <a:t>말할 내용: 15분 동안 완료·지연·보완 회신을 업무별로 반영합니다. 읽기 3분, 작성 4분, 상태·기한 대조 6분, 저장 2분입니다. T05·T06의 보완을 현재 완료로 쓰지 않았는지 확인합니다.</a:t>
            </a:r>
          </a:p>
          <a:p xmlns:a="http://schemas.openxmlformats.org/drawingml/2006/main">
            <a:r>
              <a:t/>
            </a:r>
          </a:p>
          <a:p xmlns:a="http://schemas.openxmlformats.org/drawingml/2006/main">
            <a:r>
              <a:t>참가자에게 할 질문: 아홉 업무를 합치거나 새 업무로 늘리지 않았는가</a:t>
            </a:r>
          </a:p>
          <a:p xmlns:a="http://schemas.openxmlformats.org/drawingml/2006/main">
            <a:r>
              <a:t/>
            </a:r>
          </a:p>
          <a:p xmlns:a="http://schemas.openxmlformats.org/drawingml/2006/main">
            <a:r>
              <a:t>예상 오류와 대응: 최초 마감과 승인된 새 기한을 별도 보존했는가 T05·T06의 보완을 현재 완료로 적지 않았는가 행사 전 명단 30명을 실제 참석 실적으로 쓰지 않았는가</a:t>
            </a:r>
          </a:p>
          <a:p xmlns:a="http://schemas.openxmlformats.org/drawingml/2006/main">
            <a:r>
              <a:t/>
            </a:r>
          </a:p>
          <a:p xmlns:a="http://schemas.openxmlformats.org/drawingml/2006/main">
            <a:r>
              <a:t>수업 링크: https://zeusk302-png.github.io/gyeongnam-ai-workshop/#practice-p02</a:t>
            </a:r>
          </a:p>
          <a:p xmlns:a="http://schemas.openxmlformats.org/drawingml/2006/main">
            <a:r>
              <a:t/>
            </a:r>
          </a:p>
          <a:p xmlns:a="http://schemas.openxmlformats.org/drawingml/2006/main">
            <a:r>
              <a:t>실습 안내: 상태 9행 · 우선 확인 3건 · 인계 메일</a:t>
            </a:r>
          </a:p>
          <a:p xmlns:a="http://schemas.openxmlformats.org/drawingml/2006/main">
            <a:r>
              <a:t/>
            </a:r>
          </a:p>
          <a:p xmlns:a="http://schemas.openxmlformats.org/drawingml/2006/main">
            <a:r>
              <a:t>진행 순서: 원문 12·22의 업무 아홉 건 연결 / 최초 기한과 승인된 새 기한 보존 / 보완할 일과 인계 메일 작성</a:t>
            </a:r>
          </a:p>
          <a:p xmlns:a="http://schemas.openxmlformats.org/drawingml/2006/main">
            <a:r>
              <a:t/>
            </a:r>
          </a:p>
          <a:p xmlns:a="http://schemas.openxmlformats.org/drawingml/2006/main">
            <a:r>
              <a:t>남길 결과: 상태 9행 · 우선 확인 3건 · 인계 메일</a:t>
            </a:r>
          </a:p>
          <a:p xmlns:a="http://schemas.openxmlformats.org/drawingml/2006/main">
            <a:r>
              <a:t/>
            </a:r>
          </a:p>
          <a:p xmlns:a="http://schemas.openxmlformats.org/drawingml/2006/main">
            <a:r>
              <a:t>산출물: 업무 상태표 9행(T01~T09) / 우선 확인 목록 3건 / 준비팀 인계 메일 본문 250~350자</a:t>
            </a:r>
          </a:p>
          <a:p xmlns:a="http://schemas.openxmlformats.org/drawingml/2006/main">
            <a:r>
              <a:t>통과 기준: 아홉 업무를 합치거나 새 업무로 늘리지 않았는가 / 최초 마감과 승인된 새 기한을 별도 보존했는가 / T05·T06의 보완을 현재 완료로 적지 않았는가 / 행사 전 명단 30명을 실제 참석 실적으로 쓰지 않았는가</a:t>
            </a:r>
          </a:p>
          <a:p xmlns:a="http://schemas.openxmlformats.org/drawingml/2006/main">
            <a:r>
              <a:t/>
            </a:r>
          </a:p>
          <a:p xmlns:a="http://schemas.openxmlformats.org/drawingml/2006/main">
            <a:r>
              <a:t>원자료: https://zeusk302-png.github.io/gyeongnam-ai-workshop/downloads/%ED%99%95%EC%9E%A5/12_Gemini_%EC%9A%B4%EC%98%81%ED%9A%8C%EC%9D%98_%EC%83%81%EC%84%B8%EA%B8%B0%EB%A1%9D.txt</a:t>
            </a:r>
          </a:p>
          <a:p xmlns:a="http://schemas.openxmlformats.org/drawingml/2006/main">
            <a:r>
              <a:t/>
            </a:r>
          </a:p>
          <a:p xmlns:a="http://schemas.openxmlformats.org/drawingml/2006/main">
            <a:r>
              <a:t>원자료: https://zeusk302-png.github.io/gyeongnam-ai-workshop/downloads/%EC%B6%94%EA%B0%80%EC%8B%A4%EC%8A%B5/22_Gemini_%ED%9A%8C%EC%9D%98%ED%9B%84%EC%86%8D_%EC%83%81%ED%83%9C%ED%9A%8C%EC%8B%A0.txt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53. 더 싼 견적이 새로 왔습니다</a:t>
            </a:r>
          </a:p>
          <a:p xmlns:a="http://schemas.openxmlformats.org/drawingml/2006/main">
            <a:r>
              <a:t/>
            </a:r>
          </a:p>
          <a:p xmlns:a="http://schemas.openxmlformats.org/drawingml/2006/main">
            <a:r>
              <a:t>시간: 선택 활동 20분. 본수업 180분 밖의 복습 자료입니다.</a:t>
            </a:r>
          </a:p>
          <a:p xmlns:a="http://schemas.openxmlformats.org/drawingml/2006/main">
            <a:r>
              <a:t/>
            </a:r>
          </a:p>
          <a:p xmlns:a="http://schemas.openxmlformats.org/drawingml/2006/main">
            <a:r>
              <a:t>말할 내용: 20분 동안 수정 견적과 승인 변경을 반영합니다. 읽기 4분, 작성 4분, 검산 10분, 저장 2분입니다. B04의 승인 수량·구성, C09 최신 승인 범위를 확인합니다. 실제 Gemini 오류 화면 w05는 행사별 845,000원·950,000원·838,000원이 맞아도 총합을 잘못 쓴 사례입니다. 올바른 합계는 2,633,000원이며 2,538,000원이 아닙니다.</a:t>
            </a:r>
          </a:p>
          <a:p xmlns:a="http://schemas.openxmlformats.org/drawingml/2006/main">
            <a:r>
              <a:t/>
            </a:r>
          </a:p>
          <a:p xmlns:a="http://schemas.openxmlformats.org/drawingml/2006/main">
            <a:r>
              <a:t>참가자에게 할 질문: 24행과 중복·취소 이력을 유지했는가</a:t>
            </a:r>
          </a:p>
          <a:p xmlns:a="http://schemas.openxmlformats.org/drawingml/2006/main">
            <a:r>
              <a:t/>
            </a:r>
          </a:p>
          <a:p xmlns:a="http://schemas.openxmlformats.org/drawingml/2006/main">
            <a:r>
              <a:t>예상 오류와 대응: B04는 승인된 수량·구성을 적용했는가 C09 최신 승인 범위와 미집행 상태를 구별했는가 전체 잔액과 개별 한도 준수를 별도로 확인했는가</a:t>
            </a:r>
          </a:p>
          <a:p xmlns:a="http://schemas.openxmlformats.org/drawingml/2006/main">
            <a:r>
              <a:t/>
            </a:r>
          </a:p>
          <a:p xmlns:a="http://schemas.openxmlformats.org/drawingml/2006/main">
            <a:r>
              <a:t>수업 링크: https://zeusk302-png.github.io/gyeongnam-ai-workshop/#practice-p03</a:t>
            </a:r>
          </a:p>
          <a:p xmlns:a="http://schemas.openxmlformats.org/drawingml/2006/main">
            <a:r>
              <a:t/>
            </a:r>
          </a:p>
          <a:p xmlns:a="http://schemas.openxmlformats.org/drawingml/2006/main">
            <a:r>
              <a:t>실습 안내: 구매 24행 · 한도표 · 변경 5행</a:t>
            </a:r>
          </a:p>
          <a:p xmlns:a="http://schemas.openxmlformats.org/drawingml/2006/main">
            <a:r>
              <a:t/>
            </a:r>
          </a:p>
          <a:p xmlns:a="http://schemas.openxmlformats.org/drawingml/2006/main">
            <a:r>
              <a:t>진행 순서: 원문 13·23의 승인 범위 확인 / 기존 24행과 변경 이력 유지 / 행사별 금액과 전체 합계 재계산</a:t>
            </a:r>
          </a:p>
          <a:p xmlns:a="http://schemas.openxmlformats.org/drawingml/2006/main">
            <a:r>
              <a:t/>
            </a:r>
          </a:p>
          <a:p xmlns:a="http://schemas.openxmlformats.org/drawingml/2006/main">
            <a:r>
              <a:t>남길 결과: 구매 24행 · 한도표 · 변경 5행</a:t>
            </a:r>
          </a:p>
          <a:p xmlns:a="http://schemas.openxmlformats.org/drawingml/2006/main">
            <a:r>
              <a:t/>
            </a:r>
          </a:p>
          <a:p xmlns:a="http://schemas.openxmlformats.org/drawingml/2006/main">
            <a:r>
              <a:t>산출물: 구매 검토표 24행 / 행사별 한도 비교표 3행 / 직전 검토 대비 변경표 5행과 구매담당 확인 메모</a:t>
            </a:r>
          </a:p>
          <a:p xmlns:a="http://schemas.openxmlformats.org/drawingml/2006/main">
            <a:r>
              <a:t>통과 기준: 24행과 중복·취소 이력을 유지했는가 / B04는 승인된 수량·구성을 적용했는가 / C09 최신 승인 범위와 미집행 상태를 구별했는가 / 전체 잔액과 개별 한도 준수를 별도로 확인했는가</a:t>
            </a:r>
          </a:p>
          <a:p xmlns:a="http://schemas.openxmlformats.org/drawingml/2006/main">
            <a:r>
              <a:t/>
            </a:r>
          </a:p>
          <a:p xmlns:a="http://schemas.openxmlformats.org/drawingml/2006/main">
            <a:r>
              <a:t>원자료: https://zeusk302-png.github.io/gyeongnam-ai-workshop/downloads/%ED%99%95%EC%9E%A5/13_Gemini_%EC%98%88%EC%82%B0%EA%B2%80%ED%86%A0_%EC%A7%91%ED%96%89%EC%A4%80%EB%B9%84%EC%9E%90%EB%A3%8C.txt</a:t>
            </a:r>
          </a:p>
          <a:p xmlns:a="http://schemas.openxmlformats.org/drawingml/2006/main">
            <a:r>
              <a:t/>
            </a:r>
          </a:p>
          <a:p xmlns:a="http://schemas.openxmlformats.org/drawingml/2006/main">
            <a:r>
              <a:t>원자료: https://zeusk302-png.github.io/gyeongnam-ai-workshop/downloads/%EC%B6%94%EA%B0%80%EC%8B%A4%EC%8A%B5/23_Gemini_%EA%B5%AC%EB%A7%A424%ED%96%89_%EC%88%98%EC%A0%95%EA%B2%AC%EC%A0%81.txt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54. 어제는 미정, 오늘은 승인</a:t>
            </a:r>
          </a:p>
          <a:p xmlns:a="http://schemas.openxmlformats.org/drawingml/2006/main">
            <a:r>
              <a:t/>
            </a:r>
          </a:p>
          <a:p xmlns:a="http://schemas.openxmlformats.org/drawingml/2006/main">
            <a:r>
              <a:t>시간: 선택 활동 15분. 본수업 180분 밖의 복습 자료입니다.</a:t>
            </a:r>
          </a:p>
          <a:p xmlns:a="http://schemas.openxmlformats.org/drawingml/2006/main">
            <a:r>
              <a:t/>
            </a:r>
          </a:p>
          <a:p xmlns:a="http://schemas.openxmlformats.org/drawingml/2006/main">
            <a:r>
              <a:t>말할 내용: 15분 동안 후속 공지로 바뀐 조건을 반영합니다. 소스 추가 3분, 작성 4분, 인용·공지 검토 6분, 저장 2분입니다. 네 대 확보와 네 대 배정, 남은 네 대를 구분합니다. 여전히 확인되지 않은 이수·발급 조건은 남깁니다.</a:t>
            </a:r>
          </a:p>
          <a:p xmlns:a="http://schemas.openxmlformats.org/drawingml/2006/main">
            <a:r>
              <a:t/>
            </a:r>
          </a:p>
          <a:p xmlns:a="http://schemas.openxmlformats.org/drawingml/2006/main">
            <a:r>
              <a:t>참가자에게 할 질문: 과거에는 미정이었지만 새 문서가 결정한 내용을 갱신했는가</a:t>
            </a:r>
          </a:p>
          <a:p xmlns:a="http://schemas.openxmlformats.org/drawingml/2006/main">
            <a:r>
              <a:t/>
            </a:r>
          </a:p>
          <a:p xmlns:a="http://schemas.openxmlformats.org/drawingml/2006/main">
            <a:r>
              <a:t>예상 오류와 대응: 네 대 확보·네 대 배정·남은 네 대를 구별했는가 등록 완료 조건과 참가비 무료를 섞지 않았는가 해결되지 않은 이수·발급·공식 경로 등을 남겼는가</a:t>
            </a:r>
          </a:p>
          <a:p xmlns:a="http://schemas.openxmlformats.org/drawingml/2006/main">
            <a:r>
              <a:t/>
            </a:r>
          </a:p>
          <a:p xmlns:a="http://schemas.openxmlformats.org/drawingml/2006/main">
            <a:r>
              <a:t>수업 링크: https://zeusk302-png.github.io/gyeongnam-ai-workshop/#practice-p04</a:t>
            </a:r>
          </a:p>
          <a:p xmlns:a="http://schemas.openxmlformats.org/drawingml/2006/main">
            <a:r>
              <a:t/>
            </a:r>
          </a:p>
          <a:p xmlns:a="http://schemas.openxmlformats.org/drawingml/2006/main">
            <a:r>
              <a:t>실습 안내: 변경 5행 · 참가 공지 · 인용 2건</a:t>
            </a:r>
          </a:p>
          <a:p xmlns:a="http://schemas.openxmlformats.org/drawingml/2006/main">
            <a:r>
              <a:t/>
            </a:r>
          </a:p>
          <a:p xmlns:a="http://schemas.openxmlformats.org/drawingml/2006/main">
            <a:r>
              <a:t>진행 순서: 14A~D에 새 24번 소스 추가 / 주차·녹화·개인 배정 갱신 / 새 결정 인용 두 곳 직접 확인</a:t>
            </a:r>
          </a:p>
          <a:p xmlns:a="http://schemas.openxmlformats.org/drawingml/2006/main">
            <a:r>
              <a:t/>
            </a:r>
          </a:p>
          <a:p xmlns:a="http://schemas.openxmlformats.org/drawingml/2006/main">
            <a:r>
              <a:t>남길 결과: 변경 5행 · 참가 공지 · 인용 2건</a:t>
            </a:r>
          </a:p>
          <a:p xmlns:a="http://schemas.openxmlformats.org/drawingml/2006/main">
            <a:r>
              <a:t/>
            </a:r>
          </a:p>
          <a:p xmlns:a="http://schemas.openxmlformats.org/drawingml/2006/main">
            <a:r>
              <a:t>산출물: 이전 기록→최신 상태 비교표 5행 / 참가자 공지 본문 500~700자 / 남은 확인 5개와 원문 인용 확인 기록 2건</a:t>
            </a:r>
          </a:p>
          <a:p xmlns:a="http://schemas.openxmlformats.org/drawingml/2006/main">
            <a:r>
              <a:t>통과 기준: 과거에는 미정이었지만 새 문서가 결정한 내용을 갱신했는가 / 네 대 확보·네 대 배정·남은 네 대를 구별했는가 / 등록 완료 조건과 참가비 무료를 섞지 않았는가 / 해결되지 않은 이수·발급·공식 경로 등을 남겼는가</a:t>
            </a:r>
          </a:p>
          <a:p xmlns:a="http://schemas.openxmlformats.org/drawingml/2006/main">
            <a:r>
              <a:t/>
            </a:r>
          </a:p>
          <a:p xmlns:a="http://schemas.openxmlformats.org/drawingml/2006/main">
            <a:r>
              <a:t>원자료: https://zeusk302-png.github.io/gyeongnam-ai-workshop/downloads/%ED%99%95%EC%9E%A5/14A_NotebookLM_%EA%B5%90%EC%9C%A1%EC%9A%B4%EC%98%81%EC%95%88%EB%82%B4_%EC%83%81%EC%84%B8.txt</a:t>
            </a:r>
          </a:p>
          <a:p xmlns:a="http://schemas.openxmlformats.org/drawingml/2006/main">
            <a:r>
              <a:t/>
            </a:r>
          </a:p>
          <a:p xmlns:a="http://schemas.openxmlformats.org/drawingml/2006/main">
            <a:r>
              <a:t>원자료: https://zeusk302-png.github.io/gyeongnam-ai-workshop/downloads/%ED%99%95%EC%9E%A5/14B_NotebookLM_%EC%9A%B4%EC%98%81%ED%9A%8C%EC%9D%98_%EC%97%85%EB%AC%B4%EC%9D%B8%EA%B3%84.txt</a:t>
            </a:r>
          </a:p>
          <a:p xmlns:a="http://schemas.openxmlformats.org/drawingml/2006/main">
            <a:r>
              <a:t/>
            </a:r>
          </a:p>
          <a:p xmlns:a="http://schemas.openxmlformats.org/drawingml/2006/main">
            <a:r>
              <a:t>원자료: https://zeusk302-png.github.io/gyeongnam-ai-workshop/downloads/%ED%99%95%EC%9E%A5/14C_%EB%B3%80%EA%B2%BD%EA%B3%B5%EC%A7%80%EC%99%80_%EC%8A%B9%EC%9D%B8%EA%B8%B0%EB%A1%9D.txt</a:t>
            </a:r>
          </a:p>
          <a:p xmlns:a="http://schemas.openxmlformats.org/drawingml/2006/main">
            <a:r>
              <a:t/>
            </a:r>
          </a:p>
          <a:p xmlns:a="http://schemas.openxmlformats.org/drawingml/2006/main">
            <a:r>
              <a:t>원자료: https://zeusk302-png.github.io/gyeongnam-ai-workshop/downloads/%ED%99%95%EC%9E%A5/14D_%EC%B0%B8%EA%B0%80%EB%AC%B8%EC%9D%98_%EC%A0%91%EC%88%98%EB%AA%A9%EB%A1%9D.txt</a:t>
            </a:r>
          </a:p>
          <a:p xmlns:a="http://schemas.openxmlformats.org/drawingml/2006/main">
            <a:r>
              <a:t/>
            </a:r>
          </a:p>
          <a:p xmlns:a="http://schemas.openxmlformats.org/drawingml/2006/main">
            <a:r>
              <a:t>원자료: https://zeusk302-png.github.io/gyeongnam-ai-workshop/downloads/%EC%B6%94%EA%B0%80%EC%8B%A4%EC%8A%B5/24_NotebookLM_%ED%9B%84%EC%86%8D%EC%8A%B9%EC%9D%B8_%EB%B0%B0%EC%A0%95_%EC%A3%BC%EC%B0%A8.txt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55. 같은 내용도 받는 부서는 다릅니다</a:t>
            </a:r>
          </a:p>
          <a:p xmlns:a="http://schemas.openxmlformats.org/drawingml/2006/main">
            <a:r>
              <a:t/>
            </a:r>
          </a:p>
          <a:p xmlns:a="http://schemas.openxmlformats.org/drawingml/2006/main">
            <a:r>
              <a:t>시간: 선택 활동 15분. 본수업 180분 밖의 복습 자료입니다.</a:t>
            </a:r>
          </a:p>
          <a:p xmlns:a="http://schemas.openxmlformats.org/drawingml/2006/main">
            <a:r>
              <a:t/>
            </a:r>
          </a:p>
          <a:p xmlns:a="http://schemas.openxmlformats.org/drawingml/2006/main">
            <a:r>
              <a:t>말할 내용: 15분 동안 홍보·연구지원·회계지원팀 회신을 따로 씁니다. 소스·질문 4분, 작성 3분, 수신 범위·수치 확인 6분, 저장 2분입니다. p04 뒤라면 25번만 추가합니다. 대기 1순위는 참가 확정이 아니고 V01의 등록 조건과 V02의 미확정 금액도 나눕니다.</a:t>
            </a:r>
          </a:p>
          <a:p xmlns:a="http://schemas.openxmlformats.org/drawingml/2006/main">
            <a:r>
              <a:t/>
            </a:r>
          </a:p>
          <a:p xmlns:a="http://schemas.openxmlformats.org/drawingml/2006/main">
            <a:r>
              <a:t>참가자에게 할 질문: 세 부서별 필요한 행동과 수신 범위가 다른가</a:t>
            </a:r>
          </a:p>
          <a:p xmlns:a="http://schemas.openxmlformats.org/drawingml/2006/main">
            <a:r>
              <a:t/>
            </a:r>
          </a:p>
          <a:p xmlns:a="http://schemas.openxmlformats.org/drawingml/2006/main">
            <a:r>
              <a:t>예상 오류와 대응: 대기 1순위를 참가 확정으로 바꾸지 않았는가 V01은 등록 완료 조건으로 계산하고 V02 금액은 미확정으로 두었는가 주차 시간과 30분 단위 올림을 직접 계산했는가</a:t>
            </a:r>
          </a:p>
          <a:p xmlns:a="http://schemas.openxmlformats.org/drawingml/2006/main">
            <a:r>
              <a:t/>
            </a:r>
          </a:p>
          <a:p xmlns:a="http://schemas.openxmlformats.org/drawingml/2006/main">
            <a:r>
              <a:t>수업 링크: https://zeusk302-png.github.io/gyeongnam-ai-workshop/#practice-p05</a:t>
            </a:r>
          </a:p>
          <a:p xmlns:a="http://schemas.openxmlformats.org/drawingml/2006/main">
            <a:r>
              <a:t/>
            </a:r>
          </a:p>
          <a:p xmlns:a="http://schemas.openxmlformats.org/drawingml/2006/main">
            <a:r>
              <a:t>실습 안내: 회신 3개 · 근거 6행 · 공통 사실표</a:t>
            </a:r>
          </a:p>
          <a:p xmlns:a="http://schemas.openxmlformats.org/drawingml/2006/main">
            <a:r>
              <a:t/>
            </a:r>
          </a:p>
          <a:p xmlns:a="http://schemas.openxmlformats.org/drawingml/2006/main">
            <a:r>
              <a:t>진행 순서: 14A~D·24·25번에서 대상 확인 / 부서별 다음 행동을 담아 회신 / 주차 계산과 수신 범위 대조</a:t>
            </a:r>
          </a:p>
          <a:p xmlns:a="http://schemas.openxmlformats.org/drawingml/2006/main">
            <a:r>
              <a:t/>
            </a:r>
          </a:p>
          <a:p xmlns:a="http://schemas.openxmlformats.org/drawingml/2006/main">
            <a:r>
              <a:t>남길 결과: 회신 3개 · 근거 6행 · 공통 사실표</a:t>
            </a:r>
          </a:p>
          <a:p xmlns:a="http://schemas.openxmlformats.org/drawingml/2006/main">
            <a:r>
              <a:t/>
            </a:r>
          </a:p>
          <a:p xmlns:a="http://schemas.openxmlformats.org/drawingml/2006/main">
            <a:r>
              <a:t>산출물: 홍보·연구지원·회계지원팀 회신 각 250~400자 / 근거 검토표 6행(부서별 2행) / 세 문서 공통 사실 대조표</a:t>
            </a:r>
          </a:p>
          <a:p xmlns:a="http://schemas.openxmlformats.org/drawingml/2006/main">
            <a:r>
              <a:t>통과 기준: 세 부서별 필요한 행동과 수신 범위가 다른가 / 대기 1순위를 참가 확정으로 바꾸지 않았는가 / V01은 등록 완료 조건으로 계산하고 V02 금액은 미확정으로 두었는가 / 주차 시간과 30분 단위 올림을 직접 계산했는가</a:t>
            </a:r>
          </a:p>
          <a:p xmlns:a="http://schemas.openxmlformats.org/drawingml/2006/main">
            <a:r>
              <a:t/>
            </a:r>
          </a:p>
          <a:p xmlns:a="http://schemas.openxmlformats.org/drawingml/2006/main">
            <a:r>
              <a:t>원자료: https://zeusk302-png.github.io/gyeongnam-ai-workshop/downloads/%ED%99%95%EC%9E%A5/14A_NotebookLM_%EA%B5%90%EC%9C%A1%EC%9A%B4%EC%98%81%EC%95%88%EB%82%B4_%EC%83%81%EC%84%B8.txt</a:t>
            </a:r>
          </a:p>
          <a:p xmlns:a="http://schemas.openxmlformats.org/drawingml/2006/main">
            <a:r>
              <a:t/>
            </a:r>
          </a:p>
          <a:p xmlns:a="http://schemas.openxmlformats.org/drawingml/2006/main">
            <a:r>
              <a:t>원자료: https://zeusk302-png.github.io/gyeongnam-ai-workshop/downloads/%ED%99%95%EC%9E%A5/14B_NotebookLM_%EC%9A%B4%EC%98%81%ED%9A%8C%EC%9D%98_%EC%97%85%EB%AC%B4%EC%9D%B8%EA%B3%84.txt</a:t>
            </a:r>
          </a:p>
          <a:p xmlns:a="http://schemas.openxmlformats.org/drawingml/2006/main">
            <a:r>
              <a:t/>
            </a:r>
          </a:p>
          <a:p xmlns:a="http://schemas.openxmlformats.org/drawingml/2006/main">
            <a:r>
              <a:t>원자료: https://zeusk302-png.github.io/gyeongnam-ai-workshop/downloads/%ED%99%95%EC%9E%A5/14C_%EB%B3%80%EA%B2%BD%EA%B3%B5%EC%A7%80%EC%99%80_%EC%8A%B9%EC%9D%B8%EA%B8%B0%EB%A1%9D.txt</a:t>
            </a:r>
          </a:p>
          <a:p xmlns:a="http://schemas.openxmlformats.org/drawingml/2006/main">
            <a:r>
              <a:t/>
            </a:r>
          </a:p>
          <a:p xmlns:a="http://schemas.openxmlformats.org/drawingml/2006/main">
            <a:r>
              <a:t>원자료: https://zeusk302-png.github.io/gyeongnam-ai-workshop/downloads/%ED%99%95%EC%9E%A5/14D_%EC%B0%B8%EA%B0%80%EB%AC%B8%EC%9D%98_%EC%A0%91%EC%88%98%EB%AA%A9%EB%A1%9D.txt</a:t>
            </a:r>
          </a:p>
          <a:p xmlns:a="http://schemas.openxmlformats.org/drawingml/2006/main">
            <a:r>
              <a:t/>
            </a:r>
          </a:p>
          <a:p xmlns:a="http://schemas.openxmlformats.org/drawingml/2006/main">
            <a:r>
              <a:t>원자료: https://zeusk302-png.github.io/gyeongnam-ai-workshop/downloads/%EC%B6%94%EA%B0%80%EC%8B%A4%EC%8A%B5/24_NotebookLM_%ED%9B%84%EC%86%8D%EC%8A%B9%EC%9D%B8_%EB%B0%B0%EC%A0%95_%EC%A3%BC%EC%B0%A8.txt</a:t>
            </a:r>
          </a:p>
          <a:p xmlns:a="http://schemas.openxmlformats.org/drawingml/2006/main">
            <a:r>
              <a:t/>
            </a:r>
          </a:p>
          <a:p xmlns:a="http://schemas.openxmlformats.org/drawingml/2006/main">
            <a:r>
              <a:t>원자료: https://zeusk302-png.github.io/gyeongnam-ai-workshop/downloads/%EC%B6%94%EA%B0%80%EC%8B%A4%EC%8A%B5/25_NotebookLM_%EB%B6%80%EC%84%9C%EB%B3%84%EC%95%88%EB%82%B4_%EC%9A%94%EC%B2%AD.txt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56. 설문 10개가 더 도착했습니다</a:t>
            </a:r>
          </a:p>
          <a:p xmlns:a="http://schemas.openxmlformats.org/drawingml/2006/main">
            <a:r>
              <a:t/>
            </a:r>
          </a:p>
          <a:p xmlns:a="http://schemas.openxmlformats.org/drawingml/2006/main">
            <a:r>
              <a:t>시간: 선택 활동 20분. 본수업 180분 밖의 복습 자료입니다.</a:t>
            </a:r>
          </a:p>
          <a:p xmlns:a="http://schemas.openxmlformats.org/drawingml/2006/main">
            <a:r>
              <a:t/>
            </a:r>
          </a:p>
          <a:p xmlns:a="http://schemas.openxmlformats.org/drawingml/2006/main">
            <a:r>
              <a:t>말할 내용: 20분 동안 대장 정정과 설문 교체·추가를 반영합니다. 읽기 4분, 작성 4분, 대장·점수 검산 10분, 저장 2분입니다. 받은 문서 수를 사람 수에 더하지 않습니다. 제출 접수와 이수 승인을 구분하고 P·S·F 번호를 임의 연결하지 않습니다.</a:t>
            </a:r>
          </a:p>
          <a:p xmlns:a="http://schemas.openxmlformats.org/drawingml/2006/main">
            <a:r>
              <a:t/>
            </a:r>
          </a:p>
          <a:p xmlns:a="http://schemas.openxmlformats.org/drawingml/2006/main">
            <a:r>
              <a:t>참가자에게 할 질문: 교체 7건과 추가 3건을 구별했는가</a:t>
            </a:r>
          </a:p>
          <a:p xmlns:a="http://schemas.openxmlformats.org/drawingml/2006/main">
            <a:r>
              <a:t/>
            </a:r>
          </a:p>
          <a:p xmlns:a="http://schemas.openxmlformats.org/drawingml/2006/main">
            <a:r>
              <a:t>예상 오류와 대응: 수신만 된 제출물을 승인된 이수로 바꾸지 않았는가 참여자와 신청자 분모를 바꿔 쓰지 않았는가 점수 합계에서 평균을 구하고 P·S·F번호를 연결하지 않았는가</a:t>
            </a:r>
          </a:p>
          <a:p xmlns:a="http://schemas.openxmlformats.org/drawingml/2006/main">
            <a:r>
              <a:t/>
            </a:r>
          </a:p>
          <a:p xmlns:a="http://schemas.openxmlformats.org/drawingml/2006/main">
            <a:r>
              <a:t>수업 링크: https://zeusk302-png.github.io/gyeongnam-ai-workshop/#practice-p06</a:t>
            </a:r>
          </a:p>
          <a:p xmlns:a="http://schemas.openxmlformats.org/drawingml/2006/main">
            <a:r>
              <a:t/>
            </a:r>
          </a:p>
          <a:p xmlns:a="http://schemas.openxmlformats.org/drawingml/2006/main">
            <a:r>
              <a:t>실습 안내: 설문 28행 · 지표 13행 · 정정 보고</a:t>
            </a:r>
          </a:p>
          <a:p xmlns:a="http://schemas.openxmlformats.org/drawingml/2006/main">
            <a:r>
              <a:t/>
            </a:r>
          </a:p>
          <a:p xmlns:a="http://schemas.openxmlformats.org/drawingml/2006/main">
            <a:r>
              <a:t>진행 순서: 원문 15·26의 승인 기준일 확인 / 교체 7건과 추가 3건 구분 / 최종 28행의 합계·분모 확인</a:t>
            </a:r>
          </a:p>
          <a:p xmlns:a="http://schemas.openxmlformats.org/drawingml/2006/main">
            <a:r>
              <a:t/>
            </a:r>
          </a:p>
          <a:p xmlns:a="http://schemas.openxmlformats.org/drawingml/2006/main">
            <a:r>
              <a:t>남길 결과: 설문 28행 · 지표 13행 · 정정 보고</a:t>
            </a:r>
          </a:p>
          <a:p xmlns:a="http://schemas.openxmlformats.org/drawingml/2006/main">
            <a:r>
              <a:t/>
            </a:r>
          </a:p>
          <a:p xmlns:a="http://schemas.openxmlformats.org/drawingml/2006/main">
            <a:r>
              <a:t>산출물: 출석·제출 변경표 6행 / 최종 설문 원점수 28행과 접수 이력 10건 / 전후 지표표 13행과 정정 보고 본문 400~550자</a:t>
            </a:r>
          </a:p>
          <a:p xmlns:a="http://schemas.openxmlformats.org/drawingml/2006/main">
            <a:r>
              <a:t>통과 기준: 교체 7건과 추가 3건을 구별했는가 / 수신만 된 제출물을 승인된 이수로 바꾸지 않았는가 / 참여자와 신청자 분모를 바꿔 쓰지 않았는가 / 점수 합계에서 평균을 구하고 P·S·F번호를 연결하지 않았는가</a:t>
            </a:r>
          </a:p>
          <a:p xmlns:a="http://schemas.openxmlformats.org/drawingml/2006/main">
            <a:r>
              <a:t/>
            </a:r>
          </a:p>
          <a:p xmlns:a="http://schemas.openxmlformats.org/drawingml/2006/main">
            <a:r>
              <a:t>원자료: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 https://zeusk302-png.github.io/gyeongnam-ai-workshop/downloads/%EC%B6%94%EA%B0%80%EC%8B%A4%EC%8A%B5/26_Claude_%EB%B3%B4%EC%99%84%EB%8C%80%EC%9E%A5%EA%B3%BC_%EC%84%A4%EB%AC%B810%EA%B1%B4.txt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57. 보고서만 고치고 메일은 그대로라면</a:t>
            </a:r>
          </a:p>
          <a:p xmlns:a="http://schemas.openxmlformats.org/drawingml/2006/main">
            <a:r>
              <a:t/>
            </a:r>
          </a:p>
          <a:p xmlns:a="http://schemas.openxmlformats.org/drawingml/2006/main">
            <a:r>
              <a:t>시간: 선택 활동 20분. 본수업 180분 밖의 복습 자료입니다.</a:t>
            </a:r>
          </a:p>
          <a:p xmlns:a="http://schemas.openxmlformats.org/drawingml/2006/main">
            <a:r>
              <a:t/>
            </a:r>
          </a:p>
          <a:p xmlns:a="http://schemas.openxmlformats.org/drawingml/2006/main">
            <a:r>
              <a:t>말할 내용: 20분 동안 부서장 보완 요청을 세 문서에 함께 반영합니다. 지시 읽기 4분, 작성 5분, 세 문서 대조 9분, 저장 2분입니다. 11월 4일 안내, 6일 제출, 9일 검토를 구분하고 승인·착수 전을 시행 완료로 쓰지 않습니다.</a:t>
            </a:r>
          </a:p>
          <a:p xmlns:a="http://schemas.openxmlformats.org/drawingml/2006/main">
            <a:r>
              <a:t/>
            </a:r>
          </a:p>
          <a:p xmlns:a="http://schemas.openxmlformats.org/drawingml/2006/main">
            <a:r>
              <a:t>참가자에게 할 질문: 세 문서의 참여·이수·설문 수치가 일치하는가</a:t>
            </a:r>
          </a:p>
          <a:p xmlns:a="http://schemas.openxmlformats.org/drawingml/2006/main">
            <a:r>
              <a:t/>
            </a:r>
          </a:p>
          <a:p xmlns:a="http://schemas.openxmlformats.org/drawingml/2006/main">
            <a:r>
              <a:t>예상 오류와 대응: 초안의 시행 완료를 승인·착수 전 상태로 바로잡았는가 11월 4일 안내와 11월 6일 제출, 11월 9일 검토를 구별했는가 %와 %p, 표시 평균 차이와 정확한 원평균 차이를 구별했는가</a:t>
            </a:r>
          </a:p>
          <a:p xmlns:a="http://schemas.openxmlformats.org/drawingml/2006/main">
            <a:r>
              <a:t/>
            </a:r>
          </a:p>
          <a:p xmlns:a="http://schemas.openxmlformats.org/drawingml/2006/main">
            <a:r>
              <a:t>수업 링크: https://zeusk302-png.github.io/gyeongnam-ai-workshop/#practice-p07</a:t>
            </a:r>
          </a:p>
          <a:p xmlns:a="http://schemas.openxmlformats.org/drawingml/2006/main">
            <a:r>
              <a:t/>
            </a:r>
          </a:p>
          <a:p xmlns:a="http://schemas.openxmlformats.org/drawingml/2006/main">
            <a:r>
              <a:t>실습 안내: 보고서 · 전달 메일 · 후속 업무 3행</a:t>
            </a:r>
          </a:p>
          <a:p xmlns:a="http://schemas.openxmlformats.org/drawingml/2006/main">
            <a:r>
              <a:t/>
            </a:r>
          </a:p>
          <a:p xmlns:a="http://schemas.openxmlformats.org/drawingml/2006/main">
            <a:r>
              <a:t>진행 순서: 원문 15·26·27과 초안 대조 / 보고서·메일·업무표 함께 수정 / 수치·기준일·결정 상태 대조</a:t>
            </a:r>
          </a:p>
          <a:p xmlns:a="http://schemas.openxmlformats.org/drawingml/2006/main">
            <a:r>
              <a:t/>
            </a:r>
          </a:p>
          <a:p xmlns:a="http://schemas.openxmlformats.org/drawingml/2006/main">
            <a:r>
              <a:t>남길 결과: 보고서 · 전달 메일 · 후속 업무 3행</a:t>
            </a:r>
          </a:p>
          <a:p xmlns:a="http://schemas.openxmlformats.org/drawingml/2006/main">
            <a:r>
              <a:t/>
            </a:r>
          </a:p>
          <a:p xmlns:a="http://schemas.openxmlformats.org/drawingml/2006/main">
            <a:r>
              <a:t>산출물: 보고 본문 800~1,000자와 이전 회차 비교표 / 전달 메일 본문 300~450자 / 후속 업무표 3행과 공통 사실 대조표</a:t>
            </a:r>
          </a:p>
          <a:p xmlns:a="http://schemas.openxmlformats.org/drawingml/2006/main">
            <a:r>
              <a:t>통과 기준: 세 문서의 참여·이수·설문 수치가 일치하는가 / 초안의 시행 완료를 승인·착수 전 상태로 바로잡았는가 / 11월 4일 안내와 11월 6일 제출, 11월 9일 검토를 구별했는가 / %와 %p, 표시 평균 차이와 정확한 원평균 차이를 구별했는가</a:t>
            </a:r>
          </a:p>
          <a:p xmlns:a="http://schemas.openxmlformats.org/drawingml/2006/main">
            <a:r>
              <a:t/>
            </a:r>
          </a:p>
          <a:p xmlns:a="http://schemas.openxmlformats.org/drawingml/2006/main">
            <a:r>
              <a:t>원자료: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 https://zeusk302-png.github.io/gyeongnam-ai-workshop/downloads/%EC%B6%94%EA%B0%80%EC%8B%A4%EC%8A%B5/26_Claude_%EB%B3%B4%EC%99%84%EB%8C%80%EC%9E%A5%EA%B3%BC_%EC%84%A4%EB%AC%B810%EA%B1%B4.txt</a:t>
            </a:r>
          </a:p>
          <a:p xmlns:a="http://schemas.openxmlformats.org/drawingml/2006/main">
            <a:r>
              <a:t/>
            </a:r>
          </a:p>
          <a:p xmlns:a="http://schemas.openxmlformats.org/drawingml/2006/main">
            <a:r>
              <a:t>원자료: https://zeusk302-png.github.io/gyeongnam-ai-workshop/downloads/%EC%B6%94%EA%B0%80%EC%8B%A4%EC%8A%B5/27_Claude_%EB%B6%80%EC%84%9C%EC%9E%A5%EB%B3%B4%EC%99%84_%EB%AC%B8%EC%84%9C3%EC%A2%85.txt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58. 이번에는 다른 행사입니다</a:t>
            </a:r>
          </a:p>
          <a:p xmlns:a="http://schemas.openxmlformats.org/drawingml/2006/main">
            <a:r>
              <a:t/>
            </a:r>
          </a:p>
          <a:p xmlns:a="http://schemas.openxmlformats.org/drawingml/2006/main">
            <a:r>
              <a:t>시간: 선택 활동 25분. 본수업 180분 밖의 복습 자료입니다.</a:t>
            </a:r>
          </a:p>
          <a:p xmlns:a="http://schemas.openxmlformats.org/drawingml/2006/main">
            <a:r>
              <a:t/>
            </a:r>
          </a:p>
          <a:p xmlns:a="http://schemas.openxmlformats.org/drawingml/2006/main">
            <a:r>
              <a:t>말할 내용: 25분 동안 28번 새 행사 자료만으로 종합 복습합니다. Gemini 7분, NotebookLM 7분, Claude 8분, 원문 대조 3분입니다. 202호와 2시간 등 새 행사 조건을 사용합니다. 한 질문을 모든 도구에 보내지 않고 단계별 질문을 씁니다. 제한이 생기면 받은 결과와 원문으로 같은 산출물을 작성합니다.</a:t>
            </a:r>
          </a:p>
          <a:p xmlns:a="http://schemas.openxmlformats.org/drawingml/2006/main">
            <a:r>
              <a:t/>
            </a:r>
          </a:p>
          <a:p xmlns:a="http://schemas.openxmlformats.org/drawingml/2006/main">
            <a:r>
              <a:t>참가자에게 할 질문: 신규 행사의 승인 날짜·202호·2시간을 적용했는가</a:t>
            </a:r>
          </a:p>
          <a:p xmlns:a="http://schemas.openxmlformats.org/drawingml/2006/main">
            <a:r>
              <a:t/>
            </a:r>
          </a:p>
          <a:p xmlns:a="http://schemas.openxmlformats.org/drawingml/2006/main">
            <a:r>
              <a:t>예상 오류와 대응: 확정과 검토 중을 실제 출석·이수로 바꾸지 않았는가 미승인 편집 제안을 승인 합계와 분리했는가 세 도구 결과를 앞 단계 글만 믿지 않고 원문에 다시 연결했는가</a:t>
            </a:r>
          </a:p>
          <a:p xmlns:a="http://schemas.openxmlformats.org/drawingml/2006/main">
            <a:r>
              <a:t/>
            </a:r>
          </a:p>
          <a:p xmlns:a="http://schemas.openxmlformats.org/drawingml/2006/main">
            <a:r>
              <a:t>수업 링크: https://zeusk302-png.github.io/gyeongnam-ai-workshop/#practice-p08</a:t>
            </a:r>
          </a:p>
          <a:p xmlns:a="http://schemas.openxmlformats.org/drawingml/2006/main">
            <a:r>
              <a:t/>
            </a:r>
          </a:p>
          <a:p xmlns:a="http://schemas.openxmlformats.org/drawingml/2006/main">
            <a:r>
              <a:t>실습 안내: 업무표·회신 · FAQ · 준비 보고·예산표</a:t>
            </a:r>
          </a:p>
          <a:p xmlns:a="http://schemas.openxmlformats.org/drawingml/2006/main">
            <a:r>
              <a:t/>
            </a:r>
          </a:p>
          <a:p xmlns:a="http://schemas.openxmlformats.org/drawingml/2006/main">
            <a:r>
              <a:t>진행 순서: Gemini 7분: 업무표와 회신 / NotebookLM 7분: FAQ·인용 / Claude 8분, 마지막 대조 3분</a:t>
            </a:r>
          </a:p>
          <a:p xmlns:a="http://schemas.openxmlformats.org/drawingml/2006/main">
            <a:r>
              <a:t/>
            </a:r>
          </a:p>
          <a:p xmlns:a="http://schemas.openxmlformats.org/drawingml/2006/main">
            <a:r>
              <a:t>남길 결과: 업무표·회신 · FAQ · 준비 보고·예산표</a:t>
            </a:r>
          </a:p>
          <a:p xmlns:a="http://schemas.openxmlformats.org/drawingml/2006/main">
            <a:r>
              <a:t/>
            </a:r>
          </a:p>
          <a:p xmlns:a="http://schemas.openxmlformats.org/drawingml/2006/main">
            <a:r>
              <a:t>산출물: Gemini: 준비 업무표 4행과 문의 회신 4건 / NotebookLM: FAQ 6행과 원문 인용 확인 2건 / Claude: 준비 보고 600~800자와 승인 구매표 6행·한도 대조표</a:t>
            </a:r>
          </a:p>
          <a:p xmlns:a="http://schemas.openxmlformats.org/drawingml/2006/main">
            <a:r>
              <a:t>통과 기준: 신규 행사의 승인 날짜·202호·2시간을 적용했는가 / 확정과 검토 중을 실제 출석·이수로 바꾸지 않았는가 / 미승인 편집 제안을 승인 합계와 분리했는가 / 세 도구 결과를 앞 단계 글만 믿지 않고 원문에 다시 연결했는가</a:t>
            </a:r>
          </a:p>
          <a:p xmlns:a="http://schemas.openxmlformats.org/drawingml/2006/main">
            <a:r>
              <a:t/>
            </a:r>
          </a:p>
          <a:p xmlns:a="http://schemas.openxmlformats.org/drawingml/2006/main">
            <a:r>
              <a:t>원자료: https://zeusk302-png.github.io/gyeongnam-ai-workshop/downloads/%EC%B6%94%EA%B0%80%EC%8B%A4%EC%8A%B5/28_%EC%A2%85%ED%95%A9_%EC%83%88%ED%96%89%EC%82%AC_%EC%9A%B4%EC%98%81%EB%AC%B8%EC%84%9C%EB%AC%B6%EC%9D%8C.txt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b9e723c9e845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3c080548744d77" /><Relationship Type="http://schemas.openxmlformats.org/officeDocument/2006/relationships/slideLayout" Target="/ppt/slideLayouts/slideLayout1.xml" Id="R88aab52a36cf45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aab52a36cf45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ae184b5a464c24" /><Relationship Type="http://schemas.openxmlformats.org/officeDocument/2006/relationships/hyperlink" Target="https://zeusk302-png.github.io/gyeongnam-ai-workshop/#orientation" TargetMode="External" Id="Re6364e6e27d5493b" /><Relationship Type="http://schemas.openxmlformats.org/officeDocument/2006/relationships/notesSlide" Target="/ppt/notesSlides/notesSlide1.xml" Id="R96422cf2ed644b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99f160692a483a" /><Relationship Type="http://schemas.openxmlformats.org/officeDocument/2006/relationships/image" Target="/ppt/media/image.jpeg" Id="R04b3cd8a8b9946d8" /><Relationship Type="http://schemas.openxmlformats.org/officeDocument/2006/relationships/hyperlink" Target="https://zeusk302-png.github.io/gyeongnam-ai-workshop/#instructor" TargetMode="External" Id="Re5896e3595634ae2" /><Relationship Type="http://schemas.openxmlformats.org/officeDocument/2006/relationships/notesSlide" Target="/ppt/notesSlides/notesSlide2.xml" Id="R9c0c4ddbb79047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a9ffccaf28a49fa" /><Relationship Type="http://schemas.openxmlformats.org/officeDocument/2006/relationships/hyperlink" Target="https://zeusk302-png.github.io/gyeongnam-ai-workshop/#resources" TargetMode="External" Id="R1fe2a56a1409419b" /><Relationship Type="http://schemas.openxmlformats.org/officeDocument/2006/relationships/notesSlide" Target="/ppt/notesSlides/notesSlide3.xml" Id="R05a79e7f6ff441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ae8ce1ccfb4871" /><Relationship Type="http://schemas.openxmlformats.org/officeDocument/2006/relationships/hyperlink" Target="https://zeusk302-png.github.io/gyeongnam-ai-workshop/#orientation" TargetMode="External" Id="Rf78735ffa64647ac" /><Relationship Type="http://schemas.openxmlformats.org/officeDocument/2006/relationships/notesSlide" Target="/ppt/notesSlides/notesSlide4.xml" Id="R9c057dbdee5946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b430f2cf804008" /><Relationship Type="http://schemas.openxmlformats.org/officeDocument/2006/relationships/hyperlink" Target="https://zeusk302-png.github.io/gyeongnam-ai-workshop/#resources" TargetMode="External" Id="R1bf142f683974fbb" /><Relationship Type="http://schemas.openxmlformats.org/officeDocument/2006/relationships/notesSlide" Target="/ppt/notesSlides/notesSlide5.xml" Id="Rd861450358b44d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ed640f937442d3" /><Relationship Type="http://schemas.openxmlformats.org/officeDocument/2006/relationships/hyperlink" Target="https://zeusk302-png.github.io/gyeongnam-ai-workshop/#orientation" TargetMode="External" Id="R3cca54d4b3894625" /><Relationship Type="http://schemas.openxmlformats.org/officeDocument/2006/relationships/notesSlide" Target="/ppt/notesSlides/notesSlide6.xml" Id="R02323ee9f8094b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e8fd622b3974865" /><Relationship Type="http://schemas.openxmlformats.org/officeDocument/2006/relationships/hyperlink" Target="https://zeusk302-png.github.io/gyeongnam-ai-workshop/#free-guide" TargetMode="External" Id="Rcc5c3f0c372c4320" /><Relationship Type="http://schemas.openxmlformats.org/officeDocument/2006/relationships/notesSlide" Target="/ppt/notesSlides/notesSlide7.xml" Id="R90a6d8529f6840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70635e208943d2" /><Relationship Type="http://schemas.openxmlformats.org/officeDocument/2006/relationships/hyperlink" Target="https://zeusk302-png.github.io/gyeongnam-ai-workshop/#free-guide" TargetMode="External" Id="R92e3f97ddf2643e1" /><Relationship Type="http://schemas.openxmlformats.org/officeDocument/2006/relationships/notesSlide" Target="/ppt/notesSlides/notesSlide8.xml" Id="Rd5d61e887d7d47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6da1b159a8348d1" /><Relationship Type="http://schemas.openxmlformats.org/officeDocument/2006/relationships/hyperlink" Target="https://zeusk302-png.github.io/gyeongnam-ai-workshop/#orientation" TargetMode="External" Id="R20c41a208a294fde" /><Relationship Type="http://schemas.openxmlformats.org/officeDocument/2006/relationships/notesSlide" Target="/ppt/notesSlides/notesSlide9.xml" Id="R71594803f9394d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ca30fcb41f84234" /><Relationship Type="http://schemas.openxmlformats.org/officeDocument/2006/relationships/hyperlink" Target="https://zeusk302-png.github.io/gyeongnam-ai-workshop/#g-email" TargetMode="External" Id="R17b15f21c14a4499" /><Relationship Type="http://schemas.openxmlformats.org/officeDocument/2006/relationships/notesSlide" Target="/ppt/notesSlides/notesSlide10.xml" Id="Rbf629893109e4ea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9f63cb4ae03495c" /><Relationship Type="http://schemas.openxmlformats.org/officeDocument/2006/relationships/hyperlink" Target="https://zeusk302-png.github.io/gyeongnam-ai-workshop/#g-email" TargetMode="External" Id="Rde64a4f6a4fb4cca" /><Relationship Type="http://schemas.openxmlformats.org/officeDocument/2006/relationships/notesSlide" Target="/ppt/notesSlides/notesSlide11.xml" Id="R80a19c89546e42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c893ecd30984a43" /><Relationship Type="http://schemas.openxmlformats.org/officeDocument/2006/relationships/image" Target="/ppt/media/image2.jpeg" Id="R6deddc3f509f4900" /><Relationship Type="http://schemas.openxmlformats.org/officeDocument/2006/relationships/hyperlink" Target="https://zeusk302-png.github.io/gyeongnam-ai-workshop/#g-email" TargetMode="External" Id="R6d1febeb5d71414a" /><Relationship Type="http://schemas.openxmlformats.org/officeDocument/2006/relationships/notesSlide" Target="/ppt/notesSlides/notesSlide12.xml" Id="R2c41502e643d46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8357301e5f4787" /><Relationship Type="http://schemas.openxmlformats.org/officeDocument/2006/relationships/hyperlink" Target="https://zeusk302-png.github.io/gyeongnam-ai-workshop/#g-email" TargetMode="External" Id="Rcfd9f09c9384448c" /><Relationship Type="http://schemas.openxmlformats.org/officeDocument/2006/relationships/notesSlide" Target="/ppt/notesSlides/notesSlide13.xml" Id="R882f7729d7c549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d594cf3373846ab" /><Relationship Type="http://schemas.openxmlformats.org/officeDocument/2006/relationships/hyperlink" Target="https://zeusk302-png.github.io/gyeongnam-ai-workshop/#g-email" TargetMode="External" Id="R500b130a0f2d4ee2" /><Relationship Type="http://schemas.openxmlformats.org/officeDocument/2006/relationships/notesSlide" Target="/ppt/notesSlides/notesSlide14.xml" Id="R016dc3a37aab49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148518b2fb54c6c" /><Relationship Type="http://schemas.openxmlformats.org/officeDocument/2006/relationships/hyperlink" Target="https://zeusk302-png.github.io/gyeongnam-ai-workshop/#g-email" TargetMode="External" Id="R19d62ecea95747c9" /><Relationship Type="http://schemas.openxmlformats.org/officeDocument/2006/relationships/notesSlide" Target="/ppt/notesSlides/notesSlide15.xml" Id="Rd1447f579f914d9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f1ff5ecf3944515" /><Relationship Type="http://schemas.openxmlformats.org/officeDocument/2006/relationships/hyperlink" Target="https://zeusk302-png.github.io/gyeongnam-ai-workshop/#g-meeting" TargetMode="External" Id="Ref86148207364b8e" /><Relationship Type="http://schemas.openxmlformats.org/officeDocument/2006/relationships/notesSlide" Target="/ppt/notesSlides/notesSlide16.xml" Id="R5728cad401ae431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5d5b747c72444f9" /><Relationship Type="http://schemas.openxmlformats.org/officeDocument/2006/relationships/hyperlink" Target="https://zeusk302-png.github.io/gyeongnam-ai-workshop/#g-meeting" TargetMode="External" Id="Re9a753537e204daa" /><Relationship Type="http://schemas.openxmlformats.org/officeDocument/2006/relationships/notesSlide" Target="/ppt/notesSlides/notesSlide17.xml" Id="Rec0198c3264f487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d5ab6cadaed461d" /><Relationship Type="http://schemas.openxmlformats.org/officeDocument/2006/relationships/hyperlink" Target="https://zeusk302-png.github.io/gyeongnam-ai-workshop/#g-meeting" TargetMode="External" Id="R825461c4718945c5" /><Relationship Type="http://schemas.openxmlformats.org/officeDocument/2006/relationships/notesSlide" Target="/ppt/notesSlides/notesSlide18.xml" Id="R5209f550cfc34fe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1c8483c03124415" /><Relationship Type="http://schemas.openxmlformats.org/officeDocument/2006/relationships/hyperlink" Target="https://zeusk302-png.github.io/gyeongnam-ai-workshop/#g-meeting" TargetMode="External" Id="R23f8427370a2464e" /><Relationship Type="http://schemas.openxmlformats.org/officeDocument/2006/relationships/notesSlide" Target="/ppt/notesSlides/notesSlide19.xml" Id="R92d89585ced54d3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3e52470b6ef4aa8" /><Relationship Type="http://schemas.openxmlformats.org/officeDocument/2006/relationships/hyperlink" Target="https://zeusk302-png.github.io/gyeongnam-ai-workshop/#g-budget" TargetMode="External" Id="Rd6bd4f4ef8d54fbb" /><Relationship Type="http://schemas.openxmlformats.org/officeDocument/2006/relationships/notesSlide" Target="/ppt/notesSlides/notesSlide20.xml" Id="Rc6bf501c868d400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cd93c455b524308" /><Relationship Type="http://schemas.openxmlformats.org/officeDocument/2006/relationships/hyperlink" Target="https://zeusk302-png.github.io/gyeongnam-ai-workshop/#g-budget" TargetMode="External" Id="R504b2c78fe334bb9" /><Relationship Type="http://schemas.openxmlformats.org/officeDocument/2006/relationships/notesSlide" Target="/ppt/notesSlides/notesSlide21.xml" Id="R90e3c9276c51498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6d2e8d6d75f4f06" /><Relationship Type="http://schemas.openxmlformats.org/officeDocument/2006/relationships/hyperlink" Target="https://zeusk302-png.github.io/gyeongnam-ai-workshop/#g-budget" TargetMode="External" Id="R60f5a2b816d74d67" /><Relationship Type="http://schemas.openxmlformats.org/officeDocument/2006/relationships/notesSlide" Target="/ppt/notesSlides/notesSlide22.xml" Id="R4944dd02f5204b2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c0f733eb66b4767" /><Relationship Type="http://schemas.openxmlformats.org/officeDocument/2006/relationships/hyperlink" Target="https://zeusk302-png.github.io/gyeongnam-ai-workshop/#g-budget" TargetMode="External" Id="R911ab16965e04c84" /><Relationship Type="http://schemas.openxmlformats.org/officeDocument/2006/relationships/notesSlide" Target="/ppt/notesSlides/notesSlide23.xml" Id="R5164fcfb419343d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c302cfa72494aa7" /><Relationship Type="http://schemas.openxmlformats.org/officeDocument/2006/relationships/hyperlink" Target="https://zeusk302-png.github.io/gyeongnam-ai-workshop/#n-create" TargetMode="External" Id="R3cbacdbed9a04983" /><Relationship Type="http://schemas.openxmlformats.org/officeDocument/2006/relationships/notesSlide" Target="/ppt/notesSlides/notesSlide24.xml" Id="R484b2c3fbc87465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b1347ec2cf74233" /><Relationship Type="http://schemas.openxmlformats.org/officeDocument/2006/relationships/hyperlink" Target="https://zeusk302-png.github.io/gyeongnam-ai-workshop/#n-sources" TargetMode="External" Id="R35b8b76a3be14be3" /><Relationship Type="http://schemas.openxmlformats.org/officeDocument/2006/relationships/notesSlide" Target="/ppt/notesSlides/notesSlide25.xml" Id="R7268595c312e484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6306835f02c49c7" /><Relationship Type="http://schemas.openxmlformats.org/officeDocument/2006/relationships/image" Target="/ppt/media/image.png" Id="R72c35e232a204035" /><Relationship Type="http://schemas.openxmlformats.org/officeDocument/2006/relationships/hyperlink" Target="https://zeusk302-png.github.io/gyeongnam-ai-workshop/#n-sources" TargetMode="External" Id="R03a718cf47b44cb9" /><Relationship Type="http://schemas.openxmlformats.org/officeDocument/2006/relationships/notesSlide" Target="/ppt/notesSlides/notesSlide26.xml" Id="Re9484decbbf5425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381b9faf294402e" /><Relationship Type="http://schemas.openxmlformats.org/officeDocument/2006/relationships/hyperlink" Target="https://zeusk302-png.github.io/gyeongnam-ai-workshop/#n-summary" TargetMode="External" Id="R271658d453134e08" /><Relationship Type="http://schemas.openxmlformats.org/officeDocument/2006/relationships/notesSlide" Target="/ppt/notesSlides/notesSlide27.xml" Id="R3410e0ed3ec74c2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7aa64b8a3374941" /><Relationship Type="http://schemas.openxmlformats.org/officeDocument/2006/relationships/hyperlink" Target="https://zeusk302-png.github.io/gyeongnam-ai-workshop/#n-summary" TargetMode="External" Id="R83e44b04435c4d15" /><Relationship Type="http://schemas.openxmlformats.org/officeDocument/2006/relationships/notesSlide" Target="/ppt/notesSlides/notesSlide28.xml" Id="Redde602b44904f6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8dfd148d1a34dbe" /><Relationship Type="http://schemas.openxmlformats.org/officeDocument/2006/relationships/image" Target="/ppt/media/image2.png" Id="R8343ca14149b4909" /><Relationship Type="http://schemas.openxmlformats.org/officeDocument/2006/relationships/hyperlink" Target="https://zeusk302-png.github.io/gyeongnam-ai-workshop/#n-summary" TargetMode="External" Id="R14a186d464a349f5" /><Relationship Type="http://schemas.openxmlformats.org/officeDocument/2006/relationships/notesSlide" Target="/ppt/notesSlides/notesSlide29.xml" Id="Rc990d9d250594a6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118e7a0199d46fc" /><Relationship Type="http://schemas.openxmlformats.org/officeDocument/2006/relationships/image" Target="/ppt/media/image3.png" Id="Rc95d6bc969fe48db" /><Relationship Type="http://schemas.openxmlformats.org/officeDocument/2006/relationships/hyperlink" Target="https://zeusk302-png.github.io/gyeongnam-ai-workshop/#n-citation" TargetMode="External" Id="R1f939fbf02b04d06" /><Relationship Type="http://schemas.openxmlformats.org/officeDocument/2006/relationships/notesSlide" Target="/ppt/notesSlides/notesSlide30.xml" Id="R7a7f20e42aea438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c9991669d2845d7" /><Relationship Type="http://schemas.openxmlformats.org/officeDocument/2006/relationships/hyperlink" Target="https://zeusk302-png.github.io/gyeongnam-ai-workshop/#n-citation" TargetMode="External" Id="Rf4f665c5feaf4bc4" /><Relationship Type="http://schemas.openxmlformats.org/officeDocument/2006/relationships/notesSlide" Target="/ppt/notesSlides/notesSlide31.xml" Id="R24ebfa7a14534cd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120b9c200da407d" /><Relationship Type="http://schemas.openxmlformats.org/officeDocument/2006/relationships/image" Target="/ppt/media/image4.png" Id="R0d025ab17a114046" /><Relationship Type="http://schemas.openxmlformats.org/officeDocument/2006/relationships/hyperlink" Target="https://zeusk302-png.github.io/gyeongnam-ai-workshop/#n-citation" TargetMode="External" Id="R9da2907ab3db47ea" /><Relationship Type="http://schemas.openxmlformats.org/officeDocument/2006/relationships/notesSlide" Target="/ppt/notesSlides/notesSlide32.xml" Id="Rd8ac76b23dbc47f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be2f84f15f14b17" /><Relationship Type="http://schemas.openxmlformats.org/officeDocument/2006/relationships/hyperlink" Target="https://zeusk302-png.github.io/gyeongnam-ai-workshop/#n-missing" TargetMode="External" Id="R1ee4cb8d97274e7c" /><Relationship Type="http://schemas.openxmlformats.org/officeDocument/2006/relationships/notesSlide" Target="/ppt/notesSlides/notesSlide33.xml" Id="Rd116a40be5c441c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ee670c507eb4d1f" /><Relationship Type="http://schemas.openxmlformats.org/officeDocument/2006/relationships/hyperlink" Target="https://zeusk302-png.github.io/gyeongnam-ai-workshop/#n-missing" TargetMode="External" Id="R9216010c89a44148" /><Relationship Type="http://schemas.openxmlformats.org/officeDocument/2006/relationships/notesSlide" Target="/ppt/notesSlides/notesSlide34.xml" Id="R288163e452e0451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542c01a4d2449a2" /><Relationship Type="http://schemas.openxmlformats.org/officeDocument/2006/relationships/hyperlink" Target="https://zeusk302-png.github.io/gyeongnam-ai-workshop/#n-missing" TargetMode="External" Id="R510cecc543cd4be5" /><Relationship Type="http://schemas.openxmlformats.org/officeDocument/2006/relationships/notesSlide" Target="/ppt/notesSlides/notesSlide35.xml" Id="Rfb43497ac0e247e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d0e4c08e59e4dd5" /><Relationship Type="http://schemas.openxmlformats.org/officeDocument/2006/relationships/hyperlink" Target="https://zeusk302-png.github.io/gyeongnam-ai-workshop/#n-audio" TargetMode="External" Id="Rf021c558e0ef431c" /><Relationship Type="http://schemas.openxmlformats.org/officeDocument/2006/relationships/notesSlide" Target="/ppt/notesSlides/notesSlide36.xml" Id="R6ba75c7027f74fb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2f71016ca1a48f1" /><Relationship Type="http://schemas.openxmlformats.org/officeDocument/2006/relationships/hyperlink" Target="https://zeusk302-png.github.io/gyeongnam-ai-workshop/#n-audio" TargetMode="External" Id="R06ac7a6198614a9a" /><Relationship Type="http://schemas.openxmlformats.org/officeDocument/2006/relationships/notesSlide" Target="/ppt/notesSlides/notesSlide37.xml" Id="R9a87a7215319436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0c0e0d109384000" /><Relationship Type="http://schemas.openxmlformats.org/officeDocument/2006/relationships/hyperlink" Target="https://zeusk302-png.github.io/gyeongnam-ai-workshop/#c-outline" TargetMode="External" Id="Rba6f14c4147545a4" /><Relationship Type="http://schemas.openxmlformats.org/officeDocument/2006/relationships/notesSlide" Target="/ppt/notesSlides/notesSlide38.xml" Id="Rbb11c7c4fa6b4a5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f7c5ef5af784c05" /><Relationship Type="http://schemas.openxmlformats.org/officeDocument/2006/relationships/hyperlink" Target="https://zeusk302-png.github.io/gyeongnam-ai-workshop/#c-outline" TargetMode="External" Id="R6e432d27f8584371" /><Relationship Type="http://schemas.openxmlformats.org/officeDocument/2006/relationships/notesSlide" Target="/ppt/notesSlides/notesSlide39.xml" Id="Re15b7c5ec3aa43b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41096f7c7aa4d6a" /><Relationship Type="http://schemas.openxmlformats.org/officeDocument/2006/relationships/hyperlink" Target="https://zeusk302-png.github.io/gyeongnam-ai-workshop/#c-outline" TargetMode="External" Id="Rad09e128707a491e" /><Relationship Type="http://schemas.openxmlformats.org/officeDocument/2006/relationships/notesSlide" Target="/ppt/notesSlides/notesSlide40.xml" Id="R1034ed646948421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cbb5ad30cc3455a" /><Relationship Type="http://schemas.openxmlformats.org/officeDocument/2006/relationships/hyperlink" Target="https://zeusk302-png.github.io/gyeongnam-ai-workshop/#c-draft" TargetMode="External" Id="Rcd88c99089694d0f" /><Relationship Type="http://schemas.openxmlformats.org/officeDocument/2006/relationships/notesSlide" Target="/ppt/notesSlides/notesSlide41.xml" Id="R03d0d677fea7409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b90a41cd7ec4219" /><Relationship Type="http://schemas.openxmlformats.org/officeDocument/2006/relationships/image" Target="/ppt/media/image5.png" Id="R516ef999afbe4de3" /><Relationship Type="http://schemas.openxmlformats.org/officeDocument/2006/relationships/hyperlink" Target="https://zeusk302-png.github.io/gyeongnam-ai-workshop/#c-draft" TargetMode="External" Id="R126d0ca02c1a400b" /><Relationship Type="http://schemas.openxmlformats.org/officeDocument/2006/relationships/notesSlide" Target="/ppt/notesSlides/notesSlide42.xml" Id="Re7aa07e747a74e0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2b0a37078fd4957" /><Relationship Type="http://schemas.openxmlformats.org/officeDocument/2006/relationships/hyperlink" Target="https://zeusk302-png.github.io/gyeongnam-ai-workshop/#c-revise-tone" TargetMode="External" Id="R306db8aca7a94710" /><Relationship Type="http://schemas.openxmlformats.org/officeDocument/2006/relationships/notesSlide" Target="/ppt/notesSlides/notesSlide43.xml" Id="R2da898514ab34a6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818a1dec9d4448d" /><Relationship Type="http://schemas.openxmlformats.org/officeDocument/2006/relationships/hyperlink" Target="https://zeusk302-png.github.io/gyeongnam-ai-workshop/#c-revise-length" TargetMode="External" Id="R1094962d8e214022" /><Relationship Type="http://schemas.openxmlformats.org/officeDocument/2006/relationships/notesSlide" Target="/ppt/notesSlides/notesSlide44.xml" Id="R89e237ea0490412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2952fccfc1944673" /><Relationship Type="http://schemas.openxmlformats.org/officeDocument/2006/relationships/hyperlink" Target="https://zeusk302-png.github.io/gyeongnam-ai-workshop/#c-verify" TargetMode="External" Id="R403fe902c0ae46e2" /><Relationship Type="http://schemas.openxmlformats.org/officeDocument/2006/relationships/notesSlide" Target="/ppt/notesSlides/notesSlide45.xml" Id="Rd3f07bcaa096465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b6a6e25f049464a" /><Relationship Type="http://schemas.openxmlformats.org/officeDocument/2006/relationships/hyperlink" Target="https://zeusk302-png.github.io/gyeongnam-ai-workshop/#c-verify" TargetMode="External" Id="Rcca0a045e4564333" /><Relationship Type="http://schemas.openxmlformats.org/officeDocument/2006/relationships/notesSlide" Target="/ppt/notesSlides/notesSlide46.xml" Id="Rc1a1d08e254d4b6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91821e07b6e647a1" /><Relationship Type="http://schemas.openxmlformats.org/officeDocument/2006/relationships/hyperlink" Target="https://zeusk302-png.github.io/gyeongnam-ai-workshop/#c-verify" TargetMode="External" Id="Ra356d6a785784f2f" /><Relationship Type="http://schemas.openxmlformats.org/officeDocument/2006/relationships/notesSlide" Target="/ppt/notesSlides/notesSlide47.xml" Id="R623eab9f0e3749c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d9d3722d79a4404" /><Relationship Type="http://schemas.openxmlformats.org/officeDocument/2006/relationships/hyperlink" Target="https://zeusk302-png.github.io/gyeongnam-ai-workshop/#wrap" TargetMode="External" Id="R4f23f442dd204bd1" /><Relationship Type="http://schemas.openxmlformats.org/officeDocument/2006/relationships/notesSlide" Target="/ppt/notesSlides/notesSlide48.xml" Id="Rc800b3c4322f448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195d2f29775d49f0" /><Relationship Type="http://schemas.openxmlformats.org/officeDocument/2006/relationships/hyperlink" Target="https://zeusk302-png.github.io/gyeongnam-ai-workshop/#wrap" TargetMode="External" Id="Ra9554b8a0de741f5" /><Relationship Type="http://schemas.openxmlformats.org/officeDocument/2006/relationships/notesSlide" Target="/ppt/notesSlides/notesSlide49.xml" Id="R808efed2169b440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0f35292a7b214abc" /><Relationship Type="http://schemas.openxmlformats.org/officeDocument/2006/relationships/hyperlink" Target="https://zeusk302-png.github.io/gyeongnam-ai-workshop/#practice-bank" TargetMode="External" Id="R9e0fa6206b744734" /><Relationship Type="http://schemas.openxmlformats.org/officeDocument/2006/relationships/notesSlide" Target="/ppt/notesSlides/notesSlide50.xml" Id="Rbce9cc473acf419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88cae2d418ee49d6" /><Relationship Type="http://schemas.openxmlformats.org/officeDocument/2006/relationships/hyperlink" Target="https://zeusk302-png.github.io/gyeongnam-ai-workshop/#practice-p01" TargetMode="External" Id="Rf22fde7e23c349e8" /><Relationship Type="http://schemas.openxmlformats.org/officeDocument/2006/relationships/notesSlide" Target="/ppt/notesSlides/notesSlide51.xml" Id="R9bc7c1e717f84b6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f9ca0563db4d4e07" /><Relationship Type="http://schemas.openxmlformats.org/officeDocument/2006/relationships/hyperlink" Target="https://zeusk302-png.github.io/gyeongnam-ai-workshop/#practice-p02" TargetMode="External" Id="Ree975cfdc0444ad4" /><Relationship Type="http://schemas.openxmlformats.org/officeDocument/2006/relationships/notesSlide" Target="/ppt/notesSlides/notesSlide52.xml" Id="R93688c2c978540a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49a91c6cede84e7b" /><Relationship Type="http://schemas.openxmlformats.org/officeDocument/2006/relationships/hyperlink" Target="https://zeusk302-png.github.io/gyeongnam-ai-workshop/#practice-p03" TargetMode="External" Id="R5c213f7d580b4677" /><Relationship Type="http://schemas.openxmlformats.org/officeDocument/2006/relationships/notesSlide" Target="/ppt/notesSlides/notesSlide53.xml" Id="R81fce803f6e24ac6"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631c12d81604d6d" /><Relationship Type="http://schemas.openxmlformats.org/officeDocument/2006/relationships/hyperlink" Target="https://zeusk302-png.github.io/gyeongnam-ai-workshop/#practice-p04" TargetMode="External" Id="R5cca30b61115485a" /><Relationship Type="http://schemas.openxmlformats.org/officeDocument/2006/relationships/notesSlide" Target="/ppt/notesSlides/notesSlide54.xml" Id="R5801f26e6a284f6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3154b9fc9aa44887" /><Relationship Type="http://schemas.openxmlformats.org/officeDocument/2006/relationships/hyperlink" Target="https://zeusk302-png.github.io/gyeongnam-ai-workshop/#practice-p05" TargetMode="External" Id="R3e9e5b4438234995" /><Relationship Type="http://schemas.openxmlformats.org/officeDocument/2006/relationships/notesSlide" Target="/ppt/notesSlides/notesSlide55.xml" Id="R9973b0f990f348c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2b3d63f22a14407" /><Relationship Type="http://schemas.openxmlformats.org/officeDocument/2006/relationships/hyperlink" Target="https://zeusk302-png.github.io/gyeongnam-ai-workshop/#practice-p06" TargetMode="External" Id="R8dfcf4ab8cee48c4" /><Relationship Type="http://schemas.openxmlformats.org/officeDocument/2006/relationships/notesSlide" Target="/ppt/notesSlides/notesSlide56.xml" Id="Rb5c8a3331f564e6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324d6b9a9c764f54" /><Relationship Type="http://schemas.openxmlformats.org/officeDocument/2006/relationships/hyperlink" Target="https://zeusk302-png.github.io/gyeongnam-ai-workshop/#practice-p07" TargetMode="External" Id="R51215dd869a74056" /><Relationship Type="http://schemas.openxmlformats.org/officeDocument/2006/relationships/notesSlide" Target="/ppt/notesSlides/notesSlide57.xml" Id="Rd2061ee79c834526"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a2288320a929413e" /><Relationship Type="http://schemas.openxmlformats.org/officeDocument/2006/relationships/hyperlink" Target="https://zeusk302-png.github.io/gyeongnam-ai-workshop/#practice-p08" TargetMode="External" Id="R3f171b5cafa74485" /><Relationship Type="http://schemas.openxmlformats.org/officeDocument/2006/relationships/notesSlide" Target="/ppt/notesSlides/notesSlide58.xml" Id="R6b9c3ed67aa64cec" /></Relationships>
</file>

<file path=ppt/slides/slide1.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9" name="교직원 AI 업무 실습">
            <a:extLst xmlns:a="http://schemas.openxmlformats.org/drawingml/2006/main">
              <a:ext uri="{FF2B5EF4-FFF2-40B4-BE49-F238E27FC236}">
                <a16:creationId xmlns:a16="http://schemas.microsoft.com/office/drawing/2014/main" id="{82B85224-5D90-4F8D-B6D2-529D19B02DAE}"/>
              </a:ext>
            </a:extLst>
          </p:cNvPr>
          <p:cNvSpPr>
            <a:spLocks xmlns:a="http://schemas.openxmlformats.org/drawingml/2006/main" noGrp="1"/>
          </p:cNvSpPr>
          <p:nvPr/>
        </p:nvSpPr>
        <p:spPr>
          <a:xfrm xmlns:a="http://schemas.openxmlformats.org/drawingml/2006/main">
            <a:off x="628650" y="4762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B5C1AF"/>
                </a:solidFill>
                <a:latin typeface="Noto Sans KR"/>
                <a:ea typeface="Noto Sans KR"/>
                <a:cs typeface="Noto Sans KR"/>
              </a:defRPr>
            </a:pPr>
            <a:r>
              <a:rPr sz="2175" b="1">
                <a:solidFill>
                  <a:srgbClr val="B5C1AF"/>
                </a:solidFill>
                <a:latin typeface="Noto Sans KR"/>
                <a:ea typeface="Noto Sans KR"/>
                <a:cs typeface="Noto Sans KR"/>
              </a:rPr>
              <a:t>교직원 AI 업무 실습</a:t>
            </a:r>
          </a:p>
        </p:txBody>
      </p:sp>
      <p:sp>
        <p:nvSpPr>
          <p:cNvPr id="2" name="메일 60개가">
            <a:extLst xmlns:a="http://schemas.openxmlformats.org/drawingml/2006/main">
              <a:ext uri="{FF2B5EF4-FFF2-40B4-BE49-F238E27FC236}">
                <a16:creationId xmlns:a16="http://schemas.microsoft.com/office/drawing/2014/main" id="{193D073A-062B-404A-9467-DA42BEBF5291}"/>
              </a:ext>
            </a:extLst>
          </p:cNvPr>
          <p:cNvSpPr>
            <a:spLocks xmlns:a="http://schemas.openxmlformats.org/drawingml/2006/main" noGrp="1"/>
          </p:cNvSpPr>
          <p:nvPr/>
        </p:nvSpPr>
        <p:spPr>
          <a:xfrm xmlns:a="http://schemas.openxmlformats.org/drawingml/2006/main">
            <a:off x="571500" y="1524000"/>
            <a:ext cx="109728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650" b="1">
                <a:solidFill>
                  <a:srgbClr val="EA5936"/>
                </a:solidFill>
                <a:latin typeface="Noto Sans KR"/>
                <a:ea typeface="Noto Sans KR"/>
                <a:cs typeface="Noto Sans KR"/>
              </a:defRPr>
            </a:pPr>
            <a:r>
              <a:rPr sz="7650" b="1">
                <a:solidFill>
                  <a:srgbClr val="EA5936"/>
                </a:solidFill>
                <a:latin typeface="Noto Sans KR"/>
                <a:ea typeface="Noto Sans KR"/>
                <a:cs typeface="Noto Sans KR"/>
              </a:rPr>
              <a:t>메일 60개가</a:t>
            </a:r>
          </a:p>
        </p:txBody>
      </p:sp>
      <p:sp>
        <p:nvSpPr>
          <p:cNvPr id="3" name="쌓였습니다">
            <a:extLst xmlns:a="http://schemas.openxmlformats.org/drawingml/2006/main">
              <a:ext uri="{FF2B5EF4-FFF2-40B4-BE49-F238E27FC236}">
                <a16:creationId xmlns:a16="http://schemas.microsoft.com/office/drawing/2014/main" id="{0E331159-3E09-40C6-983E-67FA9A802360}"/>
              </a:ext>
            </a:extLst>
          </p:cNvPr>
          <p:cNvSpPr>
            <a:spLocks xmlns:a="http://schemas.openxmlformats.org/drawingml/2006/main" noGrp="1"/>
          </p:cNvSpPr>
          <p:nvPr/>
        </p:nvSpPr>
        <p:spPr>
          <a:xfrm xmlns:a="http://schemas.openxmlformats.org/drawingml/2006/main">
            <a:off x="571500" y="2819400"/>
            <a:ext cx="109728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650" b="1">
                <a:solidFill>
                  <a:srgbClr val="F4F1E9"/>
                </a:solidFill>
                <a:latin typeface="Noto Sans KR"/>
                <a:ea typeface="Noto Sans KR"/>
                <a:cs typeface="Noto Sans KR"/>
              </a:defRPr>
            </a:pPr>
            <a:r>
              <a:rPr sz="7650" b="1">
                <a:solidFill>
                  <a:srgbClr val="F4F1E9"/>
                </a:solidFill>
                <a:latin typeface="Noto Sans KR"/>
                <a:ea typeface="Noto Sans KR"/>
                <a:cs typeface="Noto Sans KR"/>
              </a:rPr>
              <a:t>쌓였습니다</a:t>
            </a:r>
          </a:p>
        </p:txBody>
      </p:sp>
      <p:sp>
        <p:nvSpPr>
          <p:cNvPr id="4" name="3시간 동안 다룰 가상 업무 자료">
            <a:extLst xmlns:a="http://schemas.openxmlformats.org/drawingml/2006/main">
              <a:ext uri="{FF2B5EF4-FFF2-40B4-BE49-F238E27FC236}">
                <a16:creationId xmlns:a16="http://schemas.microsoft.com/office/drawing/2014/main" id="{864492F4-075F-4978-8297-52222EDFEA45}"/>
              </a:ext>
            </a:extLst>
          </p:cNvPr>
          <p:cNvSpPr>
            <a:spLocks xmlns:a="http://schemas.openxmlformats.org/drawingml/2006/main" noGrp="1"/>
          </p:cNvSpPr>
          <p:nvPr/>
        </p:nvSpPr>
        <p:spPr>
          <a:xfrm xmlns:a="http://schemas.openxmlformats.org/drawingml/2006/main">
            <a:off x="628650" y="436245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850" b="0">
                <a:solidFill>
                  <a:srgbClr val="EBB597"/>
                </a:solidFill>
                <a:latin typeface="Noto Sans KR"/>
                <a:ea typeface="Noto Sans KR"/>
                <a:cs typeface="Noto Sans KR"/>
              </a:defRPr>
            </a:pPr>
            <a:r>
              <a:rPr sz="2850" b="0">
                <a:solidFill>
                  <a:srgbClr val="EBB597"/>
                </a:solidFill>
                <a:latin typeface="Noto Sans KR"/>
                <a:ea typeface="Noto Sans KR"/>
                <a:cs typeface="Noto Sans KR"/>
              </a:rPr>
              <a:t>3시간 동안 다룰 가상 업무 자료</a:t>
            </a:r>
          </a:p>
        </p:txBody>
      </p:sp>
      <p:sp>
        <p:nvSpPr>
          <p:cNvPr id="5" name="김세영">
            <a:extLst xmlns:a="http://schemas.openxmlformats.org/drawingml/2006/main">
              <a:ext uri="{FF2B5EF4-FFF2-40B4-BE49-F238E27FC236}">
                <a16:creationId xmlns:a16="http://schemas.microsoft.com/office/drawing/2014/main" id="{C16AE5BD-7028-4157-996F-A41D27EFA263}"/>
              </a:ext>
            </a:extLst>
          </p:cNvPr>
          <p:cNvSpPr>
            <a:spLocks xmlns:a="http://schemas.openxmlformats.org/drawingml/2006/main" noGrp="1"/>
          </p:cNvSpPr>
          <p:nvPr/>
        </p:nvSpPr>
        <p:spPr>
          <a:xfrm xmlns:a="http://schemas.openxmlformats.org/drawingml/2006/main">
            <a:off x="638175" y="5734050"/>
            <a:ext cx="666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F4F1E9"/>
                </a:solidFill>
                <a:latin typeface="Noto Sans KR"/>
                <a:ea typeface="Noto Sans KR"/>
                <a:cs typeface="Noto Sans KR"/>
              </a:defRPr>
            </a:pPr>
            <a:r>
              <a:rPr sz="2250" b="1">
                <a:solidFill>
                  <a:srgbClr val="F4F1E9"/>
                </a:solidFill>
                <a:latin typeface="Noto Sans KR"/>
                <a:ea typeface="Noto Sans KR"/>
                <a:cs typeface="Noto Sans KR"/>
              </a:rPr>
              <a:t>김세영</a:t>
            </a:r>
          </a:p>
        </p:txBody>
      </p:sp>
      <p:sp>
        <p:nvSpPr>
          <p:cNvPr id="6" name="00–1분">
            <a:extLst xmlns:a="http://schemas.openxmlformats.org/drawingml/2006/main">
              <a:ext uri="{FF2B5EF4-FFF2-40B4-BE49-F238E27FC236}">
                <a16:creationId xmlns:a16="http://schemas.microsoft.com/office/drawing/2014/main" id="{EBB96A72-425D-48A3-8373-1AC9B3243102}"/>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00–1분</a:t>
            </a:r>
          </a:p>
        </p:txBody>
      </p:sp>
      <p:sp>
        <p:nvSpPr>
          <p:cNvPr id="7" name="웹 실습 열기">
            <a:extLst xmlns:a="http://schemas.openxmlformats.org/drawingml/2006/main">
              <a:ext uri="{FF2B5EF4-FFF2-40B4-BE49-F238E27FC236}">
                <a16:creationId xmlns:a16="http://schemas.microsoft.com/office/drawing/2014/main" id="{F7DBE73A-48C4-4211-83AD-3D2E87F5D8C4}"/>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e6364e6e27d5493b"/>
              </a:rPr>
              <a:t>웹 실습 열기</a:t>
            </a:r>
          </a:p>
        </p:txBody>
      </p:sp>
      <p:sp>
        <p:nvSpPr>
          <p:cNvPr id="8" name="01">
            <a:extLst xmlns:a="http://schemas.openxmlformats.org/drawingml/2006/main">
              <a:ext uri="{FF2B5EF4-FFF2-40B4-BE49-F238E27FC236}">
                <a16:creationId xmlns:a16="http://schemas.microsoft.com/office/drawing/2014/main" id="{53D00C2A-B040-4A25-A82F-B031448EF630}"/>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01</a:t>
            </a:r>
          </a:p>
        </p:txBody>
      </p:sp>
    </p:spTree>
    <p:extLst>
      <p:ext uri="{BB962C8B-B14F-4D97-AF65-F5344CB8AC3E}">
        <p14:creationId xmlns:p14="http://schemas.microsoft.com/office/powerpoint/2010/main" val="1490391167"/>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오늘 함께할 강사">
            <a:extLst xmlns:a="http://schemas.openxmlformats.org/drawingml/2006/main">
              <a:ext uri="{FF2B5EF4-FFF2-40B4-BE49-F238E27FC236}">
                <a16:creationId xmlns:a16="http://schemas.microsoft.com/office/drawing/2014/main" id="{ABD11D73-47E4-4546-9AE1-BAEF53260B84}"/>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586356"/>
                </a:solidFill>
                <a:latin typeface="Noto Sans KR"/>
                <a:ea typeface="Noto Sans KR"/>
                <a:cs typeface="Noto Sans KR"/>
              </a:defRPr>
            </a:pPr>
            <a:r>
              <a:rPr sz="1875" b="1">
                <a:solidFill>
                  <a:srgbClr val="586356"/>
                </a:solidFill>
                <a:latin typeface="Noto Sans KR"/>
                <a:ea typeface="Noto Sans KR"/>
                <a:cs typeface="Noto Sans KR"/>
              </a:rPr>
              <a:t>오늘 함께할 강사</a:t>
            </a:r>
          </a:p>
        </p:txBody>
      </p:sp>
      <p:sp>
        <p:nvSpPr>
          <p:cNvPr id="2" name="김세영">
            <a:extLst xmlns:a="http://schemas.openxmlformats.org/drawingml/2006/main">
              <a:ext uri="{FF2B5EF4-FFF2-40B4-BE49-F238E27FC236}">
                <a16:creationId xmlns:a16="http://schemas.microsoft.com/office/drawing/2014/main" id="{74C7850D-85ED-4C57-97FE-60326F6BBC99}"/>
              </a:ext>
            </a:extLst>
          </p:cNvPr>
          <p:cNvSpPr>
            <a:spLocks xmlns:a="http://schemas.openxmlformats.org/drawingml/2006/main" noGrp="1"/>
          </p:cNvSpPr>
          <p:nvPr/>
        </p:nvSpPr>
        <p:spPr>
          <a:xfrm xmlns:a="http://schemas.openxmlformats.org/drawingml/2006/main">
            <a:off x="571500" y="1066800"/>
            <a:ext cx="7239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900" b="1">
                <a:solidFill>
                  <a:srgbClr val="202921"/>
                </a:solidFill>
                <a:latin typeface="Noto Sans KR"/>
                <a:ea typeface="Noto Sans KR"/>
                <a:cs typeface="Noto Sans KR"/>
              </a:defRPr>
            </a:pPr>
            <a:r>
              <a:rPr sz="6900" b="1">
                <a:solidFill>
                  <a:srgbClr val="202921"/>
                </a:solidFill>
                <a:latin typeface="Noto Sans KR"/>
                <a:ea typeface="Noto Sans KR"/>
                <a:cs typeface="Noto Sans KR"/>
              </a:rPr>
              <a:t>김세영</a:t>
            </a:r>
          </a:p>
        </p:txBody>
      </p:sp>
      <p:sp>
        <p:nvSpPr>
          <p:cNvPr id="3" name="㈜파운드리머 기업부설연구소 연구소장">
            <a:extLst xmlns:a="http://schemas.openxmlformats.org/drawingml/2006/main">
              <a:ext uri="{FF2B5EF4-FFF2-40B4-BE49-F238E27FC236}">
                <a16:creationId xmlns:a16="http://schemas.microsoft.com/office/drawing/2014/main" id="{E9993D57-C17B-4E06-9DB3-B778CCDAB032}"/>
              </a:ext>
            </a:extLst>
          </p:cNvPr>
          <p:cNvSpPr>
            <a:spLocks xmlns:a="http://schemas.openxmlformats.org/drawingml/2006/main" noGrp="1"/>
          </p:cNvSpPr>
          <p:nvPr/>
        </p:nvSpPr>
        <p:spPr>
          <a:xfrm xmlns:a="http://schemas.openxmlformats.org/drawingml/2006/main">
            <a:off x="628650" y="2800350"/>
            <a:ext cx="7239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202921"/>
                </a:solidFill>
                <a:latin typeface="Noto Sans KR"/>
                <a:ea typeface="Noto Sans KR"/>
                <a:cs typeface="Noto Sans KR"/>
              </a:defRPr>
            </a:pPr>
            <a:r>
              <a:rPr sz="2325" b="0">
                <a:solidFill>
                  <a:srgbClr val="202921"/>
                </a:solidFill>
                <a:latin typeface="Noto Sans KR"/>
                <a:ea typeface="Noto Sans KR"/>
                <a:cs typeface="Noto Sans KR"/>
              </a:rPr>
              <a:t>㈜파운드리머 기업부설연구소 연구소장</a:t>
            </a:r>
          </a:p>
        </p:txBody>
      </p:sp>
      <p:sp>
        <p:nvSpPr>
          <p:cNvPr id="4" name="산업용 AI·임베디드 소프트웨어 개발">
            <a:extLst xmlns:a="http://schemas.openxmlformats.org/drawingml/2006/main">
              <a:ext uri="{FF2B5EF4-FFF2-40B4-BE49-F238E27FC236}">
                <a16:creationId xmlns:a16="http://schemas.microsoft.com/office/drawing/2014/main" id="{8F1728BB-0D79-4927-9373-242AD5D246D2}"/>
              </a:ext>
            </a:extLst>
          </p:cNvPr>
          <p:cNvSpPr>
            <a:spLocks xmlns:a="http://schemas.openxmlformats.org/drawingml/2006/main" noGrp="1"/>
          </p:cNvSpPr>
          <p:nvPr/>
        </p:nvSpPr>
        <p:spPr>
          <a:xfrm xmlns:a="http://schemas.openxmlformats.org/drawingml/2006/main">
            <a:off x="628650" y="3705225"/>
            <a:ext cx="7239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202921"/>
                </a:solidFill>
                <a:latin typeface="Noto Sans KR"/>
                <a:ea typeface="Noto Sans KR"/>
                <a:cs typeface="Noto Sans KR"/>
              </a:defRPr>
            </a:pPr>
            <a:r>
              <a:rPr sz="2325" b="0">
                <a:solidFill>
                  <a:srgbClr val="202921"/>
                </a:solidFill>
                <a:latin typeface="Noto Sans KR"/>
                <a:ea typeface="Noto Sans KR"/>
                <a:cs typeface="Noto Sans KR"/>
              </a:rPr>
              <a:t>산업용 AI·임베디드 소프트웨어 개발</a:t>
            </a:r>
          </a:p>
        </p:txBody>
      </p:sp>
      <p:sp>
        <p:nvSpPr>
          <p:cNvPr id="5" name="부산대학교 대학원 인공지능 전공">
            <a:extLst xmlns:a="http://schemas.openxmlformats.org/drawingml/2006/main">
              <a:ext uri="{FF2B5EF4-FFF2-40B4-BE49-F238E27FC236}">
                <a16:creationId xmlns:a16="http://schemas.microsoft.com/office/drawing/2014/main" id="{488FEE43-B987-4289-8E2E-5D7C685E8530}"/>
              </a:ext>
            </a:extLst>
          </p:cNvPr>
          <p:cNvSpPr>
            <a:spLocks xmlns:a="http://schemas.openxmlformats.org/drawingml/2006/main" noGrp="1"/>
          </p:cNvSpPr>
          <p:nvPr/>
        </p:nvSpPr>
        <p:spPr>
          <a:xfrm xmlns:a="http://schemas.openxmlformats.org/drawingml/2006/main">
            <a:off x="628650" y="4610100"/>
            <a:ext cx="7239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202921"/>
                </a:solidFill>
                <a:latin typeface="Noto Sans KR"/>
                <a:ea typeface="Noto Sans KR"/>
                <a:cs typeface="Noto Sans KR"/>
              </a:defRPr>
            </a:pPr>
            <a:r>
              <a:rPr sz="2325" b="0">
                <a:solidFill>
                  <a:srgbClr val="202921"/>
                </a:solidFill>
                <a:latin typeface="Noto Sans KR"/>
                <a:ea typeface="Noto Sans KR"/>
                <a:cs typeface="Noto Sans KR"/>
              </a:rPr>
              <a:t>부산대학교 대학원 인공지능 전공</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4b3cd8a8b9946d8"/>
          <a:stretch xmlns:a="http://schemas.openxmlformats.org/drawingml/2006/main"/>
        </p:blipFill>
        <p:spPr>
          <a:xfrm xmlns:a="http://schemas.openxmlformats.org/drawingml/2006/main">
            <a:off x="8620125" y="1475184"/>
            <a:ext cx="2905125" cy="3631406"/>
          </a:xfrm>
          <a:prstGeom xmlns:a="http://schemas.openxmlformats.org/drawingml/2006/main" prst="rect">
            <a:avLst/>
          </a:prstGeom>
        </p:spPr>
      </p:pic>
      <p:sp>
        <p:nvSpPr>
          <p:cNvPr id="7" name="01–3분">
            <a:extLst xmlns:a="http://schemas.openxmlformats.org/drawingml/2006/main">
              <a:ext uri="{FF2B5EF4-FFF2-40B4-BE49-F238E27FC236}">
                <a16:creationId xmlns:a16="http://schemas.microsoft.com/office/drawing/2014/main" id="{0BF068F0-5B31-41C3-8320-EDF498CA0311}"/>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01–3분</a:t>
            </a:r>
          </a:p>
        </p:txBody>
      </p:sp>
      <p:sp>
        <p:nvSpPr>
          <p:cNvPr id="8" name="웹 실습 열기">
            <a:extLst xmlns:a="http://schemas.openxmlformats.org/drawingml/2006/main">
              <a:ext uri="{FF2B5EF4-FFF2-40B4-BE49-F238E27FC236}">
                <a16:creationId xmlns:a16="http://schemas.microsoft.com/office/drawing/2014/main" id="{5BED44EF-BDF6-40DF-8D7C-006F7388184E}"/>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e5896e3595634ae2"/>
              </a:rPr>
              <a:t>웹 실습 열기</a:t>
            </a:r>
          </a:p>
        </p:txBody>
      </p:sp>
      <p:sp>
        <p:nvSpPr>
          <p:cNvPr id="9" name="02">
            <a:extLst xmlns:a="http://schemas.openxmlformats.org/drawingml/2006/main">
              <a:ext uri="{FF2B5EF4-FFF2-40B4-BE49-F238E27FC236}">
                <a16:creationId xmlns:a16="http://schemas.microsoft.com/office/drawing/2014/main" id="{0B4EBAF6-4E0E-43A4-A485-8F8C192FA64C}"/>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02</a:t>
            </a:r>
          </a:p>
        </p:txBody>
      </p:sp>
    </p:spTree>
    <p:extLst>
      <p:ext uri="{BB962C8B-B14F-4D97-AF65-F5344CB8AC3E}">
        <p14:creationId xmlns:p14="http://schemas.microsoft.com/office/powerpoint/2010/main" val="1753896317"/>
      </p:ext>
    </p:extLst>
  </p:cSld>
</p:sld>
</file>

<file path=ppt/slides/slide3.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8" name="20초 생각">
            <a:extLst xmlns:a="http://schemas.openxmlformats.org/drawingml/2006/main">
              <a:ext uri="{FF2B5EF4-FFF2-40B4-BE49-F238E27FC236}">
                <a16:creationId xmlns:a16="http://schemas.microsoft.com/office/drawing/2014/main" id="{D0837AFB-76E5-40DF-AEC1-E9D239620479}"/>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20초 생각</a:t>
            </a:r>
          </a:p>
        </p:txBody>
      </p:sp>
      <p:sp>
        <p:nvSpPr>
          <p:cNvPr id="2" name="답장 한 줄과&#10;메일 60개">
            <a:extLst xmlns:a="http://schemas.openxmlformats.org/drawingml/2006/main">
              <a:ext uri="{FF2B5EF4-FFF2-40B4-BE49-F238E27FC236}">
                <a16:creationId xmlns:a16="http://schemas.microsoft.com/office/drawing/2014/main" id="{460F6215-0CA9-4648-B096-2A240B4FE6DD}"/>
              </a:ext>
            </a:extLst>
          </p:cNvPr>
          <p:cNvSpPr>
            <a:spLocks xmlns:a="http://schemas.openxmlformats.org/drawingml/2006/main" noGrp="1"/>
          </p:cNvSpPr>
          <p:nvPr/>
        </p:nvSpPr>
        <p:spPr>
          <a:xfrm xmlns:a="http://schemas.openxmlformats.org/drawingml/2006/main">
            <a:off x="609600" y="1381125"/>
            <a:ext cx="10953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850" b="1">
                <a:solidFill>
                  <a:srgbClr val="F4F1E9"/>
                </a:solidFill>
                <a:latin typeface="Noto Sans KR"/>
                <a:ea typeface="Noto Sans KR"/>
                <a:cs typeface="Noto Sans KR"/>
              </a:defRPr>
            </a:pPr>
            <a:r>
              <a:rPr sz="5850" b="1">
                <a:solidFill>
                  <a:srgbClr val="F4F1E9"/>
                </a:solidFill>
                <a:latin typeface="Noto Sans KR"/>
                <a:ea typeface="Noto Sans KR"/>
                <a:cs typeface="Noto Sans KR"/>
              </a:rPr>
              <a:t>답장 한 줄과</a:t>
            </a:r>
          </a:p>
          <a:p xmlns:a="http://schemas.openxmlformats.org/drawingml/2006/main">
            <a:pPr algn="l">
              <a:lnSpc>
                <a:spcPct val="112000"/>
              </a:lnSpc>
              <a:buNone/>
              <a:defRPr sz="5850" b="1">
                <a:solidFill>
                  <a:srgbClr val="F4F1E9"/>
                </a:solidFill>
                <a:latin typeface="Noto Sans KR"/>
                <a:ea typeface="Noto Sans KR"/>
                <a:cs typeface="Noto Sans KR"/>
              </a:defRPr>
            </a:pPr>
            <a:r>
              <a:rPr sz="5850" b="1">
                <a:solidFill>
                  <a:srgbClr val="F4F1E9"/>
                </a:solidFill>
                <a:latin typeface="Noto Sans KR"/>
                <a:ea typeface="Noto Sans KR"/>
                <a:cs typeface="Noto Sans KR"/>
              </a:rPr>
              <a:t>메일 60개</a:t>
            </a:r>
          </a:p>
        </p:txBody>
      </p:sp>
      <p:sp>
        <p:nvSpPr>
          <p:cNvPr id="3" name="A. “확인했습니다” 한 줄 회신">
            <a:extLst xmlns:a="http://schemas.openxmlformats.org/drawingml/2006/main">
              <a:ext uri="{FF2B5EF4-FFF2-40B4-BE49-F238E27FC236}">
                <a16:creationId xmlns:a16="http://schemas.microsoft.com/office/drawing/2014/main" id="{B2A693AF-47A6-4E69-9B13-7DD2E3B3EE4B}"/>
              </a:ext>
            </a:extLst>
          </p:cNvPr>
          <p:cNvSpPr>
            <a:spLocks xmlns:a="http://schemas.openxmlformats.org/drawingml/2006/main" noGrp="1"/>
          </p:cNvSpPr>
          <p:nvPr/>
        </p:nvSpPr>
        <p:spPr>
          <a:xfrm xmlns:a="http://schemas.openxmlformats.org/drawingml/2006/main">
            <a:off x="647700" y="44100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EAB196"/>
                </a:solidFill>
                <a:latin typeface="Noto Sans KR"/>
                <a:ea typeface="Noto Sans KR"/>
                <a:cs typeface="Noto Sans KR"/>
              </a:defRPr>
            </a:pPr>
            <a:r>
              <a:rPr sz="2700" b="0">
                <a:solidFill>
                  <a:srgbClr val="EAB196"/>
                </a:solidFill>
                <a:latin typeface="Noto Sans KR"/>
                <a:ea typeface="Noto Sans KR"/>
                <a:cs typeface="Noto Sans KR"/>
              </a:rPr>
              <a:t>A. “확인했습니다” 한 줄 회신</a:t>
            </a:r>
          </a:p>
        </p:txBody>
      </p:sp>
      <p:sp>
        <p:nvSpPr>
          <p:cNvPr id="4" name="B. 같은 문의의 후속 메일까지 대조">
            <a:extLst xmlns:a="http://schemas.openxmlformats.org/drawingml/2006/main">
              <a:ext uri="{FF2B5EF4-FFF2-40B4-BE49-F238E27FC236}">
                <a16:creationId xmlns:a16="http://schemas.microsoft.com/office/drawing/2014/main" id="{AF09532E-E342-49AA-A036-75A087A61687}"/>
              </a:ext>
            </a:extLst>
          </p:cNvPr>
          <p:cNvSpPr>
            <a:spLocks xmlns:a="http://schemas.openxmlformats.org/drawingml/2006/main" noGrp="1"/>
          </p:cNvSpPr>
          <p:nvPr/>
        </p:nvSpPr>
        <p:spPr>
          <a:xfrm xmlns:a="http://schemas.openxmlformats.org/drawingml/2006/main">
            <a:off x="647700" y="521970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EAB196"/>
                </a:solidFill>
                <a:latin typeface="Noto Sans KR"/>
                <a:ea typeface="Noto Sans KR"/>
                <a:cs typeface="Noto Sans KR"/>
              </a:defRPr>
            </a:pPr>
            <a:r>
              <a:rPr sz="2700" b="0">
                <a:solidFill>
                  <a:srgbClr val="EAB196"/>
                </a:solidFill>
                <a:latin typeface="Noto Sans KR"/>
                <a:ea typeface="Noto Sans KR"/>
                <a:cs typeface="Noto Sans KR"/>
              </a:rPr>
              <a:t>B. 같은 문의의 후속 메일까지 대조</a:t>
            </a:r>
          </a:p>
        </p:txBody>
      </p:sp>
      <p:sp>
        <p:nvSpPr>
          <p:cNvPr id="5" name="03–5분">
            <a:extLst xmlns:a="http://schemas.openxmlformats.org/drawingml/2006/main">
              <a:ext uri="{FF2B5EF4-FFF2-40B4-BE49-F238E27FC236}">
                <a16:creationId xmlns:a16="http://schemas.microsoft.com/office/drawing/2014/main" id="{7C4DFC1D-2008-4ED1-B6DA-63E5575D145C}"/>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03–5분</a:t>
            </a:r>
          </a:p>
        </p:txBody>
      </p:sp>
      <p:sp>
        <p:nvSpPr>
          <p:cNvPr id="6" name="웹 실습 열기">
            <a:extLst xmlns:a="http://schemas.openxmlformats.org/drawingml/2006/main">
              <a:ext uri="{FF2B5EF4-FFF2-40B4-BE49-F238E27FC236}">
                <a16:creationId xmlns:a16="http://schemas.microsoft.com/office/drawing/2014/main" id="{B987EC32-63D4-4379-84D1-DA0CA4C3DED2}"/>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1fe2a56a1409419b"/>
              </a:rPr>
              <a:t>웹 실습 열기</a:t>
            </a:r>
          </a:p>
        </p:txBody>
      </p:sp>
      <p:sp>
        <p:nvSpPr>
          <p:cNvPr id="7" name="03">
            <a:extLst xmlns:a="http://schemas.openxmlformats.org/drawingml/2006/main">
              <a:ext uri="{FF2B5EF4-FFF2-40B4-BE49-F238E27FC236}">
                <a16:creationId xmlns:a16="http://schemas.microsoft.com/office/drawing/2014/main" id="{68F53F82-932C-4199-9A74-F8779E6FC5FE}"/>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03</a:t>
            </a:r>
          </a:p>
        </p:txBody>
      </p:sp>
    </p:spTree>
    <p:extLst>
      <p:ext uri="{BB962C8B-B14F-4D97-AF65-F5344CB8AC3E}">
        <p14:creationId xmlns:p14="http://schemas.microsoft.com/office/powerpoint/2010/main" val="1431979465"/>
      </p:ext>
    </p:extLst>
  </p:cSld>
</p:sld>
</file>

<file path=ppt/slides/slide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반복 대조가 많을 때&#10;먼저 시험합니다">
            <a:extLst xmlns:a="http://schemas.openxmlformats.org/drawingml/2006/main">
              <a:ext uri="{FF2B5EF4-FFF2-40B4-BE49-F238E27FC236}">
                <a16:creationId xmlns:a16="http://schemas.microsoft.com/office/drawing/2014/main" id="{9E3DA0D3-CB2B-4D94-A4B0-73AC0071BE15}"/>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반복 대조가 많을 때</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먼저 시험합니다</a:t>
            </a:r>
          </a:p>
        </p:txBody>
      </p:sp>
      <p:graphicFrame>
        <p:nvGraphicFramePr>
          <p:cNvPr id="7" name=""/>
          <p:cNvGraphicFramePr/>
          <p:nvPr/>
        </p:nvGraphicFramePr>
        <p:xfrm>
          <a:off xmlns:a="http://schemas.openxmlformats.org/drawingml/2006/main" x="619125" y="2790825"/>
          <a:ext xmlns:a="http://schemas.openxmlformats.org/drawingml/2006/main" cx="10953750" cy="2733675"/>
        </p:xfrm>
        <a:graphic xmlns:a="http://schemas.openxmlformats.org/drawingml/2006/main">
          <a:graphicData uri="http://schemas.openxmlformats.org/drawingml/2006/table">
            <a:tbl>
              <a:tblPr firstRow="1" bandRow="0"/>
              <a:tblGrid>
                <a:gridCol w="5476875"/>
                <a:gridCol w="5476875"/>
              </a:tblGrid>
              <a:tr h="683419">
                <a:tc>
                  <a:txBody>
                    <a:bodyPr lIns="152400" tIns="85725" rIns="133350" bIns="76200">
                      <a:noAutofit/>
                    </a:bodyPr>
                    <a:lstStyle/>
                    <a:p>
                      <a:pPr algn="l"/>
                      <a:r>
                        <a:rPr sz="2250" b="1">
                          <a:solidFill>
                            <a:srgbClr val="F4F1E9"/>
                          </a:solidFill>
                          <a:latin typeface="Noto Sans KR"/>
                          <a:ea typeface="Noto Sans KR"/>
                          <a:cs typeface="Noto Sans KR"/>
                        </a:rPr>
                        <a:t>업무</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먼저 쓸 방법</a:t>
                      </a:r>
                    </a:p>
                  </a:txBody>
                  <a:tcPr marL="91440" marR="91440" marT="45720" marB="45720" anchor="ctr">
                    <a:solidFill>
                      <a:srgbClr val="202921"/>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짧은 정형 답장</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직접 작성·기존 서식</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합계와 비율</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스프레드시트</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여러 메일과 승인 기록</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AI 초안 후 원문 확인</a:t>
                      </a:r>
                    </a:p>
                  </a:txBody>
                  <a:tcPr marL="91440" marR="91440" marT="45720" marB="45720" anchor="ctr">
                    <a:solidFill>
                      <a:srgbClr val="F4F1E9"/>
                    </a:solidFill>
                  </a:tcPr>
                </a:tc>
              </a:tr>
            </a:tbl>
          </a:graphicData>
        </a:graphic>
      </p:graphicFrame>
      <p:sp>
        <p:nvSpPr>
          <p:cNvPr id="3" name="05–8분">
            <a:extLst xmlns:a="http://schemas.openxmlformats.org/drawingml/2006/main">
              <a:ext uri="{FF2B5EF4-FFF2-40B4-BE49-F238E27FC236}">
                <a16:creationId xmlns:a16="http://schemas.microsoft.com/office/drawing/2014/main" id="{1BD894BB-8FB4-4721-BB2B-2E7D0A6E4CDF}"/>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05–8분</a:t>
            </a:r>
          </a:p>
        </p:txBody>
      </p:sp>
      <p:sp>
        <p:nvSpPr>
          <p:cNvPr id="4" name="웹 실습 열기">
            <a:extLst xmlns:a="http://schemas.openxmlformats.org/drawingml/2006/main">
              <a:ext uri="{FF2B5EF4-FFF2-40B4-BE49-F238E27FC236}">
                <a16:creationId xmlns:a16="http://schemas.microsoft.com/office/drawing/2014/main" id="{9AD3C084-A630-4F6E-99B3-B3DFD0A07685}"/>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f78735ffa64647ac"/>
              </a:rPr>
              <a:t>웹 실습 열기</a:t>
            </a:r>
          </a:p>
        </p:txBody>
      </p:sp>
      <p:sp>
        <p:nvSpPr>
          <p:cNvPr id="5" name="04">
            <a:extLst xmlns:a="http://schemas.openxmlformats.org/drawingml/2006/main">
              <a:ext uri="{FF2B5EF4-FFF2-40B4-BE49-F238E27FC236}">
                <a16:creationId xmlns:a16="http://schemas.microsoft.com/office/drawing/2014/main" id="{7B5330C2-3ADF-4FA0-B4A2-DCAAB160F205}"/>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04</a:t>
            </a:r>
          </a:p>
        </p:txBody>
      </p:sp>
    </p:spTree>
    <p:extLst>
      <p:ext uri="{BB962C8B-B14F-4D97-AF65-F5344CB8AC3E}">
        <p14:creationId xmlns:p14="http://schemas.microsoft.com/office/powerpoint/2010/main" val="609412402"/>
      </p:ext>
    </p:extLst>
  </p:cSld>
</p:sld>
</file>

<file path=ppt/slides/slide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8" name="메일, 승인 기록,&#10;접수대장을 함께 봅니다">
            <a:extLst xmlns:a="http://schemas.openxmlformats.org/drawingml/2006/main">
              <a:ext uri="{FF2B5EF4-FFF2-40B4-BE49-F238E27FC236}">
                <a16:creationId xmlns:a16="http://schemas.microsoft.com/office/drawing/2014/main" id="{CE87186B-F1D8-4025-89DE-ABD707D666B0}"/>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메일, 승인 기록,</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접수대장을 함께 봅니다</a:t>
            </a:r>
          </a:p>
        </p:txBody>
      </p:sp>
      <p:sp>
        <p:nvSpPr>
          <p:cNvPr id="2" name="본수업: 문의 30건과 후속 메일">
            <a:extLst xmlns:a="http://schemas.openxmlformats.org/drawingml/2006/main">
              <a:ext uri="{FF2B5EF4-FFF2-40B4-BE49-F238E27FC236}">
                <a16:creationId xmlns:a16="http://schemas.microsoft.com/office/drawing/2014/main" id="{FA3D425F-085C-4F7D-BDFD-FC620872B3CC}"/>
              </a:ext>
            </a:extLst>
          </p:cNvPr>
          <p:cNvSpPr>
            <a:spLocks xmlns:a="http://schemas.openxmlformats.org/drawingml/2006/main" noGrp="1"/>
          </p:cNvSpPr>
          <p:nvPr/>
        </p:nvSpPr>
        <p:spPr>
          <a:xfrm xmlns:a="http://schemas.openxmlformats.org/drawingml/2006/main">
            <a:off x="638175" y="2876550"/>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본수업: 문의 30건과 후속 메일</a:t>
            </a:r>
          </a:p>
        </p:txBody>
      </p:sp>
      <p:sp>
        <p:nvSpPr>
          <p:cNvPr id="3" name="입력 연습: 기존 문의 6건">
            <a:extLst xmlns:a="http://schemas.openxmlformats.org/drawingml/2006/main">
              <a:ext uri="{FF2B5EF4-FFF2-40B4-BE49-F238E27FC236}">
                <a16:creationId xmlns:a16="http://schemas.microsoft.com/office/drawing/2014/main" id="{4AB06237-A13E-442E-9BB1-9A0A4A48ADFD}"/>
              </a:ext>
            </a:extLst>
          </p:cNvPr>
          <p:cNvSpPr>
            <a:spLocks xmlns:a="http://schemas.openxmlformats.org/drawingml/2006/main" noGrp="1"/>
          </p:cNvSpPr>
          <p:nvPr/>
        </p:nvSpPr>
        <p:spPr>
          <a:xfrm xmlns:a="http://schemas.openxmlformats.org/drawingml/2006/main">
            <a:off x="638175" y="36671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입력 연습: 기존 문의 6건</a:t>
            </a:r>
          </a:p>
        </p:txBody>
      </p:sp>
      <p:sp>
        <p:nvSpPr>
          <p:cNvPr id="4" name="두 자료의 기록은 따로 저장">
            <a:extLst xmlns:a="http://schemas.openxmlformats.org/drawingml/2006/main">
              <a:ext uri="{FF2B5EF4-FFF2-40B4-BE49-F238E27FC236}">
                <a16:creationId xmlns:a16="http://schemas.microsoft.com/office/drawing/2014/main" id="{541E9817-98BB-4093-B589-EC2FAA084F02}"/>
              </a:ext>
            </a:extLst>
          </p:cNvPr>
          <p:cNvSpPr>
            <a:spLocks xmlns:a="http://schemas.openxmlformats.org/drawingml/2006/main" noGrp="1"/>
          </p:cNvSpPr>
          <p:nvPr/>
        </p:nvSpPr>
        <p:spPr>
          <a:xfrm xmlns:a="http://schemas.openxmlformats.org/drawingml/2006/main">
            <a:off x="638175" y="4457700"/>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두 자료의 기록은 따로 저장</a:t>
            </a:r>
          </a:p>
        </p:txBody>
      </p:sp>
      <p:sp>
        <p:nvSpPr>
          <p:cNvPr id="5" name="08–10분">
            <a:extLst xmlns:a="http://schemas.openxmlformats.org/drawingml/2006/main">
              <a:ext uri="{FF2B5EF4-FFF2-40B4-BE49-F238E27FC236}">
                <a16:creationId xmlns:a16="http://schemas.microsoft.com/office/drawing/2014/main" id="{35FB5A16-8CE5-447E-8B25-A5699589AEF7}"/>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08–10분</a:t>
            </a:r>
          </a:p>
        </p:txBody>
      </p:sp>
      <p:sp>
        <p:nvSpPr>
          <p:cNvPr id="6" name="웹 실습 열기">
            <a:extLst xmlns:a="http://schemas.openxmlformats.org/drawingml/2006/main">
              <a:ext uri="{FF2B5EF4-FFF2-40B4-BE49-F238E27FC236}">
                <a16:creationId xmlns:a16="http://schemas.microsoft.com/office/drawing/2014/main" id="{41B36944-FFB9-4FF2-80E7-5F4491784278}"/>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1bf142f683974fbb"/>
              </a:rPr>
              <a:t>웹 실습 열기</a:t>
            </a:r>
          </a:p>
        </p:txBody>
      </p:sp>
      <p:sp>
        <p:nvSpPr>
          <p:cNvPr id="7" name="05">
            <a:extLst xmlns:a="http://schemas.openxmlformats.org/drawingml/2006/main">
              <a:ext uri="{FF2B5EF4-FFF2-40B4-BE49-F238E27FC236}">
                <a16:creationId xmlns:a16="http://schemas.microsoft.com/office/drawing/2014/main" id="{DAB285F0-A186-400D-9FC7-C882DADD2952}"/>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05</a:t>
            </a:r>
          </a:p>
        </p:txBody>
      </p:sp>
    </p:spTree>
    <p:extLst>
      <p:ext uri="{BB962C8B-B14F-4D97-AF65-F5344CB8AC3E}">
        <p14:creationId xmlns:p14="http://schemas.microsoft.com/office/powerpoint/2010/main" val="792865468"/>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세 건을 봤다면&#10;확인한 것도 세 건">
            <a:extLst xmlns:a="http://schemas.openxmlformats.org/drawingml/2006/main">
              <a:ext uri="{FF2B5EF4-FFF2-40B4-BE49-F238E27FC236}">
                <a16:creationId xmlns:a16="http://schemas.microsoft.com/office/drawing/2014/main" id="{FDBD202B-DE1B-4A9E-82CF-2FB479A184B7}"/>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세 건을 봤다면</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확인한 것도 세 건</a:t>
            </a:r>
          </a:p>
        </p:txBody>
      </p:sp>
      <p:sp>
        <p:nvSpPr>
          <p:cNvPr id="2" name="확인한 문장에는 원문 ID">
            <a:extLst xmlns:a="http://schemas.openxmlformats.org/drawingml/2006/main">
              <a:ext uri="{FF2B5EF4-FFF2-40B4-BE49-F238E27FC236}">
                <a16:creationId xmlns:a16="http://schemas.microsoft.com/office/drawing/2014/main" id="{3F1B8C4A-6A4F-47C2-9BCE-7B3270ABAC38}"/>
              </a:ext>
            </a:extLst>
          </p:cNvPr>
          <p:cNvSpPr>
            <a:spLocks xmlns:a="http://schemas.openxmlformats.org/drawingml/2006/main" noGrp="1"/>
          </p:cNvSpPr>
          <p:nvPr/>
        </p:nvSpPr>
        <p:spPr>
          <a:xfrm xmlns:a="http://schemas.openxmlformats.org/drawingml/2006/main">
            <a:off x="638175" y="2876550"/>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확인한 문장에는 원문 ID</a:t>
            </a:r>
          </a:p>
        </p:txBody>
      </p:sp>
      <p:sp>
        <p:nvSpPr>
          <p:cNvPr id="3" name="남은 27건에는 검토 대기">
            <a:extLst xmlns:a="http://schemas.openxmlformats.org/drawingml/2006/main">
              <a:ext uri="{FF2B5EF4-FFF2-40B4-BE49-F238E27FC236}">
                <a16:creationId xmlns:a16="http://schemas.microsoft.com/office/drawing/2014/main" id="{AE55B8A6-B66A-4A01-8669-BA1CCB8B65FE}"/>
              </a:ext>
            </a:extLst>
          </p:cNvPr>
          <p:cNvSpPr>
            <a:spLocks xmlns:a="http://schemas.openxmlformats.org/drawingml/2006/main" noGrp="1"/>
          </p:cNvSpPr>
          <p:nvPr/>
        </p:nvSpPr>
        <p:spPr>
          <a:xfrm xmlns:a="http://schemas.openxmlformats.org/drawingml/2006/main">
            <a:off x="638175" y="36671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남은 27건에는 검토 대기</a:t>
            </a:r>
          </a:p>
        </p:txBody>
      </p:sp>
      <p:sp>
        <p:nvSpPr>
          <p:cNvPr id="4" name="10–12분">
            <a:extLst xmlns:a="http://schemas.openxmlformats.org/drawingml/2006/main">
              <a:ext uri="{FF2B5EF4-FFF2-40B4-BE49-F238E27FC236}">
                <a16:creationId xmlns:a16="http://schemas.microsoft.com/office/drawing/2014/main" id="{FA98A46F-6FB0-4BA9-B402-E6F160C7149A}"/>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10–12분</a:t>
            </a:r>
          </a:p>
        </p:txBody>
      </p:sp>
      <p:sp>
        <p:nvSpPr>
          <p:cNvPr id="5" name="웹 실습 열기">
            <a:extLst xmlns:a="http://schemas.openxmlformats.org/drawingml/2006/main">
              <a:ext uri="{FF2B5EF4-FFF2-40B4-BE49-F238E27FC236}">
                <a16:creationId xmlns:a16="http://schemas.microsoft.com/office/drawing/2014/main" id="{F254C4CE-D0AC-430D-B58C-AB362756B815}"/>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3cca54d4b3894625"/>
              </a:rPr>
              <a:t>웹 실습 열기</a:t>
            </a:r>
          </a:p>
        </p:txBody>
      </p:sp>
      <p:sp>
        <p:nvSpPr>
          <p:cNvPr id="6" name="06">
            <a:extLst xmlns:a="http://schemas.openxmlformats.org/drawingml/2006/main">
              <a:ext uri="{FF2B5EF4-FFF2-40B4-BE49-F238E27FC236}">
                <a16:creationId xmlns:a16="http://schemas.microsoft.com/office/drawing/2014/main" id="{F7BD6971-4DCD-4C4B-B691-443F2D8D8E25}"/>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06</a:t>
            </a:r>
          </a:p>
        </p:txBody>
      </p:sp>
    </p:spTree>
    <p:extLst>
      <p:ext uri="{BB962C8B-B14F-4D97-AF65-F5344CB8AC3E}">
        <p14:creationId xmlns:p14="http://schemas.microsoft.com/office/powerpoint/2010/main" val="2066142687"/>
      </p:ext>
    </p:extLst>
  </p:cSld>
</p:sld>
</file>

<file path=ppt/slides/slide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지금 내 계정에&#10;남은 사용량은?">
            <a:extLst xmlns:a="http://schemas.openxmlformats.org/drawingml/2006/main">
              <a:ext uri="{FF2B5EF4-FFF2-40B4-BE49-F238E27FC236}">
                <a16:creationId xmlns:a16="http://schemas.microsoft.com/office/drawing/2014/main" id="{F60F6F3A-2BE6-46A9-A4CA-463644037610}"/>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지금 내 계정에</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남은 사용량은?</a:t>
            </a:r>
          </a:p>
        </p:txBody>
      </p:sp>
      <p:graphicFrame>
        <p:nvGraphicFramePr>
          <p:cNvPr id="7" name=""/>
          <p:cNvGraphicFramePr/>
          <p:nvPr/>
        </p:nvGraphicFramePr>
        <p:xfrm>
          <a:off xmlns:a="http://schemas.openxmlformats.org/drawingml/2006/main" x="619125" y="2790825"/>
          <a:ext xmlns:a="http://schemas.openxmlformats.org/drawingml/2006/main" cx="10953750" cy="2733675"/>
        </p:xfrm>
        <a:graphic xmlns:a="http://schemas.openxmlformats.org/drawingml/2006/main">
          <a:graphicData uri="http://schemas.openxmlformats.org/drawingml/2006/table">
            <a:tbl>
              <a:tblPr firstRow="1" bandRow="0"/>
              <a:tblGrid>
                <a:gridCol w="5476875"/>
                <a:gridCol w="5476875"/>
              </a:tblGrid>
              <a:tr h="683419">
                <a:tc>
                  <a:txBody>
                    <a:bodyPr lIns="152400" tIns="85725" rIns="133350" bIns="76200">
                      <a:noAutofit/>
                    </a:bodyPr>
                    <a:lstStyle/>
                    <a:p>
                      <a:pPr algn="l"/>
                      <a:r>
                        <a:rPr sz="2250" b="1">
                          <a:solidFill>
                            <a:srgbClr val="F4F1E9"/>
                          </a:solidFill>
                          <a:latin typeface="Noto Sans KR"/>
                          <a:ea typeface="Noto Sans KR"/>
                          <a:cs typeface="Noto Sans KR"/>
                        </a:rPr>
                        <a:t>도구</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먼저 확인할 화면</a:t>
                      </a:r>
                    </a:p>
                  </a:txBody>
                  <a:tcPr marL="91440" marR="91440" marT="45720" marB="45720" anchor="ctr">
                    <a:solidFill>
                      <a:srgbClr val="202921"/>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Gemini</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사용량 메뉴·제한 알림</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NotebookLM</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사용량·생성 예상 사용량</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Claude</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제한 경고·재개 시각</a:t>
                      </a:r>
                    </a:p>
                  </a:txBody>
                  <a:tcPr marL="91440" marR="91440" marT="45720" marB="45720" anchor="ctr">
                    <a:solidFill>
                      <a:srgbClr val="F4F1E9"/>
                    </a:solidFill>
                  </a:tcPr>
                </a:tc>
              </a:tr>
            </a:tbl>
          </a:graphicData>
        </a:graphic>
      </p:graphicFrame>
      <p:sp>
        <p:nvSpPr>
          <p:cNvPr id="3" name="12–15분">
            <a:extLst xmlns:a="http://schemas.openxmlformats.org/drawingml/2006/main">
              <a:ext uri="{FF2B5EF4-FFF2-40B4-BE49-F238E27FC236}">
                <a16:creationId xmlns:a16="http://schemas.microsoft.com/office/drawing/2014/main" id="{D61AE181-E013-48BE-B089-2C8E7FDCB3DB}"/>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12–15분</a:t>
            </a:r>
          </a:p>
        </p:txBody>
      </p:sp>
      <p:sp>
        <p:nvSpPr>
          <p:cNvPr id="4" name="웹 실습 열기">
            <a:extLst xmlns:a="http://schemas.openxmlformats.org/drawingml/2006/main">
              <a:ext uri="{FF2B5EF4-FFF2-40B4-BE49-F238E27FC236}">
                <a16:creationId xmlns:a16="http://schemas.microsoft.com/office/drawing/2014/main" id="{DD5AB76E-E357-49BC-8035-3507169D6B70}"/>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cc5c3f0c372c4320"/>
              </a:rPr>
              <a:t>웹 실습 열기</a:t>
            </a:r>
          </a:p>
        </p:txBody>
      </p:sp>
      <p:sp>
        <p:nvSpPr>
          <p:cNvPr id="5" name="07">
            <a:extLst xmlns:a="http://schemas.openxmlformats.org/drawingml/2006/main">
              <a:ext uri="{FF2B5EF4-FFF2-40B4-BE49-F238E27FC236}">
                <a16:creationId xmlns:a16="http://schemas.microsoft.com/office/drawing/2014/main" id="{8EC158D1-3C04-4C70-9314-6271468F7CB9}"/>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07</a:t>
            </a:r>
          </a:p>
        </p:txBody>
      </p:sp>
    </p:spTree>
    <p:extLst>
      <p:ext uri="{BB962C8B-B14F-4D97-AF65-F5344CB8AC3E}">
        <p14:creationId xmlns:p14="http://schemas.microsoft.com/office/powerpoint/2010/main" val="725671677"/>
      </p:ext>
    </p:extLst>
  </p:cSld>
</p:sld>
</file>

<file path=ppt/slides/slide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직접 해볼 시간">
            <a:extLst xmlns:a="http://schemas.openxmlformats.org/drawingml/2006/main">
              <a:ext uri="{FF2B5EF4-FFF2-40B4-BE49-F238E27FC236}">
                <a16:creationId xmlns:a16="http://schemas.microsoft.com/office/drawing/2014/main" id="{E4345D02-ACCC-4C72-9A0C-243931FB9CD7}"/>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586356"/>
                </a:solidFill>
                <a:latin typeface="Noto Sans KR"/>
                <a:ea typeface="Noto Sans KR"/>
                <a:cs typeface="Noto Sans KR"/>
              </a:defRPr>
            </a:pPr>
            <a:r>
              <a:rPr sz="1875" b="1">
                <a:solidFill>
                  <a:srgbClr val="586356"/>
                </a:solidFill>
                <a:latin typeface="Noto Sans KR"/>
                <a:ea typeface="Noto Sans KR"/>
                <a:cs typeface="Noto Sans KR"/>
              </a:rPr>
              <a:t>직접 해볼 시간</a:t>
            </a:r>
          </a:p>
        </p:txBody>
      </p:sp>
      <p:sp>
        <p:nvSpPr>
          <p:cNvPr id="2" name="2분">
            <a:extLst xmlns:a="http://schemas.openxmlformats.org/drawingml/2006/main">
              <a:ext uri="{FF2B5EF4-FFF2-40B4-BE49-F238E27FC236}">
                <a16:creationId xmlns:a16="http://schemas.microsoft.com/office/drawing/2014/main" id="{9F946F15-2A1D-49E6-BF4B-FD185C2A1E1E}"/>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2분</a:t>
            </a:r>
          </a:p>
        </p:txBody>
      </p:sp>
      <p:sp>
        <p:nvSpPr>
          <p:cNvPr id="3" name="받은 답변을&#10;함께 고치면 됩니다">
            <a:extLst xmlns:a="http://schemas.openxmlformats.org/drawingml/2006/main">
              <a:ext uri="{FF2B5EF4-FFF2-40B4-BE49-F238E27FC236}">
                <a16:creationId xmlns:a16="http://schemas.microsoft.com/office/drawing/2014/main" id="{5CE45FA1-FEBE-4005-A43E-5A7A76AA9374}"/>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202921"/>
                </a:solidFill>
                <a:latin typeface="Noto Sans KR"/>
                <a:ea typeface="Noto Sans KR"/>
                <a:cs typeface="Noto Sans KR"/>
              </a:defRPr>
            </a:pPr>
            <a:r>
              <a:rPr sz="4275" b="1">
                <a:solidFill>
                  <a:srgbClr val="202921"/>
                </a:solidFill>
                <a:latin typeface="Noto Sans KR"/>
                <a:ea typeface="Noto Sans KR"/>
                <a:cs typeface="Noto Sans KR"/>
              </a:rPr>
              <a:t>받은 답변을</a:t>
            </a:r>
          </a:p>
          <a:p xmlns:a="http://schemas.openxmlformats.org/drawingml/2006/main">
            <a:pPr algn="l">
              <a:lnSpc>
                <a:spcPct val="112000"/>
              </a:lnSpc>
              <a:buNone/>
              <a:defRPr sz="4275" b="1">
                <a:solidFill>
                  <a:srgbClr val="202921"/>
                </a:solidFill>
                <a:latin typeface="Noto Sans KR"/>
                <a:ea typeface="Noto Sans KR"/>
                <a:cs typeface="Noto Sans KR"/>
              </a:defRPr>
            </a:pPr>
            <a:r>
              <a:rPr sz="4275" b="1">
                <a:solidFill>
                  <a:srgbClr val="202921"/>
                </a:solidFill>
                <a:latin typeface="Noto Sans KR"/>
                <a:ea typeface="Noto Sans KR"/>
                <a:cs typeface="Noto Sans KR"/>
              </a:rPr>
              <a:t>함께 고치면 됩니다</a:t>
            </a:r>
          </a:p>
        </p:txBody>
      </p:sp>
      <p:sp>
        <p:nvSpPr>
          <p:cNvPr id="4" name="짝은 원문에서 해당 문장 찾기">
            <a:extLst xmlns:a="http://schemas.openxmlformats.org/drawingml/2006/main">
              <a:ext uri="{FF2B5EF4-FFF2-40B4-BE49-F238E27FC236}">
                <a16:creationId xmlns:a16="http://schemas.microsoft.com/office/drawing/2014/main" id="{C370C75F-8672-4734-95DF-CCE883F5F2BB}"/>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짝은 원문에서 해당 문장 찾기</a:t>
            </a:r>
          </a:p>
        </p:txBody>
      </p:sp>
      <p:sp>
        <p:nvSpPr>
          <p:cNvPr id="5" name="나는 답변과 다른 부분 기록">
            <a:extLst xmlns:a="http://schemas.openxmlformats.org/drawingml/2006/main">
              <a:ext uri="{FF2B5EF4-FFF2-40B4-BE49-F238E27FC236}">
                <a16:creationId xmlns:a16="http://schemas.microsoft.com/office/drawing/2014/main" id="{A8357715-6B0C-4961-A204-2BAF75F61271}"/>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나는 답변과 다른 부분 기록</a:t>
            </a:r>
          </a:p>
        </p:txBody>
      </p:sp>
      <p:sp>
        <p:nvSpPr>
          <p:cNvPr id="6" name="">
            <a:extLst xmlns:a="http://schemas.openxmlformats.org/drawingml/2006/main">
              <a:ext uri="{FF2B5EF4-FFF2-40B4-BE49-F238E27FC236}">
                <a16:creationId xmlns:a16="http://schemas.microsoft.com/office/drawing/2014/main" id="{07A058B7-73DE-4511-A7B1-0437F5683177}"/>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7" name="15–17분">
            <a:extLst xmlns:a="http://schemas.openxmlformats.org/drawingml/2006/main">
              <a:ext uri="{FF2B5EF4-FFF2-40B4-BE49-F238E27FC236}">
                <a16:creationId xmlns:a16="http://schemas.microsoft.com/office/drawing/2014/main" id="{957D1160-9B72-4662-9761-8E09F6336CF1}"/>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15–17분</a:t>
            </a:r>
          </a:p>
        </p:txBody>
      </p:sp>
      <p:sp>
        <p:nvSpPr>
          <p:cNvPr id="8" name="웹 실습 열기">
            <a:extLst xmlns:a="http://schemas.openxmlformats.org/drawingml/2006/main">
              <a:ext uri="{FF2B5EF4-FFF2-40B4-BE49-F238E27FC236}">
                <a16:creationId xmlns:a16="http://schemas.microsoft.com/office/drawing/2014/main" id="{A6E4EA96-586E-4467-A49C-2FE7DEF97357}"/>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92e3f97ddf2643e1"/>
              </a:rPr>
              <a:t>웹 실습 열기</a:t>
            </a:r>
          </a:p>
        </p:txBody>
      </p:sp>
      <p:sp>
        <p:nvSpPr>
          <p:cNvPr id="9" name="08">
            <a:extLst xmlns:a="http://schemas.openxmlformats.org/drawingml/2006/main">
              <a:ext uri="{FF2B5EF4-FFF2-40B4-BE49-F238E27FC236}">
                <a16:creationId xmlns:a16="http://schemas.microsoft.com/office/drawing/2014/main" id="{35605A44-740F-4316-B08D-35E4EC8806BF}"/>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08</a:t>
            </a:r>
          </a:p>
        </p:txBody>
      </p:sp>
    </p:spTree>
    <p:extLst>
      <p:ext uri="{BB962C8B-B14F-4D97-AF65-F5344CB8AC3E}">
        <p14:creationId xmlns:p14="http://schemas.microsoft.com/office/powerpoint/2010/main" val="1642874210"/>
      </p:ext>
    </p:extLst>
  </p:cSld>
</p:sld>
</file>

<file path=ppt/slides/slide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8" name="원문 파일과&#10;받을 결과를 적습니다">
            <a:extLst xmlns:a="http://schemas.openxmlformats.org/drawingml/2006/main">
              <a:ext uri="{FF2B5EF4-FFF2-40B4-BE49-F238E27FC236}">
                <a16:creationId xmlns:a16="http://schemas.microsoft.com/office/drawing/2014/main" id="{34A301CD-9DBF-4D7B-BDE1-62A43DCDEBD8}"/>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원문 파일과</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받을 결과를 적습니다</a:t>
            </a:r>
          </a:p>
        </p:txBody>
      </p:sp>
      <p:sp>
        <p:nvSpPr>
          <p:cNvPr id="2" name="37번 합본 TXT 파일 하나">
            <a:extLst xmlns:a="http://schemas.openxmlformats.org/drawingml/2006/main">
              <a:ext uri="{FF2B5EF4-FFF2-40B4-BE49-F238E27FC236}">
                <a16:creationId xmlns:a16="http://schemas.microsoft.com/office/drawing/2014/main" id="{636A07E2-6BA3-42E5-9809-454E063EDAA6}"/>
              </a:ext>
            </a:extLst>
          </p:cNvPr>
          <p:cNvSpPr>
            <a:spLocks xmlns:a="http://schemas.openxmlformats.org/drawingml/2006/main" noGrp="1"/>
          </p:cNvSpPr>
          <p:nvPr/>
        </p:nvSpPr>
        <p:spPr>
          <a:xfrm xmlns:a="http://schemas.openxmlformats.org/drawingml/2006/main">
            <a:off x="638175" y="2876550"/>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37번 합본 TXT 파일 하나</a:t>
            </a:r>
          </a:p>
        </p:txBody>
      </p:sp>
      <p:sp>
        <p:nvSpPr>
          <p:cNvPr id="3" name="처리표 30행과 우선 답장 5개">
            <a:extLst xmlns:a="http://schemas.openxmlformats.org/drawingml/2006/main">
              <a:ext uri="{FF2B5EF4-FFF2-40B4-BE49-F238E27FC236}">
                <a16:creationId xmlns:a16="http://schemas.microsoft.com/office/drawing/2014/main" id="{9D135702-20D1-4AC5-AD01-3DC8D1DE9572}"/>
              </a:ext>
            </a:extLst>
          </p:cNvPr>
          <p:cNvSpPr>
            <a:spLocks xmlns:a="http://schemas.openxmlformats.org/drawingml/2006/main" noGrp="1"/>
          </p:cNvSpPr>
          <p:nvPr/>
        </p:nvSpPr>
        <p:spPr>
          <a:xfrm xmlns:a="http://schemas.openxmlformats.org/drawingml/2006/main">
            <a:off x="638175" y="36671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처리표 30행과 우선 답장 5개</a:t>
            </a:r>
          </a:p>
        </p:txBody>
      </p:sp>
      <p:sp>
        <p:nvSpPr>
          <p:cNvPr id="4" name="확인된 상태와 요청을 구분">
            <a:extLst xmlns:a="http://schemas.openxmlformats.org/drawingml/2006/main">
              <a:ext uri="{FF2B5EF4-FFF2-40B4-BE49-F238E27FC236}">
                <a16:creationId xmlns:a16="http://schemas.microsoft.com/office/drawing/2014/main" id="{E8BF7187-7082-4CD1-94D2-F1842C7F2EA6}"/>
              </a:ext>
            </a:extLst>
          </p:cNvPr>
          <p:cNvSpPr>
            <a:spLocks xmlns:a="http://schemas.openxmlformats.org/drawingml/2006/main" noGrp="1"/>
          </p:cNvSpPr>
          <p:nvPr/>
        </p:nvSpPr>
        <p:spPr>
          <a:xfrm xmlns:a="http://schemas.openxmlformats.org/drawingml/2006/main">
            <a:off x="638175" y="4457700"/>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확인된 상태와 요청을 구분</a:t>
            </a:r>
          </a:p>
        </p:txBody>
      </p:sp>
      <p:sp>
        <p:nvSpPr>
          <p:cNvPr id="5" name="17–20분">
            <a:extLst xmlns:a="http://schemas.openxmlformats.org/drawingml/2006/main">
              <a:ext uri="{FF2B5EF4-FFF2-40B4-BE49-F238E27FC236}">
                <a16:creationId xmlns:a16="http://schemas.microsoft.com/office/drawing/2014/main" id="{C7CEF097-AB84-401C-B19A-2F1F9AEA0BD5}"/>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17–20분</a:t>
            </a:r>
          </a:p>
        </p:txBody>
      </p:sp>
      <p:sp>
        <p:nvSpPr>
          <p:cNvPr id="6" name="웹 실습 열기">
            <a:extLst xmlns:a="http://schemas.openxmlformats.org/drawingml/2006/main">
              <a:ext uri="{FF2B5EF4-FFF2-40B4-BE49-F238E27FC236}">
                <a16:creationId xmlns:a16="http://schemas.microsoft.com/office/drawing/2014/main" id="{5C553F7A-7919-4C7B-846A-BF1A3BF03008}"/>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20c41a208a294fde"/>
              </a:rPr>
              <a:t>웹 실습 열기</a:t>
            </a:r>
          </a:p>
        </p:txBody>
      </p:sp>
      <p:sp>
        <p:nvSpPr>
          <p:cNvPr id="7" name="09">
            <a:extLst xmlns:a="http://schemas.openxmlformats.org/drawingml/2006/main">
              <a:ext uri="{FF2B5EF4-FFF2-40B4-BE49-F238E27FC236}">
                <a16:creationId xmlns:a16="http://schemas.microsoft.com/office/drawing/2014/main" id="{E4F5D8D1-6CA7-4DC8-8F16-30925BED15AF}"/>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09</a:t>
            </a:r>
          </a:p>
        </p:txBody>
      </p:sp>
    </p:spTree>
    <p:extLst>
      <p:ext uri="{BB962C8B-B14F-4D97-AF65-F5344CB8AC3E}">
        <p14:creationId xmlns:p14="http://schemas.microsoft.com/office/powerpoint/2010/main" val="2135183210"/>
      </p:ext>
    </p:extLst>
  </p:cSld>
</p:sld>
</file>

<file path=ppt/slides/slide1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1" name="직접 해볼 시간">
            <a:extLst xmlns:a="http://schemas.openxmlformats.org/drawingml/2006/main">
              <a:ext uri="{FF2B5EF4-FFF2-40B4-BE49-F238E27FC236}">
                <a16:creationId xmlns:a16="http://schemas.microsoft.com/office/drawing/2014/main" id="{BAA98520-DDED-493E-A622-5EBE9A2CF71B}"/>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586356"/>
                </a:solidFill>
                <a:latin typeface="Noto Sans KR"/>
                <a:ea typeface="Noto Sans KR"/>
                <a:cs typeface="Noto Sans KR"/>
              </a:defRPr>
            </a:pPr>
            <a:r>
              <a:rPr sz="1875" b="1">
                <a:solidFill>
                  <a:srgbClr val="586356"/>
                </a:solidFill>
                <a:latin typeface="Noto Sans KR"/>
                <a:ea typeface="Noto Sans KR"/>
                <a:cs typeface="Noto Sans KR"/>
              </a:rPr>
              <a:t>직접 해볼 시간</a:t>
            </a:r>
          </a:p>
        </p:txBody>
      </p:sp>
      <p:sp>
        <p:nvSpPr>
          <p:cNvPr id="2" name="3분">
            <a:extLst xmlns:a="http://schemas.openxmlformats.org/drawingml/2006/main">
              <a:ext uri="{FF2B5EF4-FFF2-40B4-BE49-F238E27FC236}">
                <a16:creationId xmlns:a16="http://schemas.microsoft.com/office/drawing/2014/main" id="{EB0AA66A-8353-4CA3-AAF4-E5518414B347}"/>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3분</a:t>
            </a:r>
          </a:p>
        </p:txBody>
      </p:sp>
      <p:sp>
        <p:nvSpPr>
          <p:cNvPr id="3" name="Q01 · Q04 · Q12&#10;직접 적어 봅니다">
            <a:extLst xmlns:a="http://schemas.openxmlformats.org/drawingml/2006/main">
              <a:ext uri="{FF2B5EF4-FFF2-40B4-BE49-F238E27FC236}">
                <a16:creationId xmlns:a16="http://schemas.microsoft.com/office/drawing/2014/main" id="{BE3B7260-34DE-483F-97E4-F550CBC0E616}"/>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202921"/>
                </a:solidFill>
                <a:latin typeface="Noto Sans KR"/>
                <a:ea typeface="Noto Sans KR"/>
                <a:cs typeface="Noto Sans KR"/>
              </a:defRPr>
            </a:pPr>
            <a:r>
              <a:rPr sz="4275" b="1">
                <a:solidFill>
                  <a:srgbClr val="202921"/>
                </a:solidFill>
                <a:latin typeface="Noto Sans KR"/>
                <a:ea typeface="Noto Sans KR"/>
                <a:cs typeface="Noto Sans KR"/>
              </a:rPr>
              <a:t>Q01 · Q04 · Q12</a:t>
            </a:r>
          </a:p>
          <a:p xmlns:a="http://schemas.openxmlformats.org/drawingml/2006/main">
            <a:pPr algn="l">
              <a:lnSpc>
                <a:spcPct val="112000"/>
              </a:lnSpc>
              <a:buNone/>
              <a:defRPr sz="4275" b="1">
                <a:solidFill>
                  <a:srgbClr val="202921"/>
                </a:solidFill>
                <a:latin typeface="Noto Sans KR"/>
                <a:ea typeface="Noto Sans KR"/>
                <a:cs typeface="Noto Sans KR"/>
              </a:defRPr>
            </a:pPr>
            <a:r>
              <a:rPr sz="4275" b="1">
                <a:solidFill>
                  <a:srgbClr val="202921"/>
                </a:solidFill>
                <a:latin typeface="Noto Sans KR"/>
                <a:ea typeface="Noto Sans KR"/>
                <a:cs typeface="Noto Sans KR"/>
              </a:rPr>
              <a:t>직접 적어 봅니다</a:t>
            </a:r>
          </a:p>
        </p:txBody>
      </p:sp>
      <p:sp>
        <p:nvSpPr>
          <p:cNvPr id="4" name="마지막 요청과 현재 상태 구분">
            <a:extLst xmlns:a="http://schemas.openxmlformats.org/drawingml/2006/main">
              <a:ext uri="{FF2B5EF4-FFF2-40B4-BE49-F238E27FC236}">
                <a16:creationId xmlns:a16="http://schemas.microsoft.com/office/drawing/2014/main" id="{C07C920C-8126-454A-94E0-8588D38B5FCB}"/>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마지막 요청과 현재 상태 구분</a:t>
            </a:r>
          </a:p>
        </p:txBody>
      </p:sp>
      <p:sp>
        <p:nvSpPr>
          <p:cNvPr id="5" name="안내 문장·추가 확인·원문 ID 기록">
            <a:extLst xmlns:a="http://schemas.openxmlformats.org/drawingml/2006/main">
              <a:ext uri="{FF2B5EF4-FFF2-40B4-BE49-F238E27FC236}">
                <a16:creationId xmlns:a16="http://schemas.microsoft.com/office/drawing/2014/main" id="{AF826030-71C6-4850-B1A4-27A362E2C3DF}"/>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안내 문장·추가 확인·원문 ID 기록</a:t>
            </a:r>
          </a:p>
        </p:txBody>
      </p:sp>
      <p:sp>
        <p:nvSpPr>
          <p:cNvPr id="6" name="빈칸도 그대로 저장">
            <a:extLst xmlns:a="http://schemas.openxmlformats.org/drawingml/2006/main">
              <a:ext uri="{FF2B5EF4-FFF2-40B4-BE49-F238E27FC236}">
                <a16:creationId xmlns:a16="http://schemas.microsoft.com/office/drawing/2014/main" id="{8552E46E-8161-4E55-B249-727F0D5D9217}"/>
              </a:ext>
            </a:extLst>
          </p:cNvPr>
          <p:cNvSpPr>
            <a:spLocks xmlns:a="http://schemas.openxmlformats.org/drawingml/2006/main" noGrp="1"/>
          </p:cNvSpPr>
          <p:nvPr/>
        </p:nvSpPr>
        <p:spPr>
          <a:xfrm xmlns:a="http://schemas.openxmlformats.org/drawingml/2006/main">
            <a:off x="4019550" y="4733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빈칸도 그대로 저장</a:t>
            </a:r>
          </a:p>
        </p:txBody>
      </p:sp>
      <p:sp>
        <p:nvSpPr>
          <p:cNvPr id="7" name="같은 여섯 열의 처리표 3행">
            <a:extLst xmlns:a="http://schemas.openxmlformats.org/drawingml/2006/main">
              <a:ext uri="{FF2B5EF4-FFF2-40B4-BE49-F238E27FC236}">
                <a16:creationId xmlns:a16="http://schemas.microsoft.com/office/drawing/2014/main" id="{03DC36DD-622F-46ED-B010-24EEB4E1CD48}"/>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586356"/>
                </a:solidFill>
                <a:latin typeface="Noto Sans KR"/>
                <a:ea typeface="Noto Sans KR"/>
                <a:cs typeface="Noto Sans KR"/>
              </a:defRPr>
            </a:pPr>
            <a:r>
              <a:rPr sz="2325" b="1">
                <a:solidFill>
                  <a:srgbClr val="586356"/>
                </a:solidFill>
                <a:latin typeface="Noto Sans KR"/>
                <a:ea typeface="Noto Sans KR"/>
                <a:cs typeface="Noto Sans KR"/>
              </a:rPr>
              <a:t>같은 여섯 열의 처리표 3행</a:t>
            </a:r>
          </a:p>
        </p:txBody>
      </p:sp>
      <p:sp>
        <p:nvSpPr>
          <p:cNvPr id="8" name="20–23분">
            <a:extLst xmlns:a="http://schemas.openxmlformats.org/drawingml/2006/main">
              <a:ext uri="{FF2B5EF4-FFF2-40B4-BE49-F238E27FC236}">
                <a16:creationId xmlns:a16="http://schemas.microsoft.com/office/drawing/2014/main" id="{EA0DB084-7821-4737-95D9-AE1205A5173D}"/>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20–23분</a:t>
            </a:r>
          </a:p>
        </p:txBody>
      </p:sp>
      <p:sp>
        <p:nvSpPr>
          <p:cNvPr id="9" name="웹 실습 열기">
            <a:extLst xmlns:a="http://schemas.openxmlformats.org/drawingml/2006/main">
              <a:ext uri="{FF2B5EF4-FFF2-40B4-BE49-F238E27FC236}">
                <a16:creationId xmlns:a16="http://schemas.microsoft.com/office/drawing/2014/main" id="{6F19EDDE-D221-4FC2-AF5F-0FB932903190}"/>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17b15f21c14a4499"/>
              </a:rPr>
              <a:t>웹 실습 열기</a:t>
            </a:r>
          </a:p>
        </p:txBody>
      </p:sp>
      <p:sp>
        <p:nvSpPr>
          <p:cNvPr id="10" name="10">
            <a:extLst xmlns:a="http://schemas.openxmlformats.org/drawingml/2006/main">
              <a:ext uri="{FF2B5EF4-FFF2-40B4-BE49-F238E27FC236}">
                <a16:creationId xmlns:a16="http://schemas.microsoft.com/office/drawing/2014/main" id="{F41DF3F9-1A5C-45F2-AB50-C9194BA9A766}"/>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10</a:t>
            </a:r>
          </a:p>
        </p:txBody>
      </p:sp>
    </p:spTree>
    <p:extLst>
      <p:ext uri="{BB962C8B-B14F-4D97-AF65-F5344CB8AC3E}">
        <p14:creationId xmlns:p14="http://schemas.microsoft.com/office/powerpoint/2010/main" val="1432480662"/>
      </p:ext>
    </p:extLst>
  </p:cSld>
</p:sld>
</file>

<file path=ppt/slides/slide1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메일 60개를&#10;문의 30건으로">
            <a:extLst xmlns:a="http://schemas.openxmlformats.org/drawingml/2006/main">
              <a:ext uri="{FF2B5EF4-FFF2-40B4-BE49-F238E27FC236}">
                <a16:creationId xmlns:a16="http://schemas.microsoft.com/office/drawing/2014/main" id="{36F74D4F-3982-49D2-A6F8-78ADA0DD2471}"/>
              </a:ext>
            </a:extLst>
          </p:cNvPr>
          <p:cNvSpPr>
            <a:spLocks xmlns:a="http://schemas.openxmlformats.org/drawingml/2006/main" noGrp="1"/>
          </p:cNvSpPr>
          <p:nvPr/>
        </p:nvSpPr>
        <p:spPr>
          <a:xfrm xmlns:a="http://schemas.openxmlformats.org/drawingml/2006/main">
            <a:off x="609600" y="600075"/>
            <a:ext cx="1095375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75" b="1">
                <a:solidFill>
                  <a:srgbClr val="202921"/>
                </a:solidFill>
                <a:latin typeface="Noto Sans KR"/>
                <a:ea typeface="Noto Sans KR"/>
                <a:cs typeface="Noto Sans KR"/>
              </a:defRPr>
            </a:pPr>
            <a:r>
              <a:rPr sz="4875" b="1">
                <a:solidFill>
                  <a:srgbClr val="202921"/>
                </a:solidFill>
                <a:latin typeface="Noto Sans KR"/>
                <a:ea typeface="Noto Sans KR"/>
                <a:cs typeface="Noto Sans KR"/>
              </a:rPr>
              <a:t>메일 60개를</a:t>
            </a:r>
          </a:p>
          <a:p xmlns:a="http://schemas.openxmlformats.org/drawingml/2006/main">
            <a:pPr algn="l">
              <a:lnSpc>
                <a:spcPct val="112000"/>
              </a:lnSpc>
              <a:buNone/>
              <a:defRPr sz="4875" b="1">
                <a:solidFill>
                  <a:srgbClr val="202921"/>
                </a:solidFill>
                <a:latin typeface="Noto Sans KR"/>
                <a:ea typeface="Noto Sans KR"/>
                <a:cs typeface="Noto Sans KR"/>
              </a:defRPr>
            </a:pPr>
            <a:r>
              <a:rPr sz="4875" b="1">
                <a:solidFill>
                  <a:srgbClr val="202921"/>
                </a:solidFill>
                <a:latin typeface="Noto Sans KR"/>
                <a:ea typeface="Noto Sans KR"/>
                <a:cs typeface="Noto Sans KR"/>
              </a:rPr>
              <a:t>문의 30건으로</a:t>
            </a:r>
          </a:p>
        </p:txBody>
      </p:sp>
      <p:graphicFrame>
        <p:nvGraphicFramePr>
          <p:cNvPr id="7" name=""/>
          <p:cNvGraphicFramePr/>
          <p:nvPr/>
        </p:nvGraphicFramePr>
        <p:xfrm>
          <a:off xmlns:a="http://schemas.openxmlformats.org/drawingml/2006/main" x="619125" y="2876550"/>
          <a:ext xmlns:a="http://schemas.openxmlformats.org/drawingml/2006/main" cx="10953750" cy="2781300"/>
        </p:xfrm>
        <a:graphic xmlns:a="http://schemas.openxmlformats.org/drawingml/2006/main">
          <a:graphicData uri="http://schemas.openxmlformats.org/drawingml/2006/table">
            <a:tbl>
              <a:tblPr firstRow="1" bandRow="0"/>
              <a:tblGrid>
                <a:gridCol w="5476875"/>
                <a:gridCol w="5476875"/>
              </a:tblGrid>
              <a:tr h="695325">
                <a:tc>
                  <a:txBody>
                    <a:bodyPr lIns="152400" tIns="85725" rIns="133350" bIns="76200">
                      <a:noAutofit/>
                    </a:bodyPr>
                    <a:lstStyle/>
                    <a:p>
                      <a:pPr algn="l"/>
                      <a:r>
                        <a:rPr sz="2250" b="1">
                          <a:solidFill>
                            <a:srgbClr val="F4F1E9"/>
                          </a:solidFill>
                          <a:latin typeface="Noto Sans KR"/>
                          <a:ea typeface="Noto Sans KR"/>
                          <a:cs typeface="Noto Sans KR"/>
                        </a:rPr>
                        <a:t>받을 초안</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개수</a:t>
                      </a:r>
                    </a:p>
                  </a:txBody>
                  <a:tcPr marL="91440" marR="91440" marT="45720" marB="45720" anchor="ctr">
                    <a:solidFill>
                      <a:srgbClr val="202921"/>
                    </a:solidFill>
                  </a:tcPr>
                </a:tc>
              </a:tr>
              <a:tr h="695325">
                <a:tc>
                  <a:txBody>
                    <a:bodyPr lIns="152400" tIns="85725" rIns="133350" bIns="76200">
                      <a:noAutofit/>
                    </a:bodyPr>
                    <a:lstStyle/>
                    <a:p>
                      <a:pPr algn="l"/>
                      <a:r>
                        <a:rPr sz="2250" b="0">
                          <a:solidFill>
                            <a:srgbClr val="202921"/>
                          </a:solidFill>
                          <a:latin typeface="Noto Sans KR"/>
                          <a:ea typeface="Noto Sans KR"/>
                          <a:cs typeface="Noto Sans KR"/>
                        </a:rPr>
                        <a:t>문의 처리표</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30행</a:t>
                      </a:r>
                    </a:p>
                  </a:txBody>
                  <a:tcPr marL="91440" marR="91440" marT="45720" marB="45720" anchor="ctr">
                    <a:solidFill>
                      <a:srgbClr val="F4F1E9"/>
                    </a:solidFill>
                  </a:tcPr>
                </a:tc>
              </a:tr>
              <a:tr h="695325">
                <a:tc>
                  <a:txBody>
                    <a:bodyPr lIns="152400" tIns="85725" rIns="133350" bIns="76200">
                      <a:noAutofit/>
                    </a:bodyPr>
                    <a:lstStyle/>
                    <a:p>
                      <a:pPr algn="l"/>
                      <a:r>
                        <a:rPr sz="2250" b="0">
                          <a:solidFill>
                            <a:srgbClr val="202921"/>
                          </a:solidFill>
                          <a:latin typeface="Noto Sans KR"/>
                          <a:ea typeface="Noto Sans KR"/>
                          <a:cs typeface="Noto Sans KR"/>
                        </a:rPr>
                        <a:t>우선 답장</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5개</a:t>
                      </a:r>
                    </a:p>
                  </a:txBody>
                  <a:tcPr marL="91440" marR="91440" marT="45720" marB="45720" anchor="ctr">
                    <a:solidFill>
                      <a:srgbClr val="F4F1E9"/>
                    </a:solidFill>
                  </a:tcPr>
                </a:tc>
              </a:tr>
              <a:tr h="695325">
                <a:tc>
                  <a:txBody>
                    <a:bodyPr lIns="152400" tIns="85725" rIns="133350" bIns="76200">
                      <a:noAutofit/>
                    </a:bodyPr>
                    <a:lstStyle/>
                    <a:p>
                      <a:pPr algn="l"/>
                      <a:r>
                        <a:rPr sz="2250" b="0">
                          <a:solidFill>
                            <a:srgbClr val="202921"/>
                          </a:solidFill>
                          <a:latin typeface="Noto Sans KR"/>
                          <a:ea typeface="Noto Sans KR"/>
                          <a:cs typeface="Noto Sans KR"/>
                        </a:rPr>
                        <a:t>구공지 수정</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3행</a:t>
                      </a:r>
                    </a:p>
                  </a:txBody>
                  <a:tcPr marL="91440" marR="91440" marT="45720" marB="45720" anchor="ctr">
                    <a:solidFill>
                      <a:srgbClr val="F4F1E9"/>
                    </a:solidFill>
                  </a:tcPr>
                </a:tc>
              </a:tr>
            </a:tbl>
          </a:graphicData>
        </a:graphic>
      </p:graphicFrame>
      <p:sp>
        <p:nvSpPr>
          <p:cNvPr id="3" name="23–24분">
            <a:extLst xmlns:a="http://schemas.openxmlformats.org/drawingml/2006/main">
              <a:ext uri="{FF2B5EF4-FFF2-40B4-BE49-F238E27FC236}">
                <a16:creationId xmlns:a16="http://schemas.microsoft.com/office/drawing/2014/main" id="{3A0F898C-7EF5-460B-A1F8-A940B4CF64FE}"/>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23–24분</a:t>
            </a:r>
          </a:p>
        </p:txBody>
      </p:sp>
      <p:sp>
        <p:nvSpPr>
          <p:cNvPr id="4" name="웹 실습 열기">
            <a:extLst xmlns:a="http://schemas.openxmlformats.org/drawingml/2006/main">
              <a:ext uri="{FF2B5EF4-FFF2-40B4-BE49-F238E27FC236}">
                <a16:creationId xmlns:a16="http://schemas.microsoft.com/office/drawing/2014/main" id="{4CAEEAED-4D2B-42B6-A2A0-19385E4A198C}"/>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de64a4f6a4fb4cca"/>
              </a:rPr>
              <a:t>웹 실습 열기</a:t>
            </a:r>
          </a:p>
        </p:txBody>
      </p:sp>
      <p:sp>
        <p:nvSpPr>
          <p:cNvPr id="5" name="11">
            <a:extLst xmlns:a="http://schemas.openxmlformats.org/drawingml/2006/main">
              <a:ext uri="{FF2B5EF4-FFF2-40B4-BE49-F238E27FC236}">
                <a16:creationId xmlns:a16="http://schemas.microsoft.com/office/drawing/2014/main" id="{468CA9CF-8334-4507-9FE8-DFF1D297BF3E}"/>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11</a:t>
            </a:r>
          </a:p>
        </p:txBody>
      </p:sp>
    </p:spTree>
    <p:extLst>
      <p:ext uri="{BB962C8B-B14F-4D97-AF65-F5344CB8AC3E}">
        <p14:creationId xmlns:p14="http://schemas.microsoft.com/office/powerpoint/2010/main" val="553446677"/>
      </p:ext>
    </p:extLst>
  </p:cSld>
</p:sld>
</file>

<file path=ppt/slides/slide1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37번 파일 하나를 첨부합니다">
            <a:extLst xmlns:a="http://schemas.openxmlformats.org/drawingml/2006/main">
              <a:ext uri="{FF2B5EF4-FFF2-40B4-BE49-F238E27FC236}">
                <a16:creationId xmlns:a16="http://schemas.microsoft.com/office/drawing/2014/main" id="{23A82E68-897E-4498-918D-24272B44E042}"/>
              </a:ext>
            </a:extLst>
          </p:cNvPr>
          <p:cNvSpPr>
            <a:spLocks xmlns:a="http://schemas.openxmlformats.org/drawingml/2006/main" noGrp="1"/>
          </p:cNvSpPr>
          <p:nvPr/>
        </p:nvSpPr>
        <p:spPr>
          <a:xfrm xmlns:a="http://schemas.openxmlformats.org/drawingml/2006/main">
            <a:off x="590550" y="333375"/>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75" b="1">
                <a:solidFill>
                  <a:srgbClr val="202921"/>
                </a:solidFill>
                <a:latin typeface="Noto Sans KR"/>
                <a:ea typeface="Noto Sans KR"/>
                <a:cs typeface="Noto Sans KR"/>
              </a:defRPr>
            </a:pPr>
            <a:r>
              <a:rPr sz="3675" b="1">
                <a:solidFill>
                  <a:srgbClr val="202921"/>
                </a:solidFill>
                <a:latin typeface="Noto Sans KR"/>
                <a:ea typeface="Noto Sans KR"/>
                <a:cs typeface="Noto Sans KR"/>
              </a:rPr>
              <a:t>37번 파일 하나를 첨부합니다</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deddc3f509f4900"/>
          <a:srcRect xmlns:a="http://schemas.openxmlformats.org/drawingml/2006/main" l="25500" t="22500" r="20500" b="22500"/>
          <a:stretch xmlns:a="http://schemas.openxmlformats.org/drawingml/2006/main"/>
        </p:blipFill>
        <p:spPr>
          <a:xfrm xmlns:a="http://schemas.openxmlformats.org/drawingml/2006/main">
            <a:off x="2471651" y="1285875"/>
            <a:ext cx="7248698" cy="4152900"/>
          </a:xfrm>
          <a:prstGeom xmlns:a="http://schemas.openxmlformats.org/drawingml/2006/main" prst="rect">
            <a:avLst/>
          </a:prstGeom>
        </p:spPr>
      </p:pic>
      <p:sp>
        <p:nvSpPr>
          <p:cNvPr id="3" name="실제 Gemini 입력 화면 · 2026-09-28">
            <a:extLst xmlns:a="http://schemas.openxmlformats.org/drawingml/2006/main">
              <a:ext uri="{FF2B5EF4-FFF2-40B4-BE49-F238E27FC236}">
                <a16:creationId xmlns:a16="http://schemas.microsoft.com/office/drawing/2014/main" id="{4ADB4B16-82AC-42E4-9542-285A19B36E36}"/>
              </a:ext>
            </a:extLst>
          </p:cNvPr>
          <p:cNvSpPr>
            <a:spLocks xmlns:a="http://schemas.openxmlformats.org/drawingml/2006/main" noGrp="1"/>
          </p:cNvSpPr>
          <p:nvPr/>
        </p:nvSpPr>
        <p:spPr>
          <a:xfrm xmlns:a="http://schemas.openxmlformats.org/drawingml/2006/main">
            <a:off x="619125" y="57626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86356"/>
                </a:solidFill>
                <a:latin typeface="Noto Sans KR"/>
                <a:ea typeface="Noto Sans KR"/>
                <a:cs typeface="Noto Sans KR"/>
              </a:defRPr>
            </a:pPr>
            <a:r>
              <a:rPr sz="1725" b="0">
                <a:solidFill>
                  <a:srgbClr val="586356"/>
                </a:solidFill>
                <a:latin typeface="Noto Sans KR"/>
                <a:ea typeface="Noto Sans KR"/>
                <a:cs typeface="Noto Sans KR"/>
              </a:rPr>
              <a:t>실제 Gemini 입력 화면 · 2026-09-28</a:t>
            </a:r>
          </a:p>
        </p:txBody>
      </p:sp>
      <p:sp>
        <p:nvSpPr>
          <p:cNvPr id="4" name="24–26분">
            <a:extLst xmlns:a="http://schemas.openxmlformats.org/drawingml/2006/main">
              <a:ext uri="{FF2B5EF4-FFF2-40B4-BE49-F238E27FC236}">
                <a16:creationId xmlns:a16="http://schemas.microsoft.com/office/drawing/2014/main" id="{ADE08200-676C-4D16-87EC-7C5E4D4ED89C}"/>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24–26분</a:t>
            </a:r>
          </a:p>
        </p:txBody>
      </p:sp>
      <p:sp>
        <p:nvSpPr>
          <p:cNvPr id="5" name="웹 실습 열기">
            <a:extLst xmlns:a="http://schemas.openxmlformats.org/drawingml/2006/main">
              <a:ext uri="{FF2B5EF4-FFF2-40B4-BE49-F238E27FC236}">
                <a16:creationId xmlns:a16="http://schemas.microsoft.com/office/drawing/2014/main" id="{9BBA6D1A-B6B6-47C4-9EBC-DFE17318FEE0}"/>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6d1febeb5d71414a"/>
              </a:rPr>
              <a:t>웹 실습 열기</a:t>
            </a:r>
          </a:p>
        </p:txBody>
      </p:sp>
      <p:sp>
        <p:nvSpPr>
          <p:cNvPr id="6" name="12">
            <a:extLst xmlns:a="http://schemas.openxmlformats.org/drawingml/2006/main">
              <a:ext uri="{FF2B5EF4-FFF2-40B4-BE49-F238E27FC236}">
                <a16:creationId xmlns:a16="http://schemas.microsoft.com/office/drawing/2014/main" id="{C5D8B885-3664-4094-861F-1F5B6AA93641}"/>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12</a:t>
            </a:r>
          </a:p>
        </p:txBody>
      </p:sp>
    </p:spTree>
    <p:extLst>
      <p:ext uri="{BB962C8B-B14F-4D97-AF65-F5344CB8AC3E}">
        <p14:creationId xmlns:p14="http://schemas.microsoft.com/office/powerpoint/2010/main" val="200483580"/>
      </p:ext>
    </p:extLst>
  </p:cSld>
</p:sld>
</file>

<file path=ppt/slides/slide13.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12" name="직접 해볼 시간">
            <a:extLst xmlns:a="http://schemas.openxmlformats.org/drawingml/2006/main">
              <a:ext uri="{FF2B5EF4-FFF2-40B4-BE49-F238E27FC236}">
                <a16:creationId xmlns:a16="http://schemas.microsoft.com/office/drawing/2014/main" id="{F7915AB3-74F8-4E32-9DCE-55FC53602C9B}"/>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직접 해볼 시간</a:t>
            </a:r>
          </a:p>
        </p:txBody>
      </p:sp>
      <p:sp>
        <p:nvSpPr>
          <p:cNvPr id="2" name="2분">
            <a:extLst xmlns:a="http://schemas.openxmlformats.org/drawingml/2006/main">
              <a:ext uri="{FF2B5EF4-FFF2-40B4-BE49-F238E27FC236}">
                <a16:creationId xmlns:a16="http://schemas.microsoft.com/office/drawing/2014/main" id="{66E659A4-9BA8-414C-9CCE-24D00C88FA78}"/>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2분</a:t>
            </a:r>
          </a:p>
        </p:txBody>
      </p:sp>
      <p:sp>
        <p:nvSpPr>
          <p:cNvPr id="3" name="멈춘 지점도&#10;그대로 남깁니다">
            <a:extLst xmlns:a="http://schemas.openxmlformats.org/drawingml/2006/main">
              <a:ext uri="{FF2B5EF4-FFF2-40B4-BE49-F238E27FC236}">
                <a16:creationId xmlns:a16="http://schemas.microsoft.com/office/drawing/2014/main" id="{C1EE98A4-EAA3-4BED-84E9-084F4051C0D4}"/>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멈춘 지점도</a:t>
            </a:r>
          </a:p>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그대로 남깁니다</a:t>
            </a:r>
          </a:p>
        </p:txBody>
      </p:sp>
      <p:sp>
        <p:nvSpPr>
          <p:cNvPr id="4" name="문의 ID의 중복·누락 확인">
            <a:extLst xmlns:a="http://schemas.openxmlformats.org/drawingml/2006/main">
              <a:ext uri="{FF2B5EF4-FFF2-40B4-BE49-F238E27FC236}">
                <a16:creationId xmlns:a16="http://schemas.microsoft.com/office/drawing/2014/main" id="{E925AC6C-ACC1-4BFA-9091-D6825383C945}"/>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문의 ID의 중복·누락 확인</a:t>
            </a:r>
          </a:p>
        </p:txBody>
      </p:sp>
      <p:sp>
        <p:nvSpPr>
          <p:cNvPr id="5" name="5분 안에 실패하면 교사 예시로 전환">
            <a:extLst xmlns:a="http://schemas.openxmlformats.org/drawingml/2006/main">
              <a:ext uri="{FF2B5EF4-FFF2-40B4-BE49-F238E27FC236}">
                <a16:creationId xmlns:a16="http://schemas.microsoft.com/office/drawing/2014/main" id="{6B6ED96F-D333-4453-B929-11E66478AE35}"/>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5분 안에 실패하면 교사 예시로 전환</a:t>
            </a:r>
          </a:p>
        </p:txBody>
      </p:sp>
      <p:sp>
        <p:nvSpPr>
          <p:cNvPr id="6" name="Q01·Q04·Q12 세 행 검토 계속">
            <a:extLst xmlns:a="http://schemas.openxmlformats.org/drawingml/2006/main">
              <a:ext uri="{FF2B5EF4-FFF2-40B4-BE49-F238E27FC236}">
                <a16:creationId xmlns:a16="http://schemas.microsoft.com/office/drawing/2014/main" id="{482BB92F-7ECF-45B9-ACDB-043B5394205D}"/>
              </a:ext>
            </a:extLst>
          </p:cNvPr>
          <p:cNvSpPr>
            <a:spLocks xmlns:a="http://schemas.openxmlformats.org/drawingml/2006/main" noGrp="1"/>
          </p:cNvSpPr>
          <p:nvPr/>
        </p:nvSpPr>
        <p:spPr>
          <a:xfrm xmlns:a="http://schemas.openxmlformats.org/drawingml/2006/main">
            <a:off x="4019550" y="4733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Q01·Q04·Q12 세 행 검토 계속</a:t>
            </a:r>
          </a:p>
        </p:txBody>
      </p:sp>
      <p:sp>
        <p:nvSpPr>
          <p:cNvPr id="7" name="받은 응답 또는 실패 기록">
            <a:extLst xmlns:a="http://schemas.openxmlformats.org/drawingml/2006/main">
              <a:ext uri="{FF2B5EF4-FFF2-40B4-BE49-F238E27FC236}">
                <a16:creationId xmlns:a16="http://schemas.microsoft.com/office/drawing/2014/main" id="{5D583442-E1EC-4D02-A4B5-3BD2ABC60DE0}"/>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EBB597"/>
                </a:solidFill>
                <a:latin typeface="Noto Sans KR"/>
                <a:ea typeface="Noto Sans KR"/>
                <a:cs typeface="Noto Sans KR"/>
              </a:defRPr>
            </a:pPr>
            <a:r>
              <a:rPr sz="2325" b="1">
                <a:solidFill>
                  <a:srgbClr val="EBB597"/>
                </a:solidFill>
                <a:latin typeface="Noto Sans KR"/>
                <a:ea typeface="Noto Sans KR"/>
                <a:cs typeface="Noto Sans KR"/>
              </a:rPr>
              <a:t>받은 응답 또는 실패 기록</a:t>
            </a:r>
          </a:p>
        </p:txBody>
      </p:sp>
      <p:sp>
        <p:nvSpPr>
          <p:cNvPr id="8" name="26–28분">
            <a:extLst xmlns:a="http://schemas.openxmlformats.org/drawingml/2006/main">
              <a:ext uri="{FF2B5EF4-FFF2-40B4-BE49-F238E27FC236}">
                <a16:creationId xmlns:a16="http://schemas.microsoft.com/office/drawing/2014/main" id="{52F4DCA8-9A8C-4EE4-933C-E7E39ACF80C8}"/>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26–28분</a:t>
            </a:r>
          </a:p>
        </p:txBody>
      </p:sp>
      <p:sp>
        <p:nvSpPr>
          <p:cNvPr id="9" name="웹 실습 열기">
            <a:extLst xmlns:a="http://schemas.openxmlformats.org/drawingml/2006/main">
              <a:ext uri="{FF2B5EF4-FFF2-40B4-BE49-F238E27FC236}">
                <a16:creationId xmlns:a16="http://schemas.microsoft.com/office/drawing/2014/main" id="{32CACE62-715D-4CA2-B922-AB852145D34E}"/>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cfd9f09c9384448c"/>
              </a:rPr>
              <a:t>웹 실습 열기</a:t>
            </a:r>
          </a:p>
        </p:txBody>
      </p:sp>
      <p:sp>
        <p:nvSpPr>
          <p:cNvPr id="10" name="13">
            <a:extLst xmlns:a="http://schemas.openxmlformats.org/drawingml/2006/main">
              <a:ext uri="{FF2B5EF4-FFF2-40B4-BE49-F238E27FC236}">
                <a16:creationId xmlns:a16="http://schemas.microsoft.com/office/drawing/2014/main" id="{4B3D5F52-9463-40D8-96EE-9565A907B50E}"/>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13</a:t>
            </a:r>
          </a:p>
        </p:txBody>
      </p:sp>
      <p:sp>
        <p:nvSpPr>
          <p:cNvPr id="11" name="실제 시험: 30행 생성 미완료 · 교사 예시는 AI 출력과 다">
            <a:extLst xmlns:a="http://schemas.openxmlformats.org/drawingml/2006/main">
              <a:ext uri="{FF2B5EF4-FFF2-40B4-BE49-F238E27FC236}">
                <a16:creationId xmlns:a16="http://schemas.microsoft.com/office/drawing/2014/main" id="{163751EB-8FA7-44C2-9353-3AA845A18D75}"/>
              </a:ext>
            </a:extLst>
          </p:cNvPr>
          <p:cNvSpPr>
            <a:spLocks xmlns:a="http://schemas.openxmlformats.org/drawingml/2006/main" noGrp="1"/>
          </p:cNvSpPr>
          <p:nvPr/>
        </p:nvSpPr>
        <p:spPr>
          <a:xfrm xmlns:a="http://schemas.openxmlformats.org/drawingml/2006/main">
            <a:off x="638175" y="60674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C1C9BE"/>
                </a:solidFill>
                <a:latin typeface="Noto Sans KR"/>
                <a:ea typeface="Noto Sans KR"/>
                <a:cs typeface="Noto Sans KR"/>
              </a:defRPr>
            </a:pPr>
            <a:r>
              <a:rPr sz="1575" b="0">
                <a:solidFill>
                  <a:srgbClr val="C1C9BE"/>
                </a:solidFill>
                <a:latin typeface="Noto Sans KR"/>
                <a:ea typeface="Noto Sans KR"/>
                <a:cs typeface="Noto Sans KR"/>
              </a:rPr>
              <a:t>실제 시험: 30행 생성 미완료 · 교사 예시는 AI 출력과 다릅니다.</a:t>
            </a:r>
          </a:p>
        </p:txBody>
      </p:sp>
    </p:spTree>
    <p:extLst>
      <p:ext uri="{BB962C8B-B14F-4D97-AF65-F5344CB8AC3E}">
        <p14:creationId xmlns:p14="http://schemas.microsoft.com/office/powerpoint/2010/main" val="369411961"/>
      </p:ext>
    </p:extLst>
  </p:cSld>
</p:sld>
</file>

<file path=ppt/slides/slide1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2" name="직접 해볼 시간">
            <a:extLst xmlns:a="http://schemas.openxmlformats.org/drawingml/2006/main">
              <a:ext uri="{FF2B5EF4-FFF2-40B4-BE49-F238E27FC236}">
                <a16:creationId xmlns:a16="http://schemas.microsoft.com/office/drawing/2014/main" id="{248D5644-E768-4BDA-8A30-0B54360FFFF5}"/>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586356"/>
                </a:solidFill>
                <a:latin typeface="Noto Sans KR"/>
                <a:ea typeface="Noto Sans KR"/>
                <a:cs typeface="Noto Sans KR"/>
              </a:defRPr>
            </a:pPr>
            <a:r>
              <a:rPr sz="1875" b="1">
                <a:solidFill>
                  <a:srgbClr val="586356"/>
                </a:solidFill>
                <a:latin typeface="Noto Sans KR"/>
                <a:ea typeface="Noto Sans KR"/>
                <a:cs typeface="Noto Sans KR"/>
              </a:rPr>
              <a:t>직접 해볼 시간</a:t>
            </a:r>
          </a:p>
        </p:txBody>
      </p:sp>
      <p:sp>
        <p:nvSpPr>
          <p:cNvPr id="2" name="5분">
            <a:extLst xmlns:a="http://schemas.openxmlformats.org/drawingml/2006/main">
              <a:ext uri="{FF2B5EF4-FFF2-40B4-BE49-F238E27FC236}">
                <a16:creationId xmlns:a16="http://schemas.microsoft.com/office/drawing/2014/main" id="{B2AC183F-DF2E-40C7-A9B9-DE43CD534A5B}"/>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5분</a:t>
            </a:r>
          </a:p>
        </p:txBody>
      </p:sp>
      <p:sp>
        <p:nvSpPr>
          <p:cNvPr id="3" name="Q04에 “확정”이라고&#10;답해도 될까요?">
            <a:extLst xmlns:a="http://schemas.openxmlformats.org/drawingml/2006/main">
              <a:ext uri="{FF2B5EF4-FFF2-40B4-BE49-F238E27FC236}">
                <a16:creationId xmlns:a16="http://schemas.microsoft.com/office/drawing/2014/main" id="{790E4861-9CA0-47E0-8ACB-65030B2BAB90}"/>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202921"/>
                </a:solidFill>
                <a:latin typeface="Noto Sans KR"/>
                <a:ea typeface="Noto Sans KR"/>
                <a:cs typeface="Noto Sans KR"/>
              </a:defRPr>
            </a:pPr>
            <a:r>
              <a:rPr sz="4275" b="1">
                <a:solidFill>
                  <a:srgbClr val="202921"/>
                </a:solidFill>
                <a:latin typeface="Noto Sans KR"/>
                <a:ea typeface="Noto Sans KR"/>
                <a:cs typeface="Noto Sans KR"/>
              </a:rPr>
              <a:t>Q04에 “확정”이라고</a:t>
            </a:r>
          </a:p>
          <a:p xmlns:a="http://schemas.openxmlformats.org/drawingml/2006/main">
            <a:pPr algn="l">
              <a:lnSpc>
                <a:spcPct val="112000"/>
              </a:lnSpc>
              <a:buNone/>
              <a:defRPr sz="4275" b="1">
                <a:solidFill>
                  <a:srgbClr val="202921"/>
                </a:solidFill>
                <a:latin typeface="Noto Sans KR"/>
                <a:ea typeface="Noto Sans KR"/>
                <a:cs typeface="Noto Sans KR"/>
              </a:defRPr>
            </a:pPr>
            <a:r>
              <a:rPr sz="4275" b="1">
                <a:solidFill>
                  <a:srgbClr val="202921"/>
                </a:solidFill>
                <a:latin typeface="Noto Sans KR"/>
                <a:ea typeface="Noto Sans KR"/>
                <a:cs typeface="Noto Sans KR"/>
              </a:rPr>
              <a:t>답해도 될까요?</a:t>
            </a:r>
          </a:p>
        </p:txBody>
      </p:sp>
      <p:sp>
        <p:nvSpPr>
          <p:cNvPr id="4" name="Q01의 장소·준비물 확인">
            <a:extLst xmlns:a="http://schemas.openxmlformats.org/drawingml/2006/main">
              <a:ext uri="{FF2B5EF4-FFF2-40B4-BE49-F238E27FC236}">
                <a16:creationId xmlns:a16="http://schemas.microsoft.com/office/drawing/2014/main" id="{54967D7E-A184-4EE0-80B1-FD59BF4A512C}"/>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Q01의 장소·준비물 확인</a:t>
            </a:r>
          </a:p>
        </p:txBody>
      </p:sp>
      <p:sp>
        <p:nvSpPr>
          <p:cNvPr id="5" name="Q04의 취소 반영·복구 요청 구분">
            <a:extLst xmlns:a="http://schemas.openxmlformats.org/drawingml/2006/main">
              <a:ext uri="{FF2B5EF4-FFF2-40B4-BE49-F238E27FC236}">
                <a16:creationId xmlns:a16="http://schemas.microsoft.com/office/drawing/2014/main" id="{8B7A1512-8D53-4AEE-BC33-AF6EFD59EE49}"/>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Q04의 취소 반영·복구 요청 구분</a:t>
            </a:r>
          </a:p>
        </p:txBody>
      </p:sp>
      <p:sp>
        <p:nvSpPr>
          <p:cNvPr id="6" name="Q12의 대기·예외 검토 구분">
            <a:extLst xmlns:a="http://schemas.openxmlformats.org/drawingml/2006/main">
              <a:ext uri="{FF2B5EF4-FFF2-40B4-BE49-F238E27FC236}">
                <a16:creationId xmlns:a16="http://schemas.microsoft.com/office/drawing/2014/main" id="{62FD5A0E-3C66-4731-AD52-FB53F633C0D0}"/>
              </a:ext>
            </a:extLst>
          </p:cNvPr>
          <p:cNvSpPr>
            <a:spLocks xmlns:a="http://schemas.openxmlformats.org/drawingml/2006/main" noGrp="1"/>
          </p:cNvSpPr>
          <p:nvPr/>
        </p:nvSpPr>
        <p:spPr>
          <a:xfrm xmlns:a="http://schemas.openxmlformats.org/drawingml/2006/main">
            <a:off x="4019550" y="4733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Q12의 대기·예외 검토 구분</a:t>
            </a:r>
          </a:p>
        </p:txBody>
      </p:sp>
      <p:sp>
        <p:nvSpPr>
          <p:cNvPr id="7" name="수정할 문장과 해당 원문 ID">
            <a:extLst xmlns:a="http://schemas.openxmlformats.org/drawingml/2006/main">
              <a:ext uri="{FF2B5EF4-FFF2-40B4-BE49-F238E27FC236}">
                <a16:creationId xmlns:a16="http://schemas.microsoft.com/office/drawing/2014/main" id="{1114B127-FD1B-4ADE-A047-F8AFA9A559B1}"/>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586356"/>
                </a:solidFill>
                <a:latin typeface="Noto Sans KR"/>
                <a:ea typeface="Noto Sans KR"/>
                <a:cs typeface="Noto Sans KR"/>
              </a:defRPr>
            </a:pPr>
            <a:r>
              <a:rPr sz="2325" b="1">
                <a:solidFill>
                  <a:srgbClr val="586356"/>
                </a:solidFill>
                <a:latin typeface="Noto Sans KR"/>
                <a:ea typeface="Noto Sans KR"/>
                <a:cs typeface="Noto Sans KR"/>
              </a:rPr>
              <a:t>수정할 문장과 해당 원문 ID</a:t>
            </a:r>
          </a:p>
        </p:txBody>
      </p:sp>
      <p:sp>
        <p:nvSpPr>
          <p:cNvPr id="8" name="28–33분">
            <a:extLst xmlns:a="http://schemas.openxmlformats.org/drawingml/2006/main">
              <a:ext uri="{FF2B5EF4-FFF2-40B4-BE49-F238E27FC236}">
                <a16:creationId xmlns:a16="http://schemas.microsoft.com/office/drawing/2014/main" id="{2EFE64FA-4C52-4037-9160-10AD131CCAAD}"/>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28–33분</a:t>
            </a:r>
          </a:p>
        </p:txBody>
      </p:sp>
      <p:sp>
        <p:nvSpPr>
          <p:cNvPr id="9" name="웹 실습 열기">
            <a:extLst xmlns:a="http://schemas.openxmlformats.org/drawingml/2006/main">
              <a:ext uri="{FF2B5EF4-FFF2-40B4-BE49-F238E27FC236}">
                <a16:creationId xmlns:a16="http://schemas.microsoft.com/office/drawing/2014/main" id="{C8D84396-40D3-421B-9633-5BF0A4BFF0E1}"/>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500b130a0f2d4ee2"/>
              </a:rPr>
              <a:t>웹 실습 열기</a:t>
            </a:r>
          </a:p>
        </p:txBody>
      </p:sp>
      <p:sp>
        <p:nvSpPr>
          <p:cNvPr id="10" name="14">
            <a:extLst xmlns:a="http://schemas.openxmlformats.org/drawingml/2006/main">
              <a:ext uri="{FF2B5EF4-FFF2-40B4-BE49-F238E27FC236}">
                <a16:creationId xmlns:a16="http://schemas.microsoft.com/office/drawing/2014/main" id="{0CF91EB2-FB0D-4466-A998-F6EB8C4F648D}"/>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14</a:t>
            </a:r>
          </a:p>
        </p:txBody>
      </p:sp>
      <p:sp>
        <p:nvSpPr>
          <p:cNvPr id="11" name="AI 응답 또는 교사 예시 사용 여부를 기록합니다.">
            <a:extLst xmlns:a="http://schemas.openxmlformats.org/drawingml/2006/main">
              <a:ext uri="{FF2B5EF4-FFF2-40B4-BE49-F238E27FC236}">
                <a16:creationId xmlns:a16="http://schemas.microsoft.com/office/drawing/2014/main" id="{FBF7DD34-FF06-417A-95C6-C217776505B2}"/>
              </a:ext>
            </a:extLst>
          </p:cNvPr>
          <p:cNvSpPr>
            <a:spLocks xmlns:a="http://schemas.openxmlformats.org/drawingml/2006/main" noGrp="1"/>
          </p:cNvSpPr>
          <p:nvPr/>
        </p:nvSpPr>
        <p:spPr>
          <a:xfrm xmlns:a="http://schemas.openxmlformats.org/drawingml/2006/main">
            <a:off x="638175" y="60674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586356"/>
                </a:solidFill>
                <a:latin typeface="Noto Sans KR"/>
                <a:ea typeface="Noto Sans KR"/>
                <a:cs typeface="Noto Sans KR"/>
              </a:defRPr>
            </a:pPr>
            <a:r>
              <a:rPr sz="1575" b="0">
                <a:solidFill>
                  <a:srgbClr val="586356"/>
                </a:solidFill>
                <a:latin typeface="Noto Sans KR"/>
                <a:ea typeface="Noto Sans KR"/>
                <a:cs typeface="Noto Sans KR"/>
              </a:rPr>
              <a:t>AI 응답 또는 교사 예시 사용 여부를 기록합니다.</a:t>
            </a:r>
          </a:p>
        </p:txBody>
      </p:sp>
    </p:spTree>
    <p:extLst>
      <p:ext uri="{BB962C8B-B14F-4D97-AF65-F5344CB8AC3E}">
        <p14:creationId xmlns:p14="http://schemas.microsoft.com/office/powerpoint/2010/main" val="381816342"/>
      </p:ext>
    </p:extLst>
  </p:cSld>
</p:sld>
</file>

<file path=ppt/slides/slide1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고치는 데 든 시간도&#10;작업 시간입니다">
            <a:extLst xmlns:a="http://schemas.openxmlformats.org/drawingml/2006/main">
              <a:ext uri="{FF2B5EF4-FFF2-40B4-BE49-F238E27FC236}">
                <a16:creationId xmlns:a16="http://schemas.microsoft.com/office/drawing/2014/main" id="{2499E8D1-9CB8-4960-B3E3-2570913F8CAB}"/>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고치는 데 든 시간도</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작업 시간입니다</a:t>
            </a:r>
          </a:p>
        </p:txBody>
      </p:sp>
      <p:graphicFrame>
        <p:nvGraphicFramePr>
          <p:cNvPr id="7" name=""/>
          <p:cNvGraphicFramePr/>
          <p:nvPr/>
        </p:nvGraphicFramePr>
        <p:xfrm>
          <a:off xmlns:a="http://schemas.openxmlformats.org/drawingml/2006/main" x="619125" y="2790825"/>
          <a:ext xmlns:a="http://schemas.openxmlformats.org/drawingml/2006/main" cx="10953750" cy="2733675"/>
        </p:xfrm>
        <a:graphic xmlns:a="http://schemas.openxmlformats.org/drawingml/2006/main">
          <a:graphicData uri="http://schemas.openxmlformats.org/drawingml/2006/table">
            <a:tbl>
              <a:tblPr firstRow="1" bandRow="0"/>
              <a:tblGrid>
                <a:gridCol w="2908075"/>
                <a:gridCol w="8045675"/>
              </a:tblGrid>
              <a:tr h="683419">
                <a:tc>
                  <a:txBody>
                    <a:bodyPr lIns="152400" tIns="85725" rIns="133350" bIns="76200">
                      <a:noAutofit/>
                    </a:bodyPr>
                    <a:lstStyle/>
                    <a:p>
                      <a:pPr algn="l"/>
                      <a:r>
                        <a:rPr sz="2250" b="1">
                          <a:solidFill>
                            <a:srgbClr val="F4F1E9"/>
                          </a:solidFill>
                          <a:latin typeface="Noto Sans KR"/>
                          <a:ea typeface="Noto Sans KR"/>
                          <a:cs typeface="Noto Sans KR"/>
                        </a:rPr>
                        <a:t>내 기록</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남길 것</a:t>
                      </a:r>
                    </a:p>
                  </a:txBody>
                  <a:tcPr marL="91440" marR="91440" marT="45720" marB="45720" anchor="ctr">
                    <a:solidFill>
                      <a:srgbClr val="202921"/>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시간</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준비·대기·검토·수정</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수정</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바꾼 세 행과 이유</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미완료</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남은 27행·답장·공지</a:t>
                      </a:r>
                    </a:p>
                  </a:txBody>
                  <a:tcPr marL="91440" marR="91440" marT="45720" marB="45720" anchor="ctr">
                    <a:solidFill>
                      <a:srgbClr val="F4F1E9"/>
                    </a:solidFill>
                  </a:tcPr>
                </a:tc>
              </a:tr>
            </a:tbl>
          </a:graphicData>
        </a:graphic>
      </p:graphicFrame>
      <p:sp>
        <p:nvSpPr>
          <p:cNvPr id="3" name="33–38분">
            <a:extLst xmlns:a="http://schemas.openxmlformats.org/drawingml/2006/main">
              <a:ext uri="{FF2B5EF4-FFF2-40B4-BE49-F238E27FC236}">
                <a16:creationId xmlns:a16="http://schemas.microsoft.com/office/drawing/2014/main" id="{CA6D13DC-870B-4F81-8959-AC6BCC7B6F5F}"/>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33–38분</a:t>
            </a:r>
          </a:p>
        </p:txBody>
      </p:sp>
      <p:sp>
        <p:nvSpPr>
          <p:cNvPr id="4" name="웹 실습 열기">
            <a:extLst xmlns:a="http://schemas.openxmlformats.org/drawingml/2006/main">
              <a:ext uri="{FF2B5EF4-FFF2-40B4-BE49-F238E27FC236}">
                <a16:creationId xmlns:a16="http://schemas.microsoft.com/office/drawing/2014/main" id="{841EA38F-A04A-489B-940F-466944B8F0B5}"/>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19d62ecea95747c9"/>
              </a:rPr>
              <a:t>웹 실습 열기</a:t>
            </a:r>
          </a:p>
        </p:txBody>
      </p:sp>
      <p:sp>
        <p:nvSpPr>
          <p:cNvPr id="5" name="15">
            <a:extLst xmlns:a="http://schemas.openxmlformats.org/drawingml/2006/main">
              <a:ext uri="{FF2B5EF4-FFF2-40B4-BE49-F238E27FC236}">
                <a16:creationId xmlns:a16="http://schemas.microsoft.com/office/drawing/2014/main" id="{4E1DCC5F-4C25-4338-BE7D-07C42E196C3B}"/>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15</a:t>
            </a:r>
          </a:p>
        </p:txBody>
      </p:sp>
    </p:spTree>
    <p:extLst>
      <p:ext uri="{BB962C8B-B14F-4D97-AF65-F5344CB8AC3E}">
        <p14:creationId xmlns:p14="http://schemas.microsoft.com/office/powerpoint/2010/main" val="227824154"/>
      </p:ext>
    </p:extLst>
  </p:cSld>
</p:sld>
</file>

<file path=ppt/slides/slide16.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8" name="20초 생각">
            <a:extLst xmlns:a="http://schemas.openxmlformats.org/drawingml/2006/main">
              <a:ext uri="{FF2B5EF4-FFF2-40B4-BE49-F238E27FC236}">
                <a16:creationId xmlns:a16="http://schemas.microsoft.com/office/drawing/2014/main" id="{8D3D522E-360C-4600-87E8-3513135FB04A}"/>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20초 생각</a:t>
            </a:r>
          </a:p>
        </p:txBody>
      </p:sp>
      <p:sp>
        <p:nvSpPr>
          <p:cNvPr id="2" name="시설 점검일은&#10;20일일까요, 21일일까요?">
            <a:extLst xmlns:a="http://schemas.openxmlformats.org/drawingml/2006/main">
              <a:ext uri="{FF2B5EF4-FFF2-40B4-BE49-F238E27FC236}">
                <a16:creationId xmlns:a16="http://schemas.microsoft.com/office/drawing/2014/main" id="{A5D16E7C-E024-4085-B6E8-905713BECE15}"/>
              </a:ext>
            </a:extLst>
          </p:cNvPr>
          <p:cNvSpPr>
            <a:spLocks xmlns:a="http://schemas.openxmlformats.org/drawingml/2006/main" noGrp="1"/>
          </p:cNvSpPr>
          <p:nvPr/>
        </p:nvSpPr>
        <p:spPr>
          <a:xfrm xmlns:a="http://schemas.openxmlformats.org/drawingml/2006/main">
            <a:off x="609600" y="1381125"/>
            <a:ext cx="10953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850" b="1">
                <a:solidFill>
                  <a:srgbClr val="F4F1E9"/>
                </a:solidFill>
                <a:latin typeface="Noto Sans KR"/>
                <a:ea typeface="Noto Sans KR"/>
                <a:cs typeface="Noto Sans KR"/>
              </a:defRPr>
            </a:pPr>
            <a:r>
              <a:rPr sz="5850" b="1">
                <a:solidFill>
                  <a:srgbClr val="F4F1E9"/>
                </a:solidFill>
                <a:latin typeface="Noto Sans KR"/>
                <a:ea typeface="Noto Sans KR"/>
                <a:cs typeface="Noto Sans KR"/>
              </a:rPr>
              <a:t>시설 점검일은</a:t>
            </a:r>
          </a:p>
          <a:p xmlns:a="http://schemas.openxmlformats.org/drawingml/2006/main">
            <a:pPr algn="l">
              <a:lnSpc>
                <a:spcPct val="112000"/>
              </a:lnSpc>
              <a:buNone/>
              <a:defRPr sz="5850" b="1">
                <a:solidFill>
                  <a:srgbClr val="F4F1E9"/>
                </a:solidFill>
                <a:latin typeface="Noto Sans KR"/>
                <a:ea typeface="Noto Sans KR"/>
                <a:cs typeface="Noto Sans KR"/>
              </a:defRPr>
            </a:pPr>
            <a:r>
              <a:rPr sz="5850" b="1">
                <a:solidFill>
                  <a:srgbClr val="F4F1E9"/>
                </a:solidFill>
                <a:latin typeface="Noto Sans KR"/>
                <a:ea typeface="Noto Sans KR"/>
                <a:cs typeface="Noto Sans KR"/>
              </a:rPr>
              <a:t>20일일까요, 21일일까요?</a:t>
            </a:r>
          </a:p>
        </p:txBody>
      </p:sp>
      <p:sp>
        <p:nvSpPr>
          <p:cNvPr id="3" name="A. 정정한 10월 20일">
            <a:extLst xmlns:a="http://schemas.openxmlformats.org/drawingml/2006/main">
              <a:ext uri="{FF2B5EF4-FFF2-40B4-BE49-F238E27FC236}">
                <a16:creationId xmlns:a16="http://schemas.microsoft.com/office/drawing/2014/main" id="{35437328-57E0-4E0E-9F4B-A56659F5745E}"/>
              </a:ext>
            </a:extLst>
          </p:cNvPr>
          <p:cNvSpPr>
            <a:spLocks xmlns:a="http://schemas.openxmlformats.org/drawingml/2006/main" noGrp="1"/>
          </p:cNvSpPr>
          <p:nvPr/>
        </p:nvSpPr>
        <p:spPr>
          <a:xfrm xmlns:a="http://schemas.openxmlformats.org/drawingml/2006/main">
            <a:off x="647700" y="44100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EAB196"/>
                </a:solidFill>
                <a:latin typeface="Noto Sans KR"/>
                <a:ea typeface="Noto Sans KR"/>
                <a:cs typeface="Noto Sans KR"/>
              </a:defRPr>
            </a:pPr>
            <a:r>
              <a:rPr sz="2700" b="0">
                <a:solidFill>
                  <a:srgbClr val="EAB196"/>
                </a:solidFill>
                <a:latin typeface="Noto Sans KR"/>
                <a:ea typeface="Noto Sans KR"/>
                <a:cs typeface="Noto Sans KR"/>
              </a:rPr>
              <a:t>A. 정정한 10월 20일</a:t>
            </a:r>
          </a:p>
        </p:txBody>
      </p:sp>
      <p:sp>
        <p:nvSpPr>
          <p:cNvPr id="4" name="B. 처음 말한 10월 21일">
            <a:extLst xmlns:a="http://schemas.openxmlformats.org/drawingml/2006/main">
              <a:ext uri="{FF2B5EF4-FFF2-40B4-BE49-F238E27FC236}">
                <a16:creationId xmlns:a16="http://schemas.microsoft.com/office/drawing/2014/main" id="{3DD85269-043E-46E2-9E4C-91CB230B8D9D}"/>
              </a:ext>
            </a:extLst>
          </p:cNvPr>
          <p:cNvSpPr>
            <a:spLocks xmlns:a="http://schemas.openxmlformats.org/drawingml/2006/main" noGrp="1"/>
          </p:cNvSpPr>
          <p:nvPr/>
        </p:nvSpPr>
        <p:spPr>
          <a:xfrm xmlns:a="http://schemas.openxmlformats.org/drawingml/2006/main">
            <a:off x="647700" y="521970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EAB196"/>
                </a:solidFill>
                <a:latin typeface="Noto Sans KR"/>
                <a:ea typeface="Noto Sans KR"/>
                <a:cs typeface="Noto Sans KR"/>
              </a:defRPr>
            </a:pPr>
            <a:r>
              <a:rPr sz="2700" b="0">
                <a:solidFill>
                  <a:srgbClr val="EAB196"/>
                </a:solidFill>
                <a:latin typeface="Noto Sans KR"/>
                <a:ea typeface="Noto Sans KR"/>
                <a:cs typeface="Noto Sans KR"/>
              </a:rPr>
              <a:t>B. 처음 말한 10월 21일</a:t>
            </a:r>
          </a:p>
        </p:txBody>
      </p:sp>
      <p:sp>
        <p:nvSpPr>
          <p:cNvPr id="5" name="38–40분">
            <a:extLst xmlns:a="http://schemas.openxmlformats.org/drawingml/2006/main">
              <a:ext uri="{FF2B5EF4-FFF2-40B4-BE49-F238E27FC236}">
                <a16:creationId xmlns:a16="http://schemas.microsoft.com/office/drawing/2014/main" id="{BF0C595C-675B-4322-A186-FFA49F0010BF}"/>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38–40분</a:t>
            </a:r>
          </a:p>
        </p:txBody>
      </p:sp>
      <p:sp>
        <p:nvSpPr>
          <p:cNvPr id="6" name="웹 실습 열기">
            <a:extLst xmlns:a="http://schemas.openxmlformats.org/drawingml/2006/main">
              <a:ext uri="{FF2B5EF4-FFF2-40B4-BE49-F238E27FC236}">
                <a16:creationId xmlns:a16="http://schemas.microsoft.com/office/drawing/2014/main" id="{49FCA97D-56A8-4E38-8194-2CE0341FEB27}"/>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ef86148207364b8e"/>
              </a:rPr>
              <a:t>웹 실습 열기</a:t>
            </a:r>
          </a:p>
        </p:txBody>
      </p:sp>
      <p:sp>
        <p:nvSpPr>
          <p:cNvPr id="7" name="16">
            <a:extLst xmlns:a="http://schemas.openxmlformats.org/drawingml/2006/main">
              <a:ext uri="{FF2B5EF4-FFF2-40B4-BE49-F238E27FC236}">
                <a16:creationId xmlns:a16="http://schemas.microsoft.com/office/drawing/2014/main" id="{EEC8067D-7385-440C-9C3C-47DE7ABFBB63}"/>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16</a:t>
            </a:r>
          </a:p>
        </p:txBody>
      </p:sp>
    </p:spTree>
    <p:extLst>
      <p:ext uri="{BB962C8B-B14F-4D97-AF65-F5344CB8AC3E}">
        <p14:creationId xmlns:p14="http://schemas.microsoft.com/office/powerpoint/2010/main" val="1874149855"/>
      </p:ext>
    </p:extLst>
  </p:cSld>
</p:sld>
</file>

<file path=ppt/slides/slide1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8" name="시설담당이&#10;10월 20일까지">
            <a:extLst xmlns:a="http://schemas.openxmlformats.org/drawingml/2006/main">
              <a:ext uri="{FF2B5EF4-FFF2-40B4-BE49-F238E27FC236}">
                <a16:creationId xmlns:a16="http://schemas.microsoft.com/office/drawing/2014/main" id="{5802DBE5-CB7B-43FF-A476-CFBBDC092FE8}"/>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시설담당이</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10월 20일까지</a:t>
            </a:r>
          </a:p>
        </p:txBody>
      </p:sp>
      <p:sp>
        <p:nvSpPr>
          <p:cNvPr id="2" name="정정 전 21일도 변경 기록에 보관">
            <a:extLst xmlns:a="http://schemas.openxmlformats.org/drawingml/2006/main">
              <a:ext uri="{FF2B5EF4-FFF2-40B4-BE49-F238E27FC236}">
                <a16:creationId xmlns:a16="http://schemas.microsoft.com/office/drawing/2014/main" id="{4189695B-02AB-496F-A187-FC299AA36D72}"/>
              </a:ext>
            </a:extLst>
          </p:cNvPr>
          <p:cNvSpPr>
            <a:spLocks xmlns:a="http://schemas.openxmlformats.org/drawingml/2006/main" noGrp="1"/>
          </p:cNvSpPr>
          <p:nvPr/>
        </p:nvSpPr>
        <p:spPr>
          <a:xfrm xmlns:a="http://schemas.openxmlformats.org/drawingml/2006/main">
            <a:off x="638175" y="2876550"/>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정정 전 21일도 변경 기록에 보관</a:t>
            </a:r>
          </a:p>
        </p:txBody>
      </p:sp>
      <p:sp>
        <p:nvSpPr>
          <p:cNvPr id="3" name="같은 방식으로 회의 전체 정리">
            <a:extLst xmlns:a="http://schemas.openxmlformats.org/drawingml/2006/main">
              <a:ext uri="{FF2B5EF4-FFF2-40B4-BE49-F238E27FC236}">
                <a16:creationId xmlns:a16="http://schemas.microsoft.com/office/drawing/2014/main" id="{8232EE38-1638-4BB2-9FBA-65F32F460822}"/>
              </a:ext>
            </a:extLst>
          </p:cNvPr>
          <p:cNvSpPr>
            <a:spLocks xmlns:a="http://schemas.openxmlformats.org/drawingml/2006/main" noGrp="1"/>
          </p:cNvSpPr>
          <p:nvPr/>
        </p:nvSpPr>
        <p:spPr>
          <a:xfrm xmlns:a="http://schemas.openxmlformats.org/drawingml/2006/main">
            <a:off x="638175" y="36671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같은 방식으로 회의 전체 정리</a:t>
            </a:r>
          </a:p>
        </p:txBody>
      </p:sp>
      <p:sp>
        <p:nvSpPr>
          <p:cNvPr id="4" name="담당·마감·발언 시각을 함께 기록">
            <a:extLst xmlns:a="http://schemas.openxmlformats.org/drawingml/2006/main">
              <a:ext uri="{FF2B5EF4-FFF2-40B4-BE49-F238E27FC236}">
                <a16:creationId xmlns:a16="http://schemas.microsoft.com/office/drawing/2014/main" id="{C2F24467-0F31-4A4F-8891-0D3C208F870D}"/>
              </a:ext>
            </a:extLst>
          </p:cNvPr>
          <p:cNvSpPr>
            <a:spLocks xmlns:a="http://schemas.openxmlformats.org/drawingml/2006/main" noGrp="1"/>
          </p:cNvSpPr>
          <p:nvPr/>
        </p:nvSpPr>
        <p:spPr>
          <a:xfrm xmlns:a="http://schemas.openxmlformats.org/drawingml/2006/main">
            <a:off x="638175" y="4457700"/>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담당·마감·발언 시각을 함께 기록</a:t>
            </a:r>
          </a:p>
        </p:txBody>
      </p:sp>
      <p:sp>
        <p:nvSpPr>
          <p:cNvPr id="5" name="40–44분">
            <a:extLst xmlns:a="http://schemas.openxmlformats.org/drawingml/2006/main">
              <a:ext uri="{FF2B5EF4-FFF2-40B4-BE49-F238E27FC236}">
                <a16:creationId xmlns:a16="http://schemas.microsoft.com/office/drawing/2014/main" id="{05A12600-797D-4A67-AC86-65618E4F5A43}"/>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40–44분</a:t>
            </a:r>
          </a:p>
        </p:txBody>
      </p:sp>
      <p:sp>
        <p:nvSpPr>
          <p:cNvPr id="6" name="웹 실습 열기">
            <a:extLst xmlns:a="http://schemas.openxmlformats.org/drawingml/2006/main">
              <a:ext uri="{FF2B5EF4-FFF2-40B4-BE49-F238E27FC236}">
                <a16:creationId xmlns:a16="http://schemas.microsoft.com/office/drawing/2014/main" id="{FD060070-7D96-4886-9E2F-C30E92CA1752}"/>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e9a753537e204daa"/>
              </a:rPr>
              <a:t>웹 실습 열기</a:t>
            </a:r>
          </a:p>
        </p:txBody>
      </p:sp>
      <p:sp>
        <p:nvSpPr>
          <p:cNvPr id="7" name="17">
            <a:extLst xmlns:a="http://schemas.openxmlformats.org/drawingml/2006/main">
              <a:ext uri="{FF2B5EF4-FFF2-40B4-BE49-F238E27FC236}">
                <a16:creationId xmlns:a16="http://schemas.microsoft.com/office/drawing/2014/main" id="{79B0C2EB-C7FA-442E-84D1-DD2FC07FB78E}"/>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17</a:t>
            </a:r>
          </a:p>
        </p:txBody>
      </p:sp>
    </p:spTree>
    <p:extLst>
      <p:ext uri="{BB962C8B-B14F-4D97-AF65-F5344CB8AC3E}">
        <p14:creationId xmlns:p14="http://schemas.microsoft.com/office/powerpoint/2010/main" val="776252770"/>
      </p:ext>
    </p:extLst>
  </p:cSld>
</p:sld>
</file>

<file path=ppt/slides/slide1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날짜 옆에&#10;발언 시각을 붙입니다">
            <a:extLst xmlns:a="http://schemas.openxmlformats.org/drawingml/2006/main">
              <a:ext uri="{FF2B5EF4-FFF2-40B4-BE49-F238E27FC236}">
                <a16:creationId xmlns:a16="http://schemas.microsoft.com/office/drawing/2014/main" id="{104D2A52-C6EA-4ADC-9800-A64245F46290}"/>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날짜 옆에</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발언 시각을 붙입니다</a:t>
            </a:r>
          </a:p>
        </p:txBody>
      </p:sp>
      <p:graphicFrame>
        <p:nvGraphicFramePr>
          <p:cNvPr id="7" name=""/>
          <p:cNvGraphicFramePr/>
          <p:nvPr/>
        </p:nvGraphicFramePr>
        <p:xfrm>
          <a:off xmlns:a="http://schemas.openxmlformats.org/drawingml/2006/main" x="619125" y="2790825"/>
          <a:ext xmlns:a="http://schemas.openxmlformats.org/drawingml/2006/main" cx="10953750" cy="2733675"/>
        </p:xfrm>
        <a:graphic xmlns:a="http://schemas.openxmlformats.org/drawingml/2006/main">
          <a:graphicData uri="http://schemas.openxmlformats.org/drawingml/2006/table">
            <a:tbl>
              <a:tblPr firstRow="1" bandRow="0"/>
              <a:tblGrid>
                <a:gridCol w="4943728"/>
                <a:gridCol w="1744845"/>
                <a:gridCol w="1841781"/>
                <a:gridCol w="2423396"/>
              </a:tblGrid>
              <a:tr h="683419">
                <a:tc>
                  <a:txBody>
                    <a:bodyPr lIns="152400" tIns="85725" rIns="133350" bIns="76200">
                      <a:noAutofit/>
                    </a:bodyPr>
                    <a:lstStyle/>
                    <a:p>
                      <a:pPr algn="l"/>
                      <a:r>
                        <a:rPr sz="2250" b="1">
                          <a:solidFill>
                            <a:srgbClr val="F4F1E9"/>
                          </a:solidFill>
                          <a:latin typeface="Noto Sans KR"/>
                          <a:ea typeface="Noto Sans KR"/>
                          <a:cs typeface="Noto Sans KR"/>
                        </a:rPr>
                        <a:t>업무</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담당</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마감</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발언</a:t>
                      </a:r>
                    </a:p>
                  </a:txBody>
                  <a:tcPr marL="91440" marR="91440" marT="45720" marB="45720" anchor="ctr">
                    <a:solidFill>
                      <a:srgbClr val="202921"/>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시설 점검</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시설</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10/20</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14:33</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수정 예산표</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행정</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10/23</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14:29</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명단·대기 순서</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운영</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10/26</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14:53</a:t>
                      </a:r>
                    </a:p>
                  </a:txBody>
                  <a:tcPr marL="91440" marR="91440" marT="45720" marB="45720" anchor="ctr">
                    <a:solidFill>
                      <a:srgbClr val="F4F1E9"/>
                    </a:solidFill>
                  </a:tcPr>
                </a:tc>
              </a:tr>
            </a:tbl>
          </a:graphicData>
        </a:graphic>
      </p:graphicFrame>
      <p:sp>
        <p:nvSpPr>
          <p:cNvPr id="3" name="44–48분">
            <a:extLst xmlns:a="http://schemas.openxmlformats.org/drawingml/2006/main">
              <a:ext uri="{FF2B5EF4-FFF2-40B4-BE49-F238E27FC236}">
                <a16:creationId xmlns:a16="http://schemas.microsoft.com/office/drawing/2014/main" id="{8D1DD9BE-F531-4588-A7EC-03A76B25D0AB}"/>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44–48분</a:t>
            </a:r>
          </a:p>
        </p:txBody>
      </p:sp>
      <p:sp>
        <p:nvSpPr>
          <p:cNvPr id="4" name="웹 실습 열기">
            <a:extLst xmlns:a="http://schemas.openxmlformats.org/drawingml/2006/main">
              <a:ext uri="{FF2B5EF4-FFF2-40B4-BE49-F238E27FC236}">
                <a16:creationId xmlns:a16="http://schemas.microsoft.com/office/drawing/2014/main" id="{8D568577-B94F-4198-8303-A2845DA5B907}"/>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825461c4718945c5"/>
              </a:rPr>
              <a:t>웹 실습 열기</a:t>
            </a:r>
          </a:p>
        </p:txBody>
      </p:sp>
      <p:sp>
        <p:nvSpPr>
          <p:cNvPr id="5" name="18">
            <a:extLst xmlns:a="http://schemas.openxmlformats.org/drawingml/2006/main">
              <a:ext uri="{FF2B5EF4-FFF2-40B4-BE49-F238E27FC236}">
                <a16:creationId xmlns:a16="http://schemas.microsoft.com/office/drawing/2014/main" id="{63DDC54F-5E1D-4A50-9ADF-F691E83678EC}"/>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18</a:t>
            </a:r>
          </a:p>
        </p:txBody>
      </p:sp>
    </p:spTree>
    <p:extLst>
      <p:ext uri="{BB962C8B-B14F-4D97-AF65-F5344CB8AC3E}">
        <p14:creationId xmlns:p14="http://schemas.microsoft.com/office/powerpoint/2010/main" val="498599608"/>
      </p:ext>
    </p:extLst>
  </p:cSld>
</p:sld>
</file>

<file path=ppt/slides/slide1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845,000원은&#10;아직 지급한 돈이 아닙니다">
            <a:extLst xmlns:a="http://schemas.openxmlformats.org/drawingml/2006/main">
              <a:ext uri="{FF2B5EF4-FFF2-40B4-BE49-F238E27FC236}">
                <a16:creationId xmlns:a16="http://schemas.microsoft.com/office/drawing/2014/main" id="{1C9CAAB5-878B-46A3-B39F-07FE2C3DEA20}"/>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845,000원은</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아직 지급한 돈이 아닙니다</a:t>
            </a:r>
          </a:p>
        </p:txBody>
      </p:sp>
      <p:graphicFrame>
        <p:nvGraphicFramePr>
          <p:cNvPr id="7" name=""/>
          <p:cNvGraphicFramePr/>
          <p:nvPr/>
        </p:nvGraphicFramePr>
        <p:xfrm>
          <a:off xmlns:a="http://schemas.openxmlformats.org/drawingml/2006/main" x="619125" y="2790825"/>
          <a:ext xmlns:a="http://schemas.openxmlformats.org/drawingml/2006/main" cx="10953750" cy="2733675"/>
        </p:xfrm>
        <a:graphic xmlns:a="http://schemas.openxmlformats.org/drawingml/2006/main">
          <a:graphicData uri="http://schemas.openxmlformats.org/drawingml/2006/table">
            <a:tbl>
              <a:tblPr firstRow="1" bandRow="0"/>
              <a:tblGrid>
                <a:gridCol w="5525343"/>
                <a:gridCol w="5428407"/>
              </a:tblGrid>
              <a:tr h="683419">
                <a:tc>
                  <a:txBody>
                    <a:bodyPr lIns="152400" tIns="85725" rIns="133350" bIns="76200">
                      <a:noAutofit/>
                    </a:bodyPr>
                    <a:lstStyle/>
                    <a:p>
                      <a:pPr algn="l"/>
                      <a:r>
                        <a:rPr sz="2250" b="1">
                          <a:solidFill>
                            <a:srgbClr val="F4F1E9"/>
                          </a:solidFill>
                          <a:latin typeface="Noto Sans KR"/>
                          <a:ea typeface="Noto Sans KR"/>
                          <a:cs typeface="Noto Sans KR"/>
                        </a:rPr>
                        <a:t>회의에서 확인한 것</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현재 상태</a:t>
                      </a:r>
                    </a:p>
                  </a:txBody>
                  <a:tcPr marL="91440" marR="91440" marT="45720" marB="45720" anchor="ctr">
                    <a:solidFill>
                      <a:srgbClr val="202921"/>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준비 예산 845,000원</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준비하기로 결정</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녹화·사진 공개·주차</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보류, 담당·기한 미정</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정원 40명 제안</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채택하지 않음</a:t>
                      </a:r>
                    </a:p>
                  </a:txBody>
                  <a:tcPr marL="91440" marR="91440" marT="45720" marB="45720" anchor="ctr">
                    <a:solidFill>
                      <a:srgbClr val="F4F1E9"/>
                    </a:solidFill>
                  </a:tcPr>
                </a:tc>
              </a:tr>
            </a:tbl>
          </a:graphicData>
        </a:graphic>
      </p:graphicFrame>
      <p:sp>
        <p:nvSpPr>
          <p:cNvPr id="3" name="48–51분">
            <a:extLst xmlns:a="http://schemas.openxmlformats.org/drawingml/2006/main">
              <a:ext uri="{FF2B5EF4-FFF2-40B4-BE49-F238E27FC236}">
                <a16:creationId xmlns:a16="http://schemas.microsoft.com/office/drawing/2014/main" id="{7F40E61D-67EC-4451-965B-AFABEFB5CFAF}"/>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48–51분</a:t>
            </a:r>
          </a:p>
        </p:txBody>
      </p:sp>
      <p:sp>
        <p:nvSpPr>
          <p:cNvPr id="4" name="웹 실습 열기">
            <a:extLst xmlns:a="http://schemas.openxmlformats.org/drawingml/2006/main">
              <a:ext uri="{FF2B5EF4-FFF2-40B4-BE49-F238E27FC236}">
                <a16:creationId xmlns:a16="http://schemas.microsoft.com/office/drawing/2014/main" id="{44F42414-3A12-4EB9-94F5-B1404148BDA8}"/>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23f8427370a2464e"/>
              </a:rPr>
              <a:t>웹 실습 열기</a:t>
            </a:r>
          </a:p>
        </p:txBody>
      </p:sp>
      <p:sp>
        <p:nvSpPr>
          <p:cNvPr id="5" name="19">
            <a:extLst xmlns:a="http://schemas.openxmlformats.org/drawingml/2006/main">
              <a:ext uri="{FF2B5EF4-FFF2-40B4-BE49-F238E27FC236}">
                <a16:creationId xmlns:a16="http://schemas.microsoft.com/office/drawing/2014/main" id="{6DD12D96-EA7B-418D-B218-C33DDA9C81D4}"/>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19</a:t>
            </a:r>
          </a:p>
        </p:txBody>
      </p:sp>
    </p:spTree>
    <p:extLst>
      <p:ext uri="{BB962C8B-B14F-4D97-AF65-F5344CB8AC3E}">
        <p14:creationId xmlns:p14="http://schemas.microsoft.com/office/powerpoint/2010/main" val="1086236390"/>
      </p:ext>
    </p:extLst>
  </p:cSld>
</p:sld>
</file>

<file path=ppt/slides/slide20.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7" name="30초 생각">
            <a:extLst xmlns:a="http://schemas.openxmlformats.org/drawingml/2006/main">
              <a:ext uri="{FF2B5EF4-FFF2-40B4-BE49-F238E27FC236}">
                <a16:creationId xmlns:a16="http://schemas.microsoft.com/office/drawing/2014/main" id="{AC202018-8E49-4181-8D68-5E65FF032DCD}"/>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30초 생각</a:t>
            </a:r>
          </a:p>
        </p:txBody>
      </p:sp>
      <p:sp>
        <p:nvSpPr>
          <p:cNvPr id="2" name="2개 × 25,000원&#10;= 60,000원?">
            <a:extLst xmlns:a="http://schemas.openxmlformats.org/drawingml/2006/main">
              <a:ext uri="{FF2B5EF4-FFF2-40B4-BE49-F238E27FC236}">
                <a16:creationId xmlns:a16="http://schemas.microsoft.com/office/drawing/2014/main" id="{95E9327B-1E01-4289-9EF2-852CDE35863F}"/>
              </a:ext>
            </a:extLst>
          </p:cNvPr>
          <p:cNvSpPr>
            <a:spLocks xmlns:a="http://schemas.openxmlformats.org/drawingml/2006/main" noGrp="1"/>
          </p:cNvSpPr>
          <p:nvPr/>
        </p:nvSpPr>
        <p:spPr>
          <a:xfrm xmlns:a="http://schemas.openxmlformats.org/drawingml/2006/main">
            <a:off x="609600" y="1381125"/>
            <a:ext cx="10953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850" b="1">
                <a:solidFill>
                  <a:srgbClr val="F4F1E9"/>
                </a:solidFill>
                <a:latin typeface="Noto Sans KR"/>
                <a:ea typeface="Noto Sans KR"/>
                <a:cs typeface="Noto Sans KR"/>
              </a:defRPr>
            </a:pPr>
            <a:r>
              <a:rPr sz="5850" b="1">
                <a:solidFill>
                  <a:srgbClr val="F4F1E9"/>
                </a:solidFill>
                <a:latin typeface="Noto Sans KR"/>
                <a:ea typeface="Noto Sans KR"/>
                <a:cs typeface="Noto Sans KR"/>
              </a:rPr>
              <a:t>2개 × 25,000원</a:t>
            </a:r>
          </a:p>
          <a:p xmlns:a="http://schemas.openxmlformats.org/drawingml/2006/main">
            <a:pPr algn="l">
              <a:lnSpc>
                <a:spcPct val="112000"/>
              </a:lnSpc>
              <a:buNone/>
              <a:defRPr sz="5850" b="1">
                <a:solidFill>
                  <a:srgbClr val="F4F1E9"/>
                </a:solidFill>
                <a:latin typeface="Noto Sans KR"/>
                <a:ea typeface="Noto Sans KR"/>
                <a:cs typeface="Noto Sans KR"/>
              </a:defRPr>
            </a:pPr>
            <a:r>
              <a:rPr sz="5850" b="1">
                <a:solidFill>
                  <a:srgbClr val="F4F1E9"/>
                </a:solidFill>
                <a:latin typeface="Noto Sans KR"/>
                <a:ea typeface="Noto Sans KR"/>
                <a:cs typeface="Noto Sans KR"/>
              </a:rPr>
              <a:t>= 60,000원?</a:t>
            </a:r>
          </a:p>
        </p:txBody>
      </p:sp>
      <p:sp>
        <p:nvSpPr>
          <p:cNvPr id="3" name="계산만 고치면 검토가 끝날까요?">
            <a:extLst xmlns:a="http://schemas.openxmlformats.org/drawingml/2006/main">
              <a:ext uri="{FF2B5EF4-FFF2-40B4-BE49-F238E27FC236}">
                <a16:creationId xmlns:a16="http://schemas.microsoft.com/office/drawing/2014/main" id="{46724FBD-15D7-4717-B54A-95AC9C077152}"/>
              </a:ext>
            </a:extLst>
          </p:cNvPr>
          <p:cNvSpPr>
            <a:spLocks xmlns:a="http://schemas.openxmlformats.org/drawingml/2006/main" noGrp="1"/>
          </p:cNvSpPr>
          <p:nvPr/>
        </p:nvSpPr>
        <p:spPr>
          <a:xfrm xmlns:a="http://schemas.openxmlformats.org/drawingml/2006/main">
            <a:off x="647700" y="44100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EAB196"/>
                </a:solidFill>
                <a:latin typeface="Noto Sans KR"/>
                <a:ea typeface="Noto Sans KR"/>
                <a:cs typeface="Noto Sans KR"/>
              </a:defRPr>
            </a:pPr>
            <a:r>
              <a:rPr sz="2700" b="0">
                <a:solidFill>
                  <a:srgbClr val="EAB196"/>
                </a:solidFill>
                <a:latin typeface="Noto Sans KR"/>
                <a:ea typeface="Noto Sans KR"/>
                <a:cs typeface="Noto Sans KR"/>
              </a:rPr>
              <a:t>계산만 고치면 검토가 끝날까요?</a:t>
            </a:r>
          </a:p>
        </p:txBody>
      </p:sp>
      <p:sp>
        <p:nvSpPr>
          <p:cNvPr id="4" name="51–54분">
            <a:extLst xmlns:a="http://schemas.openxmlformats.org/drawingml/2006/main">
              <a:ext uri="{FF2B5EF4-FFF2-40B4-BE49-F238E27FC236}">
                <a16:creationId xmlns:a16="http://schemas.microsoft.com/office/drawing/2014/main" id="{7A7CBB6E-A376-493E-8088-BA44DF25FAC1}"/>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51–54분</a:t>
            </a:r>
          </a:p>
        </p:txBody>
      </p:sp>
      <p:sp>
        <p:nvSpPr>
          <p:cNvPr id="5" name="웹 실습 열기">
            <a:extLst xmlns:a="http://schemas.openxmlformats.org/drawingml/2006/main">
              <a:ext uri="{FF2B5EF4-FFF2-40B4-BE49-F238E27FC236}">
                <a16:creationId xmlns:a16="http://schemas.microsoft.com/office/drawing/2014/main" id="{E432A73F-0F72-4A86-AA96-A15D821778EF}"/>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d6bd4f4ef8d54fbb"/>
              </a:rPr>
              <a:t>웹 실습 열기</a:t>
            </a:r>
          </a:p>
        </p:txBody>
      </p:sp>
      <p:sp>
        <p:nvSpPr>
          <p:cNvPr id="6" name="20">
            <a:extLst xmlns:a="http://schemas.openxmlformats.org/drawingml/2006/main">
              <a:ext uri="{FF2B5EF4-FFF2-40B4-BE49-F238E27FC236}">
                <a16:creationId xmlns:a16="http://schemas.microsoft.com/office/drawing/2014/main" id="{FC1330DC-B2FF-4CAB-A58F-98E7D6420B2D}"/>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20</a:t>
            </a:r>
          </a:p>
        </p:txBody>
      </p:sp>
    </p:spTree>
    <p:extLst>
      <p:ext uri="{BB962C8B-B14F-4D97-AF65-F5344CB8AC3E}">
        <p14:creationId xmlns:p14="http://schemas.microsoft.com/office/powerpoint/2010/main" val="2084771649"/>
      </p:ext>
    </p:extLst>
  </p:cSld>
</p:sld>
</file>

<file path=ppt/slides/slide2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8" name="50,000원&#10;그다음은 승인 기록">
            <a:extLst xmlns:a="http://schemas.openxmlformats.org/drawingml/2006/main">
              <a:ext uri="{FF2B5EF4-FFF2-40B4-BE49-F238E27FC236}">
                <a16:creationId xmlns:a16="http://schemas.microsoft.com/office/drawing/2014/main" id="{02C6B074-9071-4EC0-BEE5-5039D2B6BD28}"/>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50,000원</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그다음은 승인 기록</a:t>
            </a:r>
          </a:p>
        </p:txBody>
      </p:sp>
      <p:sp>
        <p:nvSpPr>
          <p:cNvPr id="2" name="원표 24행의 승인·중복·취소 확인">
            <a:extLst xmlns:a="http://schemas.openxmlformats.org/drawingml/2006/main">
              <a:ext uri="{FF2B5EF4-FFF2-40B4-BE49-F238E27FC236}">
                <a16:creationId xmlns:a16="http://schemas.microsoft.com/office/drawing/2014/main" id="{62257AE2-7CF8-40FE-93C4-D1F34E2887BD}"/>
              </a:ext>
            </a:extLst>
          </p:cNvPr>
          <p:cNvSpPr>
            <a:spLocks xmlns:a="http://schemas.openxmlformats.org/drawingml/2006/main" noGrp="1"/>
          </p:cNvSpPr>
          <p:nvPr/>
        </p:nvSpPr>
        <p:spPr>
          <a:xfrm xmlns:a="http://schemas.openxmlformats.org/drawingml/2006/main">
            <a:off x="638175" y="2876550"/>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원표 24행의 승인·중복·취소 확인</a:t>
            </a:r>
          </a:p>
        </p:txBody>
      </p:sp>
      <p:sp>
        <p:nvSpPr>
          <p:cNvPr id="3" name="행사별 금액을 시트에서 계산">
            <a:extLst xmlns:a="http://schemas.openxmlformats.org/drawingml/2006/main">
              <a:ext uri="{FF2B5EF4-FFF2-40B4-BE49-F238E27FC236}">
                <a16:creationId xmlns:a16="http://schemas.microsoft.com/office/drawing/2014/main" id="{772F0256-7069-4FF7-9B01-7A466A2538B0}"/>
              </a:ext>
            </a:extLst>
          </p:cNvPr>
          <p:cNvSpPr>
            <a:spLocks xmlns:a="http://schemas.openxmlformats.org/drawingml/2006/main" noGrp="1"/>
          </p:cNvSpPr>
          <p:nvPr/>
        </p:nvSpPr>
        <p:spPr>
          <a:xfrm xmlns:a="http://schemas.openxmlformats.org/drawingml/2006/main">
            <a:off x="638175" y="36671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행사별 금액을 시트에서 계산</a:t>
            </a:r>
          </a:p>
        </p:txBody>
      </p:sp>
      <p:sp>
        <p:nvSpPr>
          <p:cNvPr id="4" name="전체 잔액이 남으면 B도 한도 안?">
            <a:extLst xmlns:a="http://schemas.openxmlformats.org/drawingml/2006/main">
              <a:ext uri="{FF2B5EF4-FFF2-40B4-BE49-F238E27FC236}">
                <a16:creationId xmlns:a16="http://schemas.microsoft.com/office/drawing/2014/main" id="{5C5BF4C6-1BDB-4635-914D-C1C36FF614D7}"/>
              </a:ext>
            </a:extLst>
          </p:cNvPr>
          <p:cNvSpPr>
            <a:spLocks xmlns:a="http://schemas.openxmlformats.org/drawingml/2006/main" noGrp="1"/>
          </p:cNvSpPr>
          <p:nvPr/>
        </p:nvSpPr>
        <p:spPr>
          <a:xfrm xmlns:a="http://schemas.openxmlformats.org/drawingml/2006/main">
            <a:off x="638175" y="4457700"/>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전체 잔액이 남으면 B도 한도 안?</a:t>
            </a:r>
          </a:p>
        </p:txBody>
      </p:sp>
      <p:sp>
        <p:nvSpPr>
          <p:cNvPr id="5" name="54–58분">
            <a:extLst xmlns:a="http://schemas.openxmlformats.org/drawingml/2006/main">
              <a:ext uri="{FF2B5EF4-FFF2-40B4-BE49-F238E27FC236}">
                <a16:creationId xmlns:a16="http://schemas.microsoft.com/office/drawing/2014/main" id="{6B124667-4324-450C-B860-DBE99C512AB8}"/>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54–58분</a:t>
            </a:r>
          </a:p>
        </p:txBody>
      </p:sp>
      <p:sp>
        <p:nvSpPr>
          <p:cNvPr id="6" name="웹 실습 열기">
            <a:extLst xmlns:a="http://schemas.openxmlformats.org/drawingml/2006/main">
              <a:ext uri="{FF2B5EF4-FFF2-40B4-BE49-F238E27FC236}">
                <a16:creationId xmlns:a16="http://schemas.microsoft.com/office/drawing/2014/main" id="{419EFB7D-0256-4D01-A63C-A49DE239599A}"/>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504b2c78fe334bb9"/>
              </a:rPr>
              <a:t>웹 실습 열기</a:t>
            </a:r>
          </a:p>
        </p:txBody>
      </p:sp>
      <p:sp>
        <p:nvSpPr>
          <p:cNvPr id="7" name="21">
            <a:extLst xmlns:a="http://schemas.openxmlformats.org/drawingml/2006/main">
              <a:ext uri="{FF2B5EF4-FFF2-40B4-BE49-F238E27FC236}">
                <a16:creationId xmlns:a16="http://schemas.microsoft.com/office/drawing/2014/main" id="{E5F505B5-0053-4D2B-A870-4952B0508CE5}"/>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21</a:t>
            </a:r>
          </a:p>
        </p:txBody>
      </p:sp>
    </p:spTree>
    <p:extLst>
      <p:ext uri="{BB962C8B-B14F-4D97-AF65-F5344CB8AC3E}">
        <p14:creationId xmlns:p14="http://schemas.microsoft.com/office/powerpoint/2010/main" val="907038997"/>
      </p:ext>
    </p:extLst>
  </p:cSld>
</p:sld>
</file>

<file path=ppt/slides/slide2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8" name="B행사는">
            <a:extLst xmlns:a="http://schemas.openxmlformats.org/drawingml/2006/main">
              <a:ext uri="{FF2B5EF4-FFF2-40B4-BE49-F238E27FC236}">
                <a16:creationId xmlns:a16="http://schemas.microsoft.com/office/drawing/2014/main" id="{C4C3874D-1EE5-481A-9608-AC65D315CA33}"/>
              </a:ext>
            </a:extLst>
          </p:cNvPr>
          <p:cNvSpPr>
            <a:spLocks xmlns:a="http://schemas.openxmlformats.org/drawingml/2006/main" noGrp="1"/>
          </p:cNvSpPr>
          <p:nvPr/>
        </p:nvSpPr>
        <p:spPr>
          <a:xfrm xmlns:a="http://schemas.openxmlformats.org/drawingml/2006/main">
            <a:off x="619125" y="600075"/>
            <a:ext cx="10934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225" b="1">
                <a:solidFill>
                  <a:srgbClr val="202921"/>
                </a:solidFill>
                <a:latin typeface="Noto Sans KR"/>
                <a:ea typeface="Noto Sans KR"/>
                <a:cs typeface="Noto Sans KR"/>
              </a:defRPr>
            </a:pPr>
            <a:r>
              <a:rPr sz="3225" b="1">
                <a:solidFill>
                  <a:srgbClr val="202921"/>
                </a:solidFill>
                <a:latin typeface="Noto Sans KR"/>
                <a:ea typeface="Noto Sans KR"/>
                <a:cs typeface="Noto Sans KR"/>
              </a:rPr>
              <a:t>B행사는</a:t>
            </a:r>
          </a:p>
        </p:txBody>
      </p:sp>
      <p:sp>
        <p:nvSpPr>
          <p:cNvPr id="2" name="11,000원 초과">
            <a:extLst xmlns:a="http://schemas.openxmlformats.org/drawingml/2006/main">
              <a:ext uri="{FF2B5EF4-FFF2-40B4-BE49-F238E27FC236}">
                <a16:creationId xmlns:a16="http://schemas.microsoft.com/office/drawing/2014/main" id="{51CB20A1-B7D5-403F-913F-A11CCC36184C}"/>
              </a:ext>
            </a:extLst>
          </p:cNvPr>
          <p:cNvSpPr>
            <a:spLocks xmlns:a="http://schemas.openxmlformats.org/drawingml/2006/main" noGrp="1"/>
          </p:cNvSpPr>
          <p:nvPr/>
        </p:nvSpPr>
        <p:spPr>
          <a:xfrm xmlns:a="http://schemas.openxmlformats.org/drawingml/2006/main">
            <a:off x="561975" y="1257300"/>
            <a:ext cx="11049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750" b="1">
                <a:solidFill>
                  <a:srgbClr val="EA5936"/>
                </a:solidFill>
                <a:latin typeface="Noto Sans KR"/>
                <a:ea typeface="Noto Sans KR"/>
                <a:cs typeface="Noto Sans KR"/>
              </a:defRPr>
            </a:pPr>
            <a:r>
              <a:rPr sz="6750" b="1">
                <a:solidFill>
                  <a:srgbClr val="EA5936"/>
                </a:solidFill>
                <a:latin typeface="Noto Sans KR"/>
                <a:ea typeface="Noto Sans KR"/>
                <a:cs typeface="Noto Sans KR"/>
              </a:rPr>
              <a:t>11,000원 초과</a:t>
            </a:r>
          </a:p>
        </p:txBody>
      </p:sp>
      <p:graphicFrame>
        <p:nvGraphicFramePr>
          <p:cNvPr id="10" name=""/>
          <p:cNvGraphicFramePr/>
          <p:nvPr/>
        </p:nvGraphicFramePr>
        <p:xfrm>
          <a:off xmlns:a="http://schemas.openxmlformats.org/drawingml/2006/main" x="619125" y="2876550"/>
          <a:ext xmlns:a="http://schemas.openxmlformats.org/drawingml/2006/main" cx="10953750" cy="2781300"/>
        </p:xfrm>
        <a:graphic xmlns:a="http://schemas.openxmlformats.org/drawingml/2006/main">
          <a:graphicData uri="http://schemas.openxmlformats.org/drawingml/2006/table">
            <a:tbl>
              <a:tblPr firstRow="1" bandRow="0"/>
              <a:tblGrid>
                <a:gridCol w="1454038"/>
                <a:gridCol w="3101947"/>
                <a:gridCol w="3005011"/>
                <a:gridCol w="3392754"/>
              </a:tblGrid>
              <a:tr h="556260">
                <a:tc>
                  <a:txBody>
                    <a:bodyPr lIns="152400" tIns="85725" rIns="133350" bIns="76200">
                      <a:noAutofit/>
                    </a:bodyPr>
                    <a:lstStyle/>
                    <a:p>
                      <a:pPr algn="l"/>
                      <a:r>
                        <a:rPr sz="2250" b="1">
                          <a:solidFill>
                            <a:srgbClr val="F4F1E9"/>
                          </a:solidFill>
                          <a:latin typeface="Noto Sans KR"/>
                          <a:ea typeface="Noto Sans KR"/>
                          <a:cs typeface="Noto Sans KR"/>
                        </a:rPr>
                        <a:t>행사</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반영액</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한도</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차이</a:t>
                      </a:r>
                    </a:p>
                  </a:txBody>
                  <a:tcPr marL="91440" marR="91440" marT="45720" marB="45720" anchor="ctr">
                    <a:solidFill>
                      <a:srgbClr val="202921"/>
                    </a:solidFill>
                  </a:tcPr>
                </a:tc>
              </a:tr>
              <a:tr h="556260">
                <a:tc>
                  <a:txBody>
                    <a:bodyPr lIns="152400" tIns="85725" rIns="133350" bIns="76200">
                      <a:noAutofit/>
                    </a:bodyPr>
                    <a:lstStyle/>
                    <a:p>
                      <a:pPr algn="l"/>
                      <a:r>
                        <a:rPr sz="2250" b="0">
                          <a:solidFill>
                            <a:srgbClr val="202921"/>
                          </a:solidFill>
                          <a:latin typeface="Noto Sans KR"/>
                          <a:ea typeface="Noto Sans KR"/>
                          <a:cs typeface="Noto Sans KR"/>
                        </a:rPr>
                        <a:t>A</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845,000</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845,000</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0</a:t>
                      </a:r>
                    </a:p>
                  </a:txBody>
                  <a:tcPr marL="91440" marR="91440" marT="45720" marB="45720" anchor="ctr">
                    <a:solidFill>
                      <a:srgbClr val="F4F1E9"/>
                    </a:solidFill>
                  </a:tcPr>
                </a:tc>
              </a:tr>
              <a:tr h="556260">
                <a:tc>
                  <a:txBody>
                    <a:bodyPr lIns="152400" tIns="85725" rIns="133350" bIns="76200">
                      <a:noAutofit/>
                    </a:bodyPr>
                    <a:lstStyle/>
                    <a:p>
                      <a:pPr algn="l"/>
                      <a:r>
                        <a:rPr sz="2250" b="1">
                          <a:solidFill>
                            <a:srgbClr val="EA5936"/>
                          </a:solidFill>
                          <a:latin typeface="Noto Sans KR"/>
                          <a:ea typeface="Noto Sans KR"/>
                          <a:cs typeface="Noto Sans KR"/>
                        </a:rPr>
                        <a:t>B</a:t>
                      </a:r>
                    </a:p>
                  </a:txBody>
                  <a:tcPr marL="91440" marR="91440" marT="45720" marB="45720" anchor="ctr">
                    <a:solidFill>
                      <a:srgbClr val="F4F1E9"/>
                    </a:solidFill>
                  </a:tcPr>
                </a:tc>
                <a:tc>
                  <a:txBody>
                    <a:bodyPr lIns="152400" tIns="85725" rIns="133350" bIns="76200">
                      <a:noAutofit/>
                    </a:bodyPr>
                    <a:lstStyle/>
                    <a:p>
                      <a:pPr algn="l"/>
                      <a:r>
                        <a:rPr sz="2250" b="1">
                          <a:solidFill>
                            <a:srgbClr val="EA5936"/>
                          </a:solidFill>
                          <a:latin typeface="Noto Sans KR"/>
                          <a:ea typeface="Noto Sans KR"/>
                          <a:cs typeface="Noto Sans KR"/>
                        </a:rPr>
                        <a:t>961,000</a:t>
                      </a:r>
                    </a:p>
                  </a:txBody>
                  <a:tcPr marL="91440" marR="91440" marT="45720" marB="45720" anchor="ctr">
                    <a:solidFill>
                      <a:srgbClr val="F4F1E9"/>
                    </a:solidFill>
                  </a:tcPr>
                </a:tc>
                <a:tc>
                  <a:txBody>
                    <a:bodyPr lIns="152400" tIns="85725" rIns="133350" bIns="76200">
                      <a:noAutofit/>
                    </a:bodyPr>
                    <a:lstStyle/>
                    <a:p>
                      <a:pPr algn="l"/>
                      <a:r>
                        <a:rPr sz="2250" b="1">
                          <a:solidFill>
                            <a:srgbClr val="EA5936"/>
                          </a:solidFill>
                          <a:latin typeface="Noto Sans KR"/>
                          <a:ea typeface="Noto Sans KR"/>
                          <a:cs typeface="Noto Sans KR"/>
                        </a:rPr>
                        <a:t>950,000</a:t>
                      </a:r>
                    </a:p>
                  </a:txBody>
                  <a:tcPr marL="91440" marR="91440" marT="45720" marB="45720" anchor="ctr">
                    <a:solidFill>
                      <a:srgbClr val="F4F1E9"/>
                    </a:solidFill>
                  </a:tcPr>
                </a:tc>
                <a:tc>
                  <a:txBody>
                    <a:bodyPr lIns="152400" tIns="85725" rIns="133350" bIns="76200">
                      <a:noAutofit/>
                    </a:bodyPr>
                    <a:lstStyle/>
                    <a:p>
                      <a:pPr algn="l"/>
                      <a:r>
                        <a:rPr sz="2250" b="1">
                          <a:solidFill>
                            <a:srgbClr val="EA5936"/>
                          </a:solidFill>
                          <a:latin typeface="Noto Sans KR"/>
                          <a:ea typeface="Noto Sans KR"/>
                          <a:cs typeface="Noto Sans KR"/>
                        </a:rPr>
                        <a:t>11,000 초과</a:t>
                      </a:r>
                    </a:p>
                  </a:txBody>
                  <a:tcPr marL="91440" marR="91440" marT="45720" marB="45720" anchor="ctr">
                    <a:solidFill>
                      <a:srgbClr val="F4F1E9"/>
                    </a:solidFill>
                  </a:tcPr>
                </a:tc>
              </a:tr>
              <a:tr h="556260">
                <a:tc>
                  <a:txBody>
                    <a:bodyPr lIns="152400" tIns="85725" rIns="133350" bIns="76200">
                      <a:noAutofit/>
                    </a:bodyPr>
                    <a:lstStyle/>
                    <a:p>
                      <a:pPr algn="l"/>
                      <a:r>
                        <a:rPr sz="2250" b="0">
                          <a:solidFill>
                            <a:srgbClr val="202921"/>
                          </a:solidFill>
                          <a:latin typeface="Noto Sans KR"/>
                          <a:ea typeface="Noto Sans KR"/>
                          <a:cs typeface="Noto Sans KR"/>
                        </a:rPr>
                        <a:t>C</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724,000</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900,000</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176,000 잔액</a:t>
                      </a:r>
                    </a:p>
                  </a:txBody>
                  <a:tcPr marL="91440" marR="91440" marT="45720" marB="45720" anchor="ctr">
                    <a:solidFill>
                      <a:srgbClr val="F4F1E9"/>
                    </a:solidFill>
                  </a:tcPr>
                </a:tc>
              </a:tr>
              <a:tr h="556260">
                <a:tc>
                  <a:txBody>
                    <a:bodyPr lIns="152400" tIns="85725" rIns="133350" bIns="76200">
                      <a:noAutofit/>
                    </a:bodyPr>
                    <a:lstStyle/>
                    <a:p>
                      <a:pPr algn="l"/>
                      <a:r>
                        <a:rPr sz="2250" b="0">
                          <a:solidFill>
                            <a:srgbClr val="202921"/>
                          </a:solidFill>
                          <a:latin typeface="Noto Sans KR"/>
                          <a:ea typeface="Noto Sans KR"/>
                          <a:cs typeface="Noto Sans KR"/>
                        </a:rPr>
                        <a:t>전체</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2,530,000</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2,695,000</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165,000 잔액</a:t>
                      </a:r>
                    </a:p>
                  </a:txBody>
                  <a:tcPr marL="91440" marR="91440" marT="45720" marB="45720" anchor="ctr">
                    <a:solidFill>
                      <a:srgbClr val="F4F1E9"/>
                    </a:solidFill>
                  </a:tcPr>
                </a:tc>
              </a:tr>
            </a:tbl>
          </a:graphicData>
        </a:graphic>
      </p:graphicFrame>
      <p:sp>
        <p:nvSpPr>
          <p:cNvPr id="4" name="단위: 원. 다른 행사 잔액으로 자동 충당할 승인은 없습니다.">
            <a:extLst xmlns:a="http://schemas.openxmlformats.org/drawingml/2006/main">
              <a:ext uri="{FF2B5EF4-FFF2-40B4-BE49-F238E27FC236}">
                <a16:creationId xmlns:a16="http://schemas.microsoft.com/office/drawing/2014/main" id="{933C827A-88A5-4E5B-92F4-C219922EC1DC}"/>
              </a:ext>
            </a:extLst>
          </p:cNvPr>
          <p:cNvSpPr>
            <a:spLocks xmlns:a="http://schemas.openxmlformats.org/drawingml/2006/main" noGrp="1"/>
          </p:cNvSpPr>
          <p:nvPr/>
        </p:nvSpPr>
        <p:spPr>
          <a:xfrm xmlns:a="http://schemas.openxmlformats.org/drawingml/2006/main">
            <a:off x="638175" y="58007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586356"/>
                </a:solidFill>
                <a:latin typeface="Noto Sans KR"/>
                <a:ea typeface="Noto Sans KR"/>
                <a:cs typeface="Noto Sans KR"/>
              </a:defRPr>
            </a:pPr>
            <a:r>
              <a:rPr sz="1800" b="0">
                <a:solidFill>
                  <a:srgbClr val="586356"/>
                </a:solidFill>
                <a:latin typeface="Noto Sans KR"/>
                <a:ea typeface="Noto Sans KR"/>
                <a:cs typeface="Noto Sans KR"/>
              </a:rPr>
              <a:t>단위: 원. 다른 행사 잔액으로 자동 충당할 승인은 없습니다.</a:t>
            </a:r>
          </a:p>
        </p:txBody>
      </p:sp>
      <p:sp>
        <p:nvSpPr>
          <p:cNvPr id="5" name="58–65분">
            <a:extLst xmlns:a="http://schemas.openxmlformats.org/drawingml/2006/main">
              <a:ext uri="{FF2B5EF4-FFF2-40B4-BE49-F238E27FC236}">
                <a16:creationId xmlns:a16="http://schemas.microsoft.com/office/drawing/2014/main" id="{F1BC8878-DC40-4AAC-AAA8-E58C7EC48335}"/>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58–65분</a:t>
            </a:r>
          </a:p>
        </p:txBody>
      </p:sp>
      <p:sp>
        <p:nvSpPr>
          <p:cNvPr id="6" name="웹 실습 열기">
            <a:extLst xmlns:a="http://schemas.openxmlformats.org/drawingml/2006/main">
              <a:ext uri="{FF2B5EF4-FFF2-40B4-BE49-F238E27FC236}">
                <a16:creationId xmlns:a16="http://schemas.microsoft.com/office/drawing/2014/main" id="{8FC95DC2-A0B8-4ADC-97EB-FAF02ECE5899}"/>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60f5a2b816d74d67"/>
              </a:rPr>
              <a:t>웹 실습 열기</a:t>
            </a:r>
          </a:p>
        </p:txBody>
      </p:sp>
      <p:sp>
        <p:nvSpPr>
          <p:cNvPr id="7" name="22">
            <a:extLst xmlns:a="http://schemas.openxmlformats.org/drawingml/2006/main">
              <a:ext uri="{FF2B5EF4-FFF2-40B4-BE49-F238E27FC236}">
                <a16:creationId xmlns:a16="http://schemas.microsoft.com/office/drawing/2014/main" id="{89BD44DA-5669-47C0-ADF7-A13DAED2E4FE}"/>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22</a:t>
            </a:r>
          </a:p>
        </p:txBody>
      </p:sp>
    </p:spTree>
    <p:extLst>
      <p:ext uri="{BB962C8B-B14F-4D97-AF65-F5344CB8AC3E}">
        <p14:creationId xmlns:p14="http://schemas.microsoft.com/office/powerpoint/2010/main" val="568578775"/>
      </p:ext>
    </p:extLst>
  </p:cSld>
</p:sld>
</file>

<file path=ppt/slides/slide23.xml><?xml version="1.0" encoding="utf-8"?>
<p:sld xmlns:p="http://schemas.openxmlformats.org/presentationml/2006/main">
  <p:cSld>
    <p:bg>
      <p:bgPr>
        <a:solidFill xmlns:a="http://schemas.openxmlformats.org/drawingml/2006/main">
          <a:srgbClr val="EA5936"/>
        </a:solidFill>
      </p:bgPr>
    </p:bg>
    <p:spTree>
      <p:nvGrpSpPr>
        <p:cNvPr id="1" name=""/>
        <p:cNvGrpSpPr/>
        <p:nvPr/>
      </p:nvGrpSpPr>
      <p:grpSpPr>
        <a:xfrm xmlns:a="http://schemas.openxmlformats.org/drawingml/2006/main"/>
      </p:grpSpPr>
      <p:sp>
        <p:nvSpPr>
          <p:cNvPr id="7" name="5분">
            <a:extLst xmlns:a="http://schemas.openxmlformats.org/drawingml/2006/main">
              <a:ext uri="{FF2B5EF4-FFF2-40B4-BE49-F238E27FC236}">
                <a16:creationId xmlns:a16="http://schemas.microsoft.com/office/drawing/2014/main" id="{EAF7FF77-E727-43BB-80B0-CF527B8F395C}"/>
              </a:ext>
            </a:extLst>
          </p:cNvPr>
          <p:cNvSpPr>
            <a:spLocks xmlns:a="http://schemas.openxmlformats.org/drawingml/2006/main" noGrp="1"/>
          </p:cNvSpPr>
          <p:nvPr/>
        </p:nvSpPr>
        <p:spPr>
          <a:xfrm xmlns:a="http://schemas.openxmlformats.org/drawingml/2006/main">
            <a:off x="514350" y="1219200"/>
            <a:ext cx="76200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0" b="1">
                <a:solidFill>
                  <a:srgbClr val="202921"/>
                </a:solidFill>
                <a:latin typeface="Noto Sans KR"/>
                <a:ea typeface="Noto Sans KR"/>
                <a:cs typeface="Noto Sans KR"/>
              </a:defRPr>
            </a:pPr>
            <a:r>
              <a:rPr sz="15750" b="1">
                <a:solidFill>
                  <a:srgbClr val="202921"/>
                </a:solidFill>
                <a:latin typeface="Noto Sans KR"/>
                <a:ea typeface="Noto Sans KR"/>
                <a:cs typeface="Noto Sans KR"/>
              </a:rPr>
              <a:t>5분</a:t>
            </a:r>
          </a:p>
        </p:txBody>
      </p:sp>
      <p:sp>
        <p:nvSpPr>
          <p:cNvPr id="2" name="5분 쉬겠습니다">
            <a:extLst xmlns:a="http://schemas.openxmlformats.org/drawingml/2006/main">
              <a:ext uri="{FF2B5EF4-FFF2-40B4-BE49-F238E27FC236}">
                <a16:creationId xmlns:a16="http://schemas.microsoft.com/office/drawing/2014/main" id="{FD6E2B28-55D2-4892-8425-84291AE8F2E8}"/>
              </a:ext>
            </a:extLst>
          </p:cNvPr>
          <p:cNvSpPr>
            <a:spLocks xmlns:a="http://schemas.openxmlformats.org/drawingml/2006/main" noGrp="1"/>
          </p:cNvSpPr>
          <p:nvPr/>
        </p:nvSpPr>
        <p:spPr>
          <a:xfrm xmlns:a="http://schemas.openxmlformats.org/drawingml/2006/main">
            <a:off x="638175" y="4057650"/>
            <a:ext cx="10477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725" b="1">
                <a:solidFill>
                  <a:srgbClr val="202921"/>
                </a:solidFill>
                <a:latin typeface="Noto Sans KR"/>
                <a:ea typeface="Noto Sans KR"/>
                <a:cs typeface="Noto Sans KR"/>
              </a:defRPr>
            </a:pPr>
            <a:r>
              <a:rPr sz="4725" b="1">
                <a:solidFill>
                  <a:srgbClr val="202921"/>
                </a:solidFill>
                <a:latin typeface="Noto Sans KR"/>
                <a:ea typeface="Noto Sans KR"/>
                <a:cs typeface="Noto Sans KR"/>
              </a:rPr>
              <a:t>5분 쉬겠습니다</a:t>
            </a:r>
          </a:p>
        </p:txBody>
      </p:sp>
      <p:sp>
        <p:nvSpPr>
          <p:cNvPr id="3" name="파일을 저장하고 잠깐 자리에서 일어나세요.">
            <a:extLst xmlns:a="http://schemas.openxmlformats.org/drawingml/2006/main">
              <a:ext uri="{FF2B5EF4-FFF2-40B4-BE49-F238E27FC236}">
                <a16:creationId xmlns:a16="http://schemas.microsoft.com/office/drawing/2014/main" id="{F42A03C5-8158-452F-9489-36D4E79D7037}"/>
              </a:ext>
            </a:extLst>
          </p:cNvPr>
          <p:cNvSpPr>
            <a:spLocks xmlns:a="http://schemas.openxmlformats.org/drawingml/2006/main" noGrp="1"/>
          </p:cNvSpPr>
          <p:nvPr/>
        </p:nvSpPr>
        <p:spPr>
          <a:xfrm xmlns:a="http://schemas.openxmlformats.org/drawingml/2006/main">
            <a:off x="666750" y="5324475"/>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202921"/>
                </a:solidFill>
                <a:latin typeface="Noto Sans KR"/>
                <a:ea typeface="Noto Sans KR"/>
                <a:cs typeface="Noto Sans KR"/>
              </a:defRPr>
            </a:pPr>
            <a:r>
              <a:rPr sz="2250" b="0">
                <a:solidFill>
                  <a:srgbClr val="202921"/>
                </a:solidFill>
                <a:latin typeface="Noto Sans KR"/>
                <a:ea typeface="Noto Sans KR"/>
                <a:cs typeface="Noto Sans KR"/>
              </a:rPr>
              <a:t>파일을 저장하고 잠깐 자리에서 일어나세요.</a:t>
            </a:r>
          </a:p>
        </p:txBody>
      </p:sp>
      <p:sp>
        <p:nvSpPr>
          <p:cNvPr id="4" name="65–70분">
            <a:extLst xmlns:a="http://schemas.openxmlformats.org/drawingml/2006/main">
              <a:ext uri="{FF2B5EF4-FFF2-40B4-BE49-F238E27FC236}">
                <a16:creationId xmlns:a16="http://schemas.microsoft.com/office/drawing/2014/main" id="{72034481-C1D5-4189-9DD9-091DBBEB527B}"/>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65–70분</a:t>
            </a:r>
          </a:p>
        </p:txBody>
      </p:sp>
      <p:sp>
        <p:nvSpPr>
          <p:cNvPr id="5" name="웹 실습 열기">
            <a:extLst xmlns:a="http://schemas.openxmlformats.org/drawingml/2006/main">
              <a:ext uri="{FF2B5EF4-FFF2-40B4-BE49-F238E27FC236}">
                <a16:creationId xmlns:a16="http://schemas.microsoft.com/office/drawing/2014/main" id="{279204F6-A71C-4E66-915A-B4032C04734A}"/>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911ab16965e04c84"/>
              </a:rPr>
              <a:t>웹 실습 열기</a:t>
            </a:r>
          </a:p>
        </p:txBody>
      </p:sp>
      <p:sp>
        <p:nvSpPr>
          <p:cNvPr id="6" name="23">
            <a:extLst xmlns:a="http://schemas.openxmlformats.org/drawingml/2006/main">
              <a:ext uri="{FF2B5EF4-FFF2-40B4-BE49-F238E27FC236}">
                <a16:creationId xmlns:a16="http://schemas.microsoft.com/office/drawing/2014/main" id="{F78CD3A8-2725-4C17-AD8C-707E4190175F}"/>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23</a:t>
            </a:r>
          </a:p>
        </p:txBody>
      </p:sp>
    </p:spTree>
    <p:extLst>
      <p:ext uri="{BB962C8B-B14F-4D97-AF65-F5344CB8AC3E}">
        <p14:creationId xmlns:p14="http://schemas.microsoft.com/office/powerpoint/2010/main" val="2042835419"/>
      </p:ext>
    </p:extLst>
  </p:cSld>
</p:sld>
</file>

<file path=ppt/slides/slide24.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8" name="20초 생각">
            <a:extLst xmlns:a="http://schemas.openxmlformats.org/drawingml/2006/main">
              <a:ext uri="{FF2B5EF4-FFF2-40B4-BE49-F238E27FC236}">
                <a16:creationId xmlns:a16="http://schemas.microsoft.com/office/drawing/2014/main" id="{77A00834-D03F-453B-86C5-BD4229DC9653}"/>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20초 생각</a:t>
            </a:r>
          </a:p>
        </p:txBody>
      </p:sp>
      <p:sp>
        <p:nvSpPr>
          <p:cNvPr id="2" name="공지에는 23일,&#10;승인 기록에는 26일">
            <a:extLst xmlns:a="http://schemas.openxmlformats.org/drawingml/2006/main">
              <a:ext uri="{FF2B5EF4-FFF2-40B4-BE49-F238E27FC236}">
                <a16:creationId xmlns:a16="http://schemas.microsoft.com/office/drawing/2014/main" id="{D1868A59-004C-4F51-82C7-47A4B53CA603}"/>
              </a:ext>
            </a:extLst>
          </p:cNvPr>
          <p:cNvSpPr>
            <a:spLocks xmlns:a="http://schemas.openxmlformats.org/drawingml/2006/main" noGrp="1"/>
          </p:cNvSpPr>
          <p:nvPr/>
        </p:nvSpPr>
        <p:spPr>
          <a:xfrm xmlns:a="http://schemas.openxmlformats.org/drawingml/2006/main">
            <a:off x="609600" y="1381125"/>
            <a:ext cx="10953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850" b="1">
                <a:solidFill>
                  <a:srgbClr val="F4F1E9"/>
                </a:solidFill>
                <a:latin typeface="Noto Sans KR"/>
                <a:ea typeface="Noto Sans KR"/>
                <a:cs typeface="Noto Sans KR"/>
              </a:defRPr>
            </a:pPr>
            <a:r>
              <a:rPr sz="5850" b="1">
                <a:solidFill>
                  <a:srgbClr val="F4F1E9"/>
                </a:solidFill>
                <a:latin typeface="Noto Sans KR"/>
                <a:ea typeface="Noto Sans KR"/>
                <a:cs typeface="Noto Sans KR"/>
              </a:rPr>
              <a:t>공지에는 23일,</a:t>
            </a:r>
          </a:p>
          <a:p xmlns:a="http://schemas.openxmlformats.org/drawingml/2006/main">
            <a:pPr algn="l">
              <a:lnSpc>
                <a:spcPct val="112000"/>
              </a:lnSpc>
              <a:buNone/>
              <a:defRPr sz="5850" b="1">
                <a:solidFill>
                  <a:srgbClr val="F4F1E9"/>
                </a:solidFill>
                <a:latin typeface="Noto Sans KR"/>
                <a:ea typeface="Noto Sans KR"/>
                <a:cs typeface="Noto Sans KR"/>
              </a:defRPr>
            </a:pPr>
            <a:r>
              <a:rPr sz="5850" b="1">
                <a:solidFill>
                  <a:srgbClr val="F4F1E9"/>
                </a:solidFill>
                <a:latin typeface="Noto Sans KR"/>
                <a:ea typeface="Noto Sans KR"/>
                <a:cs typeface="Noto Sans KR"/>
              </a:rPr>
              <a:t>승인 기록에는 26일</a:t>
            </a:r>
          </a:p>
        </p:txBody>
      </p:sp>
      <p:sp>
        <p:nvSpPr>
          <p:cNvPr id="3" name="A. 기존 공지의 날짜로 답하기">
            <a:extLst xmlns:a="http://schemas.openxmlformats.org/drawingml/2006/main">
              <a:ext uri="{FF2B5EF4-FFF2-40B4-BE49-F238E27FC236}">
                <a16:creationId xmlns:a16="http://schemas.microsoft.com/office/drawing/2014/main" id="{BA8C9404-49EF-4DDC-9A27-6C62F2954070}"/>
              </a:ext>
            </a:extLst>
          </p:cNvPr>
          <p:cNvSpPr>
            <a:spLocks xmlns:a="http://schemas.openxmlformats.org/drawingml/2006/main" noGrp="1"/>
          </p:cNvSpPr>
          <p:nvPr/>
        </p:nvSpPr>
        <p:spPr>
          <a:xfrm xmlns:a="http://schemas.openxmlformats.org/drawingml/2006/main">
            <a:off x="647700" y="44100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EAB196"/>
                </a:solidFill>
                <a:latin typeface="Noto Sans KR"/>
                <a:ea typeface="Noto Sans KR"/>
                <a:cs typeface="Noto Sans KR"/>
              </a:defRPr>
            </a:pPr>
            <a:r>
              <a:rPr sz="2700" b="0">
                <a:solidFill>
                  <a:srgbClr val="EAB196"/>
                </a:solidFill>
                <a:latin typeface="Noto Sans KR"/>
                <a:ea typeface="Noto Sans KR"/>
                <a:cs typeface="Noto Sans KR"/>
              </a:rPr>
              <a:t>A. 기존 공지의 날짜로 답하기</a:t>
            </a:r>
          </a:p>
        </p:txBody>
      </p:sp>
      <p:sp>
        <p:nvSpPr>
          <p:cNvPr id="4" name="B. 승인된 변경 범위 확인하기">
            <a:extLst xmlns:a="http://schemas.openxmlformats.org/drawingml/2006/main">
              <a:ext uri="{FF2B5EF4-FFF2-40B4-BE49-F238E27FC236}">
                <a16:creationId xmlns:a16="http://schemas.microsoft.com/office/drawing/2014/main" id="{22E72010-A0D3-40E9-ACDC-73D6420694E0}"/>
              </a:ext>
            </a:extLst>
          </p:cNvPr>
          <p:cNvSpPr>
            <a:spLocks xmlns:a="http://schemas.openxmlformats.org/drawingml/2006/main" noGrp="1"/>
          </p:cNvSpPr>
          <p:nvPr/>
        </p:nvSpPr>
        <p:spPr>
          <a:xfrm xmlns:a="http://schemas.openxmlformats.org/drawingml/2006/main">
            <a:off x="647700" y="521970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EAB196"/>
                </a:solidFill>
                <a:latin typeface="Noto Sans KR"/>
                <a:ea typeface="Noto Sans KR"/>
                <a:cs typeface="Noto Sans KR"/>
              </a:defRPr>
            </a:pPr>
            <a:r>
              <a:rPr sz="2700" b="0">
                <a:solidFill>
                  <a:srgbClr val="EAB196"/>
                </a:solidFill>
                <a:latin typeface="Noto Sans KR"/>
                <a:ea typeface="Noto Sans KR"/>
                <a:cs typeface="Noto Sans KR"/>
              </a:rPr>
              <a:t>B. 승인된 변경 범위 확인하기</a:t>
            </a:r>
          </a:p>
        </p:txBody>
      </p:sp>
      <p:sp>
        <p:nvSpPr>
          <p:cNvPr id="5" name="70–73분">
            <a:extLst xmlns:a="http://schemas.openxmlformats.org/drawingml/2006/main">
              <a:ext uri="{FF2B5EF4-FFF2-40B4-BE49-F238E27FC236}">
                <a16:creationId xmlns:a16="http://schemas.microsoft.com/office/drawing/2014/main" id="{37F6BF87-1437-421A-BE31-9C8AC2481C44}"/>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70–73분</a:t>
            </a:r>
          </a:p>
        </p:txBody>
      </p:sp>
      <p:sp>
        <p:nvSpPr>
          <p:cNvPr id="6" name="웹 실습 열기">
            <a:extLst xmlns:a="http://schemas.openxmlformats.org/drawingml/2006/main">
              <a:ext uri="{FF2B5EF4-FFF2-40B4-BE49-F238E27FC236}">
                <a16:creationId xmlns:a16="http://schemas.microsoft.com/office/drawing/2014/main" id="{04164DCF-0F17-46BC-B7C1-967BB026FBD2}"/>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3cbacdbed9a04983"/>
              </a:rPr>
              <a:t>웹 실습 열기</a:t>
            </a:r>
          </a:p>
        </p:txBody>
      </p:sp>
      <p:sp>
        <p:nvSpPr>
          <p:cNvPr id="7" name="24">
            <a:extLst xmlns:a="http://schemas.openxmlformats.org/drawingml/2006/main">
              <a:ext uri="{FF2B5EF4-FFF2-40B4-BE49-F238E27FC236}">
                <a16:creationId xmlns:a16="http://schemas.microsoft.com/office/drawing/2014/main" id="{3464B7CF-6E3B-433E-A614-F0F9F4803EAE}"/>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24</a:t>
            </a:r>
          </a:p>
        </p:txBody>
      </p:sp>
    </p:spTree>
    <p:extLst>
      <p:ext uri="{BB962C8B-B14F-4D97-AF65-F5344CB8AC3E}">
        <p14:creationId xmlns:p14="http://schemas.microsoft.com/office/powerpoint/2010/main" val="1077354543"/>
      </p:ext>
    </p:extLst>
  </p:cSld>
</p:sld>
</file>

<file path=ppt/slides/slide2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14C에서&#10;신청 연장 승인을 확인">
            <a:extLst xmlns:a="http://schemas.openxmlformats.org/drawingml/2006/main">
              <a:ext uri="{FF2B5EF4-FFF2-40B4-BE49-F238E27FC236}">
                <a16:creationId xmlns:a16="http://schemas.microsoft.com/office/drawing/2014/main" id="{265EEF03-9F72-4C28-B332-C4393AB5A2C8}"/>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14C에서</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신청 연장 승인을 확인</a:t>
            </a:r>
          </a:p>
        </p:txBody>
      </p:sp>
      <p:graphicFrame>
        <p:nvGraphicFramePr>
          <p:cNvPr id="7" name=""/>
          <p:cNvGraphicFramePr/>
          <p:nvPr/>
        </p:nvGraphicFramePr>
        <p:xfrm>
          <a:off xmlns:a="http://schemas.openxmlformats.org/drawingml/2006/main" x="619125" y="2790825"/>
          <a:ext xmlns:a="http://schemas.openxmlformats.org/drawingml/2006/main" cx="10953750" cy="2733675"/>
        </p:xfrm>
        <a:graphic xmlns:a="http://schemas.openxmlformats.org/drawingml/2006/main">
          <a:graphicData uri="http://schemas.openxmlformats.org/drawingml/2006/table">
            <a:tbl>
              <a:tblPr firstRow="1" bandRow="0"/>
              <a:tblGrid>
                <a:gridCol w="2714204"/>
                <a:gridCol w="2229524"/>
                <a:gridCol w="6010022"/>
              </a:tblGrid>
              <a:tr h="546735">
                <a:tc>
                  <a:txBody>
                    <a:bodyPr lIns="152400" tIns="85725" rIns="133350" bIns="76200">
                      <a:noAutofit/>
                    </a:bodyPr>
                    <a:lstStyle/>
                    <a:p>
                      <a:pPr algn="l"/>
                      <a:r>
                        <a:rPr sz="2250" b="1">
                          <a:solidFill>
                            <a:srgbClr val="F4F1E9"/>
                          </a:solidFill>
                          <a:latin typeface="Noto Sans KR"/>
                          <a:ea typeface="Noto Sans KR"/>
                          <a:cs typeface="Noto Sans KR"/>
                        </a:rPr>
                        <a:t>문서</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기준일</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읽을 내용</a:t>
                      </a:r>
                    </a:p>
                  </a:txBody>
                  <a:tcPr marL="91440" marR="91440" marT="45720" marB="45720" anchor="ctr">
                    <a:solidFill>
                      <a:srgbClr val="202921"/>
                    </a:solidFill>
                  </a:tcPr>
                </a:tc>
              </a:tr>
              <a:tr h="546735">
                <a:tc>
                  <a:txBody>
                    <a:bodyPr lIns="152400" tIns="85725" rIns="133350" bIns="76200">
                      <a:noAutofit/>
                    </a:bodyPr>
                    <a:lstStyle/>
                    <a:p>
                      <a:pPr algn="l"/>
                      <a:r>
                        <a:rPr sz="2250" b="0">
                          <a:solidFill>
                            <a:srgbClr val="202921"/>
                          </a:solidFill>
                          <a:latin typeface="Noto Sans KR"/>
                          <a:ea typeface="Noto Sans KR"/>
                          <a:cs typeface="Noto Sans KR"/>
                        </a:rPr>
                        <a:t>14A 최초 안내</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10/16</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기존 운영 조건</a:t>
                      </a:r>
                    </a:p>
                  </a:txBody>
                  <a:tcPr marL="91440" marR="91440" marT="45720" marB="45720" anchor="ctr">
                    <a:solidFill>
                      <a:srgbClr val="F4F1E9"/>
                    </a:solidFill>
                  </a:tcPr>
                </a:tc>
              </a:tr>
              <a:tr h="546735">
                <a:tc>
                  <a:txBody>
                    <a:bodyPr lIns="152400" tIns="85725" rIns="133350" bIns="76200">
                      <a:noAutofit/>
                    </a:bodyPr>
                    <a:lstStyle/>
                    <a:p>
                      <a:pPr algn="l"/>
                      <a:r>
                        <a:rPr sz="2250" b="0">
                          <a:solidFill>
                            <a:srgbClr val="202921"/>
                          </a:solidFill>
                          <a:latin typeface="Noto Sans KR"/>
                          <a:ea typeface="Noto Sans KR"/>
                          <a:cs typeface="Noto Sans KR"/>
                        </a:rPr>
                        <a:t>14B 업무 인계</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10/20</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완료·대기 업무</a:t>
                      </a:r>
                    </a:p>
                  </a:txBody>
                  <a:tcPr marL="91440" marR="91440" marT="45720" marB="45720" anchor="ctr">
                    <a:solidFill>
                      <a:srgbClr val="F4F1E9"/>
                    </a:solidFill>
                  </a:tcPr>
                </a:tc>
              </a:tr>
              <a:tr h="546735">
                <a:tc>
                  <a:txBody>
                    <a:bodyPr lIns="152400" tIns="85725" rIns="133350" bIns="76200">
                      <a:noAutofit/>
                    </a:bodyPr>
                    <a:lstStyle/>
                    <a:p>
                      <a:pPr algn="l"/>
                      <a:r>
                        <a:rPr sz="2250" b="0">
                          <a:solidFill>
                            <a:srgbClr val="202921"/>
                          </a:solidFill>
                          <a:latin typeface="Noto Sans KR"/>
                          <a:ea typeface="Noto Sans KR"/>
                          <a:cs typeface="Noto Sans KR"/>
                        </a:rPr>
                        <a:t>14C 변경 승인</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10/22</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항목별 승인 범위</a:t>
                      </a:r>
                    </a:p>
                  </a:txBody>
                  <a:tcPr marL="91440" marR="91440" marT="45720" marB="45720" anchor="ctr">
                    <a:solidFill>
                      <a:srgbClr val="F4F1E9"/>
                    </a:solidFill>
                  </a:tcPr>
                </a:tc>
              </a:tr>
              <a:tr h="546735">
                <a:tc>
                  <a:txBody>
                    <a:bodyPr lIns="152400" tIns="85725" rIns="133350" bIns="76200">
                      <a:noAutofit/>
                    </a:bodyPr>
                    <a:lstStyle/>
                    <a:p>
                      <a:pPr algn="l"/>
                      <a:r>
                        <a:rPr sz="2250" b="0">
                          <a:solidFill>
                            <a:srgbClr val="202921"/>
                          </a:solidFill>
                          <a:latin typeface="Noto Sans KR"/>
                          <a:ea typeface="Noto Sans KR"/>
                          <a:cs typeface="Noto Sans KR"/>
                        </a:rPr>
                        <a:t>14D 문의 목록</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10/22</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참가자·내부 문의 14건</a:t>
                      </a:r>
                    </a:p>
                  </a:txBody>
                  <a:tcPr marL="91440" marR="91440" marT="45720" marB="45720" anchor="ctr">
                    <a:solidFill>
                      <a:srgbClr val="F4F1E9"/>
                    </a:solidFill>
                  </a:tcPr>
                </a:tc>
              </a:tr>
            </a:tbl>
          </a:graphicData>
        </a:graphic>
      </p:graphicFrame>
      <p:sp>
        <p:nvSpPr>
          <p:cNvPr id="3" name="73–77분">
            <a:extLst xmlns:a="http://schemas.openxmlformats.org/drawingml/2006/main">
              <a:ext uri="{FF2B5EF4-FFF2-40B4-BE49-F238E27FC236}">
                <a16:creationId xmlns:a16="http://schemas.microsoft.com/office/drawing/2014/main" id="{D86BB534-77A8-405A-8C8D-5D9A5560C02B}"/>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73–77분</a:t>
            </a:r>
          </a:p>
        </p:txBody>
      </p:sp>
      <p:sp>
        <p:nvSpPr>
          <p:cNvPr id="4" name="웹 실습 열기">
            <a:extLst xmlns:a="http://schemas.openxmlformats.org/drawingml/2006/main">
              <a:ext uri="{FF2B5EF4-FFF2-40B4-BE49-F238E27FC236}">
                <a16:creationId xmlns:a16="http://schemas.microsoft.com/office/drawing/2014/main" id="{231C3DA1-EDBF-4F10-A104-CC872ED0E0AC}"/>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35b8b76a3be14be3"/>
              </a:rPr>
              <a:t>웹 실습 열기</a:t>
            </a:r>
          </a:p>
        </p:txBody>
      </p:sp>
      <p:sp>
        <p:nvSpPr>
          <p:cNvPr id="5" name="25">
            <a:extLst xmlns:a="http://schemas.openxmlformats.org/drawingml/2006/main">
              <a:ext uri="{FF2B5EF4-FFF2-40B4-BE49-F238E27FC236}">
                <a16:creationId xmlns:a16="http://schemas.microsoft.com/office/drawing/2014/main" id="{9E09E870-AF42-4663-AB3E-7DD3C3C1189A}"/>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25</a:t>
            </a:r>
          </a:p>
        </p:txBody>
      </p:sp>
    </p:spTree>
    <p:extLst>
      <p:ext uri="{BB962C8B-B14F-4D97-AF65-F5344CB8AC3E}">
        <p14:creationId xmlns:p14="http://schemas.microsoft.com/office/powerpoint/2010/main" val="474422859"/>
      </p:ext>
    </p:extLst>
  </p:cSld>
</p:sld>
</file>

<file path=ppt/slides/slide2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14A부터 14D까지 하나씩 추가합니다">
            <a:extLst xmlns:a="http://schemas.openxmlformats.org/drawingml/2006/main">
              <a:ext uri="{FF2B5EF4-FFF2-40B4-BE49-F238E27FC236}">
                <a16:creationId xmlns:a16="http://schemas.microsoft.com/office/drawing/2014/main" id="{4B0023E2-3A9D-408F-B156-E352F44BF2EB}"/>
              </a:ext>
            </a:extLst>
          </p:cNvPr>
          <p:cNvSpPr>
            <a:spLocks xmlns:a="http://schemas.openxmlformats.org/drawingml/2006/main" noGrp="1"/>
          </p:cNvSpPr>
          <p:nvPr/>
        </p:nvSpPr>
        <p:spPr>
          <a:xfrm xmlns:a="http://schemas.openxmlformats.org/drawingml/2006/main">
            <a:off x="590550" y="333375"/>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75" b="1">
                <a:solidFill>
                  <a:srgbClr val="202921"/>
                </a:solidFill>
                <a:latin typeface="Noto Sans KR"/>
                <a:ea typeface="Noto Sans KR"/>
                <a:cs typeface="Noto Sans KR"/>
              </a:defRPr>
            </a:pPr>
            <a:r>
              <a:rPr sz="3675" b="1">
                <a:solidFill>
                  <a:srgbClr val="202921"/>
                </a:solidFill>
                <a:latin typeface="Noto Sans KR"/>
                <a:ea typeface="Noto Sans KR"/>
                <a:cs typeface="Noto Sans KR"/>
              </a:rPr>
              <a:t>14A부터 14D까지 하나씩 추가합니다</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2c35e232a204035"/>
          <a:stretch xmlns:a="http://schemas.openxmlformats.org/drawingml/2006/main"/>
        </p:blipFill>
        <p:spPr>
          <a:xfrm xmlns:a="http://schemas.openxmlformats.org/drawingml/2006/main">
            <a:off x="3084007" y="1285875"/>
            <a:ext cx="6023987" cy="4152900"/>
          </a:xfrm>
          <a:prstGeom xmlns:a="http://schemas.openxmlformats.org/drawingml/2006/main" prst="rect">
            <a:avLst/>
          </a:prstGeom>
        </p:spPr>
      </p:pic>
      <p:sp>
        <p:nvSpPr>
          <p:cNvPr id="3" name="기본연습의 실제 소스 추가 화면 · 오늘은 14A~14D 사용">
            <a:extLst xmlns:a="http://schemas.openxmlformats.org/drawingml/2006/main">
              <a:ext uri="{FF2B5EF4-FFF2-40B4-BE49-F238E27FC236}">
                <a16:creationId xmlns:a16="http://schemas.microsoft.com/office/drawing/2014/main" id="{873AF8D3-A13A-409C-A34C-60E7A84199F2}"/>
              </a:ext>
            </a:extLst>
          </p:cNvPr>
          <p:cNvSpPr>
            <a:spLocks xmlns:a="http://schemas.openxmlformats.org/drawingml/2006/main" noGrp="1"/>
          </p:cNvSpPr>
          <p:nvPr/>
        </p:nvSpPr>
        <p:spPr>
          <a:xfrm xmlns:a="http://schemas.openxmlformats.org/drawingml/2006/main">
            <a:off x="619125" y="57626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86356"/>
                </a:solidFill>
                <a:latin typeface="Noto Sans KR"/>
                <a:ea typeface="Noto Sans KR"/>
                <a:cs typeface="Noto Sans KR"/>
              </a:defRPr>
            </a:pPr>
            <a:r>
              <a:rPr sz="1725" b="0">
                <a:solidFill>
                  <a:srgbClr val="586356"/>
                </a:solidFill>
                <a:latin typeface="Noto Sans KR"/>
                <a:ea typeface="Noto Sans KR"/>
                <a:cs typeface="Noto Sans KR"/>
              </a:rPr>
              <a:t>기본연습의 실제 소스 추가 화면 · 오늘은 14A~14D 사용</a:t>
            </a:r>
          </a:p>
        </p:txBody>
      </p:sp>
      <p:sp>
        <p:nvSpPr>
          <p:cNvPr id="4" name="77–80분">
            <a:extLst xmlns:a="http://schemas.openxmlformats.org/drawingml/2006/main">
              <a:ext uri="{FF2B5EF4-FFF2-40B4-BE49-F238E27FC236}">
                <a16:creationId xmlns:a16="http://schemas.microsoft.com/office/drawing/2014/main" id="{0D2EA211-BC84-4AD9-BFEC-854EF72DA2FB}"/>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77–80분</a:t>
            </a:r>
          </a:p>
        </p:txBody>
      </p:sp>
      <p:sp>
        <p:nvSpPr>
          <p:cNvPr id="5" name="웹 실습 열기">
            <a:extLst xmlns:a="http://schemas.openxmlformats.org/drawingml/2006/main">
              <a:ext uri="{FF2B5EF4-FFF2-40B4-BE49-F238E27FC236}">
                <a16:creationId xmlns:a16="http://schemas.microsoft.com/office/drawing/2014/main" id="{37A1A2B3-BB93-4153-91C5-27CADD26F831}"/>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03a718cf47b44cb9"/>
              </a:rPr>
              <a:t>웹 실습 열기</a:t>
            </a:r>
          </a:p>
        </p:txBody>
      </p:sp>
      <p:sp>
        <p:nvSpPr>
          <p:cNvPr id="6" name="26">
            <a:extLst xmlns:a="http://schemas.openxmlformats.org/drawingml/2006/main">
              <a:ext uri="{FF2B5EF4-FFF2-40B4-BE49-F238E27FC236}">
                <a16:creationId xmlns:a16="http://schemas.microsoft.com/office/drawing/2014/main" id="{61DDB5FD-CB0E-48AF-8A9A-1A851A3E9751}"/>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26</a:t>
            </a:r>
          </a:p>
        </p:txBody>
      </p:sp>
    </p:spTree>
    <p:extLst>
      <p:ext uri="{BB962C8B-B14F-4D97-AF65-F5344CB8AC3E}">
        <p14:creationId xmlns:p14="http://schemas.microsoft.com/office/powerpoint/2010/main" val="752910048"/>
      </p:ext>
    </p:extLst>
  </p:cSld>
</p:sld>
</file>

<file path=ppt/slides/slide2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신청은 26일까지,&#10;취소는 28일 정오까지">
            <a:extLst xmlns:a="http://schemas.openxmlformats.org/drawingml/2006/main">
              <a:ext uri="{FF2B5EF4-FFF2-40B4-BE49-F238E27FC236}">
                <a16:creationId xmlns:a16="http://schemas.microsoft.com/office/drawing/2014/main" id="{3563E66F-D585-40E5-9142-A0954AD5B1FE}"/>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신청은 26일까지,</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취소는 28일 정오까지</a:t>
            </a:r>
          </a:p>
        </p:txBody>
      </p:sp>
      <p:graphicFrame>
        <p:nvGraphicFramePr>
          <p:cNvPr id="7" name=""/>
          <p:cNvGraphicFramePr/>
          <p:nvPr/>
        </p:nvGraphicFramePr>
        <p:xfrm>
          <a:off xmlns:a="http://schemas.openxmlformats.org/drawingml/2006/main" x="619125" y="2790825"/>
          <a:ext xmlns:a="http://schemas.openxmlformats.org/drawingml/2006/main" cx="10953750" cy="2733675"/>
        </p:xfrm>
        <a:graphic xmlns:a="http://schemas.openxmlformats.org/drawingml/2006/main">
          <a:graphicData uri="http://schemas.openxmlformats.org/drawingml/2006/table">
            <a:tbl>
              <a:tblPr firstRow="1" bandRow="0"/>
              <a:tblGrid>
                <a:gridCol w="5476875"/>
                <a:gridCol w="5476875"/>
              </a:tblGrid>
              <a:tr h="546735">
                <a:tc>
                  <a:txBody>
                    <a:bodyPr lIns="152400" tIns="85725" rIns="133350" bIns="76200">
                      <a:noAutofit/>
                    </a:bodyPr>
                    <a:lstStyle/>
                    <a:p>
                      <a:pPr algn="l"/>
                      <a:r>
                        <a:rPr sz="2250" b="1">
                          <a:solidFill>
                            <a:srgbClr val="F4F1E9"/>
                          </a:solidFill>
                          <a:latin typeface="Noto Sans KR"/>
                          <a:ea typeface="Noto Sans KR"/>
                          <a:cs typeface="Noto Sans KR"/>
                        </a:rPr>
                        <a:t>항목</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현재 적용</a:t>
                      </a:r>
                    </a:p>
                  </a:txBody>
                  <a:tcPr marL="91440" marR="91440" marT="45720" marB="45720" anchor="ctr">
                    <a:solidFill>
                      <a:srgbClr val="202921"/>
                    </a:solidFill>
                  </a:tcPr>
                </a:tc>
              </a:tr>
              <a:tr h="546735">
                <a:tc>
                  <a:txBody>
                    <a:bodyPr lIns="152400" tIns="85725" rIns="133350" bIns="76200">
                      <a:noAutofit/>
                    </a:bodyPr>
                    <a:lstStyle/>
                    <a:p>
                      <a:pPr algn="l"/>
                      <a:r>
                        <a:rPr sz="2250" b="0">
                          <a:solidFill>
                            <a:srgbClr val="202921"/>
                          </a:solidFill>
                          <a:latin typeface="Noto Sans KR"/>
                          <a:ea typeface="Noto Sans KR"/>
                          <a:cs typeface="Noto Sans KR"/>
                        </a:rPr>
                        <a:t>신청 마감</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10/26 18:00</a:t>
                      </a:r>
                    </a:p>
                  </a:txBody>
                  <a:tcPr marL="91440" marR="91440" marT="45720" marB="45720" anchor="ctr">
                    <a:solidFill>
                      <a:srgbClr val="F4F1E9"/>
                    </a:solidFill>
                  </a:tcPr>
                </a:tc>
              </a:tr>
              <a:tr h="546735">
                <a:tc>
                  <a:txBody>
                    <a:bodyPr lIns="152400" tIns="85725" rIns="133350" bIns="76200">
                      <a:noAutofit/>
                    </a:bodyPr>
                    <a:lstStyle/>
                    <a:p>
                      <a:pPr algn="l"/>
                      <a:r>
                        <a:rPr sz="2250" b="0">
                          <a:solidFill>
                            <a:srgbClr val="202921"/>
                          </a:solidFill>
                          <a:latin typeface="Noto Sans KR"/>
                          <a:ea typeface="Noto Sans KR"/>
                          <a:cs typeface="Noto Sans KR"/>
                        </a:rPr>
                        <a:t>취소 통보</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10/28 12:00</a:t>
                      </a:r>
                    </a:p>
                  </a:txBody>
                  <a:tcPr marL="91440" marR="91440" marT="45720" marB="45720" anchor="ctr">
                    <a:solidFill>
                      <a:srgbClr val="F4F1E9"/>
                    </a:solidFill>
                  </a:tcPr>
                </a:tc>
              </a:tr>
              <a:tr h="546735">
                <a:tc>
                  <a:txBody>
                    <a:bodyPr lIns="152400" tIns="85725" rIns="133350" bIns="76200">
                      <a:noAutofit/>
                    </a:bodyPr>
                    <a:lstStyle/>
                    <a:p>
                      <a:pPr algn="l"/>
                      <a:r>
                        <a:rPr sz="2250" b="0">
                          <a:solidFill>
                            <a:srgbClr val="202921"/>
                          </a:solidFill>
                          <a:latin typeface="Noto Sans KR"/>
                          <a:ea typeface="Noto Sans KR"/>
                          <a:cs typeface="Noto Sans KR"/>
                        </a:rPr>
                        <a:t>장소</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201호 유지</a:t>
                      </a:r>
                    </a:p>
                  </a:txBody>
                  <a:tcPr marL="91440" marR="91440" marT="45720" marB="45720" anchor="ctr">
                    <a:solidFill>
                      <a:srgbClr val="F4F1E9"/>
                    </a:solidFill>
                  </a:tcPr>
                </a:tc>
              </a:tr>
              <a:tr h="546735">
                <a:tc>
                  <a:txBody>
                    <a:bodyPr lIns="152400" tIns="85725" rIns="133350" bIns="76200">
                      <a:noAutofit/>
                    </a:bodyPr>
                    <a:lstStyle/>
                    <a:p>
                      <a:pPr algn="l"/>
                      <a:r>
                        <a:rPr sz="2250" b="0">
                          <a:solidFill>
                            <a:srgbClr val="202921"/>
                          </a:solidFill>
                          <a:latin typeface="Noto Sans KR"/>
                          <a:ea typeface="Noto Sans KR"/>
                          <a:cs typeface="Noto Sans KR"/>
                        </a:rPr>
                        <a:t>기기 대여</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4대 확보, 개인 배정 미정</a:t>
                      </a:r>
                    </a:p>
                  </a:txBody>
                  <a:tcPr marL="91440" marR="91440" marT="45720" marB="45720" anchor="ctr">
                    <a:solidFill>
                      <a:srgbClr val="F4F1E9"/>
                    </a:solidFill>
                  </a:tcPr>
                </a:tc>
              </a:tr>
            </a:tbl>
          </a:graphicData>
        </a:graphic>
      </p:graphicFrame>
      <p:sp>
        <p:nvSpPr>
          <p:cNvPr id="3" name="80–83분">
            <a:extLst xmlns:a="http://schemas.openxmlformats.org/drawingml/2006/main">
              <a:ext uri="{FF2B5EF4-FFF2-40B4-BE49-F238E27FC236}">
                <a16:creationId xmlns:a16="http://schemas.microsoft.com/office/drawing/2014/main" id="{34F13049-7E30-464D-84AA-F5CB0768EC54}"/>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80–83분</a:t>
            </a:r>
          </a:p>
        </p:txBody>
      </p:sp>
      <p:sp>
        <p:nvSpPr>
          <p:cNvPr id="4" name="웹 실습 열기">
            <a:extLst xmlns:a="http://schemas.openxmlformats.org/drawingml/2006/main">
              <a:ext uri="{FF2B5EF4-FFF2-40B4-BE49-F238E27FC236}">
                <a16:creationId xmlns:a16="http://schemas.microsoft.com/office/drawing/2014/main" id="{3BE9BA51-9FEB-4A25-9118-A3C30C648217}"/>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271658d453134e08"/>
              </a:rPr>
              <a:t>웹 실습 열기</a:t>
            </a:r>
          </a:p>
        </p:txBody>
      </p:sp>
      <p:sp>
        <p:nvSpPr>
          <p:cNvPr id="5" name="27">
            <a:extLst xmlns:a="http://schemas.openxmlformats.org/drawingml/2006/main">
              <a:ext uri="{FF2B5EF4-FFF2-40B4-BE49-F238E27FC236}">
                <a16:creationId xmlns:a16="http://schemas.microsoft.com/office/drawing/2014/main" id="{CE61EDE2-11EB-43EE-924D-DB4893F9CE7B}"/>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27</a:t>
            </a:r>
          </a:p>
        </p:txBody>
      </p:sp>
    </p:spTree>
    <p:extLst>
      <p:ext uri="{BB962C8B-B14F-4D97-AF65-F5344CB8AC3E}">
        <p14:creationId xmlns:p14="http://schemas.microsoft.com/office/powerpoint/2010/main" val="195958389"/>
      </p:ext>
    </p:extLst>
  </p:cSld>
</p:sld>
</file>

<file path=ppt/slides/slide28.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11" name="직접 해볼 시간">
            <a:extLst xmlns:a="http://schemas.openxmlformats.org/drawingml/2006/main">
              <a:ext uri="{FF2B5EF4-FFF2-40B4-BE49-F238E27FC236}">
                <a16:creationId xmlns:a16="http://schemas.microsoft.com/office/drawing/2014/main" id="{3E2AA38F-B7DB-4954-B942-E98CD80DDD41}"/>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직접 해볼 시간</a:t>
            </a:r>
          </a:p>
        </p:txBody>
      </p:sp>
      <p:sp>
        <p:nvSpPr>
          <p:cNvPr id="2" name="4분">
            <a:extLst xmlns:a="http://schemas.openxmlformats.org/drawingml/2006/main">
              <a:ext uri="{FF2B5EF4-FFF2-40B4-BE49-F238E27FC236}">
                <a16:creationId xmlns:a16="http://schemas.microsoft.com/office/drawing/2014/main" id="{C189B1F1-BF72-4DCD-A179-511014241CD0}"/>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4분</a:t>
            </a:r>
          </a:p>
        </p:txBody>
      </p:sp>
      <p:sp>
        <p:nvSpPr>
          <p:cNvPr id="3" name="공지 한 곳만 고치면&#10;끝날까요?">
            <a:extLst xmlns:a="http://schemas.openxmlformats.org/drawingml/2006/main">
              <a:ext uri="{FF2B5EF4-FFF2-40B4-BE49-F238E27FC236}">
                <a16:creationId xmlns:a16="http://schemas.microsoft.com/office/drawing/2014/main" id="{3B37F24A-3BE3-4D98-ACC4-DC40B4A4CA60}"/>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공지 한 곳만 고치면</a:t>
            </a:r>
          </a:p>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끝날까요?</a:t>
            </a:r>
          </a:p>
        </p:txBody>
      </p:sp>
      <p:sp>
        <p:nvSpPr>
          <p:cNvPr id="4" name="A3의 신청 안내 수정">
            <a:extLst xmlns:a="http://schemas.openxmlformats.org/drawingml/2006/main">
              <a:ext uri="{FF2B5EF4-FFF2-40B4-BE49-F238E27FC236}">
                <a16:creationId xmlns:a16="http://schemas.microsoft.com/office/drawing/2014/main" id="{D79241E6-4F26-4C63-BADA-5DF3E7735E73}"/>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A3의 신청 안내 수정</a:t>
            </a:r>
          </a:p>
        </p:txBody>
      </p:sp>
      <p:sp>
        <p:nvSpPr>
          <p:cNvPr id="5" name="A5-2 부서 문안·C5 포털 문안 수정">
            <a:extLst xmlns:a="http://schemas.openxmlformats.org/drawingml/2006/main">
              <a:ext uri="{FF2B5EF4-FFF2-40B4-BE49-F238E27FC236}">
                <a16:creationId xmlns:a16="http://schemas.microsoft.com/office/drawing/2014/main" id="{6B66545D-6039-469A-A732-9F668B9AC49A}"/>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A5-2 부서 문안·C5 포털 문안 수정</a:t>
            </a:r>
          </a:p>
        </p:txBody>
      </p:sp>
      <p:sp>
        <p:nvSpPr>
          <p:cNvPr id="6" name="수정 완료 회신이 있는지 확인">
            <a:extLst xmlns:a="http://schemas.openxmlformats.org/drawingml/2006/main">
              <a:ext uri="{FF2B5EF4-FFF2-40B4-BE49-F238E27FC236}">
                <a16:creationId xmlns:a16="http://schemas.microsoft.com/office/drawing/2014/main" id="{E6B42941-D5CB-48DE-8895-590B389640E4}"/>
              </a:ext>
            </a:extLst>
          </p:cNvPr>
          <p:cNvSpPr>
            <a:spLocks xmlns:a="http://schemas.openxmlformats.org/drawingml/2006/main" noGrp="1"/>
          </p:cNvSpPr>
          <p:nvPr/>
        </p:nvSpPr>
        <p:spPr>
          <a:xfrm xmlns:a="http://schemas.openxmlformats.org/drawingml/2006/main">
            <a:off x="4019550" y="4733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수정 완료 회신이 있는지 확인</a:t>
            </a:r>
          </a:p>
        </p:txBody>
      </p:sp>
      <p:sp>
        <p:nvSpPr>
          <p:cNvPr id="7" name="수정표 3행과 남은 업무">
            <a:extLst xmlns:a="http://schemas.openxmlformats.org/drawingml/2006/main">
              <a:ext uri="{FF2B5EF4-FFF2-40B4-BE49-F238E27FC236}">
                <a16:creationId xmlns:a16="http://schemas.microsoft.com/office/drawing/2014/main" id="{A53F1A9B-17AB-469E-A23F-A366A49B9DF3}"/>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EBB597"/>
                </a:solidFill>
                <a:latin typeface="Noto Sans KR"/>
                <a:ea typeface="Noto Sans KR"/>
                <a:cs typeface="Noto Sans KR"/>
              </a:defRPr>
            </a:pPr>
            <a:r>
              <a:rPr sz="2325" b="1">
                <a:solidFill>
                  <a:srgbClr val="EBB597"/>
                </a:solidFill>
                <a:latin typeface="Noto Sans KR"/>
                <a:ea typeface="Noto Sans KR"/>
                <a:cs typeface="Noto Sans KR"/>
              </a:rPr>
              <a:t>수정표 3행과 남은 업무</a:t>
            </a:r>
          </a:p>
        </p:txBody>
      </p:sp>
      <p:sp>
        <p:nvSpPr>
          <p:cNvPr id="8" name="83–87분">
            <a:extLst xmlns:a="http://schemas.openxmlformats.org/drawingml/2006/main">
              <a:ext uri="{FF2B5EF4-FFF2-40B4-BE49-F238E27FC236}">
                <a16:creationId xmlns:a16="http://schemas.microsoft.com/office/drawing/2014/main" id="{243E9122-AA33-4439-BEC3-131873E0E417}"/>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83–87분</a:t>
            </a:r>
          </a:p>
        </p:txBody>
      </p:sp>
      <p:sp>
        <p:nvSpPr>
          <p:cNvPr id="9" name="웹 실습 열기">
            <a:extLst xmlns:a="http://schemas.openxmlformats.org/drawingml/2006/main">
              <a:ext uri="{FF2B5EF4-FFF2-40B4-BE49-F238E27FC236}">
                <a16:creationId xmlns:a16="http://schemas.microsoft.com/office/drawing/2014/main" id="{1CDA0963-0A77-4851-9A94-239766EBB791}"/>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83e44b04435c4d15"/>
              </a:rPr>
              <a:t>웹 실습 열기</a:t>
            </a:r>
          </a:p>
        </p:txBody>
      </p:sp>
      <p:sp>
        <p:nvSpPr>
          <p:cNvPr id="10" name="28">
            <a:extLst xmlns:a="http://schemas.openxmlformats.org/drawingml/2006/main">
              <a:ext uri="{FF2B5EF4-FFF2-40B4-BE49-F238E27FC236}">
                <a16:creationId xmlns:a16="http://schemas.microsoft.com/office/drawing/2014/main" id="{520EEB3E-132C-4B5A-B8B9-6EF57ACBD3C8}"/>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28</a:t>
            </a:r>
          </a:p>
        </p:txBody>
      </p:sp>
    </p:spTree>
    <p:extLst>
      <p:ext uri="{BB962C8B-B14F-4D97-AF65-F5344CB8AC3E}">
        <p14:creationId xmlns:p14="http://schemas.microsoft.com/office/powerpoint/2010/main" val="353277284"/>
      </p:ext>
    </p:extLst>
  </p:cSld>
</p:sld>
</file>

<file path=ppt/slides/slide2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확보, 배정, 회신이 같은 뜻일까요?">
            <a:extLst xmlns:a="http://schemas.openxmlformats.org/drawingml/2006/main">
              <a:ext uri="{FF2B5EF4-FFF2-40B4-BE49-F238E27FC236}">
                <a16:creationId xmlns:a16="http://schemas.microsoft.com/office/drawing/2014/main" id="{78299F05-FEB7-4A96-AB83-A76BB396DB6B}"/>
              </a:ext>
            </a:extLst>
          </p:cNvPr>
          <p:cNvSpPr>
            <a:spLocks xmlns:a="http://schemas.openxmlformats.org/drawingml/2006/main" noGrp="1"/>
          </p:cNvSpPr>
          <p:nvPr/>
        </p:nvSpPr>
        <p:spPr>
          <a:xfrm xmlns:a="http://schemas.openxmlformats.org/drawingml/2006/main">
            <a:off x="590550" y="333375"/>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75" b="1">
                <a:solidFill>
                  <a:srgbClr val="202921"/>
                </a:solidFill>
                <a:latin typeface="Noto Sans KR"/>
                <a:ea typeface="Noto Sans KR"/>
                <a:cs typeface="Noto Sans KR"/>
              </a:defRPr>
            </a:pPr>
            <a:r>
              <a:rPr sz="3675" b="1">
                <a:solidFill>
                  <a:srgbClr val="202921"/>
                </a:solidFill>
                <a:latin typeface="Noto Sans KR"/>
                <a:ea typeface="Noto Sans KR"/>
                <a:cs typeface="Noto Sans KR"/>
              </a:rPr>
              <a:t>확보, 배정, 회신이 같은 뜻일까요?</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343ca14149b4909"/>
          <a:srcRect xmlns:a="http://schemas.openxmlformats.org/drawingml/2006/main" l="30000" t="16300" r="7000" b="63000"/>
          <a:stretch xmlns:a="http://schemas.openxmlformats.org/drawingml/2006/main"/>
        </p:blipFill>
        <p:spPr>
          <a:xfrm xmlns:a="http://schemas.openxmlformats.org/drawingml/2006/main">
            <a:off x="590550" y="1894476"/>
            <a:ext cx="11010900" cy="2935699"/>
          </a:xfrm>
          <a:prstGeom xmlns:a="http://schemas.openxmlformats.org/drawingml/2006/main" prst="rect">
            <a:avLst/>
          </a:prstGeom>
        </p:spPr>
      </p:pic>
      <p:sp>
        <p:nvSpPr>
          <p:cNvPr id="3" name="네 소스를 사용한 실제 NotebookLM 답변 일부">
            <a:extLst xmlns:a="http://schemas.openxmlformats.org/drawingml/2006/main">
              <a:ext uri="{FF2B5EF4-FFF2-40B4-BE49-F238E27FC236}">
                <a16:creationId xmlns:a16="http://schemas.microsoft.com/office/drawing/2014/main" id="{822BB9AD-0D82-4CAB-A504-A8C733E3B726}"/>
              </a:ext>
            </a:extLst>
          </p:cNvPr>
          <p:cNvSpPr>
            <a:spLocks xmlns:a="http://schemas.openxmlformats.org/drawingml/2006/main" noGrp="1"/>
          </p:cNvSpPr>
          <p:nvPr/>
        </p:nvSpPr>
        <p:spPr>
          <a:xfrm xmlns:a="http://schemas.openxmlformats.org/drawingml/2006/main">
            <a:off x="619125" y="57626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86356"/>
                </a:solidFill>
                <a:latin typeface="Noto Sans KR"/>
                <a:ea typeface="Noto Sans KR"/>
                <a:cs typeface="Noto Sans KR"/>
              </a:defRPr>
            </a:pPr>
            <a:r>
              <a:rPr sz="1725" b="0">
                <a:solidFill>
                  <a:srgbClr val="586356"/>
                </a:solidFill>
                <a:latin typeface="Noto Sans KR"/>
                <a:ea typeface="Noto Sans KR"/>
                <a:cs typeface="Noto Sans KR"/>
              </a:rPr>
              <a:t>네 소스를 사용한 실제 NotebookLM 답변 일부</a:t>
            </a:r>
          </a:p>
        </p:txBody>
      </p:sp>
      <p:sp>
        <p:nvSpPr>
          <p:cNvPr id="4" name="87–89분">
            <a:extLst xmlns:a="http://schemas.openxmlformats.org/drawingml/2006/main">
              <a:ext uri="{FF2B5EF4-FFF2-40B4-BE49-F238E27FC236}">
                <a16:creationId xmlns:a16="http://schemas.microsoft.com/office/drawing/2014/main" id="{DE0A0470-D361-4E1E-803A-31D70B2B3B25}"/>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87–89분</a:t>
            </a:r>
          </a:p>
        </p:txBody>
      </p:sp>
      <p:sp>
        <p:nvSpPr>
          <p:cNvPr id="5" name="웹 실습 열기">
            <a:extLst xmlns:a="http://schemas.openxmlformats.org/drawingml/2006/main">
              <a:ext uri="{FF2B5EF4-FFF2-40B4-BE49-F238E27FC236}">
                <a16:creationId xmlns:a16="http://schemas.microsoft.com/office/drawing/2014/main" id="{17B758F4-2940-43B0-91FE-37DBBDF88D8A}"/>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14a186d464a349f5"/>
              </a:rPr>
              <a:t>웹 실습 열기</a:t>
            </a:r>
          </a:p>
        </p:txBody>
      </p:sp>
      <p:sp>
        <p:nvSpPr>
          <p:cNvPr id="6" name="29">
            <a:extLst xmlns:a="http://schemas.openxmlformats.org/drawingml/2006/main">
              <a:ext uri="{FF2B5EF4-FFF2-40B4-BE49-F238E27FC236}">
                <a16:creationId xmlns:a16="http://schemas.microsoft.com/office/drawing/2014/main" id="{0EBA12B5-C076-468B-9759-93064B169F16}"/>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29</a:t>
            </a:r>
          </a:p>
        </p:txBody>
      </p:sp>
    </p:spTree>
    <p:extLst>
      <p:ext uri="{BB962C8B-B14F-4D97-AF65-F5344CB8AC3E}">
        <p14:creationId xmlns:p14="http://schemas.microsoft.com/office/powerpoint/2010/main" val="1890185179"/>
      </p:ext>
    </p:extLst>
  </p:cSld>
</p:sld>
</file>

<file path=ppt/slides/slide3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9" name="인용 문서 밖에&#10;무엇을 더 볼까요?">
            <a:extLst xmlns:a="http://schemas.openxmlformats.org/drawingml/2006/main">
              <a:ext uri="{FF2B5EF4-FFF2-40B4-BE49-F238E27FC236}">
                <a16:creationId xmlns:a16="http://schemas.microsoft.com/office/drawing/2014/main" id="{08A6D308-D72A-4AF9-B4B1-89C037358A2A}"/>
              </a:ext>
            </a:extLst>
          </p:cNvPr>
          <p:cNvSpPr>
            <a:spLocks xmlns:a="http://schemas.openxmlformats.org/drawingml/2006/main" noGrp="1"/>
          </p:cNvSpPr>
          <p:nvPr/>
        </p:nvSpPr>
        <p:spPr>
          <a:xfrm xmlns:a="http://schemas.openxmlformats.org/drawingml/2006/main">
            <a:off x="590550" y="352425"/>
            <a:ext cx="10953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425" b="1">
                <a:solidFill>
                  <a:srgbClr val="202921"/>
                </a:solidFill>
                <a:latin typeface="Noto Sans KR"/>
                <a:ea typeface="Noto Sans KR"/>
                <a:cs typeface="Noto Sans KR"/>
              </a:defRPr>
            </a:pPr>
            <a:r>
              <a:rPr sz="4425" b="1">
                <a:solidFill>
                  <a:srgbClr val="202921"/>
                </a:solidFill>
                <a:latin typeface="Noto Sans KR"/>
                <a:ea typeface="Noto Sans KR"/>
                <a:cs typeface="Noto Sans KR"/>
              </a:rPr>
              <a:t>인용 문서 밖에</a:t>
            </a:r>
          </a:p>
          <a:p xmlns:a="http://schemas.openxmlformats.org/drawingml/2006/main">
            <a:pPr algn="l">
              <a:lnSpc>
                <a:spcPct val="112000"/>
              </a:lnSpc>
              <a:buNone/>
              <a:defRPr sz="4425" b="1">
                <a:solidFill>
                  <a:srgbClr val="202921"/>
                </a:solidFill>
                <a:latin typeface="Noto Sans KR"/>
                <a:ea typeface="Noto Sans KR"/>
                <a:cs typeface="Noto Sans KR"/>
              </a:defRPr>
            </a:pPr>
            <a:r>
              <a:rPr sz="4425" b="1">
                <a:solidFill>
                  <a:srgbClr val="202921"/>
                </a:solidFill>
                <a:latin typeface="Noto Sans KR"/>
                <a:ea typeface="Noto Sans KR"/>
                <a:cs typeface="Noto Sans KR"/>
              </a:rPr>
              <a:t>무엇을 더 볼까요?</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95d6bc969fe48db"/>
          <a:srcRect xmlns:a="http://schemas.openxmlformats.org/drawingml/2006/main" l="22000" t="1500" r="16000" b="68800"/>
          <a:stretch xmlns:a="http://schemas.openxmlformats.org/drawingml/2006/main"/>
        </p:blipFill>
        <p:spPr>
          <a:xfrm xmlns:a="http://schemas.openxmlformats.org/drawingml/2006/main">
            <a:off x="645390" y="2047875"/>
            <a:ext cx="7681770" cy="3752850"/>
          </a:xfrm>
          <a:prstGeom xmlns:a="http://schemas.openxmlformats.org/drawingml/2006/main" prst="rect">
            <a:avLst/>
          </a:prstGeom>
        </p:spPr>
      </p:pic>
      <p:sp>
        <p:nvSpPr>
          <p:cNvPr id="3" name="A. 기존 공지의 다른 인용">
            <a:extLst xmlns:a="http://schemas.openxmlformats.org/drawingml/2006/main">
              <a:ext uri="{FF2B5EF4-FFF2-40B4-BE49-F238E27FC236}">
                <a16:creationId xmlns:a16="http://schemas.microsoft.com/office/drawing/2014/main" id="{ADD2173F-2598-4C61-98D5-193FE9F7CA5D}"/>
              </a:ext>
            </a:extLst>
          </p:cNvPr>
          <p:cNvSpPr>
            <a:spLocks xmlns:a="http://schemas.openxmlformats.org/drawingml/2006/main" noGrp="1"/>
          </p:cNvSpPr>
          <p:nvPr/>
        </p:nvSpPr>
        <p:spPr>
          <a:xfrm xmlns:a="http://schemas.openxmlformats.org/drawingml/2006/main">
            <a:off x="8715375" y="2790825"/>
            <a:ext cx="28575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A. 기존 공지의</a:t>
            </a:r>
          </a:p>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다른 인용</a:t>
            </a:r>
          </a:p>
        </p:txBody>
      </p:sp>
      <p:sp>
        <p:nvSpPr>
          <p:cNvPr id="4" name="B. 나중에 승인된 변경 문서">
            <a:extLst xmlns:a="http://schemas.openxmlformats.org/drawingml/2006/main">
              <a:ext uri="{FF2B5EF4-FFF2-40B4-BE49-F238E27FC236}">
                <a16:creationId xmlns:a16="http://schemas.microsoft.com/office/drawing/2014/main" id="{C15A0829-3BB9-4EDE-89CF-ED3ECE511B23}"/>
              </a:ext>
            </a:extLst>
          </p:cNvPr>
          <p:cNvSpPr>
            <a:spLocks xmlns:a="http://schemas.openxmlformats.org/drawingml/2006/main" noGrp="1"/>
          </p:cNvSpPr>
          <p:nvPr/>
        </p:nvSpPr>
        <p:spPr>
          <a:xfrm xmlns:a="http://schemas.openxmlformats.org/drawingml/2006/main">
            <a:off x="8715375" y="4362450"/>
            <a:ext cx="28575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B. 나중에 승인된</a:t>
            </a:r>
          </a:p>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변경 문서</a:t>
            </a:r>
          </a:p>
        </p:txBody>
      </p:sp>
      <p:sp>
        <p:nvSpPr>
          <p:cNvPr id="5" name="기본연습의 실제 인용 화면 · 10월 23일은 구기한">
            <a:extLst xmlns:a="http://schemas.openxmlformats.org/drawingml/2006/main">
              <a:ext uri="{FF2B5EF4-FFF2-40B4-BE49-F238E27FC236}">
                <a16:creationId xmlns:a16="http://schemas.microsoft.com/office/drawing/2014/main" id="{09D1E806-D028-45F6-9A8B-FF3FCE1E9811}"/>
              </a:ext>
            </a:extLst>
          </p:cNvPr>
          <p:cNvSpPr>
            <a:spLocks xmlns:a="http://schemas.openxmlformats.org/drawingml/2006/main" noGrp="1"/>
          </p:cNvSpPr>
          <p:nvPr/>
        </p:nvSpPr>
        <p:spPr>
          <a:xfrm xmlns:a="http://schemas.openxmlformats.org/drawingml/2006/main">
            <a:off x="638175" y="6000750"/>
            <a:ext cx="1090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86356"/>
                </a:solidFill>
                <a:latin typeface="Noto Sans KR"/>
                <a:ea typeface="Noto Sans KR"/>
                <a:cs typeface="Noto Sans KR"/>
              </a:defRPr>
            </a:pPr>
            <a:r>
              <a:rPr sz="1725" b="0">
                <a:solidFill>
                  <a:srgbClr val="586356"/>
                </a:solidFill>
                <a:latin typeface="Noto Sans KR"/>
                <a:ea typeface="Noto Sans KR"/>
                <a:cs typeface="Noto Sans KR"/>
              </a:rPr>
              <a:t>기본연습의 실제 인용 화면 · 10월 23일은 구기한</a:t>
            </a:r>
          </a:p>
        </p:txBody>
      </p:sp>
      <p:sp>
        <p:nvSpPr>
          <p:cNvPr id="6" name="89–92분">
            <a:extLst xmlns:a="http://schemas.openxmlformats.org/drawingml/2006/main">
              <a:ext uri="{FF2B5EF4-FFF2-40B4-BE49-F238E27FC236}">
                <a16:creationId xmlns:a16="http://schemas.microsoft.com/office/drawing/2014/main" id="{0B9CE5CD-E0FA-4DAF-BB28-99601C0CB907}"/>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89–92분</a:t>
            </a:r>
          </a:p>
        </p:txBody>
      </p:sp>
      <p:sp>
        <p:nvSpPr>
          <p:cNvPr id="7" name="웹 실습 열기">
            <a:extLst xmlns:a="http://schemas.openxmlformats.org/drawingml/2006/main">
              <a:ext uri="{FF2B5EF4-FFF2-40B4-BE49-F238E27FC236}">
                <a16:creationId xmlns:a16="http://schemas.microsoft.com/office/drawing/2014/main" id="{6337C999-B767-4873-9A08-E7DF5D5F5F21}"/>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1f939fbf02b04d06"/>
              </a:rPr>
              <a:t>웹 실습 열기</a:t>
            </a:r>
          </a:p>
        </p:txBody>
      </p:sp>
      <p:sp>
        <p:nvSpPr>
          <p:cNvPr id="8" name="30">
            <a:extLst xmlns:a="http://schemas.openxmlformats.org/drawingml/2006/main">
              <a:ext uri="{FF2B5EF4-FFF2-40B4-BE49-F238E27FC236}">
                <a16:creationId xmlns:a16="http://schemas.microsoft.com/office/drawing/2014/main" id="{2413C301-85E1-40BE-AAB9-8D4BE0FE4612}"/>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30</a:t>
            </a:r>
          </a:p>
        </p:txBody>
      </p:sp>
    </p:spTree>
    <p:extLst>
      <p:ext uri="{BB962C8B-B14F-4D97-AF65-F5344CB8AC3E}">
        <p14:creationId xmlns:p14="http://schemas.microsoft.com/office/powerpoint/2010/main" val="649291141"/>
      </p:ext>
    </p:extLst>
  </p:cSld>
</p:sld>
</file>

<file path=ppt/slides/slide3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10월 26일&#10;18:00">
            <a:extLst xmlns:a="http://schemas.openxmlformats.org/drawingml/2006/main">
              <a:ext uri="{FF2B5EF4-FFF2-40B4-BE49-F238E27FC236}">
                <a16:creationId xmlns:a16="http://schemas.microsoft.com/office/drawing/2014/main" id="{6D700256-C086-4169-B3C5-C794A09B5585}"/>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10월 26일</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18:00</a:t>
            </a:r>
          </a:p>
        </p:txBody>
      </p:sp>
      <p:graphicFrame>
        <p:nvGraphicFramePr>
          <p:cNvPr id="8" name=""/>
          <p:cNvGraphicFramePr/>
          <p:nvPr/>
        </p:nvGraphicFramePr>
        <p:xfrm>
          <a:off xmlns:a="http://schemas.openxmlformats.org/drawingml/2006/main" x="619125" y="2790825"/>
          <a:ext xmlns:a="http://schemas.openxmlformats.org/drawingml/2006/main" cx="10953750" cy="2733675"/>
        </p:xfrm>
        <a:graphic xmlns:a="http://schemas.openxmlformats.org/drawingml/2006/main">
          <a:graphicData uri="http://schemas.openxmlformats.org/drawingml/2006/table">
            <a:tbl>
              <a:tblPr firstRow="1" bandRow="0"/>
              <a:tblGrid>
                <a:gridCol w="2714204"/>
                <a:gridCol w="8239546"/>
              </a:tblGrid>
              <a:tr h="683419">
                <a:tc>
                  <a:txBody>
                    <a:bodyPr lIns="152400" tIns="85725" rIns="133350" bIns="76200">
                      <a:noAutofit/>
                    </a:bodyPr>
                    <a:lstStyle/>
                    <a:p>
                      <a:pPr algn="l"/>
                      <a:r>
                        <a:rPr sz="2250" b="1">
                          <a:solidFill>
                            <a:srgbClr val="F4F1E9"/>
                          </a:solidFill>
                          <a:latin typeface="Noto Sans KR"/>
                          <a:ea typeface="Noto Sans KR"/>
                          <a:cs typeface="Noto Sans KR"/>
                        </a:rPr>
                        <a:t>FAQ 항목</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남길 조건</a:t>
                      </a:r>
                    </a:p>
                  </a:txBody>
                  <a:tcPr marL="91440" marR="91440" marT="45720" marB="45720" anchor="ctr">
                    <a:solidFill>
                      <a:srgbClr val="202921"/>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신청</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10/26 18:00, 확정은 별도</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취소</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10/28 12:00</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대여</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4대 확보, 개인 배정 미정</a:t>
                      </a:r>
                    </a:p>
                  </a:txBody>
                  <a:tcPr marL="91440" marR="91440" marT="45720" marB="45720" anchor="ctr">
                    <a:solidFill>
                      <a:srgbClr val="F4F1E9"/>
                    </a:solidFill>
                  </a:tcPr>
                </a:tc>
              </a:tr>
            </a:tbl>
          </a:graphicData>
        </a:graphic>
      </p:graphicFrame>
      <p:sp>
        <p:nvSpPr>
          <p:cNvPr id="3" name="92–96분">
            <a:extLst xmlns:a="http://schemas.openxmlformats.org/drawingml/2006/main">
              <a:ext uri="{FF2B5EF4-FFF2-40B4-BE49-F238E27FC236}">
                <a16:creationId xmlns:a16="http://schemas.microsoft.com/office/drawing/2014/main" id="{8F8A8D4C-1EAD-4DA6-B7C1-A70061ED3EAB}"/>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92–96분</a:t>
            </a:r>
          </a:p>
        </p:txBody>
      </p:sp>
      <p:sp>
        <p:nvSpPr>
          <p:cNvPr id="4" name="웹 실습 열기">
            <a:extLst xmlns:a="http://schemas.openxmlformats.org/drawingml/2006/main">
              <a:ext uri="{FF2B5EF4-FFF2-40B4-BE49-F238E27FC236}">
                <a16:creationId xmlns:a16="http://schemas.microsoft.com/office/drawing/2014/main" id="{B2EE0A84-EA6C-4406-9F56-4867151113B0}"/>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f4f665c5feaf4bc4"/>
              </a:rPr>
              <a:t>웹 실습 열기</a:t>
            </a:r>
          </a:p>
        </p:txBody>
      </p:sp>
      <p:sp>
        <p:nvSpPr>
          <p:cNvPr id="5" name="31">
            <a:extLst xmlns:a="http://schemas.openxmlformats.org/drawingml/2006/main">
              <a:ext uri="{FF2B5EF4-FFF2-40B4-BE49-F238E27FC236}">
                <a16:creationId xmlns:a16="http://schemas.microsoft.com/office/drawing/2014/main" id="{706F3333-7B8E-4E5C-9021-3DD6AFCAF7C1}"/>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31</a:t>
            </a:r>
          </a:p>
        </p:txBody>
      </p:sp>
      <p:sp>
        <p:nvSpPr>
          <p:cNvPr id="6" name="FAQ 6개 작성 · 신청 마감과 대여 배정의 인용 확인">
            <a:extLst xmlns:a="http://schemas.openxmlformats.org/drawingml/2006/main">
              <a:ext uri="{FF2B5EF4-FFF2-40B4-BE49-F238E27FC236}">
                <a16:creationId xmlns:a16="http://schemas.microsoft.com/office/drawing/2014/main" id="{44FDBC56-EE9C-4CBA-9F08-CDD3A22462EB}"/>
              </a:ext>
            </a:extLst>
          </p:cNvPr>
          <p:cNvSpPr>
            <a:spLocks xmlns:a="http://schemas.openxmlformats.org/drawingml/2006/main" noGrp="1"/>
          </p:cNvSpPr>
          <p:nvPr/>
        </p:nvSpPr>
        <p:spPr>
          <a:xfrm xmlns:a="http://schemas.openxmlformats.org/drawingml/2006/main">
            <a:off x="638175" y="580072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586356"/>
                </a:solidFill>
                <a:latin typeface="Noto Sans KR"/>
                <a:ea typeface="Noto Sans KR"/>
                <a:cs typeface="Noto Sans KR"/>
              </a:defRPr>
            </a:pPr>
            <a:r>
              <a:rPr sz="1950" b="1">
                <a:solidFill>
                  <a:srgbClr val="586356"/>
                </a:solidFill>
                <a:latin typeface="Noto Sans KR"/>
                <a:ea typeface="Noto Sans KR"/>
                <a:cs typeface="Noto Sans KR"/>
              </a:rPr>
              <a:t>FAQ 6개 작성 · 신청 마감과 대여 배정의 인용 확인</a:t>
            </a:r>
          </a:p>
        </p:txBody>
      </p:sp>
    </p:spTree>
    <p:extLst>
      <p:ext uri="{BB962C8B-B14F-4D97-AF65-F5344CB8AC3E}">
        <p14:creationId xmlns:p14="http://schemas.microsoft.com/office/powerpoint/2010/main" val="1285469236"/>
      </p:ext>
    </p:extLst>
  </p:cSld>
</p:sld>
</file>

<file path=ppt/slides/slide3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정답이어도 다시 읽어야 합니다">
            <a:extLst xmlns:a="http://schemas.openxmlformats.org/drawingml/2006/main">
              <a:ext uri="{FF2B5EF4-FFF2-40B4-BE49-F238E27FC236}">
                <a16:creationId xmlns:a16="http://schemas.microsoft.com/office/drawing/2014/main" id="{96DA7C28-BAC0-4303-AB1D-07001BD32D48}"/>
              </a:ext>
            </a:extLst>
          </p:cNvPr>
          <p:cNvSpPr>
            <a:spLocks xmlns:a="http://schemas.openxmlformats.org/drawingml/2006/main" noGrp="1"/>
          </p:cNvSpPr>
          <p:nvPr/>
        </p:nvSpPr>
        <p:spPr>
          <a:xfrm xmlns:a="http://schemas.openxmlformats.org/drawingml/2006/main">
            <a:off x="590550" y="333375"/>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75" b="1">
                <a:solidFill>
                  <a:srgbClr val="202921"/>
                </a:solidFill>
                <a:latin typeface="Noto Sans KR"/>
                <a:ea typeface="Noto Sans KR"/>
                <a:cs typeface="Noto Sans KR"/>
              </a:defRPr>
            </a:pPr>
            <a:r>
              <a:rPr sz="3675" b="1">
                <a:solidFill>
                  <a:srgbClr val="202921"/>
                </a:solidFill>
                <a:latin typeface="Noto Sans KR"/>
                <a:ea typeface="Noto Sans KR"/>
                <a:cs typeface="Noto Sans KR"/>
              </a:rPr>
              <a:t>정답이어도 다시 읽어야 합니다</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d025ab17a114046"/>
          <a:srcRect xmlns:a="http://schemas.openxmlformats.org/drawingml/2006/main" l="31000" t="28800" r="14000" b="45500"/>
          <a:stretch xmlns:a="http://schemas.openxmlformats.org/drawingml/2006/main"/>
        </p:blipFill>
        <p:spPr>
          <a:xfrm xmlns:a="http://schemas.openxmlformats.org/drawingml/2006/main">
            <a:off x="619638" y="1285875"/>
            <a:ext cx="10952724" cy="4152900"/>
          </a:xfrm>
          <a:prstGeom xmlns:a="http://schemas.openxmlformats.org/drawingml/2006/main" prst="rect">
            <a:avLst/>
          </a:prstGeom>
        </p:spPr>
      </p:pic>
      <p:sp>
        <p:nvSpPr>
          <p:cNvPr id="3" name="실제 NotebookLM FAQ 일부 · 형식과 수신 대상도 확">
            <a:extLst xmlns:a="http://schemas.openxmlformats.org/drawingml/2006/main">
              <a:ext uri="{FF2B5EF4-FFF2-40B4-BE49-F238E27FC236}">
                <a16:creationId xmlns:a16="http://schemas.microsoft.com/office/drawing/2014/main" id="{2797F2EC-E371-4ADF-8CAB-1EAD2152DCBF}"/>
              </a:ext>
            </a:extLst>
          </p:cNvPr>
          <p:cNvSpPr>
            <a:spLocks xmlns:a="http://schemas.openxmlformats.org/drawingml/2006/main" noGrp="1"/>
          </p:cNvSpPr>
          <p:nvPr/>
        </p:nvSpPr>
        <p:spPr>
          <a:xfrm xmlns:a="http://schemas.openxmlformats.org/drawingml/2006/main">
            <a:off x="619125" y="576262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86356"/>
                </a:solidFill>
                <a:latin typeface="Noto Sans KR"/>
                <a:ea typeface="Noto Sans KR"/>
                <a:cs typeface="Noto Sans KR"/>
              </a:defRPr>
            </a:pPr>
            <a:r>
              <a:rPr sz="1725" b="0">
                <a:solidFill>
                  <a:srgbClr val="586356"/>
                </a:solidFill>
                <a:latin typeface="Noto Sans KR"/>
                <a:ea typeface="Noto Sans KR"/>
                <a:cs typeface="Noto Sans KR"/>
              </a:rPr>
              <a:t>실제 NotebookLM FAQ 일부 · 형식과 수신 대상도 확인</a:t>
            </a:r>
          </a:p>
        </p:txBody>
      </p:sp>
      <p:sp>
        <p:nvSpPr>
          <p:cNvPr id="4" name="96–100분">
            <a:extLst xmlns:a="http://schemas.openxmlformats.org/drawingml/2006/main">
              <a:ext uri="{FF2B5EF4-FFF2-40B4-BE49-F238E27FC236}">
                <a16:creationId xmlns:a16="http://schemas.microsoft.com/office/drawing/2014/main" id="{CA6A4706-25D3-49CF-BD41-978D53C7E81B}"/>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96–100분</a:t>
            </a:r>
          </a:p>
        </p:txBody>
      </p:sp>
      <p:sp>
        <p:nvSpPr>
          <p:cNvPr id="5" name="웹 실습 열기">
            <a:extLst xmlns:a="http://schemas.openxmlformats.org/drawingml/2006/main">
              <a:ext uri="{FF2B5EF4-FFF2-40B4-BE49-F238E27FC236}">
                <a16:creationId xmlns:a16="http://schemas.microsoft.com/office/drawing/2014/main" id="{87C683FF-25C5-4C29-97A9-4DC61B756F08}"/>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9da2907ab3db47ea"/>
              </a:rPr>
              <a:t>웹 실습 열기</a:t>
            </a:r>
          </a:p>
        </p:txBody>
      </p:sp>
      <p:sp>
        <p:nvSpPr>
          <p:cNvPr id="6" name="32">
            <a:extLst xmlns:a="http://schemas.openxmlformats.org/drawingml/2006/main">
              <a:ext uri="{FF2B5EF4-FFF2-40B4-BE49-F238E27FC236}">
                <a16:creationId xmlns:a16="http://schemas.microsoft.com/office/drawing/2014/main" id="{73AD9001-C7F8-4EA0-B3F6-F045CC606D42}"/>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32</a:t>
            </a:r>
          </a:p>
        </p:txBody>
      </p:sp>
    </p:spTree>
    <p:extLst>
      <p:ext uri="{BB962C8B-B14F-4D97-AF65-F5344CB8AC3E}">
        <p14:creationId xmlns:p14="http://schemas.microsoft.com/office/powerpoint/2010/main" val="1640670999"/>
      </p:ext>
    </p:extLst>
  </p:cSld>
</p:sld>
</file>

<file path=ppt/slides/slide33.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9" name="20초 생각">
            <a:extLst xmlns:a="http://schemas.openxmlformats.org/drawingml/2006/main">
              <a:ext uri="{FF2B5EF4-FFF2-40B4-BE49-F238E27FC236}">
                <a16:creationId xmlns:a16="http://schemas.microsoft.com/office/drawing/2014/main" id="{9269002F-3536-4FC3-81D7-F20E49D06911}"/>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20초 생각</a:t>
            </a:r>
          </a:p>
        </p:txBody>
      </p:sp>
      <p:sp>
        <p:nvSpPr>
          <p:cNvPr id="2" name="“주차도 무료인가요?”">
            <a:extLst xmlns:a="http://schemas.openxmlformats.org/drawingml/2006/main">
              <a:ext uri="{FF2B5EF4-FFF2-40B4-BE49-F238E27FC236}">
                <a16:creationId xmlns:a16="http://schemas.microsoft.com/office/drawing/2014/main" id="{59EA875B-F5CA-4327-8F8A-9816B3FB7E1F}"/>
              </a:ext>
            </a:extLst>
          </p:cNvPr>
          <p:cNvSpPr>
            <a:spLocks xmlns:a="http://schemas.openxmlformats.org/drawingml/2006/main" noGrp="1"/>
          </p:cNvSpPr>
          <p:nvPr/>
        </p:nvSpPr>
        <p:spPr>
          <a:xfrm xmlns:a="http://schemas.openxmlformats.org/drawingml/2006/main">
            <a:off x="609600" y="1381125"/>
            <a:ext cx="10953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850" b="1">
                <a:solidFill>
                  <a:srgbClr val="F4F1E9"/>
                </a:solidFill>
                <a:latin typeface="Noto Sans KR"/>
                <a:ea typeface="Noto Sans KR"/>
                <a:cs typeface="Noto Sans KR"/>
              </a:defRPr>
            </a:pPr>
            <a:r>
              <a:rPr sz="5850" b="1">
                <a:solidFill>
                  <a:srgbClr val="F4F1E9"/>
                </a:solidFill>
                <a:latin typeface="Noto Sans KR"/>
                <a:ea typeface="Noto Sans KR"/>
                <a:cs typeface="Noto Sans KR"/>
              </a:rPr>
              <a:t>“주차도 무료인가요?”</a:t>
            </a:r>
          </a:p>
        </p:txBody>
      </p:sp>
      <p:sp>
        <p:nvSpPr>
          <p:cNvPr id="3" name="A. 주차 요금은 따로 확인">
            <a:extLst xmlns:a="http://schemas.openxmlformats.org/drawingml/2006/main">
              <a:ext uri="{FF2B5EF4-FFF2-40B4-BE49-F238E27FC236}">
                <a16:creationId xmlns:a16="http://schemas.microsoft.com/office/drawing/2014/main" id="{E7DDE230-0B5C-4A72-A9F6-80FBD187FF99}"/>
              </a:ext>
            </a:extLst>
          </p:cNvPr>
          <p:cNvSpPr>
            <a:spLocks xmlns:a="http://schemas.openxmlformats.org/drawingml/2006/main" noGrp="1"/>
          </p:cNvSpPr>
          <p:nvPr/>
        </p:nvSpPr>
        <p:spPr>
          <a:xfrm xmlns:a="http://schemas.openxmlformats.org/drawingml/2006/main">
            <a:off x="647700" y="44100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EAB196"/>
                </a:solidFill>
                <a:latin typeface="Noto Sans KR"/>
                <a:ea typeface="Noto Sans KR"/>
                <a:cs typeface="Noto Sans KR"/>
              </a:defRPr>
            </a:pPr>
            <a:r>
              <a:rPr sz="2700" b="0">
                <a:solidFill>
                  <a:srgbClr val="EAB196"/>
                </a:solidFill>
                <a:latin typeface="Noto Sans KR"/>
                <a:ea typeface="Noto Sans KR"/>
                <a:cs typeface="Noto Sans KR"/>
              </a:rPr>
              <a:t>A. 주차 요금은 따로 확인</a:t>
            </a:r>
          </a:p>
        </p:txBody>
      </p:sp>
      <p:sp>
        <p:nvSpPr>
          <p:cNvPr id="4" name="B. 참가비가 무료이므로 무료">
            <a:extLst xmlns:a="http://schemas.openxmlformats.org/drawingml/2006/main">
              <a:ext uri="{FF2B5EF4-FFF2-40B4-BE49-F238E27FC236}">
                <a16:creationId xmlns:a16="http://schemas.microsoft.com/office/drawing/2014/main" id="{AFDD679D-A9AA-4054-9FF7-C4117840E14C}"/>
              </a:ext>
            </a:extLst>
          </p:cNvPr>
          <p:cNvSpPr>
            <a:spLocks xmlns:a="http://schemas.openxmlformats.org/drawingml/2006/main" noGrp="1"/>
          </p:cNvSpPr>
          <p:nvPr/>
        </p:nvSpPr>
        <p:spPr>
          <a:xfrm xmlns:a="http://schemas.openxmlformats.org/drawingml/2006/main">
            <a:off x="647700" y="521970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EAB196"/>
                </a:solidFill>
                <a:latin typeface="Noto Sans KR"/>
                <a:ea typeface="Noto Sans KR"/>
                <a:cs typeface="Noto Sans KR"/>
              </a:defRPr>
            </a:pPr>
            <a:r>
              <a:rPr sz="2700" b="0">
                <a:solidFill>
                  <a:srgbClr val="EAB196"/>
                </a:solidFill>
                <a:latin typeface="Noto Sans KR"/>
                <a:ea typeface="Noto Sans KR"/>
                <a:cs typeface="Noto Sans KR"/>
              </a:rPr>
              <a:t>B. 참가비가 무료이므로 무료</a:t>
            </a:r>
          </a:p>
        </p:txBody>
      </p:sp>
      <p:sp>
        <p:nvSpPr>
          <p:cNvPr id="5" name="100–105분">
            <a:extLst xmlns:a="http://schemas.openxmlformats.org/drawingml/2006/main">
              <a:ext uri="{FF2B5EF4-FFF2-40B4-BE49-F238E27FC236}">
                <a16:creationId xmlns:a16="http://schemas.microsoft.com/office/drawing/2014/main" id="{5E89D4FD-55CA-41AB-88C7-2F3075454133}"/>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100–105분</a:t>
            </a:r>
          </a:p>
        </p:txBody>
      </p:sp>
      <p:sp>
        <p:nvSpPr>
          <p:cNvPr id="6" name="웹 실습 열기">
            <a:extLst xmlns:a="http://schemas.openxmlformats.org/drawingml/2006/main">
              <a:ext uri="{FF2B5EF4-FFF2-40B4-BE49-F238E27FC236}">
                <a16:creationId xmlns:a16="http://schemas.microsoft.com/office/drawing/2014/main" id="{42CA871D-8798-48B1-A4DF-FC68BEFFD8A5}"/>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1ee4cb8d97274e7c"/>
              </a:rPr>
              <a:t>웹 실습 열기</a:t>
            </a:r>
          </a:p>
        </p:txBody>
      </p:sp>
      <p:sp>
        <p:nvSpPr>
          <p:cNvPr id="7" name="33">
            <a:extLst xmlns:a="http://schemas.openxmlformats.org/drawingml/2006/main">
              <a:ext uri="{FF2B5EF4-FFF2-40B4-BE49-F238E27FC236}">
                <a16:creationId xmlns:a16="http://schemas.microsoft.com/office/drawing/2014/main" id="{2855A062-48B4-4049-AAF4-A6F42BCAFA7E}"/>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33</a:t>
            </a:r>
          </a:p>
        </p:txBody>
      </p:sp>
      <p:sp>
        <p:nvSpPr>
          <p:cNvPr id="8" name="남은 시간: D01–D14 처리표 14행 작성, 외부 12건·내">
            <a:extLst xmlns:a="http://schemas.openxmlformats.org/drawingml/2006/main">
              <a:ext uri="{FF2B5EF4-FFF2-40B4-BE49-F238E27FC236}">
                <a16:creationId xmlns:a16="http://schemas.microsoft.com/office/drawing/2014/main" id="{0AD9923C-0BDF-472C-BE93-E86EE3A6E380}"/>
              </a:ext>
            </a:extLst>
          </p:cNvPr>
          <p:cNvSpPr>
            <a:spLocks xmlns:a="http://schemas.openxmlformats.org/drawingml/2006/main" noGrp="1"/>
          </p:cNvSpPr>
          <p:nvPr/>
        </p:nvSpPr>
        <p:spPr>
          <a:xfrm xmlns:a="http://schemas.openxmlformats.org/drawingml/2006/main">
            <a:off x="638175" y="58959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F4F1E9"/>
                </a:solidFill>
                <a:latin typeface="Noto Sans KR"/>
                <a:ea typeface="Noto Sans KR"/>
                <a:cs typeface="Noto Sans KR"/>
              </a:defRPr>
            </a:pPr>
            <a:r>
              <a:rPr sz="2025" b="0">
                <a:solidFill>
                  <a:srgbClr val="F4F1E9"/>
                </a:solidFill>
                <a:latin typeface="Noto Sans KR"/>
                <a:ea typeface="Noto Sans KR"/>
                <a:cs typeface="Noto Sans KR"/>
              </a:rPr>
              <a:t>남은 시간: D01–D14 처리표 14행 작성, 외부 12건·내부 2건 구분</a:t>
            </a:r>
          </a:p>
        </p:txBody>
      </p:sp>
    </p:spTree>
    <p:extLst>
      <p:ext uri="{BB962C8B-B14F-4D97-AF65-F5344CB8AC3E}">
        <p14:creationId xmlns:p14="http://schemas.microsoft.com/office/powerpoint/2010/main" val="1741742996"/>
      </p:ext>
    </p:extLst>
  </p:cSld>
</p:sld>
</file>

<file path=ppt/slides/slide3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참가비 무료만&#10;확인됐습니다">
            <a:extLst xmlns:a="http://schemas.openxmlformats.org/drawingml/2006/main">
              <a:ext uri="{FF2B5EF4-FFF2-40B4-BE49-F238E27FC236}">
                <a16:creationId xmlns:a16="http://schemas.microsoft.com/office/drawing/2014/main" id="{2925E352-B578-4271-8758-19CE970D5AAA}"/>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참가비 무료만</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확인됐습니다</a:t>
            </a:r>
          </a:p>
        </p:txBody>
      </p:sp>
      <p:graphicFrame>
        <p:nvGraphicFramePr>
          <p:cNvPr id="8" name=""/>
          <p:cNvGraphicFramePr/>
          <p:nvPr/>
        </p:nvGraphicFramePr>
        <p:xfrm>
          <a:off xmlns:a="http://schemas.openxmlformats.org/drawingml/2006/main" x="619125" y="2790825"/>
          <a:ext xmlns:a="http://schemas.openxmlformats.org/drawingml/2006/main" cx="10953750" cy="2733675"/>
        </p:xfrm>
        <a:graphic xmlns:a="http://schemas.openxmlformats.org/drawingml/2006/main">
          <a:graphicData uri="http://schemas.openxmlformats.org/drawingml/2006/table">
            <a:tbl>
              <a:tblPr firstRow="1" bandRow="0"/>
              <a:tblGrid>
                <a:gridCol w="5476875"/>
                <a:gridCol w="5476875"/>
              </a:tblGrid>
              <a:tr h="683419">
                <a:tc>
                  <a:txBody>
                    <a:bodyPr lIns="152400" tIns="85725" rIns="133350" bIns="76200">
                      <a:noAutofit/>
                    </a:bodyPr>
                    <a:lstStyle/>
                    <a:p>
                      <a:pPr algn="l"/>
                      <a:r>
                        <a:rPr sz="2250" b="1">
                          <a:solidFill>
                            <a:srgbClr val="F4F1E9"/>
                          </a:solidFill>
                          <a:latin typeface="Noto Sans KR"/>
                          <a:ea typeface="Noto Sans KR"/>
                          <a:cs typeface="Noto Sans KR"/>
                        </a:rPr>
                        <a:t>항목</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현재 답변</a:t>
                      </a:r>
                    </a:p>
                  </a:txBody>
                  <a:tcPr marL="91440" marR="91440" marT="45720" marB="45720" anchor="ctr">
                    <a:solidFill>
                      <a:srgbClr val="202921"/>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주차</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요금표·감면·등록 절차 확인</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녹화</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제공 여부·일정 미정</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대여</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4대 확보, 개인 배정 확인</a:t>
                      </a:r>
                    </a:p>
                  </a:txBody>
                  <a:tcPr marL="91440" marR="91440" marT="45720" marB="45720" anchor="ctr">
                    <a:solidFill>
                      <a:srgbClr val="F4F1E9"/>
                    </a:solidFill>
                  </a:tcPr>
                </a:tc>
              </a:tr>
            </a:tbl>
          </a:graphicData>
        </a:graphic>
      </p:graphicFrame>
      <p:sp>
        <p:nvSpPr>
          <p:cNvPr id="3" name="105–108분">
            <a:extLst xmlns:a="http://schemas.openxmlformats.org/drawingml/2006/main">
              <a:ext uri="{FF2B5EF4-FFF2-40B4-BE49-F238E27FC236}">
                <a16:creationId xmlns:a16="http://schemas.microsoft.com/office/drawing/2014/main" id="{A495244B-808E-4FA0-AD8F-3C37D362939B}"/>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105–108분</a:t>
            </a:r>
          </a:p>
        </p:txBody>
      </p:sp>
      <p:sp>
        <p:nvSpPr>
          <p:cNvPr id="4" name="웹 실습 열기">
            <a:extLst xmlns:a="http://schemas.openxmlformats.org/drawingml/2006/main">
              <a:ext uri="{FF2B5EF4-FFF2-40B4-BE49-F238E27FC236}">
                <a16:creationId xmlns:a16="http://schemas.microsoft.com/office/drawing/2014/main" id="{ECE22899-30D7-4805-8A70-4EC1517FC55E}"/>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9216010c89a44148"/>
              </a:rPr>
              <a:t>웹 실습 열기</a:t>
            </a:r>
          </a:p>
        </p:txBody>
      </p:sp>
      <p:sp>
        <p:nvSpPr>
          <p:cNvPr id="5" name="34">
            <a:extLst xmlns:a="http://schemas.openxmlformats.org/drawingml/2006/main">
              <a:ext uri="{FF2B5EF4-FFF2-40B4-BE49-F238E27FC236}">
                <a16:creationId xmlns:a16="http://schemas.microsoft.com/office/drawing/2014/main" id="{E0DE3592-5D8C-41D0-B31C-F042C10A7664}"/>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34</a:t>
            </a:r>
          </a:p>
        </p:txBody>
      </p:sp>
      <p:sp>
        <p:nvSpPr>
          <p:cNvPr id="6" name="D01~D14 처리표 14행 · 외부 문의 12건, 내부 문의 ">
            <a:extLst xmlns:a="http://schemas.openxmlformats.org/drawingml/2006/main">
              <a:ext uri="{FF2B5EF4-FFF2-40B4-BE49-F238E27FC236}">
                <a16:creationId xmlns:a16="http://schemas.microsoft.com/office/drawing/2014/main" id="{F0187E7C-651B-4266-869C-495CCACE93B1}"/>
              </a:ext>
            </a:extLst>
          </p:cNvPr>
          <p:cNvSpPr>
            <a:spLocks xmlns:a="http://schemas.openxmlformats.org/drawingml/2006/main" noGrp="1"/>
          </p:cNvSpPr>
          <p:nvPr/>
        </p:nvSpPr>
        <p:spPr>
          <a:xfrm xmlns:a="http://schemas.openxmlformats.org/drawingml/2006/main">
            <a:off x="638175" y="580072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586356"/>
                </a:solidFill>
                <a:latin typeface="Noto Sans KR"/>
                <a:ea typeface="Noto Sans KR"/>
                <a:cs typeface="Noto Sans KR"/>
              </a:defRPr>
            </a:pPr>
            <a:r>
              <a:rPr sz="1950" b="1">
                <a:solidFill>
                  <a:srgbClr val="586356"/>
                </a:solidFill>
                <a:latin typeface="Noto Sans KR"/>
                <a:ea typeface="Noto Sans KR"/>
                <a:cs typeface="Noto Sans KR"/>
              </a:rPr>
              <a:t>D01~D14 처리표 14행 · 외부 문의 12건, 내부 문의 2건</a:t>
            </a:r>
          </a:p>
        </p:txBody>
      </p:sp>
    </p:spTree>
    <p:extLst>
      <p:ext uri="{BB962C8B-B14F-4D97-AF65-F5344CB8AC3E}">
        <p14:creationId xmlns:p14="http://schemas.microsoft.com/office/powerpoint/2010/main" val="1679268803"/>
      </p:ext>
    </p:extLst>
  </p:cSld>
</p:sld>
</file>

<file path=ppt/slides/slide3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완료 기록에도&#10;범위가 있습니다">
            <a:extLst xmlns:a="http://schemas.openxmlformats.org/drawingml/2006/main">
              <a:ext uri="{FF2B5EF4-FFF2-40B4-BE49-F238E27FC236}">
                <a16:creationId xmlns:a16="http://schemas.microsoft.com/office/drawing/2014/main" id="{28272E0E-A13A-4BC9-A680-654B46C8DB88}"/>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완료 기록에도</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범위가 있습니다</a:t>
            </a:r>
          </a:p>
        </p:txBody>
      </p:sp>
      <p:graphicFrame>
        <p:nvGraphicFramePr>
          <p:cNvPr id="7" name=""/>
          <p:cNvGraphicFramePr/>
          <p:nvPr/>
        </p:nvGraphicFramePr>
        <p:xfrm>
          <a:off xmlns:a="http://schemas.openxmlformats.org/drawingml/2006/main" x="619125" y="2790825"/>
          <a:ext xmlns:a="http://schemas.openxmlformats.org/drawingml/2006/main" cx="10953750" cy="2733675"/>
        </p:xfrm>
        <a:graphic xmlns:a="http://schemas.openxmlformats.org/drawingml/2006/main">
          <a:graphicData uri="http://schemas.openxmlformats.org/drawingml/2006/table">
            <a:tbl>
              <a:tblPr firstRow="1" bandRow="0"/>
              <a:tblGrid>
                <a:gridCol w="5476875"/>
                <a:gridCol w="5476875"/>
              </a:tblGrid>
              <a:tr h="683419">
                <a:tc>
                  <a:txBody>
                    <a:bodyPr lIns="152400" tIns="85725" rIns="133350" bIns="76200">
                      <a:noAutofit/>
                    </a:bodyPr>
                    <a:lstStyle/>
                    <a:p>
                      <a:pPr algn="l"/>
                      <a:r>
                        <a:rPr sz="2250" b="1">
                          <a:solidFill>
                            <a:srgbClr val="F4F1E9"/>
                          </a:solidFill>
                          <a:latin typeface="Noto Sans KR"/>
                          <a:ea typeface="Noto Sans KR"/>
                          <a:cs typeface="Noto Sans KR"/>
                        </a:rPr>
                        <a:t>업무</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확인된 기록</a:t>
                      </a:r>
                    </a:p>
                  </a:txBody>
                  <a:tcPr marL="91440" marR="91440" marT="45720" marB="45720" anchor="ctr">
                    <a:solidFill>
                      <a:srgbClr val="202921"/>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최초 안내문</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정리·내부 공유 완료</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예산표</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금액 수정 완료, 공유 대기</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변경 공지 세 곳</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수정 요청, 완료 회신 없음</a:t>
                      </a:r>
                    </a:p>
                  </a:txBody>
                  <a:tcPr marL="91440" marR="91440" marT="45720" marB="45720" anchor="ctr">
                    <a:solidFill>
                      <a:srgbClr val="F4F1E9"/>
                    </a:solidFill>
                  </a:tcPr>
                </a:tc>
              </a:tr>
            </a:tbl>
          </a:graphicData>
        </a:graphic>
      </p:graphicFrame>
      <p:sp>
        <p:nvSpPr>
          <p:cNvPr id="3" name="108–111분">
            <a:extLst xmlns:a="http://schemas.openxmlformats.org/drawingml/2006/main">
              <a:ext uri="{FF2B5EF4-FFF2-40B4-BE49-F238E27FC236}">
                <a16:creationId xmlns:a16="http://schemas.microsoft.com/office/drawing/2014/main" id="{3D9DE69A-DE2B-4E12-8FFC-E7DD23F0A467}"/>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108–111분</a:t>
            </a:r>
          </a:p>
        </p:txBody>
      </p:sp>
      <p:sp>
        <p:nvSpPr>
          <p:cNvPr id="4" name="웹 실습 열기">
            <a:extLst xmlns:a="http://schemas.openxmlformats.org/drawingml/2006/main">
              <a:ext uri="{FF2B5EF4-FFF2-40B4-BE49-F238E27FC236}">
                <a16:creationId xmlns:a16="http://schemas.microsoft.com/office/drawing/2014/main" id="{623D9DF7-DFE3-4533-8143-DBCC69A91C68}"/>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510cecc543cd4be5"/>
              </a:rPr>
              <a:t>웹 실습 열기</a:t>
            </a:r>
          </a:p>
        </p:txBody>
      </p:sp>
      <p:sp>
        <p:nvSpPr>
          <p:cNvPr id="5" name="35">
            <a:extLst xmlns:a="http://schemas.openxmlformats.org/drawingml/2006/main">
              <a:ext uri="{FF2B5EF4-FFF2-40B4-BE49-F238E27FC236}">
                <a16:creationId xmlns:a16="http://schemas.microsoft.com/office/drawing/2014/main" id="{5FF4A7F4-0A91-4F03-AB3F-F9DF22CD1F90}"/>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35</a:t>
            </a:r>
          </a:p>
        </p:txBody>
      </p:sp>
    </p:spTree>
    <p:extLst>
      <p:ext uri="{BB962C8B-B14F-4D97-AF65-F5344CB8AC3E}">
        <p14:creationId xmlns:p14="http://schemas.microsoft.com/office/powerpoint/2010/main" val="887200365"/>
      </p:ext>
    </p:extLst>
  </p:cSld>
</p:sld>
</file>

<file path=ppt/slides/slide3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1" name="직접 해볼 시간">
            <a:extLst xmlns:a="http://schemas.openxmlformats.org/drawingml/2006/main">
              <a:ext uri="{FF2B5EF4-FFF2-40B4-BE49-F238E27FC236}">
                <a16:creationId xmlns:a16="http://schemas.microsoft.com/office/drawing/2014/main" id="{BABE6083-0B99-417F-BCC8-7C6EED5425FC}"/>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586356"/>
                </a:solidFill>
                <a:latin typeface="Noto Sans KR"/>
                <a:ea typeface="Noto Sans KR"/>
                <a:cs typeface="Noto Sans KR"/>
              </a:defRPr>
            </a:pPr>
            <a:r>
              <a:rPr sz="1875" b="1">
                <a:solidFill>
                  <a:srgbClr val="586356"/>
                </a:solidFill>
                <a:latin typeface="Noto Sans KR"/>
                <a:ea typeface="Noto Sans KR"/>
                <a:cs typeface="Noto Sans KR"/>
              </a:rPr>
              <a:t>직접 해볼 시간</a:t>
            </a:r>
          </a:p>
        </p:txBody>
      </p:sp>
      <p:sp>
        <p:nvSpPr>
          <p:cNvPr id="2" name="30초">
            <a:extLst xmlns:a="http://schemas.openxmlformats.org/drawingml/2006/main">
              <a:ext uri="{FF2B5EF4-FFF2-40B4-BE49-F238E27FC236}">
                <a16:creationId xmlns:a16="http://schemas.microsoft.com/office/drawing/2014/main" id="{D1E9245C-0349-45E5-9E93-3B79BE63E55F}"/>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30초</a:t>
            </a:r>
          </a:p>
        </p:txBody>
      </p:sp>
      <p:sp>
        <p:nvSpPr>
          <p:cNvPr id="3" name="30초 인계">
            <a:extLst xmlns:a="http://schemas.openxmlformats.org/drawingml/2006/main">
              <a:ext uri="{FF2B5EF4-FFF2-40B4-BE49-F238E27FC236}">
                <a16:creationId xmlns:a16="http://schemas.microsoft.com/office/drawing/2014/main" id="{27746E7A-3B11-47EE-A4EF-CE4CB8AF55C7}"/>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202921"/>
                </a:solidFill>
                <a:latin typeface="Noto Sans KR"/>
                <a:ea typeface="Noto Sans KR"/>
                <a:cs typeface="Noto Sans KR"/>
              </a:defRPr>
            </a:pPr>
            <a:r>
              <a:rPr sz="4275" b="1">
                <a:solidFill>
                  <a:srgbClr val="202921"/>
                </a:solidFill>
                <a:latin typeface="Noto Sans KR"/>
                <a:ea typeface="Noto Sans KR"/>
                <a:cs typeface="Noto Sans KR"/>
              </a:rPr>
              <a:t>30초 인계</a:t>
            </a:r>
          </a:p>
        </p:txBody>
      </p:sp>
      <p:sp>
        <p:nvSpPr>
          <p:cNvPr id="4" name="듣는 사람은 원문 문단 찾기">
            <a:extLst xmlns:a="http://schemas.openxmlformats.org/drawingml/2006/main">
              <a:ext uri="{FF2B5EF4-FFF2-40B4-BE49-F238E27FC236}">
                <a16:creationId xmlns:a16="http://schemas.microsoft.com/office/drawing/2014/main" id="{37E1D3AB-FFE0-4910-811F-5812F84955A1}"/>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듣는 사람은 원문 문단 찾기</a:t>
            </a:r>
          </a:p>
        </p:txBody>
      </p:sp>
      <p:sp>
        <p:nvSpPr>
          <p:cNvPr id="5" name="빠진 조건 한 가지 알려 주기">
            <a:extLst xmlns:a="http://schemas.openxmlformats.org/drawingml/2006/main">
              <a:ext uri="{FF2B5EF4-FFF2-40B4-BE49-F238E27FC236}">
                <a16:creationId xmlns:a16="http://schemas.microsoft.com/office/drawing/2014/main" id="{57BFD0FD-C494-4E77-8CFF-DA5095366FEC}"/>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빠진 조건 한 가지 알려 주기</a:t>
            </a:r>
          </a:p>
        </p:txBody>
      </p:sp>
      <p:sp>
        <p:nvSpPr>
          <p:cNvPr id="6" name="역할을 바꿔 다시 설명">
            <a:extLst xmlns:a="http://schemas.openxmlformats.org/drawingml/2006/main">
              <a:ext uri="{FF2B5EF4-FFF2-40B4-BE49-F238E27FC236}">
                <a16:creationId xmlns:a16="http://schemas.microsoft.com/office/drawing/2014/main" id="{B96F9455-1A20-4395-B298-E56D3209FFE5}"/>
              </a:ext>
            </a:extLst>
          </p:cNvPr>
          <p:cNvSpPr>
            <a:spLocks xmlns:a="http://schemas.openxmlformats.org/drawingml/2006/main" noGrp="1"/>
          </p:cNvSpPr>
          <p:nvPr/>
        </p:nvSpPr>
        <p:spPr>
          <a:xfrm xmlns:a="http://schemas.openxmlformats.org/drawingml/2006/main">
            <a:off x="4019550" y="4733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역할을 바꿔 다시 설명</a:t>
            </a:r>
          </a:p>
        </p:txBody>
      </p:sp>
      <p:sp>
        <p:nvSpPr>
          <p:cNvPr id="7" name="인계 메모와 확인한 문단 ID">
            <a:extLst xmlns:a="http://schemas.openxmlformats.org/drawingml/2006/main">
              <a:ext uri="{FF2B5EF4-FFF2-40B4-BE49-F238E27FC236}">
                <a16:creationId xmlns:a16="http://schemas.microsoft.com/office/drawing/2014/main" id="{698EE9F4-9704-4D36-A634-64ACA4ADE92C}"/>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586356"/>
                </a:solidFill>
                <a:latin typeface="Noto Sans KR"/>
                <a:ea typeface="Noto Sans KR"/>
                <a:cs typeface="Noto Sans KR"/>
              </a:defRPr>
            </a:pPr>
            <a:r>
              <a:rPr sz="2325" b="1">
                <a:solidFill>
                  <a:srgbClr val="586356"/>
                </a:solidFill>
                <a:latin typeface="Noto Sans KR"/>
                <a:ea typeface="Noto Sans KR"/>
                <a:cs typeface="Noto Sans KR"/>
              </a:rPr>
              <a:t>인계 메모와 확인한 문단 ID</a:t>
            </a:r>
          </a:p>
        </p:txBody>
      </p:sp>
      <p:sp>
        <p:nvSpPr>
          <p:cNvPr id="8" name="111–115분">
            <a:extLst xmlns:a="http://schemas.openxmlformats.org/drawingml/2006/main">
              <a:ext uri="{FF2B5EF4-FFF2-40B4-BE49-F238E27FC236}">
                <a16:creationId xmlns:a16="http://schemas.microsoft.com/office/drawing/2014/main" id="{CD394B49-EA34-484F-BBEE-9792FAB31B2B}"/>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111–115분</a:t>
            </a:r>
          </a:p>
        </p:txBody>
      </p:sp>
      <p:sp>
        <p:nvSpPr>
          <p:cNvPr id="9" name="웹 실습 열기">
            <a:extLst xmlns:a="http://schemas.openxmlformats.org/drawingml/2006/main">
              <a:ext uri="{FF2B5EF4-FFF2-40B4-BE49-F238E27FC236}">
                <a16:creationId xmlns:a16="http://schemas.microsoft.com/office/drawing/2014/main" id="{306F64AC-BD61-4B19-B89B-9AB13A599311}"/>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f021c558e0ef431c"/>
              </a:rPr>
              <a:t>웹 실습 열기</a:t>
            </a:r>
          </a:p>
        </p:txBody>
      </p:sp>
      <p:sp>
        <p:nvSpPr>
          <p:cNvPr id="10" name="36">
            <a:extLst xmlns:a="http://schemas.openxmlformats.org/drawingml/2006/main">
              <a:ext uri="{FF2B5EF4-FFF2-40B4-BE49-F238E27FC236}">
                <a16:creationId xmlns:a16="http://schemas.microsoft.com/office/drawing/2014/main" id="{C3E2E0F8-4E30-41FA-9D30-87E7E0F0E679}"/>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36</a:t>
            </a:r>
          </a:p>
        </p:txBody>
      </p:sp>
    </p:spTree>
    <p:extLst>
      <p:ext uri="{BB962C8B-B14F-4D97-AF65-F5344CB8AC3E}">
        <p14:creationId xmlns:p14="http://schemas.microsoft.com/office/powerpoint/2010/main" val="1552396824"/>
      </p:ext>
    </p:extLst>
  </p:cSld>
</p:sld>
</file>

<file path=ppt/slides/slide37.xml><?xml version="1.0" encoding="utf-8"?>
<p:sld xmlns:p="http://schemas.openxmlformats.org/presentationml/2006/main">
  <p:cSld>
    <p:bg>
      <p:bgPr>
        <a:solidFill xmlns:a="http://schemas.openxmlformats.org/drawingml/2006/main">
          <a:srgbClr val="EA5936"/>
        </a:solidFill>
      </p:bgPr>
    </p:bg>
    <p:spTree>
      <p:nvGrpSpPr>
        <p:cNvPr id="1" name=""/>
        <p:cNvGrpSpPr/>
        <p:nvPr/>
      </p:nvGrpSpPr>
      <p:grpSpPr>
        <a:xfrm xmlns:a="http://schemas.openxmlformats.org/drawingml/2006/main"/>
      </p:grpSpPr>
      <p:sp>
        <p:nvSpPr>
          <p:cNvPr id="7" name="5분">
            <a:extLst xmlns:a="http://schemas.openxmlformats.org/drawingml/2006/main">
              <a:ext uri="{FF2B5EF4-FFF2-40B4-BE49-F238E27FC236}">
                <a16:creationId xmlns:a16="http://schemas.microsoft.com/office/drawing/2014/main" id="{3163C690-EA65-4491-9D0B-513664AF8EBE}"/>
              </a:ext>
            </a:extLst>
          </p:cNvPr>
          <p:cNvSpPr>
            <a:spLocks xmlns:a="http://schemas.openxmlformats.org/drawingml/2006/main" noGrp="1"/>
          </p:cNvSpPr>
          <p:nvPr/>
        </p:nvSpPr>
        <p:spPr>
          <a:xfrm xmlns:a="http://schemas.openxmlformats.org/drawingml/2006/main">
            <a:off x="514350" y="1219200"/>
            <a:ext cx="76200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0" b="1">
                <a:solidFill>
                  <a:srgbClr val="202921"/>
                </a:solidFill>
                <a:latin typeface="Noto Sans KR"/>
                <a:ea typeface="Noto Sans KR"/>
                <a:cs typeface="Noto Sans KR"/>
              </a:defRPr>
            </a:pPr>
            <a:r>
              <a:rPr sz="15750" b="1">
                <a:solidFill>
                  <a:srgbClr val="202921"/>
                </a:solidFill>
                <a:latin typeface="Noto Sans KR"/>
                <a:ea typeface="Noto Sans KR"/>
                <a:cs typeface="Noto Sans KR"/>
              </a:rPr>
              <a:t>5분</a:t>
            </a:r>
          </a:p>
        </p:txBody>
      </p:sp>
      <p:sp>
        <p:nvSpPr>
          <p:cNvPr id="2" name="5분 쉬겠습니다">
            <a:extLst xmlns:a="http://schemas.openxmlformats.org/drawingml/2006/main">
              <a:ext uri="{FF2B5EF4-FFF2-40B4-BE49-F238E27FC236}">
                <a16:creationId xmlns:a16="http://schemas.microsoft.com/office/drawing/2014/main" id="{75EF9EB4-1CF9-4CD3-B815-CD62940CFA40}"/>
              </a:ext>
            </a:extLst>
          </p:cNvPr>
          <p:cNvSpPr>
            <a:spLocks xmlns:a="http://schemas.openxmlformats.org/drawingml/2006/main" noGrp="1"/>
          </p:cNvSpPr>
          <p:nvPr/>
        </p:nvSpPr>
        <p:spPr>
          <a:xfrm xmlns:a="http://schemas.openxmlformats.org/drawingml/2006/main">
            <a:off x="638175" y="4057650"/>
            <a:ext cx="10477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725" b="1">
                <a:solidFill>
                  <a:srgbClr val="202921"/>
                </a:solidFill>
                <a:latin typeface="Noto Sans KR"/>
                <a:ea typeface="Noto Sans KR"/>
                <a:cs typeface="Noto Sans KR"/>
              </a:defRPr>
            </a:pPr>
            <a:r>
              <a:rPr sz="4725" b="1">
                <a:solidFill>
                  <a:srgbClr val="202921"/>
                </a:solidFill>
                <a:latin typeface="Noto Sans KR"/>
                <a:ea typeface="Noto Sans KR"/>
                <a:cs typeface="Noto Sans KR"/>
              </a:rPr>
              <a:t>5분 쉬겠습니다</a:t>
            </a:r>
          </a:p>
        </p:txBody>
      </p:sp>
      <p:sp>
        <p:nvSpPr>
          <p:cNvPr id="3" name="인계표와 FAQ를 저장해 주세요.">
            <a:extLst xmlns:a="http://schemas.openxmlformats.org/drawingml/2006/main">
              <a:ext uri="{FF2B5EF4-FFF2-40B4-BE49-F238E27FC236}">
                <a16:creationId xmlns:a16="http://schemas.microsoft.com/office/drawing/2014/main" id="{ED1F0B41-D0EB-4983-9951-FC4EB7B81AEF}"/>
              </a:ext>
            </a:extLst>
          </p:cNvPr>
          <p:cNvSpPr>
            <a:spLocks xmlns:a="http://schemas.openxmlformats.org/drawingml/2006/main" noGrp="1"/>
          </p:cNvSpPr>
          <p:nvPr/>
        </p:nvSpPr>
        <p:spPr>
          <a:xfrm xmlns:a="http://schemas.openxmlformats.org/drawingml/2006/main">
            <a:off x="666750" y="5324475"/>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202921"/>
                </a:solidFill>
                <a:latin typeface="Noto Sans KR"/>
                <a:ea typeface="Noto Sans KR"/>
                <a:cs typeface="Noto Sans KR"/>
              </a:defRPr>
            </a:pPr>
            <a:r>
              <a:rPr sz="2250" b="0">
                <a:solidFill>
                  <a:srgbClr val="202921"/>
                </a:solidFill>
                <a:latin typeface="Noto Sans KR"/>
                <a:ea typeface="Noto Sans KR"/>
                <a:cs typeface="Noto Sans KR"/>
              </a:rPr>
              <a:t>인계표와 FAQ를 저장해 주세요.</a:t>
            </a:r>
          </a:p>
        </p:txBody>
      </p:sp>
      <p:sp>
        <p:nvSpPr>
          <p:cNvPr id="4" name="115–120분">
            <a:extLst xmlns:a="http://schemas.openxmlformats.org/drawingml/2006/main">
              <a:ext uri="{FF2B5EF4-FFF2-40B4-BE49-F238E27FC236}">
                <a16:creationId xmlns:a16="http://schemas.microsoft.com/office/drawing/2014/main" id="{CF8C200C-F60F-4C6D-9F73-3ECB247FEECC}"/>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115–120분</a:t>
            </a:r>
          </a:p>
        </p:txBody>
      </p:sp>
      <p:sp>
        <p:nvSpPr>
          <p:cNvPr id="5" name="웹 실습 열기">
            <a:extLst xmlns:a="http://schemas.openxmlformats.org/drawingml/2006/main">
              <a:ext uri="{FF2B5EF4-FFF2-40B4-BE49-F238E27FC236}">
                <a16:creationId xmlns:a16="http://schemas.microsoft.com/office/drawing/2014/main" id="{7F953D0F-5517-4F92-BFCE-40D938A6E114}"/>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06ac7a6198614a9a"/>
              </a:rPr>
              <a:t>웹 실습 열기</a:t>
            </a:r>
          </a:p>
        </p:txBody>
      </p:sp>
      <p:sp>
        <p:nvSpPr>
          <p:cNvPr id="6" name="37">
            <a:extLst xmlns:a="http://schemas.openxmlformats.org/drawingml/2006/main">
              <a:ext uri="{FF2B5EF4-FFF2-40B4-BE49-F238E27FC236}">
                <a16:creationId xmlns:a16="http://schemas.microsoft.com/office/drawing/2014/main" id="{BD4DE613-E3BD-4EAA-AAC7-6E2354B5EB4C}"/>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37</a:t>
            </a:r>
          </a:p>
        </p:txBody>
      </p:sp>
    </p:spTree>
    <p:extLst>
      <p:ext uri="{BB962C8B-B14F-4D97-AF65-F5344CB8AC3E}">
        <p14:creationId xmlns:p14="http://schemas.microsoft.com/office/powerpoint/2010/main" val="808560304"/>
      </p:ext>
    </p:extLst>
  </p:cSld>
</p:sld>
</file>

<file path=ppt/slides/slide38.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8" name="20초 생각">
            <a:extLst xmlns:a="http://schemas.openxmlformats.org/drawingml/2006/main">
              <a:ext uri="{FF2B5EF4-FFF2-40B4-BE49-F238E27FC236}">
                <a16:creationId xmlns:a16="http://schemas.microsoft.com/office/drawing/2014/main" id="{06B59A94-2173-4279-97CA-B4A223B89AAC}"/>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20초 생각</a:t>
            </a:r>
          </a:p>
        </p:txBody>
      </p:sp>
      <p:sp>
        <p:nvSpPr>
          <p:cNvPr id="2" name="서명은 29줄인데&#10;참석자는 몇 명일까요?">
            <a:extLst xmlns:a="http://schemas.openxmlformats.org/drawingml/2006/main">
              <a:ext uri="{FF2B5EF4-FFF2-40B4-BE49-F238E27FC236}">
                <a16:creationId xmlns:a16="http://schemas.microsoft.com/office/drawing/2014/main" id="{3BDA90F0-281B-4F99-B639-F0BFBDACEEEA}"/>
              </a:ext>
            </a:extLst>
          </p:cNvPr>
          <p:cNvSpPr>
            <a:spLocks xmlns:a="http://schemas.openxmlformats.org/drawingml/2006/main" noGrp="1"/>
          </p:cNvSpPr>
          <p:nvPr/>
        </p:nvSpPr>
        <p:spPr>
          <a:xfrm xmlns:a="http://schemas.openxmlformats.org/drawingml/2006/main">
            <a:off x="609600" y="1381125"/>
            <a:ext cx="10953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850" b="1">
                <a:solidFill>
                  <a:srgbClr val="F4F1E9"/>
                </a:solidFill>
                <a:latin typeface="Noto Sans KR"/>
                <a:ea typeface="Noto Sans KR"/>
                <a:cs typeface="Noto Sans KR"/>
              </a:defRPr>
            </a:pPr>
            <a:r>
              <a:rPr sz="5850" b="1">
                <a:solidFill>
                  <a:srgbClr val="F4F1E9"/>
                </a:solidFill>
                <a:latin typeface="Noto Sans KR"/>
                <a:ea typeface="Noto Sans KR"/>
                <a:cs typeface="Noto Sans KR"/>
              </a:rPr>
              <a:t>서명은 29줄인데</a:t>
            </a:r>
          </a:p>
          <a:p xmlns:a="http://schemas.openxmlformats.org/drawingml/2006/main">
            <a:pPr algn="l">
              <a:lnSpc>
                <a:spcPct val="112000"/>
              </a:lnSpc>
              <a:buNone/>
              <a:defRPr sz="5850" b="1">
                <a:solidFill>
                  <a:srgbClr val="F4F1E9"/>
                </a:solidFill>
                <a:latin typeface="Noto Sans KR"/>
                <a:ea typeface="Noto Sans KR"/>
                <a:cs typeface="Noto Sans KR"/>
              </a:defRPr>
            </a:pPr>
            <a:r>
              <a:rPr sz="5850" b="1">
                <a:solidFill>
                  <a:srgbClr val="F4F1E9"/>
                </a:solidFill>
                <a:latin typeface="Noto Sans KR"/>
                <a:ea typeface="Noto Sans KR"/>
                <a:cs typeface="Noto Sans KR"/>
              </a:rPr>
              <a:t>참석자는 몇 명일까요?</a:t>
            </a:r>
          </a:p>
        </p:txBody>
      </p:sp>
      <p:sp>
        <p:nvSpPr>
          <p:cNvPr id="3" name="A. 29명">
            <a:extLst xmlns:a="http://schemas.openxmlformats.org/drawingml/2006/main">
              <a:ext uri="{FF2B5EF4-FFF2-40B4-BE49-F238E27FC236}">
                <a16:creationId xmlns:a16="http://schemas.microsoft.com/office/drawing/2014/main" id="{1351859E-A7E0-4ECB-8461-68602FDE33BA}"/>
              </a:ext>
            </a:extLst>
          </p:cNvPr>
          <p:cNvSpPr>
            <a:spLocks xmlns:a="http://schemas.openxmlformats.org/drawingml/2006/main" noGrp="1"/>
          </p:cNvSpPr>
          <p:nvPr/>
        </p:nvSpPr>
        <p:spPr>
          <a:xfrm xmlns:a="http://schemas.openxmlformats.org/drawingml/2006/main">
            <a:off x="647700" y="44100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EAB196"/>
                </a:solidFill>
                <a:latin typeface="Noto Sans KR"/>
                <a:ea typeface="Noto Sans KR"/>
                <a:cs typeface="Noto Sans KR"/>
              </a:defRPr>
            </a:pPr>
            <a:r>
              <a:rPr sz="2700" b="0">
                <a:solidFill>
                  <a:srgbClr val="EAB196"/>
                </a:solidFill>
                <a:latin typeface="Noto Sans KR"/>
                <a:ea typeface="Noto Sans KR"/>
                <a:cs typeface="Noto Sans KR"/>
              </a:rPr>
              <a:t>A. 29명</a:t>
            </a:r>
          </a:p>
        </p:txBody>
      </p:sp>
      <p:sp>
        <p:nvSpPr>
          <p:cNvPr id="4" name="B. 같은 사람의 재입장부터 확인">
            <a:extLst xmlns:a="http://schemas.openxmlformats.org/drawingml/2006/main">
              <a:ext uri="{FF2B5EF4-FFF2-40B4-BE49-F238E27FC236}">
                <a16:creationId xmlns:a16="http://schemas.microsoft.com/office/drawing/2014/main" id="{9260DB73-7809-44A6-967C-6CAD37B6266B}"/>
              </a:ext>
            </a:extLst>
          </p:cNvPr>
          <p:cNvSpPr>
            <a:spLocks xmlns:a="http://schemas.openxmlformats.org/drawingml/2006/main" noGrp="1"/>
          </p:cNvSpPr>
          <p:nvPr/>
        </p:nvSpPr>
        <p:spPr>
          <a:xfrm xmlns:a="http://schemas.openxmlformats.org/drawingml/2006/main">
            <a:off x="647700" y="521970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EAB196"/>
                </a:solidFill>
                <a:latin typeface="Noto Sans KR"/>
                <a:ea typeface="Noto Sans KR"/>
                <a:cs typeface="Noto Sans KR"/>
              </a:defRPr>
            </a:pPr>
            <a:r>
              <a:rPr sz="2700" b="0">
                <a:solidFill>
                  <a:srgbClr val="EAB196"/>
                </a:solidFill>
                <a:latin typeface="Noto Sans KR"/>
                <a:ea typeface="Noto Sans KR"/>
                <a:cs typeface="Noto Sans KR"/>
              </a:rPr>
              <a:t>B. 같은 사람의 재입장부터 확인</a:t>
            </a:r>
          </a:p>
        </p:txBody>
      </p:sp>
      <p:sp>
        <p:nvSpPr>
          <p:cNvPr id="5" name="120–123분">
            <a:extLst xmlns:a="http://schemas.openxmlformats.org/drawingml/2006/main">
              <a:ext uri="{FF2B5EF4-FFF2-40B4-BE49-F238E27FC236}">
                <a16:creationId xmlns:a16="http://schemas.microsoft.com/office/drawing/2014/main" id="{3BDD39EF-1916-488A-AAEA-D961855F3352}"/>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120–123분</a:t>
            </a:r>
          </a:p>
        </p:txBody>
      </p:sp>
      <p:sp>
        <p:nvSpPr>
          <p:cNvPr id="6" name="웹 실습 열기">
            <a:extLst xmlns:a="http://schemas.openxmlformats.org/drawingml/2006/main">
              <a:ext uri="{FF2B5EF4-FFF2-40B4-BE49-F238E27FC236}">
                <a16:creationId xmlns:a16="http://schemas.microsoft.com/office/drawing/2014/main" id="{0ECEC8BA-43AC-4ED3-B539-9576953C648E}"/>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ba6f14c4147545a4"/>
              </a:rPr>
              <a:t>웹 실습 열기</a:t>
            </a:r>
          </a:p>
        </p:txBody>
      </p:sp>
      <p:sp>
        <p:nvSpPr>
          <p:cNvPr id="7" name="38">
            <a:extLst xmlns:a="http://schemas.openxmlformats.org/drawingml/2006/main">
              <a:ext uri="{FF2B5EF4-FFF2-40B4-BE49-F238E27FC236}">
                <a16:creationId xmlns:a16="http://schemas.microsoft.com/office/drawing/2014/main" id="{9697D72A-1C94-4690-A146-4E3131C9CCA9}"/>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38</a:t>
            </a:r>
          </a:p>
        </p:txBody>
      </p:sp>
    </p:spTree>
    <p:extLst>
      <p:ext uri="{BB962C8B-B14F-4D97-AF65-F5344CB8AC3E}">
        <p14:creationId xmlns:p14="http://schemas.microsoft.com/office/powerpoint/2010/main" val="23406811"/>
      </p:ext>
    </p:extLst>
  </p:cSld>
</p:sld>
</file>

<file path=ppt/slides/slide3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P16은 재입장,&#10;P22는 재제출">
            <a:extLst xmlns:a="http://schemas.openxmlformats.org/drawingml/2006/main">
              <a:ext uri="{FF2B5EF4-FFF2-40B4-BE49-F238E27FC236}">
                <a16:creationId xmlns:a16="http://schemas.microsoft.com/office/drawing/2014/main" id="{E970A6DD-06A4-4F83-A6C9-EF7A5D660C4E}"/>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P16은 재입장,</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P22는 재제출</a:t>
            </a:r>
          </a:p>
        </p:txBody>
      </p:sp>
      <p:graphicFrame>
        <p:nvGraphicFramePr>
          <p:cNvPr id="7" name=""/>
          <p:cNvGraphicFramePr/>
          <p:nvPr/>
        </p:nvGraphicFramePr>
        <p:xfrm>
          <a:off xmlns:a="http://schemas.openxmlformats.org/drawingml/2006/main" x="619125" y="2790825"/>
          <a:ext xmlns:a="http://schemas.openxmlformats.org/drawingml/2006/main" cx="10953750" cy="2733675"/>
        </p:xfrm>
        <a:graphic xmlns:a="http://schemas.openxmlformats.org/drawingml/2006/main">
          <a:graphicData uri="http://schemas.openxmlformats.org/drawingml/2006/table">
            <a:tbl>
              <a:tblPr firstRow="1" bandRow="0"/>
              <a:tblGrid>
                <a:gridCol w="2520332"/>
                <a:gridCol w="3683562"/>
                <a:gridCol w="4749856"/>
              </a:tblGrid>
              <a:tr h="683419">
                <a:tc>
                  <a:txBody>
                    <a:bodyPr lIns="152400" tIns="85725" rIns="133350" bIns="76200">
                      <a:noAutofit/>
                    </a:bodyPr>
                    <a:lstStyle/>
                    <a:p>
                      <a:pPr algn="l"/>
                      <a:r>
                        <a:rPr sz="2250" b="1">
                          <a:solidFill>
                            <a:srgbClr val="F4F1E9"/>
                          </a:solidFill>
                          <a:latin typeface="Noto Sans KR"/>
                          <a:ea typeface="Noto Sans KR"/>
                          <a:cs typeface="Noto Sans KR"/>
                        </a:rPr>
                        <a:t>임시 집계</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확인할 기록</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사용할 값</a:t>
                      </a:r>
                    </a:p>
                  </a:txBody>
                  <a:tcPr marL="91440" marR="91440" marT="45720" marB="45720" anchor="ctr">
                    <a:solidFill>
                      <a:srgbClr val="202921"/>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서명 29줄</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P16 재입장 중복</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참여 28명</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제출 25묶음</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P22 재제출 중복</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이수 24명</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설문 24건 화면</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20:00 마감 원응답</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25건</a:t>
                      </a:r>
                    </a:p>
                  </a:txBody>
                  <a:tcPr marL="91440" marR="91440" marT="45720" marB="45720" anchor="ctr">
                    <a:solidFill>
                      <a:srgbClr val="F4F1E9"/>
                    </a:solidFill>
                  </a:tcPr>
                </a:tc>
              </a:tr>
            </a:tbl>
          </a:graphicData>
        </a:graphic>
      </p:graphicFrame>
      <p:sp>
        <p:nvSpPr>
          <p:cNvPr id="3" name="123–127분">
            <a:extLst xmlns:a="http://schemas.openxmlformats.org/drawingml/2006/main">
              <a:ext uri="{FF2B5EF4-FFF2-40B4-BE49-F238E27FC236}">
                <a16:creationId xmlns:a16="http://schemas.microsoft.com/office/drawing/2014/main" id="{62011835-0E26-4FD3-BD62-FF6DFA8006BE}"/>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123–127분</a:t>
            </a:r>
          </a:p>
        </p:txBody>
      </p:sp>
      <p:sp>
        <p:nvSpPr>
          <p:cNvPr id="4" name="웹 실습 열기">
            <a:extLst xmlns:a="http://schemas.openxmlformats.org/drawingml/2006/main">
              <a:ext uri="{FF2B5EF4-FFF2-40B4-BE49-F238E27FC236}">
                <a16:creationId xmlns:a16="http://schemas.microsoft.com/office/drawing/2014/main" id="{95A4C977-774B-422E-BEF4-777F75707D8E}"/>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6e432d27f8584371"/>
              </a:rPr>
              <a:t>웹 실습 열기</a:t>
            </a:r>
          </a:p>
        </p:txBody>
      </p:sp>
      <p:sp>
        <p:nvSpPr>
          <p:cNvPr id="5" name="39">
            <a:extLst xmlns:a="http://schemas.openxmlformats.org/drawingml/2006/main">
              <a:ext uri="{FF2B5EF4-FFF2-40B4-BE49-F238E27FC236}">
                <a16:creationId xmlns:a16="http://schemas.microsoft.com/office/drawing/2014/main" id="{F9A6EFBB-3F9D-4D0E-AD10-0A66C36A38E9}"/>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39</a:t>
            </a:r>
          </a:p>
        </p:txBody>
      </p:sp>
    </p:spTree>
    <p:extLst>
      <p:ext uri="{BB962C8B-B14F-4D97-AF65-F5344CB8AC3E}">
        <p14:creationId xmlns:p14="http://schemas.microsoft.com/office/powerpoint/2010/main" val="476492634"/>
      </p:ext>
    </p:extLst>
  </p:cSld>
</p:sld>
</file>

<file path=ppt/slides/slide40.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11" name="직접 해볼 시간">
            <a:extLst xmlns:a="http://schemas.openxmlformats.org/drawingml/2006/main">
              <a:ext uri="{FF2B5EF4-FFF2-40B4-BE49-F238E27FC236}">
                <a16:creationId xmlns:a16="http://schemas.microsoft.com/office/drawing/2014/main" id="{F02B6B97-3D94-4131-B370-F3F43B471B54}"/>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직접 해볼 시간</a:t>
            </a:r>
          </a:p>
        </p:txBody>
      </p:sp>
      <p:sp>
        <p:nvSpPr>
          <p:cNvPr id="2" name="4분">
            <a:extLst xmlns:a="http://schemas.openxmlformats.org/drawingml/2006/main">
              <a:ext uri="{FF2B5EF4-FFF2-40B4-BE49-F238E27FC236}">
                <a16:creationId xmlns:a16="http://schemas.microsoft.com/office/drawing/2014/main" id="{E7C86E70-15EC-4B61-ADD9-80670EA063B2}"/>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4분</a:t>
            </a:r>
          </a:p>
        </p:txBody>
      </p:sp>
      <p:sp>
        <p:nvSpPr>
          <p:cNvPr id="3" name="보고서의 앞부분에&#10;결정할 일을">
            <a:extLst xmlns:a="http://schemas.openxmlformats.org/drawingml/2006/main">
              <a:ext uri="{FF2B5EF4-FFF2-40B4-BE49-F238E27FC236}">
                <a16:creationId xmlns:a16="http://schemas.microsoft.com/office/drawing/2014/main" id="{45CE137B-54E9-4396-8972-9C1200205A1F}"/>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보고서의 앞부분에</a:t>
            </a:r>
          </a:p>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결정할 일을</a:t>
            </a:r>
          </a:p>
        </p:txBody>
      </p:sp>
      <p:sp>
        <p:nvSpPr>
          <p:cNvPr id="4" name="확정 대장과 중간 집계 구분">
            <a:extLst xmlns:a="http://schemas.openxmlformats.org/drawingml/2006/main">
              <a:ext uri="{FF2B5EF4-FFF2-40B4-BE49-F238E27FC236}">
                <a16:creationId xmlns:a16="http://schemas.microsoft.com/office/drawing/2014/main" id="{3874307E-3C6F-4F0D-B00E-B57076807C61}"/>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확정 대장과 중간 집계 구분</a:t>
            </a:r>
          </a:p>
        </p:txBody>
      </p:sp>
      <p:sp>
        <p:nvSpPr>
          <p:cNvPr id="5" name="지표별 분모를 먼저 표시">
            <a:extLst xmlns:a="http://schemas.openxmlformats.org/drawingml/2006/main">
              <a:ext uri="{FF2B5EF4-FFF2-40B4-BE49-F238E27FC236}">
                <a16:creationId xmlns:a16="http://schemas.microsoft.com/office/drawing/2014/main" id="{C525AE5F-9304-450F-9550-BEA39DE47BB7}"/>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지표별 분모를 먼저 표시</a:t>
            </a:r>
          </a:p>
        </p:txBody>
      </p:sp>
      <p:sp>
        <p:nvSpPr>
          <p:cNvPr id="6" name="결정 요청 두 건을 목차에 포함">
            <a:extLst xmlns:a="http://schemas.openxmlformats.org/drawingml/2006/main">
              <a:ext uri="{FF2B5EF4-FFF2-40B4-BE49-F238E27FC236}">
                <a16:creationId xmlns:a16="http://schemas.microsoft.com/office/drawing/2014/main" id="{8D474097-0346-45D0-94DC-4FC97E8A2A3C}"/>
              </a:ext>
            </a:extLst>
          </p:cNvPr>
          <p:cNvSpPr>
            <a:spLocks xmlns:a="http://schemas.openxmlformats.org/drawingml/2006/main" noGrp="1"/>
          </p:cNvSpPr>
          <p:nvPr/>
        </p:nvSpPr>
        <p:spPr>
          <a:xfrm xmlns:a="http://schemas.openxmlformats.org/drawingml/2006/main">
            <a:off x="4019550" y="4733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결정 요청 두 건을 목차에 포함</a:t>
            </a:r>
          </a:p>
        </p:txBody>
      </p:sp>
      <p:sp>
        <p:nvSpPr>
          <p:cNvPr id="7" name="목차와 결정 요청 2건">
            <a:extLst xmlns:a="http://schemas.openxmlformats.org/drawingml/2006/main">
              <a:ext uri="{FF2B5EF4-FFF2-40B4-BE49-F238E27FC236}">
                <a16:creationId xmlns:a16="http://schemas.microsoft.com/office/drawing/2014/main" id="{B6B68447-4267-4E27-AE62-E329C2DA88E2}"/>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EBB597"/>
                </a:solidFill>
                <a:latin typeface="Noto Sans KR"/>
                <a:ea typeface="Noto Sans KR"/>
                <a:cs typeface="Noto Sans KR"/>
              </a:defRPr>
            </a:pPr>
            <a:r>
              <a:rPr sz="2325" b="1">
                <a:solidFill>
                  <a:srgbClr val="EBB597"/>
                </a:solidFill>
                <a:latin typeface="Noto Sans KR"/>
                <a:ea typeface="Noto Sans KR"/>
                <a:cs typeface="Noto Sans KR"/>
              </a:rPr>
              <a:t>목차와 결정 요청 2건</a:t>
            </a:r>
          </a:p>
        </p:txBody>
      </p:sp>
      <p:sp>
        <p:nvSpPr>
          <p:cNvPr id="8" name="127–131분">
            <a:extLst xmlns:a="http://schemas.openxmlformats.org/drawingml/2006/main">
              <a:ext uri="{FF2B5EF4-FFF2-40B4-BE49-F238E27FC236}">
                <a16:creationId xmlns:a16="http://schemas.microsoft.com/office/drawing/2014/main" id="{623B5A8C-AED1-4B9B-9B63-37909C967408}"/>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127–131분</a:t>
            </a:r>
          </a:p>
        </p:txBody>
      </p:sp>
      <p:sp>
        <p:nvSpPr>
          <p:cNvPr id="9" name="웹 실습 열기">
            <a:extLst xmlns:a="http://schemas.openxmlformats.org/drawingml/2006/main">
              <a:ext uri="{FF2B5EF4-FFF2-40B4-BE49-F238E27FC236}">
                <a16:creationId xmlns:a16="http://schemas.microsoft.com/office/drawing/2014/main" id="{78D6378E-E45F-42EF-BBED-7AE07597F304}"/>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ad09e128707a491e"/>
              </a:rPr>
              <a:t>웹 실습 열기</a:t>
            </a:r>
          </a:p>
        </p:txBody>
      </p:sp>
      <p:sp>
        <p:nvSpPr>
          <p:cNvPr id="10" name="40">
            <a:extLst xmlns:a="http://schemas.openxmlformats.org/drawingml/2006/main">
              <a:ext uri="{FF2B5EF4-FFF2-40B4-BE49-F238E27FC236}">
                <a16:creationId xmlns:a16="http://schemas.microsoft.com/office/drawing/2014/main" id="{218D8C1A-AEF5-4C42-A8BC-650369C1320E}"/>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40</a:t>
            </a:r>
          </a:p>
        </p:txBody>
      </p:sp>
    </p:spTree>
    <p:extLst>
      <p:ext uri="{BB962C8B-B14F-4D97-AF65-F5344CB8AC3E}">
        <p14:creationId xmlns:p14="http://schemas.microsoft.com/office/powerpoint/2010/main" val="382160151"/>
      </p:ext>
    </p:extLst>
  </p:cSld>
</p:sld>
</file>

<file path=ppt/slides/slide41.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1" name="직접 해볼 시간">
            <a:extLst xmlns:a="http://schemas.openxmlformats.org/drawingml/2006/main">
              <a:ext uri="{FF2B5EF4-FFF2-40B4-BE49-F238E27FC236}">
                <a16:creationId xmlns:a16="http://schemas.microsoft.com/office/drawing/2014/main" id="{9C9BDA2A-4F59-4514-8035-027F7D054FED}"/>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586356"/>
                </a:solidFill>
                <a:latin typeface="Noto Sans KR"/>
                <a:ea typeface="Noto Sans KR"/>
                <a:cs typeface="Noto Sans KR"/>
              </a:defRPr>
            </a:pPr>
            <a:r>
              <a:rPr sz="1875" b="1">
                <a:solidFill>
                  <a:srgbClr val="586356"/>
                </a:solidFill>
                <a:latin typeface="Noto Sans KR"/>
                <a:ea typeface="Noto Sans KR"/>
                <a:cs typeface="Noto Sans KR"/>
              </a:rPr>
              <a:t>직접 해볼 시간</a:t>
            </a:r>
          </a:p>
        </p:txBody>
      </p:sp>
      <p:sp>
        <p:nvSpPr>
          <p:cNvPr id="2" name="부서장에게 올릴&#10;보고서 한 편">
            <a:extLst xmlns:a="http://schemas.openxmlformats.org/drawingml/2006/main">
              <a:ext uri="{FF2B5EF4-FFF2-40B4-BE49-F238E27FC236}">
                <a16:creationId xmlns:a16="http://schemas.microsoft.com/office/drawing/2014/main" id="{AC01AF95-AA9F-4903-B296-EAB93564E1B3}"/>
              </a:ext>
            </a:extLst>
          </p:cNvPr>
          <p:cNvSpPr>
            <a:spLocks xmlns:a="http://schemas.openxmlformats.org/drawingml/2006/main" noGrp="1"/>
          </p:cNvSpPr>
          <p:nvPr/>
        </p:nvSpPr>
        <p:spPr>
          <a:xfrm xmlns:a="http://schemas.openxmlformats.org/drawingml/2006/main">
            <a:off x="600075" y="1114425"/>
            <a:ext cx="109347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175" b="1">
                <a:solidFill>
                  <a:srgbClr val="202921"/>
                </a:solidFill>
                <a:latin typeface="Noto Sans KR"/>
                <a:ea typeface="Noto Sans KR"/>
                <a:cs typeface="Noto Sans KR"/>
              </a:defRPr>
            </a:pPr>
            <a:r>
              <a:rPr sz="5175" b="1">
                <a:solidFill>
                  <a:srgbClr val="202921"/>
                </a:solidFill>
                <a:latin typeface="Noto Sans KR"/>
                <a:ea typeface="Noto Sans KR"/>
                <a:cs typeface="Noto Sans KR"/>
              </a:rPr>
              <a:t>부서장에게 올릴</a:t>
            </a:r>
          </a:p>
          <a:p xmlns:a="http://schemas.openxmlformats.org/drawingml/2006/main">
            <a:pPr algn="l">
              <a:lnSpc>
                <a:spcPct val="112000"/>
              </a:lnSpc>
              <a:buNone/>
              <a:defRPr sz="5175" b="1">
                <a:solidFill>
                  <a:srgbClr val="202921"/>
                </a:solidFill>
                <a:latin typeface="Noto Sans KR"/>
                <a:ea typeface="Noto Sans KR"/>
                <a:cs typeface="Noto Sans KR"/>
              </a:defRPr>
            </a:pPr>
            <a:r>
              <a:rPr sz="5175" b="1">
                <a:solidFill>
                  <a:srgbClr val="202921"/>
                </a:solidFill>
                <a:latin typeface="Noto Sans KR"/>
                <a:ea typeface="Noto Sans KR"/>
                <a:cs typeface="Noto Sans KR"/>
              </a:rPr>
              <a:t>보고서 한 편</a:t>
            </a:r>
          </a:p>
        </p:txBody>
      </p:sp>
      <p:sp>
        <p:nvSpPr>
          <p:cNvPr id="3" name="결과와 이전 회차 비교 포함">
            <a:extLst xmlns:a="http://schemas.openxmlformats.org/drawingml/2006/main">
              <a:ext uri="{FF2B5EF4-FFF2-40B4-BE49-F238E27FC236}">
                <a16:creationId xmlns:a16="http://schemas.microsoft.com/office/drawing/2014/main" id="{428661E4-DA70-4181-BE86-3713BB60A720}"/>
              </a:ext>
            </a:extLst>
          </p:cNvPr>
          <p:cNvSpPr>
            <a:spLocks xmlns:a="http://schemas.openxmlformats.org/drawingml/2006/main" noGrp="1"/>
          </p:cNvSpPr>
          <p:nvPr/>
        </p:nvSpPr>
        <p:spPr>
          <a:xfrm xmlns:a="http://schemas.openxmlformats.org/drawingml/2006/main">
            <a:off x="647700" y="3190875"/>
            <a:ext cx="847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결과와 이전 회차 비교 포함</a:t>
            </a:r>
          </a:p>
        </p:txBody>
      </p:sp>
      <p:sp>
        <p:nvSpPr>
          <p:cNvPr id="4" name="결정 요청 두 건 앞에 배치">
            <a:extLst xmlns:a="http://schemas.openxmlformats.org/drawingml/2006/main">
              <a:ext uri="{FF2B5EF4-FFF2-40B4-BE49-F238E27FC236}">
                <a16:creationId xmlns:a16="http://schemas.microsoft.com/office/drawing/2014/main" id="{5A633BAF-6536-47DD-B54C-D770E73690D4}"/>
              </a:ext>
            </a:extLst>
          </p:cNvPr>
          <p:cNvSpPr>
            <a:spLocks xmlns:a="http://schemas.openxmlformats.org/drawingml/2006/main" noGrp="1"/>
          </p:cNvSpPr>
          <p:nvPr/>
        </p:nvSpPr>
        <p:spPr>
          <a:xfrm xmlns:a="http://schemas.openxmlformats.org/drawingml/2006/main">
            <a:off x="647700" y="3914775"/>
            <a:ext cx="847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결정 요청 두 건 앞에 배치</a:t>
            </a:r>
          </a:p>
        </p:txBody>
      </p:sp>
      <p:sp>
        <p:nvSpPr>
          <p:cNvPr id="5" name="후속 업무와 계산 메모 분리">
            <a:extLst xmlns:a="http://schemas.openxmlformats.org/drawingml/2006/main">
              <a:ext uri="{FF2B5EF4-FFF2-40B4-BE49-F238E27FC236}">
                <a16:creationId xmlns:a16="http://schemas.microsoft.com/office/drawing/2014/main" id="{96FA346F-2096-40D2-9886-28E2AF4933EF}"/>
              </a:ext>
            </a:extLst>
          </p:cNvPr>
          <p:cNvSpPr>
            <a:spLocks xmlns:a="http://schemas.openxmlformats.org/drawingml/2006/main" noGrp="1"/>
          </p:cNvSpPr>
          <p:nvPr/>
        </p:nvSpPr>
        <p:spPr>
          <a:xfrm xmlns:a="http://schemas.openxmlformats.org/drawingml/2006/main">
            <a:off x="647700" y="4638675"/>
            <a:ext cx="847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후속 업무와 계산 메모 분리</a:t>
            </a:r>
          </a:p>
        </p:txBody>
      </p:sp>
      <p:sp>
        <p:nvSpPr>
          <p:cNvPr id="6" name="6분">
            <a:extLst xmlns:a="http://schemas.openxmlformats.org/drawingml/2006/main">
              <a:ext uri="{FF2B5EF4-FFF2-40B4-BE49-F238E27FC236}">
                <a16:creationId xmlns:a16="http://schemas.microsoft.com/office/drawing/2014/main" id="{64F68DE8-C6FC-4139-AFD9-F29BB2CD179F}"/>
              </a:ext>
            </a:extLst>
          </p:cNvPr>
          <p:cNvSpPr>
            <a:spLocks xmlns:a="http://schemas.openxmlformats.org/drawingml/2006/main" noGrp="1"/>
          </p:cNvSpPr>
          <p:nvPr/>
        </p:nvSpPr>
        <p:spPr>
          <a:xfrm xmlns:a="http://schemas.openxmlformats.org/drawingml/2006/main">
            <a:off x="9144000" y="3276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5400" b="1">
                <a:solidFill>
                  <a:srgbClr val="EA5936"/>
                </a:solidFill>
                <a:latin typeface="Noto Sans KR"/>
                <a:ea typeface="Noto Sans KR"/>
                <a:cs typeface="Noto Sans KR"/>
              </a:defRPr>
            </a:pPr>
            <a:r>
              <a:rPr sz="5400" b="1">
                <a:solidFill>
                  <a:srgbClr val="EA5936"/>
                </a:solidFill>
                <a:latin typeface="Noto Sans KR"/>
                <a:ea typeface="Noto Sans KR"/>
                <a:cs typeface="Noto Sans KR"/>
              </a:rPr>
              <a:t>6분</a:t>
            </a:r>
          </a:p>
        </p:txBody>
      </p:sp>
      <p:sp>
        <p:nvSpPr>
          <p:cNvPr id="7" name="본문 1,200~1,600자 + 표">
            <a:extLst xmlns:a="http://schemas.openxmlformats.org/drawingml/2006/main">
              <a:ext uri="{FF2B5EF4-FFF2-40B4-BE49-F238E27FC236}">
                <a16:creationId xmlns:a16="http://schemas.microsoft.com/office/drawing/2014/main" id="{F1344AAE-90CC-4E03-8E27-3A1B9A205651}"/>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586356"/>
                </a:solidFill>
                <a:latin typeface="Noto Sans KR"/>
                <a:ea typeface="Noto Sans KR"/>
                <a:cs typeface="Noto Sans KR"/>
              </a:defRPr>
            </a:pPr>
            <a:r>
              <a:rPr sz="2325" b="1">
                <a:solidFill>
                  <a:srgbClr val="586356"/>
                </a:solidFill>
                <a:latin typeface="Noto Sans KR"/>
                <a:ea typeface="Noto Sans KR"/>
                <a:cs typeface="Noto Sans KR"/>
              </a:rPr>
              <a:t>본문 1,200~1,600자 + 표</a:t>
            </a:r>
          </a:p>
        </p:txBody>
      </p:sp>
      <p:sp>
        <p:nvSpPr>
          <p:cNvPr id="8" name="131–137분">
            <a:extLst xmlns:a="http://schemas.openxmlformats.org/drawingml/2006/main">
              <a:ext uri="{FF2B5EF4-FFF2-40B4-BE49-F238E27FC236}">
                <a16:creationId xmlns:a16="http://schemas.microsoft.com/office/drawing/2014/main" id="{2DB1BF17-A008-40DE-9BFB-C22F4952B0D8}"/>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131–137분</a:t>
            </a:r>
          </a:p>
        </p:txBody>
      </p:sp>
      <p:sp>
        <p:nvSpPr>
          <p:cNvPr id="9" name="웹 실습 열기">
            <a:extLst xmlns:a="http://schemas.openxmlformats.org/drawingml/2006/main">
              <a:ext uri="{FF2B5EF4-FFF2-40B4-BE49-F238E27FC236}">
                <a16:creationId xmlns:a16="http://schemas.microsoft.com/office/drawing/2014/main" id="{E6DD7DCB-E9B5-4759-8351-011D207B75B2}"/>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cd88c99089694d0f"/>
              </a:rPr>
              <a:t>웹 실습 열기</a:t>
            </a:r>
          </a:p>
        </p:txBody>
      </p:sp>
      <p:sp>
        <p:nvSpPr>
          <p:cNvPr id="10" name="41">
            <a:extLst xmlns:a="http://schemas.openxmlformats.org/drawingml/2006/main">
              <a:ext uri="{FF2B5EF4-FFF2-40B4-BE49-F238E27FC236}">
                <a16:creationId xmlns:a16="http://schemas.microsoft.com/office/drawing/2014/main" id="{AB6356DF-C409-48E8-B8A5-B782E15A39C8}"/>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41</a:t>
            </a:r>
          </a:p>
        </p:txBody>
      </p:sp>
    </p:spTree>
    <p:extLst>
      <p:ext uri="{BB962C8B-B14F-4D97-AF65-F5344CB8AC3E}">
        <p14:creationId xmlns:p14="http://schemas.microsoft.com/office/powerpoint/2010/main" val="105826585"/>
      </p:ext>
    </p:extLst>
  </p:cSld>
</p:sld>
</file>

<file path=ppt/slides/slide4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로그인 문제로&#10;4명이 미이수했다”?">
            <a:extLst xmlns:a="http://schemas.openxmlformats.org/drawingml/2006/main">
              <a:ext uri="{FF2B5EF4-FFF2-40B4-BE49-F238E27FC236}">
                <a16:creationId xmlns:a16="http://schemas.microsoft.com/office/drawing/2014/main" id="{E2F6C69B-2827-40E9-A8BF-CECCBBA49848}"/>
              </a:ext>
            </a:extLst>
          </p:cNvPr>
          <p:cNvSpPr>
            <a:spLocks xmlns:a="http://schemas.openxmlformats.org/drawingml/2006/main" noGrp="1"/>
          </p:cNvSpPr>
          <p:nvPr/>
        </p:nvSpPr>
        <p:spPr>
          <a:xfrm xmlns:a="http://schemas.openxmlformats.org/drawingml/2006/main">
            <a:off x="590550" y="352425"/>
            <a:ext cx="10953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425" b="1">
                <a:solidFill>
                  <a:srgbClr val="202921"/>
                </a:solidFill>
                <a:latin typeface="Noto Sans KR"/>
                <a:ea typeface="Noto Sans KR"/>
                <a:cs typeface="Noto Sans KR"/>
              </a:defRPr>
            </a:pPr>
            <a:r>
              <a:rPr sz="4425" b="1">
                <a:solidFill>
                  <a:srgbClr val="202921"/>
                </a:solidFill>
                <a:latin typeface="Noto Sans KR"/>
                <a:ea typeface="Noto Sans KR"/>
                <a:cs typeface="Noto Sans KR"/>
              </a:rPr>
              <a:t>“로그인 문제로</a:t>
            </a:r>
          </a:p>
          <a:p xmlns:a="http://schemas.openxmlformats.org/drawingml/2006/main">
            <a:pPr algn="l">
              <a:lnSpc>
                <a:spcPct val="112000"/>
              </a:lnSpc>
              <a:buNone/>
              <a:defRPr sz="4425" b="1">
                <a:solidFill>
                  <a:srgbClr val="202921"/>
                </a:solidFill>
                <a:latin typeface="Noto Sans KR"/>
                <a:ea typeface="Noto Sans KR"/>
                <a:cs typeface="Noto Sans KR"/>
              </a:defRPr>
            </a:pPr>
            <a:r>
              <a:rPr sz="4425" b="1">
                <a:solidFill>
                  <a:srgbClr val="202921"/>
                </a:solidFill>
                <a:latin typeface="Noto Sans KR"/>
                <a:ea typeface="Noto Sans KR"/>
                <a:cs typeface="Noto Sans KR"/>
              </a:rPr>
              <a:t>4명이 미이수했다”?</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16ef999afbe4de3"/>
          <a:srcRect xmlns:a="http://schemas.openxmlformats.org/drawingml/2006/main" l="17000" t="32700" r="31500" b="62300"/>
          <a:stretch xmlns:a="http://schemas.openxmlformats.org/drawingml/2006/main"/>
        </p:blipFill>
        <p:spPr>
          <a:xfrm xmlns:a="http://schemas.openxmlformats.org/drawingml/2006/main">
            <a:off x="628650" y="2474435"/>
            <a:ext cx="10953750" cy="975680"/>
          </a:xfrm>
          <a:prstGeom xmlns:a="http://schemas.openxmlformats.org/drawingml/2006/main" prst="rect">
            <a:avLst/>
          </a:prstGeom>
        </p:spPr>
      </p:pic>
      <p:sp>
        <p:nvSpPr>
          <p:cNvPr id="3" name="편집한 수치 요약: 실제 참여 28명 / 이수 24명 / 이수율">
            <a:extLst xmlns:a="http://schemas.openxmlformats.org/drawingml/2006/main">
              <a:ext uri="{FF2B5EF4-FFF2-40B4-BE49-F238E27FC236}">
                <a16:creationId xmlns:a16="http://schemas.microsoft.com/office/drawing/2014/main" id="{1B3A6C90-B0E6-4973-AFA1-87ADAF60B091}"/>
              </a:ext>
            </a:extLst>
          </p:cNvPr>
          <p:cNvSpPr>
            <a:spLocks xmlns:a="http://schemas.openxmlformats.org/drawingml/2006/main" noGrp="1"/>
          </p:cNvSpPr>
          <p:nvPr/>
        </p:nvSpPr>
        <p:spPr>
          <a:xfrm xmlns:a="http://schemas.openxmlformats.org/drawingml/2006/main">
            <a:off x="628650" y="38385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EA5936"/>
                </a:solidFill>
                <a:latin typeface="Noto Sans KR"/>
                <a:ea typeface="Noto Sans KR"/>
                <a:cs typeface="Noto Sans KR"/>
              </a:defRPr>
            </a:pPr>
            <a:r>
              <a:rPr sz="2325" b="1">
                <a:solidFill>
                  <a:srgbClr val="EA5936"/>
                </a:solidFill>
                <a:latin typeface="Noto Sans KR"/>
                <a:ea typeface="Noto Sans KR"/>
                <a:cs typeface="Noto Sans KR"/>
              </a:rPr>
              <a:t>편집한 수치 요약: 실제 참여 28명 / 이수 24명 / 이수율 약 85.7%</a:t>
            </a:r>
          </a:p>
        </p:txBody>
      </p:sp>
      <p:sp>
        <p:nvSpPr>
          <p:cNvPr id="4" name="A. 네 사람의 미이수 이유는 별도 확인">
            <a:extLst xmlns:a="http://schemas.openxmlformats.org/drawingml/2006/main">
              <a:ext uri="{FF2B5EF4-FFF2-40B4-BE49-F238E27FC236}">
                <a16:creationId xmlns:a16="http://schemas.microsoft.com/office/drawing/2014/main" id="{93900851-D325-45AE-83A7-372054F764A3}"/>
              </a:ext>
            </a:extLst>
          </p:cNvPr>
          <p:cNvSpPr>
            <a:spLocks xmlns:a="http://schemas.openxmlformats.org/drawingml/2006/main" noGrp="1"/>
          </p:cNvSpPr>
          <p:nvPr/>
        </p:nvSpPr>
        <p:spPr>
          <a:xfrm xmlns:a="http://schemas.openxmlformats.org/drawingml/2006/main">
            <a:off x="628650" y="4695825"/>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202921"/>
                </a:solidFill>
                <a:latin typeface="Noto Sans KR"/>
                <a:ea typeface="Noto Sans KR"/>
                <a:cs typeface="Noto Sans KR"/>
              </a:defRPr>
            </a:pPr>
            <a:r>
              <a:rPr sz="2250" b="0">
                <a:solidFill>
                  <a:srgbClr val="202921"/>
                </a:solidFill>
                <a:latin typeface="Noto Sans KR"/>
                <a:ea typeface="Noto Sans KR"/>
                <a:cs typeface="Noto Sans KR"/>
              </a:rPr>
              <a:t>A. 네 사람의 미이수 이유는 별도</a:t>
            </a:r>
          </a:p>
          <a:p xmlns:a="http://schemas.openxmlformats.org/drawingml/2006/main">
            <a:pPr algn="l">
              <a:lnSpc>
                <a:spcPct val="112000"/>
              </a:lnSpc>
              <a:buNone/>
              <a:defRPr sz="2250" b="0">
                <a:solidFill>
                  <a:srgbClr val="202921"/>
                </a:solidFill>
                <a:latin typeface="Noto Sans KR"/>
                <a:ea typeface="Noto Sans KR"/>
                <a:cs typeface="Noto Sans KR"/>
              </a:defRPr>
            </a:pPr>
            <a:r>
              <a:rPr sz="2250" b="0">
                <a:solidFill>
                  <a:srgbClr val="202921"/>
                </a:solidFill>
                <a:latin typeface="Noto Sans KR"/>
                <a:ea typeface="Noto Sans KR"/>
                <a:cs typeface="Noto Sans KR"/>
              </a:rPr>
              <a:t>확인</a:t>
            </a:r>
          </a:p>
        </p:txBody>
      </p:sp>
      <p:sp>
        <p:nvSpPr>
          <p:cNvPr id="5" name="B. 현장에 로그인 지연이 있었으니 사용">
            <a:extLst xmlns:a="http://schemas.openxmlformats.org/drawingml/2006/main">
              <a:ext uri="{FF2B5EF4-FFF2-40B4-BE49-F238E27FC236}">
                <a16:creationId xmlns:a16="http://schemas.microsoft.com/office/drawing/2014/main" id="{F28CA72B-DB35-4659-BED2-69F8E24045FA}"/>
              </a:ext>
            </a:extLst>
          </p:cNvPr>
          <p:cNvSpPr>
            <a:spLocks xmlns:a="http://schemas.openxmlformats.org/drawingml/2006/main" noGrp="1"/>
          </p:cNvSpPr>
          <p:nvPr/>
        </p:nvSpPr>
        <p:spPr>
          <a:xfrm xmlns:a="http://schemas.openxmlformats.org/drawingml/2006/main">
            <a:off x="6467475" y="4695825"/>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202921"/>
                </a:solidFill>
                <a:latin typeface="Noto Sans KR"/>
                <a:ea typeface="Noto Sans KR"/>
                <a:cs typeface="Noto Sans KR"/>
              </a:defRPr>
            </a:pPr>
            <a:r>
              <a:rPr sz="2250" b="0">
                <a:solidFill>
                  <a:srgbClr val="202921"/>
                </a:solidFill>
                <a:latin typeface="Noto Sans KR"/>
                <a:ea typeface="Noto Sans KR"/>
                <a:cs typeface="Noto Sans KR"/>
              </a:rPr>
              <a:t>B. 현장에 로그인 지연이 있었으니</a:t>
            </a:r>
          </a:p>
          <a:p xmlns:a="http://schemas.openxmlformats.org/drawingml/2006/main">
            <a:pPr algn="l">
              <a:lnSpc>
                <a:spcPct val="112000"/>
              </a:lnSpc>
              <a:buNone/>
              <a:defRPr sz="2250" b="0">
                <a:solidFill>
                  <a:srgbClr val="202921"/>
                </a:solidFill>
                <a:latin typeface="Noto Sans KR"/>
                <a:ea typeface="Noto Sans KR"/>
                <a:cs typeface="Noto Sans KR"/>
              </a:defRPr>
            </a:pPr>
            <a:r>
              <a:rPr sz="2250" b="0">
                <a:solidFill>
                  <a:srgbClr val="202921"/>
                </a:solidFill>
                <a:latin typeface="Noto Sans KR"/>
                <a:ea typeface="Noto Sans KR"/>
                <a:cs typeface="Noto Sans KR"/>
              </a:rPr>
              <a:t>사용</a:t>
            </a:r>
          </a:p>
        </p:txBody>
      </p:sp>
      <p:sp>
        <p:nvSpPr>
          <p:cNvPr id="6" name="실제 Claude 계산 메모 / 위 문장은 수업용 검토 예문">
            <a:extLst xmlns:a="http://schemas.openxmlformats.org/drawingml/2006/main">
              <a:ext uri="{FF2B5EF4-FFF2-40B4-BE49-F238E27FC236}">
                <a16:creationId xmlns:a16="http://schemas.microsoft.com/office/drawing/2014/main" id="{28707C09-7C89-4D66-8080-B34C99875066}"/>
              </a:ext>
            </a:extLst>
          </p:cNvPr>
          <p:cNvSpPr>
            <a:spLocks xmlns:a="http://schemas.openxmlformats.org/drawingml/2006/main" noGrp="1"/>
          </p:cNvSpPr>
          <p:nvPr/>
        </p:nvSpPr>
        <p:spPr>
          <a:xfrm xmlns:a="http://schemas.openxmlformats.org/drawingml/2006/main">
            <a:off x="638175" y="6000750"/>
            <a:ext cx="1090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86356"/>
                </a:solidFill>
                <a:latin typeface="Noto Sans KR"/>
                <a:ea typeface="Noto Sans KR"/>
                <a:cs typeface="Noto Sans KR"/>
              </a:defRPr>
            </a:pPr>
            <a:r>
              <a:rPr sz="1725" b="0">
                <a:solidFill>
                  <a:srgbClr val="586356"/>
                </a:solidFill>
                <a:latin typeface="Noto Sans KR"/>
                <a:ea typeface="Noto Sans KR"/>
                <a:cs typeface="Noto Sans KR"/>
              </a:rPr>
              <a:t>실제 Claude 계산 메모 / 위 문장은 수업용 검토 예문</a:t>
            </a:r>
          </a:p>
        </p:txBody>
      </p:sp>
      <p:sp>
        <p:nvSpPr>
          <p:cNvPr id="7" name="137–142분">
            <a:extLst xmlns:a="http://schemas.openxmlformats.org/drawingml/2006/main">
              <a:ext uri="{FF2B5EF4-FFF2-40B4-BE49-F238E27FC236}">
                <a16:creationId xmlns:a16="http://schemas.microsoft.com/office/drawing/2014/main" id="{B411B88F-BC10-4E93-8A9A-3DBB62B7CBA0}"/>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137–142분</a:t>
            </a:r>
          </a:p>
        </p:txBody>
      </p:sp>
      <p:sp>
        <p:nvSpPr>
          <p:cNvPr id="8" name="웹 실습 열기">
            <a:extLst xmlns:a="http://schemas.openxmlformats.org/drawingml/2006/main">
              <a:ext uri="{FF2B5EF4-FFF2-40B4-BE49-F238E27FC236}">
                <a16:creationId xmlns:a16="http://schemas.microsoft.com/office/drawing/2014/main" id="{C515D18C-489E-4FFF-BB41-2353C787FADE}"/>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126d0ca02c1a400b"/>
              </a:rPr>
              <a:t>웹 실습 열기</a:t>
            </a:r>
          </a:p>
        </p:txBody>
      </p:sp>
      <p:sp>
        <p:nvSpPr>
          <p:cNvPr id="9" name="42">
            <a:extLst xmlns:a="http://schemas.openxmlformats.org/drawingml/2006/main">
              <a:ext uri="{FF2B5EF4-FFF2-40B4-BE49-F238E27FC236}">
                <a16:creationId xmlns:a16="http://schemas.microsoft.com/office/drawing/2014/main" id="{F27FD387-BB05-45D8-B713-5577C8AB8319}"/>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42</a:t>
            </a:r>
          </a:p>
        </p:txBody>
      </p:sp>
    </p:spTree>
    <p:extLst>
      <p:ext uri="{BB962C8B-B14F-4D97-AF65-F5344CB8AC3E}">
        <p14:creationId xmlns:p14="http://schemas.microsoft.com/office/powerpoint/2010/main" val="1278127544"/>
      </p:ext>
    </p:extLst>
  </p:cSld>
</p:sld>
</file>

<file path=ppt/slides/slide4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로그인 지연과&#10;미이수는 따로 기록">
            <a:extLst xmlns:a="http://schemas.openxmlformats.org/drawingml/2006/main">
              <a:ext uri="{FF2B5EF4-FFF2-40B4-BE49-F238E27FC236}">
                <a16:creationId xmlns:a16="http://schemas.microsoft.com/office/drawing/2014/main" id="{6C4AA1E6-702A-48A4-ADA3-DE8E9947CC26}"/>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로그인 지연과</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미이수는 따로 기록</a:t>
            </a:r>
          </a:p>
        </p:txBody>
      </p:sp>
      <p:graphicFrame>
        <p:nvGraphicFramePr>
          <p:cNvPr id="7" name=""/>
          <p:cNvGraphicFramePr/>
          <p:nvPr/>
        </p:nvGraphicFramePr>
        <p:xfrm>
          <a:off xmlns:a="http://schemas.openxmlformats.org/drawingml/2006/main" x="619125" y="2790825"/>
          <a:ext xmlns:a="http://schemas.openxmlformats.org/drawingml/2006/main" cx="10953750" cy="2733675"/>
        </p:xfrm>
        <a:graphic xmlns:a="http://schemas.openxmlformats.org/drawingml/2006/main">
          <a:graphicData uri="http://schemas.openxmlformats.org/drawingml/2006/table">
            <a:tbl>
              <a:tblPr firstRow="1" bandRow="0"/>
              <a:tblGrid>
                <a:gridCol w="4265177"/>
                <a:gridCol w="6688573"/>
              </a:tblGrid>
              <a:tr h="683419">
                <a:tc>
                  <a:txBody>
                    <a:bodyPr lIns="152400" tIns="85725" rIns="133350" bIns="76200">
                      <a:noAutofit/>
                    </a:bodyPr>
                    <a:lstStyle/>
                    <a:p>
                      <a:pPr algn="l"/>
                      <a:r>
                        <a:rPr sz="2250" b="1">
                          <a:solidFill>
                            <a:srgbClr val="F4F1E9"/>
                          </a:solidFill>
                          <a:latin typeface="Noto Sans KR"/>
                          <a:ea typeface="Noto Sans KR"/>
                          <a:cs typeface="Noto Sans KR"/>
                        </a:rPr>
                        <a:t>확인된 사실</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보고서 표현</a:t>
                      </a:r>
                    </a:p>
                  </a:txBody>
                  <a:tcPr marL="91440" marR="91440" marT="45720" marB="45720" anchor="ctr">
                    <a:solidFill>
                      <a:srgbClr val="202921"/>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일부 로그인 지연</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현장 메모에 기록</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P07·P12·P19·P25 미이수</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일부 결과물 미제출</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미이수 이유</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추가 확인 필요</a:t>
                      </a:r>
                    </a:p>
                  </a:txBody>
                  <a:tcPr marL="91440" marR="91440" marT="45720" marB="45720" anchor="ctr">
                    <a:solidFill>
                      <a:srgbClr val="F4F1E9"/>
                    </a:solidFill>
                  </a:tcPr>
                </a:tc>
              </a:tr>
            </a:tbl>
          </a:graphicData>
        </a:graphic>
      </p:graphicFrame>
      <p:sp>
        <p:nvSpPr>
          <p:cNvPr id="3" name="142–147분">
            <a:extLst xmlns:a="http://schemas.openxmlformats.org/drawingml/2006/main">
              <a:ext uri="{FF2B5EF4-FFF2-40B4-BE49-F238E27FC236}">
                <a16:creationId xmlns:a16="http://schemas.microsoft.com/office/drawing/2014/main" id="{AFFCD989-CA0B-4359-96D9-C36D223CCFB0}"/>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142–147분</a:t>
            </a:r>
          </a:p>
        </p:txBody>
      </p:sp>
      <p:sp>
        <p:nvSpPr>
          <p:cNvPr id="4" name="웹 실습 열기">
            <a:extLst xmlns:a="http://schemas.openxmlformats.org/drawingml/2006/main">
              <a:ext uri="{FF2B5EF4-FFF2-40B4-BE49-F238E27FC236}">
                <a16:creationId xmlns:a16="http://schemas.microsoft.com/office/drawing/2014/main" id="{B1BC2F77-59DD-4479-8514-375F7F417B37}"/>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306db8aca7a94710"/>
              </a:rPr>
              <a:t>웹 실습 열기</a:t>
            </a:r>
          </a:p>
        </p:txBody>
      </p:sp>
      <p:sp>
        <p:nvSpPr>
          <p:cNvPr id="5" name="43">
            <a:extLst xmlns:a="http://schemas.openxmlformats.org/drawingml/2006/main">
              <a:ext uri="{FF2B5EF4-FFF2-40B4-BE49-F238E27FC236}">
                <a16:creationId xmlns:a16="http://schemas.microsoft.com/office/drawing/2014/main" id="{F21731D6-79AC-4D55-AC4B-6B91F7C8FB82}"/>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43</a:t>
            </a:r>
          </a:p>
        </p:txBody>
      </p:sp>
    </p:spTree>
    <p:extLst>
      <p:ext uri="{BB962C8B-B14F-4D97-AF65-F5344CB8AC3E}">
        <p14:creationId xmlns:p14="http://schemas.microsoft.com/office/powerpoint/2010/main" val="1591297832"/>
      </p:ext>
    </p:extLst>
  </p:cSld>
</p:sld>
</file>

<file path=ppt/slides/slide44.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8" name="30초 생각">
            <a:extLst xmlns:a="http://schemas.openxmlformats.org/drawingml/2006/main">
              <a:ext uri="{FF2B5EF4-FFF2-40B4-BE49-F238E27FC236}">
                <a16:creationId xmlns:a16="http://schemas.microsoft.com/office/drawing/2014/main" id="{F2C7D290-CA8E-4D2B-9D3F-C2A06F17EA6A}"/>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30초 생각</a:t>
            </a:r>
          </a:p>
        </p:txBody>
      </p:sp>
      <p:sp>
        <p:nvSpPr>
          <p:cNvPr id="2" name="“이수율이 5.7%&#10;올랐습니다”">
            <a:extLst xmlns:a="http://schemas.openxmlformats.org/drawingml/2006/main">
              <a:ext uri="{FF2B5EF4-FFF2-40B4-BE49-F238E27FC236}">
                <a16:creationId xmlns:a16="http://schemas.microsoft.com/office/drawing/2014/main" id="{2F158A8C-E8FD-49D7-A5FE-D348D7EB76F8}"/>
              </a:ext>
            </a:extLst>
          </p:cNvPr>
          <p:cNvSpPr>
            <a:spLocks xmlns:a="http://schemas.openxmlformats.org/drawingml/2006/main" noGrp="1"/>
          </p:cNvSpPr>
          <p:nvPr/>
        </p:nvSpPr>
        <p:spPr>
          <a:xfrm xmlns:a="http://schemas.openxmlformats.org/drawingml/2006/main">
            <a:off x="609600" y="1381125"/>
            <a:ext cx="10953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850" b="1">
                <a:solidFill>
                  <a:srgbClr val="F4F1E9"/>
                </a:solidFill>
                <a:latin typeface="Noto Sans KR"/>
                <a:ea typeface="Noto Sans KR"/>
                <a:cs typeface="Noto Sans KR"/>
              </a:defRPr>
            </a:pPr>
            <a:r>
              <a:rPr sz="5850" b="1">
                <a:solidFill>
                  <a:srgbClr val="F4F1E9"/>
                </a:solidFill>
                <a:latin typeface="Noto Sans KR"/>
                <a:ea typeface="Noto Sans KR"/>
                <a:cs typeface="Noto Sans KR"/>
              </a:rPr>
              <a:t>“이수율이 5.7%</a:t>
            </a:r>
          </a:p>
          <a:p xmlns:a="http://schemas.openxmlformats.org/drawingml/2006/main">
            <a:pPr algn="l">
              <a:lnSpc>
                <a:spcPct val="112000"/>
              </a:lnSpc>
              <a:buNone/>
              <a:defRPr sz="5850" b="1">
                <a:solidFill>
                  <a:srgbClr val="F4F1E9"/>
                </a:solidFill>
                <a:latin typeface="Noto Sans KR"/>
                <a:ea typeface="Noto Sans KR"/>
                <a:cs typeface="Noto Sans KR"/>
              </a:defRPr>
            </a:pPr>
            <a:r>
              <a:rPr sz="5850" b="1">
                <a:solidFill>
                  <a:srgbClr val="F4F1E9"/>
                </a:solidFill>
                <a:latin typeface="Noto Sans KR"/>
                <a:ea typeface="Noto Sans KR"/>
                <a:cs typeface="Noto Sans KR"/>
              </a:rPr>
              <a:t>올랐습니다”</a:t>
            </a:r>
          </a:p>
        </p:txBody>
      </p:sp>
      <p:sp>
        <p:nvSpPr>
          <p:cNvPr id="3" name="연습용 문장">
            <a:extLst xmlns:a="http://schemas.openxmlformats.org/drawingml/2006/main">
              <a:ext uri="{FF2B5EF4-FFF2-40B4-BE49-F238E27FC236}">
                <a16:creationId xmlns:a16="http://schemas.microsoft.com/office/drawing/2014/main" id="{FE1123DA-319C-4B4F-970D-DE80F96DE77B}"/>
              </a:ext>
            </a:extLst>
          </p:cNvPr>
          <p:cNvSpPr>
            <a:spLocks xmlns:a="http://schemas.openxmlformats.org/drawingml/2006/main" noGrp="1"/>
          </p:cNvSpPr>
          <p:nvPr/>
        </p:nvSpPr>
        <p:spPr>
          <a:xfrm xmlns:a="http://schemas.openxmlformats.org/drawingml/2006/main">
            <a:off x="647700" y="44100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EAB196"/>
                </a:solidFill>
                <a:latin typeface="Noto Sans KR"/>
                <a:ea typeface="Noto Sans KR"/>
                <a:cs typeface="Noto Sans KR"/>
              </a:defRPr>
            </a:pPr>
            <a:r>
              <a:rPr sz="2700" b="0">
                <a:solidFill>
                  <a:srgbClr val="EAB196"/>
                </a:solidFill>
                <a:latin typeface="Noto Sans KR"/>
                <a:ea typeface="Noto Sans KR"/>
                <a:cs typeface="Noto Sans KR"/>
              </a:rPr>
              <a:t>연습용 문장</a:t>
            </a:r>
          </a:p>
        </p:txBody>
      </p:sp>
      <p:sp>
        <p:nvSpPr>
          <p:cNvPr id="4" name="이전 80.0% / 이번 약 85.7%">
            <a:extLst xmlns:a="http://schemas.openxmlformats.org/drawingml/2006/main">
              <a:ext uri="{FF2B5EF4-FFF2-40B4-BE49-F238E27FC236}">
                <a16:creationId xmlns:a16="http://schemas.microsoft.com/office/drawing/2014/main" id="{49EF3BB4-3963-4F6D-8E2F-4D26200C70C0}"/>
              </a:ext>
            </a:extLst>
          </p:cNvPr>
          <p:cNvSpPr>
            <a:spLocks xmlns:a="http://schemas.openxmlformats.org/drawingml/2006/main" noGrp="1"/>
          </p:cNvSpPr>
          <p:nvPr/>
        </p:nvSpPr>
        <p:spPr>
          <a:xfrm xmlns:a="http://schemas.openxmlformats.org/drawingml/2006/main">
            <a:off x="647700" y="521970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EAB196"/>
                </a:solidFill>
                <a:latin typeface="Noto Sans KR"/>
                <a:ea typeface="Noto Sans KR"/>
                <a:cs typeface="Noto Sans KR"/>
              </a:defRPr>
            </a:pPr>
            <a:r>
              <a:rPr sz="2700" b="0">
                <a:solidFill>
                  <a:srgbClr val="EAB196"/>
                </a:solidFill>
                <a:latin typeface="Noto Sans KR"/>
                <a:ea typeface="Noto Sans KR"/>
                <a:cs typeface="Noto Sans KR"/>
              </a:rPr>
              <a:t>이전 80.0% / 이번 약 85.7%</a:t>
            </a:r>
          </a:p>
        </p:txBody>
      </p:sp>
      <p:sp>
        <p:nvSpPr>
          <p:cNvPr id="5" name="147–151분">
            <a:extLst xmlns:a="http://schemas.openxmlformats.org/drawingml/2006/main">
              <a:ext uri="{FF2B5EF4-FFF2-40B4-BE49-F238E27FC236}">
                <a16:creationId xmlns:a16="http://schemas.microsoft.com/office/drawing/2014/main" id="{9337D670-9043-495C-9334-3546BF6EEC28}"/>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147–151분</a:t>
            </a:r>
          </a:p>
        </p:txBody>
      </p:sp>
      <p:sp>
        <p:nvSpPr>
          <p:cNvPr id="6" name="웹 실습 열기">
            <a:extLst xmlns:a="http://schemas.openxmlformats.org/drawingml/2006/main">
              <a:ext uri="{FF2B5EF4-FFF2-40B4-BE49-F238E27FC236}">
                <a16:creationId xmlns:a16="http://schemas.microsoft.com/office/drawing/2014/main" id="{C4F781F3-6ABF-491D-96CD-A544A78AD7E9}"/>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1094962d8e214022"/>
              </a:rPr>
              <a:t>웹 실습 열기</a:t>
            </a:r>
          </a:p>
        </p:txBody>
      </p:sp>
      <p:sp>
        <p:nvSpPr>
          <p:cNvPr id="7" name="44">
            <a:extLst xmlns:a="http://schemas.openxmlformats.org/drawingml/2006/main">
              <a:ext uri="{FF2B5EF4-FFF2-40B4-BE49-F238E27FC236}">
                <a16:creationId xmlns:a16="http://schemas.microsoft.com/office/drawing/2014/main" id="{28926393-78F9-446E-A6DB-005E5566A13B}"/>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44</a:t>
            </a:r>
          </a:p>
        </p:txBody>
      </p:sp>
    </p:spTree>
    <p:extLst>
      <p:ext uri="{BB962C8B-B14F-4D97-AF65-F5344CB8AC3E}">
        <p14:creationId xmlns:p14="http://schemas.microsoft.com/office/powerpoint/2010/main" val="1029944158"/>
      </p:ext>
    </p:extLst>
  </p:cSld>
</p:sld>
</file>

<file path=ppt/slides/slide4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이수율은&#10;약 5.7%p 올랐습니다">
            <a:extLst xmlns:a="http://schemas.openxmlformats.org/drawingml/2006/main">
              <a:ext uri="{FF2B5EF4-FFF2-40B4-BE49-F238E27FC236}">
                <a16:creationId xmlns:a16="http://schemas.microsoft.com/office/drawing/2014/main" id="{C08B56B5-B8C9-4422-8A2F-73CE427A53E6}"/>
              </a:ext>
            </a:extLst>
          </p:cNvPr>
          <p:cNvSpPr>
            <a:spLocks xmlns:a="http://schemas.openxmlformats.org/drawingml/2006/main" noGrp="1"/>
          </p:cNvSpPr>
          <p:nvPr/>
        </p:nvSpPr>
        <p:spPr>
          <a:xfrm xmlns:a="http://schemas.openxmlformats.org/drawingml/2006/main">
            <a:off x="609600" y="600075"/>
            <a:ext cx="1095375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75" b="1">
                <a:solidFill>
                  <a:srgbClr val="202921"/>
                </a:solidFill>
                <a:latin typeface="Noto Sans KR"/>
                <a:ea typeface="Noto Sans KR"/>
                <a:cs typeface="Noto Sans KR"/>
              </a:defRPr>
            </a:pPr>
            <a:r>
              <a:rPr sz="4875" b="1">
                <a:solidFill>
                  <a:srgbClr val="202921"/>
                </a:solidFill>
                <a:latin typeface="Noto Sans KR"/>
                <a:ea typeface="Noto Sans KR"/>
                <a:cs typeface="Noto Sans KR"/>
              </a:rPr>
              <a:t>이수율은</a:t>
            </a:r>
          </a:p>
          <a:p xmlns:a="http://schemas.openxmlformats.org/drawingml/2006/main">
            <a:pPr algn="l">
              <a:lnSpc>
                <a:spcPct val="112000"/>
              </a:lnSpc>
              <a:buNone/>
              <a:defRPr sz="4875" b="1">
                <a:solidFill>
                  <a:srgbClr val="202921"/>
                </a:solidFill>
                <a:latin typeface="Noto Sans KR"/>
                <a:ea typeface="Noto Sans KR"/>
                <a:cs typeface="Noto Sans KR"/>
              </a:defRPr>
            </a:pPr>
            <a:r>
              <a:rPr sz="4875" b="1">
                <a:solidFill>
                  <a:srgbClr val="202921"/>
                </a:solidFill>
                <a:latin typeface="Noto Sans KR"/>
                <a:ea typeface="Noto Sans KR"/>
                <a:cs typeface="Noto Sans KR"/>
              </a:rPr>
              <a:t>약 5.7%p 올랐습니다</a:t>
            </a:r>
          </a:p>
        </p:txBody>
      </p:sp>
      <p:graphicFrame>
        <p:nvGraphicFramePr>
          <p:cNvPr id="8" name=""/>
          <p:cNvGraphicFramePr/>
          <p:nvPr/>
        </p:nvGraphicFramePr>
        <p:xfrm>
          <a:off xmlns:a="http://schemas.openxmlformats.org/drawingml/2006/main" x="619125" y="2876550"/>
          <a:ext xmlns:a="http://schemas.openxmlformats.org/drawingml/2006/main" cx="10953750" cy="2781300"/>
        </p:xfrm>
        <a:graphic xmlns:a="http://schemas.openxmlformats.org/drawingml/2006/main">
          <a:graphicData uri="http://schemas.openxmlformats.org/drawingml/2006/table">
            <a:tbl>
              <a:tblPr firstRow="1" bandRow="0"/>
              <a:tblGrid>
                <a:gridCol w="3651250"/>
                <a:gridCol w="3651250"/>
                <a:gridCol w="3651250"/>
              </a:tblGrid>
              <a:tr h="695325">
                <a:tc>
                  <a:txBody>
                    <a:bodyPr lIns="152400" tIns="85725" rIns="133350" bIns="76200">
                      <a:noAutofit/>
                    </a:bodyPr>
                    <a:lstStyle/>
                    <a:p>
                      <a:pPr algn="l"/>
                      <a:r>
                        <a:rPr sz="2250" b="1">
                          <a:solidFill>
                            <a:srgbClr val="F4F1E9"/>
                          </a:solidFill>
                          <a:latin typeface="Noto Sans KR"/>
                          <a:ea typeface="Noto Sans KR"/>
                          <a:cs typeface="Noto Sans KR"/>
                        </a:rPr>
                        <a:t>회차</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계산</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이수율</a:t>
                      </a:r>
                    </a:p>
                  </a:txBody>
                  <a:tcPr marL="91440" marR="91440" marT="45720" marB="45720" anchor="ctr">
                    <a:solidFill>
                      <a:srgbClr val="202921"/>
                    </a:solidFill>
                  </a:tcPr>
                </a:tc>
              </a:tr>
              <a:tr h="695325">
                <a:tc>
                  <a:txBody>
                    <a:bodyPr lIns="152400" tIns="85725" rIns="133350" bIns="76200">
                      <a:noAutofit/>
                    </a:bodyPr>
                    <a:lstStyle/>
                    <a:p>
                      <a:pPr algn="l"/>
                      <a:r>
                        <a:rPr sz="2250" b="0">
                          <a:solidFill>
                            <a:srgbClr val="202921"/>
                          </a:solidFill>
                          <a:latin typeface="Noto Sans KR"/>
                          <a:ea typeface="Noto Sans KR"/>
                          <a:cs typeface="Noto Sans KR"/>
                        </a:rPr>
                        <a:t>이전</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16 ÷ 20</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80.0%</a:t>
                      </a:r>
                    </a:p>
                  </a:txBody>
                  <a:tcPr marL="91440" marR="91440" marT="45720" marB="45720" anchor="ctr">
                    <a:solidFill>
                      <a:srgbClr val="F4F1E9"/>
                    </a:solidFill>
                  </a:tcPr>
                </a:tc>
              </a:tr>
              <a:tr h="695325">
                <a:tc>
                  <a:txBody>
                    <a:bodyPr lIns="152400" tIns="85725" rIns="133350" bIns="76200">
                      <a:noAutofit/>
                    </a:bodyPr>
                    <a:lstStyle/>
                    <a:p>
                      <a:pPr algn="l"/>
                      <a:r>
                        <a:rPr sz="2250" b="0">
                          <a:solidFill>
                            <a:srgbClr val="202921"/>
                          </a:solidFill>
                          <a:latin typeface="Noto Sans KR"/>
                          <a:ea typeface="Noto Sans KR"/>
                          <a:cs typeface="Noto Sans KR"/>
                        </a:rPr>
                        <a:t>이번</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24 ÷ 28</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약 85.7%</a:t>
                      </a:r>
                    </a:p>
                  </a:txBody>
                  <a:tcPr marL="91440" marR="91440" marT="45720" marB="45720" anchor="ctr">
                    <a:solidFill>
                      <a:srgbClr val="F4F1E9"/>
                    </a:solidFill>
                  </a:tcPr>
                </a:tc>
              </a:tr>
              <a:tr h="695325">
                <a:tc>
                  <a:txBody>
                    <a:bodyPr lIns="152400" tIns="85725" rIns="133350" bIns="76200">
                      <a:noAutofit/>
                    </a:bodyPr>
                    <a:lstStyle/>
                    <a:p>
                      <a:pPr algn="l"/>
                      <a:r>
                        <a:rPr sz="2250" b="1">
                          <a:solidFill>
                            <a:srgbClr val="EA5936"/>
                          </a:solidFill>
                          <a:latin typeface="Noto Sans KR"/>
                          <a:ea typeface="Noto Sans KR"/>
                          <a:cs typeface="Noto Sans KR"/>
                        </a:rPr>
                        <a:t>차이</a:t>
                      </a:r>
                    </a:p>
                  </a:txBody>
                  <a:tcPr marL="91440" marR="91440" marT="45720" marB="45720" anchor="ctr">
                    <a:solidFill>
                      <a:srgbClr val="F4F1E9"/>
                    </a:solidFill>
                  </a:tcPr>
                </a:tc>
                <a:tc>
                  <a:txBody>
                    <a:bodyPr lIns="152400" tIns="85725" rIns="133350" bIns="76200">
                      <a:noAutofit/>
                    </a:bodyPr>
                    <a:lstStyle/>
                    <a:p>
                      <a:pPr algn="l"/>
                      <a:r>
                        <a:rPr sz="2250" b="1">
                          <a:solidFill>
                            <a:srgbClr val="EA5936"/>
                          </a:solidFill>
                          <a:latin typeface="Noto Sans KR"/>
                          <a:ea typeface="Noto Sans KR"/>
                          <a:cs typeface="Noto Sans KR"/>
                        </a:rPr>
                        <a:t>85.714… − 80</a:t>
                      </a:r>
                    </a:p>
                  </a:txBody>
                  <a:tcPr marL="91440" marR="91440" marT="45720" marB="45720" anchor="ctr">
                    <a:solidFill>
                      <a:srgbClr val="F4F1E9"/>
                    </a:solidFill>
                  </a:tcPr>
                </a:tc>
                <a:tc>
                  <a:txBody>
                    <a:bodyPr lIns="152400" tIns="85725" rIns="133350" bIns="76200">
                      <a:noAutofit/>
                    </a:bodyPr>
                    <a:lstStyle/>
                    <a:p>
                      <a:pPr algn="l"/>
                      <a:r>
                        <a:rPr sz="2250" b="1">
                          <a:solidFill>
                            <a:srgbClr val="EA5936"/>
                          </a:solidFill>
                          <a:latin typeface="Noto Sans KR"/>
                          <a:ea typeface="Noto Sans KR"/>
                          <a:cs typeface="Noto Sans KR"/>
                        </a:rPr>
                        <a:t>약 5.7%p</a:t>
                      </a:r>
                    </a:p>
                  </a:txBody>
                  <a:tcPr marL="91440" marR="91440" marT="45720" marB="45720" anchor="ctr">
                    <a:solidFill>
                      <a:srgbClr val="F4F1E9"/>
                    </a:solidFill>
                  </a:tcPr>
                </a:tc>
              </a:tr>
            </a:tbl>
          </a:graphicData>
        </a:graphic>
      </p:graphicFrame>
      <p:sp>
        <p:nvSpPr>
          <p:cNvPr id="3" name="전달 메일 350~500자 작성 · 보고서 수치와 결정 요청 유">
            <a:extLst xmlns:a="http://schemas.openxmlformats.org/drawingml/2006/main">
              <a:ext uri="{FF2B5EF4-FFF2-40B4-BE49-F238E27FC236}">
                <a16:creationId xmlns:a16="http://schemas.microsoft.com/office/drawing/2014/main" id="{FEE2DE58-D91A-4AF7-9301-912544491E27}"/>
              </a:ext>
            </a:extLst>
          </p:cNvPr>
          <p:cNvSpPr>
            <a:spLocks xmlns:a="http://schemas.openxmlformats.org/drawingml/2006/main" noGrp="1"/>
          </p:cNvSpPr>
          <p:nvPr/>
        </p:nvSpPr>
        <p:spPr>
          <a:xfrm xmlns:a="http://schemas.openxmlformats.org/drawingml/2006/main">
            <a:off x="638175" y="58388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586356"/>
                </a:solidFill>
                <a:latin typeface="Noto Sans KR"/>
                <a:ea typeface="Noto Sans KR"/>
                <a:cs typeface="Noto Sans KR"/>
              </a:defRPr>
            </a:pPr>
            <a:r>
              <a:rPr sz="1950" b="1">
                <a:solidFill>
                  <a:srgbClr val="586356"/>
                </a:solidFill>
                <a:latin typeface="Noto Sans KR"/>
                <a:ea typeface="Noto Sans KR"/>
                <a:cs typeface="Noto Sans KR"/>
              </a:rPr>
              <a:t>전달 메일 350~500자 작성 · 보고서 수치와 결정 요청 유지</a:t>
            </a:r>
          </a:p>
        </p:txBody>
      </p:sp>
      <p:sp>
        <p:nvSpPr>
          <p:cNvPr id="4" name="151–156분">
            <a:extLst xmlns:a="http://schemas.openxmlformats.org/drawingml/2006/main">
              <a:ext uri="{FF2B5EF4-FFF2-40B4-BE49-F238E27FC236}">
                <a16:creationId xmlns:a16="http://schemas.microsoft.com/office/drawing/2014/main" id="{A2825853-94E8-4B7F-8271-576F2E4D6DCD}"/>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151–156분</a:t>
            </a:r>
          </a:p>
        </p:txBody>
      </p:sp>
      <p:sp>
        <p:nvSpPr>
          <p:cNvPr id="5" name="웹 실습 열기">
            <a:extLst xmlns:a="http://schemas.openxmlformats.org/drawingml/2006/main">
              <a:ext uri="{FF2B5EF4-FFF2-40B4-BE49-F238E27FC236}">
                <a16:creationId xmlns:a16="http://schemas.microsoft.com/office/drawing/2014/main" id="{6C9FFDB1-754E-47BE-B1F1-7AB430DB15DA}"/>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403fe902c0ae46e2"/>
              </a:rPr>
              <a:t>웹 실습 열기</a:t>
            </a:r>
          </a:p>
        </p:txBody>
      </p:sp>
      <p:sp>
        <p:nvSpPr>
          <p:cNvPr id="6" name="45">
            <a:extLst xmlns:a="http://schemas.openxmlformats.org/drawingml/2006/main">
              <a:ext uri="{FF2B5EF4-FFF2-40B4-BE49-F238E27FC236}">
                <a16:creationId xmlns:a16="http://schemas.microsoft.com/office/drawing/2014/main" id="{A3E49B0C-287E-4078-B215-61EF1E0B387F}"/>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45</a:t>
            </a:r>
          </a:p>
        </p:txBody>
      </p:sp>
    </p:spTree>
    <p:extLst>
      <p:ext uri="{BB962C8B-B14F-4D97-AF65-F5344CB8AC3E}">
        <p14:creationId xmlns:p14="http://schemas.microsoft.com/office/powerpoint/2010/main" val="212290782"/>
      </p:ext>
    </p:extLst>
  </p:cSld>
</p:sld>
</file>

<file path=ppt/slides/slide4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1인당 비용 감소로&#10;교육 효과를 알 수 있을까요?">
            <a:extLst xmlns:a="http://schemas.openxmlformats.org/drawingml/2006/main">
              <a:ext uri="{FF2B5EF4-FFF2-40B4-BE49-F238E27FC236}">
                <a16:creationId xmlns:a16="http://schemas.microsoft.com/office/drawing/2014/main" id="{22A97ED0-4EBB-478C-BFB5-2E340458D2A1}"/>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1인당 비용 감소로</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교육 효과를 알 수 있을까요?</a:t>
            </a:r>
          </a:p>
        </p:txBody>
      </p:sp>
      <p:graphicFrame>
        <p:nvGraphicFramePr>
          <p:cNvPr id="7" name=""/>
          <p:cNvGraphicFramePr/>
          <p:nvPr/>
        </p:nvGraphicFramePr>
        <p:xfrm>
          <a:off xmlns:a="http://schemas.openxmlformats.org/drawingml/2006/main" x="619125" y="2790825"/>
          <a:ext xmlns:a="http://schemas.openxmlformats.org/drawingml/2006/main" cx="10953750" cy="2733675"/>
        </p:xfrm>
        <a:graphic xmlns:a="http://schemas.openxmlformats.org/drawingml/2006/main">
          <a:graphicData uri="http://schemas.openxmlformats.org/drawingml/2006/table">
            <a:tbl>
              <a:tblPr firstRow="1" bandRow="0"/>
              <a:tblGrid>
                <a:gridCol w="5040664"/>
                <a:gridCol w="5913086"/>
              </a:tblGrid>
              <a:tr h="683419">
                <a:tc>
                  <a:txBody>
                    <a:bodyPr lIns="152400" tIns="85725" rIns="133350" bIns="76200">
                      <a:noAutofit/>
                    </a:bodyPr>
                    <a:lstStyle/>
                    <a:p>
                      <a:pPr algn="l"/>
                      <a:r>
                        <a:rPr sz="2250" b="1">
                          <a:solidFill>
                            <a:srgbClr val="F4F1E9"/>
                          </a:solidFill>
                          <a:latin typeface="Noto Sans KR"/>
                          <a:ea typeface="Noto Sans KR"/>
                          <a:cs typeface="Noto Sans KR"/>
                        </a:rPr>
                        <a:t>확인한 것</a:t>
                      </a:r>
                    </a:p>
                  </a:txBody>
                  <a:tcPr marL="91440" marR="91440" marT="45720" marB="45720" anchor="ctr">
                    <a:solidFill>
                      <a:srgbClr val="202921"/>
                    </a:solidFill>
                  </a:tcPr>
                </a:tc>
                <a:tc>
                  <a:txBody>
                    <a:bodyPr lIns="152400" tIns="85725" rIns="133350" bIns="76200">
                      <a:noAutofit/>
                    </a:bodyPr>
                    <a:lstStyle/>
                    <a:p>
                      <a:pPr algn="l"/>
                      <a:r>
                        <a:rPr sz="2250" b="1">
                          <a:solidFill>
                            <a:srgbClr val="F4F1E9"/>
                          </a:solidFill>
                          <a:latin typeface="Noto Sans KR"/>
                          <a:ea typeface="Noto Sans KR"/>
                          <a:cs typeface="Noto Sans KR"/>
                        </a:rPr>
                        <a:t>더 필요한 자료</a:t>
                      </a:r>
                    </a:p>
                  </a:txBody>
                  <a:tcPr marL="91440" marR="91440" marT="45720" marB="45720" anchor="ctr">
                    <a:solidFill>
                      <a:srgbClr val="202921"/>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1인당 집행액 감소</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교육 효과 평가</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자유 의견 12건</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전체 의견 비율</a:t>
                      </a:r>
                    </a:p>
                  </a:txBody>
                  <a:tcPr marL="91440" marR="91440" marT="45720" marB="45720" anchor="ctr">
                    <a:solidFill>
                      <a:srgbClr val="F4F1E9"/>
                    </a:solidFill>
                  </a:tcPr>
                </a:tc>
              </a:tr>
              <a:tr h="683419">
                <a:tc>
                  <a:txBody>
                    <a:bodyPr lIns="152400" tIns="85725" rIns="133350" bIns="76200">
                      <a:noAutofit/>
                    </a:bodyPr>
                    <a:lstStyle/>
                    <a:p>
                      <a:pPr algn="l"/>
                      <a:r>
                        <a:rPr sz="2250" b="0">
                          <a:solidFill>
                            <a:srgbClr val="202921"/>
                          </a:solidFill>
                          <a:latin typeface="Noto Sans KR"/>
                          <a:ea typeface="Noto Sans KR"/>
                          <a:cs typeface="Noto Sans KR"/>
                        </a:rPr>
                        <a:t>로그인 지연 메모</a:t>
                      </a:r>
                    </a:p>
                  </a:txBody>
                  <a:tcPr marL="91440" marR="91440" marT="45720" marB="45720" anchor="ctr">
                    <a:solidFill>
                      <a:srgbClr val="F4F1E9"/>
                    </a:solidFill>
                  </a:tcPr>
                </a:tc>
                <a:tc>
                  <a:txBody>
                    <a:bodyPr lIns="152400" tIns="85725" rIns="133350" bIns="76200">
                      <a:noAutofit/>
                    </a:bodyPr>
                    <a:lstStyle/>
                    <a:p>
                      <a:pPr algn="l"/>
                      <a:r>
                        <a:rPr sz="2250" b="0">
                          <a:solidFill>
                            <a:srgbClr val="202921"/>
                          </a:solidFill>
                          <a:latin typeface="Noto Sans KR"/>
                          <a:ea typeface="Noto Sans KR"/>
                          <a:cs typeface="Noto Sans KR"/>
                        </a:rPr>
                        <a:t>지연 인원·시간·영향</a:t>
                      </a:r>
                    </a:p>
                  </a:txBody>
                  <a:tcPr marL="91440" marR="91440" marT="45720" marB="45720" anchor="ctr">
                    <a:solidFill>
                      <a:srgbClr val="F4F1E9"/>
                    </a:solidFill>
                  </a:tcPr>
                </a:tc>
              </a:tr>
            </a:tbl>
          </a:graphicData>
        </a:graphic>
      </p:graphicFrame>
      <p:sp>
        <p:nvSpPr>
          <p:cNvPr id="3" name="156–160분">
            <a:extLst xmlns:a="http://schemas.openxmlformats.org/drawingml/2006/main">
              <a:ext uri="{FF2B5EF4-FFF2-40B4-BE49-F238E27FC236}">
                <a16:creationId xmlns:a16="http://schemas.microsoft.com/office/drawing/2014/main" id="{C8F2A2E2-54E8-4968-8DCC-9D5FCB044F2D}"/>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156–160분</a:t>
            </a:r>
          </a:p>
        </p:txBody>
      </p:sp>
      <p:sp>
        <p:nvSpPr>
          <p:cNvPr id="4" name="웹 실습 열기">
            <a:extLst xmlns:a="http://schemas.openxmlformats.org/drawingml/2006/main">
              <a:ext uri="{FF2B5EF4-FFF2-40B4-BE49-F238E27FC236}">
                <a16:creationId xmlns:a16="http://schemas.microsoft.com/office/drawing/2014/main" id="{C46ED912-8BBB-41A2-9621-C4DBD975F5DF}"/>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cca0a045e4564333"/>
              </a:rPr>
              <a:t>웹 실습 열기</a:t>
            </a:r>
          </a:p>
        </p:txBody>
      </p:sp>
      <p:sp>
        <p:nvSpPr>
          <p:cNvPr id="5" name="46">
            <a:extLst xmlns:a="http://schemas.openxmlformats.org/drawingml/2006/main">
              <a:ext uri="{FF2B5EF4-FFF2-40B4-BE49-F238E27FC236}">
                <a16:creationId xmlns:a16="http://schemas.microsoft.com/office/drawing/2014/main" id="{C05155EC-E666-4834-A50B-4DC80A995906}"/>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46</a:t>
            </a:r>
          </a:p>
        </p:txBody>
      </p:sp>
    </p:spTree>
    <p:extLst>
      <p:ext uri="{BB962C8B-B14F-4D97-AF65-F5344CB8AC3E}">
        <p14:creationId xmlns:p14="http://schemas.microsoft.com/office/powerpoint/2010/main" val="700305200"/>
      </p:ext>
    </p:extLst>
  </p:cSld>
</p:sld>
</file>

<file path=ppt/slides/slide47.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11" name="직접 해볼 시간">
            <a:extLst xmlns:a="http://schemas.openxmlformats.org/drawingml/2006/main">
              <a:ext uri="{FF2B5EF4-FFF2-40B4-BE49-F238E27FC236}">
                <a16:creationId xmlns:a16="http://schemas.microsoft.com/office/drawing/2014/main" id="{D479C9A1-A61F-4048-9E01-AC8EE67C4093}"/>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직접 해볼 시간</a:t>
            </a:r>
          </a:p>
        </p:txBody>
      </p:sp>
      <p:sp>
        <p:nvSpPr>
          <p:cNvPr id="2" name="5분">
            <a:extLst xmlns:a="http://schemas.openxmlformats.org/drawingml/2006/main">
              <a:ext uri="{FF2B5EF4-FFF2-40B4-BE49-F238E27FC236}">
                <a16:creationId xmlns:a16="http://schemas.microsoft.com/office/drawing/2014/main" id="{5D640B82-60F0-4D65-AAAE-61350A982EF0}"/>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5분</a:t>
            </a:r>
          </a:p>
        </p:txBody>
      </p:sp>
      <p:sp>
        <p:nvSpPr>
          <p:cNvPr id="3" name="숫자 하나,&#10;확정 표현 하나">
            <a:extLst xmlns:a="http://schemas.openxmlformats.org/drawingml/2006/main">
              <a:ext uri="{FF2B5EF4-FFF2-40B4-BE49-F238E27FC236}">
                <a16:creationId xmlns:a16="http://schemas.microsoft.com/office/drawing/2014/main" id="{D4135CDE-7860-4D5F-8B25-2EE537D47C8C}"/>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숫자 하나,</a:t>
            </a:r>
          </a:p>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확정 표현 하나</a:t>
            </a:r>
          </a:p>
        </p:txBody>
      </p:sp>
      <p:sp>
        <p:nvSpPr>
          <p:cNvPr id="4" name="숫자 하나를 원대장·수식으로 확인">
            <a:extLst xmlns:a="http://schemas.openxmlformats.org/drawingml/2006/main">
              <a:ext uri="{FF2B5EF4-FFF2-40B4-BE49-F238E27FC236}">
                <a16:creationId xmlns:a16="http://schemas.microsoft.com/office/drawing/2014/main" id="{C204723B-2C3A-4E58-B1CD-D7079B7BE7E8}"/>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숫자 하나를 원대장·수식으로 확인</a:t>
            </a:r>
          </a:p>
        </p:txBody>
      </p:sp>
      <p:sp>
        <p:nvSpPr>
          <p:cNvPr id="5" name="결정 요청 두 건의 상태 비교">
            <a:extLst xmlns:a="http://schemas.openxmlformats.org/drawingml/2006/main">
              <a:ext uri="{FF2B5EF4-FFF2-40B4-BE49-F238E27FC236}">
                <a16:creationId xmlns:a16="http://schemas.microsoft.com/office/drawing/2014/main" id="{F3E2A032-3EDF-44B4-9C4A-77E47B6214BE}"/>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결정 요청 두 건의 상태 비교</a:t>
            </a:r>
          </a:p>
        </p:txBody>
      </p:sp>
      <p:sp>
        <p:nvSpPr>
          <p:cNvPr id="6" name="수정 문장과 남은 확인 기록">
            <a:extLst xmlns:a="http://schemas.openxmlformats.org/drawingml/2006/main">
              <a:ext uri="{FF2B5EF4-FFF2-40B4-BE49-F238E27FC236}">
                <a16:creationId xmlns:a16="http://schemas.microsoft.com/office/drawing/2014/main" id="{9A77C37D-FE27-4CD1-B15C-087F37B9661B}"/>
              </a:ext>
            </a:extLst>
          </p:cNvPr>
          <p:cNvSpPr>
            <a:spLocks xmlns:a="http://schemas.openxmlformats.org/drawingml/2006/main" noGrp="1"/>
          </p:cNvSpPr>
          <p:nvPr/>
        </p:nvSpPr>
        <p:spPr>
          <a:xfrm xmlns:a="http://schemas.openxmlformats.org/drawingml/2006/main">
            <a:off x="4019550" y="4733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수정 문장과 남은 확인 기록</a:t>
            </a:r>
          </a:p>
        </p:txBody>
      </p:sp>
      <p:sp>
        <p:nvSpPr>
          <p:cNvPr id="7" name="보고서·메일·계산표·확인 메모">
            <a:extLst xmlns:a="http://schemas.openxmlformats.org/drawingml/2006/main">
              <a:ext uri="{FF2B5EF4-FFF2-40B4-BE49-F238E27FC236}">
                <a16:creationId xmlns:a16="http://schemas.microsoft.com/office/drawing/2014/main" id="{9B0F1E61-CCF4-4817-910B-2A66CA76D509}"/>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EBB597"/>
                </a:solidFill>
                <a:latin typeface="Noto Sans KR"/>
                <a:ea typeface="Noto Sans KR"/>
                <a:cs typeface="Noto Sans KR"/>
              </a:defRPr>
            </a:pPr>
            <a:r>
              <a:rPr sz="2325" b="1">
                <a:solidFill>
                  <a:srgbClr val="EBB597"/>
                </a:solidFill>
                <a:latin typeface="Noto Sans KR"/>
                <a:ea typeface="Noto Sans KR"/>
                <a:cs typeface="Noto Sans KR"/>
              </a:rPr>
              <a:t>보고서·메일·계산표·확인 메모</a:t>
            </a:r>
          </a:p>
        </p:txBody>
      </p:sp>
      <p:sp>
        <p:nvSpPr>
          <p:cNvPr id="8" name="160–165분">
            <a:extLst xmlns:a="http://schemas.openxmlformats.org/drawingml/2006/main">
              <a:ext uri="{FF2B5EF4-FFF2-40B4-BE49-F238E27FC236}">
                <a16:creationId xmlns:a16="http://schemas.microsoft.com/office/drawing/2014/main" id="{1CD11E82-F266-4923-B45C-527E0FD6F265}"/>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160–165분</a:t>
            </a:r>
          </a:p>
        </p:txBody>
      </p:sp>
      <p:sp>
        <p:nvSpPr>
          <p:cNvPr id="9" name="웹 실습 열기">
            <a:extLst xmlns:a="http://schemas.openxmlformats.org/drawingml/2006/main">
              <a:ext uri="{FF2B5EF4-FFF2-40B4-BE49-F238E27FC236}">
                <a16:creationId xmlns:a16="http://schemas.microsoft.com/office/drawing/2014/main" id="{B6E1E9AF-52EA-4FD1-A4D5-DCFABCE0704F}"/>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a356d6a785784f2f"/>
              </a:rPr>
              <a:t>웹 실습 열기</a:t>
            </a:r>
          </a:p>
        </p:txBody>
      </p:sp>
      <p:sp>
        <p:nvSpPr>
          <p:cNvPr id="10" name="47">
            <a:extLst xmlns:a="http://schemas.openxmlformats.org/drawingml/2006/main">
              <a:ext uri="{FF2B5EF4-FFF2-40B4-BE49-F238E27FC236}">
                <a16:creationId xmlns:a16="http://schemas.microsoft.com/office/drawing/2014/main" id="{5352F7EA-A33F-46A9-9D7D-0834F4242B4A}"/>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47</a:t>
            </a:r>
          </a:p>
        </p:txBody>
      </p:sp>
    </p:spTree>
    <p:extLst>
      <p:ext uri="{BB962C8B-B14F-4D97-AF65-F5344CB8AC3E}">
        <p14:creationId xmlns:p14="http://schemas.microsoft.com/office/powerpoint/2010/main" val="1245860830"/>
      </p:ext>
    </p:extLst>
  </p:cSld>
</p:sld>
</file>

<file path=ppt/slides/slide4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저장 버튼 다음은&#10;파일 열기">
            <a:extLst xmlns:a="http://schemas.openxmlformats.org/drawingml/2006/main">
              <a:ext uri="{FF2B5EF4-FFF2-40B4-BE49-F238E27FC236}">
                <a16:creationId xmlns:a16="http://schemas.microsoft.com/office/drawing/2014/main" id="{7CD221B7-38D5-4F23-A1D0-6B6C59100788}"/>
              </a:ext>
            </a:extLst>
          </p:cNvPr>
          <p:cNvSpPr>
            <a:spLocks xmlns:a="http://schemas.openxmlformats.org/drawingml/2006/main" noGrp="1"/>
          </p:cNvSpPr>
          <p:nvPr/>
        </p:nvSpPr>
        <p:spPr>
          <a:xfrm xmlns:a="http://schemas.openxmlformats.org/drawingml/2006/main">
            <a:off x="609600" y="704850"/>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저장 버튼 다음은</a:t>
            </a:r>
          </a:p>
          <a:p xmlns:a="http://schemas.openxmlformats.org/drawingml/2006/main">
            <a:pPr algn="l">
              <a:lnSpc>
                <a:spcPct val="112000"/>
              </a:lnSpc>
              <a:buNone/>
              <a:defRPr sz="4800" b="1">
                <a:solidFill>
                  <a:srgbClr val="202921"/>
                </a:solidFill>
                <a:latin typeface="Noto Sans KR"/>
                <a:ea typeface="Noto Sans KR"/>
                <a:cs typeface="Noto Sans KR"/>
              </a:defRPr>
            </a:pPr>
            <a:r>
              <a:rPr sz="4800" b="1">
                <a:solidFill>
                  <a:srgbClr val="202921"/>
                </a:solidFill>
                <a:latin typeface="Noto Sans KR"/>
                <a:ea typeface="Noto Sans KR"/>
                <a:cs typeface="Noto Sans KR"/>
              </a:rPr>
              <a:t>파일 열기</a:t>
            </a:r>
          </a:p>
        </p:txBody>
      </p:sp>
      <p:sp>
        <p:nvSpPr>
          <p:cNvPr id="2" name="완성한 문서와 검토 대기 분리">
            <a:extLst xmlns:a="http://schemas.openxmlformats.org/drawingml/2006/main">
              <a:ext uri="{FF2B5EF4-FFF2-40B4-BE49-F238E27FC236}">
                <a16:creationId xmlns:a16="http://schemas.microsoft.com/office/drawing/2014/main" id="{5AD8F642-76F2-44A2-BCCF-69A9960900D8}"/>
              </a:ext>
            </a:extLst>
          </p:cNvPr>
          <p:cNvSpPr>
            <a:spLocks xmlns:a="http://schemas.openxmlformats.org/drawingml/2006/main" noGrp="1"/>
          </p:cNvSpPr>
          <p:nvPr/>
        </p:nvSpPr>
        <p:spPr>
          <a:xfrm xmlns:a="http://schemas.openxmlformats.org/drawingml/2006/main">
            <a:off x="638175" y="2876550"/>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완성한 문서와 검토 대기 분리</a:t>
            </a:r>
          </a:p>
        </p:txBody>
      </p:sp>
      <p:sp>
        <p:nvSpPr>
          <p:cNvPr id="3" name="고친 문장·원문 ID·수식 보관">
            <a:extLst xmlns:a="http://schemas.openxmlformats.org/drawingml/2006/main">
              <a:ext uri="{FF2B5EF4-FFF2-40B4-BE49-F238E27FC236}">
                <a16:creationId xmlns:a16="http://schemas.microsoft.com/office/drawing/2014/main" id="{67F4D834-B38F-4BD1-A8E9-053818F6EC3A}"/>
              </a:ext>
            </a:extLst>
          </p:cNvPr>
          <p:cNvSpPr>
            <a:spLocks xmlns:a="http://schemas.openxmlformats.org/drawingml/2006/main" noGrp="1"/>
          </p:cNvSpPr>
          <p:nvPr/>
        </p:nvSpPr>
        <p:spPr>
          <a:xfrm xmlns:a="http://schemas.openxmlformats.org/drawingml/2006/main">
            <a:off x="638175" y="36671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202921"/>
                </a:solidFill>
                <a:latin typeface="Noto Sans KR"/>
                <a:ea typeface="Noto Sans KR"/>
                <a:cs typeface="Noto Sans KR"/>
              </a:defRPr>
            </a:pPr>
            <a:r>
              <a:rPr sz="2775" b="0">
                <a:solidFill>
                  <a:srgbClr val="202921"/>
                </a:solidFill>
                <a:latin typeface="Noto Sans KR"/>
                <a:ea typeface="Noto Sans KR"/>
                <a:cs typeface="Noto Sans KR"/>
              </a:rPr>
              <a:t>고친 문장·원문 ID·수식 보관</a:t>
            </a:r>
          </a:p>
        </p:txBody>
      </p:sp>
      <p:sp>
        <p:nvSpPr>
          <p:cNvPr id="4" name="165–169분">
            <a:extLst xmlns:a="http://schemas.openxmlformats.org/drawingml/2006/main">
              <a:ext uri="{FF2B5EF4-FFF2-40B4-BE49-F238E27FC236}">
                <a16:creationId xmlns:a16="http://schemas.microsoft.com/office/drawing/2014/main" id="{886AFA7C-CE7C-4FF8-9E25-B6149FDECE46}"/>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165–169분</a:t>
            </a:r>
          </a:p>
        </p:txBody>
      </p:sp>
      <p:sp>
        <p:nvSpPr>
          <p:cNvPr id="5" name="웹 실습 열기">
            <a:extLst xmlns:a="http://schemas.openxmlformats.org/drawingml/2006/main">
              <a:ext uri="{FF2B5EF4-FFF2-40B4-BE49-F238E27FC236}">
                <a16:creationId xmlns:a16="http://schemas.microsoft.com/office/drawing/2014/main" id="{C50093F6-F48E-45A7-B2AC-0C7459A3A0C6}"/>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4f23f442dd204bd1"/>
              </a:rPr>
              <a:t>웹 실습 열기</a:t>
            </a:r>
          </a:p>
        </p:txBody>
      </p:sp>
      <p:sp>
        <p:nvSpPr>
          <p:cNvPr id="6" name="48">
            <a:extLst xmlns:a="http://schemas.openxmlformats.org/drawingml/2006/main">
              <a:ext uri="{FF2B5EF4-FFF2-40B4-BE49-F238E27FC236}">
                <a16:creationId xmlns:a16="http://schemas.microsoft.com/office/drawing/2014/main" id="{CF09F8CB-8F31-4D20-A5CF-4B7FAC8223AD}"/>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48</a:t>
            </a:r>
          </a:p>
        </p:txBody>
      </p:sp>
    </p:spTree>
    <p:extLst>
      <p:ext uri="{BB962C8B-B14F-4D97-AF65-F5344CB8AC3E}">
        <p14:creationId xmlns:p14="http://schemas.microsoft.com/office/powerpoint/2010/main" val="1289489757"/>
      </p:ext>
    </p:extLst>
  </p:cSld>
</p:sld>
</file>

<file path=ppt/slides/slide4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1" name="직접 해볼 시간">
            <a:extLst xmlns:a="http://schemas.openxmlformats.org/drawingml/2006/main">
              <a:ext uri="{FF2B5EF4-FFF2-40B4-BE49-F238E27FC236}">
                <a16:creationId xmlns:a16="http://schemas.microsoft.com/office/drawing/2014/main" id="{ABB03222-3077-4AF7-A028-31D5AD5ED2B7}"/>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586356"/>
                </a:solidFill>
                <a:latin typeface="Noto Sans KR"/>
                <a:ea typeface="Noto Sans KR"/>
                <a:cs typeface="Noto Sans KR"/>
              </a:defRPr>
            </a:pPr>
            <a:r>
              <a:rPr sz="1875" b="1">
                <a:solidFill>
                  <a:srgbClr val="586356"/>
                </a:solidFill>
                <a:latin typeface="Noto Sans KR"/>
                <a:ea typeface="Noto Sans KR"/>
                <a:cs typeface="Noto Sans KR"/>
              </a:rPr>
              <a:t>직접 해볼 시간</a:t>
            </a:r>
          </a:p>
        </p:txBody>
      </p:sp>
      <p:sp>
        <p:nvSpPr>
          <p:cNvPr id="2" name="다음 주에&#10;다시 할 일 한 가지">
            <a:extLst xmlns:a="http://schemas.openxmlformats.org/drawingml/2006/main">
              <a:ext uri="{FF2B5EF4-FFF2-40B4-BE49-F238E27FC236}">
                <a16:creationId xmlns:a16="http://schemas.microsoft.com/office/drawing/2014/main" id="{55FDC11A-5DC9-437A-9565-F66AB6ECFFC1}"/>
              </a:ext>
            </a:extLst>
          </p:cNvPr>
          <p:cNvSpPr>
            <a:spLocks xmlns:a="http://schemas.openxmlformats.org/drawingml/2006/main" noGrp="1"/>
          </p:cNvSpPr>
          <p:nvPr/>
        </p:nvSpPr>
        <p:spPr>
          <a:xfrm xmlns:a="http://schemas.openxmlformats.org/drawingml/2006/main">
            <a:off x="600075" y="1114425"/>
            <a:ext cx="109347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175" b="1">
                <a:solidFill>
                  <a:srgbClr val="202921"/>
                </a:solidFill>
                <a:latin typeface="Noto Sans KR"/>
                <a:ea typeface="Noto Sans KR"/>
                <a:cs typeface="Noto Sans KR"/>
              </a:defRPr>
            </a:pPr>
            <a:r>
              <a:rPr sz="5175" b="1">
                <a:solidFill>
                  <a:srgbClr val="202921"/>
                </a:solidFill>
                <a:latin typeface="Noto Sans KR"/>
                <a:ea typeface="Noto Sans KR"/>
                <a:cs typeface="Noto Sans KR"/>
              </a:rPr>
              <a:t>다음 주에</a:t>
            </a:r>
          </a:p>
          <a:p xmlns:a="http://schemas.openxmlformats.org/drawingml/2006/main">
            <a:pPr algn="l">
              <a:lnSpc>
                <a:spcPct val="112000"/>
              </a:lnSpc>
              <a:buNone/>
              <a:defRPr sz="5175" b="1">
                <a:solidFill>
                  <a:srgbClr val="202921"/>
                </a:solidFill>
                <a:latin typeface="Noto Sans KR"/>
                <a:ea typeface="Noto Sans KR"/>
                <a:cs typeface="Noto Sans KR"/>
              </a:defRPr>
            </a:pPr>
            <a:r>
              <a:rPr sz="5175" b="1">
                <a:solidFill>
                  <a:srgbClr val="202921"/>
                </a:solidFill>
                <a:latin typeface="Noto Sans KR"/>
                <a:ea typeface="Noto Sans KR"/>
                <a:cs typeface="Noto Sans KR"/>
              </a:rPr>
              <a:t>다시 할 일 한 가지</a:t>
            </a:r>
          </a:p>
        </p:txBody>
      </p:sp>
      <p:sp>
        <p:nvSpPr>
          <p:cNvPr id="3" name="직접 작성·서식·시트·AI 중 선택">
            <a:extLst xmlns:a="http://schemas.openxmlformats.org/drawingml/2006/main">
              <a:ext uri="{FF2B5EF4-FFF2-40B4-BE49-F238E27FC236}">
                <a16:creationId xmlns:a16="http://schemas.microsoft.com/office/drawing/2014/main" id="{81178B1E-345D-4294-A2B4-479D5171B168}"/>
              </a:ext>
            </a:extLst>
          </p:cNvPr>
          <p:cNvSpPr>
            <a:spLocks xmlns:a="http://schemas.openxmlformats.org/drawingml/2006/main" noGrp="1"/>
          </p:cNvSpPr>
          <p:nvPr/>
        </p:nvSpPr>
        <p:spPr>
          <a:xfrm xmlns:a="http://schemas.openxmlformats.org/drawingml/2006/main">
            <a:off x="647700" y="3190875"/>
            <a:ext cx="847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직접 작성·서식·시트·AI 중 선택</a:t>
            </a:r>
          </a:p>
        </p:txBody>
      </p:sp>
      <p:sp>
        <p:nvSpPr>
          <p:cNvPr id="4" name="AI에 맡길 범위를 한 문장으로">
            <a:extLst xmlns:a="http://schemas.openxmlformats.org/drawingml/2006/main">
              <a:ext uri="{FF2B5EF4-FFF2-40B4-BE49-F238E27FC236}">
                <a16:creationId xmlns:a16="http://schemas.microsoft.com/office/drawing/2014/main" id="{4B5B2686-C839-4809-B5E8-02494A9A45E6}"/>
              </a:ext>
            </a:extLst>
          </p:cNvPr>
          <p:cNvSpPr>
            <a:spLocks xmlns:a="http://schemas.openxmlformats.org/drawingml/2006/main" noGrp="1"/>
          </p:cNvSpPr>
          <p:nvPr/>
        </p:nvSpPr>
        <p:spPr>
          <a:xfrm xmlns:a="http://schemas.openxmlformats.org/drawingml/2006/main">
            <a:off x="647700" y="3914775"/>
            <a:ext cx="847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AI에 맡길 범위를 한 문장으로</a:t>
            </a:r>
          </a:p>
        </p:txBody>
      </p:sp>
      <p:sp>
        <p:nvSpPr>
          <p:cNvPr id="5" name="내가 확인할 항목과 중단 조건 기록">
            <a:extLst xmlns:a="http://schemas.openxmlformats.org/drawingml/2006/main">
              <a:ext uri="{FF2B5EF4-FFF2-40B4-BE49-F238E27FC236}">
                <a16:creationId xmlns:a16="http://schemas.microsoft.com/office/drawing/2014/main" id="{E3427706-4AE6-4819-BB21-99F81DC89C70}"/>
              </a:ext>
            </a:extLst>
          </p:cNvPr>
          <p:cNvSpPr>
            <a:spLocks xmlns:a="http://schemas.openxmlformats.org/drawingml/2006/main" noGrp="1"/>
          </p:cNvSpPr>
          <p:nvPr/>
        </p:nvSpPr>
        <p:spPr>
          <a:xfrm xmlns:a="http://schemas.openxmlformats.org/drawingml/2006/main">
            <a:off x="647700" y="4638675"/>
            <a:ext cx="847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202921"/>
                </a:solidFill>
                <a:latin typeface="Noto Sans KR"/>
                <a:ea typeface="Noto Sans KR"/>
                <a:cs typeface="Noto Sans KR"/>
              </a:defRPr>
            </a:pPr>
            <a:r>
              <a:rPr sz="2400" b="0">
                <a:solidFill>
                  <a:srgbClr val="202921"/>
                </a:solidFill>
                <a:latin typeface="Noto Sans KR"/>
                <a:ea typeface="Noto Sans KR"/>
                <a:cs typeface="Noto Sans KR"/>
              </a:rPr>
              <a:t>내가 확인할 항목과 중단 조건 기록</a:t>
            </a:r>
          </a:p>
        </p:txBody>
      </p:sp>
      <p:sp>
        <p:nvSpPr>
          <p:cNvPr id="6" name="6분">
            <a:extLst xmlns:a="http://schemas.openxmlformats.org/drawingml/2006/main">
              <a:ext uri="{FF2B5EF4-FFF2-40B4-BE49-F238E27FC236}">
                <a16:creationId xmlns:a16="http://schemas.microsoft.com/office/drawing/2014/main" id="{CD5DC1D8-8C19-4B94-9E30-6B33EBDE53F9}"/>
              </a:ext>
            </a:extLst>
          </p:cNvPr>
          <p:cNvSpPr>
            <a:spLocks xmlns:a="http://schemas.openxmlformats.org/drawingml/2006/main" noGrp="1"/>
          </p:cNvSpPr>
          <p:nvPr/>
        </p:nvSpPr>
        <p:spPr>
          <a:xfrm xmlns:a="http://schemas.openxmlformats.org/drawingml/2006/main">
            <a:off x="9144000" y="3276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5400" b="1">
                <a:solidFill>
                  <a:srgbClr val="EA5936"/>
                </a:solidFill>
                <a:latin typeface="Noto Sans KR"/>
                <a:ea typeface="Noto Sans KR"/>
                <a:cs typeface="Noto Sans KR"/>
              </a:defRPr>
            </a:pPr>
            <a:r>
              <a:rPr sz="5400" b="1">
                <a:solidFill>
                  <a:srgbClr val="EA5936"/>
                </a:solidFill>
                <a:latin typeface="Noto Sans KR"/>
                <a:ea typeface="Noto Sans KR"/>
                <a:cs typeface="Noto Sans KR"/>
              </a:rPr>
              <a:t>6분</a:t>
            </a:r>
          </a:p>
        </p:txBody>
      </p:sp>
      <p:sp>
        <p:nvSpPr>
          <p:cNvPr id="7" name="업무별 사용 여부와 검토 계획 3행">
            <a:extLst xmlns:a="http://schemas.openxmlformats.org/drawingml/2006/main">
              <a:ext uri="{FF2B5EF4-FFF2-40B4-BE49-F238E27FC236}">
                <a16:creationId xmlns:a16="http://schemas.microsoft.com/office/drawing/2014/main" id="{C6C262E5-8DA7-4374-A799-A34338C0DF35}"/>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586356"/>
                </a:solidFill>
                <a:latin typeface="Noto Sans KR"/>
                <a:ea typeface="Noto Sans KR"/>
                <a:cs typeface="Noto Sans KR"/>
              </a:defRPr>
            </a:pPr>
            <a:r>
              <a:rPr sz="2325" b="1">
                <a:solidFill>
                  <a:srgbClr val="586356"/>
                </a:solidFill>
                <a:latin typeface="Noto Sans KR"/>
                <a:ea typeface="Noto Sans KR"/>
                <a:cs typeface="Noto Sans KR"/>
              </a:rPr>
              <a:t>업무별 사용 여부와 검토 계획 3행</a:t>
            </a:r>
          </a:p>
        </p:txBody>
      </p:sp>
      <p:sp>
        <p:nvSpPr>
          <p:cNvPr id="8" name="169–175분">
            <a:extLst xmlns:a="http://schemas.openxmlformats.org/drawingml/2006/main">
              <a:ext uri="{FF2B5EF4-FFF2-40B4-BE49-F238E27FC236}">
                <a16:creationId xmlns:a16="http://schemas.microsoft.com/office/drawing/2014/main" id="{5F411AD0-C98F-45B6-ACF7-BFADC3D28637}"/>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169–175분</a:t>
            </a:r>
          </a:p>
        </p:txBody>
      </p:sp>
      <p:sp>
        <p:nvSpPr>
          <p:cNvPr id="9" name="웹 실습 열기">
            <a:extLst xmlns:a="http://schemas.openxmlformats.org/drawingml/2006/main">
              <a:ext uri="{FF2B5EF4-FFF2-40B4-BE49-F238E27FC236}">
                <a16:creationId xmlns:a16="http://schemas.microsoft.com/office/drawing/2014/main" id="{5995B5CD-17A6-4D0A-8762-32565F6B4997}"/>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202921"/>
                </a:solidFill>
                <a:latin typeface="Noto Sans KR"/>
                <a:ea typeface="Noto Sans KR"/>
                <a:cs typeface="Noto Sans KR"/>
              </a:defRPr>
            </a:pPr>
            <a:r>
              <a:rPr sz="1725" b="1">
                <a:solidFill>
                  <a:srgbClr val="202921"/>
                </a:solidFill>
                <a:latin typeface="Noto Sans KR"/>
                <a:ea typeface="Noto Sans KR"/>
                <a:cs typeface="Noto Sans KR"/>
                <a:hlinkClick xmlns:r="http://schemas.openxmlformats.org/officeDocument/2006/relationships" r:id="Ra9554b8a0de741f5"/>
              </a:rPr>
              <a:t>웹 실습 열기</a:t>
            </a:r>
          </a:p>
        </p:txBody>
      </p:sp>
      <p:sp>
        <p:nvSpPr>
          <p:cNvPr id="10" name="49">
            <a:extLst xmlns:a="http://schemas.openxmlformats.org/drawingml/2006/main">
              <a:ext uri="{FF2B5EF4-FFF2-40B4-BE49-F238E27FC236}">
                <a16:creationId xmlns:a16="http://schemas.microsoft.com/office/drawing/2014/main" id="{E3ABCADC-8E1C-45AE-925E-52980E0A91AD}"/>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86356"/>
                </a:solidFill>
                <a:latin typeface="Noto Sans KR"/>
                <a:ea typeface="Noto Sans KR"/>
                <a:cs typeface="Noto Sans KR"/>
              </a:defRPr>
            </a:pPr>
            <a:r>
              <a:rPr sz="1500" b="0">
                <a:solidFill>
                  <a:srgbClr val="586356"/>
                </a:solidFill>
                <a:latin typeface="Noto Sans KR"/>
                <a:ea typeface="Noto Sans KR"/>
                <a:cs typeface="Noto Sans KR"/>
              </a:rPr>
              <a:t>49</a:t>
            </a:r>
          </a:p>
        </p:txBody>
      </p:sp>
    </p:spTree>
    <p:extLst>
      <p:ext uri="{BB962C8B-B14F-4D97-AF65-F5344CB8AC3E}">
        <p14:creationId xmlns:p14="http://schemas.microsoft.com/office/powerpoint/2010/main" val="1441163686"/>
      </p:ext>
    </p:extLst>
  </p:cSld>
</p:sld>
</file>

<file path=ppt/slides/slide50.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7" name="무엇을 고쳤고,&#10;다음에는 어떻게 할까요?">
            <a:extLst xmlns:a="http://schemas.openxmlformats.org/drawingml/2006/main">
              <a:ext uri="{FF2B5EF4-FFF2-40B4-BE49-F238E27FC236}">
                <a16:creationId xmlns:a16="http://schemas.microsoft.com/office/drawing/2014/main" id="{4BCE1CF6-1566-4ACC-8AA6-E3C563BE2F9C}"/>
              </a:ext>
            </a:extLst>
          </p:cNvPr>
          <p:cNvSpPr>
            <a:spLocks xmlns:a="http://schemas.openxmlformats.org/drawingml/2006/main" noGrp="1"/>
          </p:cNvSpPr>
          <p:nvPr/>
        </p:nvSpPr>
        <p:spPr>
          <a:xfrm xmlns:a="http://schemas.openxmlformats.org/drawingml/2006/main">
            <a:off x="609600" y="752475"/>
            <a:ext cx="1095375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250" b="1">
                <a:solidFill>
                  <a:srgbClr val="F4F1E9"/>
                </a:solidFill>
                <a:latin typeface="Noto Sans KR"/>
                <a:ea typeface="Noto Sans KR"/>
                <a:cs typeface="Noto Sans KR"/>
              </a:defRPr>
            </a:pPr>
            <a:r>
              <a:rPr sz="5250" b="1">
                <a:solidFill>
                  <a:srgbClr val="F4F1E9"/>
                </a:solidFill>
                <a:latin typeface="Noto Sans KR"/>
                <a:ea typeface="Noto Sans KR"/>
                <a:cs typeface="Noto Sans KR"/>
              </a:rPr>
              <a:t>무엇을 고쳤고,</a:t>
            </a:r>
          </a:p>
          <a:p xmlns:a="http://schemas.openxmlformats.org/drawingml/2006/main">
            <a:pPr algn="l">
              <a:lnSpc>
                <a:spcPct val="112000"/>
              </a:lnSpc>
              <a:buNone/>
              <a:defRPr sz="5250" b="1">
                <a:solidFill>
                  <a:srgbClr val="F4F1E9"/>
                </a:solidFill>
                <a:latin typeface="Noto Sans KR"/>
                <a:ea typeface="Noto Sans KR"/>
                <a:cs typeface="Noto Sans KR"/>
              </a:defRPr>
            </a:pPr>
            <a:r>
              <a:rPr sz="5250" b="1">
                <a:solidFill>
                  <a:srgbClr val="F4F1E9"/>
                </a:solidFill>
                <a:latin typeface="Noto Sans KR"/>
                <a:ea typeface="Noto Sans KR"/>
                <a:cs typeface="Noto Sans KR"/>
              </a:rPr>
              <a:t>다음에는 어떻게 할까요?</a:t>
            </a:r>
          </a:p>
        </p:txBody>
      </p:sp>
      <p:sp>
        <p:nvSpPr>
          <p:cNvPr id="2" name="고친 문장 한 곳과 이유 공유">
            <a:extLst xmlns:a="http://schemas.openxmlformats.org/drawingml/2006/main">
              <a:ext uri="{FF2B5EF4-FFF2-40B4-BE49-F238E27FC236}">
                <a16:creationId xmlns:a16="http://schemas.microsoft.com/office/drawing/2014/main" id="{1C4C16A6-CA4D-48F5-87E8-F92975BB3A19}"/>
              </a:ext>
            </a:extLst>
          </p:cNvPr>
          <p:cNvSpPr>
            <a:spLocks xmlns:a="http://schemas.openxmlformats.org/drawingml/2006/main" noGrp="1"/>
          </p:cNvSpPr>
          <p:nvPr/>
        </p:nvSpPr>
        <p:spPr>
          <a:xfrm xmlns:a="http://schemas.openxmlformats.org/drawingml/2006/main">
            <a:off x="638175" y="3200400"/>
            <a:ext cx="108394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850" b="0">
                <a:solidFill>
                  <a:srgbClr val="F4F1E9"/>
                </a:solidFill>
                <a:latin typeface="Noto Sans KR"/>
                <a:ea typeface="Noto Sans KR"/>
                <a:cs typeface="Noto Sans KR"/>
              </a:defRPr>
            </a:pPr>
            <a:r>
              <a:rPr sz="2850" b="0">
                <a:solidFill>
                  <a:srgbClr val="F4F1E9"/>
                </a:solidFill>
                <a:latin typeface="Noto Sans KR"/>
                <a:ea typeface="Noto Sans KR"/>
                <a:cs typeface="Noto Sans KR"/>
              </a:rPr>
              <a:t>고친 문장 한 곳과 이유 공유</a:t>
            </a:r>
          </a:p>
        </p:txBody>
      </p:sp>
      <p:sp>
        <p:nvSpPr>
          <p:cNvPr id="3" name="다음 업무에서 쓸 방법 선택">
            <a:extLst xmlns:a="http://schemas.openxmlformats.org/drawingml/2006/main">
              <a:ext uri="{FF2B5EF4-FFF2-40B4-BE49-F238E27FC236}">
                <a16:creationId xmlns:a16="http://schemas.microsoft.com/office/drawing/2014/main" id="{F24C4D72-01FB-41A1-8A0F-DCCB911A7F48}"/>
              </a:ext>
            </a:extLst>
          </p:cNvPr>
          <p:cNvSpPr>
            <a:spLocks xmlns:a="http://schemas.openxmlformats.org/drawingml/2006/main" noGrp="1"/>
          </p:cNvSpPr>
          <p:nvPr/>
        </p:nvSpPr>
        <p:spPr>
          <a:xfrm xmlns:a="http://schemas.openxmlformats.org/drawingml/2006/main">
            <a:off x="638175" y="4048125"/>
            <a:ext cx="108394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850" b="0">
                <a:solidFill>
                  <a:srgbClr val="F4F1E9"/>
                </a:solidFill>
                <a:latin typeface="Noto Sans KR"/>
                <a:ea typeface="Noto Sans KR"/>
                <a:cs typeface="Noto Sans KR"/>
              </a:defRPr>
            </a:pPr>
            <a:r>
              <a:rPr sz="2850" b="0">
                <a:solidFill>
                  <a:srgbClr val="F4F1E9"/>
                </a:solidFill>
                <a:latin typeface="Noto Sans KR"/>
                <a:ea typeface="Noto Sans KR"/>
                <a:cs typeface="Noto Sans KR"/>
              </a:rPr>
              <a:t>다음 업무에서 쓸 방법 선택</a:t>
            </a:r>
          </a:p>
        </p:txBody>
      </p:sp>
      <p:sp>
        <p:nvSpPr>
          <p:cNvPr id="4" name="175–180분">
            <a:extLst xmlns:a="http://schemas.openxmlformats.org/drawingml/2006/main">
              <a:ext uri="{FF2B5EF4-FFF2-40B4-BE49-F238E27FC236}">
                <a16:creationId xmlns:a16="http://schemas.microsoft.com/office/drawing/2014/main" id="{54D53383-5346-47AD-9B47-2CF370265E8F}"/>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175–180분</a:t>
            </a:r>
          </a:p>
        </p:txBody>
      </p:sp>
      <p:sp>
        <p:nvSpPr>
          <p:cNvPr id="5" name="웹 실습 열기">
            <a:extLst xmlns:a="http://schemas.openxmlformats.org/drawingml/2006/main">
              <a:ext uri="{FF2B5EF4-FFF2-40B4-BE49-F238E27FC236}">
                <a16:creationId xmlns:a16="http://schemas.microsoft.com/office/drawing/2014/main" id="{993FB8E1-9BDC-4ACB-967F-0965C7CD7F78}"/>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9e0fa6206b744734"/>
              </a:rPr>
              <a:t>웹 실습 열기</a:t>
            </a:r>
          </a:p>
        </p:txBody>
      </p:sp>
      <p:sp>
        <p:nvSpPr>
          <p:cNvPr id="6" name="50">
            <a:extLst xmlns:a="http://schemas.openxmlformats.org/drawingml/2006/main">
              <a:ext uri="{FF2B5EF4-FFF2-40B4-BE49-F238E27FC236}">
                <a16:creationId xmlns:a16="http://schemas.microsoft.com/office/drawing/2014/main" id="{275E3005-1558-4FD6-BBBC-D5B61036F044}"/>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50</a:t>
            </a:r>
          </a:p>
        </p:txBody>
      </p:sp>
    </p:spTree>
    <p:extLst>
      <p:ext uri="{BB962C8B-B14F-4D97-AF65-F5344CB8AC3E}">
        <p14:creationId xmlns:p14="http://schemas.microsoft.com/office/powerpoint/2010/main" val="936873309"/>
      </p:ext>
    </p:extLst>
  </p:cSld>
</p:sld>
</file>

<file path=ppt/slides/slide51.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11" name="수업 후 선택 실습">
            <a:extLst xmlns:a="http://schemas.openxmlformats.org/drawingml/2006/main">
              <a:ext uri="{FF2B5EF4-FFF2-40B4-BE49-F238E27FC236}">
                <a16:creationId xmlns:a16="http://schemas.microsoft.com/office/drawing/2014/main" id="{81D7E6DD-5FF8-4067-8D94-BAA899503663}"/>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수업 후 선택 실습</a:t>
            </a:r>
          </a:p>
        </p:txBody>
      </p:sp>
      <p:sp>
        <p:nvSpPr>
          <p:cNvPr id="2" name="15분">
            <a:extLst xmlns:a="http://schemas.openxmlformats.org/drawingml/2006/main">
              <a:ext uri="{FF2B5EF4-FFF2-40B4-BE49-F238E27FC236}">
                <a16:creationId xmlns:a16="http://schemas.microsoft.com/office/drawing/2014/main" id="{DDD71049-7BD2-44AB-ABCF-2DEB3CF502BF}"/>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15분</a:t>
            </a:r>
          </a:p>
        </p:txBody>
      </p:sp>
      <p:sp>
        <p:nvSpPr>
          <p:cNvPr id="3" name="후속 메일 12개,&#10;새 학생 12명일까요?">
            <a:extLst xmlns:a="http://schemas.openxmlformats.org/drawingml/2006/main">
              <a:ext uri="{FF2B5EF4-FFF2-40B4-BE49-F238E27FC236}">
                <a16:creationId xmlns:a16="http://schemas.microsoft.com/office/drawing/2014/main" id="{F416BC62-1207-42BF-AFD8-DF8C8BC8CAFA}"/>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후속 메일 12개,</a:t>
            </a:r>
          </a:p>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새 학생 12명일까요?</a:t>
            </a:r>
          </a:p>
        </p:txBody>
      </p:sp>
      <p:sp>
        <p:nvSpPr>
          <p:cNvPr id="4" name="원문 11·21에서 같은 ID 연결">
            <a:extLst xmlns:a="http://schemas.openxmlformats.org/drawingml/2006/main">
              <a:ext uri="{FF2B5EF4-FFF2-40B4-BE49-F238E27FC236}">
                <a16:creationId xmlns:a16="http://schemas.microsoft.com/office/drawing/2014/main" id="{8F5C6563-61F7-4A52-BB0E-D309D16716BE}"/>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원문 11·21에서 같은 ID 연결</a:t>
            </a:r>
          </a:p>
        </p:txBody>
      </p:sp>
      <p:sp>
        <p:nvSpPr>
          <p:cNvPr id="5" name="최신 상태 세 행과 답장 세 개">
            <a:extLst xmlns:a="http://schemas.openxmlformats.org/drawingml/2006/main">
              <a:ext uri="{FF2B5EF4-FFF2-40B4-BE49-F238E27FC236}">
                <a16:creationId xmlns:a16="http://schemas.microsoft.com/office/drawing/2014/main" id="{1CCEB435-39EA-4460-946B-244C7CD3A71E}"/>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최신 상태 세 행과 답장 세 개</a:t>
            </a:r>
          </a:p>
        </p:txBody>
      </p:sp>
      <p:sp>
        <p:nvSpPr>
          <p:cNvPr id="6" name="신청 완료와 검토 접수 대조">
            <a:extLst xmlns:a="http://schemas.openxmlformats.org/drawingml/2006/main">
              <a:ext uri="{FF2B5EF4-FFF2-40B4-BE49-F238E27FC236}">
                <a16:creationId xmlns:a16="http://schemas.microsoft.com/office/drawing/2014/main" id="{1D08F90D-A085-4709-8A5F-2FED9D9AC01E}"/>
              </a:ext>
            </a:extLst>
          </p:cNvPr>
          <p:cNvSpPr>
            <a:spLocks xmlns:a="http://schemas.openxmlformats.org/drawingml/2006/main" noGrp="1"/>
          </p:cNvSpPr>
          <p:nvPr/>
        </p:nvSpPr>
        <p:spPr>
          <a:xfrm xmlns:a="http://schemas.openxmlformats.org/drawingml/2006/main">
            <a:off x="4019550" y="4733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신청 완료와 검토 접수 대조</a:t>
            </a:r>
          </a:p>
        </p:txBody>
      </p:sp>
      <p:sp>
        <p:nvSpPr>
          <p:cNvPr id="7" name="변경 12행 · 상태 3행 · 답장 3개">
            <a:extLst xmlns:a="http://schemas.openxmlformats.org/drawingml/2006/main">
              <a:ext uri="{FF2B5EF4-FFF2-40B4-BE49-F238E27FC236}">
                <a16:creationId xmlns:a16="http://schemas.microsoft.com/office/drawing/2014/main" id="{B26B65C7-A7C3-40B6-84D8-1E66F2D80E23}"/>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EBB597"/>
                </a:solidFill>
                <a:latin typeface="Noto Sans KR"/>
                <a:ea typeface="Noto Sans KR"/>
                <a:cs typeface="Noto Sans KR"/>
              </a:defRPr>
            </a:pPr>
            <a:r>
              <a:rPr sz="2325" b="1">
                <a:solidFill>
                  <a:srgbClr val="EBB597"/>
                </a:solidFill>
                <a:latin typeface="Noto Sans KR"/>
                <a:ea typeface="Noto Sans KR"/>
                <a:cs typeface="Noto Sans KR"/>
              </a:rPr>
              <a:t>변경 12행 · 상태 3행 · 답장 3개</a:t>
            </a:r>
          </a:p>
        </p:txBody>
      </p:sp>
      <p:sp>
        <p:nvSpPr>
          <p:cNvPr id="8" name="선택 실습  15분">
            <a:extLst xmlns:a="http://schemas.openxmlformats.org/drawingml/2006/main">
              <a:ext uri="{FF2B5EF4-FFF2-40B4-BE49-F238E27FC236}">
                <a16:creationId xmlns:a16="http://schemas.microsoft.com/office/drawing/2014/main" id="{526A9008-9210-4EAF-8149-8C8F0314D9E7}"/>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선택 실습  15분</a:t>
            </a:r>
          </a:p>
        </p:txBody>
      </p:sp>
      <p:sp>
        <p:nvSpPr>
          <p:cNvPr id="9" name="웹 실습 열기">
            <a:extLst xmlns:a="http://schemas.openxmlformats.org/drawingml/2006/main">
              <a:ext uri="{FF2B5EF4-FFF2-40B4-BE49-F238E27FC236}">
                <a16:creationId xmlns:a16="http://schemas.microsoft.com/office/drawing/2014/main" id="{41EB1862-30D3-4808-A902-EE3CDAD04D08}"/>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f22fde7e23c349e8"/>
              </a:rPr>
              <a:t>웹 실습 열기</a:t>
            </a:r>
          </a:p>
        </p:txBody>
      </p:sp>
      <p:sp>
        <p:nvSpPr>
          <p:cNvPr id="10" name="51">
            <a:extLst xmlns:a="http://schemas.openxmlformats.org/drawingml/2006/main">
              <a:ext uri="{FF2B5EF4-FFF2-40B4-BE49-F238E27FC236}">
                <a16:creationId xmlns:a16="http://schemas.microsoft.com/office/drawing/2014/main" id="{0B8CF510-7A1B-4763-B2EB-D25E88DA7091}"/>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51</a:t>
            </a:r>
          </a:p>
        </p:txBody>
      </p:sp>
    </p:spTree>
    <p:extLst>
      <p:ext uri="{BB962C8B-B14F-4D97-AF65-F5344CB8AC3E}">
        <p14:creationId xmlns:p14="http://schemas.microsoft.com/office/powerpoint/2010/main" val="771747487"/>
      </p:ext>
    </p:extLst>
  </p:cSld>
</p:sld>
</file>

<file path=ppt/slides/slide52.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11" name="수업 후 선택 실습">
            <a:extLst xmlns:a="http://schemas.openxmlformats.org/drawingml/2006/main">
              <a:ext uri="{FF2B5EF4-FFF2-40B4-BE49-F238E27FC236}">
                <a16:creationId xmlns:a16="http://schemas.microsoft.com/office/drawing/2014/main" id="{4BD661BA-0376-46D3-9F84-3801423D94C2}"/>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수업 후 선택 실습</a:t>
            </a:r>
          </a:p>
        </p:txBody>
      </p:sp>
      <p:sp>
        <p:nvSpPr>
          <p:cNvPr id="2" name="15분">
            <a:extLst xmlns:a="http://schemas.openxmlformats.org/drawingml/2006/main">
              <a:ext uri="{FF2B5EF4-FFF2-40B4-BE49-F238E27FC236}">
                <a16:creationId xmlns:a16="http://schemas.microsoft.com/office/drawing/2014/main" id="{7377E800-CC0F-477B-AE2C-BB72AE01EDDF}"/>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15분</a:t>
            </a:r>
          </a:p>
        </p:txBody>
      </p:sp>
      <p:sp>
        <p:nvSpPr>
          <p:cNvPr id="3" name="“완료” 표시를&#10;유지해도 될까요?">
            <a:extLst xmlns:a="http://schemas.openxmlformats.org/drawingml/2006/main">
              <a:ext uri="{FF2B5EF4-FFF2-40B4-BE49-F238E27FC236}">
                <a16:creationId xmlns:a16="http://schemas.microsoft.com/office/drawing/2014/main" id="{7A261E94-AF2C-477E-B103-896E74CBA7FB}"/>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“완료” 표시를</a:t>
            </a:r>
          </a:p>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유지해도 될까요?</a:t>
            </a:r>
          </a:p>
        </p:txBody>
      </p:sp>
      <p:sp>
        <p:nvSpPr>
          <p:cNvPr id="4" name="원문 12·22의 업무 아홉 건 연결">
            <a:extLst xmlns:a="http://schemas.openxmlformats.org/drawingml/2006/main">
              <a:ext uri="{FF2B5EF4-FFF2-40B4-BE49-F238E27FC236}">
                <a16:creationId xmlns:a16="http://schemas.microsoft.com/office/drawing/2014/main" id="{3A325F64-DDD7-4776-B6CE-B46133B89733}"/>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원문 12·22의 업무 아홉 건 연결</a:t>
            </a:r>
          </a:p>
        </p:txBody>
      </p:sp>
      <p:sp>
        <p:nvSpPr>
          <p:cNvPr id="5" name="최초 기한과 승인된 새 기한 보존">
            <a:extLst xmlns:a="http://schemas.openxmlformats.org/drawingml/2006/main">
              <a:ext uri="{FF2B5EF4-FFF2-40B4-BE49-F238E27FC236}">
                <a16:creationId xmlns:a16="http://schemas.microsoft.com/office/drawing/2014/main" id="{73F4761F-4A9F-415C-8ACD-5D2EB9D2939D}"/>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최초 기한과 승인된 새 기한 보존</a:t>
            </a:r>
          </a:p>
        </p:txBody>
      </p:sp>
      <p:sp>
        <p:nvSpPr>
          <p:cNvPr id="6" name="보완할 일과 인계 메일 작성">
            <a:extLst xmlns:a="http://schemas.openxmlformats.org/drawingml/2006/main">
              <a:ext uri="{FF2B5EF4-FFF2-40B4-BE49-F238E27FC236}">
                <a16:creationId xmlns:a16="http://schemas.microsoft.com/office/drawing/2014/main" id="{462D856F-A468-4CD7-B9FF-285FF9EEC921}"/>
              </a:ext>
            </a:extLst>
          </p:cNvPr>
          <p:cNvSpPr>
            <a:spLocks xmlns:a="http://schemas.openxmlformats.org/drawingml/2006/main" noGrp="1"/>
          </p:cNvSpPr>
          <p:nvPr/>
        </p:nvSpPr>
        <p:spPr>
          <a:xfrm xmlns:a="http://schemas.openxmlformats.org/drawingml/2006/main">
            <a:off x="4019550" y="4733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보완할 일과 인계 메일 작성</a:t>
            </a:r>
          </a:p>
        </p:txBody>
      </p:sp>
      <p:sp>
        <p:nvSpPr>
          <p:cNvPr id="7" name="상태 9행 · 우선 확인 3건 · 인계 메일">
            <a:extLst xmlns:a="http://schemas.openxmlformats.org/drawingml/2006/main">
              <a:ext uri="{FF2B5EF4-FFF2-40B4-BE49-F238E27FC236}">
                <a16:creationId xmlns:a16="http://schemas.microsoft.com/office/drawing/2014/main" id="{26BEADF6-616E-4D9D-86F4-9E3FD6C0C8B4}"/>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EBB597"/>
                </a:solidFill>
                <a:latin typeface="Noto Sans KR"/>
                <a:ea typeface="Noto Sans KR"/>
                <a:cs typeface="Noto Sans KR"/>
              </a:defRPr>
            </a:pPr>
            <a:r>
              <a:rPr sz="2325" b="1">
                <a:solidFill>
                  <a:srgbClr val="EBB597"/>
                </a:solidFill>
                <a:latin typeface="Noto Sans KR"/>
                <a:ea typeface="Noto Sans KR"/>
                <a:cs typeface="Noto Sans KR"/>
              </a:rPr>
              <a:t>상태 9행 · 우선 확인 3건 · 인계 메일</a:t>
            </a:r>
          </a:p>
        </p:txBody>
      </p:sp>
      <p:sp>
        <p:nvSpPr>
          <p:cNvPr id="8" name="선택 실습  15분">
            <a:extLst xmlns:a="http://schemas.openxmlformats.org/drawingml/2006/main">
              <a:ext uri="{FF2B5EF4-FFF2-40B4-BE49-F238E27FC236}">
                <a16:creationId xmlns:a16="http://schemas.microsoft.com/office/drawing/2014/main" id="{94FE05FF-45E9-4AB2-B9CC-249D0BB72918}"/>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선택 실습  15분</a:t>
            </a:r>
          </a:p>
        </p:txBody>
      </p:sp>
      <p:sp>
        <p:nvSpPr>
          <p:cNvPr id="9" name="웹 실습 열기">
            <a:extLst xmlns:a="http://schemas.openxmlformats.org/drawingml/2006/main">
              <a:ext uri="{FF2B5EF4-FFF2-40B4-BE49-F238E27FC236}">
                <a16:creationId xmlns:a16="http://schemas.microsoft.com/office/drawing/2014/main" id="{F2613B3F-50AE-407F-AA3D-C32EDA6347B0}"/>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ee975cfdc0444ad4"/>
              </a:rPr>
              <a:t>웹 실습 열기</a:t>
            </a:r>
          </a:p>
        </p:txBody>
      </p:sp>
      <p:sp>
        <p:nvSpPr>
          <p:cNvPr id="10" name="52">
            <a:extLst xmlns:a="http://schemas.openxmlformats.org/drawingml/2006/main">
              <a:ext uri="{FF2B5EF4-FFF2-40B4-BE49-F238E27FC236}">
                <a16:creationId xmlns:a16="http://schemas.microsoft.com/office/drawing/2014/main" id="{48D1DB05-3C16-4CDA-9760-07CBC749F4E1}"/>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52</a:t>
            </a:r>
          </a:p>
        </p:txBody>
      </p:sp>
    </p:spTree>
    <p:extLst>
      <p:ext uri="{BB962C8B-B14F-4D97-AF65-F5344CB8AC3E}">
        <p14:creationId xmlns:p14="http://schemas.microsoft.com/office/powerpoint/2010/main" val="318233105"/>
      </p:ext>
    </p:extLst>
  </p:cSld>
</p:sld>
</file>

<file path=ppt/slides/slide53.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11" name="수업 후 선택 실습">
            <a:extLst xmlns:a="http://schemas.openxmlformats.org/drawingml/2006/main">
              <a:ext uri="{FF2B5EF4-FFF2-40B4-BE49-F238E27FC236}">
                <a16:creationId xmlns:a16="http://schemas.microsoft.com/office/drawing/2014/main" id="{9BD3644D-EB40-4A9C-9EBB-94487A81E398}"/>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수업 후 선택 실습</a:t>
            </a:r>
          </a:p>
        </p:txBody>
      </p:sp>
      <p:sp>
        <p:nvSpPr>
          <p:cNvPr id="2" name="20분">
            <a:extLst xmlns:a="http://schemas.openxmlformats.org/drawingml/2006/main">
              <a:ext uri="{FF2B5EF4-FFF2-40B4-BE49-F238E27FC236}">
                <a16:creationId xmlns:a16="http://schemas.microsoft.com/office/drawing/2014/main" id="{8C910D5E-655E-43D9-A196-27E796020D48}"/>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20분</a:t>
            </a:r>
          </a:p>
        </p:txBody>
      </p:sp>
      <p:sp>
        <p:nvSpPr>
          <p:cNvPr id="3" name="새 견적이면&#10;바로 반영해도 될까요?">
            <a:extLst xmlns:a="http://schemas.openxmlformats.org/drawingml/2006/main">
              <a:ext uri="{FF2B5EF4-FFF2-40B4-BE49-F238E27FC236}">
                <a16:creationId xmlns:a16="http://schemas.microsoft.com/office/drawing/2014/main" id="{A7F28E7E-A7B3-4F4E-B562-4A07C9D60C04}"/>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새 견적이면</a:t>
            </a:r>
          </a:p>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바로 반영해도 될까요?</a:t>
            </a:r>
          </a:p>
        </p:txBody>
      </p:sp>
      <p:sp>
        <p:nvSpPr>
          <p:cNvPr id="4" name="원문 13·23의 승인 범위 확인">
            <a:extLst xmlns:a="http://schemas.openxmlformats.org/drawingml/2006/main">
              <a:ext uri="{FF2B5EF4-FFF2-40B4-BE49-F238E27FC236}">
                <a16:creationId xmlns:a16="http://schemas.microsoft.com/office/drawing/2014/main" id="{A668204E-0CA0-49BB-B1AA-B9FAFC7B1951}"/>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원문 13·23의 승인 범위 확인</a:t>
            </a:r>
          </a:p>
        </p:txBody>
      </p:sp>
      <p:sp>
        <p:nvSpPr>
          <p:cNvPr id="5" name="기존 24행과 변경 이력 유지">
            <a:extLst xmlns:a="http://schemas.openxmlformats.org/drawingml/2006/main">
              <a:ext uri="{FF2B5EF4-FFF2-40B4-BE49-F238E27FC236}">
                <a16:creationId xmlns:a16="http://schemas.microsoft.com/office/drawing/2014/main" id="{B8B596D0-BB9F-4755-ADC1-3F6A39765B69}"/>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기존 24행과 변경 이력 유지</a:t>
            </a:r>
          </a:p>
        </p:txBody>
      </p:sp>
      <p:sp>
        <p:nvSpPr>
          <p:cNvPr id="6" name="행사별 금액과 전체 합계 재계산">
            <a:extLst xmlns:a="http://schemas.openxmlformats.org/drawingml/2006/main">
              <a:ext uri="{FF2B5EF4-FFF2-40B4-BE49-F238E27FC236}">
                <a16:creationId xmlns:a16="http://schemas.microsoft.com/office/drawing/2014/main" id="{0674FF14-245A-4D20-9210-CC127DFE67CA}"/>
              </a:ext>
            </a:extLst>
          </p:cNvPr>
          <p:cNvSpPr>
            <a:spLocks xmlns:a="http://schemas.openxmlformats.org/drawingml/2006/main" noGrp="1"/>
          </p:cNvSpPr>
          <p:nvPr/>
        </p:nvSpPr>
        <p:spPr>
          <a:xfrm xmlns:a="http://schemas.openxmlformats.org/drawingml/2006/main">
            <a:off x="4019550" y="4733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행사별 금액과 전체 합계 재계산</a:t>
            </a:r>
          </a:p>
        </p:txBody>
      </p:sp>
      <p:sp>
        <p:nvSpPr>
          <p:cNvPr id="7" name="구매 24행 · 한도표 · 변경 5행">
            <a:extLst xmlns:a="http://schemas.openxmlformats.org/drawingml/2006/main">
              <a:ext uri="{FF2B5EF4-FFF2-40B4-BE49-F238E27FC236}">
                <a16:creationId xmlns:a16="http://schemas.microsoft.com/office/drawing/2014/main" id="{4683886E-EA9B-4436-B057-5AB99BB41511}"/>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EBB597"/>
                </a:solidFill>
                <a:latin typeface="Noto Sans KR"/>
                <a:ea typeface="Noto Sans KR"/>
                <a:cs typeface="Noto Sans KR"/>
              </a:defRPr>
            </a:pPr>
            <a:r>
              <a:rPr sz="2325" b="1">
                <a:solidFill>
                  <a:srgbClr val="EBB597"/>
                </a:solidFill>
                <a:latin typeface="Noto Sans KR"/>
                <a:ea typeface="Noto Sans KR"/>
                <a:cs typeface="Noto Sans KR"/>
              </a:rPr>
              <a:t>구매 24행 · 한도표 · 변경 5행</a:t>
            </a:r>
          </a:p>
        </p:txBody>
      </p:sp>
      <p:sp>
        <p:nvSpPr>
          <p:cNvPr id="8" name="선택 실습  20분">
            <a:extLst xmlns:a="http://schemas.openxmlformats.org/drawingml/2006/main">
              <a:ext uri="{FF2B5EF4-FFF2-40B4-BE49-F238E27FC236}">
                <a16:creationId xmlns:a16="http://schemas.microsoft.com/office/drawing/2014/main" id="{0418F017-F164-4C67-960B-23B24A2D5322}"/>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선택 실습  20분</a:t>
            </a:r>
          </a:p>
        </p:txBody>
      </p:sp>
      <p:sp>
        <p:nvSpPr>
          <p:cNvPr id="9" name="웹 실습 열기">
            <a:extLst xmlns:a="http://schemas.openxmlformats.org/drawingml/2006/main">
              <a:ext uri="{FF2B5EF4-FFF2-40B4-BE49-F238E27FC236}">
                <a16:creationId xmlns:a16="http://schemas.microsoft.com/office/drawing/2014/main" id="{2B855D6F-284E-481B-A86E-06AE95454AC3}"/>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5c213f7d580b4677"/>
              </a:rPr>
              <a:t>웹 실습 열기</a:t>
            </a:r>
          </a:p>
        </p:txBody>
      </p:sp>
      <p:sp>
        <p:nvSpPr>
          <p:cNvPr id="10" name="53">
            <a:extLst xmlns:a="http://schemas.openxmlformats.org/drawingml/2006/main">
              <a:ext uri="{FF2B5EF4-FFF2-40B4-BE49-F238E27FC236}">
                <a16:creationId xmlns:a16="http://schemas.microsoft.com/office/drawing/2014/main" id="{D09479E0-86F0-473A-A02F-C7C4BD35CB4B}"/>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53</a:t>
            </a:r>
          </a:p>
        </p:txBody>
      </p:sp>
    </p:spTree>
    <p:extLst>
      <p:ext uri="{BB962C8B-B14F-4D97-AF65-F5344CB8AC3E}">
        <p14:creationId xmlns:p14="http://schemas.microsoft.com/office/powerpoint/2010/main" val="381156435"/>
      </p:ext>
    </p:extLst>
  </p:cSld>
</p:sld>
</file>

<file path=ppt/slides/slide54.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11" name="수업 후 선택 실습">
            <a:extLst xmlns:a="http://schemas.openxmlformats.org/drawingml/2006/main">
              <a:ext uri="{FF2B5EF4-FFF2-40B4-BE49-F238E27FC236}">
                <a16:creationId xmlns:a16="http://schemas.microsoft.com/office/drawing/2014/main" id="{74EF0690-C595-4EC4-BE02-EAC74B6DC238}"/>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수업 후 선택 실습</a:t>
            </a:r>
          </a:p>
        </p:txBody>
      </p:sp>
      <p:sp>
        <p:nvSpPr>
          <p:cNvPr id="2" name="15분">
            <a:extLst xmlns:a="http://schemas.openxmlformats.org/drawingml/2006/main">
              <a:ext uri="{FF2B5EF4-FFF2-40B4-BE49-F238E27FC236}">
                <a16:creationId xmlns:a16="http://schemas.microsoft.com/office/drawing/2014/main" id="{9B61175E-BF4E-4AA5-8BB3-C01B22574E08}"/>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15분</a:t>
            </a:r>
          </a:p>
        </p:txBody>
      </p:sp>
      <p:sp>
        <p:nvSpPr>
          <p:cNvPr id="3" name="옛 FAQ를&#10;어디까지 고칠까요?">
            <a:extLst xmlns:a="http://schemas.openxmlformats.org/drawingml/2006/main">
              <a:ext uri="{FF2B5EF4-FFF2-40B4-BE49-F238E27FC236}">
                <a16:creationId xmlns:a16="http://schemas.microsoft.com/office/drawing/2014/main" id="{D703CB56-F41F-44DD-BD84-5BD75A2E9A06}"/>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옛 FAQ를</a:t>
            </a:r>
          </a:p>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어디까지 고칠까요?</a:t>
            </a:r>
          </a:p>
        </p:txBody>
      </p:sp>
      <p:sp>
        <p:nvSpPr>
          <p:cNvPr id="4" name="14A~D에 새 24번 소스 추가">
            <a:extLst xmlns:a="http://schemas.openxmlformats.org/drawingml/2006/main">
              <a:ext uri="{FF2B5EF4-FFF2-40B4-BE49-F238E27FC236}">
                <a16:creationId xmlns:a16="http://schemas.microsoft.com/office/drawing/2014/main" id="{73875453-29B9-4F54-A654-0265DE0CB92B}"/>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14A~D에 새 24번 소스 추가</a:t>
            </a:r>
          </a:p>
        </p:txBody>
      </p:sp>
      <p:sp>
        <p:nvSpPr>
          <p:cNvPr id="5" name="주차·녹화·개인 배정 갱신">
            <a:extLst xmlns:a="http://schemas.openxmlformats.org/drawingml/2006/main">
              <a:ext uri="{FF2B5EF4-FFF2-40B4-BE49-F238E27FC236}">
                <a16:creationId xmlns:a16="http://schemas.microsoft.com/office/drawing/2014/main" id="{FA9AE9AF-1191-4A0A-BD87-87628A99325E}"/>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주차·녹화·개인 배정 갱신</a:t>
            </a:r>
          </a:p>
        </p:txBody>
      </p:sp>
      <p:sp>
        <p:nvSpPr>
          <p:cNvPr id="6" name="새 결정 인용 두 곳 직접 확인">
            <a:extLst xmlns:a="http://schemas.openxmlformats.org/drawingml/2006/main">
              <a:ext uri="{FF2B5EF4-FFF2-40B4-BE49-F238E27FC236}">
                <a16:creationId xmlns:a16="http://schemas.microsoft.com/office/drawing/2014/main" id="{1843969E-FCD6-47D2-8F9D-D8A19DBF8600}"/>
              </a:ext>
            </a:extLst>
          </p:cNvPr>
          <p:cNvSpPr>
            <a:spLocks xmlns:a="http://schemas.openxmlformats.org/drawingml/2006/main" noGrp="1"/>
          </p:cNvSpPr>
          <p:nvPr/>
        </p:nvSpPr>
        <p:spPr>
          <a:xfrm xmlns:a="http://schemas.openxmlformats.org/drawingml/2006/main">
            <a:off x="4019550" y="4733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새 결정 인용 두 곳 직접 확인</a:t>
            </a:r>
          </a:p>
        </p:txBody>
      </p:sp>
      <p:sp>
        <p:nvSpPr>
          <p:cNvPr id="7" name="변경 5행 · 참가 공지 · 인용 2건">
            <a:extLst xmlns:a="http://schemas.openxmlformats.org/drawingml/2006/main">
              <a:ext uri="{FF2B5EF4-FFF2-40B4-BE49-F238E27FC236}">
                <a16:creationId xmlns:a16="http://schemas.microsoft.com/office/drawing/2014/main" id="{18ED1DB1-058E-4C54-B4D1-7E47AE3D6DA8}"/>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EBB597"/>
                </a:solidFill>
                <a:latin typeface="Noto Sans KR"/>
                <a:ea typeface="Noto Sans KR"/>
                <a:cs typeface="Noto Sans KR"/>
              </a:defRPr>
            </a:pPr>
            <a:r>
              <a:rPr sz="2325" b="1">
                <a:solidFill>
                  <a:srgbClr val="EBB597"/>
                </a:solidFill>
                <a:latin typeface="Noto Sans KR"/>
                <a:ea typeface="Noto Sans KR"/>
                <a:cs typeface="Noto Sans KR"/>
              </a:rPr>
              <a:t>변경 5행 · 참가 공지 · 인용 2건</a:t>
            </a:r>
          </a:p>
        </p:txBody>
      </p:sp>
      <p:sp>
        <p:nvSpPr>
          <p:cNvPr id="8" name="선택 실습  15분">
            <a:extLst xmlns:a="http://schemas.openxmlformats.org/drawingml/2006/main">
              <a:ext uri="{FF2B5EF4-FFF2-40B4-BE49-F238E27FC236}">
                <a16:creationId xmlns:a16="http://schemas.microsoft.com/office/drawing/2014/main" id="{E5ABF64D-6BC2-4B23-BAF1-EF4D4815A8D9}"/>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선택 실습  15분</a:t>
            </a:r>
          </a:p>
        </p:txBody>
      </p:sp>
      <p:sp>
        <p:nvSpPr>
          <p:cNvPr id="9" name="웹 실습 열기">
            <a:extLst xmlns:a="http://schemas.openxmlformats.org/drawingml/2006/main">
              <a:ext uri="{FF2B5EF4-FFF2-40B4-BE49-F238E27FC236}">
                <a16:creationId xmlns:a16="http://schemas.microsoft.com/office/drawing/2014/main" id="{3F6B9C49-B97D-42D5-A881-F3FA92B90848}"/>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5cca30b61115485a"/>
              </a:rPr>
              <a:t>웹 실습 열기</a:t>
            </a:r>
          </a:p>
        </p:txBody>
      </p:sp>
      <p:sp>
        <p:nvSpPr>
          <p:cNvPr id="10" name="54">
            <a:extLst xmlns:a="http://schemas.openxmlformats.org/drawingml/2006/main">
              <a:ext uri="{FF2B5EF4-FFF2-40B4-BE49-F238E27FC236}">
                <a16:creationId xmlns:a16="http://schemas.microsoft.com/office/drawing/2014/main" id="{E01EA7D6-F46F-4F88-A255-C6CB08C028B1}"/>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54</a:t>
            </a:r>
          </a:p>
        </p:txBody>
      </p:sp>
    </p:spTree>
    <p:extLst>
      <p:ext uri="{BB962C8B-B14F-4D97-AF65-F5344CB8AC3E}">
        <p14:creationId xmlns:p14="http://schemas.microsoft.com/office/powerpoint/2010/main" val="1435197858"/>
      </p:ext>
    </p:extLst>
  </p:cSld>
</p:sld>
</file>

<file path=ppt/slides/slide55.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11" name="수업 후 선택 실습">
            <a:extLst xmlns:a="http://schemas.openxmlformats.org/drawingml/2006/main">
              <a:ext uri="{FF2B5EF4-FFF2-40B4-BE49-F238E27FC236}">
                <a16:creationId xmlns:a16="http://schemas.microsoft.com/office/drawing/2014/main" id="{88E1AEB3-778A-4055-9033-D65053131A82}"/>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수업 후 선택 실습</a:t>
            </a:r>
          </a:p>
        </p:txBody>
      </p:sp>
      <p:sp>
        <p:nvSpPr>
          <p:cNvPr id="2" name="15분">
            <a:extLst xmlns:a="http://schemas.openxmlformats.org/drawingml/2006/main">
              <a:ext uri="{FF2B5EF4-FFF2-40B4-BE49-F238E27FC236}">
                <a16:creationId xmlns:a16="http://schemas.microsoft.com/office/drawing/2014/main" id="{584F7D6F-B1D6-477C-839F-03F8A032BB87}"/>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15분</a:t>
            </a:r>
          </a:p>
        </p:txBody>
      </p:sp>
      <p:sp>
        <p:nvSpPr>
          <p:cNvPr id="3" name="홍보팀과 회계팀에&#10;같은 메일을 보낼까요?">
            <a:extLst xmlns:a="http://schemas.openxmlformats.org/drawingml/2006/main">
              <a:ext uri="{FF2B5EF4-FFF2-40B4-BE49-F238E27FC236}">
                <a16:creationId xmlns:a16="http://schemas.microsoft.com/office/drawing/2014/main" id="{3CD46E6E-361F-487F-B3D6-881F4DF381FF}"/>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홍보팀과 회계팀에</a:t>
            </a:r>
          </a:p>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같은 메일을 보낼까요?</a:t>
            </a:r>
          </a:p>
        </p:txBody>
      </p:sp>
      <p:sp>
        <p:nvSpPr>
          <p:cNvPr id="4" name="14A~D·24·25번에서 대상 확인">
            <a:extLst xmlns:a="http://schemas.openxmlformats.org/drawingml/2006/main">
              <a:ext uri="{FF2B5EF4-FFF2-40B4-BE49-F238E27FC236}">
                <a16:creationId xmlns:a16="http://schemas.microsoft.com/office/drawing/2014/main" id="{0DB75840-F396-46DD-867A-B658D5EA5FC7}"/>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14A~D·24·25번에서 대상 확인</a:t>
            </a:r>
          </a:p>
        </p:txBody>
      </p:sp>
      <p:sp>
        <p:nvSpPr>
          <p:cNvPr id="5" name="부서별 다음 행동을 담아 회신">
            <a:extLst xmlns:a="http://schemas.openxmlformats.org/drawingml/2006/main">
              <a:ext uri="{FF2B5EF4-FFF2-40B4-BE49-F238E27FC236}">
                <a16:creationId xmlns:a16="http://schemas.microsoft.com/office/drawing/2014/main" id="{B301861C-20E4-4B98-AE38-5819BC273A08}"/>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부서별 다음 행동을 담아 회신</a:t>
            </a:r>
          </a:p>
        </p:txBody>
      </p:sp>
      <p:sp>
        <p:nvSpPr>
          <p:cNvPr id="6" name="주차 계산과 수신 범위 대조">
            <a:extLst xmlns:a="http://schemas.openxmlformats.org/drawingml/2006/main">
              <a:ext uri="{FF2B5EF4-FFF2-40B4-BE49-F238E27FC236}">
                <a16:creationId xmlns:a16="http://schemas.microsoft.com/office/drawing/2014/main" id="{D6788D02-DCBF-4E71-BCB4-4DAB9A7BA3DD}"/>
              </a:ext>
            </a:extLst>
          </p:cNvPr>
          <p:cNvSpPr>
            <a:spLocks xmlns:a="http://schemas.openxmlformats.org/drawingml/2006/main" noGrp="1"/>
          </p:cNvSpPr>
          <p:nvPr/>
        </p:nvSpPr>
        <p:spPr>
          <a:xfrm xmlns:a="http://schemas.openxmlformats.org/drawingml/2006/main">
            <a:off x="4019550" y="4733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주차 계산과 수신 범위 대조</a:t>
            </a:r>
          </a:p>
        </p:txBody>
      </p:sp>
      <p:sp>
        <p:nvSpPr>
          <p:cNvPr id="7" name="회신 3개 · 근거 6행 · 공통 사실표">
            <a:extLst xmlns:a="http://schemas.openxmlformats.org/drawingml/2006/main">
              <a:ext uri="{FF2B5EF4-FFF2-40B4-BE49-F238E27FC236}">
                <a16:creationId xmlns:a16="http://schemas.microsoft.com/office/drawing/2014/main" id="{F773B9CD-6681-4084-8A2B-23CD1DD67199}"/>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EBB597"/>
                </a:solidFill>
                <a:latin typeface="Noto Sans KR"/>
                <a:ea typeface="Noto Sans KR"/>
                <a:cs typeface="Noto Sans KR"/>
              </a:defRPr>
            </a:pPr>
            <a:r>
              <a:rPr sz="2325" b="1">
                <a:solidFill>
                  <a:srgbClr val="EBB597"/>
                </a:solidFill>
                <a:latin typeface="Noto Sans KR"/>
                <a:ea typeface="Noto Sans KR"/>
                <a:cs typeface="Noto Sans KR"/>
              </a:rPr>
              <a:t>회신 3개 · 근거 6행 · 공통 사실표</a:t>
            </a:r>
          </a:p>
        </p:txBody>
      </p:sp>
      <p:sp>
        <p:nvSpPr>
          <p:cNvPr id="8" name="선택 실습  15분">
            <a:extLst xmlns:a="http://schemas.openxmlformats.org/drawingml/2006/main">
              <a:ext uri="{FF2B5EF4-FFF2-40B4-BE49-F238E27FC236}">
                <a16:creationId xmlns:a16="http://schemas.microsoft.com/office/drawing/2014/main" id="{0EB1D29A-98AD-4B69-ACB1-0422BBDBBCFF}"/>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선택 실습  15분</a:t>
            </a:r>
          </a:p>
        </p:txBody>
      </p:sp>
      <p:sp>
        <p:nvSpPr>
          <p:cNvPr id="9" name="웹 실습 열기">
            <a:extLst xmlns:a="http://schemas.openxmlformats.org/drawingml/2006/main">
              <a:ext uri="{FF2B5EF4-FFF2-40B4-BE49-F238E27FC236}">
                <a16:creationId xmlns:a16="http://schemas.microsoft.com/office/drawing/2014/main" id="{D65E1CEF-7DDE-4659-A12B-D772D511C052}"/>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3e9e5b4438234995"/>
              </a:rPr>
              <a:t>웹 실습 열기</a:t>
            </a:r>
          </a:p>
        </p:txBody>
      </p:sp>
      <p:sp>
        <p:nvSpPr>
          <p:cNvPr id="10" name="55">
            <a:extLst xmlns:a="http://schemas.openxmlformats.org/drawingml/2006/main">
              <a:ext uri="{FF2B5EF4-FFF2-40B4-BE49-F238E27FC236}">
                <a16:creationId xmlns:a16="http://schemas.microsoft.com/office/drawing/2014/main" id="{52D97CCF-FEE4-4C2A-AA5F-483967710409}"/>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55</a:t>
            </a:r>
          </a:p>
        </p:txBody>
      </p:sp>
    </p:spTree>
    <p:extLst>
      <p:ext uri="{BB962C8B-B14F-4D97-AF65-F5344CB8AC3E}">
        <p14:creationId xmlns:p14="http://schemas.microsoft.com/office/powerpoint/2010/main" val="1389992995"/>
      </p:ext>
    </p:extLst>
  </p:cSld>
</p:sld>
</file>

<file path=ppt/slides/slide56.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11" name="수업 후 선택 실습">
            <a:extLst xmlns:a="http://schemas.openxmlformats.org/drawingml/2006/main">
              <a:ext uri="{FF2B5EF4-FFF2-40B4-BE49-F238E27FC236}">
                <a16:creationId xmlns:a16="http://schemas.microsoft.com/office/drawing/2014/main" id="{8EF9535F-963B-4F7D-8985-A44EDBCE5B46}"/>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수업 후 선택 실습</a:t>
            </a:r>
          </a:p>
        </p:txBody>
      </p:sp>
      <p:sp>
        <p:nvSpPr>
          <p:cNvPr id="2" name="20분">
            <a:extLst xmlns:a="http://schemas.openxmlformats.org/drawingml/2006/main">
              <a:ext uri="{FF2B5EF4-FFF2-40B4-BE49-F238E27FC236}">
                <a16:creationId xmlns:a16="http://schemas.microsoft.com/office/drawing/2014/main" id="{37C933EA-B443-49D2-8404-9CF67BDD8716}"/>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20분</a:t>
            </a:r>
          </a:p>
        </p:txBody>
      </p:sp>
      <p:sp>
        <p:nvSpPr>
          <p:cNvPr id="3" name="응답자가&#10;10명 늘었을까요?">
            <a:extLst xmlns:a="http://schemas.openxmlformats.org/drawingml/2006/main">
              <a:ext uri="{FF2B5EF4-FFF2-40B4-BE49-F238E27FC236}">
                <a16:creationId xmlns:a16="http://schemas.microsoft.com/office/drawing/2014/main" id="{ABFF481A-F714-4935-A6E8-1EA627949527}"/>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응답자가</a:t>
            </a:r>
          </a:p>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10명 늘었을까요?</a:t>
            </a:r>
          </a:p>
        </p:txBody>
      </p:sp>
      <p:sp>
        <p:nvSpPr>
          <p:cNvPr id="4" name="원문 15·26의 승인 기준일 확인">
            <a:extLst xmlns:a="http://schemas.openxmlformats.org/drawingml/2006/main">
              <a:ext uri="{FF2B5EF4-FFF2-40B4-BE49-F238E27FC236}">
                <a16:creationId xmlns:a16="http://schemas.microsoft.com/office/drawing/2014/main" id="{5043C6CD-9D21-4772-A62B-38C2E17804E0}"/>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원문 15·26의 승인 기준일 확인</a:t>
            </a:r>
          </a:p>
        </p:txBody>
      </p:sp>
      <p:sp>
        <p:nvSpPr>
          <p:cNvPr id="5" name="교체 7건과 추가 3건 구분">
            <a:extLst xmlns:a="http://schemas.openxmlformats.org/drawingml/2006/main">
              <a:ext uri="{FF2B5EF4-FFF2-40B4-BE49-F238E27FC236}">
                <a16:creationId xmlns:a16="http://schemas.microsoft.com/office/drawing/2014/main" id="{54B12162-A187-42BB-83D9-EEC3FE40F9BB}"/>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교체 7건과 추가 3건 구분</a:t>
            </a:r>
          </a:p>
        </p:txBody>
      </p:sp>
      <p:sp>
        <p:nvSpPr>
          <p:cNvPr id="6" name="최종 28행의 합계·분모 확인">
            <a:extLst xmlns:a="http://schemas.openxmlformats.org/drawingml/2006/main">
              <a:ext uri="{FF2B5EF4-FFF2-40B4-BE49-F238E27FC236}">
                <a16:creationId xmlns:a16="http://schemas.microsoft.com/office/drawing/2014/main" id="{32CF6962-CCD2-40EC-8CD8-6BC4171D20FA}"/>
              </a:ext>
            </a:extLst>
          </p:cNvPr>
          <p:cNvSpPr>
            <a:spLocks xmlns:a="http://schemas.openxmlformats.org/drawingml/2006/main" noGrp="1"/>
          </p:cNvSpPr>
          <p:nvPr/>
        </p:nvSpPr>
        <p:spPr>
          <a:xfrm xmlns:a="http://schemas.openxmlformats.org/drawingml/2006/main">
            <a:off x="4019550" y="4733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최종 28행의 합계·분모 확인</a:t>
            </a:r>
          </a:p>
        </p:txBody>
      </p:sp>
      <p:sp>
        <p:nvSpPr>
          <p:cNvPr id="7" name="설문 28행 · 지표 13행 · 정정 보고">
            <a:extLst xmlns:a="http://schemas.openxmlformats.org/drawingml/2006/main">
              <a:ext uri="{FF2B5EF4-FFF2-40B4-BE49-F238E27FC236}">
                <a16:creationId xmlns:a16="http://schemas.microsoft.com/office/drawing/2014/main" id="{4286402B-C9E5-4145-85EC-A3C0D7719F0F}"/>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EBB597"/>
                </a:solidFill>
                <a:latin typeface="Noto Sans KR"/>
                <a:ea typeface="Noto Sans KR"/>
                <a:cs typeface="Noto Sans KR"/>
              </a:defRPr>
            </a:pPr>
            <a:r>
              <a:rPr sz="2325" b="1">
                <a:solidFill>
                  <a:srgbClr val="EBB597"/>
                </a:solidFill>
                <a:latin typeface="Noto Sans KR"/>
                <a:ea typeface="Noto Sans KR"/>
                <a:cs typeface="Noto Sans KR"/>
              </a:rPr>
              <a:t>설문 28행 · 지표 13행 · 정정 보고</a:t>
            </a:r>
          </a:p>
        </p:txBody>
      </p:sp>
      <p:sp>
        <p:nvSpPr>
          <p:cNvPr id="8" name="선택 실습  20분">
            <a:extLst xmlns:a="http://schemas.openxmlformats.org/drawingml/2006/main">
              <a:ext uri="{FF2B5EF4-FFF2-40B4-BE49-F238E27FC236}">
                <a16:creationId xmlns:a16="http://schemas.microsoft.com/office/drawing/2014/main" id="{4023D494-5A02-4E2E-A668-F74319A9B96E}"/>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선택 실습  20분</a:t>
            </a:r>
          </a:p>
        </p:txBody>
      </p:sp>
      <p:sp>
        <p:nvSpPr>
          <p:cNvPr id="9" name="웹 실습 열기">
            <a:extLst xmlns:a="http://schemas.openxmlformats.org/drawingml/2006/main">
              <a:ext uri="{FF2B5EF4-FFF2-40B4-BE49-F238E27FC236}">
                <a16:creationId xmlns:a16="http://schemas.microsoft.com/office/drawing/2014/main" id="{81798CAC-3813-4CE5-97E8-D980C6E03B32}"/>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8dfcf4ab8cee48c4"/>
              </a:rPr>
              <a:t>웹 실습 열기</a:t>
            </a:r>
          </a:p>
        </p:txBody>
      </p:sp>
      <p:sp>
        <p:nvSpPr>
          <p:cNvPr id="10" name="56">
            <a:extLst xmlns:a="http://schemas.openxmlformats.org/drawingml/2006/main">
              <a:ext uri="{FF2B5EF4-FFF2-40B4-BE49-F238E27FC236}">
                <a16:creationId xmlns:a16="http://schemas.microsoft.com/office/drawing/2014/main" id="{1D6FD1C3-9D54-426F-830B-0355010867B8}"/>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56</a:t>
            </a:r>
          </a:p>
        </p:txBody>
      </p:sp>
    </p:spTree>
    <p:extLst>
      <p:ext uri="{BB962C8B-B14F-4D97-AF65-F5344CB8AC3E}">
        <p14:creationId xmlns:p14="http://schemas.microsoft.com/office/powerpoint/2010/main" val="661243712"/>
      </p:ext>
    </p:extLst>
  </p:cSld>
</p:sld>
</file>

<file path=ppt/slides/slide57.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11" name="수업 후 선택 실습">
            <a:extLst xmlns:a="http://schemas.openxmlformats.org/drawingml/2006/main">
              <a:ext uri="{FF2B5EF4-FFF2-40B4-BE49-F238E27FC236}">
                <a16:creationId xmlns:a16="http://schemas.microsoft.com/office/drawing/2014/main" id="{908A4E3E-3C39-4C3D-BC87-1541028BED10}"/>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수업 후 선택 실습</a:t>
            </a:r>
          </a:p>
        </p:txBody>
      </p:sp>
      <p:sp>
        <p:nvSpPr>
          <p:cNvPr id="2" name="20분">
            <a:extLst xmlns:a="http://schemas.openxmlformats.org/drawingml/2006/main">
              <a:ext uri="{FF2B5EF4-FFF2-40B4-BE49-F238E27FC236}">
                <a16:creationId xmlns:a16="http://schemas.microsoft.com/office/drawing/2014/main" id="{EF9C696E-57A1-4A41-A22A-50A4C3B6C0E3}"/>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20분</a:t>
            </a:r>
          </a:p>
        </p:txBody>
      </p:sp>
      <p:sp>
        <p:nvSpPr>
          <p:cNvPr id="3" name="세 문서가&#10;같은 말을 하나요?">
            <a:extLst xmlns:a="http://schemas.openxmlformats.org/drawingml/2006/main">
              <a:ext uri="{FF2B5EF4-FFF2-40B4-BE49-F238E27FC236}">
                <a16:creationId xmlns:a16="http://schemas.microsoft.com/office/drawing/2014/main" id="{EC7669AB-E8F0-494C-9B79-51CCACD3382A}"/>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세 문서가</a:t>
            </a:r>
          </a:p>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같은 말을 하나요?</a:t>
            </a:r>
          </a:p>
        </p:txBody>
      </p:sp>
      <p:sp>
        <p:nvSpPr>
          <p:cNvPr id="4" name="원문 15·26·27과 초안 대조">
            <a:extLst xmlns:a="http://schemas.openxmlformats.org/drawingml/2006/main">
              <a:ext uri="{FF2B5EF4-FFF2-40B4-BE49-F238E27FC236}">
                <a16:creationId xmlns:a16="http://schemas.microsoft.com/office/drawing/2014/main" id="{0539A7AE-B247-452C-B29A-FCA0AB29AC33}"/>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원문 15·26·27과 초안 대조</a:t>
            </a:r>
          </a:p>
        </p:txBody>
      </p:sp>
      <p:sp>
        <p:nvSpPr>
          <p:cNvPr id="5" name="보고서·메일·업무표 함께 수정">
            <a:extLst xmlns:a="http://schemas.openxmlformats.org/drawingml/2006/main">
              <a:ext uri="{FF2B5EF4-FFF2-40B4-BE49-F238E27FC236}">
                <a16:creationId xmlns:a16="http://schemas.microsoft.com/office/drawing/2014/main" id="{B70F1092-FD61-4EAD-9B72-9D737D013F7B}"/>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보고서·메일·업무표 함께 수정</a:t>
            </a:r>
          </a:p>
        </p:txBody>
      </p:sp>
      <p:sp>
        <p:nvSpPr>
          <p:cNvPr id="6" name="수치·기준일·결정 상태 대조">
            <a:extLst xmlns:a="http://schemas.openxmlformats.org/drawingml/2006/main">
              <a:ext uri="{FF2B5EF4-FFF2-40B4-BE49-F238E27FC236}">
                <a16:creationId xmlns:a16="http://schemas.microsoft.com/office/drawing/2014/main" id="{66432028-60AA-4CAF-917E-583E5D2A45C2}"/>
              </a:ext>
            </a:extLst>
          </p:cNvPr>
          <p:cNvSpPr>
            <a:spLocks xmlns:a="http://schemas.openxmlformats.org/drawingml/2006/main" noGrp="1"/>
          </p:cNvSpPr>
          <p:nvPr/>
        </p:nvSpPr>
        <p:spPr>
          <a:xfrm xmlns:a="http://schemas.openxmlformats.org/drawingml/2006/main">
            <a:off x="4019550" y="4733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수치·기준일·결정 상태 대조</a:t>
            </a:r>
          </a:p>
        </p:txBody>
      </p:sp>
      <p:sp>
        <p:nvSpPr>
          <p:cNvPr id="7" name="보고서 · 전달 메일 · 후속 업무 3행">
            <a:extLst xmlns:a="http://schemas.openxmlformats.org/drawingml/2006/main">
              <a:ext uri="{FF2B5EF4-FFF2-40B4-BE49-F238E27FC236}">
                <a16:creationId xmlns:a16="http://schemas.microsoft.com/office/drawing/2014/main" id="{306E3BAA-B1B2-4690-B4C4-591DBBA9A12A}"/>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EBB597"/>
                </a:solidFill>
                <a:latin typeface="Noto Sans KR"/>
                <a:ea typeface="Noto Sans KR"/>
                <a:cs typeface="Noto Sans KR"/>
              </a:defRPr>
            </a:pPr>
            <a:r>
              <a:rPr sz="2325" b="1">
                <a:solidFill>
                  <a:srgbClr val="EBB597"/>
                </a:solidFill>
                <a:latin typeface="Noto Sans KR"/>
                <a:ea typeface="Noto Sans KR"/>
                <a:cs typeface="Noto Sans KR"/>
              </a:rPr>
              <a:t>보고서 · 전달 메일 · 후속 업무 3행</a:t>
            </a:r>
          </a:p>
        </p:txBody>
      </p:sp>
      <p:sp>
        <p:nvSpPr>
          <p:cNvPr id="8" name="선택 실습  20분">
            <a:extLst xmlns:a="http://schemas.openxmlformats.org/drawingml/2006/main">
              <a:ext uri="{FF2B5EF4-FFF2-40B4-BE49-F238E27FC236}">
                <a16:creationId xmlns:a16="http://schemas.microsoft.com/office/drawing/2014/main" id="{A6864ABE-9660-4415-8F65-A1FB2EA9A2D5}"/>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선택 실습  20분</a:t>
            </a:r>
          </a:p>
        </p:txBody>
      </p:sp>
      <p:sp>
        <p:nvSpPr>
          <p:cNvPr id="9" name="웹 실습 열기">
            <a:extLst xmlns:a="http://schemas.openxmlformats.org/drawingml/2006/main">
              <a:ext uri="{FF2B5EF4-FFF2-40B4-BE49-F238E27FC236}">
                <a16:creationId xmlns:a16="http://schemas.microsoft.com/office/drawing/2014/main" id="{6A3B9F38-981A-43A3-9AFE-8A69F5B3AED1}"/>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51215dd869a74056"/>
              </a:rPr>
              <a:t>웹 실습 열기</a:t>
            </a:r>
          </a:p>
        </p:txBody>
      </p:sp>
      <p:sp>
        <p:nvSpPr>
          <p:cNvPr id="10" name="57">
            <a:extLst xmlns:a="http://schemas.openxmlformats.org/drawingml/2006/main">
              <a:ext uri="{FF2B5EF4-FFF2-40B4-BE49-F238E27FC236}">
                <a16:creationId xmlns:a16="http://schemas.microsoft.com/office/drawing/2014/main" id="{F05A0EB5-F053-4A88-A1A1-5F153E467750}"/>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57</a:t>
            </a:r>
          </a:p>
        </p:txBody>
      </p:sp>
    </p:spTree>
    <p:extLst>
      <p:ext uri="{BB962C8B-B14F-4D97-AF65-F5344CB8AC3E}">
        <p14:creationId xmlns:p14="http://schemas.microsoft.com/office/powerpoint/2010/main" val="11611370"/>
      </p:ext>
    </p:extLst>
  </p:cSld>
</p:sld>
</file>

<file path=ppt/slides/slide58.xml><?xml version="1.0" encoding="utf-8"?>
<p:sld xmlns:p="http://schemas.openxmlformats.org/presentationml/2006/main">
  <p:cSld>
    <p:bg>
      <p:bgPr>
        <a:solidFill xmlns:a="http://schemas.openxmlformats.org/drawingml/2006/main">
          <a:srgbClr val="202921"/>
        </a:solidFill>
      </p:bgPr>
    </p:bg>
    <p:spTree>
      <p:nvGrpSpPr>
        <p:cNvPr id="1" name=""/>
        <p:cNvGrpSpPr/>
        <p:nvPr/>
      </p:nvGrpSpPr>
      <p:grpSpPr>
        <a:xfrm xmlns:a="http://schemas.openxmlformats.org/drawingml/2006/main"/>
      </p:grpSpPr>
      <p:sp>
        <p:nvSpPr>
          <p:cNvPr id="11" name="수업 후 선택 실습">
            <a:extLst xmlns:a="http://schemas.openxmlformats.org/drawingml/2006/main">
              <a:ext uri="{FF2B5EF4-FFF2-40B4-BE49-F238E27FC236}">
                <a16:creationId xmlns:a16="http://schemas.microsoft.com/office/drawing/2014/main" id="{507264E4-B734-4D25-AC04-0F49703AEEBC}"/>
              </a:ext>
            </a:extLst>
          </p:cNvPr>
          <p:cNvSpPr>
            <a:spLocks xmlns:a="http://schemas.openxmlformats.org/drawingml/2006/main" noGrp="1"/>
          </p:cNvSpPr>
          <p:nvPr/>
        </p:nvSpPr>
        <p:spPr>
          <a:xfrm xmlns:a="http://schemas.openxmlformats.org/drawingml/2006/main">
            <a:off x="628650" y="466725"/>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1">
                <a:solidFill>
                  <a:srgbClr val="B5C1AF"/>
                </a:solidFill>
                <a:latin typeface="Noto Sans KR"/>
                <a:ea typeface="Noto Sans KR"/>
                <a:cs typeface="Noto Sans KR"/>
              </a:defRPr>
            </a:pPr>
            <a:r>
              <a:rPr sz="1875" b="1">
                <a:solidFill>
                  <a:srgbClr val="B5C1AF"/>
                </a:solidFill>
                <a:latin typeface="Noto Sans KR"/>
                <a:ea typeface="Noto Sans KR"/>
                <a:cs typeface="Noto Sans KR"/>
              </a:rPr>
              <a:t>수업 후 선택 실습</a:t>
            </a:r>
          </a:p>
        </p:txBody>
      </p:sp>
      <p:sp>
        <p:nvSpPr>
          <p:cNvPr id="2" name="25분">
            <a:extLst xmlns:a="http://schemas.openxmlformats.org/drawingml/2006/main">
              <a:ext uri="{FF2B5EF4-FFF2-40B4-BE49-F238E27FC236}">
                <a16:creationId xmlns:a16="http://schemas.microsoft.com/office/drawing/2014/main" id="{906F4F99-707B-4AF9-B33D-0246A5A2EDAE}"/>
              </a:ext>
            </a:extLst>
          </p:cNvPr>
          <p:cNvSpPr>
            <a:spLocks xmlns:a="http://schemas.openxmlformats.org/drawingml/2006/main" noGrp="1"/>
          </p:cNvSpPr>
          <p:nvPr/>
        </p:nvSpPr>
        <p:spPr>
          <a:xfrm xmlns:a="http://schemas.openxmlformats.org/drawingml/2006/main">
            <a:off x="590550" y="106680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7425" b="1">
                <a:solidFill>
                  <a:srgbClr val="EA5936"/>
                </a:solidFill>
                <a:latin typeface="Noto Sans KR"/>
                <a:ea typeface="Noto Sans KR"/>
                <a:cs typeface="Noto Sans KR"/>
              </a:defRPr>
            </a:pPr>
            <a:r>
              <a:rPr sz="7425" b="1">
                <a:solidFill>
                  <a:srgbClr val="EA5936"/>
                </a:solidFill>
                <a:latin typeface="Noto Sans KR"/>
                <a:ea typeface="Noto Sans KR"/>
                <a:cs typeface="Noto Sans KR"/>
              </a:rPr>
              <a:t>25분</a:t>
            </a:r>
          </a:p>
        </p:txBody>
      </p:sp>
      <p:sp>
        <p:nvSpPr>
          <p:cNvPr id="3" name="앞 행사의 조건을&#10;가져오지 않았나요?">
            <a:extLst xmlns:a="http://schemas.openxmlformats.org/drawingml/2006/main">
              <a:ext uri="{FF2B5EF4-FFF2-40B4-BE49-F238E27FC236}">
                <a16:creationId xmlns:a16="http://schemas.microsoft.com/office/drawing/2014/main" id="{31C5A520-B5EB-4986-B171-0B4687438886}"/>
              </a:ext>
            </a:extLst>
          </p:cNvPr>
          <p:cNvSpPr>
            <a:spLocks xmlns:a="http://schemas.openxmlformats.org/drawingml/2006/main" noGrp="1"/>
          </p:cNvSpPr>
          <p:nvPr/>
        </p:nvSpPr>
        <p:spPr>
          <a:xfrm xmlns:a="http://schemas.openxmlformats.org/drawingml/2006/main">
            <a:off x="3981450" y="1095375"/>
            <a:ext cx="75723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앞 행사의 조건을</a:t>
            </a:r>
          </a:p>
          <a:p xmlns:a="http://schemas.openxmlformats.org/drawingml/2006/main">
            <a:pPr algn="l">
              <a:lnSpc>
                <a:spcPct val="112000"/>
              </a:lnSpc>
              <a:buNone/>
              <a:defRPr sz="4275" b="1">
                <a:solidFill>
                  <a:srgbClr val="F4F1E9"/>
                </a:solidFill>
                <a:latin typeface="Noto Sans KR"/>
                <a:ea typeface="Noto Sans KR"/>
                <a:cs typeface="Noto Sans KR"/>
              </a:defRPr>
            </a:pPr>
            <a:r>
              <a:rPr sz="4275" b="1">
                <a:solidFill>
                  <a:srgbClr val="F4F1E9"/>
                </a:solidFill>
                <a:latin typeface="Noto Sans KR"/>
                <a:ea typeface="Noto Sans KR"/>
                <a:cs typeface="Noto Sans KR"/>
              </a:rPr>
              <a:t>가져오지 않았나요?</a:t>
            </a:r>
          </a:p>
        </p:txBody>
      </p:sp>
      <p:sp>
        <p:nvSpPr>
          <p:cNvPr id="4" name="Gemini 7분: 업무표와 회신">
            <a:extLst xmlns:a="http://schemas.openxmlformats.org/drawingml/2006/main">
              <a:ext uri="{FF2B5EF4-FFF2-40B4-BE49-F238E27FC236}">
                <a16:creationId xmlns:a16="http://schemas.microsoft.com/office/drawing/2014/main" id="{831E37B7-E2AC-47D3-BBAC-63C38625C905}"/>
              </a:ext>
            </a:extLst>
          </p:cNvPr>
          <p:cNvSpPr>
            <a:spLocks xmlns:a="http://schemas.openxmlformats.org/drawingml/2006/main" noGrp="1"/>
          </p:cNvSpPr>
          <p:nvPr/>
        </p:nvSpPr>
        <p:spPr>
          <a:xfrm xmlns:a="http://schemas.openxmlformats.org/drawingml/2006/main">
            <a:off x="4019550" y="3209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Gemini 7분: 업무표와 회신</a:t>
            </a:r>
          </a:p>
        </p:txBody>
      </p:sp>
      <p:sp>
        <p:nvSpPr>
          <p:cNvPr id="5" name="NotebookLM 7분: FAQ·인용">
            <a:extLst xmlns:a="http://schemas.openxmlformats.org/drawingml/2006/main">
              <a:ext uri="{FF2B5EF4-FFF2-40B4-BE49-F238E27FC236}">
                <a16:creationId xmlns:a16="http://schemas.microsoft.com/office/drawing/2014/main" id="{60D4384D-137E-4B02-9B36-2898D6BBA7F1}"/>
              </a:ext>
            </a:extLst>
          </p:cNvPr>
          <p:cNvSpPr>
            <a:spLocks xmlns:a="http://schemas.openxmlformats.org/drawingml/2006/main" noGrp="1"/>
          </p:cNvSpPr>
          <p:nvPr/>
        </p:nvSpPr>
        <p:spPr>
          <a:xfrm xmlns:a="http://schemas.openxmlformats.org/drawingml/2006/main">
            <a:off x="4019550" y="3971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NotebookLM 7분: FAQ·인용</a:t>
            </a:r>
          </a:p>
        </p:txBody>
      </p:sp>
      <p:sp>
        <p:nvSpPr>
          <p:cNvPr id="6" name="Claude 8분, 마지막 대조 3분">
            <a:extLst xmlns:a="http://schemas.openxmlformats.org/drawingml/2006/main">
              <a:ext uri="{FF2B5EF4-FFF2-40B4-BE49-F238E27FC236}">
                <a16:creationId xmlns:a16="http://schemas.microsoft.com/office/drawing/2014/main" id="{F1031E0F-D525-4ED4-8EF8-3CB6CBB5853E}"/>
              </a:ext>
            </a:extLst>
          </p:cNvPr>
          <p:cNvSpPr>
            <a:spLocks xmlns:a="http://schemas.openxmlformats.org/drawingml/2006/main" noGrp="1"/>
          </p:cNvSpPr>
          <p:nvPr/>
        </p:nvSpPr>
        <p:spPr>
          <a:xfrm xmlns:a="http://schemas.openxmlformats.org/drawingml/2006/main">
            <a:off x="4019550" y="4733925"/>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0">
                <a:solidFill>
                  <a:srgbClr val="F4F1E9"/>
                </a:solidFill>
                <a:latin typeface="Noto Sans KR"/>
                <a:ea typeface="Noto Sans KR"/>
                <a:cs typeface="Noto Sans KR"/>
              </a:defRPr>
            </a:pPr>
            <a:r>
              <a:rPr sz="2400" b="0">
                <a:solidFill>
                  <a:srgbClr val="F4F1E9"/>
                </a:solidFill>
                <a:latin typeface="Noto Sans KR"/>
                <a:ea typeface="Noto Sans KR"/>
                <a:cs typeface="Noto Sans KR"/>
              </a:rPr>
              <a:t>Claude 8분, 마지막 대조 3분</a:t>
            </a:r>
          </a:p>
        </p:txBody>
      </p:sp>
      <p:sp>
        <p:nvSpPr>
          <p:cNvPr id="7" name="업무표·회신 · FAQ · 준비 보고·예산표">
            <a:extLst xmlns:a="http://schemas.openxmlformats.org/drawingml/2006/main">
              <a:ext uri="{FF2B5EF4-FFF2-40B4-BE49-F238E27FC236}">
                <a16:creationId xmlns:a16="http://schemas.microsoft.com/office/drawing/2014/main" id="{2E9F10C2-D57B-49E1-9C29-681DF727B9B7}"/>
              </a:ext>
            </a:extLst>
          </p:cNvPr>
          <p:cNvSpPr>
            <a:spLocks xmlns:a="http://schemas.openxmlformats.org/drawingml/2006/main" noGrp="1"/>
          </p:cNvSpPr>
          <p:nvPr/>
        </p:nvSpPr>
        <p:spPr>
          <a:xfrm xmlns:a="http://schemas.openxmlformats.org/drawingml/2006/main">
            <a:off x="638175" y="55149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EBB597"/>
                </a:solidFill>
                <a:latin typeface="Noto Sans KR"/>
                <a:ea typeface="Noto Sans KR"/>
                <a:cs typeface="Noto Sans KR"/>
              </a:defRPr>
            </a:pPr>
            <a:r>
              <a:rPr sz="2325" b="1">
                <a:solidFill>
                  <a:srgbClr val="EBB597"/>
                </a:solidFill>
                <a:latin typeface="Noto Sans KR"/>
                <a:ea typeface="Noto Sans KR"/>
                <a:cs typeface="Noto Sans KR"/>
              </a:rPr>
              <a:t>업무표·회신 · FAQ · 준비 보고·예산표</a:t>
            </a:r>
          </a:p>
        </p:txBody>
      </p:sp>
      <p:sp>
        <p:nvSpPr>
          <p:cNvPr id="8" name="선택 실습  25분">
            <a:extLst xmlns:a="http://schemas.openxmlformats.org/drawingml/2006/main">
              <a:ext uri="{FF2B5EF4-FFF2-40B4-BE49-F238E27FC236}">
                <a16:creationId xmlns:a16="http://schemas.microsoft.com/office/drawing/2014/main" id="{3E1F285E-59C5-4C2C-BC69-8A4FB64D280C}"/>
              </a:ext>
            </a:extLst>
          </p:cNvPr>
          <p:cNvSpPr>
            <a:spLocks xmlns:a="http://schemas.openxmlformats.org/drawingml/2006/main" noGrp="1"/>
          </p:cNvSpPr>
          <p:nvPr/>
        </p:nvSpPr>
        <p:spPr>
          <a:xfrm xmlns:a="http://schemas.openxmlformats.org/drawingml/2006/main">
            <a:off x="628650" y="6429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선택 실습  25분</a:t>
            </a:r>
          </a:p>
        </p:txBody>
      </p:sp>
      <p:sp>
        <p:nvSpPr>
          <p:cNvPr id="9" name="웹 실습 열기">
            <a:extLst xmlns:a="http://schemas.openxmlformats.org/drawingml/2006/main">
              <a:ext uri="{FF2B5EF4-FFF2-40B4-BE49-F238E27FC236}">
                <a16:creationId xmlns:a16="http://schemas.microsoft.com/office/drawing/2014/main" id="{4965AA88-29E9-48DA-B396-5D53B22A9DFE}"/>
              </a:ext>
            </a:extLst>
          </p:cNvPr>
          <p:cNvSpPr>
            <a:spLocks xmlns:a="http://schemas.openxmlformats.org/drawingml/2006/main" noGrp="1"/>
          </p:cNvSpPr>
          <p:nvPr/>
        </p:nvSpPr>
        <p:spPr>
          <a:xfrm xmlns:a="http://schemas.openxmlformats.org/drawingml/2006/main">
            <a:off x="8763000" y="640080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725" b="1">
                <a:solidFill>
                  <a:srgbClr val="F4F1E9"/>
                </a:solidFill>
                <a:latin typeface="Noto Sans KR"/>
                <a:ea typeface="Noto Sans KR"/>
                <a:cs typeface="Noto Sans KR"/>
              </a:defRPr>
            </a:pPr>
            <a:r>
              <a:rPr sz="1725" b="1">
                <a:solidFill>
                  <a:srgbClr val="F4F1E9"/>
                </a:solidFill>
                <a:latin typeface="Noto Sans KR"/>
                <a:ea typeface="Noto Sans KR"/>
                <a:cs typeface="Noto Sans KR"/>
                <a:hlinkClick xmlns:r="http://schemas.openxmlformats.org/officeDocument/2006/relationships" r:id="R3f171b5cafa74485"/>
              </a:rPr>
              <a:t>웹 실습 열기</a:t>
            </a:r>
          </a:p>
        </p:txBody>
      </p:sp>
      <p:sp>
        <p:nvSpPr>
          <p:cNvPr id="10" name="58">
            <a:extLst xmlns:a="http://schemas.openxmlformats.org/drawingml/2006/main">
              <a:ext uri="{FF2B5EF4-FFF2-40B4-BE49-F238E27FC236}">
                <a16:creationId xmlns:a16="http://schemas.microsoft.com/office/drawing/2014/main" id="{560688DC-36E9-422B-9888-D1BA02D4D1F2}"/>
              </a:ext>
            </a:extLst>
          </p:cNvPr>
          <p:cNvSpPr>
            <a:spLocks xmlns:a="http://schemas.openxmlformats.org/drawingml/2006/main" noGrp="1"/>
          </p:cNvSpPr>
          <p:nvPr/>
        </p:nvSpPr>
        <p:spPr>
          <a:xfrm xmlns:a="http://schemas.openxmlformats.org/drawingml/2006/main">
            <a:off x="11144250" y="64293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C1C9BE"/>
                </a:solidFill>
                <a:latin typeface="Noto Sans KR"/>
                <a:ea typeface="Noto Sans KR"/>
                <a:cs typeface="Noto Sans KR"/>
              </a:defRPr>
            </a:pPr>
            <a:r>
              <a:rPr sz="1500" b="0">
                <a:solidFill>
                  <a:srgbClr val="C1C9BE"/>
                </a:solidFill>
                <a:latin typeface="Noto Sans KR"/>
                <a:ea typeface="Noto Sans KR"/>
                <a:cs typeface="Noto Sans KR"/>
              </a:rPr>
              <a:t>58</a:t>
            </a:r>
          </a:p>
        </p:txBody>
      </p:sp>
    </p:spTree>
    <p:extLst>
      <p:ext uri="{BB962C8B-B14F-4D97-AF65-F5344CB8AC3E}">
        <p14:creationId xmlns:p14="http://schemas.microsoft.com/office/powerpoint/2010/main" val="4719555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2026-09-30T14:22:42.6840000Z</dcterms:created>
  <dcterms:modified xsi:type="dcterms:W3CDTF">2026-09-30T14:22:42.6840000Z</dcterms:modified>
</coreProperties>
</file>