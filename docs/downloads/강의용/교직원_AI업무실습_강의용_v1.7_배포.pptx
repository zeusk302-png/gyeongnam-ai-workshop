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66fd2bd84b4587" /><Relationship Type="http://schemas.openxmlformats.org/officeDocument/2006/relationships/extended-properties" Target="/docProps/app.xml" Id="R4bf12b9de8c446dd" /><Relationship Type="http://schemas.openxmlformats.org/officeDocument/2006/relationships/officeDocument" Target="/ppt/presentation.xml" Id="R8752e1ecb97543b3" /></Relationships>
</file>

<file path=ppt/presentation.xml><?xml version="1.0" encoding="utf-8"?>
<p:presentation xmlns:p="http://schemas.openxmlformats.org/presentationml/2006/main">
  <p:sldMasterIdLst>
    <p:sldMasterId xmlns:r="http://schemas.openxmlformats.org/officeDocument/2006/relationships" id="2147483648" r:id="R3113e6df72b94299"/>
  </p:sldMasterIdLst>
  <p:notesMasterIdLst>
    <p:notesMasterId xmlns:r="http://schemas.openxmlformats.org/officeDocument/2006/relationships" r:id="R2cddff6fa98f4120"/>
  </p:notesMasterIdLst>
  <p:sldIdLst>
    <p:sldId xmlns:r="http://schemas.openxmlformats.org/officeDocument/2006/relationships" id="256" r:id="Rff3542cccefb47ba"/>
    <p:sldId xmlns:r="http://schemas.openxmlformats.org/officeDocument/2006/relationships" id="257" r:id="Rae18bcf0bc42402c"/>
    <p:sldId xmlns:r="http://schemas.openxmlformats.org/officeDocument/2006/relationships" id="258" r:id="R285a1c06804e45a0"/>
    <p:sldId xmlns:r="http://schemas.openxmlformats.org/officeDocument/2006/relationships" id="259" r:id="R38c1057c51364065"/>
    <p:sldId xmlns:r="http://schemas.openxmlformats.org/officeDocument/2006/relationships" id="260" r:id="R0e38a1429e344126"/>
    <p:sldId xmlns:r="http://schemas.openxmlformats.org/officeDocument/2006/relationships" id="261" r:id="Rb65ad32a998f4d58"/>
    <p:sldId xmlns:r="http://schemas.openxmlformats.org/officeDocument/2006/relationships" id="262" r:id="Ra36f18b2e5fa4ea6"/>
    <p:sldId xmlns:r="http://schemas.openxmlformats.org/officeDocument/2006/relationships" id="263" r:id="R8ffd923598e8410f"/>
    <p:sldId xmlns:r="http://schemas.openxmlformats.org/officeDocument/2006/relationships" id="264" r:id="R344479622cfe4edf"/>
    <p:sldId xmlns:r="http://schemas.openxmlformats.org/officeDocument/2006/relationships" id="265" r:id="Rb93a01e0929c4db6"/>
    <p:sldId xmlns:r="http://schemas.openxmlformats.org/officeDocument/2006/relationships" id="266" r:id="Rada2dfefc9884ad4"/>
    <p:sldId xmlns:r="http://schemas.openxmlformats.org/officeDocument/2006/relationships" id="267" r:id="R9c847a5d4de54c45"/>
    <p:sldId xmlns:r="http://schemas.openxmlformats.org/officeDocument/2006/relationships" id="268" r:id="Rb29034b02a0f42e6"/>
    <p:sldId xmlns:r="http://schemas.openxmlformats.org/officeDocument/2006/relationships" id="269" r:id="R6f3b6dfba6cd46b8"/>
    <p:sldId xmlns:r="http://schemas.openxmlformats.org/officeDocument/2006/relationships" id="270" r:id="R522602232b6e42a3"/>
    <p:sldId xmlns:r="http://schemas.openxmlformats.org/officeDocument/2006/relationships" id="271" r:id="Rdedd655ba1a845d9"/>
    <p:sldId xmlns:r="http://schemas.openxmlformats.org/officeDocument/2006/relationships" id="272" r:id="R9ce409ab2b3745c9"/>
    <p:sldId xmlns:r="http://schemas.openxmlformats.org/officeDocument/2006/relationships" id="273" r:id="R85aff62b8e3f4c8b"/>
    <p:sldId xmlns:r="http://schemas.openxmlformats.org/officeDocument/2006/relationships" id="274" r:id="R922d5c74b6bf4ae7"/>
    <p:sldId xmlns:r="http://schemas.openxmlformats.org/officeDocument/2006/relationships" id="275" r:id="R9cfbb3271c864975"/>
    <p:sldId xmlns:r="http://schemas.openxmlformats.org/officeDocument/2006/relationships" id="276" r:id="R45aa9edac6be4310"/>
    <p:sldId xmlns:r="http://schemas.openxmlformats.org/officeDocument/2006/relationships" id="277" r:id="Rd586187adba645cb"/>
    <p:sldId xmlns:r="http://schemas.openxmlformats.org/officeDocument/2006/relationships" id="278" r:id="R3b83b72c830d4012"/>
    <p:sldId xmlns:r="http://schemas.openxmlformats.org/officeDocument/2006/relationships" id="279" r:id="R3a10ec7128dc4082"/>
    <p:sldId xmlns:r="http://schemas.openxmlformats.org/officeDocument/2006/relationships" id="280" r:id="R29d011c5cdf44919"/>
    <p:sldId xmlns:r="http://schemas.openxmlformats.org/officeDocument/2006/relationships" id="281" r:id="R9d65bb2e00ff452d"/>
    <p:sldId xmlns:r="http://schemas.openxmlformats.org/officeDocument/2006/relationships" id="282" r:id="R1ebd79869c73487a"/>
    <p:sldId xmlns:r="http://schemas.openxmlformats.org/officeDocument/2006/relationships" id="283" r:id="R365b7c515c394f98"/>
    <p:sldId xmlns:r="http://schemas.openxmlformats.org/officeDocument/2006/relationships" id="284" r:id="R874434e9427f48d3"/>
    <p:sldId xmlns:r="http://schemas.openxmlformats.org/officeDocument/2006/relationships" id="285" r:id="R998f2228d023495e"/>
    <p:sldId xmlns:r="http://schemas.openxmlformats.org/officeDocument/2006/relationships" id="286" r:id="R2c2751bb67a74a6d"/>
    <p:sldId xmlns:r="http://schemas.openxmlformats.org/officeDocument/2006/relationships" id="287" r:id="R6631389aac8d4af4"/>
    <p:sldId xmlns:r="http://schemas.openxmlformats.org/officeDocument/2006/relationships" id="288" r:id="R615c8ec2113d4501"/>
    <p:sldId xmlns:r="http://schemas.openxmlformats.org/officeDocument/2006/relationships" id="289" r:id="R77e2c02e56814b82"/>
    <p:sldId xmlns:r="http://schemas.openxmlformats.org/officeDocument/2006/relationships" id="290" r:id="R9dd2d643b6ae4003"/>
    <p:sldId xmlns:r="http://schemas.openxmlformats.org/officeDocument/2006/relationships" id="291" r:id="R354e82e1c23447c3"/>
    <p:sldId xmlns:r="http://schemas.openxmlformats.org/officeDocument/2006/relationships" id="292" r:id="R6e3e9d0ea7ac4089"/>
    <p:sldId xmlns:r="http://schemas.openxmlformats.org/officeDocument/2006/relationships" id="293" r:id="R1d7820ba92934235"/>
    <p:sldId xmlns:r="http://schemas.openxmlformats.org/officeDocument/2006/relationships" id="294" r:id="Rfaeed06be46d488a"/>
    <p:sldId xmlns:r="http://schemas.openxmlformats.org/officeDocument/2006/relationships" id="295" r:id="Rbee0a47eb4874635"/>
    <p:sldId xmlns:r="http://schemas.openxmlformats.org/officeDocument/2006/relationships" id="296" r:id="Rb2b880380b324418"/>
    <p:sldId xmlns:r="http://schemas.openxmlformats.org/officeDocument/2006/relationships" id="297" r:id="Rf8f58e05db4648e3"/>
    <p:sldId xmlns:r="http://schemas.openxmlformats.org/officeDocument/2006/relationships" id="298" r:id="R66a04e1e04874c33"/>
    <p:sldId xmlns:r="http://schemas.openxmlformats.org/officeDocument/2006/relationships" id="299" r:id="R400afb53ccbb4b05"/>
    <p:sldId xmlns:r="http://schemas.openxmlformats.org/officeDocument/2006/relationships" id="300" r:id="R16748a0e6dd34659"/>
    <p:sldId xmlns:r="http://schemas.openxmlformats.org/officeDocument/2006/relationships" id="301" r:id="R8d114a7025d44fbe"/>
    <p:sldId xmlns:r="http://schemas.openxmlformats.org/officeDocument/2006/relationships" id="302" r:id="R70694a2d4f294ed2"/>
    <p:sldId xmlns:r="http://schemas.openxmlformats.org/officeDocument/2006/relationships" id="303" r:id="R1064b29d6d60441d"/>
    <p:sldId xmlns:r="http://schemas.openxmlformats.org/officeDocument/2006/relationships" id="304" r:id="R02617e040bb44890"/>
    <p:sldId xmlns:r="http://schemas.openxmlformats.org/officeDocument/2006/relationships" id="305" r:id="Rdeee97c53ef446af"/>
    <p:sldId xmlns:r="http://schemas.openxmlformats.org/officeDocument/2006/relationships" id="306" r:id="Rfac9918f8ce945ad"/>
    <p:sldId xmlns:r="http://schemas.openxmlformats.org/officeDocument/2006/relationships" id="307" r:id="R77eab577a5dc4896"/>
    <p:sldId xmlns:r="http://schemas.openxmlformats.org/officeDocument/2006/relationships" id="308" r:id="R98ff68a48b9a4992"/>
    <p:sldId xmlns:r="http://schemas.openxmlformats.org/officeDocument/2006/relationships" id="309" r:id="R5a6a1240bff0463b"/>
    <p:sldId xmlns:r="http://schemas.openxmlformats.org/officeDocument/2006/relationships" id="310" r:id="R9cac7b0306124183"/>
    <p:sldId xmlns:r="http://schemas.openxmlformats.org/officeDocument/2006/relationships" id="311" r:id="R733d54181c064348"/>
    <p:sldId xmlns:r="http://schemas.openxmlformats.org/officeDocument/2006/relationships" id="312" r:id="Rdb78eff6734f4ddd"/>
    <p:sldId xmlns:r="http://schemas.openxmlformats.org/officeDocument/2006/relationships" id="313" r:id="R3a0cae03a94844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ca12159e1b4b38" /><Relationship Type="http://schemas.openxmlformats.org/officeDocument/2006/relationships/slideMaster" Target="/ppt/slideMasters/slideMaster1.xml" Id="R3113e6df72b94299" /><Relationship Type="http://schemas.openxmlformats.org/officeDocument/2006/relationships/notesMaster" Target="/ppt/notesMasters/notesMaster1.xml" Id="R2cddff6fa98f4120" /><Relationship Type="http://schemas.openxmlformats.org/officeDocument/2006/relationships/presProps" Target="/ppt/presProps.xml" Id="Rb8f59b3d23524609" /><Relationship Type="http://schemas.openxmlformats.org/officeDocument/2006/relationships/tableStyles" Target="/ppt/tableStyles.xml" Id="R1fa9c882f6794afe" /><Relationship Type="http://schemas.openxmlformats.org/officeDocument/2006/relationships/slide" Target="/ppt/slides/slide1.xml" Id="Rff3542cccefb47ba" /><Relationship Type="http://schemas.openxmlformats.org/officeDocument/2006/relationships/slide" Target="/ppt/slides/slide2.xml" Id="Rae18bcf0bc42402c" /><Relationship Type="http://schemas.openxmlformats.org/officeDocument/2006/relationships/slide" Target="/ppt/slides/slide3.xml" Id="R285a1c06804e45a0" /><Relationship Type="http://schemas.openxmlformats.org/officeDocument/2006/relationships/slide" Target="/ppt/slides/slide4.xml" Id="R38c1057c51364065" /><Relationship Type="http://schemas.openxmlformats.org/officeDocument/2006/relationships/slide" Target="/ppt/slides/slide5.xml" Id="R0e38a1429e344126" /><Relationship Type="http://schemas.openxmlformats.org/officeDocument/2006/relationships/slide" Target="/ppt/slides/slide6.xml" Id="Rb65ad32a998f4d58" /><Relationship Type="http://schemas.openxmlformats.org/officeDocument/2006/relationships/slide" Target="/ppt/slides/slide7.xml" Id="Ra36f18b2e5fa4ea6" /><Relationship Type="http://schemas.openxmlformats.org/officeDocument/2006/relationships/slide" Target="/ppt/slides/slide8.xml" Id="R8ffd923598e8410f" /><Relationship Type="http://schemas.openxmlformats.org/officeDocument/2006/relationships/slide" Target="/ppt/slides/slide9.xml" Id="R344479622cfe4edf" /><Relationship Type="http://schemas.openxmlformats.org/officeDocument/2006/relationships/slide" Target="/ppt/slides/slide10.xml" Id="Rb93a01e0929c4db6" /><Relationship Type="http://schemas.openxmlformats.org/officeDocument/2006/relationships/slide" Target="/ppt/slides/slide11.xml" Id="Rada2dfefc9884ad4" /><Relationship Type="http://schemas.openxmlformats.org/officeDocument/2006/relationships/slide" Target="/ppt/slides/slide12.xml" Id="R9c847a5d4de54c45" /><Relationship Type="http://schemas.openxmlformats.org/officeDocument/2006/relationships/slide" Target="/ppt/slides/slide13.xml" Id="Rb29034b02a0f42e6" /><Relationship Type="http://schemas.openxmlformats.org/officeDocument/2006/relationships/slide" Target="/ppt/slides/slide14.xml" Id="R6f3b6dfba6cd46b8" /><Relationship Type="http://schemas.openxmlformats.org/officeDocument/2006/relationships/slide" Target="/ppt/slides/slide15.xml" Id="R522602232b6e42a3" /><Relationship Type="http://schemas.openxmlformats.org/officeDocument/2006/relationships/slide" Target="/ppt/slides/slide16.xml" Id="Rdedd655ba1a845d9" /><Relationship Type="http://schemas.openxmlformats.org/officeDocument/2006/relationships/slide" Target="/ppt/slides/slide17.xml" Id="R9ce409ab2b3745c9" /><Relationship Type="http://schemas.openxmlformats.org/officeDocument/2006/relationships/slide" Target="/ppt/slides/slide18.xml" Id="R85aff62b8e3f4c8b" /><Relationship Type="http://schemas.openxmlformats.org/officeDocument/2006/relationships/slide" Target="/ppt/slides/slide19.xml" Id="R922d5c74b6bf4ae7" /><Relationship Type="http://schemas.openxmlformats.org/officeDocument/2006/relationships/slide" Target="/ppt/slides/slide20.xml" Id="R9cfbb3271c864975" /><Relationship Type="http://schemas.openxmlformats.org/officeDocument/2006/relationships/slide" Target="/ppt/slides/slide21.xml" Id="R45aa9edac6be4310" /><Relationship Type="http://schemas.openxmlformats.org/officeDocument/2006/relationships/slide" Target="/ppt/slides/slide22.xml" Id="Rd586187adba645cb" /><Relationship Type="http://schemas.openxmlformats.org/officeDocument/2006/relationships/slide" Target="/ppt/slides/slide23.xml" Id="R3b83b72c830d4012" /><Relationship Type="http://schemas.openxmlformats.org/officeDocument/2006/relationships/slide" Target="/ppt/slides/slide24.xml" Id="R3a10ec7128dc4082" /><Relationship Type="http://schemas.openxmlformats.org/officeDocument/2006/relationships/slide" Target="/ppt/slides/slide25.xml" Id="R29d011c5cdf44919" /><Relationship Type="http://schemas.openxmlformats.org/officeDocument/2006/relationships/slide" Target="/ppt/slides/slide26.xml" Id="R9d65bb2e00ff452d" /><Relationship Type="http://schemas.openxmlformats.org/officeDocument/2006/relationships/slide" Target="/ppt/slides/slide27.xml" Id="R1ebd79869c73487a" /><Relationship Type="http://schemas.openxmlformats.org/officeDocument/2006/relationships/slide" Target="/ppt/slides/slide28.xml" Id="R365b7c515c394f98" /><Relationship Type="http://schemas.openxmlformats.org/officeDocument/2006/relationships/slide" Target="/ppt/slides/slide29.xml" Id="R874434e9427f48d3" /><Relationship Type="http://schemas.openxmlformats.org/officeDocument/2006/relationships/slide" Target="/ppt/slides/slide30.xml" Id="R998f2228d023495e" /><Relationship Type="http://schemas.openxmlformats.org/officeDocument/2006/relationships/slide" Target="/ppt/slides/slide31.xml" Id="R2c2751bb67a74a6d" /><Relationship Type="http://schemas.openxmlformats.org/officeDocument/2006/relationships/slide" Target="/ppt/slides/slide32.xml" Id="R6631389aac8d4af4" /><Relationship Type="http://schemas.openxmlformats.org/officeDocument/2006/relationships/slide" Target="/ppt/slides/slide33.xml" Id="R615c8ec2113d4501" /><Relationship Type="http://schemas.openxmlformats.org/officeDocument/2006/relationships/slide" Target="/ppt/slides/slide34.xml" Id="R77e2c02e56814b82" /><Relationship Type="http://schemas.openxmlformats.org/officeDocument/2006/relationships/slide" Target="/ppt/slides/slide35.xml" Id="R9dd2d643b6ae4003" /><Relationship Type="http://schemas.openxmlformats.org/officeDocument/2006/relationships/slide" Target="/ppt/slides/slide36.xml" Id="R354e82e1c23447c3" /><Relationship Type="http://schemas.openxmlformats.org/officeDocument/2006/relationships/slide" Target="/ppt/slides/slide37.xml" Id="R6e3e9d0ea7ac4089" /><Relationship Type="http://schemas.openxmlformats.org/officeDocument/2006/relationships/slide" Target="/ppt/slides/slide38.xml" Id="R1d7820ba92934235" /><Relationship Type="http://schemas.openxmlformats.org/officeDocument/2006/relationships/slide" Target="/ppt/slides/slide39.xml" Id="Rfaeed06be46d488a" /><Relationship Type="http://schemas.openxmlformats.org/officeDocument/2006/relationships/slide" Target="/ppt/slides/slide40.xml" Id="Rbee0a47eb4874635" /><Relationship Type="http://schemas.openxmlformats.org/officeDocument/2006/relationships/slide" Target="/ppt/slides/slide41.xml" Id="Rb2b880380b324418" /><Relationship Type="http://schemas.openxmlformats.org/officeDocument/2006/relationships/slide" Target="/ppt/slides/slide42.xml" Id="Rf8f58e05db4648e3" /><Relationship Type="http://schemas.openxmlformats.org/officeDocument/2006/relationships/slide" Target="/ppt/slides/slide43.xml" Id="R66a04e1e04874c33" /><Relationship Type="http://schemas.openxmlformats.org/officeDocument/2006/relationships/slide" Target="/ppt/slides/slide44.xml" Id="R400afb53ccbb4b05" /><Relationship Type="http://schemas.openxmlformats.org/officeDocument/2006/relationships/slide" Target="/ppt/slides/slide45.xml" Id="R16748a0e6dd34659" /><Relationship Type="http://schemas.openxmlformats.org/officeDocument/2006/relationships/slide" Target="/ppt/slides/slide46.xml" Id="R8d114a7025d44fbe" /><Relationship Type="http://schemas.openxmlformats.org/officeDocument/2006/relationships/slide" Target="/ppt/slides/slide47.xml" Id="R70694a2d4f294ed2" /><Relationship Type="http://schemas.openxmlformats.org/officeDocument/2006/relationships/slide" Target="/ppt/slides/slide48.xml" Id="R1064b29d6d60441d" /><Relationship Type="http://schemas.openxmlformats.org/officeDocument/2006/relationships/slide" Target="/ppt/slides/slide49.xml" Id="R02617e040bb44890" /><Relationship Type="http://schemas.openxmlformats.org/officeDocument/2006/relationships/slide" Target="/ppt/slides/slide50.xml" Id="Rdeee97c53ef446af" /><Relationship Type="http://schemas.openxmlformats.org/officeDocument/2006/relationships/slide" Target="/ppt/slides/slide51.xml" Id="Rfac9918f8ce945ad" /><Relationship Type="http://schemas.openxmlformats.org/officeDocument/2006/relationships/slide" Target="/ppt/slides/slide52.xml" Id="R77eab577a5dc4896" /><Relationship Type="http://schemas.openxmlformats.org/officeDocument/2006/relationships/slide" Target="/ppt/slides/slide53.xml" Id="R98ff68a48b9a4992" /><Relationship Type="http://schemas.openxmlformats.org/officeDocument/2006/relationships/slide" Target="/ppt/slides/slide54.xml" Id="R5a6a1240bff0463b" /><Relationship Type="http://schemas.openxmlformats.org/officeDocument/2006/relationships/slide" Target="/ppt/slides/slide55.xml" Id="R9cac7b0306124183" /><Relationship Type="http://schemas.openxmlformats.org/officeDocument/2006/relationships/slide" Target="/ppt/slides/slide56.xml" Id="R733d54181c064348" /><Relationship Type="http://schemas.openxmlformats.org/officeDocument/2006/relationships/slide" Target="/ppt/slides/slide57.xml" Id="Rdb78eff6734f4ddd" /><Relationship Type="http://schemas.openxmlformats.org/officeDocument/2006/relationships/slide" Target="/ppt/slides/slide58.xml" Id="R3a0cae03a94844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3168c0adaf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ecaf68c7de41cd" /><Relationship Type="http://schemas.openxmlformats.org/officeDocument/2006/relationships/notesMaster" Target="/ppt/notesMasters/notesMaster1.xml" Id="R9d64086b8aa4489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5b860b7b3d4520" /><Relationship Type="http://schemas.openxmlformats.org/officeDocument/2006/relationships/notesMaster" Target="/ppt/notesMasters/notesMaster1.xml" Id="Rfeab9e1ea90e4c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ebb25f8f27442c2" /><Relationship Type="http://schemas.openxmlformats.org/officeDocument/2006/relationships/notesMaster" Target="/ppt/notesMasters/notesMaster1.xml" Id="R8150d4b7c63347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812f921dc24b5e" /><Relationship Type="http://schemas.openxmlformats.org/officeDocument/2006/relationships/notesMaster" Target="/ppt/notesMasters/notesMaster1.xml" Id="R1fdd18a328bd40c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7703c8e4a149d5" /><Relationship Type="http://schemas.openxmlformats.org/officeDocument/2006/relationships/notesMaster" Target="/ppt/notesMasters/notesMaster1.xml" Id="Rb6d54afbfb9942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796fb57e3443ce" /><Relationship Type="http://schemas.openxmlformats.org/officeDocument/2006/relationships/notesMaster" Target="/ppt/notesMasters/notesMaster1.xml" Id="R2d7d036a7cb54a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a90410c0b354c0b" /><Relationship Type="http://schemas.openxmlformats.org/officeDocument/2006/relationships/notesMaster" Target="/ppt/notesMasters/notesMaster1.xml" Id="R63db17035c154d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23a0b59a2c854571" /><Relationship Type="http://schemas.openxmlformats.org/officeDocument/2006/relationships/notesMaster" Target="/ppt/notesMasters/notesMaster1.xml" Id="R5057a1b018a349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511c24c51d439a" /><Relationship Type="http://schemas.openxmlformats.org/officeDocument/2006/relationships/notesMaster" Target="/ppt/notesMasters/notesMaster1.xml" Id="R9639390496c24b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daa49ef4564be6" /><Relationship Type="http://schemas.openxmlformats.org/officeDocument/2006/relationships/notesMaster" Target="/ppt/notesMasters/notesMaster1.xml" Id="Re7fbbcfb1e2d48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e33b50d2a04b66" /><Relationship Type="http://schemas.openxmlformats.org/officeDocument/2006/relationships/notesMaster" Target="/ppt/notesMasters/notesMaster1.xml" Id="R60a56c5d512346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50ed62ae9804015" /><Relationship Type="http://schemas.openxmlformats.org/officeDocument/2006/relationships/notesMaster" Target="/ppt/notesMasters/notesMaster1.xml" Id="Rd96e930c5d214a3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bee737466844d4f" /><Relationship Type="http://schemas.openxmlformats.org/officeDocument/2006/relationships/notesMaster" Target="/ppt/notesMasters/notesMaster1.xml" Id="Rd32066ebc8e942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7e90fce5a04e01" /><Relationship Type="http://schemas.openxmlformats.org/officeDocument/2006/relationships/notesMaster" Target="/ppt/notesMasters/notesMaster1.xml" Id="Re23c828abbfc470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b58ce0ab4a4e03" /><Relationship Type="http://schemas.openxmlformats.org/officeDocument/2006/relationships/notesMaster" Target="/ppt/notesMasters/notesMaster1.xml" Id="R150c971a24324d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bb5bac0ec4e4561" /><Relationship Type="http://schemas.openxmlformats.org/officeDocument/2006/relationships/notesMaster" Target="/ppt/notesMasters/notesMaster1.xml" Id="R34f38d4e5886442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59378c7f4b4095" /><Relationship Type="http://schemas.openxmlformats.org/officeDocument/2006/relationships/notesMaster" Target="/ppt/notesMasters/notesMaster1.xml" Id="R7d0bacd61200407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2712b04693c49de" /><Relationship Type="http://schemas.openxmlformats.org/officeDocument/2006/relationships/notesMaster" Target="/ppt/notesMasters/notesMaster1.xml" Id="Rd62fb75baa6b41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5e91dd5ea2f49b6" /><Relationship Type="http://schemas.openxmlformats.org/officeDocument/2006/relationships/notesMaster" Target="/ppt/notesMasters/notesMaster1.xml" Id="R0bd52163ac18436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5e0df1ebd7e47ed" /><Relationship Type="http://schemas.openxmlformats.org/officeDocument/2006/relationships/notesMaster" Target="/ppt/notesMasters/notesMaster1.xml" Id="Ra028c619e6004a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aa9c0f7d38c4ce2" /><Relationship Type="http://schemas.openxmlformats.org/officeDocument/2006/relationships/notesMaster" Target="/ppt/notesMasters/notesMaster1.xml" Id="Rb102731c3dcd456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b011f25ceb4f28" /><Relationship Type="http://schemas.openxmlformats.org/officeDocument/2006/relationships/notesMaster" Target="/ppt/notesMasters/notesMaster1.xml" Id="R268ae5bc85f84a9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a4f55c8b1864b37" /><Relationship Type="http://schemas.openxmlformats.org/officeDocument/2006/relationships/notesMaster" Target="/ppt/notesMasters/notesMaster1.xml" Id="R13429576b84642d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9c3a4fcf4434cee" /><Relationship Type="http://schemas.openxmlformats.org/officeDocument/2006/relationships/notesMaster" Target="/ppt/notesMasters/notesMaster1.xml" Id="R83206e358a3745d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e638c57343a425e" /><Relationship Type="http://schemas.openxmlformats.org/officeDocument/2006/relationships/notesMaster" Target="/ppt/notesMasters/notesMaster1.xml" Id="R1b3177c0179a428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e7dc4f14d34c9f" /><Relationship Type="http://schemas.openxmlformats.org/officeDocument/2006/relationships/notesMaster" Target="/ppt/notesMasters/notesMaster1.xml" Id="R53f7a698221a4d3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22f9081923b43c3" /><Relationship Type="http://schemas.openxmlformats.org/officeDocument/2006/relationships/notesMaster" Target="/ppt/notesMasters/notesMaster1.xml" Id="R65cb1324976b42e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9cbfbb8799c4e7b" /><Relationship Type="http://schemas.openxmlformats.org/officeDocument/2006/relationships/notesMaster" Target="/ppt/notesMasters/notesMaster1.xml" Id="Ra75f179254b3416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8d25672d4644b66" /><Relationship Type="http://schemas.openxmlformats.org/officeDocument/2006/relationships/notesMaster" Target="/ppt/notesMasters/notesMaster1.xml" Id="Reed6bd359487482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d93ad1d8e44618" /><Relationship Type="http://schemas.openxmlformats.org/officeDocument/2006/relationships/notesMaster" Target="/ppt/notesMasters/notesMaster1.xml" Id="Rc293f5717e0645e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740186a516e4f8a" /><Relationship Type="http://schemas.openxmlformats.org/officeDocument/2006/relationships/notesMaster" Target="/ppt/notesMasters/notesMaster1.xml" Id="Radb8d3ea31eb4c4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570306947804fec" /><Relationship Type="http://schemas.openxmlformats.org/officeDocument/2006/relationships/notesMaster" Target="/ppt/notesMasters/notesMaster1.xml" Id="R09ac056b3c2940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2a05d7f27cb4c08" /><Relationship Type="http://schemas.openxmlformats.org/officeDocument/2006/relationships/notesMaster" Target="/ppt/notesMasters/notesMaster1.xml" Id="Rc8381b57843a477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35ad4e722c4fe1" /><Relationship Type="http://schemas.openxmlformats.org/officeDocument/2006/relationships/notesMaster" Target="/ppt/notesMasters/notesMaster1.xml" Id="R91646cdd4c7b4cd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3eaf88543154bf8" /><Relationship Type="http://schemas.openxmlformats.org/officeDocument/2006/relationships/notesMaster" Target="/ppt/notesMasters/notesMaster1.xml" Id="Rf8312d55bab849f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af327b17e7c44f6" /><Relationship Type="http://schemas.openxmlformats.org/officeDocument/2006/relationships/notesMaster" Target="/ppt/notesMasters/notesMaster1.xml" Id="R663d09b9d778479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3005923a18f4064" /><Relationship Type="http://schemas.openxmlformats.org/officeDocument/2006/relationships/notesMaster" Target="/ppt/notesMasters/notesMaster1.xml" Id="R2b83a4a90cf44a2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d4291bed65e491f" /><Relationship Type="http://schemas.openxmlformats.org/officeDocument/2006/relationships/notesMaster" Target="/ppt/notesMasters/notesMaster1.xml" Id="R466eea210281498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7a79b0d9ebd4f8c" /><Relationship Type="http://schemas.openxmlformats.org/officeDocument/2006/relationships/notesMaster" Target="/ppt/notesMasters/notesMaster1.xml" Id="Rf484b396c80642f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9bb6174292040ac" /><Relationship Type="http://schemas.openxmlformats.org/officeDocument/2006/relationships/notesMaster" Target="/ppt/notesMasters/notesMaster1.xml" Id="R5da01b4ecc4b45c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0aa721c2dcd40a1" /><Relationship Type="http://schemas.openxmlformats.org/officeDocument/2006/relationships/notesMaster" Target="/ppt/notesMasters/notesMaster1.xml" Id="Rafd87ba2c7b348b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3cb268806518465b" /><Relationship Type="http://schemas.openxmlformats.org/officeDocument/2006/relationships/notesMaster" Target="/ppt/notesMasters/notesMaster1.xml" Id="R95668b93b3f94c6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07c64d4a667c42bb" /><Relationship Type="http://schemas.openxmlformats.org/officeDocument/2006/relationships/notesMaster" Target="/ppt/notesMasters/notesMaster1.xml" Id="R2a5f6ebfafd6476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e3529f23f254683" /><Relationship Type="http://schemas.openxmlformats.org/officeDocument/2006/relationships/notesMaster" Target="/ppt/notesMasters/notesMaster1.xml" Id="R0f4590f7de0d491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3b8eb3d498849f0" /><Relationship Type="http://schemas.openxmlformats.org/officeDocument/2006/relationships/notesMaster" Target="/ppt/notesMasters/notesMaster1.xml" Id="Reb61eb6719d94fb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8adb50c9556545c4" /><Relationship Type="http://schemas.openxmlformats.org/officeDocument/2006/relationships/notesMaster" Target="/ppt/notesMasters/notesMaster1.xml" Id="R27c2807e9fe9411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d9fed80081e49d6" /><Relationship Type="http://schemas.openxmlformats.org/officeDocument/2006/relationships/notesMaster" Target="/ppt/notesMasters/notesMaster1.xml" Id="R6e0d01e795234cf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003a903bdb949cd" /><Relationship Type="http://schemas.openxmlformats.org/officeDocument/2006/relationships/notesMaster" Target="/ppt/notesMasters/notesMaster1.xml" Id="R90a53b6b45ca425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72175d3393c4e93" /><Relationship Type="http://schemas.openxmlformats.org/officeDocument/2006/relationships/notesMaster" Target="/ppt/notesMasters/notesMaster1.xml" Id="R8d7d534db2ab4c2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f8ceeacba354f84" /><Relationship Type="http://schemas.openxmlformats.org/officeDocument/2006/relationships/notesMaster" Target="/ppt/notesMasters/notesMaster1.xml" Id="R0476c7d7aa3d41f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dfc0096680c4c73" /><Relationship Type="http://schemas.openxmlformats.org/officeDocument/2006/relationships/notesMaster" Target="/ppt/notesMasters/notesMaster1.xml" Id="R07671e73ecdf4f2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5f6555a552194a0e" /><Relationship Type="http://schemas.openxmlformats.org/officeDocument/2006/relationships/notesMaster" Target="/ppt/notesMasters/notesMaster1.xml" Id="R1fb877efab4b40c6"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f1003260f4994edc" /><Relationship Type="http://schemas.openxmlformats.org/officeDocument/2006/relationships/notesMaster" Target="/ppt/notesMasters/notesMaster1.xml" Id="Rd1d56956079341f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3424600baa64373" /><Relationship Type="http://schemas.openxmlformats.org/officeDocument/2006/relationships/notesMaster" Target="/ppt/notesMasters/notesMaster1.xml" Id="R08675cf31739467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091f02b4c9041d1" /><Relationship Type="http://schemas.openxmlformats.org/officeDocument/2006/relationships/notesMaster" Target="/ppt/notesMasters/notesMaster1.xml" Id="Rdc3e81c307bf4ac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f3489d8b5b34cc6" /><Relationship Type="http://schemas.openxmlformats.org/officeDocument/2006/relationships/notesMaster" Target="/ppt/notesMasters/notesMaster1.xml" Id="R3686c2b890cd470a"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79e3f947884494c" /><Relationship Type="http://schemas.openxmlformats.org/officeDocument/2006/relationships/notesMaster" Target="/ppt/notesMasters/notesMaster1.xml" Id="Rd4df41bdd4f14f1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8f310df224448a1" /><Relationship Type="http://schemas.openxmlformats.org/officeDocument/2006/relationships/notesMaster" Target="/ppt/notesMasters/notesMaster1.xml" Id="R2801c1af4d1546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 교직원 AI 업무 실습</a:t>
            </a:r>
          </a:p>
          <a:p xmlns:a="http://schemas.openxmlformats.org/drawingml/2006/main">
            <a:r>
              <a:t/>
            </a:r>
          </a:p>
          <a:p xmlns:a="http://schemas.openxmlformats.org/drawingml/2006/main">
            <a:r>
              <a:t>시간: 시작 후 0–1분, 1분 진행.</a:t>
            </a:r>
          </a:p>
          <a:p xmlns:a="http://schemas.openxmlformats.org/drawingml/2006/main">
            <a:r>
              <a:t/>
            </a:r>
          </a:p>
          <a:p xmlns:a="http://schemas.openxmlformats.org/drawingml/2006/main">
            <a:r>
              <a:t>말할 내용: 오늘은 기능 설명을 듣는 데서 끝내지 않고, 긴 업무 자료에서 필요한 내용을 골라 산출물을 만듭니다. 웹 강의의 질문과 원문을 사용하므로 화면을 그대로 받아 적을 필요가 없습니다.</a:t>
            </a:r>
          </a:p>
          <a:p xmlns:a="http://schemas.openxmlformats.org/drawingml/2006/main">
            <a:r>
              <a:t/>
            </a:r>
          </a:p>
          <a:p xmlns:a="http://schemas.openxmlformats.org/drawingml/2006/main">
            <a:r>
              <a:t>참가자에게 할 질문: 최근 가장 자주 작성한 문서는 무엇인가요?</a:t>
            </a:r>
          </a:p>
          <a:p xmlns:a="http://schemas.openxmlformats.org/drawingml/2006/main">
            <a:r>
              <a:t/>
            </a:r>
          </a:p>
          <a:p xmlns:a="http://schemas.openxmlformats.org/drawingml/2006/main">
            <a:r>
              <a:t>예상 오류와 대응: 수업용 가상 기관의 규칙을 실제 소속 기관의 규칙과 혼동하지 않도록 시작 때 분명히 설명합니다.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 강사 김세영</a:t>
            </a:r>
          </a:p>
          <a:p xmlns:a="http://schemas.openxmlformats.org/drawingml/2006/main">
            <a:r>
              <a:t/>
            </a:r>
          </a:p>
          <a:p xmlns:a="http://schemas.openxmlformats.org/drawingml/2006/main">
            <a:r>
              <a:t>시간: 시작 후 1–3분, 2분 진행.</a:t>
            </a:r>
          </a:p>
          <a:p xmlns:a="http://schemas.openxmlformats.org/drawingml/2006/main">
            <a:r>
              <a:t/>
            </a:r>
          </a:p>
          <a:p xmlns:a="http://schemas.openxmlformats.org/drawingml/2006/main">
            <a:r>
              <a:t>말할 내용: 기술을 구현한 뒤 결과가 맞는지 확인하는 일을 해 왔습니다. 오늘도 AI가 쓴 글을 결과물로 삼기 전에 날짜, 숫자, 승인 상태를 확인하는 방식으로 진행하겠습니다. 경력 세부 내용은 강사 소개 페이지에서 볼 수 있습니다.</a:t>
            </a:r>
          </a:p>
          <a:p xmlns:a="http://schemas.openxmlformats.org/drawingml/2006/main">
            <a:r>
              <a:t/>
            </a:r>
          </a:p>
          <a:p xmlns:a="http://schemas.openxmlformats.org/drawingml/2006/main">
            <a:r>
              <a:t>참가자에게 할 질문: 작성 시간과 검토 시간 중 어느 쪽이 더 많이 드나요?</a:t>
            </a:r>
          </a:p>
          <a:p xmlns:a="http://schemas.openxmlformats.org/drawingml/2006/main">
            <a:r>
              <a:t/>
            </a:r>
          </a:p>
          <a:p xmlns:a="http://schemas.openxmlformats.org/drawingml/2006/main">
            <a:r>
              <a:t>예상 오류와 대응: 기술 경력을 도구별 성능 보장이나 특정 기관의 공식 정책으로 연결하지 않습니다.</a:t>
            </a:r>
          </a:p>
          <a:p xmlns:a="http://schemas.openxmlformats.org/drawingml/2006/main">
            <a:r>
              <a:t/>
            </a:r>
          </a:p>
          <a:p xmlns:a="http://schemas.openxmlformats.org/drawingml/2006/main">
            <a:r>
              <a:t>수업 링크: https://zeusk302-png.github.io/gyeongnam-ai-workshop/#instructor</a:t>
            </a:r>
          </a:p>
          <a:p xmlns:a="http://schemas.openxmlformats.org/drawingml/2006/main">
            <a:r>
              <a:t/>
            </a:r>
          </a:p>
          <a:p xmlns:a="http://schemas.openxmlformats.org/drawingml/2006/main">
            <a:r>
              <a:t>화면 설명: R&amp;D 엔지니어 · 기술교육자</a:t>
            </a:r>
          </a:p>
          <a:p xmlns:a="http://schemas.openxmlformats.org/drawingml/2006/main">
            <a:r>
              <a:t/>
            </a:r>
          </a:p>
          <a:p xmlns:a="http://schemas.openxmlformats.org/drawingml/2006/main">
            <a:r>
              <a:t>화면 원본: assets/instructor/kim-seyoung.jpg</a:t>
            </a:r>
          </a:p>
          <a:p xmlns:a="http://schemas.openxmlformats.org/drawingml/2006/main">
            <a:r>
              <a:t/>
            </a:r>
          </a:p>
          <a:p xmlns:a="http://schemas.openxmlformats.org/drawingml/2006/main">
            <a:r>
              <a:t>강사 소개 근거: https://zeusk302-png.github.io/gyeongnam-ai-workshop/#instructor</a:t>
            </a:r>
          </a:p>
          <a:p xmlns:a="http://schemas.openxmlformats.org/drawingml/2006/main">
            <a:r>
              <a:t/>
            </a:r>
          </a:p>
          <a:p xmlns:a="http://schemas.openxmlformats.org/drawingml/2006/main">
            <a:r>
              <a:t>강사 웹사이트: https://hugoworld.kr/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 오늘 남길 업무 문서</a:t>
            </a:r>
          </a:p>
          <a:p xmlns:a="http://schemas.openxmlformats.org/drawingml/2006/main">
            <a:r>
              <a:t/>
            </a:r>
          </a:p>
          <a:p xmlns:a="http://schemas.openxmlformats.org/drawingml/2006/main">
            <a:r>
              <a:t>시간: 시작 후 3–5분, 2분 진행.</a:t>
            </a:r>
          </a:p>
          <a:p xmlns:a="http://schemas.openxmlformats.org/drawingml/2006/main">
            <a:r>
              <a:t/>
            </a:r>
          </a:p>
          <a:p xmlns:a="http://schemas.openxmlformats.org/drawingml/2006/main">
            <a:r>
              <a:t>말할 내용: 각 도구에서 만든 문서는 같은 가상 대학의 업무를 다루지만 작성 시점은 다릅니다. 결과를 빨리 받는 것과 실제로 사용할 문서로 완성하는 것을 구분해 주세요. 마지막에는 파일과 확인 메모를 함께 저장합니다.</a:t>
            </a:r>
          </a:p>
          <a:p xmlns:a="http://schemas.openxmlformats.org/drawingml/2006/main">
            <a:r>
              <a:t/>
            </a:r>
          </a:p>
          <a:p xmlns:a="http://schemas.openxmlformats.org/drawingml/2006/main">
            <a:r>
              <a:t>참가자에게 할 질문: 답변이 그럴듯해도 바로 보내기 어려운 이유는 무엇인가요?</a:t>
            </a:r>
          </a:p>
          <a:p xmlns:a="http://schemas.openxmlformats.org/drawingml/2006/main">
            <a:r>
              <a:t/>
            </a:r>
          </a:p>
          <a:p xmlns:a="http://schemas.openxmlformats.org/drawingml/2006/main">
            <a:r>
              <a:t>예상 오류와 대응: 결과물 개수를 학습 효과나 업무 성과의 정량 증거로 설명하지 않습니다.</a:t>
            </a:r>
          </a:p>
          <a:p xmlns:a="http://schemas.openxmlformats.org/drawingml/2006/main">
            <a:r>
              <a:t/>
            </a:r>
          </a:p>
          <a:p xmlns:a="http://schemas.openxmlformats.org/drawingml/2006/main">
            <a:r>
              <a:t>수업 링크: https://zeusk302-png.github.io/gyeongnam-ai-workshop/#resources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 세 도구에서 연습할 일</a:t>
            </a:r>
          </a:p>
          <a:p xmlns:a="http://schemas.openxmlformats.org/drawingml/2006/main">
            <a:r>
              <a:t/>
            </a:r>
          </a:p>
          <a:p xmlns:a="http://schemas.openxmlformats.org/drawingml/2006/main">
            <a:r>
              <a:t>시간: 시작 후 5–8분, 3분 진행.</a:t>
            </a:r>
          </a:p>
          <a:p xmlns:a="http://schemas.openxmlformats.org/drawingml/2006/main">
            <a:r>
              <a:t/>
            </a:r>
          </a:p>
          <a:p xmlns:a="http://schemas.openxmlformats.org/drawingml/2006/main">
            <a:r>
              <a:t>말할 내용: 비슷한 일을 여러 도구에서 할 수 있습니다. 오늘은 Gemini로 업무 묶음을 정리하고, NotebookLM으로 문서 근거를 확인하며, Claude로 보고서의 구조와 표현을 고칩니다. 역할을 고정한 이유는 수업 중 비교할 기준을 분명히 하기 위해서입니다.</a:t>
            </a:r>
          </a:p>
          <a:p xmlns:a="http://schemas.openxmlformats.org/drawingml/2006/main">
            <a:r>
              <a:t/>
            </a:r>
          </a:p>
          <a:p xmlns:a="http://schemas.openxmlformats.org/drawingml/2006/main">
            <a:r>
              <a:t>참가자에게 할 질문: 내 업무에서 가장 자주 생기는 오류는 어느 칸에 가까운가요?</a:t>
            </a:r>
          </a:p>
          <a:p xmlns:a="http://schemas.openxmlformats.org/drawingml/2006/main">
            <a:r>
              <a:t/>
            </a:r>
          </a:p>
          <a:p xmlns:a="http://schemas.openxmlformats.org/drawingml/2006/main">
            <a:r>
              <a:t>예상 오류와 대응: 한 도구에서만 가능한 작업이라고 설명하지 않습니다.</a:t>
            </a:r>
          </a:p>
          <a:p xmlns:a="http://schemas.openxmlformats.org/drawingml/2006/main">
            <a:r>
              <a:t/>
            </a:r>
          </a:p>
          <a:p xmlns:a="http://schemas.openxmlformats.org/drawingml/2006/main">
            <a:r>
              <a:t>수업 링크: https://zeusk302-png.github.io/gyeongnam-ai-workshop/#orientation</a:t>
            </a:r>
          </a:p>
          <a:p xmlns:a="http://schemas.openxmlformats.org/drawingml/2006/main">
            <a:r>
              <a:t/>
            </a:r>
          </a:p>
          <a:p xmlns:a="http://schemas.openxmlformats.org/drawingml/2006/main">
            <a:r>
              <a:t>화면의 표는 원자료를 바탕으로 정리한 설명·검토 예시입니다. 실제 AI 응답 캡처가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 업무실습과 기본연습</a:t>
            </a:r>
          </a:p>
          <a:p xmlns:a="http://schemas.openxmlformats.org/drawingml/2006/main">
            <a:r>
              <a:t/>
            </a:r>
          </a:p>
          <a:p xmlns:a="http://schemas.openxmlformats.org/drawingml/2006/main">
            <a:r>
              <a:t>시간: 시작 후 8–10분, 2분 진행.</a:t>
            </a:r>
          </a:p>
          <a:p xmlns:a="http://schemas.openxmlformats.org/drawingml/2006/main">
            <a:r>
              <a:t/>
            </a:r>
          </a:p>
          <a:p xmlns:a="http://schemas.openxmlformats.org/drawingml/2006/main">
            <a:r>
              <a:t>말할 내용: 오늘 설명과 정답 확인은 업무실습을 기준으로 합니다. 도구 조작이 낯설면 기본연습으로 바꿀 수 있습니다. NotebookLM과 Claude에서 버전을 바꾼 뒤에는 새 노트북이나 대화에 해당 자료를 넣으세요. 기본연습의 짧은 보고서를 업무실습의 답안으로 사용하지 않습니다.</a:t>
            </a:r>
          </a:p>
          <a:p xmlns:a="http://schemas.openxmlformats.org/drawingml/2006/main">
            <a:r>
              <a:t/>
            </a:r>
          </a:p>
          <a:p xmlns:a="http://schemas.openxmlformats.org/drawingml/2006/main">
            <a:r>
              <a:t>참가자에게 할 질문: 지금 선택한 자료의 첫 파일 번호는 무엇인가요?</a:t>
            </a:r>
          </a:p>
          <a:p xmlns:a="http://schemas.openxmlformats.org/drawingml/2006/main">
            <a:r>
              <a:t/>
            </a:r>
          </a:p>
          <a:p xmlns:a="http://schemas.openxmlformats.org/drawingml/2006/main">
            <a:r>
              <a:t>예상 오류와 대응: 두 버전의 소스, 작성 기준일, 보고서 분량을 섞는 오류를 확인합니다.</a:t>
            </a:r>
          </a:p>
          <a:p xmlns:a="http://schemas.openxmlformats.org/drawingml/2006/main">
            <a:r>
              <a:t/>
            </a:r>
          </a:p>
          <a:p xmlns:a="http://schemas.openxmlformats.org/drawingml/2006/main">
            <a:r>
              <a:t>수업 링크: https://zeusk302-png.github.io/gyeongnam-ai-workshop/#resources</a:t>
            </a:r>
          </a:p>
          <a:p xmlns:a="http://schemas.openxmlformats.org/drawingml/2006/main">
            <a:r>
              <a:t/>
            </a:r>
          </a:p>
          <a:p xmlns:a="http://schemas.openxmlformats.org/drawingml/2006/main">
            <a:r>
              <a:t>원자료·대조 기준: https://zeusk302-png.github.io/gyeongnam-ai-workshop/downloads/%ED%99%95%EC%9E%A5/00_%ED%99%95%EC%9E%A5%EB%B3%B8_%EC%82%AC%EC%9A%A9%EC%95%88%EB%82%B4.md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6. 결과를 확인하는 네 가지 기준</a:t>
            </a:r>
          </a:p>
          <a:p xmlns:a="http://schemas.openxmlformats.org/drawingml/2006/main">
            <a:r>
              <a:t/>
            </a:r>
          </a:p>
          <a:p xmlns:a="http://schemas.openxmlformats.org/drawingml/2006/main">
            <a:r>
              <a:t>시간: 시작 후 10–12분, 2분 진행.</a:t>
            </a:r>
          </a:p>
          <a:p xmlns:a="http://schemas.openxmlformats.org/drawingml/2006/main">
            <a:r>
              <a:t/>
            </a:r>
          </a:p>
          <a:p xmlns:a="http://schemas.openxmlformats.org/drawingml/2006/main">
            <a:r>
              <a:t>말할 내용: 출력 형식이 깔끔해도 원문과 다를 수 있습니다. 오늘은 숫자를 계산기로 다시 확인하고, 승인 여부는 승인 문서에서 찾습니다. 자료에 없는 항목은 질문을 더 잘 쓰더라도 확정할 수 없으므로 확인 필요로 남깁니다.</a:t>
            </a:r>
          </a:p>
          <a:p xmlns:a="http://schemas.openxmlformats.org/drawingml/2006/main">
            <a:r>
              <a:t/>
            </a:r>
          </a:p>
          <a:p xmlns:a="http://schemas.openxmlformats.org/drawingml/2006/main">
            <a:r>
              <a:t>참가자에게 할 질문: 기록이 없다는 말과 실제로 하지 않았다는 말은 같은가요?</a:t>
            </a:r>
          </a:p>
          <a:p xmlns:a="http://schemas.openxmlformats.org/drawingml/2006/main">
            <a:r>
              <a:t/>
            </a:r>
          </a:p>
          <a:p xmlns:a="http://schemas.openxmlformats.org/drawingml/2006/main">
            <a:r>
              <a:t>예상 오류와 대응: 이름만 지운 실제 학생 메일을 실습에 넣지 않도록 제공된 가상 자료 사용을 안내합니다.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7. 무료 계정의 현재 사용량</a:t>
            </a:r>
          </a:p>
          <a:p xmlns:a="http://schemas.openxmlformats.org/drawingml/2006/main">
            <a:r>
              <a:t/>
            </a:r>
          </a:p>
          <a:p xmlns:a="http://schemas.openxmlformats.org/drawingml/2006/main">
            <a:r>
              <a:t>시간: 시작 후 12–15분, 3분 진행.</a:t>
            </a:r>
          </a:p>
          <a:p xmlns:a="http://schemas.openxmlformats.org/drawingml/2006/main">
            <a:r>
              <a:t/>
            </a:r>
          </a:p>
          <a:p xmlns:a="http://schemas.openxmlformats.org/drawingml/2006/main">
            <a:r>
              <a:t>말할 내용: 무료 계정의 남은 사용량은 사람마다 다릅니다. Gemini와 NotebookLM은 계산량 기반 안내를 확인하고, Claude는 길이와 사용 조건에 따라 메시지 수가 달라집니다. 공개된 옛 일일 횟수를 오늘의 사용 보장으로 안내하지 않습니다. 웹 무료 가이드에서 도구별 공식 출처를 열 수 있습니다.</a:t>
            </a:r>
          </a:p>
          <a:p xmlns:a="http://schemas.openxmlformats.org/drawingml/2006/main">
            <a:r>
              <a:t/>
            </a:r>
          </a:p>
          <a:p xmlns:a="http://schemas.openxmlformats.org/drawingml/2006/main">
            <a:r>
              <a:t>참가자에게 할 질문: 화면에 한도 또는 재개 시각이 보이나요?</a:t>
            </a:r>
          </a:p>
          <a:p xmlns:a="http://schemas.openxmlformats.org/drawingml/2006/main">
            <a:r>
              <a:t/>
            </a:r>
          </a:p>
          <a:p xmlns:a="http://schemas.openxmlformats.org/drawingml/2006/main">
            <a:r>
              <a:t>예상 오류와 대응: 시험한 계정에서 성공했다는 이유로 모두 같은 횟수를 쓸 수 있다고 약속하지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https://zeusk302-png.github.io/gyeongnam-ai-workshop/downloads/10_%EB%AC%B4%EB%A3%8C%EA%B3%84%EC%A0%95_%ED%95%9C%EB%8F%84%EC%99%80_%EC%8B%A4%EC%8A%B5%EC%82%AC%EC%9A%A9%EB%B2%95.md</a:t>
            </a:r>
          </a:p>
          <a:p xmlns:a="http://schemas.openxmlformats.org/drawingml/2006/main">
            <a:r>
              <a:t/>
            </a:r>
          </a:p>
          <a:p xmlns:a="http://schemas.openxmlformats.org/drawingml/2006/main">
            <a:r>
              <a:t>공식 정책 확인일: 2026-09-27. 이 날짜의 안내를 정리했으며 당일 계정 표시와 최신 원문을 확인합니다.</a:t>
            </a:r>
          </a:p>
          <a:p xmlns:a="http://schemas.openxmlformats.org/drawingml/2006/main">
            <a:r>
              <a:t/>
            </a:r>
          </a:p>
          <a:p xmlns:a="http://schemas.openxmlformats.org/drawingml/2006/main">
            <a:r>
              <a:t>Gemini 공식 출처: https://support.google.com/gemini/answer/16275805?hl=ko</a:t>
            </a:r>
          </a:p>
          <a:p xmlns:a="http://schemas.openxmlformats.org/drawingml/2006/main">
            <a:r>
              <a:t/>
            </a:r>
          </a:p>
          <a:p xmlns:a="http://schemas.openxmlformats.org/drawingml/2006/main">
            <a:r>
              <a:t>Gemini 공식 출처: https://support.google.com/gemini/answer/17004136?hl=ko</a:t>
            </a:r>
          </a:p>
          <a:p xmlns:a="http://schemas.openxmlformats.org/drawingml/2006/main">
            <a:r>
              <a:t/>
            </a:r>
          </a:p>
          <a:p xmlns:a="http://schemas.openxmlformats.org/drawingml/2006/main">
            <a:r>
              <a:t>NotebookLM · Gemini Notebook 공식 출처: https://support.google.com/gemininotebook/answer/17670842?hl=ko</a:t>
            </a:r>
          </a:p>
          <a:p xmlns:a="http://schemas.openxmlformats.org/drawingml/2006/main">
            <a:r>
              <a:t/>
            </a:r>
          </a:p>
          <a:p xmlns:a="http://schemas.openxmlformats.org/drawingml/2006/main">
            <a:r>
              <a:t>NotebookLM · Gemini Notebook 공식 출처: https://support.google.com/gemininotebook/answer/16213268?hl=ko</a:t>
            </a:r>
          </a:p>
          <a:p xmlns:a="http://schemas.openxmlformats.org/drawingml/2006/main">
            <a:r>
              <a:t/>
            </a:r>
          </a:p>
          <a:p xmlns:a="http://schemas.openxmlformats.org/drawingml/2006/main">
            <a:r>
              <a:t>NotebookLM · Gemini Notebook 공식 출처: https://support.google.com/gemininotebook/answer/16215270?hl=ko</a:t>
            </a:r>
          </a:p>
          <a:p xmlns:a="http://schemas.openxmlformats.org/drawingml/2006/main">
            <a:r>
              <a:t/>
            </a:r>
          </a:p>
          <a:p xmlns:a="http://schemas.openxmlformats.org/drawingml/2006/main">
            <a:r>
              <a:t>Claude Free 공식 출처: https://support.claude.com/en/articles/8114491-get-started-with-claude</a:t>
            </a:r>
          </a:p>
          <a:p xmlns:a="http://schemas.openxmlformats.org/drawingml/2006/main">
            <a:r>
              <a:t/>
            </a:r>
          </a:p>
          <a:p xmlns:a="http://schemas.openxmlformats.org/drawingml/2006/main">
            <a:r>
              <a:t>Claude Free 공식 출처: https://support.claude.com/en/articles/11647753-how-do-usage-and-length-limits-work</a:t>
            </a:r>
          </a:p>
          <a:p xmlns:a="http://schemas.openxmlformats.org/drawingml/2006/main">
            <a:r>
              <a:t/>
            </a:r>
          </a:p>
          <a:p xmlns:a="http://schemas.openxmlformats.org/drawingml/2006/main">
            <a:r>
              <a:t>Claude Free 공식 출처: https://support.claude.com/en/articles/12466728-troubleshoot-claude-error-messages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8. 사용량이 부족할 때의 참여 방법</a:t>
            </a:r>
          </a:p>
          <a:p xmlns:a="http://schemas.openxmlformats.org/drawingml/2006/main">
            <a:r>
              <a:t/>
            </a:r>
          </a:p>
          <a:p xmlns:a="http://schemas.openxmlformats.org/drawingml/2006/main">
            <a:r>
              <a:t>시간: 시작 후 15–17분, 2분 진행.</a:t>
            </a:r>
          </a:p>
          <a:p xmlns:a="http://schemas.openxmlformats.org/drawingml/2006/main">
            <a:r>
              <a:t/>
            </a:r>
          </a:p>
          <a:p xmlns:a="http://schemas.openxmlformats.org/drawingml/2006/main">
            <a:r>
              <a:t>말할 내용: 제한이 생겼을 때 새 대화에 같은 요청을 반복하지 않습니다. 새 대화는 자료를 구분하는 용도이며 계정 한도를 초기화하지 않습니다. 짝 실습에서도 각자 확인한 문장과 숫자를 남깁니다. 결제나 체험 등록은 수업을 마치기 위한 조건이 아닙니다.</a:t>
            </a:r>
          </a:p>
          <a:p xmlns:a="http://schemas.openxmlformats.org/drawingml/2006/main">
            <a:r>
              <a:t/>
            </a:r>
          </a:p>
          <a:p xmlns:a="http://schemas.openxmlformats.org/drawingml/2006/main">
            <a:r>
              <a:t>참가자에게 할 질문: 한도에 걸려도 지금 진행할 수 있는 확인 작업은 무엇인가요?</a:t>
            </a:r>
          </a:p>
          <a:p xmlns:a="http://schemas.openxmlformats.org/drawingml/2006/main">
            <a:r>
              <a:t/>
            </a:r>
          </a:p>
          <a:p xmlns:a="http://schemas.openxmlformats.org/drawingml/2006/main">
            <a:r>
              <a:t>예상 오류와 대응: 비밀번호를 공유하거나 다른 사람의 계정으로 대신 로그인하지 않습니다.</a:t>
            </a:r>
          </a:p>
          <a:p xmlns:a="http://schemas.openxmlformats.org/drawingml/2006/main">
            <a:r>
              <a:t/>
            </a:r>
          </a:p>
          <a:p xmlns:a="http://schemas.openxmlformats.org/drawingml/2006/main">
            <a:r>
              <a:t>수업 링크: https://zeusk302-png.github.io/gyeongnam-ai-workshop/#free-guide</a:t>
            </a:r>
          </a:p>
          <a:p xmlns:a="http://schemas.openxmlformats.org/drawingml/2006/main">
            <a:r>
              <a:t/>
            </a:r>
          </a:p>
          <a:p xmlns:a="http://schemas.openxmlformats.org/drawingml/2006/main">
            <a:r>
              <a:t>원자료·대조 기준: https://zeusk302-png.github.io/gyeongnam-ai-workshop/downloads/10_%EB%AC%B4%EB%A3%8C%EA%B3%84%EC%A0%95_%ED%95%9C%EB%8F%84%EC%99%80_%EC%8B%A4%EC%8A%B5%EC%82%AC%EC%9A%A9%EB%B2%95.md</a:t>
            </a:r>
          </a:p>
          <a:p xmlns:a="http://schemas.openxmlformats.org/drawingml/2006/main">
            <a:r>
              <a:t/>
            </a:r>
          </a:p>
          <a:p xmlns:a="http://schemas.openxmlformats.org/drawingml/2006/main">
            <a:r>
              <a:t>공식 정책 확인일: 2026-09-27. 이 날짜의 안내를 정리했으며 당일 계정 표시와 최신 원문을 확인합니다.</a:t>
            </a:r>
          </a:p>
          <a:p xmlns:a="http://schemas.openxmlformats.org/drawingml/2006/main">
            <a:r>
              <a:t/>
            </a:r>
          </a:p>
          <a:p xmlns:a="http://schemas.openxmlformats.org/drawingml/2006/main">
            <a:r>
              <a:t>Gemini 공식 출처: https://support.google.com/gemini/answer/16275805?hl=ko</a:t>
            </a:r>
          </a:p>
          <a:p xmlns:a="http://schemas.openxmlformats.org/drawingml/2006/main">
            <a:r>
              <a:t/>
            </a:r>
          </a:p>
          <a:p xmlns:a="http://schemas.openxmlformats.org/drawingml/2006/main">
            <a:r>
              <a:t>Gemini 공식 출처: https://support.google.com/gemini/answer/17004136?hl=ko</a:t>
            </a:r>
          </a:p>
          <a:p xmlns:a="http://schemas.openxmlformats.org/drawingml/2006/main">
            <a:r>
              <a:t/>
            </a:r>
          </a:p>
          <a:p xmlns:a="http://schemas.openxmlformats.org/drawingml/2006/main">
            <a:r>
              <a:t>NotebookLM · Gemini Notebook 공식 출처: https://support.google.com/gemininotebook/answer/17670842?hl=ko</a:t>
            </a:r>
          </a:p>
          <a:p xmlns:a="http://schemas.openxmlformats.org/drawingml/2006/main">
            <a:r>
              <a:t/>
            </a:r>
          </a:p>
          <a:p xmlns:a="http://schemas.openxmlformats.org/drawingml/2006/main">
            <a:r>
              <a:t>NotebookLM · Gemini Notebook 공식 출처: https://support.google.com/gemininotebook/answer/16213268?hl=ko</a:t>
            </a:r>
          </a:p>
          <a:p xmlns:a="http://schemas.openxmlformats.org/drawingml/2006/main">
            <a:r>
              <a:t/>
            </a:r>
          </a:p>
          <a:p xmlns:a="http://schemas.openxmlformats.org/drawingml/2006/main">
            <a:r>
              <a:t>NotebookLM · Gemini Notebook 공식 출처: https://support.google.com/gemininotebook/answer/16215270?hl=ko</a:t>
            </a:r>
          </a:p>
          <a:p xmlns:a="http://schemas.openxmlformats.org/drawingml/2006/main">
            <a:r>
              <a:t/>
            </a:r>
          </a:p>
          <a:p xmlns:a="http://schemas.openxmlformats.org/drawingml/2006/main">
            <a:r>
              <a:t>Claude Free 공식 출처: https://support.claude.com/en/articles/8114491-get-started-with-claude</a:t>
            </a:r>
          </a:p>
          <a:p xmlns:a="http://schemas.openxmlformats.org/drawingml/2006/main">
            <a:r>
              <a:t/>
            </a:r>
          </a:p>
          <a:p xmlns:a="http://schemas.openxmlformats.org/drawingml/2006/main">
            <a:r>
              <a:t>Claude Free 공식 출처: https://support.claude.com/en/articles/11647753-how-do-usage-and-length-limits-work</a:t>
            </a:r>
          </a:p>
          <a:p xmlns:a="http://schemas.openxmlformats.org/drawingml/2006/main">
            <a:r>
              <a:t/>
            </a:r>
          </a:p>
          <a:p xmlns:a="http://schemas.openxmlformats.org/drawingml/2006/main">
            <a:r>
              <a:t>Claude Free 공식 출처: https://support.claude.com/en/articles/12466728-troubleshoot-claude-error-messages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9. 질문에 넣을 업무 조건</a:t>
            </a:r>
          </a:p>
          <a:p xmlns:a="http://schemas.openxmlformats.org/drawingml/2006/main">
            <a:r>
              <a:t/>
            </a:r>
          </a:p>
          <a:p xmlns:a="http://schemas.openxmlformats.org/drawingml/2006/main">
            <a:r>
              <a:t>시간: 시작 후 17–20분, 3분 진행.</a:t>
            </a:r>
          </a:p>
          <a:p xmlns:a="http://schemas.openxmlformats.org/drawingml/2006/main">
            <a:r>
              <a:t/>
            </a:r>
          </a:p>
          <a:p xmlns:a="http://schemas.openxmlformats.org/drawingml/2006/main">
            <a:r>
              <a:t>말할 내용: 웹의 전체 복사는 질문과 자료를 함께 가져옵니다. 붙여넣은 뒤에는 첫머리와 마지막 문장이 포함됐는지 확인하고 한 번만 전송하세요. 이미 응답한 내용을 고칠 때는 바꿀 조건을 짧게 적습니다. 원문에 없는 사실을 더 구체적으로 만들어 달라고 요청하지 않습니다.</a:t>
            </a:r>
          </a:p>
          <a:p xmlns:a="http://schemas.openxmlformats.org/drawingml/2006/main">
            <a:r>
              <a:t/>
            </a:r>
          </a:p>
          <a:p xmlns:a="http://schemas.openxmlformats.org/drawingml/2006/main">
            <a:r>
              <a:t>참가자에게 할 질문: 받을 문서의 형식이 질문에 들어 있나요?</a:t>
            </a:r>
          </a:p>
          <a:p xmlns:a="http://schemas.openxmlformats.org/drawingml/2006/main">
            <a:r>
              <a:t/>
            </a:r>
          </a:p>
          <a:p xmlns:a="http://schemas.openxmlformats.org/drawingml/2006/main">
            <a:r>
              <a:t>예상 오류와 대응: 자료 일부만 복사하거나 지시문만 보내는 오류를 확인합니다.</a:t>
            </a:r>
          </a:p>
          <a:p xmlns:a="http://schemas.openxmlformats.org/drawingml/2006/main">
            <a:r>
              <a:t/>
            </a:r>
          </a:p>
          <a:p xmlns:a="http://schemas.openxmlformats.org/drawingml/2006/main">
            <a:r>
              <a:t>수업 링크: https://zeusk302-png.github.io/gyeongnam-ai-workshop/#orientation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10. Gemini 실습 상황</a:t>
            </a:r>
          </a:p>
          <a:p xmlns:a="http://schemas.openxmlformats.org/drawingml/2006/main">
            <a:r>
              <a:t/>
            </a:r>
          </a:p>
          <a:p xmlns:a="http://schemas.openxmlformats.org/drawingml/2006/main">
            <a:r>
              <a:t>시간: 시작 후 20–22분, 2분 진행.</a:t>
            </a:r>
          </a:p>
          <a:p xmlns:a="http://schemas.openxmlformats.org/drawingml/2006/main">
            <a:r>
              <a:t/>
            </a:r>
          </a:p>
          <a:p xmlns:a="http://schemas.openxmlformats.org/drawingml/2006/main">
            <a:r>
              <a:t>말할 내용: 메일 수가 많아 보이더라도 같은 건의 추가 회신은 묶어야 합니다. 마지막 요청이 앞선 요청을 취소하는 경우도 있습니다. 이 구간은 자료를 읽고 정리한 다음 원문의 조건이 답장에 남아 있는지 확인하는 연습입니다.</a:t>
            </a:r>
          </a:p>
          <a:p xmlns:a="http://schemas.openxmlformats.org/drawingml/2006/main">
            <a:r>
              <a:t/>
            </a:r>
          </a:p>
          <a:p xmlns:a="http://schemas.openxmlformats.org/drawingml/2006/main">
            <a:r>
              <a:t>참가자에게 할 질문: 메일 제목이 달라졌다면 새 문의로 세어야 할까요?</a:t>
            </a:r>
          </a:p>
          <a:p xmlns:a="http://schemas.openxmlformats.org/drawingml/2006/main">
            <a:r>
              <a:t/>
            </a:r>
          </a:p>
          <a:p xmlns:a="http://schemas.openxmlformats.org/drawingml/2006/main">
            <a:r>
              <a:t>예상 오류와 대응: 추가 메일을 별도 접수 건으로 세거나 기준 시각 전에 이미 마감됐다고 쓰는 오류가 예상됩니다.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11. 먼저 읽는 문의 한 건</a:t>
            </a:r>
          </a:p>
          <a:p xmlns:a="http://schemas.openxmlformats.org/drawingml/2006/main">
            <a:r>
              <a:t/>
            </a:r>
          </a:p>
          <a:p xmlns:a="http://schemas.openxmlformats.org/drawingml/2006/main">
            <a:r>
              <a:t>시간: 시작 후 22–24분, 2분 진행.</a:t>
            </a:r>
          </a:p>
          <a:p xmlns:a="http://schemas.openxmlformats.org/drawingml/2006/main">
            <a:r>
              <a:t/>
            </a:r>
          </a:p>
          <a:p xmlns:a="http://schemas.openxmlformats.org/drawingml/2006/main">
            <a:r>
              <a:t>말할 내용: 90초 동안 S01만 읽게 합니다. 끝내지 못해도 미완성이라고 기록하고 다음 단계로 갑니다. 이 활동은 같은 건수의 전후 성능 비교가 아니므로 이후 여섯 건을 처리한 시간과 나눠 절감률을 만들지 않습니다.</a:t>
            </a:r>
          </a:p>
          <a:p xmlns:a="http://schemas.openxmlformats.org/drawingml/2006/main">
            <a:r>
              <a:t/>
            </a:r>
          </a:p>
          <a:p xmlns:a="http://schemas.openxmlformats.org/drawingml/2006/main">
            <a:r>
              <a:t>참가자에게 할 질문: 임시 답장은 이미 발송된 안내인가요?</a:t>
            </a:r>
          </a:p>
          <a:p xmlns:a="http://schemas.openxmlformats.org/drawingml/2006/main">
            <a:r>
              <a:t/>
            </a:r>
          </a:p>
          <a:p xmlns:a="http://schemas.openxmlformats.org/drawingml/2006/main">
            <a:r>
              <a:t>예상 오류와 대응: 미발송 임시 답장의 신분증 요청을 과거에 실제로 보낸 안내로 서술하지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S01의 마지막 요청을 직접 읽고 답장에 넣을 내용을 메모합니다.</a:t>
            </a:r>
          </a:p>
          <a:p xmlns:a="http://schemas.openxmlformats.org/drawingml/2006/main">
            <a:r>
              <a:t/>
            </a:r>
          </a:p>
          <a:p xmlns:a="http://schemas.openxmlformats.org/drawingml/2006/main">
            <a:r>
              <a:t>진행 순서: 마감 시각과 학생이 직접 할 일을 표시 / 자료에 없는 승인·여석·세부 순서를 표시 / 임시 답장의 잘못된 문장 두 곳에 밑줄</a:t>
            </a:r>
          </a:p>
          <a:p xmlns:a="http://schemas.openxmlformats.org/drawingml/2006/main">
            <a:r>
              <a:t/>
            </a:r>
          </a:p>
          <a:p xmlns:a="http://schemas.openxmlformats.org/drawingml/2006/main">
            <a:r>
              <a:t>남길 결과: 메모 한 장과 읽는 데 걸린 시간</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12. 질문과 원자료 입력</a:t>
            </a:r>
          </a:p>
          <a:p xmlns:a="http://schemas.openxmlformats.org/drawingml/2006/main">
            <a:r>
              <a:t/>
            </a:r>
          </a:p>
          <a:p xmlns:a="http://schemas.openxmlformats.org/drawingml/2006/main">
            <a:r>
              <a:t>시간: 시작 후 24–27분, 3분 진행.</a:t>
            </a:r>
          </a:p>
          <a:p xmlns:a="http://schemas.openxmlformats.org/drawingml/2006/main">
            <a:r>
              <a:t/>
            </a:r>
          </a:p>
          <a:p xmlns:a="http://schemas.openxmlformats.org/drawingml/2006/main">
            <a:r>
              <a:t>말할 내용: 화면은 기본연습으로 입력하는 방법을 보여 주는 참고입니다. 오늘의 질문은 여섯 건 분류와 세 건 답장입니다. 질문에 실제 메일 발송을 하지 말라는 조건이 있고, 원문 맨 아래의 P1부터 P10까지 들어 있는지 확인하세요.</a:t>
            </a:r>
          </a:p>
          <a:p xmlns:a="http://schemas.openxmlformats.org/drawingml/2006/main">
            <a:r>
              <a:t/>
            </a:r>
          </a:p>
          <a:p xmlns:a="http://schemas.openxmlformats.org/drawingml/2006/main">
            <a:r>
              <a:t>참가자에게 할 질문: 붙여넣은 내용 끝에 업무 기준이 포함됐나요?</a:t>
            </a:r>
          </a:p>
          <a:p xmlns:a="http://schemas.openxmlformats.org/drawingml/2006/main">
            <a:r>
              <a:t/>
            </a:r>
          </a:p>
          <a:p xmlns:a="http://schemas.openxmlformats.org/drawingml/2006/main">
            <a:r>
              <a:t>예상 오류와 대응: 기본연습 화면의 짧은 질문을 업무실습의 전체 질문으로 대신하지 않습니다.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 설명: 기본연습 입력 화면 참고. 오늘은 웹의 업무실습 11번 질문과 자료를 복사합니다.</a:t>
            </a:r>
          </a:p>
          <a:p xmlns:a="http://schemas.openxmlformats.org/drawingml/2006/main">
            <a:r>
              <a:t/>
            </a:r>
          </a:p>
          <a:p xmlns:a="http://schemas.openxmlformats.org/drawingml/2006/main">
            <a:r>
              <a:t>화면 원본: assets/captures/g01-input.png</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13. 처리표 6행과 답장 3건</a:t>
            </a:r>
          </a:p>
          <a:p xmlns:a="http://schemas.openxmlformats.org/drawingml/2006/main">
            <a:r>
              <a:t/>
            </a:r>
          </a:p>
          <a:p xmlns:a="http://schemas.openxmlformats.org/drawingml/2006/main">
            <a:r>
              <a:t>시간: 시작 후 27–32분, 5분 진행.</a:t>
            </a:r>
          </a:p>
          <a:p xmlns:a="http://schemas.openxmlformats.org/drawingml/2006/main">
            <a:r>
              <a:t/>
            </a:r>
          </a:p>
          <a:p xmlns:a="http://schemas.openxmlformats.org/drawingml/2006/main">
            <a:r>
              <a:t>말할 내용: 앞서 직접 읽은 S01을 먼저 대조하고 나머지 건을 확인하게 합니다. S03의 오류 발생 시각과 수신 시각을 구별하고 S05는 19시 접수가 가능한지 물었을 뿐 이미 마감 뒤에 보낸 문의가 아닙니다. 수정 요청은 필요한 항목을 모아 한 번 보냅니다.</a:t>
            </a:r>
          </a:p>
          <a:p xmlns:a="http://schemas.openxmlformats.org/drawingml/2006/main">
            <a:r>
              <a:t/>
            </a:r>
          </a:p>
          <a:p xmlns:a="http://schemas.openxmlformats.org/drawingml/2006/main">
            <a:r>
              <a:t>참가자에게 할 질문: S04의 마지막 요청은 취소인가요, 유지인가요?</a:t>
            </a:r>
          </a:p>
          <a:p xmlns:a="http://schemas.openxmlformats.org/drawingml/2006/main">
            <a:r>
              <a:t/>
            </a:r>
          </a:p>
          <a:p xmlns:a="http://schemas.openxmlformats.org/drawingml/2006/main">
            <a:r>
              <a:t>예상 오류와 대응: 원문에 없는 포털 주소, 장애 복구 시각, 예외 불가 원칙을 덧붙이지 않았는지 봅니다.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실습 안내: 응답에서 건별 마지막 요청을 찾고 답장 초안을 확인합니다.</a:t>
            </a:r>
          </a:p>
          <a:p xmlns:a="http://schemas.openxmlformats.org/drawingml/2006/main">
            <a:r>
              <a:t/>
            </a:r>
          </a:p>
          <a:p xmlns:a="http://schemas.openxmlformats.org/drawingml/2006/main">
            <a:r>
              <a:t>진행 순서: S01·S03·S05 답장은 각각 250~400자 / S04의 취소 철회와 S06의 출석 문의 구분 / 나머지 문의는 답할 문장과 확인할 담당을 분리</a:t>
            </a:r>
          </a:p>
          <a:p xmlns:a="http://schemas.openxmlformats.org/drawingml/2006/main">
            <a:r>
              <a:t/>
            </a:r>
          </a:p>
          <a:p xmlns:a="http://schemas.openxmlformats.org/drawingml/2006/main">
            <a:r>
              <a:t>남길 결과: 처리표 6행과 우선 답장 3건</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14. 수정 요청 뒤에도 남은 단정</a:t>
            </a:r>
          </a:p>
          <a:p xmlns:a="http://schemas.openxmlformats.org/drawingml/2006/main">
            <a:r>
              <a:t/>
            </a:r>
          </a:p>
          <a:p xmlns:a="http://schemas.openxmlformats.org/drawingml/2006/main">
            <a:r>
              <a:t>시간: 시작 후 32–34분, 2분 진행.</a:t>
            </a:r>
          </a:p>
          <a:p xmlns:a="http://schemas.openxmlformats.org/drawingml/2006/main">
            <a:r>
              <a:t/>
            </a:r>
          </a:p>
          <a:p xmlns:a="http://schemas.openxmlformats.org/drawingml/2006/main">
            <a:r>
              <a:t>말할 내용: 이 실제 응답은 수정했다고 설명하지만 마감 후 접수 불가 원칙이라는 표현을 남겼습니다. 제공된 자료에는 마감 후 예외 접수 기준이 없으므로 불가까지 확정할 수 없습니다. 수정 완료라는 선언보다 문장 자체를 봅니다.</a:t>
            </a:r>
          </a:p>
          <a:p xmlns:a="http://schemas.openxmlformats.org/drawingml/2006/main">
            <a:r>
              <a:t/>
            </a:r>
          </a:p>
          <a:p xmlns:a="http://schemas.openxmlformats.org/drawingml/2006/main">
            <a:r>
              <a:t>참가자에게 할 질문: 응답이 “수정했다”고 말하면 검토가 끝났나요?</a:t>
            </a:r>
          </a:p>
          <a:p xmlns:a="http://schemas.openxmlformats.org/drawingml/2006/main">
            <a:r>
              <a:t/>
            </a:r>
          </a:p>
          <a:p xmlns:a="http://schemas.openxmlformats.org/drawingml/2006/main">
            <a:r>
              <a:t>예상 오류와 대응: AI의 수정 이유를 실제 수정된 답장과 혼동하거나 승인 불가를 보수적인 답이라고 그대로 두는 오류를 확인합니다.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 설명: 업무실습 실제 재검토 화면 일부 확대. 수정 응답도 원문과 대조합니다.</a:t>
            </a:r>
          </a:p>
          <a:p xmlns:a="http://schemas.openxmlformats.org/drawingml/2006/main">
            <a:r>
              <a:t/>
            </a:r>
          </a:p>
          <a:p xmlns:a="http://schemas.openxmlformats.org/drawingml/2006/main">
            <a:r>
              <a:t>화면 원본: assets/captures/w01-gemini-mail-review.png</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15. 답장 짝 검토</a:t>
            </a:r>
          </a:p>
          <a:p xmlns:a="http://schemas.openxmlformats.org/drawingml/2006/main">
            <a:r>
              <a:t/>
            </a:r>
          </a:p>
          <a:p xmlns:a="http://schemas.openxmlformats.org/drawingml/2006/main">
            <a:r>
              <a:t>시간: 시작 후 34–38분, 4분 진행.</a:t>
            </a:r>
          </a:p>
          <a:p xmlns:a="http://schemas.openxmlformats.org/drawingml/2006/main">
            <a:r>
              <a:t/>
            </a:r>
          </a:p>
          <a:p xmlns:a="http://schemas.openxmlformats.org/drawingml/2006/main">
            <a:r>
              <a:t>말할 내용: 짝에게 답장 한 건을 보여 주고 날짜 한 곳과 확정 표현 한 곳을 찾게 합니다. 표의 오른쪽은 문장 수정 방향이며 문의별 다음 행동을 포함해 자연스럽게 연결해야 합니다. 같은 문장을 모든 학생에게 반복해서 넣지 않습니다.</a:t>
            </a:r>
          </a:p>
          <a:p xmlns:a="http://schemas.openxmlformats.org/drawingml/2006/main">
            <a:r>
              <a:t/>
            </a:r>
          </a:p>
          <a:p xmlns:a="http://schemas.openxmlformats.org/drawingml/2006/main">
            <a:r>
              <a:t>참가자에게 할 질문: 내 답장에서 근거 없이 강해진 표현은 무엇인가요?</a:t>
            </a:r>
          </a:p>
          <a:p xmlns:a="http://schemas.openxmlformats.org/drawingml/2006/main">
            <a:r>
              <a:t/>
            </a:r>
          </a:p>
          <a:p xmlns:a="http://schemas.openxmlformats.org/drawingml/2006/main">
            <a:r>
              <a:t>예상 오류와 대응: 승인 여부를 알 수 없다는 말만 남기고 학생이 할 일을 빼지 않도록 확인합니다.</a:t>
            </a:r>
          </a:p>
          <a:p xmlns:a="http://schemas.openxmlformats.org/drawingml/2006/main">
            <a:r>
              <a:t/>
            </a:r>
          </a:p>
          <a:p xmlns:a="http://schemas.openxmlformats.org/drawingml/2006/main">
            <a:r>
              <a:t>수업 링크: https://zeusk302-png.github.io/gyeongnam-ai-workshop/#g-email</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16. 회의에서 바뀐 결정</a:t>
            </a:r>
          </a:p>
          <a:p xmlns:a="http://schemas.openxmlformats.org/drawingml/2006/main">
            <a:r>
              <a:t/>
            </a:r>
          </a:p>
          <a:p xmlns:a="http://schemas.openxmlformats.org/drawingml/2006/main">
            <a:r>
              <a:t>시간: 시작 후 38–40분, 2분 진행.</a:t>
            </a:r>
          </a:p>
          <a:p xmlns:a="http://schemas.openxmlformats.org/drawingml/2006/main">
            <a:r>
              <a:t/>
            </a:r>
          </a:p>
          <a:p xmlns:a="http://schemas.openxmlformats.org/drawingml/2006/main">
            <a:r>
              <a:t>말할 내용: 회의록은 길이를 줄이기보다 현재 적용할 내용을 정하는 일이 중요합니다. 같은 업무의 날짜가 두 번 나왔을 때는 마지막 정정의 범위를 확인합니다. 이 회의의 신청 마감은 10월 23일이며, 다음 실습의 연장 승인을 이 회의에 섞지 않습니다.</a:t>
            </a:r>
          </a:p>
          <a:p xmlns:a="http://schemas.openxmlformats.org/drawingml/2006/main">
            <a:r>
              <a:t/>
            </a:r>
          </a:p>
          <a:p xmlns:a="http://schemas.openxmlformats.org/drawingml/2006/main">
            <a:r>
              <a:t>참가자에게 할 질문: 시설 점검은 두 번 하는 일인가요, 같은 일을 정정한 것인가요?</a:t>
            </a:r>
          </a:p>
          <a:p xmlns:a="http://schemas.openxmlformats.org/drawingml/2006/main">
            <a:r>
              <a:t/>
            </a:r>
          </a:p>
          <a:p xmlns:a="http://schemas.openxmlformats.org/drawingml/2006/main">
            <a:r>
              <a:t>예상 오류와 대응: 정정 전 날짜를 일정표에 남기거나 두 개 업무로 세는 오류를 확인합니다.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17. 다음 주 업무회의용 인계표</a:t>
            </a:r>
          </a:p>
          <a:p xmlns:a="http://schemas.openxmlformats.org/drawingml/2006/main">
            <a:r>
              <a:t/>
            </a:r>
          </a:p>
          <a:p xmlns:a="http://schemas.openxmlformats.org/drawingml/2006/main">
            <a:r>
              <a:t>시간: 시작 후 40–44분, 4분 진행.</a:t>
            </a:r>
          </a:p>
          <a:p xmlns:a="http://schemas.openxmlformats.org/drawingml/2006/main">
            <a:r>
              <a:t/>
            </a:r>
          </a:p>
          <a:p xmlns:a="http://schemas.openxmlformats.org/drawingml/2006/main">
            <a:r>
              <a:t>말할 내용: 웹 질문을 복사해 회의 전체를 넣습니다. 모든 발언을 요약하게 하기보다 다음 주에 누가 무슨 일을 할지 보이는 표를 받습니다. 응답을 받으면 시설 점검과 로그인 안내 날짜부터 확인하세요.</a:t>
            </a:r>
          </a:p>
          <a:p xmlns:a="http://schemas.openxmlformats.org/drawingml/2006/main">
            <a:r>
              <a:t/>
            </a:r>
          </a:p>
          <a:p xmlns:a="http://schemas.openxmlformats.org/drawingml/2006/main">
            <a:r>
              <a:t>참가자에게 할 질문: 담당자가 같고 마감일이 같으면 같은 업무인가요?</a:t>
            </a:r>
          </a:p>
          <a:p xmlns:a="http://schemas.openxmlformats.org/drawingml/2006/main">
            <a:r>
              <a:t/>
            </a:r>
          </a:p>
          <a:p xmlns:a="http://schemas.openxmlformats.org/drawingml/2006/main">
            <a:r>
              <a:t>예상 오류와 대응: 수정 예산표 공유와 장비 예약 확인을 하나로 합쳐 누락하지 않도록 봅니다.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실습 안내: 회의 원문을 새 대화에 넣어 최종 결정과 후속 업무를 정리합니다.</a:t>
            </a:r>
          </a:p>
          <a:p xmlns:a="http://schemas.openxmlformats.org/drawingml/2006/main">
            <a:r>
              <a:t/>
            </a:r>
          </a:p>
          <a:p xmlns:a="http://schemas.openxmlformats.org/drawingml/2006/main">
            <a:r>
              <a:t>진행 순서: 최종 결정은 주제별로 6개 이내 / 보류·미승인·담당 미정은 별도 목록 / 업무마다 담당, 마감일, 선행 확인과 발언 시각</a:t>
            </a:r>
          </a:p>
          <a:p xmlns:a="http://schemas.openxmlformats.org/drawingml/2006/main">
            <a:r>
              <a:t/>
            </a:r>
          </a:p>
          <a:p xmlns:a="http://schemas.openxmlformats.org/drawingml/2006/main">
            <a:r>
              <a:t>남길 결과: 후속 업무표와 정정 전후 기록</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18. 회의 후속 업무 9건</a:t>
            </a:r>
          </a:p>
          <a:p xmlns:a="http://schemas.openxmlformats.org/drawingml/2006/main">
            <a:r>
              <a:t/>
            </a:r>
          </a:p>
          <a:p xmlns:a="http://schemas.openxmlformats.org/drawingml/2006/main">
            <a:r>
              <a:t>시간: 시작 후 44–48분, 4분 진행.</a:t>
            </a:r>
          </a:p>
          <a:p xmlns:a="http://schemas.openxmlformats.org/drawingml/2006/main">
            <a:r>
              <a:t/>
            </a:r>
          </a:p>
          <a:p xmlns:a="http://schemas.openxmlformats.org/drawingml/2006/main">
            <a:r>
              <a:t>말할 내용: 각자 만든 표와 아홉 건을 대조합니다. 문구가 같을 필요는 없지만 담당, 마감, 업무 범위가 달라서는 안 됩니다. 누락된 업무 한 개를 발견하면 원문 시각을 찾아 자신의 표에 반영하게 합니다.</a:t>
            </a:r>
          </a:p>
          <a:p xmlns:a="http://schemas.openxmlformats.org/drawingml/2006/main">
            <a:r>
              <a:t/>
            </a:r>
          </a:p>
          <a:p xmlns:a="http://schemas.openxmlformats.org/drawingml/2006/main">
            <a:r>
              <a:t>참가자에게 할 질문: 내 표에서 빠진 업무와 그 발언 시각은 무엇인가요?</a:t>
            </a:r>
          </a:p>
          <a:p xmlns:a="http://schemas.openxmlformats.org/drawingml/2006/main">
            <a:r>
              <a:t/>
            </a:r>
          </a:p>
          <a:p xmlns:a="http://schemas.openxmlformats.org/drawingml/2006/main">
            <a:r>
              <a:t>예상 오류와 대응: 모든 업무를 완료로 표시하거나, 보류 안건에 담당과 날짜를 임의로 배정하는 오류를 봅니다.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19. 결정·보류·완료의 구분</a:t>
            </a:r>
          </a:p>
          <a:p xmlns:a="http://schemas.openxmlformats.org/drawingml/2006/main">
            <a:r>
              <a:t/>
            </a:r>
          </a:p>
          <a:p xmlns:a="http://schemas.openxmlformats.org/drawingml/2006/main">
            <a:r>
              <a:t>시간: 시작 후 48–51분, 3분 진행.</a:t>
            </a:r>
          </a:p>
          <a:p xmlns:a="http://schemas.openxmlformats.org/drawingml/2006/main">
            <a:r>
              <a:t/>
            </a:r>
          </a:p>
          <a:p xmlns:a="http://schemas.openxmlformats.org/drawingml/2006/main">
            <a:r>
              <a:t>말할 내용: 결정과 완료는 서로 다른 축입니다. 예산을 정했다고 돈을 지급한 것이 아니며, 담당과 마감일이 있다고 업무가 끝난 것도 아닙니다. 표의 상태 표현을 참가자가 직접 읽고 원문으로 설명하게 합니다.</a:t>
            </a:r>
          </a:p>
          <a:p xmlns:a="http://schemas.openxmlformats.org/drawingml/2006/main">
            <a:r>
              <a:t/>
            </a:r>
          </a:p>
          <a:p xmlns:a="http://schemas.openxmlformats.org/drawingml/2006/main">
            <a:r>
              <a:t>참가자에게 할 질문: “결정됨”을 “완료됨”으로 바꿀 수 있는 추가 기록은 무엇일까요?</a:t>
            </a:r>
          </a:p>
          <a:p xmlns:a="http://schemas.openxmlformats.org/drawingml/2006/main">
            <a:r>
              <a:t/>
            </a:r>
          </a:p>
          <a:p xmlns:a="http://schemas.openxmlformats.org/drawingml/2006/main">
            <a:r>
              <a:t>예상 오류와 대응: 보류를 취소로 바꾸거나 미승인을 영구 불가로 바꾸지 않습니다.</a:t>
            </a:r>
          </a:p>
          <a:p xmlns:a="http://schemas.openxmlformats.org/drawingml/2006/main">
            <a:r>
              <a:t/>
            </a:r>
          </a:p>
          <a:p xmlns:a="http://schemas.openxmlformats.org/drawingml/2006/main">
            <a:r>
              <a:t>수업 링크: https://zeusk302-png.github.io/gyeongnam-ai-workshop/#g-meeting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20. 구매 요청 24행의 검토</a:t>
            </a:r>
          </a:p>
          <a:p xmlns:a="http://schemas.openxmlformats.org/drawingml/2006/main">
            <a:r>
              <a:t/>
            </a:r>
          </a:p>
          <a:p xmlns:a="http://schemas.openxmlformats.org/drawingml/2006/main">
            <a:r>
              <a:t>시간: 시작 후 51–54분, 3분 진행.</a:t>
            </a:r>
          </a:p>
          <a:p xmlns:a="http://schemas.openxmlformats.org/drawingml/2006/main">
            <a:r>
              <a:t/>
            </a:r>
          </a:p>
          <a:p xmlns:a="http://schemas.openxmlformats.org/drawingml/2006/main">
            <a:r>
              <a:t>말할 내용: 앞의 여섯 행 예산과 달리 이번에는 세 행사의 24행을 검토합니다. 곱셈만 맞아도 중복이나 취소가 있으면 지급 검토액은 달라집니다. 원본 행 ID를 남겨 수정 이유를 추적할 수 있게 합니다.</a:t>
            </a:r>
          </a:p>
          <a:p xmlns:a="http://schemas.openxmlformats.org/drawingml/2006/main">
            <a:r>
              <a:t/>
            </a:r>
          </a:p>
          <a:p xmlns:a="http://schemas.openxmlformats.org/drawingml/2006/main">
            <a:r>
              <a:t>참가자에게 할 질문: 견적을 받았다는 기록만으로 지급 검토액에 포함할 수 있나요?</a:t>
            </a:r>
          </a:p>
          <a:p xmlns:a="http://schemas.openxmlformats.org/drawingml/2006/main">
            <a:r>
              <a:t/>
            </a:r>
          </a:p>
          <a:p xmlns:a="http://schemas.openxmlformats.org/drawingml/2006/main">
            <a:r>
              <a:t>예상 오류와 대응: A행사 운영 장비를 참가자 대여 노트북으로 바꾸거나 취소 범위를 넓히지 않습니다.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21. 세 가지 합계의 의미</a:t>
            </a:r>
          </a:p>
          <a:p xmlns:a="http://schemas.openxmlformats.org/drawingml/2006/main">
            <a:r>
              <a:t/>
            </a:r>
          </a:p>
          <a:p xmlns:a="http://schemas.openxmlformats.org/drawingml/2006/main">
            <a:r>
              <a:t>시간: 시작 후 54–58분, 4분 진행.</a:t>
            </a:r>
          </a:p>
          <a:p xmlns:a="http://schemas.openxmlformats.org/drawingml/2006/main">
            <a:r>
              <a:t/>
            </a:r>
          </a:p>
          <a:p xmlns:a="http://schemas.openxmlformats.org/drawingml/2006/main">
            <a:r>
              <a:t>말할 내용: 응답을 받으면 A06과 B09를 직접 곱하고, B08과 C05의 근거 문서를 확인합니다. C09는 견적을 지우거나 단가를 0으로 바꾸지 말고 이번 반영액만 0으로 분리합니다. 기다리는 동안 각자 원문에서 확인할 행을 표시합니다.</a:t>
            </a:r>
          </a:p>
          <a:p xmlns:a="http://schemas.openxmlformats.org/drawingml/2006/main">
            <a:r>
              <a:t/>
            </a:r>
          </a:p>
          <a:p xmlns:a="http://schemas.openxmlformats.org/drawingml/2006/main">
            <a:r>
              <a:t>참가자에게 할 질문: C09의 0원은 무료 계약인가요, 이번 합계의 반영액인가요?</a:t>
            </a:r>
          </a:p>
          <a:p xmlns:a="http://schemas.openxmlformats.org/drawingml/2006/main">
            <a:r>
              <a:t/>
            </a:r>
          </a:p>
          <a:p xmlns:a="http://schemas.openxmlformats.org/drawingml/2006/main">
            <a:r>
              <a:t>예상 오류와 대응: 세 합계를 이름 없이 하나의 총액으로 출력하거나 승인 단가 적용과 단순 곱셈을 혼동하는 오류를 봅니다.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실습 안내: 24행 검토 질문을 전송하고 합계의 이름과 적용 규칙을 확인합니다.</a:t>
            </a:r>
          </a:p>
          <a:p xmlns:a="http://schemas.openxmlformats.org/drawingml/2006/main">
            <a:r>
              <a:t/>
            </a:r>
          </a:p>
          <a:p xmlns:a="http://schemas.openxmlformats.org/drawingml/2006/main">
            <a:r>
              <a:t>진행 순서: 기재금액을 그대로 더한 합계 / 원표 수량과 원표 단가로 곱한 합계 / 승인 단가·중복·취소·승인 대기를 반영한 합계</a:t>
            </a:r>
          </a:p>
          <a:p xmlns:a="http://schemas.openxmlformats.org/drawingml/2006/main">
            <a:r>
              <a:t/>
            </a:r>
          </a:p>
          <a:p xmlns:a="http://schemas.openxmlformats.org/drawingml/2006/main">
            <a:r>
              <a:t>남길 결과: 24행 검토표, 행사별 합계, 보완 요청문</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22. 행사별 한도까지 확인한 결과</a:t>
            </a:r>
          </a:p>
          <a:p xmlns:a="http://schemas.openxmlformats.org/drawingml/2006/main">
            <a:r>
              <a:t/>
            </a:r>
          </a:p>
          <a:p xmlns:a="http://schemas.openxmlformats.org/drawingml/2006/main">
            <a:r>
              <a:t>시간: 시작 후 58–65분, 7분 진행.</a:t>
            </a:r>
          </a:p>
          <a:p xmlns:a="http://schemas.openxmlformats.org/drawingml/2006/main">
            <a:r>
              <a:t/>
            </a:r>
          </a:p>
          <a:p xmlns:a="http://schemas.openxmlformats.org/drawingml/2006/main">
            <a:r>
              <a:t>말할 내용: 7분 중 앞의 3분은 계산기로 표를 대조하고 다음 2분은 보완 요청문을 작성하며 마지막 2분은 짝과 비교합니다. 최종 조정 합계는 2,530,000원입니다. B의 초과를 A나 C의 잔액으로 자동 충당할 승인은 없습니다. C09가 추후 승인될 때의 가정값을 현재 확정액과 섞지 않습니다.</a:t>
            </a:r>
          </a:p>
          <a:p xmlns:a="http://schemas.openxmlformats.org/drawingml/2006/main">
            <a:r>
              <a:t/>
            </a:r>
          </a:p>
          <a:p xmlns:a="http://schemas.openxmlformats.org/drawingml/2006/main">
            <a:r>
              <a:t>참가자에게 할 질문: 전체 예산이 남는데도 B에 보완 요청을 해야 하는 이유는 무엇인가요?</a:t>
            </a:r>
          </a:p>
          <a:p xmlns:a="http://schemas.openxmlformats.org/drawingml/2006/main">
            <a:r>
              <a:t/>
            </a:r>
          </a:p>
          <a:p xmlns:a="http://schemas.openxmlformats.org/drawingml/2006/main">
            <a:r>
              <a:t>예상 오류와 대응: 원금액을 삭제하거나 한도에 맞게 수량을 임의 조정하지 않도록 봅니다.</a:t>
            </a:r>
          </a:p>
          <a:p xmlns:a="http://schemas.openxmlformats.org/drawingml/2006/main">
            <a:r>
              <a:t/>
            </a:r>
          </a:p>
          <a:p xmlns:a="http://schemas.openxmlformats.org/drawingml/2006/main">
            <a:r>
              <a:t>수업 링크: https://zeusk302-png.github.io/gyeongnam-ai-workshop/#g-budget</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23. 휴식</a:t>
            </a:r>
          </a:p>
          <a:p xmlns:a="http://schemas.openxmlformats.org/drawingml/2006/main">
            <a:r>
              <a:t/>
            </a:r>
          </a:p>
          <a:p xmlns:a="http://schemas.openxmlformats.org/drawingml/2006/main">
            <a:r>
              <a:t>시간: 시작 후 65–70분, 5분 진행.</a:t>
            </a:r>
          </a:p>
          <a:p xmlns:a="http://schemas.openxmlformats.org/drawingml/2006/main">
            <a:r>
              <a:t/>
            </a:r>
          </a:p>
          <a:p xmlns:a="http://schemas.openxmlformats.org/drawingml/2006/main">
            <a:r>
              <a:t>말할 내용: 쉬기 전에 파일이 저장됐는지 확인하게 합니다. 다음 구간에는 네 문서를 별도 소스로 넣습니다. 로그인 문제를 해결하지 못한 참가자는 짝 실습이나 원문 대조 방식으로 이어가도록 안내합니다.</a:t>
            </a:r>
          </a:p>
          <a:p xmlns:a="http://schemas.openxmlformats.org/drawingml/2006/main">
            <a:r>
              <a:t/>
            </a:r>
          </a:p>
          <a:p xmlns:a="http://schemas.openxmlformats.org/drawingml/2006/main">
            <a:r>
              <a:t>참가자에게 할 질문: 저장한 결과를 다시 열 수 있나요?</a:t>
            </a:r>
          </a:p>
          <a:p xmlns:a="http://schemas.openxmlformats.org/drawingml/2006/main">
            <a:r>
              <a:t/>
            </a:r>
          </a:p>
          <a:p xmlns:a="http://schemas.openxmlformats.org/drawingml/2006/main">
            <a:r>
              <a:t>예상 오류와 대응: 쉬는 시간에 추가 생성 요청을 반복하다 사용량을 소모하지 않도록 안내합니다.</a:t>
            </a:r>
          </a:p>
          <a:p xmlns:a="http://schemas.openxmlformats.org/drawingml/2006/main">
            <a:r>
              <a:t/>
            </a:r>
          </a:p>
          <a:p xmlns:a="http://schemas.openxmlformats.org/drawingml/2006/main">
            <a:r>
              <a:t>수업 링크: https://zeusk302-png.github.io/gyeongnam-ai-workshop/#g-budget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24. NotebookLM 인수인계 실습</a:t>
            </a:r>
          </a:p>
          <a:p xmlns:a="http://schemas.openxmlformats.org/drawingml/2006/main">
            <a:r>
              <a:t/>
            </a:r>
          </a:p>
          <a:p xmlns:a="http://schemas.openxmlformats.org/drawingml/2006/main">
            <a:r>
              <a:t>시간: 시작 후 70–73분, 3분 진행.</a:t>
            </a:r>
          </a:p>
          <a:p xmlns:a="http://schemas.openxmlformats.org/drawingml/2006/main">
            <a:r>
              <a:t/>
            </a:r>
          </a:p>
          <a:p xmlns:a="http://schemas.openxmlformats.org/drawingml/2006/main">
            <a:r>
              <a:t>말할 내용: NotebookLM의 화면 이름은 계정에 따라 Gemini Notebook으로 보일 수 있습니다. 오늘은 검색 결과가 아니라 제공한 네 문서를 중심으로 답을 만듭니다. 최신 문서에도 미승인 제안이 있을 수 있으므로 작성일이 늦다고 모두 확정 내용으로 적용하지 않습니다.</a:t>
            </a:r>
          </a:p>
          <a:p xmlns:a="http://schemas.openxmlformats.org/drawingml/2006/main">
            <a:r>
              <a:t/>
            </a:r>
          </a:p>
          <a:p xmlns:a="http://schemas.openxmlformats.org/drawingml/2006/main">
            <a:r>
              <a:t>참가자에게 할 질문: 최신 문서에 적힌 모든 문장을 공지에 반영해도 될까요?</a:t>
            </a:r>
          </a:p>
          <a:p xmlns:a="http://schemas.openxmlformats.org/drawingml/2006/main">
            <a:r>
              <a:t/>
            </a:r>
          </a:p>
          <a:p xmlns:a="http://schemas.openxmlformats.org/drawingml/2006/main">
            <a:r>
              <a:t>예상 오류와 대응: 기존 기본연습의 두 소스만 넣고 새 질문을 실행하는 오류를 확인합니다.</a:t>
            </a:r>
          </a:p>
          <a:p xmlns:a="http://schemas.openxmlformats.org/drawingml/2006/main">
            <a:r>
              <a:t/>
            </a:r>
          </a:p>
          <a:p xmlns:a="http://schemas.openxmlformats.org/drawingml/2006/main">
            <a:r>
              <a:t>수업 링크: https://zeusk302-png.github.io/gyeongnam-ai-workshop/#n-create</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25. 인수인계 문서 네 개</a:t>
            </a:r>
          </a:p>
          <a:p xmlns:a="http://schemas.openxmlformats.org/drawingml/2006/main">
            <a:r>
              <a:t/>
            </a:r>
          </a:p>
          <a:p xmlns:a="http://schemas.openxmlformats.org/drawingml/2006/main">
            <a:r>
              <a:t>시간: 시작 후 73–77분, 4분 진행.</a:t>
            </a:r>
          </a:p>
          <a:p xmlns:a="http://schemas.openxmlformats.org/drawingml/2006/main">
            <a:r>
              <a:t/>
            </a:r>
          </a:p>
          <a:p xmlns:a="http://schemas.openxmlformats.org/drawingml/2006/main">
            <a:r>
              <a:t>말할 내용: 네 파일의 이름과 첫머리 날짜를 함께 읽습니다. 14A에서 최초 기준을 찾고 14C에서 무엇을 바꾸었는지 확인합니다. 14D의 D15는 문의 한 건이 아니라 공통 회신 확인 항목입니다. 소스 개수와 문의 건수를 따로 확인합니다.</a:t>
            </a:r>
          </a:p>
          <a:p xmlns:a="http://schemas.openxmlformats.org/drawingml/2006/main">
            <a:r>
              <a:t/>
            </a:r>
          </a:p>
          <a:p xmlns:a="http://schemas.openxmlformats.org/drawingml/2006/main">
            <a:r>
              <a:t>참가자에게 할 질문: 네 문서 중 승인 여부를 확인할 문서는 무엇인가요?</a:t>
            </a:r>
          </a:p>
          <a:p xmlns:a="http://schemas.openxmlformats.org/drawingml/2006/main">
            <a:r>
              <a:t/>
            </a:r>
          </a:p>
          <a:p xmlns:a="http://schemas.openxmlformats.org/drawingml/2006/main">
            <a:r>
              <a:t>예상 오류와 대응: D15를 열다섯 번째 문의로 세거나 답안 파일을 소스로 올리는 오류를 봅니다.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26. 소스 추가와 목록 확인</a:t>
            </a:r>
          </a:p>
          <a:p xmlns:a="http://schemas.openxmlformats.org/drawingml/2006/main">
            <a:r>
              <a:t/>
            </a:r>
          </a:p>
          <a:p xmlns:a="http://schemas.openxmlformats.org/drawingml/2006/main">
            <a:r>
              <a:t>시간: 시작 후 77–80분, 3분 진행.</a:t>
            </a:r>
          </a:p>
          <a:p xmlns:a="http://schemas.openxmlformats.org/drawingml/2006/main">
            <a:r>
              <a:t/>
            </a:r>
          </a:p>
          <a:p xmlns:a="http://schemas.openxmlformats.org/drawingml/2006/main">
            <a:r>
              <a:t>말할 내용: 이 참고 화면은 소스를 추가하는 위치를 보여 줍니다. 화면 안의 2/50은 과거 기본연습의 표시이며 오늘 소스 개수를 뜻하지 않습니다. 같은 내용을 두 번 넣지 말고 네 파일이 각각 하나씩 보이는지 확인하세요.</a:t>
            </a:r>
          </a:p>
          <a:p xmlns:a="http://schemas.openxmlformats.org/drawingml/2006/main">
            <a:r>
              <a:t/>
            </a:r>
          </a:p>
          <a:p xmlns:a="http://schemas.openxmlformats.org/drawingml/2006/main">
            <a:r>
              <a:t>참가자에게 할 질문: 목록에 14A, 14B, 14C, 14D가 모두 보이나요?</a:t>
            </a:r>
          </a:p>
          <a:p xmlns:a="http://schemas.openxmlformats.org/drawingml/2006/main">
            <a:r>
              <a:t/>
            </a:r>
          </a:p>
          <a:p xmlns:a="http://schemas.openxmlformats.org/drawingml/2006/main">
            <a:r>
              <a:t>예상 오류와 대응: 네 문서를 한 소스로 합치거나 소스 추가 완료 전 질문을 보내지 않도록 봅니다.</a:t>
            </a:r>
          </a:p>
          <a:p xmlns:a="http://schemas.openxmlformats.org/drawingml/2006/main">
            <a:r>
              <a:t/>
            </a:r>
          </a:p>
          <a:p xmlns:a="http://schemas.openxmlformats.org/drawingml/2006/main">
            <a:r>
              <a:t>수업 링크: https://zeusk302-png.github.io/gyeongnam-ai-workshop/#n-sources</a:t>
            </a:r>
          </a:p>
          <a:p xmlns:a="http://schemas.openxmlformats.org/drawingml/2006/main">
            <a:r>
              <a:t/>
            </a:r>
          </a:p>
          <a:p xmlns:a="http://schemas.openxmlformats.org/drawingml/2006/main">
            <a:r>
              <a:t>화면 설명: 기본연습의 소스 추가 화면 참고. 오늘은 14A~14D 네 파일을 각각 넣습니다.</a:t>
            </a:r>
          </a:p>
          <a:p xmlns:a="http://schemas.openxmlformats.org/drawingml/2006/main">
            <a:r>
              <a:t/>
            </a:r>
          </a:p>
          <a:p xmlns:a="http://schemas.openxmlformats.org/drawingml/2006/main">
            <a:r>
              <a:t>화면 원본: assets/captures/n02-upload.png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27. 승인된 변경의 범위</a:t>
            </a:r>
          </a:p>
          <a:p xmlns:a="http://schemas.openxmlformats.org/drawingml/2006/main">
            <a:r>
              <a:t/>
            </a:r>
          </a:p>
          <a:p xmlns:a="http://schemas.openxmlformats.org/drawingml/2006/main">
            <a:r>
              <a:t>시간: 시작 후 80–83분, 3분 진행.</a:t>
            </a:r>
          </a:p>
          <a:p xmlns:a="http://schemas.openxmlformats.org/drawingml/2006/main">
            <a:r>
              <a:t/>
            </a:r>
          </a:p>
          <a:p xmlns:a="http://schemas.openxmlformats.org/drawingml/2006/main">
            <a:r>
              <a:t>말할 내용: 신청 마감만 연장됐고 취소 기한은 그대로입니다. 장소는 추가 확인 요청을 받았지만 승인되지 않았습니다. 네 대는 총 확보량이므로 잔여량이나 특정 참가자의 배정 보장이 아닙니다.</a:t>
            </a:r>
          </a:p>
          <a:p xmlns:a="http://schemas.openxmlformats.org/drawingml/2006/main">
            <a:r>
              <a:t/>
            </a:r>
          </a:p>
          <a:p xmlns:a="http://schemas.openxmlformats.org/drawingml/2006/main">
            <a:r>
              <a:t>참가자에게 할 질문: 신청 마감이 3일 연장되면 취소 기한도 3일 늘어나나요?</a:t>
            </a:r>
          </a:p>
          <a:p xmlns:a="http://schemas.openxmlformats.org/drawingml/2006/main">
            <a:r>
              <a:t/>
            </a:r>
          </a:p>
          <a:p xmlns:a="http://schemas.openxmlformats.org/drawingml/2006/main">
            <a:r>
              <a:t>예상 오류와 대응: 최신 문서에 등장한 301호를 확정 장소로 쓰지 않도록 확인합니다.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28. 바꿀 공지 세 곳과 남은 업무</a:t>
            </a:r>
          </a:p>
          <a:p xmlns:a="http://schemas.openxmlformats.org/drawingml/2006/main">
            <a:r>
              <a:t/>
            </a:r>
          </a:p>
          <a:p xmlns:a="http://schemas.openxmlformats.org/drawingml/2006/main">
            <a:r>
              <a:t>시간: 시작 후 83–87분, 4분 진행.</a:t>
            </a:r>
          </a:p>
          <a:p xmlns:a="http://schemas.openxmlformats.org/drawingml/2006/main">
            <a:r>
              <a:t/>
            </a:r>
          </a:p>
          <a:p xmlns:a="http://schemas.openxmlformats.org/drawingml/2006/main">
            <a:r>
              <a:t>말할 내용: 첫 질문은 현재 담당자가 무엇을 고쳐야 하는지 알 수 있는 표를 만듭니다. 승인 기록과 담당을 붙이도록 하고 문장만 고쳤다고 실제 게시 완료로 적지 않게 합니다. 답변에 인용이 없으면 그 행을 확인 필요로 표시하세요.</a:t>
            </a:r>
          </a:p>
          <a:p xmlns:a="http://schemas.openxmlformats.org/drawingml/2006/main">
            <a:r>
              <a:t/>
            </a:r>
          </a:p>
          <a:p xmlns:a="http://schemas.openxmlformats.org/drawingml/2006/main">
            <a:r>
              <a:t>참가자에게 할 질문: 세 곳 중 한 곳만 고친 기록으로 전체 완료를 표시할 수 있나요?</a:t>
            </a:r>
          </a:p>
          <a:p xmlns:a="http://schemas.openxmlformats.org/drawingml/2006/main">
            <a:r>
              <a:t/>
            </a:r>
          </a:p>
          <a:p xmlns:a="http://schemas.openxmlformats.org/drawingml/2006/main">
            <a:r>
              <a:t>예상 오류와 대응: 변경 승인과 공지 수정 완료를 같은 상태로 묶는 오류를 봅니다.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실습 안내: 첫 질문으로 최신 운영 조건과 구공지 수정표를 만듭니다.</a:t>
            </a:r>
          </a:p>
          <a:p xmlns:a="http://schemas.openxmlformats.org/drawingml/2006/main">
            <a:r>
              <a:t/>
            </a:r>
          </a:p>
          <a:p xmlns:a="http://schemas.openxmlformats.org/drawingml/2006/main">
            <a:r>
              <a:t>진행 순서: A3의 신청 마감 문장 / A5-2의 부서 전달용 문안 / C5에 보관된 포털 요약 문안 / 수정 요청과 수정 완료 회신을 구분</a:t>
            </a:r>
          </a:p>
          <a:p xmlns:a="http://schemas.openxmlformats.org/drawingml/2006/main">
            <a:r>
              <a:t/>
            </a:r>
          </a:p>
          <a:p xmlns:a="http://schemas.openxmlformats.org/drawingml/2006/main">
            <a:r>
              <a:t>남길 결과: 수정표 3행과 미완료 업무 5행 이내</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29. 네 소스를 사용한 실제 인계표</a:t>
            </a:r>
          </a:p>
          <a:p xmlns:a="http://schemas.openxmlformats.org/drawingml/2006/main">
            <a:r>
              <a:t/>
            </a:r>
          </a:p>
          <a:p xmlns:a="http://schemas.openxmlformats.org/drawingml/2006/main">
            <a:r>
              <a:t>시간: 시작 후 87–89분, 2분 진행.</a:t>
            </a:r>
          </a:p>
          <a:p xmlns:a="http://schemas.openxmlformats.org/drawingml/2006/main">
            <a:r>
              <a:t/>
            </a:r>
          </a:p>
          <a:p xmlns:a="http://schemas.openxmlformats.org/drawingml/2006/main">
            <a:r>
              <a:t>말할 내용: 실제 응답에서 인용 번호와 문단 ID를 함께 볼 수 있습니다. 문단 ID를 잘 적었다고 인용이 항상 맞는 것은 아니므로 직접 눌러 봅니다. 담당자에게 요구한 확인 시한을 참가자에게 회신을 보장한 시각으로 바꾸지 않습니다.</a:t>
            </a:r>
          </a:p>
          <a:p xmlns:a="http://schemas.openxmlformats.org/drawingml/2006/main">
            <a:r>
              <a:t/>
            </a:r>
          </a:p>
          <a:p xmlns:a="http://schemas.openxmlformats.org/drawingml/2006/main">
            <a:r>
              <a:t>참가자에게 할 질문: 이 표에 쓰인 “해야 함”은 현재 완료 상태인가요?</a:t>
            </a:r>
          </a:p>
          <a:p xmlns:a="http://schemas.openxmlformats.org/drawingml/2006/main">
            <a:r>
              <a:t/>
            </a:r>
          </a:p>
          <a:p xmlns:a="http://schemas.openxmlformats.org/drawingml/2006/main">
            <a:r>
              <a:t>예상 오류와 대응: 실행 요청문을 완료 증빙으로 읽지 않도록 합니다.</a:t>
            </a:r>
          </a:p>
          <a:p xmlns:a="http://schemas.openxmlformats.org/drawingml/2006/main">
            <a:r>
              <a:t/>
            </a:r>
          </a:p>
          <a:p xmlns:a="http://schemas.openxmlformats.org/drawingml/2006/main">
            <a:r>
              <a:t>수업 링크: https://zeusk302-png.github.io/gyeongnam-ai-workshop/#n-summary</a:t>
            </a:r>
          </a:p>
          <a:p xmlns:a="http://schemas.openxmlformats.org/drawingml/2006/main">
            <a:r>
              <a:t/>
            </a:r>
          </a:p>
          <a:p xmlns:a="http://schemas.openxmlformats.org/drawingml/2006/main">
            <a:r>
              <a:t>화면 설명: 업무실습 실제 응답 일부 확대. 확보, 배정, 회신의 상태를 따로 읽습니다.</a:t>
            </a:r>
          </a:p>
          <a:p xmlns:a="http://schemas.openxmlformats.org/drawingml/2006/main">
            <a:r>
              <a:t/>
            </a:r>
          </a:p>
          <a:p xmlns:a="http://schemas.openxmlformats.org/drawingml/2006/main">
            <a:r>
              <a:t>화면 원본: assets/captures/w02-notebook-handoff.png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30. 인용을 열어 원문 확인</a:t>
            </a:r>
          </a:p>
          <a:p xmlns:a="http://schemas.openxmlformats.org/drawingml/2006/main">
            <a:r>
              <a:t/>
            </a:r>
          </a:p>
          <a:p xmlns:a="http://schemas.openxmlformats.org/drawingml/2006/main">
            <a:r>
              <a:t>시간: 시작 후 89–92분, 3분 진행.</a:t>
            </a:r>
          </a:p>
          <a:p xmlns:a="http://schemas.openxmlformats.org/drawingml/2006/main">
            <a:r>
              <a:t/>
            </a:r>
          </a:p>
          <a:p xmlns:a="http://schemas.openxmlformats.org/drawingml/2006/main">
            <a:r>
              <a:t>말할 내용: 인용을 누르면 짧은 원문이나 소스 패널이 열립니다. 기본연습 화면의 날짜를 오늘 답으로 쓰지 말고 네 소스의 C2를 확인하세요. 문장 일부만 떼어 읽으면 취소 기한이나 적용 범위를 놓칠 수 있습니다.</a:t>
            </a:r>
          </a:p>
          <a:p xmlns:a="http://schemas.openxmlformats.org/drawingml/2006/main">
            <a:r>
              <a:t/>
            </a:r>
          </a:p>
          <a:p xmlns:a="http://schemas.openxmlformats.org/drawingml/2006/main">
            <a:r>
              <a:t>참가자에게 할 질문: 인용 문장의 앞뒤에서 달라지지 않은 조건은 무엇인가요?</a:t>
            </a:r>
          </a:p>
          <a:p xmlns:a="http://schemas.openxmlformats.org/drawingml/2006/main">
            <a:r>
              <a:t/>
            </a:r>
          </a:p>
          <a:p xmlns:a="http://schemas.openxmlformats.org/drawingml/2006/main">
            <a:r>
              <a:t>예상 오류와 대응: 인용 표시가 있다는 사실만으로 정확하다고 결론 내리지 않습니다.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기본연습의 인용 열기 조작 참고. 화면의 10월 23일은 구기한이며 오늘의 최신 마감이 아닙니다.</a:t>
            </a:r>
          </a:p>
          <a:p xmlns:a="http://schemas.openxmlformats.org/drawingml/2006/main">
            <a:r>
              <a:t/>
            </a:r>
          </a:p>
          <a:p xmlns:a="http://schemas.openxmlformats.org/drawingml/2006/main">
            <a:r>
              <a:t>화면 원본: assets/captures/n09-citation-a3.png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31. 참가자 FAQ 여섯 항목</a:t>
            </a:r>
          </a:p>
          <a:p xmlns:a="http://schemas.openxmlformats.org/drawingml/2006/main">
            <a:r>
              <a:t/>
            </a:r>
          </a:p>
          <a:p xmlns:a="http://schemas.openxmlformats.org/drawingml/2006/main">
            <a:r>
              <a:t>시간: 시작 후 92–96분, 4분 진행.</a:t>
            </a:r>
          </a:p>
          <a:p xmlns:a="http://schemas.openxmlformats.org/drawingml/2006/main">
            <a:r>
              <a:t/>
            </a:r>
          </a:p>
          <a:p xmlns:a="http://schemas.openxmlformats.org/drawingml/2006/main">
            <a:r>
              <a:t>말할 내용: 두 번째 질문으로 참가자에게 보낼 표를 만듭니다. 내부 예산이나 담당자 메모가 섞이면 외부 안내에서 덜어냅니다. 표를 짧게 줄이더라도 참가 확정과 개인별 배정의 조건은 남겨야 합니다.</a:t>
            </a:r>
          </a:p>
          <a:p xmlns:a="http://schemas.openxmlformats.org/drawingml/2006/main">
            <a:r>
              <a:t/>
            </a:r>
          </a:p>
          <a:p xmlns:a="http://schemas.openxmlformats.org/drawingml/2006/main">
            <a:r>
              <a:t>참가자에게 할 질문: 참가자에게 필요한 안내와 내부 인계 내용은 어떻게 다를까요?</a:t>
            </a:r>
          </a:p>
          <a:p xmlns:a="http://schemas.openxmlformats.org/drawingml/2006/main">
            <a:r>
              <a:t/>
            </a:r>
          </a:p>
          <a:p xmlns:a="http://schemas.openxmlformats.org/drawingml/2006/main">
            <a:r>
              <a:t>예상 오류와 대응: 내부 검토 메모를 답장 본문에 붙이거나 주차를 무료라고 확장하지 않도록 봅니다.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32. 실제 FAQ에서 마지막으로 고칠 것</a:t>
            </a:r>
          </a:p>
          <a:p xmlns:a="http://schemas.openxmlformats.org/drawingml/2006/main">
            <a:r>
              <a:t/>
            </a:r>
          </a:p>
          <a:p xmlns:a="http://schemas.openxmlformats.org/drawingml/2006/main">
            <a:r>
              <a:t>시간: 시작 후 96–100분, 4분 진행.</a:t>
            </a:r>
          </a:p>
          <a:p xmlns:a="http://schemas.openxmlformats.org/drawingml/2006/main">
            <a:r>
              <a:t/>
            </a:r>
          </a:p>
          <a:p xmlns:a="http://schemas.openxmlformats.org/drawingml/2006/main">
            <a:r>
              <a:t>말할 내용: 내용이 근거와 맞아도 그대로 보내기 어려운 출력이 있습니다. 화면에는 줄바꿈 태그와 내부 검토 설명이 남았습니다. 참가자는 필요한 답변만 읽도록 정리하고 근거는 담당자 확인란으로 분리합니다. 짝과 답변 한 행을 함께 고쳐 봅니다.</a:t>
            </a:r>
          </a:p>
          <a:p xmlns:a="http://schemas.openxmlformats.org/drawingml/2006/main">
            <a:r>
              <a:t/>
            </a:r>
          </a:p>
          <a:p xmlns:a="http://schemas.openxmlformats.org/drawingml/2006/main">
            <a:r>
              <a:t>참가자에게 할 질문: 형식을 정리하면서 사라지면 안 되는 조건은 무엇인가요?</a:t>
            </a:r>
          </a:p>
          <a:p xmlns:a="http://schemas.openxmlformats.org/drawingml/2006/main">
            <a:r>
              <a:t/>
            </a:r>
          </a:p>
          <a:p xmlns:a="http://schemas.openxmlformats.org/drawingml/2006/main">
            <a:r>
              <a:t>예상 오류와 대응: 보기 좋게 줄이는 과정에서 미확정 조건까지 지우지 않도록 확인합니다.</a:t>
            </a:r>
          </a:p>
          <a:p xmlns:a="http://schemas.openxmlformats.org/drawingml/2006/main">
            <a:r>
              <a:t/>
            </a:r>
          </a:p>
          <a:p xmlns:a="http://schemas.openxmlformats.org/drawingml/2006/main">
            <a:r>
              <a:t>수업 링크: https://zeusk302-png.github.io/gyeongnam-ai-workshop/#n-citation</a:t>
            </a:r>
          </a:p>
          <a:p xmlns:a="http://schemas.openxmlformats.org/drawingml/2006/main">
            <a:r>
              <a:t/>
            </a:r>
          </a:p>
          <a:p xmlns:a="http://schemas.openxmlformats.org/drawingml/2006/main">
            <a:r>
              <a:t>화면 설명: 업무실습 실제 응답 일부 확대. 사실 확인 뒤 문장과 표 형식도 정리합니다.</a:t>
            </a:r>
          </a:p>
          <a:p xmlns:a="http://schemas.openxmlformats.org/drawingml/2006/main">
            <a:r>
              <a:t/>
            </a:r>
          </a:p>
          <a:p xmlns:a="http://schemas.openxmlformats.org/drawingml/2006/main">
            <a:r>
              <a:t>화면 원본: assets/captures/w03-notebook-faq.png</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33. 답변 대기 문의 14건</a:t>
            </a:r>
          </a:p>
          <a:p xmlns:a="http://schemas.openxmlformats.org/drawingml/2006/main">
            <a:r>
              <a:t/>
            </a:r>
          </a:p>
          <a:p xmlns:a="http://schemas.openxmlformats.org/drawingml/2006/main">
            <a:r>
              <a:t>시간: 시작 후 100–105분, 5분 진행.</a:t>
            </a:r>
          </a:p>
          <a:p xmlns:a="http://schemas.openxmlformats.org/drawingml/2006/main">
            <a:r>
              <a:t/>
            </a:r>
          </a:p>
          <a:p xmlns:a="http://schemas.openxmlformats.org/drawingml/2006/main">
            <a:r>
              <a:t>말할 내용: 각 문의에 답할 내용과 확인할 내용이 함께 있을 수 있습니다. 하나의 상태만 고르더라도 확인할 항목 칸에서 남은 질문을 구체적으로 적게 합니다. 전체를 꼼꼼히 읽기 어려우면 D05, D08, D13을 우선 대조합니다.</a:t>
            </a:r>
          </a:p>
          <a:p xmlns:a="http://schemas.openxmlformats.org/drawingml/2006/main">
            <a:r>
              <a:t/>
            </a:r>
          </a:p>
          <a:p xmlns:a="http://schemas.openxmlformats.org/drawingml/2006/main">
            <a:r>
              <a:t>참가자에게 할 질문: 담당 확인이라고만 쓴 표를 다음 담당자가 바로 처리할 수 있나요?</a:t>
            </a:r>
          </a:p>
          <a:p xmlns:a="http://schemas.openxmlformats.org/drawingml/2006/main">
            <a:r>
              <a:t/>
            </a:r>
          </a:p>
          <a:p xmlns:a="http://schemas.openxmlformats.org/drawingml/2006/main">
            <a:r>
              <a:t>예상 오류와 대응: 누구에게 무엇을 물을지 없이 확인 필요만 반복하거나 D15를 새 문의로 세지 않도록 봅니다.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실습 안내: 세 번째 질문으로 문의별 답변과 담당자에게 확인할 질문을 나눕니다.</a:t>
            </a:r>
          </a:p>
          <a:p xmlns:a="http://schemas.openxmlformats.org/drawingml/2006/main">
            <a:r>
              <a:t/>
            </a:r>
          </a:p>
          <a:p xmlns:a="http://schemas.openxmlformats.org/drawingml/2006/main">
            <a:r>
              <a:t>진행 순서: D01~D14를 중복 없이 처리표에 포함 / D01~D12 참가자 문의와 D13·D14 내부 문의 구분 / 답변 가능, 조건부 안내, 담당 확인을 선택 / 상태 옆에 무엇이 불확실한지 구체적으로 기록</a:t>
            </a:r>
          </a:p>
          <a:p xmlns:a="http://schemas.openxmlformats.org/drawingml/2006/main">
            <a:r>
              <a:t/>
            </a:r>
          </a:p>
          <a:p xmlns:a="http://schemas.openxmlformats.org/drawingml/2006/main">
            <a:r>
              <a:t>남길 결과: 문의 처리표 14행</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34. 자료 없음·미정·조건부 안내</a:t>
            </a:r>
          </a:p>
          <a:p xmlns:a="http://schemas.openxmlformats.org/drawingml/2006/main">
            <a:r>
              <a:t/>
            </a:r>
          </a:p>
          <a:p xmlns:a="http://schemas.openxmlformats.org/drawingml/2006/main">
            <a:r>
              <a:t>시간: 시작 후 105–108분, 3분 진행.</a:t>
            </a:r>
          </a:p>
          <a:p xmlns:a="http://schemas.openxmlformats.org/drawingml/2006/main">
            <a:r>
              <a:t/>
            </a:r>
          </a:p>
          <a:p xmlns:a="http://schemas.openxmlformats.org/drawingml/2006/main">
            <a:r>
              <a:t>말할 내용: 주차는 요금표가 없고 녹화는 결정이 미정입니다. 대여 기기는 일부 조건은 확정됐지만 개별 배정은 아직입니다. 각각의 답변에서 알고 있는 범위까지는 안내하고 남은 항목을 담당자에게 넘깁니다.</a:t>
            </a:r>
          </a:p>
          <a:p xmlns:a="http://schemas.openxmlformats.org/drawingml/2006/main">
            <a:r>
              <a:t/>
            </a:r>
          </a:p>
          <a:p xmlns:a="http://schemas.openxmlformats.org/drawingml/2006/main">
            <a:r>
              <a:t>참가자에게 할 질문: “녹화본을 제공하지 않습니다”로 바꿔도 될까요?</a:t>
            </a:r>
          </a:p>
          <a:p xmlns:a="http://schemas.openxmlformats.org/drawingml/2006/main">
            <a:r>
              <a:t/>
            </a:r>
          </a:p>
          <a:p xmlns:a="http://schemas.openxmlformats.org/drawingml/2006/main">
            <a:r>
              <a:t>예상 오류와 대응: 미정을 불가로, 자료 없음을 실제 없음으로 바꾸지 않도록 봅니다.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35. 완료 기록은 업무별로 다릅니다</a:t>
            </a:r>
          </a:p>
          <a:p xmlns:a="http://schemas.openxmlformats.org/drawingml/2006/main">
            <a:r>
              <a:t/>
            </a:r>
          </a:p>
          <a:p xmlns:a="http://schemas.openxmlformats.org/drawingml/2006/main">
            <a:r>
              <a:t>시간: 시작 후 108–111분, 3분 진행.</a:t>
            </a:r>
          </a:p>
          <a:p xmlns:a="http://schemas.openxmlformats.org/drawingml/2006/main">
            <a:r>
              <a:t/>
            </a:r>
          </a:p>
          <a:p xmlns:a="http://schemas.openxmlformats.org/drawingml/2006/main">
            <a:r>
              <a:t>말할 내용: 기본연습에서는 안내문 완료 기록이 없었지만 오늘 업무실습에는 최초 안내문 정리 완료 기록이 있습니다. 다만 변경 반영은 별도 업무이므로 모두 완료라고 합치지 않습니다. 문서 버전이 바뀌었을 때 답도 달라질 수 있음을 확인합니다.</a:t>
            </a:r>
          </a:p>
          <a:p xmlns:a="http://schemas.openxmlformats.org/drawingml/2006/main">
            <a:r>
              <a:t/>
            </a:r>
          </a:p>
          <a:p xmlns:a="http://schemas.openxmlformats.org/drawingml/2006/main">
            <a:r>
              <a:t>참가자에게 할 질문: 최초 안내문 작성 완료가 변경 공지 수정 완료까지 뜻하나요?</a:t>
            </a:r>
          </a:p>
          <a:p xmlns:a="http://schemas.openxmlformats.org/drawingml/2006/main">
            <a:r>
              <a:t/>
            </a:r>
          </a:p>
          <a:p xmlns:a="http://schemas.openxmlformats.org/drawingml/2006/main">
            <a:r>
              <a:t>예상 오류와 대응: 옛 기본연습의 정답을 새로운 원문에 그대로 적용하지 않습니다.</a:t>
            </a:r>
          </a:p>
          <a:p xmlns:a="http://schemas.openxmlformats.org/drawingml/2006/main">
            <a:r>
              <a:t/>
            </a:r>
          </a:p>
          <a:p xmlns:a="http://schemas.openxmlformats.org/drawingml/2006/main">
            <a:r>
              <a:t>수업 링크: https://zeusk302-png.github.io/gyeongnam-ai-workshop/#n-missing</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36. 30초 인계와 짝 확인</a:t>
            </a:r>
          </a:p>
          <a:p xmlns:a="http://schemas.openxmlformats.org/drawingml/2006/main">
            <a:r>
              <a:t/>
            </a:r>
          </a:p>
          <a:p xmlns:a="http://schemas.openxmlformats.org/drawingml/2006/main">
            <a:r>
              <a:t>시간: 시작 후 111–115분, 4분 진행.</a:t>
            </a:r>
          </a:p>
          <a:p xmlns:a="http://schemas.openxmlformats.org/drawingml/2006/main">
            <a:r>
              <a:t/>
            </a:r>
          </a:p>
          <a:p xmlns:a="http://schemas.openxmlformats.org/drawingml/2006/main">
            <a:r>
              <a:t>말할 내용: 앞의 1분은 준비하고 각자 30초씩 설명합니다. 나머지 시간은 빠진 조건을 확인하고 파일을 저장합니다. 오디오 생성이 지연되면 기다리지 않고 텍스트 인계로 마칩니다. 오디오를 들었다면 오래된 신청 기한이 나오는지도 확인해야 합니다.</a:t>
            </a:r>
          </a:p>
          <a:p xmlns:a="http://schemas.openxmlformats.org/drawingml/2006/main">
            <a:r>
              <a:t/>
            </a:r>
          </a:p>
          <a:p xmlns:a="http://schemas.openxmlformats.org/drawingml/2006/main">
            <a:r>
              <a:t>참가자에게 할 질문: 30초 안에 꼭 남겨야 할 조건은 무엇인가요?</a:t>
            </a:r>
          </a:p>
          <a:p xmlns:a="http://schemas.openxmlformats.org/drawingml/2006/main">
            <a:r>
              <a:t/>
            </a:r>
          </a:p>
          <a:p xmlns:a="http://schemas.openxmlformats.org/drawingml/2006/main">
            <a:r>
              <a:t>예상 오류와 대응: 오디오 생성 성공을 필수 완료 기준으로 삼지 않습니다.</a:t>
            </a:r>
          </a:p>
          <a:p xmlns:a="http://schemas.openxmlformats.org/drawingml/2006/main">
            <a:r>
              <a:t/>
            </a:r>
          </a:p>
          <a:p xmlns:a="http://schemas.openxmlformats.org/drawingml/2006/main">
            <a:r>
              <a:t>수업 링크: https://zeusk302-png.github.io/gyeongnam-ai-workshop/#n-audio</a:t>
            </a:r>
          </a:p>
          <a:p xmlns:a="http://schemas.openxmlformats.org/drawingml/2006/main">
            <a:r>
              <a:t/>
            </a:r>
          </a:p>
          <a:p xmlns:a="http://schemas.openxmlformats.org/drawingml/2006/main">
            <a:r>
              <a:t>실습 안내: 최신 신청 마감과 남은 확인 두 가지를 옆 사람과 번갈아 설명합니다.</a:t>
            </a:r>
          </a:p>
          <a:p xmlns:a="http://schemas.openxmlformats.org/drawingml/2006/main">
            <a:r>
              <a:t/>
            </a:r>
          </a:p>
          <a:p xmlns:a="http://schemas.openxmlformats.org/drawingml/2006/main">
            <a:r>
              <a:t>진행 순서: 듣는 사람은 원문에서 근거 문단 찾기 / 설명에서 빠진 조건 한 가지 알려 주기 / 각자 확인한 문장과 문단 ID 기록</a:t>
            </a:r>
          </a:p>
          <a:p xmlns:a="http://schemas.openxmlformats.org/drawingml/2006/main">
            <a:r>
              <a:t/>
            </a:r>
          </a:p>
          <a:p xmlns:a="http://schemas.openxmlformats.org/drawingml/2006/main">
            <a:r>
              <a:t>남길 결과: 짧은 인계 설명과 원문 확인 기록</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37. 휴식</a:t>
            </a:r>
          </a:p>
          <a:p xmlns:a="http://schemas.openxmlformats.org/drawingml/2006/main">
            <a:r>
              <a:t/>
            </a:r>
          </a:p>
          <a:p xmlns:a="http://schemas.openxmlformats.org/drawingml/2006/main">
            <a:r>
              <a:t>시간: 시작 후 115–120분, 5분 진행.</a:t>
            </a:r>
          </a:p>
          <a:p xmlns:a="http://schemas.openxmlformats.org/drawingml/2006/main">
            <a:r>
              <a:t/>
            </a:r>
          </a:p>
          <a:p xmlns:a="http://schemas.openxmlformats.org/drawingml/2006/main">
            <a:r>
              <a:t>말할 내용: 다음 구간에는 행사 후 자료를 씁니다. NotebookLM의 행사 전 자료를 Claude에 함께 넣지 않도록 파일 번호를 안내합니다. 접속이 어려운 참가자는 제공된 원문과 계산표 검토에 참여할 수 있습니다.</a:t>
            </a:r>
          </a:p>
          <a:p xmlns:a="http://schemas.openxmlformats.org/drawingml/2006/main">
            <a:r>
              <a:t/>
            </a:r>
          </a:p>
          <a:p xmlns:a="http://schemas.openxmlformats.org/drawingml/2006/main">
            <a:r>
              <a:t>참가자에게 할 질문: 현재 결과에서 인용한 문서를 다시 찾을 수 있나요?</a:t>
            </a:r>
          </a:p>
          <a:p xmlns:a="http://schemas.openxmlformats.org/drawingml/2006/main">
            <a:r>
              <a:t/>
            </a:r>
          </a:p>
          <a:p xmlns:a="http://schemas.openxmlformats.org/drawingml/2006/main">
            <a:r>
              <a:t>예상 오류와 대응: 네 소스의 미정 상태를 행사 종료 후 실제 결과로 옮겨 쓰지 않도록 예고합니다.</a:t>
            </a:r>
          </a:p>
          <a:p xmlns:a="http://schemas.openxmlformats.org/drawingml/2006/main">
            <a:r>
              <a:t/>
            </a:r>
          </a:p>
          <a:p xmlns:a="http://schemas.openxmlformats.org/drawingml/2006/main">
            <a:r>
              <a:t>수업 링크: https://zeusk302-png.github.io/gyeongnam-ai-workshop/#n-audio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38. Claude 결과 보고 실습</a:t>
            </a:r>
          </a:p>
          <a:p xmlns:a="http://schemas.openxmlformats.org/drawingml/2006/main">
            <a:r>
              <a:t/>
            </a:r>
          </a:p>
          <a:p xmlns:a="http://schemas.openxmlformats.org/drawingml/2006/main">
            <a:r>
              <a:t>시간: 시작 후 120–123분, 3분 진행.</a:t>
            </a:r>
          </a:p>
          <a:p xmlns:a="http://schemas.openxmlformats.org/drawingml/2006/main">
            <a:r>
              <a:t/>
            </a:r>
          </a:p>
          <a:p xmlns:a="http://schemas.openxmlformats.org/drawingml/2006/main">
            <a:r>
              <a:t>말할 내용: 오늘 Claude 실습은 짧은 글을 줄이는 기본연습보다 긴 자료를 집계해 결재자가 판단할 문서를 만드는 활동입니다. 자료의 기준일은 10월 31일이며 앞의 준비회의와 구분합니다. 처음에 자료를 한 번 넣고 이후 네 요청을 같은 대화에서 이어갑니다.</a:t>
            </a:r>
          </a:p>
          <a:p xmlns:a="http://schemas.openxmlformats.org/drawingml/2006/main">
            <a:r>
              <a:t/>
            </a:r>
          </a:p>
          <a:p xmlns:a="http://schemas.openxmlformats.org/drawingml/2006/main">
            <a:r>
              <a:t>참가자에게 할 질문: 부서장이 이 보고서에서 결정해야 하는 일은 무엇인가요?</a:t>
            </a:r>
          </a:p>
          <a:p xmlns:a="http://schemas.openxmlformats.org/drawingml/2006/main">
            <a:r>
              <a:t/>
            </a:r>
          </a:p>
          <a:p xmlns:a="http://schemas.openxmlformats.org/drawingml/2006/main">
            <a:r>
              <a:t>예상 오류와 대응: 기본연습의 500~700자 보고서 조건이나 09번 답안을 적용하지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39. 임시 집계와 확정 대장</a:t>
            </a:r>
          </a:p>
          <a:p xmlns:a="http://schemas.openxmlformats.org/drawingml/2006/main">
            <a:r>
              <a:t/>
            </a:r>
          </a:p>
          <a:p xmlns:a="http://schemas.openxmlformats.org/drawingml/2006/main">
            <a:r>
              <a:t>시간: 시작 후 123–127분, 4분 진행.</a:t>
            </a:r>
          </a:p>
          <a:p xmlns:a="http://schemas.openxmlformats.org/drawingml/2006/main">
            <a:r>
              <a:t/>
            </a:r>
          </a:p>
          <a:p xmlns:a="http://schemas.openxmlformats.org/drawingml/2006/main">
            <a:r>
              <a:t>말할 내용: 참가자에게 원자료에서 P16과 P22 설명을 찾게 합니다. 임시 숫자가 틀린 숫자라는 뜻보다 무엇을 세었는지가 다른 것입니다. 설문은 마감 시각을 기준으로 최종 원응답을 사용하고 이전 회차에는 응답별 점수가 첨부되지 않았다는 범위를 구분합니다.</a:t>
            </a:r>
          </a:p>
          <a:p xmlns:a="http://schemas.openxmlformats.org/drawingml/2006/main">
            <a:r>
              <a:t/>
            </a:r>
          </a:p>
          <a:p xmlns:a="http://schemas.openxmlformats.org/drawingml/2006/main">
            <a:r>
              <a:t>참가자에게 할 질문: 29줄을 29명으로 쓸 수 없는 이유는 무엇인가요?</a:t>
            </a:r>
          </a:p>
          <a:p xmlns:a="http://schemas.openxmlformats.org/drawingml/2006/main">
            <a:r>
              <a:t/>
            </a:r>
          </a:p>
          <a:p xmlns:a="http://schemas.openxmlformats.org/drawingml/2006/main">
            <a:r>
              <a:t>예상 오류와 대응: 입장 시각으로 로그인 지연 시간을 추정하거나 설문 S번호를 출석 P번호와 연결하지 않습니다.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40. 보고서 목차와 결정 요청</a:t>
            </a:r>
          </a:p>
          <a:p xmlns:a="http://schemas.openxmlformats.org/drawingml/2006/main">
            <a:r>
              <a:t/>
            </a:r>
          </a:p>
          <a:p xmlns:a="http://schemas.openxmlformats.org/drawingml/2006/main">
            <a:r>
              <a:t>시간: 시작 후 127–131분, 4분 진행.</a:t>
            </a:r>
          </a:p>
          <a:p xmlns:a="http://schemas.openxmlformats.org/drawingml/2006/main">
            <a:r>
              <a:t/>
            </a:r>
          </a:p>
          <a:p xmlns:a="http://schemas.openxmlformats.org/drawingml/2006/main">
            <a:r>
              <a:t>말할 내용: 목차를 받기 전에 자료 접수표와 부서장 요청을 읽습니다. 숫자만 나열하지 말고 부서장이 무엇을 결정해야 하는지 목차에 연결합니다. 이미 보충 회차를 승인했거나 추가 예산이 확정됐다고 쓰면 원문으로 돌아갑니다.</a:t>
            </a:r>
          </a:p>
          <a:p xmlns:a="http://schemas.openxmlformats.org/drawingml/2006/main">
            <a:r>
              <a:t/>
            </a:r>
          </a:p>
          <a:p xmlns:a="http://schemas.openxmlformats.org/drawingml/2006/main">
            <a:r>
              <a:t>참가자에게 할 질문: 제안과 확정된 업무를 표에서 어떻게 표시할까요?</a:t>
            </a:r>
          </a:p>
          <a:p xmlns:a="http://schemas.openxmlformats.org/drawingml/2006/main">
            <a:r>
              <a:t/>
            </a:r>
          </a:p>
          <a:p xmlns:a="http://schemas.openxmlformats.org/drawingml/2006/main">
            <a:r>
              <a:t>예상 오류와 대응: 없는 담당자·날짜·예산을 구체적인 계획처럼 만드는 오류를 봅니다.</a:t>
            </a:r>
          </a:p>
          <a:p xmlns:a="http://schemas.openxmlformats.org/drawingml/2006/main">
            <a:r>
              <a:t/>
            </a:r>
          </a:p>
          <a:p xmlns:a="http://schemas.openxmlformats.org/drawingml/2006/main">
            <a:r>
              <a:t>수업 링크: https://zeusk302-png.github.io/gyeongnam-ai-workshop/#c-outline</a:t>
            </a:r>
          </a:p>
          <a:p xmlns:a="http://schemas.openxmlformats.org/drawingml/2006/main">
            <a:r>
              <a:t/>
            </a:r>
          </a:p>
          <a:p xmlns:a="http://schemas.openxmlformats.org/drawingml/2006/main">
            <a:r>
              <a:t>실습 안내: 전체 자료와 첫 질문을 입력해 사용할 자료와 목차를 정리합니다.</a:t>
            </a:r>
          </a:p>
          <a:p xmlns:a="http://schemas.openxmlformats.org/drawingml/2006/main">
            <a:r>
              <a:t/>
            </a:r>
          </a:p>
          <a:p xmlns:a="http://schemas.openxmlformats.org/drawingml/2006/main">
            <a:r>
              <a:t>진행 순서: 확정 자료와 제외할 중간 집계 구분 / 계산할 지표의 분모 표시 / 보고서 목차 네 개 작성 / 로그인 점검 절차와 보충 실습 안내 안건 포함</a:t>
            </a:r>
          </a:p>
          <a:p xmlns:a="http://schemas.openxmlformats.org/drawingml/2006/main">
            <a:r>
              <a:t/>
            </a:r>
          </a:p>
          <a:p xmlns:a="http://schemas.openxmlformats.org/drawingml/2006/main">
            <a:r>
              <a:t>남길 결과: 자료 목록, 계산 기준, 목차와 결정 요청 2건</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41. 집계표를 포함한 보고서 초안</a:t>
            </a:r>
          </a:p>
          <a:p xmlns:a="http://schemas.openxmlformats.org/drawingml/2006/main">
            <a:r>
              <a:t/>
            </a:r>
          </a:p>
          <a:p xmlns:a="http://schemas.openxmlformats.org/drawingml/2006/main">
            <a:r>
              <a:t>시간: 시작 후 131–137분, 6분 진행.</a:t>
            </a:r>
          </a:p>
          <a:p xmlns:a="http://schemas.openxmlformats.org/drawingml/2006/main">
            <a:r>
              <a:t/>
            </a:r>
          </a:p>
          <a:p xmlns:a="http://schemas.openxmlformats.org/drawingml/2006/main">
            <a:r>
              <a:t>말할 내용: 응답 대기 중에는 원자료의 설문 점수 25개와 지출 6행을 확인합니다. 비교 표의 참여 인원과 이수 인원이 맞는지 먼저 보고, 이수율의 분모가 실제 참여자인지 봅니다. 글자 수나 분량보다 필요한 결정 요청과 표가 빠지지 않는 것이 먼저입니다.</a:t>
            </a:r>
          </a:p>
          <a:p xmlns:a="http://schemas.openxmlformats.org/drawingml/2006/main">
            <a:r>
              <a:t/>
            </a:r>
          </a:p>
          <a:p xmlns:a="http://schemas.openxmlformats.org/drawingml/2006/main">
            <a:r>
              <a:t>참가자에게 할 질문: 이번 만족도 평균의 분모와 이수율의 분모는 각각 무엇인가요?</a:t>
            </a:r>
          </a:p>
          <a:p xmlns:a="http://schemas.openxmlformats.org/drawingml/2006/main">
            <a:r>
              <a:t/>
            </a:r>
          </a:p>
          <a:p xmlns:a="http://schemas.openxmlformats.org/drawingml/2006/main">
            <a:r>
              <a:t>예상 오류와 대응: 자유 의견 일부를 전체 참가자의 평가나 만족도 변화 원인으로 일반화하지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실습 안내: 같은 대화에서 부서장 보고서 초안을 요청합니다.</a:t>
            </a:r>
          </a:p>
          <a:p xmlns:a="http://schemas.openxmlformats.org/drawingml/2006/main">
            <a:r>
              <a:t/>
            </a:r>
          </a:p>
          <a:p xmlns:a="http://schemas.openxmlformats.org/drawingml/2006/main">
            <a:r>
              <a:t>진행 순서: 핵심 결과와 이전·이번 지표 비교표 / 운영 관찰과 결정 요청 2건 / 담당 부서·할 일·협의할 기한을 담은 후속 업무표 / 계산식과 사용 문서 ID를 별도 메모</a:t>
            </a:r>
          </a:p>
          <a:p xmlns:a="http://schemas.openxmlformats.org/drawingml/2006/main">
            <a:r>
              <a:t/>
            </a:r>
          </a:p>
          <a:p xmlns:a="http://schemas.openxmlformats.org/drawingml/2006/main">
            <a:r>
              <a:t>남길 결과: 본문 1,200~1,600자, 표와 계산 메모 별도</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42. 실제 응답의 계산 메모</a:t>
            </a:r>
          </a:p>
          <a:p xmlns:a="http://schemas.openxmlformats.org/drawingml/2006/main">
            <a:r>
              <a:t/>
            </a:r>
          </a:p>
          <a:p xmlns:a="http://schemas.openxmlformats.org/drawingml/2006/main">
            <a:r>
              <a:t>시간: 시작 후 137–142분, 5분 진행.</a:t>
            </a:r>
          </a:p>
          <a:p xmlns:a="http://schemas.openxmlformats.org/drawingml/2006/main">
            <a:r>
              <a:t/>
            </a:r>
          </a:p>
          <a:p xmlns:a="http://schemas.openxmlformats.org/drawingml/2006/main">
            <a:r>
              <a:t>말할 내용: 실제 계산 메모에는 최종 집계와 제외한 중간 숫자가 보입니다. 참가자는 계산식을 하나 선택해 계산기로 다시 확인합니다. 화면에 검산이라고 적혀 있어도 직접 확인은 필요합니다. 1인당 금액의 증감률은 반올림 전 값으로 계산하고 마지막에 표시합니다.</a:t>
            </a:r>
          </a:p>
          <a:p xmlns:a="http://schemas.openxmlformats.org/drawingml/2006/main">
            <a:r>
              <a:t/>
            </a:r>
          </a:p>
          <a:p xmlns:a="http://schemas.openxmlformats.org/drawingml/2006/main">
            <a:r>
              <a:t>참가자에게 할 질문: 4.5에 25를 곱하면 원점수 합계를 얻을 수 있나요?</a:t>
            </a:r>
          </a:p>
          <a:p xmlns:a="http://schemas.openxmlformats.org/drawingml/2006/main">
            <a:r>
              <a:t/>
            </a:r>
          </a:p>
          <a:p xmlns:a="http://schemas.openxmlformats.org/drawingml/2006/main">
            <a:r>
              <a:t>예상 오류와 대응: 표시 평균 4.5를 원점수 평균과 같게 취급하거나 반올림한 금액을 다음 계산의 기준으로 쓰지 않습니다.</a:t>
            </a:r>
          </a:p>
          <a:p xmlns:a="http://schemas.openxmlformats.org/drawingml/2006/main">
            <a:r>
              <a:t/>
            </a:r>
          </a:p>
          <a:p xmlns:a="http://schemas.openxmlformats.org/drawingml/2006/main">
            <a:r>
              <a:t>수업 링크: https://zeusk302-png.github.io/gyeongnam-ai-workshop/#c-draft</a:t>
            </a:r>
          </a:p>
          <a:p xmlns:a="http://schemas.openxmlformats.org/drawingml/2006/main">
            <a:r>
              <a:t/>
            </a:r>
          </a:p>
          <a:p xmlns:a="http://schemas.openxmlformats.org/drawingml/2006/main">
            <a:r>
              <a:t>화면 설명: 업무실습 실제 응답 일부 확대. 계산 메모의 숫자를 원자료로 다시 확인합니다.</a:t>
            </a:r>
          </a:p>
          <a:p xmlns:a="http://schemas.openxmlformats.org/drawingml/2006/main">
            <a:r>
              <a:t/>
            </a:r>
          </a:p>
          <a:p xmlns:a="http://schemas.openxmlformats.org/drawingml/2006/main">
            <a:r>
              <a:t>화면 원본: assets/captures/w04-claude-calculation.png</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43. 결재자가 판단할 문장</a:t>
            </a:r>
          </a:p>
          <a:p xmlns:a="http://schemas.openxmlformats.org/drawingml/2006/main">
            <a:r>
              <a:t/>
            </a:r>
          </a:p>
          <a:p xmlns:a="http://schemas.openxmlformats.org/drawingml/2006/main">
            <a:r>
              <a:t>시간: 시작 후 142–147분, 5분 진행.</a:t>
            </a:r>
          </a:p>
          <a:p xmlns:a="http://schemas.openxmlformats.org/drawingml/2006/main">
            <a:r>
              <a:t/>
            </a:r>
          </a:p>
          <a:p xmlns:a="http://schemas.openxmlformats.org/drawingml/2006/main">
            <a:r>
              <a:t>말할 내용: 세 번째 요청은 문체뿐 아니라 판단할 정보가 보이는 구조로 바꾸는 것입니다. 두 안건마다 선택지, 기대하는 효과, 추가 준비와 확인 조건을 남깁니다. 효과는 기대라고 표시하고 원문에 없는 필요 인력과 금액을 확정하지 않습니다.</a:t>
            </a:r>
          </a:p>
          <a:p xmlns:a="http://schemas.openxmlformats.org/drawingml/2006/main">
            <a:r>
              <a:t/>
            </a:r>
          </a:p>
          <a:p xmlns:a="http://schemas.openxmlformats.org/drawingml/2006/main">
            <a:r>
              <a:t>참가자에게 할 질문: 좋아졌다는 평가를 어떤 확인 가능한 사실로 바꿀 수 있나요?</a:t>
            </a:r>
          </a:p>
          <a:p xmlns:a="http://schemas.openxmlformats.org/drawingml/2006/main">
            <a:r>
              <a:t/>
            </a:r>
          </a:p>
          <a:p xmlns:a="http://schemas.openxmlformats.org/drawingml/2006/main">
            <a:r>
              <a:t>예상 오류와 대응: 기록 없음과 미시행을 같은 말로 쓰거나 개선 제안을 완료된 성과로 쓰지 않습니다.</a:t>
            </a:r>
          </a:p>
          <a:p xmlns:a="http://schemas.openxmlformats.org/drawingml/2006/main">
            <a:r>
              <a:t/>
            </a:r>
          </a:p>
          <a:p xmlns:a="http://schemas.openxmlformats.org/drawingml/2006/main">
            <a:r>
              <a:t>수업 링크: https://zeusk302-png.github.io/gyeongnam-ai-workshop/#c-revise-tone</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44. 전체 보고서와 전달 메일</a:t>
            </a:r>
          </a:p>
          <a:p xmlns:a="http://schemas.openxmlformats.org/drawingml/2006/main">
            <a:r>
              <a:t/>
            </a:r>
          </a:p>
          <a:p xmlns:a="http://schemas.openxmlformats.org/drawingml/2006/main">
            <a:r>
              <a:t>시간: 시작 후 147–151분, 4분 진행.</a:t>
            </a:r>
          </a:p>
          <a:p xmlns:a="http://schemas.openxmlformats.org/drawingml/2006/main">
            <a:r>
              <a:t/>
            </a:r>
          </a:p>
          <a:p xmlns:a="http://schemas.openxmlformats.org/drawingml/2006/main">
            <a:r>
              <a:t>말할 내용: 네 번째 요청은 전체 보고서를 줄여 덮어쓰는 것이 아니라 전달 메일을 따로 작성하는 일입니다. 메일에 남긴 수치가 보고서와 같은지 보세요. 첨부 파일을 만들거나 실제로 보냈다고 쓴 문장은 초안 목적에 맞게 고칩니다.</a:t>
            </a:r>
          </a:p>
          <a:p xmlns:a="http://schemas.openxmlformats.org/drawingml/2006/main">
            <a:r>
              <a:t/>
            </a:r>
          </a:p>
          <a:p xmlns:a="http://schemas.openxmlformats.org/drawingml/2006/main">
            <a:r>
              <a:t>참가자에게 할 질문: 메일만 읽어도 부서장이 결정할 두 안건을 알 수 있나요?</a:t>
            </a:r>
          </a:p>
          <a:p xmlns:a="http://schemas.openxmlformats.org/drawingml/2006/main">
            <a:r>
              <a:t/>
            </a:r>
          </a:p>
          <a:p xmlns:a="http://schemas.openxmlformats.org/drawingml/2006/main">
            <a:r>
              <a:t>예상 오류와 대응: 전체 보고서를 삭제하고 짧은 메일만 남기거나 수치·결정 요청이 서로 달라지는 오류를 봅니다.</a:t>
            </a:r>
          </a:p>
          <a:p xmlns:a="http://schemas.openxmlformats.org/drawingml/2006/main">
            <a:r>
              <a:t/>
            </a:r>
          </a:p>
          <a:p xmlns:a="http://schemas.openxmlformats.org/drawingml/2006/main">
            <a:r>
              <a:t>수업 링크: https://zeusk302-png.github.io/gyeongnam-ai-workshop/#c-revise-length</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45. 직접 확인할 핵심 수치</a:t>
            </a:r>
          </a:p>
          <a:p xmlns:a="http://schemas.openxmlformats.org/drawingml/2006/main">
            <a:r>
              <a:t/>
            </a:r>
          </a:p>
          <a:p xmlns:a="http://schemas.openxmlformats.org/drawingml/2006/main">
            <a:r>
              <a:t>시간: 시작 후 151–156분, 5분 진행.</a:t>
            </a:r>
          </a:p>
          <a:p xmlns:a="http://schemas.openxmlformats.org/drawingml/2006/main">
            <a:r>
              <a:t/>
            </a:r>
          </a:p>
          <a:p xmlns:a="http://schemas.openxmlformats.org/drawingml/2006/main">
            <a:r>
              <a:t>말할 내용: 5분 동안 짝과 서로 다른 지표를 맡아 확인합니다. 한 사람은 이수율과 %p, 다른 사람은 집행액과 1인당 금액을 계산합니다. 만족도 표시 평균 차이는 0.3점이지만 이전 반올림 전 평균이 없어 정확한 원평균 차이로 표현하지 않습니다.</a:t>
            </a:r>
          </a:p>
          <a:p xmlns:a="http://schemas.openxmlformats.org/drawingml/2006/main">
            <a:r>
              <a:t/>
            </a:r>
          </a:p>
          <a:p xmlns:a="http://schemas.openxmlformats.org/drawingml/2006/main">
            <a:r>
              <a:t>참가자에게 할 질문: 이수율의 5.7은 퍼센트인가요, 퍼센트포인트인가요?</a:t>
            </a:r>
          </a:p>
          <a:p xmlns:a="http://schemas.openxmlformats.org/drawingml/2006/main">
            <a:r>
              <a:t/>
            </a:r>
          </a:p>
          <a:p xmlns:a="http://schemas.openxmlformats.org/drawingml/2006/main">
            <a:r>
              <a:t>예상 오류와 대응: 신청자 30명을 이수율 분모로 쓰거나 표시 평균으로 원점수 합계를 역산하지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46. 보고서에서 확인할 수 없는 내용</a:t>
            </a:r>
          </a:p>
          <a:p xmlns:a="http://schemas.openxmlformats.org/drawingml/2006/main">
            <a:r>
              <a:t/>
            </a:r>
          </a:p>
          <a:p xmlns:a="http://schemas.openxmlformats.org/drawingml/2006/main">
            <a:r>
              <a:t>시간: 시작 후 156–160분, 4분 진행.</a:t>
            </a:r>
          </a:p>
          <a:p xmlns:a="http://schemas.openxmlformats.org/drawingml/2006/main">
            <a:r>
              <a:t/>
            </a:r>
          </a:p>
          <a:p xmlns:a="http://schemas.openxmlformats.org/drawingml/2006/main">
            <a:r>
              <a:t>말할 내용: 사실이 몇 개 맞는다고 원인까지 증명된 것은 아닙니다. 특히 참가자당 비용 감소는 교육 효과를 직접 보여 주지 않습니다. 보고서와 메일에서 단정한 원인 문장을 찾아 확인 가능한 범위로 바꾸게 합니다.</a:t>
            </a:r>
          </a:p>
          <a:p xmlns:a="http://schemas.openxmlformats.org/drawingml/2006/main">
            <a:r>
              <a:t/>
            </a:r>
          </a:p>
          <a:p xmlns:a="http://schemas.openxmlformats.org/drawingml/2006/main">
            <a:r>
              <a:t>참가자에게 할 질문: 내 보고서의 “때문에” 문장에는 원자료 근거가 있나요?</a:t>
            </a:r>
          </a:p>
          <a:p xmlns:a="http://schemas.openxmlformats.org/drawingml/2006/main">
            <a:r>
              <a:t/>
            </a:r>
          </a:p>
          <a:p xmlns:a="http://schemas.openxmlformats.org/drawingml/2006/main">
            <a:r>
              <a:t>예상 오류와 대응: 이번 설문도 원자료 미제공이라고 쓰는 옛 기본연습 문장을 그대로 쓰지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화면의 표는 원자료를 바탕으로 정리한 설명·검토 예시입니다. 실제 AI 응답 캡처가 아닙니다.</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47. 보고서와 메일의 짝 검토</a:t>
            </a:r>
          </a:p>
          <a:p xmlns:a="http://schemas.openxmlformats.org/drawingml/2006/main">
            <a:r>
              <a:t/>
            </a:r>
          </a:p>
          <a:p xmlns:a="http://schemas.openxmlformats.org/drawingml/2006/main">
            <a:r>
              <a:t>시간: 시작 후 160–165분, 5분 진행.</a:t>
            </a:r>
          </a:p>
          <a:p xmlns:a="http://schemas.openxmlformats.org/drawingml/2006/main">
            <a:r>
              <a:t/>
            </a:r>
          </a:p>
          <a:p xmlns:a="http://schemas.openxmlformats.org/drawingml/2006/main">
            <a:r>
              <a:t>말할 내용: 짝 검토는 초안의 잘못을 지적하는 데서 끝내지 않고 수정할 문장을 정하는 활동입니다. 결과를 받은 시각과 검토·수정 시간을 기록합니다. 질문을 더 보내지 않아도 됩니다. 사람이 고친 최종본을 따로 저장하게 합니다.</a:t>
            </a:r>
          </a:p>
          <a:p xmlns:a="http://schemas.openxmlformats.org/drawingml/2006/main">
            <a:r>
              <a:t/>
            </a:r>
          </a:p>
          <a:p xmlns:a="http://schemas.openxmlformats.org/drawingml/2006/main">
            <a:r>
              <a:t>참가자에게 할 질문: 내 문서에서 다른 사람이 찾아 준 오류는 무엇이었나요?</a:t>
            </a:r>
          </a:p>
          <a:p xmlns:a="http://schemas.openxmlformats.org/drawingml/2006/main">
            <a:r>
              <a:t/>
            </a:r>
          </a:p>
          <a:p xmlns:a="http://schemas.openxmlformats.org/drawingml/2006/main">
            <a:r>
              <a:t>예상 오류와 대응: AI가 검증 완료라고 선언한 문장이나 자체 글자 수를 최종 확인으로 대신하지 않습니다.</a:t>
            </a:r>
          </a:p>
          <a:p xmlns:a="http://schemas.openxmlformats.org/drawingml/2006/main">
            <a:r>
              <a:t/>
            </a:r>
          </a:p>
          <a:p xmlns:a="http://schemas.openxmlformats.org/drawingml/2006/main">
            <a:r>
              <a:t>수업 링크: https://zeusk302-png.github.io/gyeongnam-ai-workshop/#c-verify</a:t>
            </a:r>
          </a:p>
          <a:p xmlns:a="http://schemas.openxmlformats.org/drawingml/2006/main">
            <a:r>
              <a:t/>
            </a:r>
          </a:p>
          <a:p xmlns:a="http://schemas.openxmlformats.org/drawingml/2006/main">
            <a:r>
              <a:t>실습 안내: 서로의 보고서에서 숫자 한 곳과 확정 표현 한 곳을 확인합니다.</a:t>
            </a:r>
          </a:p>
          <a:p xmlns:a="http://schemas.openxmlformats.org/drawingml/2006/main">
            <a:r>
              <a:t/>
            </a:r>
          </a:p>
          <a:p xmlns:a="http://schemas.openxmlformats.org/drawingml/2006/main">
            <a:r>
              <a:t>진행 순서: 최종 대장의 집계와 비교표 수치 맞추기 / 보고서와 전달 메일의 결정 요청 2건 비교 / 제안한 담당·기한을 확정된 값과 구분 / 바꾼 문장과 아직 확인할 항목 기록</a:t>
            </a:r>
          </a:p>
          <a:p xmlns:a="http://schemas.openxmlformats.org/drawingml/2006/main">
            <a:r>
              <a:t/>
            </a:r>
          </a:p>
          <a:p xmlns:a="http://schemas.openxmlformats.org/drawingml/2006/main">
            <a:r>
              <a:t>남길 결과: 전체 보고서, 전달 메일, 계산표, 확인 메모</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https://zeusk302-png.github.io/gyeongnam-ai-workshop/downloads/%ED%99%95%EC%9E%A5/17_%ED%99%95%EC%9E%A5%EB%B3%B8_%EA%B2%80%ED%86%A0%EA%B8%B0%EC%A4%80.md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48. 결과물과 확인 기록 저장</a:t>
            </a:r>
          </a:p>
          <a:p xmlns:a="http://schemas.openxmlformats.org/drawingml/2006/main">
            <a:r>
              <a:t/>
            </a:r>
          </a:p>
          <a:p xmlns:a="http://schemas.openxmlformats.org/drawingml/2006/main">
            <a:r>
              <a:t>시간: 시작 후 165–169분, 4분 진행.</a:t>
            </a:r>
          </a:p>
          <a:p xmlns:a="http://schemas.openxmlformats.org/drawingml/2006/main">
            <a:r>
              <a:t/>
            </a:r>
          </a:p>
          <a:p xmlns:a="http://schemas.openxmlformats.org/drawingml/2006/main">
            <a:r>
              <a:t>말할 내용: 현재 브라우저의 기록은 다른 기기로 자동 동기화되지 않습니다. 파일을 받으면 다시 열어 보고 어떤 자료 버전으로 수행했는지 이름이나 기록에 남깁니다. 짝 실습, 시연 관찰, 실제 실행도 구분해 기록합니다.</a:t>
            </a:r>
          </a:p>
          <a:p xmlns:a="http://schemas.openxmlformats.org/drawingml/2006/main">
            <a:r>
              <a:t/>
            </a:r>
          </a:p>
          <a:p xmlns:a="http://schemas.openxmlformats.org/drawingml/2006/main">
            <a:r>
              <a:t>참가자에게 할 질문: 파일을 받은 뒤 내용까지 확인했나요?</a:t>
            </a:r>
          </a:p>
          <a:p xmlns:a="http://schemas.openxmlformats.org/drawingml/2006/main">
            <a:r>
              <a:t/>
            </a:r>
          </a:p>
          <a:p xmlns:a="http://schemas.openxmlformats.org/drawingml/2006/main">
            <a:r>
              <a:t>예상 오류와 대응: 다운로드 버튼을 눌렀다는 사실만으로 파일이 저장됐다고 끝내지 않습니다.</a:t>
            </a:r>
          </a:p>
          <a:p xmlns:a="http://schemas.openxmlformats.org/drawingml/2006/main">
            <a:r>
              <a:t/>
            </a:r>
          </a:p>
          <a:p xmlns:a="http://schemas.openxmlformats.org/drawingml/2006/main">
            <a:r>
              <a:t>수업 링크: https://zeusk302-png.github.io/gyeongnam-ai-workshop/#wrap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49. 내 업무에 적용할 작은 계획</a:t>
            </a:r>
          </a:p>
          <a:p xmlns:a="http://schemas.openxmlformats.org/drawingml/2006/main">
            <a:r>
              <a:t/>
            </a:r>
          </a:p>
          <a:p xmlns:a="http://schemas.openxmlformats.org/drawingml/2006/main">
            <a:r>
              <a:t>시간: 시작 후 169–175분, 6분 진행.</a:t>
            </a:r>
          </a:p>
          <a:p xmlns:a="http://schemas.openxmlformats.org/drawingml/2006/main">
            <a:r>
              <a:t/>
            </a:r>
          </a:p>
          <a:p xmlns:a="http://schemas.openxmlformats.org/drawingml/2006/main">
            <a:r>
              <a:t>말할 내용: 개인별 실제 업무 내용이나 개인정보를 수업 도구에 넣게 하지 않습니다. 공개 안내를 근거로 답장 초안을 만들거나 가상 회의 메모를 정리하는 작은 범위부터 정합니다. 도구 선택은 오늘의 경험을 기준으로 설명하면 됩니다.</a:t>
            </a:r>
          </a:p>
          <a:p xmlns:a="http://schemas.openxmlformats.org/drawingml/2006/main">
            <a:r>
              <a:t/>
            </a:r>
          </a:p>
          <a:p xmlns:a="http://schemas.openxmlformats.org/drawingml/2006/main">
            <a:r>
              <a:t>참가자에게 할 질문: 한 번의 실행에서 완성할 수 있는 작은 결과물은 무엇인가요?</a:t>
            </a:r>
          </a:p>
          <a:p xmlns:a="http://schemas.openxmlformats.org/drawingml/2006/main">
            <a:r>
              <a:t/>
            </a:r>
          </a:p>
          <a:p xmlns:a="http://schemas.openxmlformats.org/drawingml/2006/main">
            <a:r>
              <a:t>예상 오류와 대응: 전 부서 업무 자동화처럼 큰 목표를 잡거나 발송·승인을 검토 없이 자동 실행하는 계획으로 넓히지 않습니다.</a:t>
            </a:r>
          </a:p>
          <a:p xmlns:a="http://schemas.openxmlformats.org/drawingml/2006/main">
            <a:r>
              <a:t/>
            </a:r>
          </a:p>
          <a:p xmlns:a="http://schemas.openxmlformats.org/drawingml/2006/main">
            <a:r>
              <a:t>수업 링크: https://zeusk302-png.github.io/gyeongnam-ai-workshop/#wrap</a:t>
            </a:r>
          </a:p>
          <a:p xmlns:a="http://schemas.openxmlformats.org/drawingml/2006/main">
            <a:r>
              <a:t/>
            </a:r>
          </a:p>
          <a:p xmlns:a="http://schemas.openxmlformats.org/drawingml/2006/main">
            <a:r>
              <a:t>실습 안내: 내일부터 해 볼 반복 업무 세 가지를 기록지에 적습니다.</a:t>
            </a:r>
          </a:p>
          <a:p xmlns:a="http://schemas.openxmlformats.org/drawingml/2006/main">
            <a:r>
              <a:t/>
            </a:r>
          </a:p>
          <a:p xmlns:a="http://schemas.openxmlformats.org/drawingml/2006/main">
            <a:r>
              <a:t>진행 순서: 공개 가능 자료 또는 새 가상 자료 선택 / 필요한 산출물과 사용할 도구 기록 / 사람이 확인할 숫자·날짜·승인 상태 정하기 / 첫 실행의 범위와 저장할 결과 정하기</a:t>
            </a:r>
          </a:p>
          <a:p xmlns:a="http://schemas.openxmlformats.org/drawingml/2006/main">
            <a:r>
              <a:t/>
            </a:r>
          </a:p>
          <a:p xmlns:a="http://schemas.openxmlformats.org/drawingml/2006/main">
            <a:r>
              <a:t>남길 결과: 업무별 실행 계획 3행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50. 수업 후 다시 연습할 자료</a:t>
            </a:r>
          </a:p>
          <a:p xmlns:a="http://schemas.openxmlformats.org/drawingml/2006/main">
            <a:r>
              <a:t/>
            </a:r>
          </a:p>
          <a:p xmlns:a="http://schemas.openxmlformats.org/drawingml/2006/main">
            <a:r>
              <a:t>시간: 시작 후 175–180분, 5분 진행.</a:t>
            </a:r>
          </a:p>
          <a:p xmlns:a="http://schemas.openxmlformats.org/drawingml/2006/main">
            <a:r>
              <a:t/>
            </a:r>
          </a:p>
          <a:p xmlns:a="http://schemas.openxmlformats.org/drawingml/2006/main">
            <a:r>
              <a:t>말할 내용: 마지막 5분은 각자 고친 문장 하나와 다음에 해 볼 업무 하나를 공유합니다. 추가 과제는 오늘 활동을 대체하거나 수업 후 복습할 때 사용합니다. 처음의 90초 한 건 읽기와 여섯 건 AI 처리를 비교해 시간 절감률을 계산하지 않습니다.</a:t>
            </a:r>
          </a:p>
          <a:p xmlns:a="http://schemas.openxmlformats.org/drawingml/2006/main">
            <a:r>
              <a:t/>
            </a:r>
          </a:p>
          <a:p xmlns:a="http://schemas.openxmlformats.org/drawingml/2006/main">
            <a:r>
              <a:t>참가자에게 할 질문: 오늘 결과에서 내가 직접 바꾼 문장 하나는 무엇인가요?</a:t>
            </a:r>
          </a:p>
          <a:p xmlns:a="http://schemas.openxmlformats.org/drawingml/2006/main">
            <a:r>
              <a:t/>
            </a:r>
          </a:p>
          <a:p xmlns:a="http://schemas.openxmlformats.org/drawingml/2006/main">
            <a:r>
              <a:t>예상 오류와 대응: 처리 건수와 난도가 다른 활동의 시간을 바로 비교해 생산성 개선 수치로 만들지 않습니다.</a:t>
            </a:r>
          </a:p>
          <a:p xmlns:a="http://schemas.openxmlformats.org/drawingml/2006/main">
            <a:r>
              <a:t/>
            </a:r>
          </a:p>
          <a:p xmlns:a="http://schemas.openxmlformats.org/drawingml/2006/main">
            <a:r>
              <a:t>수업 링크: https://zeusk302-png.github.io/gyeongnam-ai-workshop/#practice-bank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51. 선택 1. 추가 회신 12건과 신청 상태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같은 학생의 추가 메일과 담당 조회가 섞여 도착했습니다. 다음 날 근무자가 원래 문의와 최신 신청 상태를 혼동하지 않도록 정리합니다. 권장 배분: 읽기 3분, 작성 4분, 대조 6분, 저장 2분. 원래 6건 중 이번에 변경 없는 3건을 재작성하지 않습니다. 해설은 첫 초안 저장 후 공개합니다.</a:t>
            </a:r>
          </a:p>
          <a:p xmlns:a="http://schemas.openxmlformats.org/drawingml/2006/main">
            <a:r>
              <a:t/>
            </a:r>
          </a:p>
          <a:p xmlns:a="http://schemas.openxmlformats.org/drawingml/2006/main">
            <a:r>
              <a:t>참가자에게 할 질문: 12건을 신규 학생 12명으로 세지 않았는가</a:t>
            </a:r>
          </a:p>
          <a:p xmlns:a="http://schemas.openxmlformats.org/drawingml/2006/main">
            <a:r>
              <a:t/>
            </a:r>
          </a:p>
          <a:p xmlns:a="http://schemas.openxmlformats.org/drawingml/2006/main">
            <a:r>
              <a:t>예상 오류와 대응: S01의 담당 조회와 학생 진술을 구별했는가 S03·S05 검토 접수를 신청 완료나 불승인으로 바꾸지 않았는가 기준일이 바뀌었는데 오늘 18시까지 신청하라고 쓰지 않았는가</a:t>
            </a:r>
          </a:p>
          <a:p xmlns:a="http://schemas.openxmlformats.org/drawingml/2006/main">
            <a:r>
              <a:t/>
            </a:r>
          </a:p>
          <a:p xmlns:a="http://schemas.openxmlformats.org/drawingml/2006/main">
            <a:r>
              <a:t>수업 링크: https://zeusk302-png.github.io/gyeongnam-ai-workshop/#practice-p01</a:t>
            </a:r>
          </a:p>
          <a:p xmlns:a="http://schemas.openxmlformats.org/drawingml/2006/main">
            <a:r>
              <a:t/>
            </a:r>
          </a:p>
          <a:p xmlns:a="http://schemas.openxmlformats.org/drawingml/2006/main">
            <a:r>
              <a:t>실습 안내: 같은 학생의 후속 메일을</a:t>
            </a:r>
          </a:p>
          <a:p xmlns:a="http://schemas.openxmlformats.org/drawingml/2006/main">
            <a:r>
              <a:t>최신 상태로 정리</a:t>
            </a:r>
          </a:p>
          <a:p xmlns:a="http://schemas.openxmlformats.org/drawingml/2006/main">
            <a:r>
              <a:t/>
            </a:r>
          </a:p>
          <a:p xmlns:a="http://schemas.openxmlformats.org/drawingml/2006/main">
            <a:r>
              <a:t>진행 순서: 원문 11·21을 대조해 기준 시각 표시 / 회신 12건을 기존 학생 ID에 연결 / 최신 상태 3행과 답장 3건 작성 / 신청 완료·기술 접수·검토 접수 대조</a:t>
            </a:r>
          </a:p>
          <a:p xmlns:a="http://schemas.openxmlformats.org/drawingml/2006/main">
            <a:r>
              <a:t/>
            </a:r>
          </a:p>
          <a:p xmlns:a="http://schemas.openxmlformats.org/drawingml/2006/main">
            <a:r>
              <a:t>남길 결과: 변경 이력 12행 · 최신 상태 3행 · 답장 3건</a:t>
            </a:r>
          </a:p>
          <a:p xmlns:a="http://schemas.openxmlformats.org/drawingml/2006/main">
            <a:r>
              <a:t/>
            </a:r>
          </a:p>
          <a:p xmlns:a="http://schemas.openxmlformats.org/drawingml/2006/main">
            <a:r>
              <a:t>원자료·대조 기준: https://zeusk302-png.github.io/gyeongnam-ai-workshop/downloads/%ED%99%95%EC%9E%A5/11_Gemini_%ED%95%99%EC%83%9D%EB%AC%B8%EC%9D%98_%EB%A9%94%EC%9D%BC%EA%B3%BC%EC%97%85%EB%AC%B4%EC%95%88%EB%82%B4.txt</a:t>
            </a:r>
          </a:p>
          <a:p xmlns:a="http://schemas.openxmlformats.org/drawingml/2006/main">
            <a:r>
              <a:t/>
            </a:r>
          </a:p>
          <a:p xmlns:a="http://schemas.openxmlformats.org/drawingml/2006/main">
            <a:r>
              <a:t>원자료·대조 기준: https://zeusk302-png.github.io/gyeongnam-ai-workshop/downloads/%EC%B6%94%EA%B0%80%EC%8B%A4%EC%8A%B5/21_Gemini_%EC%A0%91%EC%88%98%EB%B3%80%EA%B2%BD_12%EA%B1%B4.txt</a:t>
            </a:r>
          </a:p>
          <a:p xmlns:a="http://schemas.openxmlformats.org/drawingml/2006/main">
            <a:r>
              <a:t/>
            </a:r>
          </a:p>
          <a:p xmlns:a="http://schemas.openxmlformats.org/drawingml/2006/main">
            <a:r>
              <a:t>추가 진행 참고: 산출물: 변경 이력 12행(F01~F12) / 최신 상태표 3행(S01·S03·S05) / 학생 답장 초안 3건(각 250~400자)</a:t>
            </a:r>
          </a:p>
          <a:p xmlns:a="http://schemas.openxmlformats.org/drawingml/2006/main">
            <a:r>
              <a:t>통과 기준: 12건을 신규 학생 12명으로 세지 않았는가 / S01의 담당 조회와 학생 진술을 구별했는가 / S03·S05 검토 접수를 신청 완료나 불승인으로 바꾸지 않았는가 / 기준일이 바뀌었는데 오늘 18시까지 신청하라고 쓰지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52. 선택 2. 준비 업무 9건의 상태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회의에서 정한 할 일에 완료 회신·지연·재검증 요청이 도착했습니다. 최초 마감과 변경 승인을 보존한 최신 인계표가 필요합니다. 읽기 3분, 생성 4분, 상태와 날짜 대조 6분, 저장 2분. 22번만으로도 핵심 변경은 읽을 수 있지만 웹에서는 최초 회의 원문도 함께 제공합니다.</a:t>
            </a:r>
          </a:p>
          <a:p xmlns:a="http://schemas.openxmlformats.org/drawingml/2006/main">
            <a:r>
              <a:t/>
            </a:r>
          </a:p>
          <a:p xmlns:a="http://schemas.openxmlformats.org/drawingml/2006/main">
            <a:r>
              <a:t>참가자에게 할 질문: 아홉 업무를 합치거나 새 업무로 늘리지 않았는가</a:t>
            </a:r>
          </a:p>
          <a:p xmlns:a="http://schemas.openxmlformats.org/drawingml/2006/main">
            <a:r>
              <a:t/>
            </a:r>
          </a:p>
          <a:p xmlns:a="http://schemas.openxmlformats.org/drawingml/2006/main">
            <a:r>
              <a:t>예상 오류와 대응: 최초 마감과 승인된 새 기한을 별도 보존했는가 T05·T06의 보완을 현재 완료로 적지 않았는가 행사 전 명단 30명을 실제 참석 실적으로 쓰지 않았는가</a:t>
            </a:r>
          </a:p>
          <a:p xmlns:a="http://schemas.openxmlformats.org/drawingml/2006/main">
            <a:r>
              <a:t/>
            </a:r>
          </a:p>
          <a:p xmlns:a="http://schemas.openxmlformats.org/drawingml/2006/main">
            <a:r>
              <a:t>수업 링크: https://zeusk302-png.github.io/gyeongnam-ai-workshop/#practice-p02</a:t>
            </a:r>
          </a:p>
          <a:p xmlns:a="http://schemas.openxmlformats.org/drawingml/2006/main">
            <a:r>
              <a:t/>
            </a:r>
          </a:p>
          <a:p xmlns:a="http://schemas.openxmlformats.org/drawingml/2006/main">
            <a:r>
              <a:t>실습 안내: 아홉 업무의</a:t>
            </a:r>
          </a:p>
          <a:p xmlns:a="http://schemas.openxmlformats.org/drawingml/2006/main">
            <a:r>
              <a:t>완료·보완 상태 갱신</a:t>
            </a:r>
          </a:p>
          <a:p xmlns:a="http://schemas.openxmlformats.org/drawingml/2006/main">
            <a:r>
              <a:t/>
            </a:r>
          </a:p>
          <a:p xmlns:a="http://schemas.openxmlformats.org/drawingml/2006/main">
            <a:r>
              <a:t>진행 순서: 원문 12·22의 같은 업무끼리 연결 / 최초 마감과 승인된 새 기한 보존 / 완료·진행·보완을 근거로 분류 / 남은 세 업무와 인계 메일 작성</a:t>
            </a:r>
          </a:p>
          <a:p xmlns:a="http://schemas.openxmlformats.org/drawingml/2006/main">
            <a:r>
              <a:t/>
            </a:r>
          </a:p>
          <a:p xmlns:a="http://schemas.openxmlformats.org/drawingml/2006/main">
            <a:r>
              <a:t>남길 결과: 상태표 9행 · 우선 확인 3건 · 인계 메일</a:t>
            </a:r>
          </a:p>
          <a:p xmlns:a="http://schemas.openxmlformats.org/drawingml/2006/main">
            <a:r>
              <a:t/>
            </a:r>
          </a:p>
          <a:p xmlns:a="http://schemas.openxmlformats.org/drawingml/2006/main">
            <a:r>
              <a:t>원자료·대조 기준: https://zeusk302-png.github.io/gyeongnam-ai-workshop/downloads/%ED%99%95%EC%9E%A5/12_Gemini_%EC%9A%B4%EC%98%81%ED%9A%8C%EC%9D%98_%EC%83%81%EC%84%B8%EA%B8%B0%EB%A1%9D.txt</a:t>
            </a:r>
          </a:p>
          <a:p xmlns:a="http://schemas.openxmlformats.org/drawingml/2006/main">
            <a:r>
              <a:t/>
            </a:r>
          </a:p>
          <a:p xmlns:a="http://schemas.openxmlformats.org/drawingml/2006/main">
            <a:r>
              <a:t>원자료·대조 기준: https://zeusk302-png.github.io/gyeongnam-ai-workshop/downloads/%EC%B6%94%EA%B0%80%EC%8B%A4%EC%8A%B5/22_Gemini_%ED%9A%8C%EC%9D%98%ED%9B%84%EC%86%8D_%EC%83%81%ED%83%9C%ED%9A%8C%EC%8B%A0.txt</a:t>
            </a:r>
          </a:p>
          <a:p xmlns:a="http://schemas.openxmlformats.org/drawingml/2006/main">
            <a:r>
              <a:t/>
            </a:r>
          </a:p>
          <a:p xmlns:a="http://schemas.openxmlformats.org/drawingml/2006/main">
            <a:r>
              <a:t>추가 진행 참고: 산출물: 업무 상태표 9행(T01~T09) / 우선 확인 목록 3건 / 준비팀 인계 메일 본문 250~350자</a:t>
            </a:r>
          </a:p>
          <a:p xmlns:a="http://schemas.openxmlformats.org/drawingml/2006/main">
            <a:r>
              <a:t>통과 기준: 아홉 업무를 합치거나 새 업무로 늘리지 않았는가 / 최초 마감과 승인된 새 기한을 별도 보존했는가 / T05·T06의 보완을 현재 완료로 적지 않았는가 / 행사 전 명단 30명을 실제 참석 실적으로 쓰지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53. 선택 3. 수정 견적과 승인 변경 재검토</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처음 검산한 표에 더 싼 견적·수량 변경·사진 승인·자동 재전송이 추가됐습니다. 승인된 조건만 반영하여 24행을 다시 검토합니다. 읽기 4분, 생성 4분, 24행 검산 10분, 저장 2분. 합계만 정답이어도 행 상태가 틀리면 통과시키지 않습니다. 정답 예시의 숫자는 계산기·표 계산으로 재확인합니다.</a:t>
            </a:r>
          </a:p>
          <a:p xmlns:a="http://schemas.openxmlformats.org/drawingml/2006/main">
            <a:r>
              <a:t/>
            </a:r>
          </a:p>
          <a:p xmlns:a="http://schemas.openxmlformats.org/drawingml/2006/main">
            <a:r>
              <a:t>참가자에게 할 질문: 24행과 중복·취소 이력을 유지했는가</a:t>
            </a:r>
          </a:p>
          <a:p xmlns:a="http://schemas.openxmlformats.org/drawingml/2006/main">
            <a:r>
              <a:t/>
            </a:r>
          </a:p>
          <a:p xmlns:a="http://schemas.openxmlformats.org/drawingml/2006/main">
            <a:r>
              <a:t>예상 오류와 대응: B04는 승인된 수량·구성을 적용했는가 C09 최신 승인 범위와 미집행 상태를 구별했는가 전체 잔액과 개별 한도 준수를 별도로 확인했는가</a:t>
            </a:r>
          </a:p>
          <a:p xmlns:a="http://schemas.openxmlformats.org/drawingml/2006/main">
            <a:r>
              <a:t/>
            </a:r>
          </a:p>
          <a:p xmlns:a="http://schemas.openxmlformats.org/drawingml/2006/main">
            <a:r>
              <a:t>수업 링크: https://zeusk302-png.github.io/gyeongnam-ai-workshop/#practice-p03</a:t>
            </a:r>
          </a:p>
          <a:p xmlns:a="http://schemas.openxmlformats.org/drawingml/2006/main">
            <a:r>
              <a:t/>
            </a:r>
          </a:p>
          <a:p xmlns:a="http://schemas.openxmlformats.org/drawingml/2006/main">
            <a:r>
              <a:t>실습 안내: 새 견적과 승인을</a:t>
            </a:r>
          </a:p>
          <a:p xmlns:a="http://schemas.openxmlformats.org/drawingml/2006/main">
            <a:r>
              <a:t>구매표에 반영</a:t>
            </a:r>
          </a:p>
          <a:p xmlns:a="http://schemas.openxmlformats.org/drawingml/2006/main">
            <a:r>
              <a:t/>
            </a:r>
          </a:p>
          <a:p xmlns:a="http://schemas.openxmlformats.org/drawingml/2006/main">
            <a:r>
              <a:t>진행 순서: 원문 13·23에서 승인 조건 표시 / 중복·취소를 포함해 24행 유지 / 수정 5행과 행사별 한도 계산 / 계산기로 재검산 후 확인 메모 작성</a:t>
            </a:r>
          </a:p>
          <a:p xmlns:a="http://schemas.openxmlformats.org/drawingml/2006/main">
            <a:r>
              <a:t/>
            </a:r>
          </a:p>
          <a:p xmlns:a="http://schemas.openxmlformats.org/drawingml/2006/main">
            <a:r>
              <a:t>남길 결과: 구매표 24행 · 행사별 한도 · 변경표 5행</a:t>
            </a:r>
          </a:p>
          <a:p xmlns:a="http://schemas.openxmlformats.org/drawingml/2006/main">
            <a:r>
              <a:t/>
            </a:r>
          </a:p>
          <a:p xmlns:a="http://schemas.openxmlformats.org/drawingml/2006/main">
            <a:r>
              <a:t>원자료·대조 기준: https://zeusk302-png.github.io/gyeongnam-ai-workshop/downloads/%ED%99%95%EC%9E%A5/13_Gemini_%EC%98%88%EC%82%B0%EA%B2%80%ED%86%A0_%EC%A7%91%ED%96%89%EC%A4%80%EB%B9%84%EC%9E%90%EB%A3%8C.txt</a:t>
            </a:r>
          </a:p>
          <a:p xmlns:a="http://schemas.openxmlformats.org/drawingml/2006/main">
            <a:r>
              <a:t/>
            </a:r>
          </a:p>
          <a:p xmlns:a="http://schemas.openxmlformats.org/drawingml/2006/main">
            <a:r>
              <a:t>원자료·대조 기준: https://zeusk302-png.github.io/gyeongnam-ai-workshop/downloads/%EC%B6%94%EA%B0%80%EC%8B%A4%EC%8A%B5/23_Gemini_%EA%B5%AC%EB%A7%A424%ED%96%89_%EC%88%98%EC%A0%95%EA%B2%AC%EC%A0%81.txt</a:t>
            </a:r>
          </a:p>
          <a:p xmlns:a="http://schemas.openxmlformats.org/drawingml/2006/main">
            <a:r>
              <a:t/>
            </a:r>
          </a:p>
          <a:p xmlns:a="http://schemas.openxmlformats.org/drawingml/2006/main">
            <a:r>
              <a:t>추가 진행 참고: 산출물: 구매 검토표 24행 / 행사별 한도 비교표 3행 / 직전 검토 대비 변경표 5행과 구매담당 확인 메모</a:t>
            </a:r>
          </a:p>
          <a:p xmlns:a="http://schemas.openxmlformats.org/drawingml/2006/main">
            <a:r>
              <a:t>통과 기준: 24행과 중복·취소 이력을 유지했는가 / B04는 승인된 수량·구성을 적용했는가 / C09 최신 승인 범위와 미집행 상태를 구별했는가 / 전체 잔액과 개별 한도 준수를 별도로 확인했는가</a:t>
            </a:r>
          </a:p>
          <a:p xmlns:a="http://schemas.openxmlformats.org/drawingml/2006/main">
            <a:r>
              <a:t>웹 실습에서 해당 질문과 원문을 제공합니다. 해설은 초안과 직접 검토를 마친 뒤 확인합니다.</a:t>
            </a:r>
          </a:p>
          <a:p xmlns:a="http://schemas.openxmlformats.org/drawingml/2006/main">
            <a:r>
              <a:t>웹의 새 실제 Gemini 실행 오류 화면(w05)을 열고 전체 합계를 재검산합니다. 행사별 A 845,000원, B 950,000원, C 838,000원이 맞아도 전체합계를 2,538,000원으로 잘못 썼습니다. 올바른 합계는 2,633,000원입니다. 원표 기재합계는 2,882,000원, 원표 수량×단가 합계는 2,867,000원입니다. 표의 부분 값과 전체 합계를 각각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54. 선택 4. 새 공지를 반영한 참가 안내 갱신</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기존 네 소스에서 미정이던 배정·주차·녹화 내용의 후속 공지가 도착했습니다. 새 사실과 여전히 모르는 내용을 구별하며 참가 공지를 고칩니다. 소스 추가 3분, 질문·작성 4분, 인용 2곳과 공지 검토 6분, 저장 2분. 원문 문단 ID를 함께 기록하면 응답별로 인용 번호가 달라도 비교할 수 있습니다.</a:t>
            </a:r>
          </a:p>
          <a:p xmlns:a="http://schemas.openxmlformats.org/drawingml/2006/main">
            <a:r>
              <a:t/>
            </a:r>
          </a:p>
          <a:p xmlns:a="http://schemas.openxmlformats.org/drawingml/2006/main">
            <a:r>
              <a:t>참가자에게 할 질문: 과거에는 미정이었지만 새 문서가 결정한 내용을 갱신했는가</a:t>
            </a:r>
          </a:p>
          <a:p xmlns:a="http://schemas.openxmlformats.org/drawingml/2006/main">
            <a:r>
              <a:t/>
            </a:r>
          </a:p>
          <a:p xmlns:a="http://schemas.openxmlformats.org/drawingml/2006/main">
            <a:r>
              <a:t>예상 오류와 대응: 네 대 확보·네 대 배정·남은 네 대를 구별했는가 등록 완료 조건과 참가비 무료를 섞지 않았는가 해결되지 않은 이수·발급·공식 경로 등을 남겼는가</a:t>
            </a:r>
          </a:p>
          <a:p xmlns:a="http://schemas.openxmlformats.org/drawingml/2006/main">
            <a:r>
              <a:t/>
            </a:r>
          </a:p>
          <a:p xmlns:a="http://schemas.openxmlformats.org/drawingml/2006/main">
            <a:r>
              <a:t>수업 링크: https://zeusk302-png.github.io/gyeongnam-ai-workshop/#practice-p04</a:t>
            </a:r>
          </a:p>
          <a:p xmlns:a="http://schemas.openxmlformats.org/drawingml/2006/main">
            <a:r>
              <a:t/>
            </a:r>
          </a:p>
          <a:p xmlns:a="http://schemas.openxmlformats.org/drawingml/2006/main">
            <a:r>
              <a:t>실습 안내: 새 공지로</a:t>
            </a:r>
          </a:p>
          <a:p xmlns:a="http://schemas.openxmlformats.org/drawingml/2006/main">
            <a:r>
              <a:t>참가 안내 갱신</a:t>
            </a:r>
          </a:p>
          <a:p xmlns:a="http://schemas.openxmlformats.org/drawingml/2006/main">
            <a:r>
              <a:t/>
            </a:r>
          </a:p>
          <a:p xmlns:a="http://schemas.openxmlformats.org/drawingml/2006/main">
            <a:r>
              <a:t>진행 순서: 기존 14A~D와 새 24번 소스 추가 / 주차·녹화·개인 배정의 변경 확인 / 공지 500~700자와 남은 확인 작성 / 새 결정 인용 2곳을 원문과 대조</a:t>
            </a:r>
          </a:p>
          <a:p xmlns:a="http://schemas.openxmlformats.org/drawingml/2006/main">
            <a:r>
              <a:t/>
            </a:r>
          </a:p>
          <a:p xmlns:a="http://schemas.openxmlformats.org/drawingml/2006/main">
            <a:r>
              <a:t>남길 결과: 변경표 5행 · 공지 · 인용 확인 2건</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a:p xmlns:a="http://schemas.openxmlformats.org/drawingml/2006/main">
            <a:r>
              <a:t/>
            </a:r>
          </a:p>
          <a:p xmlns:a="http://schemas.openxmlformats.org/drawingml/2006/main">
            <a:r>
              <a:t>원자료·대조 기준: https://zeusk302-png.github.io/gyeongnam-ai-workshop/downloads/%EC%B6%94%EA%B0%80%EC%8B%A4%EC%8A%B5/24_NotebookLM_%ED%9B%84%EC%86%8D%EC%8A%B9%EC%9D%B8_%EB%B0%B0%EC%A0%95_%EC%A3%BC%EC%B0%A8.txt</a:t>
            </a:r>
          </a:p>
          <a:p xmlns:a="http://schemas.openxmlformats.org/drawingml/2006/main">
            <a:r>
              <a:t/>
            </a:r>
          </a:p>
          <a:p xmlns:a="http://schemas.openxmlformats.org/drawingml/2006/main">
            <a:r>
              <a:t>추가 진행 참고: 산출물: 이전 기록→최신 상태 비교표 5행 / 참가자 공지 본문 500~700자 / 남은 확인 5개와 원문 인용 확인 기록 2건</a:t>
            </a:r>
          </a:p>
          <a:p xmlns:a="http://schemas.openxmlformats.org/drawingml/2006/main">
            <a:r>
              <a:t>통과 기준: 과거에는 미정이었지만 새 문서가 결정한 내용을 갱신했는가 / 네 대 확보·네 대 배정·남은 네 대를 구별했는가 / 등록 완료 조건과 참가비 무료를 섞지 않았는가 / 해결되지 않은 이수·발급·공식 경로 등을 남겼는가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55. 선택 5. 부서별 안내와 답변 3종</a:t>
            </a:r>
          </a:p>
          <a:p xmlns:a="http://schemas.openxmlformats.org/drawingml/2006/main">
            <a:r>
              <a:t/>
            </a:r>
          </a:p>
          <a:p xmlns:a="http://schemas.openxmlformats.org/drawingml/2006/main">
            <a:r>
              <a:t>시간: 선택 활동 15분. 본수업 180분에는 포함하지 않습니다. 수업 후 복습 또는 별도 심화 수업에서 선택합니다.</a:t>
            </a:r>
          </a:p>
          <a:p xmlns:a="http://schemas.openxmlformats.org/drawingml/2006/main">
            <a:r>
              <a:t/>
            </a:r>
          </a:p>
          <a:p xmlns:a="http://schemas.openxmlformats.org/drawingml/2006/main">
            <a:r>
              <a:t>말할 내용: 홍보·연구지원·회계지원팀이 서로 다른 결정을 기다립니다. 공통 사실을 유지하면서 대상에게 필요한 정보만 남기는 회신을 작성합니다. 소스·질문 4분, 작성 3분, 수신 범위와 수치 대조 6분, 저장 2분. p04를 먼저 했다면 같은 노트북에 25번만 추가합니다. 독립 시작을 위한 전체 소스 목록도 제공합니다.</a:t>
            </a:r>
          </a:p>
          <a:p xmlns:a="http://schemas.openxmlformats.org/drawingml/2006/main">
            <a:r>
              <a:t/>
            </a:r>
          </a:p>
          <a:p xmlns:a="http://schemas.openxmlformats.org/drawingml/2006/main">
            <a:r>
              <a:t>참가자에게 할 질문: 세 부서별 필요한 행동과 수신 범위가 다른가</a:t>
            </a:r>
          </a:p>
          <a:p xmlns:a="http://schemas.openxmlformats.org/drawingml/2006/main">
            <a:r>
              <a:t/>
            </a:r>
          </a:p>
          <a:p xmlns:a="http://schemas.openxmlformats.org/drawingml/2006/main">
            <a:r>
              <a:t>예상 오류와 대응: 대기 1순위를 참가 확정으로 바꾸지 않았는가 V01은 등록 완료 조건으로 계산하고 V02 금액은 미확정으로 두었는가 주차 시간과 30분 단위 올림을 직접 계산했는가</a:t>
            </a:r>
          </a:p>
          <a:p xmlns:a="http://schemas.openxmlformats.org/drawingml/2006/main">
            <a:r>
              <a:t/>
            </a:r>
          </a:p>
          <a:p xmlns:a="http://schemas.openxmlformats.org/drawingml/2006/main">
            <a:r>
              <a:t>수업 링크: https://zeusk302-png.github.io/gyeongnam-ai-workshop/#practice-p05</a:t>
            </a:r>
          </a:p>
          <a:p xmlns:a="http://schemas.openxmlformats.org/drawingml/2006/main">
            <a:r>
              <a:t/>
            </a:r>
          </a:p>
          <a:p xmlns:a="http://schemas.openxmlformats.org/drawingml/2006/main">
            <a:r>
              <a:t>실습 안내: 수신 부서에 맞춘</a:t>
            </a:r>
          </a:p>
          <a:p xmlns:a="http://schemas.openxmlformats.org/drawingml/2006/main">
            <a:r>
              <a:t>회신 세 개 작성</a:t>
            </a:r>
          </a:p>
          <a:p xmlns:a="http://schemas.openxmlformats.org/drawingml/2006/main">
            <a:r>
              <a:t/>
            </a:r>
          </a:p>
          <a:p xmlns:a="http://schemas.openxmlformats.org/drawingml/2006/main">
            <a:r>
              <a:t>진행 순서: 기존 14A~D와 새 24·25번 추가 / 부서별 필요한 행동을 한 줄로 정리 / 세 회신과 내부 근거 검토표 분리 / 주차 계산과 수신 범위를 짝과 대조</a:t>
            </a:r>
          </a:p>
          <a:p xmlns:a="http://schemas.openxmlformats.org/drawingml/2006/main">
            <a:r>
              <a:t/>
            </a:r>
          </a:p>
          <a:p xmlns:a="http://schemas.openxmlformats.org/drawingml/2006/main">
            <a:r>
              <a:t>남길 결과: 부서별 회신 3건 · 근거 6행 · 공통 사실표</a:t>
            </a:r>
          </a:p>
          <a:p xmlns:a="http://schemas.openxmlformats.org/drawingml/2006/main">
            <a:r>
              <a:t/>
            </a:r>
          </a:p>
          <a:p xmlns:a="http://schemas.openxmlformats.org/drawingml/2006/main">
            <a:r>
              <a:t>원자료·대조 기준: https://zeusk302-png.github.io/gyeongnam-ai-workshop/downloads/%ED%99%95%EC%9E%A5/14A_NotebookLM_%EA%B5%90%EC%9C%A1%EC%9A%B4%EC%98%81%EC%95%88%EB%82%B4_%EC%83%81%EC%84%B8.txt</a:t>
            </a:r>
          </a:p>
          <a:p xmlns:a="http://schemas.openxmlformats.org/drawingml/2006/main">
            <a:r>
              <a:t/>
            </a:r>
          </a:p>
          <a:p xmlns:a="http://schemas.openxmlformats.org/drawingml/2006/main">
            <a:r>
              <a:t>원자료·대조 기준: https://zeusk302-png.github.io/gyeongnam-ai-workshop/downloads/%ED%99%95%EC%9E%A5/14B_NotebookLM_%EC%9A%B4%EC%98%81%ED%9A%8C%EC%9D%98_%EC%97%85%EB%AC%B4%EC%9D%B8%EA%B3%84.txt</a:t>
            </a:r>
          </a:p>
          <a:p xmlns:a="http://schemas.openxmlformats.org/drawingml/2006/main">
            <a:r>
              <a:t/>
            </a:r>
          </a:p>
          <a:p xmlns:a="http://schemas.openxmlformats.org/drawingml/2006/main">
            <a:r>
              <a:t>원자료·대조 기준: https://zeusk302-png.github.io/gyeongnam-ai-workshop/downloads/%ED%99%95%EC%9E%A5/14C_%EB%B3%80%EA%B2%BD%EA%B3%B5%EC%A7%80%EC%99%80_%EC%8A%B9%EC%9D%B8%EA%B8%B0%EB%A1%9D.txt</a:t>
            </a:r>
          </a:p>
          <a:p xmlns:a="http://schemas.openxmlformats.org/drawingml/2006/main">
            <a:r>
              <a:t/>
            </a:r>
          </a:p>
          <a:p xmlns:a="http://schemas.openxmlformats.org/drawingml/2006/main">
            <a:r>
              <a:t>원자료·대조 기준: https://zeusk302-png.github.io/gyeongnam-ai-workshop/downloads/%ED%99%95%EC%9E%A5/14D_%EC%B0%B8%EA%B0%80%EB%AC%B8%EC%9D%98_%EC%A0%91%EC%88%98%EB%AA%A9%EB%A1%9D.txt</a:t>
            </a:r>
          </a:p>
          <a:p xmlns:a="http://schemas.openxmlformats.org/drawingml/2006/main">
            <a:r>
              <a:t/>
            </a:r>
          </a:p>
          <a:p xmlns:a="http://schemas.openxmlformats.org/drawingml/2006/main">
            <a:r>
              <a:t>원자료·대조 기준: https://zeusk302-png.github.io/gyeongnam-ai-workshop/downloads/%EC%B6%94%EA%B0%80%EC%8B%A4%EC%8A%B5/24_NotebookLM_%ED%9B%84%EC%86%8D%EC%8A%B9%EC%9D%B8_%EB%B0%B0%EC%A0%95_%EC%A3%BC%EC%B0%A8.txt</a:t>
            </a:r>
          </a:p>
          <a:p xmlns:a="http://schemas.openxmlformats.org/drawingml/2006/main">
            <a:r>
              <a:t/>
            </a:r>
          </a:p>
          <a:p xmlns:a="http://schemas.openxmlformats.org/drawingml/2006/main">
            <a:r>
              <a:t>원자료·대조 기준: https://zeusk302-png.github.io/gyeongnam-ai-workshop/downloads/%EC%B6%94%EA%B0%80%EC%8B%A4%EC%8A%B5/25_NotebookLM_%EB%B6%80%EC%84%9C%EB%B3%84%EC%95%88%EB%82%B4_%EC%9A%94%EC%B2%AD.txt</a:t>
            </a:r>
          </a:p>
          <a:p xmlns:a="http://schemas.openxmlformats.org/drawingml/2006/main">
            <a:r>
              <a:t/>
            </a:r>
          </a:p>
          <a:p xmlns:a="http://schemas.openxmlformats.org/drawingml/2006/main">
            <a:r>
              <a:t>추가 진행 참고: 산출물: 홍보·연구지원·회계지원팀 회신 각 250~400자 / 근거 검토표 6행(부서별 2행) / 세 문서 공통 사실 대조표</a:t>
            </a:r>
          </a:p>
          <a:p xmlns:a="http://schemas.openxmlformats.org/drawingml/2006/main">
            <a:r>
              <a:t>통과 기준: 세 부서별 필요한 행동과 수신 범위가 다른가 / 대기 1순위를 참가 확정으로 바꾸지 않았는가 / V01은 등록 완료 조건으로 계산하고 V02 금액은 미확정으로 두었는가 / 주차 시간과 30분 단위 올림을 직접 계산했는가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56. 선택 6. 보완 대장과 설문 10건 재집계</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출석 누락 정정, 제출 승인, 설문 교체·추가가 도착했습니다. 접수 문서 수를 사람 수에 더하지 않고 실제 원점수와 대장을 다시 집계합니다. 읽기 4분, 생성 4분, 원점수·대장·계산 대조 10분, 저장 2분. 기존 기재가 당시 틀렸다는 결론이 아니라 새 증거로 정정한 이력을 가르칩니다.</a:t>
            </a:r>
          </a:p>
          <a:p xmlns:a="http://schemas.openxmlformats.org/drawingml/2006/main">
            <a:r>
              <a:t/>
            </a:r>
          </a:p>
          <a:p xmlns:a="http://schemas.openxmlformats.org/drawingml/2006/main">
            <a:r>
              <a:t>참가자에게 할 질문: 교체 7건과 추가 3건을 구별했는가</a:t>
            </a:r>
          </a:p>
          <a:p xmlns:a="http://schemas.openxmlformats.org/drawingml/2006/main">
            <a:r>
              <a:t/>
            </a:r>
          </a:p>
          <a:p xmlns:a="http://schemas.openxmlformats.org/drawingml/2006/main">
            <a:r>
              <a:t>예상 오류와 대응: 수신만 된 제출물을 승인된 이수로 바꾸지 않았는가 참여자와 신청자 분모를 바꿔 쓰지 않았는가 점수 합계에서 평균을 구하고 P·S·F번호를 연결하지 않았는가</a:t>
            </a:r>
          </a:p>
          <a:p xmlns:a="http://schemas.openxmlformats.org/drawingml/2006/main">
            <a:r>
              <a:t/>
            </a:r>
          </a:p>
          <a:p xmlns:a="http://schemas.openxmlformats.org/drawingml/2006/main">
            <a:r>
              <a:t>수업 링크: https://zeusk302-png.github.io/gyeongnam-ai-workshop/#practice-p06</a:t>
            </a:r>
          </a:p>
          <a:p xmlns:a="http://schemas.openxmlformats.org/drawingml/2006/main">
            <a:r>
              <a:t/>
            </a:r>
          </a:p>
          <a:p xmlns:a="http://schemas.openxmlformats.org/drawingml/2006/main">
            <a:r>
              <a:t>실습 안내: 대장과 원점수를</a:t>
            </a:r>
          </a:p>
          <a:p xmlns:a="http://schemas.openxmlformats.org/drawingml/2006/main">
            <a:r>
              <a:t>보완 근거로 재집계</a:t>
            </a:r>
          </a:p>
          <a:p xmlns:a="http://schemas.openxmlformats.org/drawingml/2006/main">
            <a:r>
              <a:t/>
            </a:r>
          </a:p>
          <a:p xmlns:a="http://schemas.openxmlformats.org/drawingml/2006/main">
            <a:r>
              <a:t>진행 순서: 원문 15·26의 승인 기준일 확인 / 출석·제출 승인과 접수만 된 건 구분 / 설문 교체 7건과 추가 3건 재집계 / 최종 점수·분모·정정 문장 직접 대조</a:t>
            </a:r>
          </a:p>
          <a:p xmlns:a="http://schemas.openxmlformats.org/drawingml/2006/main">
            <a:r>
              <a:t/>
            </a:r>
          </a:p>
          <a:p xmlns:a="http://schemas.openxmlformats.org/drawingml/2006/main">
            <a:r>
              <a:t>남길 결과: 점수 28행 · 지표 13행 · 정정 보고</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https://zeusk302-png.github.io/gyeongnam-ai-workshop/downloads/%EC%B6%94%EA%B0%80%EC%8B%A4%EC%8A%B5/26_Claude_%EB%B3%B4%EC%99%84%EB%8C%80%EC%9E%A5%EA%B3%BC_%EC%84%A4%EB%AC%B810%EA%B1%B4.txt</a:t>
            </a:r>
          </a:p>
          <a:p xmlns:a="http://schemas.openxmlformats.org/drawingml/2006/main">
            <a:r>
              <a:t/>
            </a:r>
          </a:p>
          <a:p xmlns:a="http://schemas.openxmlformats.org/drawingml/2006/main">
            <a:r>
              <a:t>추가 진행 참고: 산출물: 출석·제출 변경표 6행 / 최종 설문 원점수 28행과 접수 이력 10건 / 전후 지표표 13행과 정정 보고 본문 400~550자</a:t>
            </a:r>
          </a:p>
          <a:p xmlns:a="http://schemas.openxmlformats.org/drawingml/2006/main">
            <a:r>
              <a:t>통과 기준: 교체 7건과 추가 3건을 구별했는가 / 수신만 된 제출물을 승인된 이수로 바꾸지 않았는가 / 참여자와 신청자 분모를 바꿔 쓰지 않았는가 / 점수 합계에서 평균을 구하고 P·S·F번호를 연결하지 않았는가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57. 선택 7. 부서장 보완 요청 3문서 동시 반영</a:t>
            </a:r>
          </a:p>
          <a:p xmlns:a="http://schemas.openxmlformats.org/drawingml/2006/main">
            <a:r>
              <a:t/>
            </a:r>
          </a:p>
          <a:p xmlns:a="http://schemas.openxmlformats.org/drawingml/2006/main">
            <a:r>
              <a:t>시간: 선택 활동 20분. 본수업 180분에는 포함하지 않습니다. 수업 후 복습 또는 별도 심화 수업에서 선택합니다.</a:t>
            </a:r>
          </a:p>
          <a:p xmlns:a="http://schemas.openxmlformats.org/drawingml/2006/main">
            <a:r>
              <a:t/>
            </a:r>
          </a:p>
          <a:p xmlns:a="http://schemas.openxmlformats.org/drawingml/2006/main">
            <a:r>
              <a:t>말할 내용: 보고서만 고치고 메일과 업무표가 남으면 잘못된 결정이 전달됩니다. 승인 범위와 정정 수치를 세 문서에 일관되게 반영합니다. 지시·초안 읽기 4분, 작성 5분, 3문서 대조 9분, 저장 2분. p06 결과가 있더라도 원문 보완 승인 자료를 함께 제공합니다. 제안이 승인된 범위를 넘어 완료로 바뀌지 않도록 확인합니다.</a:t>
            </a:r>
          </a:p>
          <a:p xmlns:a="http://schemas.openxmlformats.org/drawingml/2006/main">
            <a:r>
              <a:t/>
            </a:r>
          </a:p>
          <a:p xmlns:a="http://schemas.openxmlformats.org/drawingml/2006/main">
            <a:r>
              <a:t>참가자에게 할 질문: 세 문서의 참여·이수·설문 수치가 일치하는가</a:t>
            </a:r>
          </a:p>
          <a:p xmlns:a="http://schemas.openxmlformats.org/drawingml/2006/main">
            <a:r>
              <a:t/>
            </a:r>
          </a:p>
          <a:p xmlns:a="http://schemas.openxmlformats.org/drawingml/2006/main">
            <a:r>
              <a:t>예상 오류와 대응: 초안의 시행 완료를 승인·착수 전 상태로 바로잡았는가 11월 4일 안내와 11월 6일 제출, 11월 9일 검토를 구별했는가 %와 %p, 표시 평균 차이와 정확한 원평균 차이를 구별했는가</a:t>
            </a:r>
          </a:p>
          <a:p xmlns:a="http://schemas.openxmlformats.org/drawingml/2006/main">
            <a:r>
              <a:t/>
            </a:r>
          </a:p>
          <a:p xmlns:a="http://schemas.openxmlformats.org/drawingml/2006/main">
            <a:r>
              <a:t>수업 링크: https://zeusk302-png.github.io/gyeongnam-ai-workshop/#practice-p07</a:t>
            </a:r>
          </a:p>
          <a:p xmlns:a="http://schemas.openxmlformats.org/drawingml/2006/main">
            <a:r>
              <a:t/>
            </a:r>
          </a:p>
          <a:p xmlns:a="http://schemas.openxmlformats.org/drawingml/2006/main">
            <a:r>
              <a:t>실습 안내: 세 문서의</a:t>
            </a:r>
          </a:p>
          <a:p xmlns:a="http://schemas.openxmlformats.org/drawingml/2006/main">
            <a:r>
              <a:t>수치와 결정 통일</a:t>
            </a:r>
          </a:p>
          <a:p xmlns:a="http://schemas.openxmlformats.org/drawingml/2006/main">
            <a:r>
              <a:t/>
            </a:r>
          </a:p>
          <a:p xmlns:a="http://schemas.openxmlformats.org/drawingml/2006/main">
            <a:r>
              <a:t>진행 순서: 원문 15·26·27과 잘못된 초안 비교 / 보고서·메일·업무표를 함께 수정 / 승인된 담당과 기한·상태 보존 / 공통 수치·기준일·결정 상태 대조</a:t>
            </a:r>
          </a:p>
          <a:p xmlns:a="http://schemas.openxmlformats.org/drawingml/2006/main">
            <a:r>
              <a:t/>
            </a:r>
          </a:p>
          <a:p xmlns:a="http://schemas.openxmlformats.org/drawingml/2006/main">
            <a:r>
              <a:t>남길 결과: 보고서 · 전달 메일 · 후속 업무표 3행</a:t>
            </a:r>
          </a:p>
          <a:p xmlns:a="http://schemas.openxmlformats.org/drawingml/2006/main">
            <a:r>
              <a:t/>
            </a:r>
          </a:p>
          <a:p xmlns:a="http://schemas.openxmlformats.org/drawingml/2006/main">
            <a:r>
              <a:t>원자료·대조 기준: https://zeusk302-png.github.io/gyeongnam-ai-workshop/downloads/%ED%99%95%EC%9E%A5/15_Claude_%EC%9A%B4%EC%98%81%EA%B2%B0%EA%B3%BC_%EC%A7%91%EA%B3%84%EC%99%80%ED%98%84%EC%9E%A5%EB%A9%94%EB%AA%A8.txt</a:t>
            </a:r>
          </a:p>
          <a:p xmlns:a="http://schemas.openxmlformats.org/drawingml/2006/main">
            <a:r>
              <a:t/>
            </a:r>
          </a:p>
          <a:p xmlns:a="http://schemas.openxmlformats.org/drawingml/2006/main">
            <a:r>
              <a:t>원자료·대조 기준: https://zeusk302-png.github.io/gyeongnam-ai-workshop/downloads/%EC%B6%94%EA%B0%80%EC%8B%A4%EC%8A%B5/26_Claude_%EB%B3%B4%EC%99%84%EB%8C%80%EC%9E%A5%EA%B3%BC_%EC%84%A4%EB%AC%B810%EA%B1%B4.txt</a:t>
            </a:r>
          </a:p>
          <a:p xmlns:a="http://schemas.openxmlformats.org/drawingml/2006/main">
            <a:r>
              <a:t/>
            </a:r>
          </a:p>
          <a:p xmlns:a="http://schemas.openxmlformats.org/drawingml/2006/main">
            <a:r>
              <a:t>원자료·대조 기준: https://zeusk302-png.github.io/gyeongnam-ai-workshop/downloads/%EC%B6%94%EA%B0%80%EC%8B%A4%EC%8A%B5/27_Claude_%EB%B6%80%EC%84%9C%EC%9E%A5%EB%B3%B4%EC%99%84_%EB%AC%B8%EC%84%9C3%EC%A2%85.txt</a:t>
            </a:r>
          </a:p>
          <a:p xmlns:a="http://schemas.openxmlformats.org/drawingml/2006/main">
            <a:r>
              <a:t/>
            </a:r>
          </a:p>
          <a:p xmlns:a="http://schemas.openxmlformats.org/drawingml/2006/main">
            <a:r>
              <a:t>추가 진행 참고: 산출물: 보고 본문 800~1,000자와 이전 회차 비교표 / 전달 메일 본문 300~450자 / 후속 업무표 3행과 공통 사실 대조표</a:t>
            </a:r>
          </a:p>
          <a:p xmlns:a="http://schemas.openxmlformats.org/drawingml/2006/main">
            <a:r>
              <a:t>통과 기준: 세 문서의 참여·이수·설문 수치가 일치하는가 / 초안의 시행 완료를 승인·착수 전 상태로 바로잡았는가 / 11월 4일 안내와 11월 6일 제출, 11월 9일 검토를 구별했는가 / %와 %p, 표시 평균 차이와 정확한 원평균 차이를 구별했는가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58. 선택 8. 새 행사 운영 묶음 완성</a:t>
            </a:r>
          </a:p>
          <a:p xmlns:a="http://schemas.openxmlformats.org/drawingml/2006/main">
            <a:r>
              <a:t/>
            </a:r>
          </a:p>
          <a:p xmlns:a="http://schemas.openxmlformats.org/drawingml/2006/main">
            <a:r>
              <a:t>시간: 선택 활동 25분. 본수업 180분에는 포함하지 않습니다. 수업 후 복습 또는 별도 심화 수업에서 선택합니다.</a:t>
            </a:r>
          </a:p>
          <a:p xmlns:a="http://schemas.openxmlformats.org/drawingml/2006/main">
            <a:r>
              <a:t/>
            </a:r>
          </a:p>
          <a:p xmlns:a="http://schemas.openxmlformats.org/drawingml/2006/main">
            <a:r>
              <a:t>말할 내용: 독립된 2시간 행사에 대해 문의 응대→근거 있는 안내→준비 보고를 연결합니다. 이전 행사의 장소·예산·주차 조건을 가져오는 오류를 막습니다. 권장 25분(7+7+8+3). 수업 후 종합 복습 또는 별도 심화 수업에서 별도 심화 수업에서 선택해 진행합니다. 세 도구에 한 질문을 무조건 전송하지 않고 해당 단계의 질문만 선택합니다. 제한 발생 시 앞서 받은 결과를 원문과 대조하며 같은 산출물을 작성합니다.</a:t>
            </a:r>
          </a:p>
          <a:p xmlns:a="http://schemas.openxmlformats.org/drawingml/2006/main">
            <a:r>
              <a:t/>
            </a:r>
          </a:p>
          <a:p xmlns:a="http://schemas.openxmlformats.org/drawingml/2006/main">
            <a:r>
              <a:t>참가자에게 할 질문: 신규 행사의 승인 날짜·202호·2시간을 적용했는가</a:t>
            </a:r>
          </a:p>
          <a:p xmlns:a="http://schemas.openxmlformats.org/drawingml/2006/main">
            <a:r>
              <a:t/>
            </a:r>
          </a:p>
          <a:p xmlns:a="http://schemas.openxmlformats.org/drawingml/2006/main">
            <a:r>
              <a:t>예상 오류와 대응: 확정과 검토 중을 실제 출석·이수로 바꾸지 않았는가 미승인 편집 제안을 승인 합계와 분리했는가 세 도구 결과를 앞 단계 글만 믿지 않고 원문에 다시 연결했는가</a:t>
            </a:r>
          </a:p>
          <a:p xmlns:a="http://schemas.openxmlformats.org/drawingml/2006/main">
            <a:r>
              <a:t/>
            </a:r>
          </a:p>
          <a:p xmlns:a="http://schemas.openxmlformats.org/drawingml/2006/main">
            <a:r>
              <a:t>수업 링크: https://zeusk302-png.github.io/gyeongnam-ai-workshop/#practice-p08</a:t>
            </a:r>
          </a:p>
          <a:p xmlns:a="http://schemas.openxmlformats.org/drawingml/2006/main">
            <a:r>
              <a:t/>
            </a:r>
          </a:p>
          <a:p xmlns:a="http://schemas.openxmlformats.org/drawingml/2006/main">
            <a:r>
              <a:t>실습 안내: 독립된 새 행사의</a:t>
            </a:r>
          </a:p>
          <a:p xmlns:a="http://schemas.openxmlformats.org/drawingml/2006/main">
            <a:r>
              <a:t>운영 묶음 완성</a:t>
            </a:r>
          </a:p>
          <a:p xmlns:a="http://schemas.openxmlformats.org/drawingml/2006/main">
            <a:r>
              <a:t/>
            </a:r>
          </a:p>
          <a:p xmlns:a="http://schemas.openxmlformats.org/drawingml/2006/main">
            <a:r>
              <a:t>진행 순서: Gemini 7분: 업무표와 회신 작성 / NotebookLM 7분: FAQ와 인용 확인 / Claude 8분: 준비 보고와 예산 검토 / 마지막 3분: 세 결과와 원문 대조</a:t>
            </a:r>
          </a:p>
          <a:p xmlns:a="http://schemas.openxmlformats.org/drawingml/2006/main">
            <a:r>
              <a:t/>
            </a:r>
          </a:p>
          <a:p xmlns:a="http://schemas.openxmlformats.org/drawingml/2006/main">
            <a:r>
              <a:t>남길 결과: 업무표와 회신 · FAQ · 준비 보고와 예산표</a:t>
            </a:r>
          </a:p>
          <a:p xmlns:a="http://schemas.openxmlformats.org/drawingml/2006/main">
            <a:r>
              <a:t/>
            </a:r>
          </a:p>
          <a:p xmlns:a="http://schemas.openxmlformats.org/drawingml/2006/main">
            <a:r>
              <a:t>원자료·대조 기준: https://zeusk302-png.github.io/gyeongnam-ai-workshop/downloads/%EC%B6%94%EA%B0%80%EC%8B%A4%EC%8A%B5/28_%EC%A2%85%ED%95%A9_%EC%83%88%ED%96%89%EC%82%AC_%EC%9A%B4%EC%98%81%EB%AC%B8%EC%84%9C%EB%AC%B6%EC%9D%8C.txt</a:t>
            </a:r>
          </a:p>
          <a:p xmlns:a="http://schemas.openxmlformats.org/drawingml/2006/main">
            <a:r>
              <a:t/>
            </a:r>
          </a:p>
          <a:p xmlns:a="http://schemas.openxmlformats.org/drawingml/2006/main">
            <a:r>
              <a:t>추가 진행 참고: 산출물: Gemini: 준비 업무표 4행과 문의 회신 4건 / NotebookLM: FAQ 6행과 원문 인용 확인 2건 / Claude: 준비 보고 600~800자와 승인 구매표 6행·한도 대조표</a:t>
            </a:r>
          </a:p>
          <a:p xmlns:a="http://schemas.openxmlformats.org/drawingml/2006/main">
            <a:r>
              <a:t>통과 기준: 신규 행사의 승인 날짜·202호·2시간을 적용했는가 / 확정과 검토 중을 실제 출석·이수로 바꾸지 않았는가 / 미승인 편집 제안을 승인 합계와 분리했는가 / 세 도구 결과를 앞 단계 글만 믿지 않고 원문에 다시 연결했는가</a:t>
            </a:r>
          </a:p>
          <a:p xmlns:a="http://schemas.openxmlformats.org/drawingml/2006/main">
            <a:r>
              <a:t>웹 실습에서 해당 질문과 원문을 제공합니다. 해설은 초안과 직접 검토를 마친 뒤 확인합니다.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a6b2065f814a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e83c4be6bd4821" /><Relationship Type="http://schemas.openxmlformats.org/officeDocument/2006/relationships/slideLayout" Target="/ppt/slideLayouts/slideLayout1.xml" Id="R6ffdd4fb74e947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fdd4fb74e947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8f7b1592f8c42fd" /><Relationship Type="http://schemas.openxmlformats.org/officeDocument/2006/relationships/hyperlink" Target="https://zeusk302-png.github.io/gyeongnam-ai-workshop/" TargetMode="External" Id="Re5ec81e35639430b" /><Relationship Type="http://schemas.openxmlformats.org/officeDocument/2006/relationships/notesSlide" Target="/ppt/notesSlides/notesSlide1.xml" Id="Re99dc4051a0b47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8584b384e24542" /><Relationship Type="http://schemas.openxmlformats.org/officeDocument/2006/relationships/image" Target="/ppt/media/image.jpeg" Id="R4ff341b0d27744c2" /><Relationship Type="http://schemas.openxmlformats.org/officeDocument/2006/relationships/hyperlink" Target="https://zeusk302-png.github.io/gyeongnam-ai-workshop/#instructor" TargetMode="External" Id="Rfcdc19a6f6c24fe8" /><Relationship Type="http://schemas.openxmlformats.org/officeDocument/2006/relationships/notesSlide" Target="/ppt/notesSlides/notesSlide2.xml" Id="R3f084ce499074cc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f544f5c26c4bdb" /><Relationship Type="http://schemas.openxmlformats.org/officeDocument/2006/relationships/hyperlink" Target="https://zeusk302-png.github.io/gyeongnam-ai-workshop/#resources" TargetMode="External" Id="R4aad520d4f5b4da0" /><Relationship Type="http://schemas.openxmlformats.org/officeDocument/2006/relationships/notesSlide" Target="/ppt/notesSlides/notesSlide3.xml" Id="R10e8cf2d77cf45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a4ea19c654327" /><Relationship Type="http://schemas.openxmlformats.org/officeDocument/2006/relationships/hyperlink" Target="https://zeusk302-png.github.io/gyeongnam-ai-workshop/#orientation" TargetMode="External" Id="R89e68275bd5441e0" /><Relationship Type="http://schemas.openxmlformats.org/officeDocument/2006/relationships/notesSlide" Target="/ppt/notesSlides/notesSlide4.xml" Id="Ree15a859f61f44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5e26371d7cb44ec" /><Relationship Type="http://schemas.openxmlformats.org/officeDocument/2006/relationships/hyperlink" Target="https://zeusk302-png.github.io/gyeongnam-ai-workshop/#resources" TargetMode="External" Id="Rde93a94da5c34ccc" /><Relationship Type="http://schemas.openxmlformats.org/officeDocument/2006/relationships/notesSlide" Target="/ppt/notesSlides/notesSlide5.xml" Id="R7218d180e5104e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6cfe70b06db4c50" /><Relationship Type="http://schemas.openxmlformats.org/officeDocument/2006/relationships/hyperlink" Target="https://zeusk302-png.github.io/gyeongnam-ai-workshop/#orientation" TargetMode="External" Id="Rd6cb815af26b49bf" /><Relationship Type="http://schemas.openxmlformats.org/officeDocument/2006/relationships/notesSlide" Target="/ppt/notesSlides/notesSlide6.xml" Id="Rc9a160b1a10c41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aaee0bff8bb4c95" /><Relationship Type="http://schemas.openxmlformats.org/officeDocument/2006/relationships/hyperlink" Target="https://zeusk302-png.github.io/gyeongnam-ai-workshop/#free-guide" TargetMode="External" Id="R0dd3f85daef342e5" /><Relationship Type="http://schemas.openxmlformats.org/officeDocument/2006/relationships/notesSlide" Target="/ppt/notesSlides/notesSlide7.xml" Id="Ra9fe636bb68c47d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f679515590348c5" /><Relationship Type="http://schemas.openxmlformats.org/officeDocument/2006/relationships/hyperlink" Target="https://zeusk302-png.github.io/gyeongnam-ai-workshop/#free-guide" TargetMode="External" Id="Rfbc3fb9af7f94a76" /><Relationship Type="http://schemas.openxmlformats.org/officeDocument/2006/relationships/notesSlide" Target="/ppt/notesSlides/notesSlide8.xml" Id="R3248dedff1744f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a5c1e5da4e4f21" /><Relationship Type="http://schemas.openxmlformats.org/officeDocument/2006/relationships/hyperlink" Target="https://zeusk302-png.github.io/gyeongnam-ai-workshop/#orientation" TargetMode="External" Id="Rb6aeb610b07949ae" /><Relationship Type="http://schemas.openxmlformats.org/officeDocument/2006/relationships/notesSlide" Target="/ppt/notesSlides/notesSlide9.xml" Id="R8320a015e433470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6b038f66d314532" /><Relationship Type="http://schemas.openxmlformats.org/officeDocument/2006/relationships/hyperlink" Target="https://zeusk302-png.github.io/gyeongnam-ai-workshop/#g-email" TargetMode="External" Id="Rc1c5a47ebf8746a2" /><Relationship Type="http://schemas.openxmlformats.org/officeDocument/2006/relationships/notesSlide" Target="/ppt/notesSlides/notesSlide10.xml" Id="Ree7858e3642048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6195700f87142e1" /><Relationship Type="http://schemas.openxmlformats.org/officeDocument/2006/relationships/hyperlink" Target="https://zeusk302-png.github.io/gyeongnam-ai-workshop/#g-email" TargetMode="External" Id="R558fc8e9422041c1" /><Relationship Type="http://schemas.openxmlformats.org/officeDocument/2006/relationships/notesSlide" Target="/ppt/notesSlides/notesSlide11.xml" Id="R96a327c7ccc14e0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1d5283b504412d" /><Relationship Type="http://schemas.openxmlformats.org/officeDocument/2006/relationships/image" Target="/ppt/media/image.png" Id="Rd2692136fecc4105" /><Relationship Type="http://schemas.openxmlformats.org/officeDocument/2006/relationships/hyperlink" Target="https://zeusk302-png.github.io/gyeongnam-ai-workshop/#g-email" TargetMode="External" Id="R00e9d3c003d34cfc" /><Relationship Type="http://schemas.openxmlformats.org/officeDocument/2006/relationships/notesSlide" Target="/ppt/notesSlides/notesSlide12.xml" Id="R5ce74981fee443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de2307182204e06" /><Relationship Type="http://schemas.openxmlformats.org/officeDocument/2006/relationships/hyperlink" Target="https://zeusk302-png.github.io/gyeongnam-ai-workshop/#g-email" TargetMode="External" Id="R76d361181e9f4474" /><Relationship Type="http://schemas.openxmlformats.org/officeDocument/2006/relationships/notesSlide" Target="/ppt/notesSlides/notesSlide13.xml" Id="Rb7077428a3c5487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a43c5eeb0b3441f" /><Relationship Type="http://schemas.openxmlformats.org/officeDocument/2006/relationships/image" Target="/ppt/media/image2.png" Id="R8b43ce2a43164320" /><Relationship Type="http://schemas.openxmlformats.org/officeDocument/2006/relationships/hyperlink" Target="https://zeusk302-png.github.io/gyeongnam-ai-workshop/#g-email" TargetMode="External" Id="R4642cca8fe924a77" /><Relationship Type="http://schemas.openxmlformats.org/officeDocument/2006/relationships/notesSlide" Target="/ppt/notesSlides/notesSlide14.xml" Id="Rffebb42d8d7a41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bc1b7dff90b406b" /><Relationship Type="http://schemas.openxmlformats.org/officeDocument/2006/relationships/hyperlink" Target="https://zeusk302-png.github.io/gyeongnam-ai-workshop/#g-email" TargetMode="External" Id="R7e9e596f0f0b4577" /><Relationship Type="http://schemas.openxmlformats.org/officeDocument/2006/relationships/notesSlide" Target="/ppt/notesSlides/notesSlide15.xml" Id="Re97564817e9345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4afd83164684cdd" /><Relationship Type="http://schemas.openxmlformats.org/officeDocument/2006/relationships/hyperlink" Target="https://zeusk302-png.github.io/gyeongnam-ai-workshop/#g-meeting" TargetMode="External" Id="Ref1b6710095d47d3" /><Relationship Type="http://schemas.openxmlformats.org/officeDocument/2006/relationships/notesSlide" Target="/ppt/notesSlides/notesSlide16.xml" Id="Rc390bf7534944ed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4923e976ab24a07" /><Relationship Type="http://schemas.openxmlformats.org/officeDocument/2006/relationships/hyperlink" Target="https://zeusk302-png.github.io/gyeongnam-ai-workshop/#g-meeting" TargetMode="External" Id="R9c9125b87f6c40fb" /><Relationship Type="http://schemas.openxmlformats.org/officeDocument/2006/relationships/notesSlide" Target="/ppt/notesSlides/notesSlide17.xml" Id="R50f665c576fb4c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28a27258b474b9f" /><Relationship Type="http://schemas.openxmlformats.org/officeDocument/2006/relationships/hyperlink" Target="https://zeusk302-png.github.io/gyeongnam-ai-workshop/#g-meeting" TargetMode="External" Id="R8a14b5f435d840f6" /><Relationship Type="http://schemas.openxmlformats.org/officeDocument/2006/relationships/notesSlide" Target="/ppt/notesSlides/notesSlide18.xml" Id="R777555cd0c8140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1f970219324805" /><Relationship Type="http://schemas.openxmlformats.org/officeDocument/2006/relationships/hyperlink" Target="https://zeusk302-png.github.io/gyeongnam-ai-workshop/#g-meeting" TargetMode="External" Id="Rb99594e342bc4515" /><Relationship Type="http://schemas.openxmlformats.org/officeDocument/2006/relationships/notesSlide" Target="/ppt/notesSlides/notesSlide19.xml" Id="R67b3ea8cd51447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3c4fb476e0f4604" /><Relationship Type="http://schemas.openxmlformats.org/officeDocument/2006/relationships/hyperlink" Target="https://zeusk302-png.github.io/gyeongnam-ai-workshop/#g-budget" TargetMode="External" Id="R9f2b8b248779430f" /><Relationship Type="http://schemas.openxmlformats.org/officeDocument/2006/relationships/notesSlide" Target="/ppt/notesSlides/notesSlide20.xml" Id="R7bd8838382e8479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2046c822e84d3f" /><Relationship Type="http://schemas.openxmlformats.org/officeDocument/2006/relationships/hyperlink" Target="https://zeusk302-png.github.io/gyeongnam-ai-workshop/#g-budget" TargetMode="External" Id="Rcc18a690954c47aa" /><Relationship Type="http://schemas.openxmlformats.org/officeDocument/2006/relationships/notesSlide" Target="/ppt/notesSlides/notesSlide21.xml" Id="Rc6e786e172ff474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cd02a7ef98243a9" /><Relationship Type="http://schemas.openxmlformats.org/officeDocument/2006/relationships/hyperlink" Target="https://zeusk302-png.github.io/gyeongnam-ai-workshop/#g-budget" TargetMode="External" Id="R6bdd1f7db28f4ac0" /><Relationship Type="http://schemas.openxmlformats.org/officeDocument/2006/relationships/notesSlide" Target="/ppt/notesSlides/notesSlide22.xml" Id="R77800898de51482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016bf34756945ea" /><Relationship Type="http://schemas.openxmlformats.org/officeDocument/2006/relationships/hyperlink" Target="https://zeusk302-png.github.io/gyeongnam-ai-workshop/#g-budget" TargetMode="External" Id="R638574aed99c48ca" /><Relationship Type="http://schemas.openxmlformats.org/officeDocument/2006/relationships/notesSlide" Target="/ppt/notesSlides/notesSlide23.xml" Id="R2fe5bc68c1e44d1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a04d281b92a466c" /><Relationship Type="http://schemas.openxmlformats.org/officeDocument/2006/relationships/hyperlink" Target="https://zeusk302-png.github.io/gyeongnam-ai-workshop/#n-create" TargetMode="External" Id="R4d9b050b854746d8" /><Relationship Type="http://schemas.openxmlformats.org/officeDocument/2006/relationships/notesSlide" Target="/ppt/notesSlides/notesSlide24.xml" Id="R1fcd50d89e2e48e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37295fd463340eb" /><Relationship Type="http://schemas.openxmlformats.org/officeDocument/2006/relationships/hyperlink" Target="https://zeusk302-png.github.io/gyeongnam-ai-workshop/#n-sources" TargetMode="External" Id="R0a558c58e97142f1" /><Relationship Type="http://schemas.openxmlformats.org/officeDocument/2006/relationships/notesSlide" Target="/ppt/notesSlides/notesSlide25.xml" Id="R8412b3e1a3a940f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3ed0d4ee7664d12" /><Relationship Type="http://schemas.openxmlformats.org/officeDocument/2006/relationships/image" Target="/ppt/media/image3.png" Id="Rba576492aa9f45b4" /><Relationship Type="http://schemas.openxmlformats.org/officeDocument/2006/relationships/hyperlink" Target="https://zeusk302-png.github.io/gyeongnam-ai-workshop/#n-sources" TargetMode="External" Id="R6eb22b614fb944b4" /><Relationship Type="http://schemas.openxmlformats.org/officeDocument/2006/relationships/notesSlide" Target="/ppt/notesSlides/notesSlide26.xml" Id="Rff6f12f9bf0843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2b5163f360c438a" /><Relationship Type="http://schemas.openxmlformats.org/officeDocument/2006/relationships/hyperlink" Target="https://zeusk302-png.github.io/gyeongnam-ai-workshop/#n-summary" TargetMode="External" Id="R9b7f2670b70246a3" /><Relationship Type="http://schemas.openxmlformats.org/officeDocument/2006/relationships/notesSlide" Target="/ppt/notesSlides/notesSlide27.xml" Id="R0a685d41bdce45f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c1df2852b8d4bbf" /><Relationship Type="http://schemas.openxmlformats.org/officeDocument/2006/relationships/hyperlink" Target="https://zeusk302-png.github.io/gyeongnam-ai-workshop/#n-summary" TargetMode="External" Id="Rb12bb2279c1d4c79" /><Relationship Type="http://schemas.openxmlformats.org/officeDocument/2006/relationships/notesSlide" Target="/ppt/notesSlides/notesSlide28.xml" Id="R6b90bee6d660410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ec2f1cf8faf4fe6" /><Relationship Type="http://schemas.openxmlformats.org/officeDocument/2006/relationships/image" Target="/ppt/media/image4.png" Id="R245b0c200bf14e92" /><Relationship Type="http://schemas.openxmlformats.org/officeDocument/2006/relationships/hyperlink" Target="https://zeusk302-png.github.io/gyeongnam-ai-workshop/#n-summary" TargetMode="External" Id="R9c83d4be0f834a60" /><Relationship Type="http://schemas.openxmlformats.org/officeDocument/2006/relationships/notesSlide" Target="/ppt/notesSlides/notesSlide29.xml" Id="Rabc4f6ed38a6476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3a5716019f74cf5" /><Relationship Type="http://schemas.openxmlformats.org/officeDocument/2006/relationships/image" Target="/ppt/media/image5.png" Id="R47acd31d14714e44" /><Relationship Type="http://schemas.openxmlformats.org/officeDocument/2006/relationships/hyperlink" Target="https://zeusk302-png.github.io/gyeongnam-ai-workshop/#n-citation" TargetMode="External" Id="Rc911aa85338441e4" /><Relationship Type="http://schemas.openxmlformats.org/officeDocument/2006/relationships/notesSlide" Target="/ppt/notesSlides/notesSlide30.xml" Id="R30e157b3cb8045f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cf5af976e22a455d" /><Relationship Type="http://schemas.openxmlformats.org/officeDocument/2006/relationships/hyperlink" Target="https://zeusk302-png.github.io/gyeongnam-ai-workshop/#n-citation" TargetMode="External" Id="R4b5f242324174a3b" /><Relationship Type="http://schemas.openxmlformats.org/officeDocument/2006/relationships/notesSlide" Target="/ppt/notesSlides/notesSlide31.xml" Id="R03142ae7e8584c2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48561a66ad404123" /><Relationship Type="http://schemas.openxmlformats.org/officeDocument/2006/relationships/image" Target="/ppt/media/image6.png" Id="Rb01982949a454704" /><Relationship Type="http://schemas.openxmlformats.org/officeDocument/2006/relationships/hyperlink" Target="https://zeusk302-png.github.io/gyeongnam-ai-workshop/#n-citation" TargetMode="External" Id="Rbddc2687ae8b4aee" /><Relationship Type="http://schemas.openxmlformats.org/officeDocument/2006/relationships/notesSlide" Target="/ppt/notesSlides/notesSlide32.xml" Id="R166d5087c1e34527"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9b67f962ded4e88" /><Relationship Type="http://schemas.openxmlformats.org/officeDocument/2006/relationships/hyperlink" Target="https://zeusk302-png.github.io/gyeongnam-ai-workshop/#n-missing" TargetMode="External" Id="R4cae9ca704a14b0b" /><Relationship Type="http://schemas.openxmlformats.org/officeDocument/2006/relationships/notesSlide" Target="/ppt/notesSlides/notesSlide33.xml" Id="Re43e416fb9634bb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ea7f16398d5749fb" /><Relationship Type="http://schemas.openxmlformats.org/officeDocument/2006/relationships/hyperlink" Target="https://zeusk302-png.github.io/gyeongnam-ai-workshop/#n-missing" TargetMode="External" Id="Rf3f33c4e5fcb49d4" /><Relationship Type="http://schemas.openxmlformats.org/officeDocument/2006/relationships/notesSlide" Target="/ppt/notesSlides/notesSlide34.xml" Id="R060a15a358374a7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77e79fa95c9437a" /><Relationship Type="http://schemas.openxmlformats.org/officeDocument/2006/relationships/hyperlink" Target="https://zeusk302-png.github.io/gyeongnam-ai-workshop/#n-missing" TargetMode="External" Id="R9d03bbd39f1a49ef" /><Relationship Type="http://schemas.openxmlformats.org/officeDocument/2006/relationships/notesSlide" Target="/ppt/notesSlides/notesSlide35.xml" Id="Rccca3d7c883f477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00814b0d6404e50" /><Relationship Type="http://schemas.openxmlformats.org/officeDocument/2006/relationships/hyperlink" Target="https://zeusk302-png.github.io/gyeongnam-ai-workshop/#n-audio" TargetMode="External" Id="R2b8d3bab08e14bb5" /><Relationship Type="http://schemas.openxmlformats.org/officeDocument/2006/relationships/notesSlide" Target="/ppt/notesSlides/notesSlide36.xml" Id="R22711e92000044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db24fdff2c64f1f" /><Relationship Type="http://schemas.openxmlformats.org/officeDocument/2006/relationships/hyperlink" Target="https://zeusk302-png.github.io/gyeongnam-ai-workshop/#n-audio" TargetMode="External" Id="Rb92c20dc318d4c6d" /><Relationship Type="http://schemas.openxmlformats.org/officeDocument/2006/relationships/notesSlide" Target="/ppt/notesSlides/notesSlide37.xml" Id="R5aa281b838e54fc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accdef5add8747c0" /><Relationship Type="http://schemas.openxmlformats.org/officeDocument/2006/relationships/hyperlink" Target="https://zeusk302-png.github.io/gyeongnam-ai-workshop/#c-outline" TargetMode="External" Id="Ra13389b1ccd54f61" /><Relationship Type="http://schemas.openxmlformats.org/officeDocument/2006/relationships/notesSlide" Target="/ppt/notesSlides/notesSlide38.xml" Id="R89791c28cf054a5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dd071a854ce49ab" /><Relationship Type="http://schemas.openxmlformats.org/officeDocument/2006/relationships/hyperlink" Target="https://zeusk302-png.github.io/gyeongnam-ai-workshop/#c-outline" TargetMode="External" Id="R620cde50fd674179" /><Relationship Type="http://schemas.openxmlformats.org/officeDocument/2006/relationships/notesSlide" Target="/ppt/notesSlides/notesSlide39.xml" Id="R8d659fa9dc3f4d6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0fc517a3ad44bde" /><Relationship Type="http://schemas.openxmlformats.org/officeDocument/2006/relationships/hyperlink" Target="https://zeusk302-png.github.io/gyeongnam-ai-workshop/#c-outline" TargetMode="External" Id="Rf616078653834e08" /><Relationship Type="http://schemas.openxmlformats.org/officeDocument/2006/relationships/notesSlide" Target="/ppt/notesSlides/notesSlide40.xml" Id="Rcfacc6b493ab4d5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e3dac3b0aa64a70" /><Relationship Type="http://schemas.openxmlformats.org/officeDocument/2006/relationships/hyperlink" Target="https://zeusk302-png.github.io/gyeongnam-ai-workshop/#c-draft" TargetMode="External" Id="Rd16ac8db13dc4f20" /><Relationship Type="http://schemas.openxmlformats.org/officeDocument/2006/relationships/notesSlide" Target="/ppt/notesSlides/notesSlide41.xml" Id="Ra74dea7a4186462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85fb338ded4432d" /><Relationship Type="http://schemas.openxmlformats.org/officeDocument/2006/relationships/image" Target="/ppt/media/image7.png" Id="Rb8e8af50c8a94bfb" /><Relationship Type="http://schemas.openxmlformats.org/officeDocument/2006/relationships/hyperlink" Target="https://zeusk302-png.github.io/gyeongnam-ai-workshop/#c-draft" TargetMode="External" Id="R5808532940c74e70" /><Relationship Type="http://schemas.openxmlformats.org/officeDocument/2006/relationships/notesSlide" Target="/ppt/notesSlides/notesSlide42.xml" Id="R5bbbab8c5ba94459"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1135d6e162364700" /><Relationship Type="http://schemas.openxmlformats.org/officeDocument/2006/relationships/hyperlink" Target="https://zeusk302-png.github.io/gyeongnam-ai-workshop/#c-revise-tone" TargetMode="External" Id="Rbf8795099d844bfc" /><Relationship Type="http://schemas.openxmlformats.org/officeDocument/2006/relationships/notesSlide" Target="/ppt/notesSlides/notesSlide43.xml" Id="R55d8b19903034505"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47ea3c20e7745fb" /><Relationship Type="http://schemas.openxmlformats.org/officeDocument/2006/relationships/hyperlink" Target="https://zeusk302-png.github.io/gyeongnam-ai-workshop/#c-revise-length" TargetMode="External" Id="R88a62db84c144887" /><Relationship Type="http://schemas.openxmlformats.org/officeDocument/2006/relationships/notesSlide" Target="/ppt/notesSlides/notesSlide44.xml" Id="R6361f3c93e18466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ee6ca3ff4daf4a53" /><Relationship Type="http://schemas.openxmlformats.org/officeDocument/2006/relationships/hyperlink" Target="https://zeusk302-png.github.io/gyeongnam-ai-workshop/#c-verify" TargetMode="External" Id="R574737bf0cdc42b4" /><Relationship Type="http://schemas.openxmlformats.org/officeDocument/2006/relationships/notesSlide" Target="/ppt/notesSlides/notesSlide45.xml" Id="R16b8633227974f0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d2ec35fd7246426e" /><Relationship Type="http://schemas.openxmlformats.org/officeDocument/2006/relationships/hyperlink" Target="https://zeusk302-png.github.io/gyeongnam-ai-workshop/#c-verify" TargetMode="External" Id="R8e0b5db66bc94885" /><Relationship Type="http://schemas.openxmlformats.org/officeDocument/2006/relationships/notesSlide" Target="/ppt/notesSlides/notesSlide46.xml" Id="R39ac69c873264dd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4a0fd76e36ec4a93" /><Relationship Type="http://schemas.openxmlformats.org/officeDocument/2006/relationships/hyperlink" Target="https://zeusk302-png.github.io/gyeongnam-ai-workshop/#c-verify" TargetMode="External" Id="R26b0fc5511f14f10" /><Relationship Type="http://schemas.openxmlformats.org/officeDocument/2006/relationships/notesSlide" Target="/ppt/notesSlides/notesSlide47.xml" Id="R16f0d7f31932432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d828b02047854a15" /><Relationship Type="http://schemas.openxmlformats.org/officeDocument/2006/relationships/hyperlink" Target="https://zeusk302-png.github.io/gyeongnam-ai-workshop/#wrap" TargetMode="External" Id="R82b4946353524974" /><Relationship Type="http://schemas.openxmlformats.org/officeDocument/2006/relationships/notesSlide" Target="/ppt/notesSlides/notesSlide48.xml" Id="Rd3f9aeb31a444cd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5b15b612ea44169" /><Relationship Type="http://schemas.openxmlformats.org/officeDocument/2006/relationships/hyperlink" Target="https://zeusk302-png.github.io/gyeongnam-ai-workshop/#wrap" TargetMode="External" Id="R6b86593decac426c" /><Relationship Type="http://schemas.openxmlformats.org/officeDocument/2006/relationships/notesSlide" Target="/ppt/notesSlides/notesSlide49.xml" Id="R731133adc60749a4"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dac7da7ff7524c70" /><Relationship Type="http://schemas.openxmlformats.org/officeDocument/2006/relationships/hyperlink" Target="https://zeusk302-png.github.io/gyeongnam-ai-workshop/#practice-bank" TargetMode="External" Id="Rcb7e1a7cbc774603" /><Relationship Type="http://schemas.openxmlformats.org/officeDocument/2006/relationships/notesSlide" Target="/ppt/notesSlides/notesSlide50.xml" Id="Red7e1ab6b8c24f94"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870498d13704e7b" /><Relationship Type="http://schemas.openxmlformats.org/officeDocument/2006/relationships/hyperlink" Target="https://zeusk302-png.github.io/gyeongnam-ai-workshop/#practice-p01" TargetMode="External" Id="R3f406058da104738" /><Relationship Type="http://schemas.openxmlformats.org/officeDocument/2006/relationships/notesSlide" Target="/ppt/notesSlides/notesSlide51.xml" Id="R813d174c5f2d461b"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d2e0fafe9b0436a" /><Relationship Type="http://schemas.openxmlformats.org/officeDocument/2006/relationships/hyperlink" Target="https://zeusk302-png.github.io/gyeongnam-ai-workshop/#practice-p02" TargetMode="External" Id="Rcedd6b78d20e4276" /><Relationship Type="http://schemas.openxmlformats.org/officeDocument/2006/relationships/notesSlide" Target="/ppt/notesSlides/notesSlide52.xml" Id="R960bc64210484195"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908a1331bd64ea0" /><Relationship Type="http://schemas.openxmlformats.org/officeDocument/2006/relationships/hyperlink" Target="https://zeusk302-png.github.io/gyeongnam-ai-workshop/#practice-p03" TargetMode="External" Id="R65480c708eef44d9" /><Relationship Type="http://schemas.openxmlformats.org/officeDocument/2006/relationships/notesSlide" Target="/ppt/notesSlides/notesSlide53.xml" Id="Rdcdb5b6fbd05400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846d91821ea4ee4" /><Relationship Type="http://schemas.openxmlformats.org/officeDocument/2006/relationships/hyperlink" Target="https://zeusk302-png.github.io/gyeongnam-ai-workshop/#practice-p04" TargetMode="External" Id="Ra10cfd1547da4990" /><Relationship Type="http://schemas.openxmlformats.org/officeDocument/2006/relationships/notesSlide" Target="/ppt/notesSlides/notesSlide54.xml" Id="Raa6d3a931b7c4d9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733050079c5499f" /><Relationship Type="http://schemas.openxmlformats.org/officeDocument/2006/relationships/hyperlink" Target="https://zeusk302-png.github.io/gyeongnam-ai-workshop/#practice-p05" TargetMode="External" Id="Re13a9f3e0237473d" /><Relationship Type="http://schemas.openxmlformats.org/officeDocument/2006/relationships/notesSlide" Target="/ppt/notesSlides/notesSlide55.xml" Id="Ra79214298b3b44c8"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2ceffdd00cf44e2" /><Relationship Type="http://schemas.openxmlformats.org/officeDocument/2006/relationships/hyperlink" Target="https://zeusk302-png.github.io/gyeongnam-ai-workshop/#practice-p06" TargetMode="External" Id="R9b7087189a2b4285" /><Relationship Type="http://schemas.openxmlformats.org/officeDocument/2006/relationships/notesSlide" Target="/ppt/notesSlides/notesSlide56.xml" Id="R6d3acc47f3a3430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b470ffbea3cb4b20" /><Relationship Type="http://schemas.openxmlformats.org/officeDocument/2006/relationships/hyperlink" Target="https://zeusk302-png.github.io/gyeongnam-ai-workshop/#practice-p07" TargetMode="External" Id="R69e14f00fe5c461b" /><Relationship Type="http://schemas.openxmlformats.org/officeDocument/2006/relationships/notesSlide" Target="/ppt/notesSlides/notesSlide57.xml" Id="R35851ce00307422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5315cfda0414beb" /><Relationship Type="http://schemas.openxmlformats.org/officeDocument/2006/relationships/hyperlink" Target="https://zeusk302-png.github.io/gyeongnam-ai-workshop/#practice-p08" TargetMode="External" Id="R395d974aae8e438c" /><Relationship Type="http://schemas.openxmlformats.org/officeDocument/2006/relationships/notesSlide" Target="/ppt/notesSlides/notesSlide58.xml" Id="R130e46d6f18843e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교직원 AI 업무 실습">
            <a:extLst xmlns:a="http://schemas.openxmlformats.org/drawingml/2006/main">
              <a:ext uri="{FF2B5EF4-FFF2-40B4-BE49-F238E27FC236}">
                <a16:creationId xmlns:a16="http://schemas.microsoft.com/office/drawing/2014/main" id="{30E37B81-9207-4FF3-A83D-7EBBAC308727}"/>
              </a:ext>
            </a:extLst>
          </p:cNvPr>
          <p:cNvSpPr>
            <a:spLocks xmlns:a="http://schemas.openxmlformats.org/drawingml/2006/main" noGrp="1"/>
          </p:cNvSpPr>
          <p:nvPr/>
        </p:nvSpPr>
        <p:spPr>
          <a:xfrm xmlns:a="http://schemas.openxmlformats.org/drawingml/2006/main">
            <a:off x="685800" y="1476375"/>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5100" b="1">
                <a:solidFill>
                  <a:srgbClr val="20212A"/>
                </a:solidFill>
                <a:latin typeface="Malgun Gothic"/>
                <a:ea typeface="Malgun Gothic"/>
                <a:cs typeface="Malgun Gothic"/>
              </a:defRPr>
            </a:pPr>
            <a:r>
              <a:rPr sz="5100" b="1">
                <a:solidFill>
                  <a:srgbClr val="20212A"/>
                </a:solidFill>
                <a:latin typeface="Malgun Gothic"/>
                <a:ea typeface="Malgun Gothic"/>
                <a:cs typeface="Malgun Gothic"/>
              </a:rPr>
              <a:t>교직원 AI 업무 실습</a:t>
            </a:r>
          </a:p>
        </p:txBody>
      </p:sp>
      <p:sp>
        <p:nvSpPr>
          <p:cNvPr id="2" name="답장부터 인수인계와 결과 보고까지">
            <a:extLst xmlns:a="http://schemas.openxmlformats.org/drawingml/2006/main">
              <a:ext uri="{FF2B5EF4-FFF2-40B4-BE49-F238E27FC236}">
                <a16:creationId xmlns:a16="http://schemas.microsoft.com/office/drawing/2014/main" id="{FC5A05D6-5874-45B1-8EE7-57F5BB641568}"/>
              </a:ext>
            </a:extLst>
          </p:cNvPr>
          <p:cNvSpPr>
            <a:spLocks xmlns:a="http://schemas.openxmlformats.org/drawingml/2006/main" noGrp="1"/>
          </p:cNvSpPr>
          <p:nvPr/>
        </p:nvSpPr>
        <p:spPr>
          <a:xfrm xmlns:a="http://schemas.openxmlformats.org/drawingml/2006/main">
            <a:off x="723900" y="2638425"/>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925" b="0">
                <a:solidFill>
                  <a:srgbClr val="6B43C7"/>
                </a:solidFill>
                <a:latin typeface="Malgun Gothic"/>
                <a:ea typeface="Malgun Gothic"/>
                <a:cs typeface="Malgun Gothic"/>
              </a:defRPr>
            </a:pPr>
            <a:r>
              <a:rPr sz="2925" b="0">
                <a:solidFill>
                  <a:srgbClr val="6B43C7"/>
                </a:solidFill>
                <a:latin typeface="Malgun Gothic"/>
                <a:ea typeface="Malgun Gothic"/>
                <a:cs typeface="Malgun Gothic"/>
              </a:rPr>
              <a:t>답장부터 인수인계와 결과 보고까지</a:t>
            </a:r>
          </a:p>
        </p:txBody>
      </p:sp>
      <p:sp>
        <p:nvSpPr>
          <p:cNvPr id="3" name="김세영  /  ㈜파운드리머 기업부설연구소 연구소장">
            <a:extLst xmlns:a="http://schemas.openxmlformats.org/drawingml/2006/main">
              <a:ext uri="{FF2B5EF4-FFF2-40B4-BE49-F238E27FC236}">
                <a16:creationId xmlns:a16="http://schemas.microsoft.com/office/drawing/2014/main" id="{42B8685E-2E3F-4961-AA06-A66C12F090D2}"/>
              </a:ext>
            </a:extLst>
          </p:cNvPr>
          <p:cNvSpPr>
            <a:spLocks xmlns:a="http://schemas.openxmlformats.org/drawingml/2006/main" noGrp="1"/>
          </p:cNvSpPr>
          <p:nvPr/>
        </p:nvSpPr>
        <p:spPr>
          <a:xfrm xmlns:a="http://schemas.openxmlformats.org/drawingml/2006/main">
            <a:off x="723900" y="4191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875" b="0">
                <a:solidFill>
                  <a:srgbClr val="606170"/>
                </a:solidFill>
                <a:latin typeface="Malgun Gothic"/>
                <a:ea typeface="Malgun Gothic"/>
                <a:cs typeface="Malgun Gothic"/>
              </a:defRPr>
            </a:pPr>
            <a:r>
              <a:rPr sz="1875" b="0">
                <a:solidFill>
                  <a:srgbClr val="606170"/>
                </a:solidFill>
                <a:latin typeface="Malgun Gothic"/>
                <a:ea typeface="Malgun Gothic"/>
                <a:cs typeface="Malgun Gothic"/>
              </a:rPr>
              <a:t>김세영  /  ㈜파운드리머 기업부설연구소 연구소장</a:t>
            </a:r>
          </a:p>
        </p:txBody>
      </p:sp>
      <p:sp>
        <p:nvSpPr>
          <p:cNvPr id="4" name="3시간  ·  가상 자료로 직접 작성하고 원문으로 ">
            <a:extLst xmlns:a="http://schemas.openxmlformats.org/drawingml/2006/main">
              <a:ext uri="{FF2B5EF4-FFF2-40B4-BE49-F238E27FC236}">
                <a16:creationId xmlns:a16="http://schemas.microsoft.com/office/drawing/2014/main" id="{F7AAFF2B-BF16-4AB4-8E3B-386C0EA7929F}"/>
              </a:ext>
            </a:extLst>
          </p:cNvPr>
          <p:cNvSpPr>
            <a:spLocks xmlns:a="http://schemas.openxmlformats.org/drawingml/2006/main" noGrp="1"/>
          </p:cNvSpPr>
          <p:nvPr/>
        </p:nvSpPr>
        <p:spPr>
          <a:xfrm xmlns:a="http://schemas.openxmlformats.org/drawingml/2006/main">
            <a:off x="723900" y="5095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950" b="0">
                <a:solidFill>
                  <a:srgbClr val="20212A"/>
                </a:solidFill>
                <a:latin typeface="Malgun Gothic"/>
                <a:ea typeface="Malgun Gothic"/>
                <a:cs typeface="Malgun Gothic"/>
              </a:defRPr>
            </a:pPr>
            <a:r>
              <a:rPr sz="1950" b="0">
                <a:solidFill>
                  <a:srgbClr val="20212A"/>
                </a:solidFill>
                <a:latin typeface="Malgun Gothic"/>
                <a:ea typeface="Malgun Gothic"/>
                <a:cs typeface="Malgun Gothic"/>
              </a:rPr>
              <a:t>3시간  ·  가상 자료로 직접 작성하고 원문으로 확인합니다</a:t>
            </a:r>
          </a:p>
        </p:txBody>
      </p:sp>
      <p:sp>
        <p:nvSpPr>
          <p:cNvPr id="5" name="https://zeusk302-png.github.">
            <a:extLst xmlns:a="http://schemas.openxmlformats.org/drawingml/2006/main">
              <a:ext uri="{FF2B5EF4-FFF2-40B4-BE49-F238E27FC236}">
                <a16:creationId xmlns:a16="http://schemas.microsoft.com/office/drawing/2014/main" id="{3CEFB7F6-6994-43DD-8929-A203CDBFF032}"/>
              </a:ext>
            </a:extLst>
          </p:cNvPr>
          <p:cNvSpPr>
            <a:spLocks xmlns:a="http://schemas.openxmlformats.org/drawingml/2006/main" noGrp="1"/>
          </p:cNvSpPr>
          <p:nvPr/>
        </p:nvSpPr>
        <p:spPr>
          <a:xfrm xmlns:a="http://schemas.openxmlformats.org/drawingml/2006/main">
            <a:off x="723900" y="5857875"/>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1">
                <a:solidFill>
                  <a:srgbClr val="6B43C7"/>
                </a:solidFill>
                <a:latin typeface="Malgun Gothic"/>
                <a:ea typeface="Malgun Gothic"/>
                <a:cs typeface="Malgun Gothic"/>
              </a:defRPr>
            </a:pPr>
            <a:r>
              <a:rPr sz="1575" b="1">
                <a:solidFill>
                  <a:srgbClr val="6B43C7"/>
                </a:solidFill>
                <a:latin typeface="Malgun Gothic"/>
                <a:ea typeface="Malgun Gothic"/>
                <a:cs typeface="Malgun Gothic"/>
                <a:hlinkClick xmlns:r="http://schemas.openxmlformats.org/officeDocument/2006/relationships" r:id="Re5ec81e35639430b"/>
              </a:rPr>
              <a:t>https://zeusk302-png.github.io/gyeongnam-ai-workshop/</a:t>
            </a:r>
          </a:p>
        </p:txBody>
      </p:sp>
    </p:spTree>
    <p:extLst>
      <p:ext uri="{BB962C8B-B14F-4D97-AF65-F5344CB8AC3E}">
        <p14:creationId xmlns:p14="http://schemas.microsoft.com/office/powerpoint/2010/main" val="7053390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강사 김세영">
            <a:extLst xmlns:a="http://schemas.openxmlformats.org/drawingml/2006/main">
              <a:ext uri="{FF2B5EF4-FFF2-40B4-BE49-F238E27FC236}">
                <a16:creationId xmlns:a16="http://schemas.microsoft.com/office/drawing/2014/main" id="{33922BB3-1999-417F-9783-307B1274A2AC}"/>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강사 김세영</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ff341b0d27744c2"/>
          <a:stretch xmlns:a="http://schemas.openxmlformats.org/drawingml/2006/main"/>
        </p:blipFill>
        <p:spPr>
          <a:xfrm xmlns:a="http://schemas.openxmlformats.org/drawingml/2006/main">
            <a:off x="8429625" y="1854994"/>
            <a:ext cx="2952750" cy="3690938"/>
          </a:xfrm>
          <a:prstGeom xmlns:a="http://schemas.openxmlformats.org/drawingml/2006/main" prst="rect">
            <a:avLst/>
          </a:prstGeom>
        </p:spPr>
      </p:pic>
      <p:sp>
        <p:nvSpPr>
          <p:cNvPr id="3" name="R&amp;D 엔지니어 · 기술교육자">
            <a:extLst xmlns:a="http://schemas.openxmlformats.org/drawingml/2006/main">
              <a:ext uri="{FF2B5EF4-FFF2-40B4-BE49-F238E27FC236}">
                <a16:creationId xmlns:a16="http://schemas.microsoft.com/office/drawing/2014/main" id="{C8CED9A5-7DF6-41EF-88F4-691193753D68}"/>
              </a:ext>
            </a:extLst>
          </p:cNvPr>
          <p:cNvSpPr>
            <a:spLocks xmlns:a="http://schemas.openxmlformats.org/drawingml/2006/main" noGrp="1"/>
          </p:cNvSpPr>
          <p:nvPr/>
        </p:nvSpPr>
        <p:spPr>
          <a:xfrm xmlns:a="http://schemas.openxmlformats.org/drawingml/2006/main">
            <a:off x="685800" y="1666875"/>
            <a:ext cx="723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R&amp;D 엔지니어 · 기술교육자</a:t>
            </a:r>
          </a:p>
        </p:txBody>
      </p:sp>
      <p:sp>
        <p:nvSpPr>
          <p:cNvPr id="4" name="">
            <a:extLst xmlns:a="http://schemas.openxmlformats.org/drawingml/2006/main">
              <a:ext uri="{FF2B5EF4-FFF2-40B4-BE49-F238E27FC236}">
                <a16:creationId xmlns:a16="http://schemas.microsoft.com/office/drawing/2014/main" id="{DB3F3E4F-BE31-4960-A286-CF97517FB241}"/>
              </a:ext>
            </a:extLst>
          </p:cNvPr>
          <p:cNvSpPr>
            <a:spLocks xmlns:a="http://schemas.openxmlformats.org/drawingml/2006/main" noGrp="1"/>
          </p:cNvSpPr>
          <p:nvPr/>
        </p:nvSpPr>
        <p:spPr>
          <a:xfrm xmlns:a="http://schemas.openxmlformats.org/drawingml/2006/main">
            <a:off x="685800" y="2438400"/>
            <a:ext cx="709612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㈜파운드리머 기업부설연구소 연구소장</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산업용 AI와 임베디드 소프트웨어 개발</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시스템 설계, 시험·검증, 기술 문서 작성</a:t>
            </a:r>
          </a:p>
          <a:p xmlns:a="http://schemas.openxmlformats.org/drawingml/2006/main">
            <a:pPr marL="228600" indent="-127000" algn="l">
              <a:spcAft>
                <a:spcPts val="2000"/>
              </a:spcAft>
              <a:buChar char="•"/>
              <a:defRPr sz="2100" b="0">
                <a:solidFill>
                  <a:srgbClr val="20212A"/>
                </a:solidFill>
                <a:latin typeface="Malgun Gothic"/>
                <a:ea typeface="Malgun Gothic"/>
                <a:cs typeface="Malgun Gothic"/>
              </a:defRPr>
            </a:pPr>
            <a:r>
              <a:t>부산대학교 대학원 정보융합학과 인공지능 전공</a:t>
            </a:r>
          </a:p>
        </p:txBody>
      </p:sp>
      <p:sp>
        <p:nvSpPr>
          <p:cNvPr id="5" name="1–3분">
            <a:extLst xmlns:a="http://schemas.openxmlformats.org/drawingml/2006/main">
              <a:ext uri="{FF2B5EF4-FFF2-40B4-BE49-F238E27FC236}">
                <a16:creationId xmlns:a16="http://schemas.microsoft.com/office/drawing/2014/main" id="{AB7F366B-0293-4613-B546-B996B1D4E83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1–3분</a:t>
            </a:r>
          </a:p>
        </p:txBody>
      </p:sp>
      <p:sp>
        <p:nvSpPr>
          <p:cNvPr id="6" name="웹 실습 열기">
            <a:extLst xmlns:a="http://schemas.openxmlformats.org/drawingml/2006/main">
              <a:ext uri="{FF2B5EF4-FFF2-40B4-BE49-F238E27FC236}">
                <a16:creationId xmlns:a16="http://schemas.microsoft.com/office/drawing/2014/main" id="{4F80DE36-44D9-4100-BBF3-E1A61D98ECA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cdc19a6f6c24fe8"/>
              </a:rPr>
              <a:t>웹 실습 열기</a:t>
            </a:r>
          </a:p>
        </p:txBody>
      </p:sp>
      <p:sp>
        <p:nvSpPr>
          <p:cNvPr id="7" name="02">
            <a:extLst xmlns:a="http://schemas.openxmlformats.org/drawingml/2006/main">
              <a:ext uri="{FF2B5EF4-FFF2-40B4-BE49-F238E27FC236}">
                <a16:creationId xmlns:a16="http://schemas.microsoft.com/office/drawing/2014/main" id="{38540E75-AB18-4DD9-A6F9-315A564DF8F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02</a:t>
            </a:r>
          </a:p>
        </p:txBody>
      </p:sp>
    </p:spTree>
    <p:extLst>
      <p:ext uri="{BB962C8B-B14F-4D97-AF65-F5344CB8AC3E}">
        <p14:creationId xmlns:p14="http://schemas.microsoft.com/office/powerpoint/2010/main" val="82065721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오늘 남길 업무 문서">
            <a:extLst xmlns:a="http://schemas.openxmlformats.org/drawingml/2006/main">
              <a:ext uri="{FF2B5EF4-FFF2-40B4-BE49-F238E27FC236}">
                <a16:creationId xmlns:a16="http://schemas.microsoft.com/office/drawing/2014/main" id="{F4051FBB-E8E5-492A-BF48-3EF7B7D2737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오늘 남길 업무 문서</a:t>
            </a:r>
          </a:p>
        </p:txBody>
      </p:sp>
      <p:sp>
        <p:nvSpPr>
          <p:cNvPr id="2" name="">
            <a:extLst xmlns:a="http://schemas.openxmlformats.org/drawingml/2006/main">
              <a:ext uri="{FF2B5EF4-FFF2-40B4-BE49-F238E27FC236}">
                <a16:creationId xmlns:a16="http://schemas.microsoft.com/office/drawing/2014/main" id="{5A39B238-ED9E-4D52-AC43-5A273A1FB217}"/>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문의 처리표와 우선 답장 3건</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회의 후속 업무표와 구매 검토표</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변경 공지를 반영한 인계표와 참가자 FAQ</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부서장 보고서, 전달 메일, 직접 확인한 기록</a:t>
            </a:r>
          </a:p>
        </p:txBody>
      </p:sp>
      <p:sp>
        <p:nvSpPr>
          <p:cNvPr id="3" name="초안을 받은 뒤 사람이 확인한 흔적까지 남깁니다">
            <a:extLst xmlns:a="http://schemas.openxmlformats.org/drawingml/2006/main">
              <a:ext uri="{FF2B5EF4-FFF2-40B4-BE49-F238E27FC236}">
                <a16:creationId xmlns:a16="http://schemas.microsoft.com/office/drawing/2014/main" id="{7CA557E1-2D5C-41B2-B979-AB967B66118C}"/>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초안을 받은 뒤 사람이 확인한 흔적까지 남깁니다</a:t>
            </a:r>
          </a:p>
        </p:txBody>
      </p:sp>
      <p:sp>
        <p:nvSpPr>
          <p:cNvPr id="4" name="3–5분">
            <a:extLst xmlns:a="http://schemas.openxmlformats.org/drawingml/2006/main">
              <a:ext uri="{FF2B5EF4-FFF2-40B4-BE49-F238E27FC236}">
                <a16:creationId xmlns:a16="http://schemas.microsoft.com/office/drawing/2014/main" id="{8231C3E1-762D-4753-8A0B-B34EC50A42F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3–5분</a:t>
            </a:r>
          </a:p>
        </p:txBody>
      </p:sp>
      <p:sp>
        <p:nvSpPr>
          <p:cNvPr id="5" name="웹 실습 열기">
            <a:extLst xmlns:a="http://schemas.openxmlformats.org/drawingml/2006/main">
              <a:ext uri="{FF2B5EF4-FFF2-40B4-BE49-F238E27FC236}">
                <a16:creationId xmlns:a16="http://schemas.microsoft.com/office/drawing/2014/main" id="{63501279-DAB6-4409-A550-76C214E471F9}"/>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aad520d4f5b4da0"/>
              </a:rPr>
              <a:t>웹 실습 열기</a:t>
            </a:r>
          </a:p>
        </p:txBody>
      </p:sp>
      <p:sp>
        <p:nvSpPr>
          <p:cNvPr id="6" name="03">
            <a:extLst xmlns:a="http://schemas.openxmlformats.org/drawingml/2006/main">
              <a:ext uri="{FF2B5EF4-FFF2-40B4-BE49-F238E27FC236}">
                <a16:creationId xmlns:a16="http://schemas.microsoft.com/office/drawing/2014/main" id="{44DAD8F3-60AB-4F72-A978-55B17880CB0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03</a:t>
            </a:r>
          </a:p>
        </p:txBody>
      </p:sp>
    </p:spTree>
    <p:extLst>
      <p:ext uri="{BB962C8B-B14F-4D97-AF65-F5344CB8AC3E}">
        <p14:creationId xmlns:p14="http://schemas.microsoft.com/office/powerpoint/2010/main" val="162019915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세 도구에서 연습할 일">
            <a:extLst xmlns:a="http://schemas.openxmlformats.org/drawingml/2006/main">
              <a:ext uri="{FF2B5EF4-FFF2-40B4-BE49-F238E27FC236}">
                <a16:creationId xmlns:a16="http://schemas.microsoft.com/office/drawing/2014/main" id="{F0115E8D-570A-4EA7-A1CF-4F3B3327FB6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세 도구에서 연습할 일</a:t>
            </a:r>
          </a:p>
        </p:txBody>
      </p:sp>
      <p:graphicFrame>
        <p:nvGraphicFramePr>
          <p:cNvPr id="8" name=""/>
          <p:cNvGraphicFramePr/>
          <p:nvPr/>
        </p:nvGraphicFramePr>
        <p:xfrm>
          <a:off xmlns:a="http://schemas.openxmlformats.org/drawingml/2006/main" x="685800" y="1543050"/>
          <a:ext xmlns:a="http://schemas.openxmlformats.org/drawingml/2006/main" cx="10820400" cy="2381250"/>
        </p:xfrm>
        <a:graphic xmlns:a="http://schemas.openxmlformats.org/drawingml/2006/main">
          <a:graphicData uri="http://schemas.openxmlformats.org/drawingml/2006/table">
            <a:tbl>
              <a:tblPr firstRow="1" bandRow="0"/>
              <a:tblGrid>
                <a:gridCol w="2000250"/>
                <a:gridCol w="4286250"/>
                <a:gridCol w="4476750"/>
              </a:tblGrid>
              <a:tr h="595313">
                <a:tc>
                  <a:txBody>
                    <a:bodyPr lIns="114300" tIns="66675" rIns="114300" bIns="57150">
                      <a:noAutofit/>
                    </a:bodyPr>
                    <a:lstStyle/>
                    <a:p>
                      <a:pPr algn="l"/>
                      <a:r>
                        <a:rPr sz="1875" b="1">
                          <a:solidFill>
                            <a:srgbClr val="FFFFFF"/>
                          </a:solidFill>
                          <a:latin typeface="Malgun Gothic"/>
                          <a:ea typeface="Malgun Gothic"/>
                          <a:cs typeface="Malgun Gothic"/>
                        </a:rPr>
                        <a:t>도구</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오늘의 활용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사람이 확인할 것</a:t>
                      </a:r>
                    </a:p>
                  </a:txBody>
                  <a:tcPr marL="91440" marR="91440" marT="45720" marB="45720" anchor="ctr">
                    <a:solidFill>
                      <a:srgbClr val="6B43C7"/>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Gemini</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여러 문의·회의·구매 요청 정리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마지막 요청, 승인과 처리 상태</a:t>
                      </a:r>
                    </a:p>
                  </a:txBody>
                  <a:tcPr marL="91440" marR="91440" marT="45720" marB="45720" anchor="ctr">
                    <a:solidFill>
                      <a:srgbClr val="FFFFFF"/>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NotebookLM</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제공한 문서끼리 비교하고 인용</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승인된 변경, 원문과 답변의 일치</a:t>
                      </a:r>
                    </a:p>
                  </a:txBody>
                  <a:tcPr marL="91440" marR="91440" marT="45720" marB="45720" anchor="ctr">
                    <a:solidFill>
                      <a:srgbClr val="F5F2FC"/>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Claude</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자료 집계와 보고서 수정</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분모, 숫자, 결정 요청과 제안</a:t>
                      </a:r>
                    </a:p>
                  </a:txBody>
                  <a:tcPr marL="91440" marR="91440" marT="45720" marB="45720" anchor="ctr">
                    <a:solidFill>
                      <a:srgbClr val="FFFFFF"/>
                    </a:solidFill>
                  </a:tcPr>
                </a:tc>
              </a:tr>
            </a:tbl>
          </a:graphicData>
        </a:graphic>
      </p:graphicFrame>
      <p:sp>
        <p:nvSpPr>
          <p:cNvPr id="3" name="오늘의 학습 초점입니다. 도구별 독점 기능을 뜻하지">
            <a:extLst xmlns:a="http://schemas.openxmlformats.org/drawingml/2006/main">
              <a:ext uri="{FF2B5EF4-FFF2-40B4-BE49-F238E27FC236}">
                <a16:creationId xmlns:a16="http://schemas.microsoft.com/office/drawing/2014/main" id="{AE6A7518-6BBC-4EF7-8011-DE67AADD97B7}"/>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오늘의 학습 초점입니다. 도구별 독점 기능을 뜻하지 않습니다.</a:t>
            </a:r>
          </a:p>
        </p:txBody>
      </p:sp>
      <p:sp>
        <p:nvSpPr>
          <p:cNvPr id="4" name="5–8분">
            <a:extLst xmlns:a="http://schemas.openxmlformats.org/drawingml/2006/main">
              <a:ext uri="{FF2B5EF4-FFF2-40B4-BE49-F238E27FC236}">
                <a16:creationId xmlns:a16="http://schemas.microsoft.com/office/drawing/2014/main" id="{BB3E6569-465C-4221-BA69-1F529698171F}"/>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5–8분</a:t>
            </a:r>
          </a:p>
        </p:txBody>
      </p:sp>
      <p:sp>
        <p:nvSpPr>
          <p:cNvPr id="5" name="웹 실습 열기">
            <a:extLst xmlns:a="http://schemas.openxmlformats.org/drawingml/2006/main">
              <a:ext uri="{FF2B5EF4-FFF2-40B4-BE49-F238E27FC236}">
                <a16:creationId xmlns:a16="http://schemas.microsoft.com/office/drawing/2014/main" id="{7B16F83E-B88B-43C3-9365-50E2F6DFB07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9e68275bd5441e0"/>
              </a:rPr>
              <a:t>웹 실습 열기</a:t>
            </a:r>
          </a:p>
        </p:txBody>
      </p:sp>
      <p:sp>
        <p:nvSpPr>
          <p:cNvPr id="6" name="04">
            <a:extLst xmlns:a="http://schemas.openxmlformats.org/drawingml/2006/main">
              <a:ext uri="{FF2B5EF4-FFF2-40B4-BE49-F238E27FC236}">
                <a16:creationId xmlns:a16="http://schemas.microsoft.com/office/drawing/2014/main" id="{1A968EE9-E90E-45CF-8637-EB55E459080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04</a:t>
            </a:r>
          </a:p>
        </p:txBody>
      </p:sp>
    </p:spTree>
    <p:extLst>
      <p:ext uri="{BB962C8B-B14F-4D97-AF65-F5344CB8AC3E}">
        <p14:creationId xmlns:p14="http://schemas.microsoft.com/office/powerpoint/2010/main" val="14619312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업무실습과 기본연습">
            <a:extLst xmlns:a="http://schemas.openxmlformats.org/drawingml/2006/main">
              <a:ext uri="{FF2B5EF4-FFF2-40B4-BE49-F238E27FC236}">
                <a16:creationId xmlns:a16="http://schemas.microsoft.com/office/drawing/2014/main" id="{ED825FE7-222C-4D8C-A27E-BAF7CA3A9D8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업무실습과 기본연습</a:t>
            </a:r>
          </a:p>
        </p:txBody>
      </p:sp>
      <p:sp>
        <p:nvSpPr>
          <p:cNvPr id="2" name="업무실습">
            <a:extLst xmlns:a="http://schemas.openxmlformats.org/drawingml/2006/main">
              <a:ext uri="{FF2B5EF4-FFF2-40B4-BE49-F238E27FC236}">
                <a16:creationId xmlns:a16="http://schemas.microsoft.com/office/drawing/2014/main" id="{DEDEB52E-6CFE-440B-893F-5E3DDDEA2323}"/>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업무실습</a:t>
            </a:r>
          </a:p>
        </p:txBody>
      </p:sp>
      <p:sp>
        <p:nvSpPr>
          <p:cNvPr id="3" name="기본연습">
            <a:extLst xmlns:a="http://schemas.openxmlformats.org/drawingml/2006/main">
              <a:ext uri="{FF2B5EF4-FFF2-40B4-BE49-F238E27FC236}">
                <a16:creationId xmlns:a16="http://schemas.microsoft.com/office/drawing/2014/main" id="{2A221B5B-92AF-4FBB-8BED-6392E431DDA4}"/>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기본연습</a:t>
            </a:r>
          </a:p>
        </p:txBody>
      </p:sp>
      <p:sp>
        <p:nvSpPr>
          <p:cNvPr id="4" name="">
            <a:extLst xmlns:a="http://schemas.openxmlformats.org/drawingml/2006/main">
              <a:ext uri="{FF2B5EF4-FFF2-40B4-BE49-F238E27FC236}">
                <a16:creationId xmlns:a16="http://schemas.microsoft.com/office/drawing/2014/main" id="{78F00A84-B65D-4FA8-B313-6BCEC4491A26}"/>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메일 6건과 구매 요청 24행</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최초 공지부터 변경 승인까지 4문서</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출석·설문·지출 원자료에서 보고서 작성</a:t>
            </a:r>
          </a:p>
        </p:txBody>
      </p:sp>
      <p:sp>
        <p:nvSpPr>
          <p:cNvPr id="5" name="">
            <a:extLst xmlns:a="http://schemas.openxmlformats.org/drawingml/2006/main">
              <a:ext uri="{FF2B5EF4-FFF2-40B4-BE49-F238E27FC236}">
                <a16:creationId xmlns:a16="http://schemas.microsoft.com/office/drawing/2014/main" id="{458F5F97-CCFA-411C-BC45-9A0F4AA76F42}"/>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짧은 자료로 입력과 수정부터 연습</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조작이 낯설거나 한도가 부족할 때 선택</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같은 활동에서는 한 버전만 사용</a:t>
            </a:r>
          </a:p>
        </p:txBody>
      </p:sp>
      <p:sp>
        <p:nvSpPr>
          <p:cNvPr id="6" name="화면의 자료 선택에서 업무실습을 고릅니다.">
            <a:extLst xmlns:a="http://schemas.openxmlformats.org/drawingml/2006/main">
              <a:ext uri="{FF2B5EF4-FFF2-40B4-BE49-F238E27FC236}">
                <a16:creationId xmlns:a16="http://schemas.microsoft.com/office/drawing/2014/main" id="{9AA9A685-04A2-4340-BF1A-33715BA7C0A1}"/>
              </a:ext>
            </a:extLst>
          </p:cNvPr>
          <p:cNvSpPr>
            <a:spLocks xmlns:a="http://schemas.openxmlformats.org/drawingml/2006/main" noGrp="1"/>
          </p:cNvSpPr>
          <p:nvPr/>
        </p:nvSpPr>
        <p:spPr>
          <a:xfrm xmlns:a="http://schemas.openxmlformats.org/drawingml/2006/main">
            <a:off x="685800" y="57912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화면의 자료 선택에서 업무실습을 고릅니다.</a:t>
            </a:r>
          </a:p>
        </p:txBody>
      </p:sp>
      <p:sp>
        <p:nvSpPr>
          <p:cNvPr id="7" name="8–10분">
            <a:extLst xmlns:a="http://schemas.openxmlformats.org/drawingml/2006/main">
              <a:ext uri="{FF2B5EF4-FFF2-40B4-BE49-F238E27FC236}">
                <a16:creationId xmlns:a16="http://schemas.microsoft.com/office/drawing/2014/main" id="{DB2F1B6C-3909-4C4A-B71C-43078361BE2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8–10분</a:t>
            </a:r>
          </a:p>
        </p:txBody>
      </p:sp>
      <p:sp>
        <p:nvSpPr>
          <p:cNvPr id="8" name="웹 실습 열기">
            <a:extLst xmlns:a="http://schemas.openxmlformats.org/drawingml/2006/main">
              <a:ext uri="{FF2B5EF4-FFF2-40B4-BE49-F238E27FC236}">
                <a16:creationId xmlns:a16="http://schemas.microsoft.com/office/drawing/2014/main" id="{8AD1BB72-2E65-4FFF-9B22-12BB10F38F9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e93a94da5c34ccc"/>
              </a:rPr>
              <a:t>웹 실습 열기</a:t>
            </a:r>
          </a:p>
        </p:txBody>
      </p:sp>
      <p:sp>
        <p:nvSpPr>
          <p:cNvPr id="9" name="05">
            <a:extLst xmlns:a="http://schemas.openxmlformats.org/drawingml/2006/main">
              <a:ext uri="{FF2B5EF4-FFF2-40B4-BE49-F238E27FC236}">
                <a16:creationId xmlns:a16="http://schemas.microsoft.com/office/drawing/2014/main" id="{10511AA9-F4FE-48D4-BBE6-15BDB4A9AEB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05</a:t>
            </a:r>
          </a:p>
        </p:txBody>
      </p:sp>
    </p:spTree>
    <p:extLst>
      <p:ext uri="{BB962C8B-B14F-4D97-AF65-F5344CB8AC3E}">
        <p14:creationId xmlns:p14="http://schemas.microsoft.com/office/powerpoint/2010/main" val="159282043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과를 확인하는 네 가지 기준">
            <a:extLst xmlns:a="http://schemas.openxmlformats.org/drawingml/2006/main">
              <a:ext uri="{FF2B5EF4-FFF2-40B4-BE49-F238E27FC236}">
                <a16:creationId xmlns:a16="http://schemas.microsoft.com/office/drawing/2014/main" id="{BE4858C4-537B-4FB9-9551-AF69C4B8E7C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결과를 확인하는 네 가지 기준</a:t>
            </a:r>
          </a:p>
        </p:txBody>
      </p:sp>
      <p:sp>
        <p:nvSpPr>
          <p:cNvPr id="2" name="">
            <a:extLst xmlns:a="http://schemas.openxmlformats.org/drawingml/2006/main">
              <a:ext uri="{FF2B5EF4-FFF2-40B4-BE49-F238E27FC236}">
                <a16:creationId xmlns:a16="http://schemas.microsoft.com/office/drawing/2014/main" id="{A89610C4-2978-4931-A9E5-0C923CA87584}"/>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원문 위치: 어떤 문서와 문장에서 가져왔는가</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시점: 최신 요청과 승인된 변경을 반영했는가</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숫자: 무엇을 세고 어떤 분모로 계산했는가</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표현: 사실, 제안, 미정, 자료 없음을 구분했는가</a:t>
            </a:r>
          </a:p>
        </p:txBody>
      </p:sp>
      <p:sp>
        <p:nvSpPr>
          <p:cNvPr id="3" name="가상 자료만 입력하며 실제 발송·신청·지급은 하지 ">
            <a:extLst xmlns:a="http://schemas.openxmlformats.org/drawingml/2006/main">
              <a:ext uri="{FF2B5EF4-FFF2-40B4-BE49-F238E27FC236}">
                <a16:creationId xmlns:a16="http://schemas.microsoft.com/office/drawing/2014/main" id="{680319CD-47EA-4938-8E8F-E0658DBA69F7}"/>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가상 자료만 입력하며 실제 발송·신청·지급은 하지 않습니다</a:t>
            </a:r>
          </a:p>
        </p:txBody>
      </p:sp>
      <p:sp>
        <p:nvSpPr>
          <p:cNvPr id="4" name="10–12분">
            <a:extLst xmlns:a="http://schemas.openxmlformats.org/drawingml/2006/main">
              <a:ext uri="{FF2B5EF4-FFF2-40B4-BE49-F238E27FC236}">
                <a16:creationId xmlns:a16="http://schemas.microsoft.com/office/drawing/2014/main" id="{05739B57-6FFC-4723-92DE-FBDB5F63511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10–12분</a:t>
            </a:r>
          </a:p>
        </p:txBody>
      </p:sp>
      <p:sp>
        <p:nvSpPr>
          <p:cNvPr id="5" name="웹 실습 열기">
            <a:extLst xmlns:a="http://schemas.openxmlformats.org/drawingml/2006/main">
              <a:ext uri="{FF2B5EF4-FFF2-40B4-BE49-F238E27FC236}">
                <a16:creationId xmlns:a16="http://schemas.microsoft.com/office/drawing/2014/main" id="{33ACAE4E-DFA9-481C-B99B-FDC2FACA15E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6cb815af26b49bf"/>
              </a:rPr>
              <a:t>웹 실습 열기</a:t>
            </a:r>
          </a:p>
        </p:txBody>
      </p:sp>
      <p:sp>
        <p:nvSpPr>
          <p:cNvPr id="6" name="06">
            <a:extLst xmlns:a="http://schemas.openxmlformats.org/drawingml/2006/main">
              <a:ext uri="{FF2B5EF4-FFF2-40B4-BE49-F238E27FC236}">
                <a16:creationId xmlns:a16="http://schemas.microsoft.com/office/drawing/2014/main" id="{2FF9D84F-C125-40DC-AD23-D7ADEF44D88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06</a:t>
            </a:r>
          </a:p>
        </p:txBody>
      </p:sp>
    </p:spTree>
    <p:extLst>
      <p:ext uri="{BB962C8B-B14F-4D97-AF65-F5344CB8AC3E}">
        <p14:creationId xmlns:p14="http://schemas.microsoft.com/office/powerpoint/2010/main" val="20746319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무료 계정의 현재 사용량">
            <a:extLst xmlns:a="http://schemas.openxmlformats.org/drawingml/2006/main">
              <a:ext uri="{FF2B5EF4-FFF2-40B4-BE49-F238E27FC236}">
                <a16:creationId xmlns:a16="http://schemas.microsoft.com/office/drawing/2014/main" id="{7D8DA1EB-E37C-4317-85C4-D6D3FE5CF59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무료 계정의 현재 사용량</a:t>
            </a:r>
          </a:p>
        </p:txBody>
      </p:sp>
      <p:graphicFrame>
        <p:nvGraphicFramePr>
          <p:cNvPr id="8" name=""/>
          <p:cNvGraphicFramePr/>
          <p:nvPr/>
        </p:nvGraphicFramePr>
        <p:xfrm>
          <a:off xmlns:a="http://schemas.openxmlformats.org/drawingml/2006/main" x="685800" y="1543050"/>
          <a:ext xmlns:a="http://schemas.openxmlformats.org/drawingml/2006/main" cx="10820400" cy="2381250"/>
        </p:xfrm>
        <a:graphic xmlns:a="http://schemas.openxmlformats.org/drawingml/2006/main">
          <a:graphicData uri="http://schemas.openxmlformats.org/drawingml/2006/table">
            <a:tbl>
              <a:tblPr firstRow="1" bandRow="0"/>
              <a:tblGrid>
                <a:gridCol w="2190750"/>
                <a:gridCol w="4476750"/>
                <a:gridCol w="4095750"/>
              </a:tblGrid>
              <a:tr h="595313">
                <a:tc>
                  <a:txBody>
                    <a:bodyPr lIns="114300" tIns="66675" rIns="114300" bIns="57150">
                      <a:noAutofit/>
                    </a:bodyPr>
                    <a:lstStyle/>
                    <a:p>
                      <a:pPr algn="l"/>
                      <a:r>
                        <a:rPr sz="1875" b="1">
                          <a:solidFill>
                            <a:srgbClr val="FFFFFF"/>
                          </a:solidFill>
                          <a:latin typeface="Malgun Gothic"/>
                          <a:ea typeface="Malgun Gothic"/>
                          <a:cs typeface="Malgun Gothic"/>
                        </a:rPr>
                        <a:t>도구</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공식 안내 확인 기준</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수업에서 볼 곳</a:t>
                      </a:r>
                    </a:p>
                  </a:txBody>
                  <a:tcPr marL="91440" marR="91440" marT="45720" marB="45720" anchor="ctr">
                    <a:solidFill>
                      <a:srgbClr val="6B43C7"/>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Gemini</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5시간 갱신과 주간 한도</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사용량 메뉴 또는 제한 알림</a:t>
                      </a:r>
                    </a:p>
                  </a:txBody>
                  <a:tcPr marL="91440" marR="91440" marT="45720" marB="45720" anchor="ctr">
                    <a:solidFill>
                      <a:srgbClr val="FFFFFF"/>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NotebookLM</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9월 2일 계산량 기준 전환 안내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사용량 메뉴와 생성 예상 사용량</a:t>
                      </a:r>
                    </a:p>
                  </a:txBody>
                  <a:tcPr marL="91440" marR="91440" marT="45720" marB="45720" anchor="ctr">
                    <a:solidFill>
                      <a:srgbClr val="F5F2FC"/>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Claude</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5시간 세션, 메시지 수는 가변</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대화의 제한 경고와 재개 시각</a:t>
                      </a:r>
                    </a:p>
                  </a:txBody>
                  <a:tcPr marL="91440" marR="91440" marT="45720" marB="45720" anchor="ctr">
                    <a:solidFill>
                      <a:srgbClr val="FFFFFF"/>
                    </a:solidFill>
                  </a:tcPr>
                </a:tc>
              </a:tr>
            </a:tbl>
          </a:graphicData>
        </a:graphic>
      </p:graphicFrame>
      <p:sp>
        <p:nvSpPr>
          <p:cNvPr id="3" name="정책 확인 2026-09-27. NotebookLM">
            <a:extLst xmlns:a="http://schemas.openxmlformats.org/drawingml/2006/main">
              <a:ext uri="{FF2B5EF4-FFF2-40B4-BE49-F238E27FC236}">
                <a16:creationId xmlns:a16="http://schemas.microsoft.com/office/drawing/2014/main" id="{5A3861D4-A613-4021-B725-91F4F6F0C832}"/>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정책 확인 2026-09-27. NotebookLM의 과거 일일 횟수 표와 새 안내가 다르므로 실제 계정 표시를 함께 봅니다.</a:t>
            </a:r>
          </a:p>
        </p:txBody>
      </p:sp>
      <p:sp>
        <p:nvSpPr>
          <p:cNvPr id="4" name="12–15분">
            <a:extLst xmlns:a="http://schemas.openxmlformats.org/drawingml/2006/main">
              <a:ext uri="{FF2B5EF4-FFF2-40B4-BE49-F238E27FC236}">
                <a16:creationId xmlns:a16="http://schemas.microsoft.com/office/drawing/2014/main" id="{5DA18A92-0369-4637-BD34-D766531053A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12–15분</a:t>
            </a:r>
          </a:p>
        </p:txBody>
      </p:sp>
      <p:sp>
        <p:nvSpPr>
          <p:cNvPr id="5" name="웹 실습 열기">
            <a:extLst xmlns:a="http://schemas.openxmlformats.org/drawingml/2006/main">
              <a:ext uri="{FF2B5EF4-FFF2-40B4-BE49-F238E27FC236}">
                <a16:creationId xmlns:a16="http://schemas.microsoft.com/office/drawing/2014/main" id="{BCB02E76-DC1E-4096-B8AE-E8909A874FB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0dd3f85daef342e5"/>
              </a:rPr>
              <a:t>웹 실습 열기</a:t>
            </a:r>
          </a:p>
        </p:txBody>
      </p:sp>
      <p:sp>
        <p:nvSpPr>
          <p:cNvPr id="6" name="07">
            <a:extLst xmlns:a="http://schemas.openxmlformats.org/drawingml/2006/main">
              <a:ext uri="{FF2B5EF4-FFF2-40B4-BE49-F238E27FC236}">
                <a16:creationId xmlns:a16="http://schemas.microsoft.com/office/drawing/2014/main" id="{80A530EE-5E71-4CF2-9792-6F220E47F282}"/>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07</a:t>
            </a:r>
          </a:p>
        </p:txBody>
      </p:sp>
    </p:spTree>
    <p:extLst>
      <p:ext uri="{BB962C8B-B14F-4D97-AF65-F5344CB8AC3E}">
        <p14:creationId xmlns:p14="http://schemas.microsoft.com/office/powerpoint/2010/main" val="1303929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사용량이 부족할 때의 참여 방법">
            <a:extLst xmlns:a="http://schemas.openxmlformats.org/drawingml/2006/main">
              <a:ext uri="{FF2B5EF4-FFF2-40B4-BE49-F238E27FC236}">
                <a16:creationId xmlns:a16="http://schemas.microsoft.com/office/drawing/2014/main" id="{396F16C5-759F-4A03-9F5A-3A7D19AF4CF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사용량이 부족할 때의 참여 방법</a:t>
            </a:r>
          </a:p>
        </p:txBody>
      </p:sp>
      <p:sp>
        <p:nvSpPr>
          <p:cNvPr id="2" name="">
            <a:extLst xmlns:a="http://schemas.openxmlformats.org/drawingml/2006/main">
              <a:ext uri="{FF2B5EF4-FFF2-40B4-BE49-F238E27FC236}">
                <a16:creationId xmlns:a16="http://schemas.microsoft.com/office/drawing/2014/main" id="{3FA89B41-C7BE-443B-A749-9337A6018138}"/>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이미 받은 답변과 원자료를 나란히 놓고 직접 수정</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짝과 입력 담당·원문 확인 담당을 나눠 함께 진행</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단계별 실제 화면을 보고 오류와 근거를 찾아 기록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결과와 질문을 저장하고 표시된 재개 시각 이후 계속</a:t>
            </a:r>
          </a:p>
        </p:txBody>
      </p:sp>
      <p:sp>
        <p:nvSpPr>
          <p:cNvPr id="3" name="전송 횟수는 수업 계획입니다. 무료 사용 보장량이 ">
            <a:extLst xmlns:a="http://schemas.openxmlformats.org/drawingml/2006/main">
              <a:ext uri="{FF2B5EF4-FFF2-40B4-BE49-F238E27FC236}">
                <a16:creationId xmlns:a16="http://schemas.microsoft.com/office/drawing/2014/main" id="{84B45A91-9BD4-4A28-9F99-AEDA7E74E6B9}"/>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전송 횟수는 수업 계획입니다. 무료 사용 보장량이 아닙니다.</a:t>
            </a:r>
          </a:p>
        </p:txBody>
      </p:sp>
      <p:sp>
        <p:nvSpPr>
          <p:cNvPr id="4" name="15–17분">
            <a:extLst xmlns:a="http://schemas.openxmlformats.org/drawingml/2006/main">
              <a:ext uri="{FF2B5EF4-FFF2-40B4-BE49-F238E27FC236}">
                <a16:creationId xmlns:a16="http://schemas.microsoft.com/office/drawing/2014/main" id="{0DC1AAD4-2A41-4FB6-B70A-57080DE8D53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15–17분</a:t>
            </a:r>
          </a:p>
        </p:txBody>
      </p:sp>
      <p:sp>
        <p:nvSpPr>
          <p:cNvPr id="5" name="웹 실습 열기">
            <a:extLst xmlns:a="http://schemas.openxmlformats.org/drawingml/2006/main">
              <a:ext uri="{FF2B5EF4-FFF2-40B4-BE49-F238E27FC236}">
                <a16:creationId xmlns:a16="http://schemas.microsoft.com/office/drawing/2014/main" id="{B9B2E910-E242-4C5F-A310-8B09FF509DA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bc3fb9af7f94a76"/>
              </a:rPr>
              <a:t>웹 실습 열기</a:t>
            </a:r>
          </a:p>
        </p:txBody>
      </p:sp>
      <p:sp>
        <p:nvSpPr>
          <p:cNvPr id="6" name="08">
            <a:extLst xmlns:a="http://schemas.openxmlformats.org/drawingml/2006/main">
              <a:ext uri="{FF2B5EF4-FFF2-40B4-BE49-F238E27FC236}">
                <a16:creationId xmlns:a16="http://schemas.microsoft.com/office/drawing/2014/main" id="{27CBB21C-F55B-4CAF-9FFB-F909FCFB9A6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08</a:t>
            </a:r>
          </a:p>
        </p:txBody>
      </p:sp>
    </p:spTree>
    <p:extLst>
      <p:ext uri="{BB962C8B-B14F-4D97-AF65-F5344CB8AC3E}">
        <p14:creationId xmlns:p14="http://schemas.microsoft.com/office/powerpoint/2010/main" val="15324063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질문에 넣을 업무 조건">
            <a:extLst xmlns:a="http://schemas.openxmlformats.org/drawingml/2006/main">
              <a:ext uri="{FF2B5EF4-FFF2-40B4-BE49-F238E27FC236}">
                <a16:creationId xmlns:a16="http://schemas.microsoft.com/office/drawing/2014/main" id="{93F58B2A-E205-4CA7-A1B1-3D4C47C355F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질문에 넣을 업무 조건</a:t>
            </a:r>
          </a:p>
        </p:txBody>
      </p:sp>
      <p:sp>
        <p:nvSpPr>
          <p:cNvPr id="2" name="요청에 필요한 정보">
            <a:extLst xmlns:a="http://schemas.openxmlformats.org/drawingml/2006/main">
              <a:ext uri="{FF2B5EF4-FFF2-40B4-BE49-F238E27FC236}">
                <a16:creationId xmlns:a16="http://schemas.microsoft.com/office/drawing/2014/main" id="{5C53634B-C93A-46DB-9396-EED8B5E64F43}"/>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요청에 필요한 정보</a:t>
            </a:r>
          </a:p>
        </p:txBody>
      </p:sp>
      <p:sp>
        <p:nvSpPr>
          <p:cNvPr id="3" name="이번 질문의 예">
            <a:extLst xmlns:a="http://schemas.openxmlformats.org/drawingml/2006/main">
              <a:ext uri="{FF2B5EF4-FFF2-40B4-BE49-F238E27FC236}">
                <a16:creationId xmlns:a16="http://schemas.microsoft.com/office/drawing/2014/main" id="{5E135594-5FD3-4B8B-89BD-388BAD143123}"/>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이번 질문의 예</a:t>
            </a:r>
          </a:p>
        </p:txBody>
      </p:sp>
      <p:sp>
        <p:nvSpPr>
          <p:cNvPr id="4" name="">
            <a:extLst xmlns:a="http://schemas.openxmlformats.org/drawingml/2006/main">
              <a:ext uri="{FF2B5EF4-FFF2-40B4-BE49-F238E27FC236}">
                <a16:creationId xmlns:a16="http://schemas.microsoft.com/office/drawing/2014/main" id="{F9F7576D-23AD-458A-ACA3-42ABDFF2B5BA}"/>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역할과 읽을 사람</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사용할 원자료와 기준 시각</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만들 문서와 분량</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확정하면 안 되는 내용</a:t>
            </a:r>
          </a:p>
        </p:txBody>
      </p:sp>
      <p:sp>
        <p:nvSpPr>
          <p:cNvPr id="5" name="">
            <a:extLst xmlns:a="http://schemas.openxmlformats.org/drawingml/2006/main">
              <a:ext uri="{FF2B5EF4-FFF2-40B4-BE49-F238E27FC236}">
                <a16:creationId xmlns:a16="http://schemas.microsoft.com/office/drawing/2014/main" id="{C737AB73-ABDB-4856-A678-3C76E7FC3445}"/>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학사 지원 담당자에게 들어온 문의 6건</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접수번호별 처리표와 답장 3건</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여석·승인·복구 시각은 추정하지 않기</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실제 메일 발송 없이 초안만 작성</a:t>
            </a:r>
          </a:p>
        </p:txBody>
      </p:sp>
      <p:sp>
        <p:nvSpPr>
          <p:cNvPr id="6" name="17–20분">
            <a:extLst xmlns:a="http://schemas.openxmlformats.org/drawingml/2006/main">
              <a:ext uri="{FF2B5EF4-FFF2-40B4-BE49-F238E27FC236}">
                <a16:creationId xmlns:a16="http://schemas.microsoft.com/office/drawing/2014/main" id="{B4F6EB40-65CB-4ECF-856D-186DFDA497A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17–20분</a:t>
            </a:r>
          </a:p>
        </p:txBody>
      </p:sp>
      <p:sp>
        <p:nvSpPr>
          <p:cNvPr id="7" name="웹 실습 열기">
            <a:extLst xmlns:a="http://schemas.openxmlformats.org/drawingml/2006/main">
              <a:ext uri="{FF2B5EF4-FFF2-40B4-BE49-F238E27FC236}">
                <a16:creationId xmlns:a16="http://schemas.microsoft.com/office/drawing/2014/main" id="{4FE533BC-2CE0-4787-A3CD-A241ABB8C66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6aeb610b07949ae"/>
              </a:rPr>
              <a:t>웹 실습 열기</a:t>
            </a:r>
          </a:p>
        </p:txBody>
      </p:sp>
      <p:sp>
        <p:nvSpPr>
          <p:cNvPr id="8" name="09">
            <a:extLst xmlns:a="http://schemas.openxmlformats.org/drawingml/2006/main">
              <a:ext uri="{FF2B5EF4-FFF2-40B4-BE49-F238E27FC236}">
                <a16:creationId xmlns:a16="http://schemas.microsoft.com/office/drawing/2014/main" id="{00A95C4C-9D8D-4E3B-8BB3-5D1EDD39DD4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09</a:t>
            </a:r>
          </a:p>
        </p:txBody>
      </p:sp>
    </p:spTree>
    <p:extLst>
      <p:ext uri="{BB962C8B-B14F-4D97-AF65-F5344CB8AC3E}">
        <p14:creationId xmlns:p14="http://schemas.microsoft.com/office/powerpoint/2010/main" val="160250342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Gemini 실습 상황">
            <a:extLst xmlns:a="http://schemas.openxmlformats.org/drawingml/2006/main">
              <a:ext uri="{FF2B5EF4-FFF2-40B4-BE49-F238E27FC236}">
                <a16:creationId xmlns:a16="http://schemas.microsoft.com/office/drawing/2014/main" id="{75C5F595-A402-46DF-8D34-F31BD97FBDF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Gemini 실습 상황</a:t>
            </a:r>
          </a:p>
        </p:txBody>
      </p:sp>
      <p:graphicFrame>
        <p:nvGraphicFramePr>
          <p:cNvPr id="8" name=""/>
          <p:cNvGraphicFramePr/>
          <p:nvPr/>
        </p:nvGraphicFramePr>
        <p:xfrm>
          <a:off xmlns:a="http://schemas.openxmlformats.org/drawingml/2006/main" x="685800" y="1543050"/>
          <a:ext xmlns:a="http://schemas.openxmlformats.org/drawingml/2006/main" cx="10820400" cy="2381250"/>
        </p:xfrm>
        <a:graphic xmlns:a="http://schemas.openxmlformats.org/drawingml/2006/main">
          <a:graphicData uri="http://schemas.openxmlformats.org/drawingml/2006/table">
            <a:tbl>
              <a:tblPr firstRow="1" bandRow="0"/>
              <a:tblGrid>
                <a:gridCol w="2095500"/>
                <a:gridCol w="4095750"/>
                <a:gridCol w="4572000"/>
              </a:tblGrid>
              <a:tr h="595313">
                <a:tc>
                  <a:txBody>
                    <a:bodyPr lIns="114300" tIns="66675" rIns="114300" bIns="57150">
                      <a:noAutofit/>
                    </a:bodyPr>
                    <a:lstStyle/>
                    <a:p>
                      <a:pPr algn="l"/>
                      <a:r>
                        <a:rPr sz="1875" b="1">
                          <a:solidFill>
                            <a:srgbClr val="FFFFFF"/>
                          </a:solidFill>
                          <a:latin typeface="Malgun Gothic"/>
                          <a:ea typeface="Malgun Gothic"/>
                          <a:cs typeface="Malgun Gothic"/>
                        </a:rPr>
                        <a:t>대기 업무</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입력 자료</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이번에 만들 것</a:t>
                      </a:r>
                    </a:p>
                  </a:txBody>
                  <a:tcPr marL="91440" marR="91440" marT="45720" marB="45720" anchor="ctr">
                    <a:solidFill>
                      <a:srgbClr val="6B43C7"/>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학생 문의</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6건의 메일과 추가 회신</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처리표 6행, 답장 3건</a:t>
                      </a:r>
                    </a:p>
                  </a:txBody>
                  <a:tcPr marL="91440" marR="91440" marT="45720" marB="45720" anchor="ctr">
                    <a:solidFill>
                      <a:srgbClr val="FFFFFF"/>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운영회의</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정정 발언이 남은 회의 기록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결정과 후속 업무표</a:t>
                      </a:r>
                    </a:p>
                  </a:txBody>
                  <a:tcPr marL="91440" marR="91440" marT="45720" marB="45720" anchor="ctr">
                    <a:solidFill>
                      <a:srgbClr val="F5F2FC"/>
                    </a:solidFill>
                  </a:tcPr>
                </a:tc>
              </a:tr>
              <a:tr h="595313">
                <a:tc>
                  <a:txBody>
                    <a:bodyPr lIns="114300" tIns="66675" rIns="114300" bIns="57150">
                      <a:noAutofit/>
                    </a:bodyPr>
                    <a:lstStyle/>
                    <a:p>
                      <a:pPr algn="l"/>
                      <a:r>
                        <a:rPr sz="1875" b="0">
                          <a:solidFill>
                            <a:srgbClr val="20212A"/>
                          </a:solidFill>
                          <a:latin typeface="Malgun Gothic"/>
                          <a:ea typeface="Malgun Gothic"/>
                          <a:cs typeface="Malgun Gothic"/>
                        </a:rPr>
                        <a:t>구매 검토</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3개 행사 구매 요청 24행</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조정 근거와 행사별 합계</a:t>
                      </a:r>
                    </a:p>
                  </a:txBody>
                  <a:tcPr marL="91440" marR="91440" marT="45720" marB="45720" anchor="ctr">
                    <a:solidFill>
                      <a:srgbClr val="FFFFFF"/>
                    </a:solidFill>
                  </a:tcPr>
                </a:tc>
              </a:tr>
            </a:tbl>
          </a:graphicData>
        </a:graphic>
      </p:graphicFrame>
      <p:sp>
        <p:nvSpPr>
          <p:cNvPr id="3" name="문의 기준 시각은 10월 12일 17:20입니다. ">
            <a:extLst xmlns:a="http://schemas.openxmlformats.org/drawingml/2006/main">
              <a:ext uri="{FF2B5EF4-FFF2-40B4-BE49-F238E27FC236}">
                <a16:creationId xmlns:a16="http://schemas.microsoft.com/office/drawing/2014/main" id="{07EB5790-9CC4-48AD-85D7-E6396D15E408}"/>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문의 기준 시각은 10월 12일 17:20입니다. 수강정정 마감은 같은 날 18:00입니다.</a:t>
            </a:r>
          </a:p>
        </p:txBody>
      </p:sp>
      <p:sp>
        <p:nvSpPr>
          <p:cNvPr id="4" name="20–22분">
            <a:extLst xmlns:a="http://schemas.openxmlformats.org/drawingml/2006/main">
              <a:ext uri="{FF2B5EF4-FFF2-40B4-BE49-F238E27FC236}">
                <a16:creationId xmlns:a16="http://schemas.microsoft.com/office/drawing/2014/main" id="{1C45F0D6-4CFF-46A6-9B9F-066B6734BFC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20–22분</a:t>
            </a:r>
          </a:p>
        </p:txBody>
      </p:sp>
      <p:sp>
        <p:nvSpPr>
          <p:cNvPr id="5" name="웹 실습 열기">
            <a:extLst xmlns:a="http://schemas.openxmlformats.org/drawingml/2006/main">
              <a:ext uri="{FF2B5EF4-FFF2-40B4-BE49-F238E27FC236}">
                <a16:creationId xmlns:a16="http://schemas.microsoft.com/office/drawing/2014/main" id="{76200348-D883-4D99-9F5B-1EFFAF14E4D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1c5a47ebf8746a2"/>
              </a:rPr>
              <a:t>웹 실습 열기</a:t>
            </a:r>
          </a:p>
        </p:txBody>
      </p:sp>
      <p:sp>
        <p:nvSpPr>
          <p:cNvPr id="6" name="10">
            <a:extLst xmlns:a="http://schemas.openxmlformats.org/drawingml/2006/main">
              <a:ext uri="{FF2B5EF4-FFF2-40B4-BE49-F238E27FC236}">
                <a16:creationId xmlns:a16="http://schemas.microsoft.com/office/drawing/2014/main" id="{E24F1B58-0266-407F-9392-B8ADCFBEC34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10</a:t>
            </a:r>
          </a:p>
        </p:txBody>
      </p:sp>
    </p:spTree>
    <p:extLst>
      <p:ext uri="{BB962C8B-B14F-4D97-AF65-F5344CB8AC3E}">
        <p14:creationId xmlns:p14="http://schemas.microsoft.com/office/powerpoint/2010/main" val="85589284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먼저 읽는 문의 한 건">
            <a:extLst xmlns:a="http://schemas.openxmlformats.org/drawingml/2006/main">
              <a:ext uri="{FF2B5EF4-FFF2-40B4-BE49-F238E27FC236}">
                <a16:creationId xmlns:a16="http://schemas.microsoft.com/office/drawing/2014/main" id="{6921F217-93F6-45C0-9C6A-D728F0849F2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먼저 읽는 문의 한 건</a:t>
            </a:r>
          </a:p>
        </p:txBody>
      </p:sp>
      <p:sp>
        <p:nvSpPr>
          <p:cNvPr id="2" name="90초">
            <a:extLst xmlns:a="http://schemas.openxmlformats.org/drawingml/2006/main">
              <a:ext uri="{FF2B5EF4-FFF2-40B4-BE49-F238E27FC236}">
                <a16:creationId xmlns:a16="http://schemas.microsoft.com/office/drawing/2014/main" id="{17369D92-0A8B-4A42-9E7B-ACAA0A929B18}"/>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90초</a:t>
            </a:r>
          </a:p>
        </p:txBody>
      </p:sp>
      <p:sp>
        <p:nvSpPr>
          <p:cNvPr id="3" name="S01의 마지막 요청을 직접 읽고 답장에 넣을 내용">
            <a:extLst xmlns:a="http://schemas.openxmlformats.org/drawingml/2006/main">
              <a:ext uri="{FF2B5EF4-FFF2-40B4-BE49-F238E27FC236}">
                <a16:creationId xmlns:a16="http://schemas.microsoft.com/office/drawing/2014/main" id="{85EC1A92-6142-48F0-A83E-2BE1E1E5C24A}"/>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S01의 마지막 요청을 직접 읽고 답장에 넣을 내용을 메모합니다.</a:t>
            </a:r>
          </a:p>
        </p:txBody>
      </p:sp>
      <p:sp>
        <p:nvSpPr>
          <p:cNvPr id="4" name="">
            <a:extLst xmlns:a="http://schemas.openxmlformats.org/drawingml/2006/main">
              <a:ext uri="{FF2B5EF4-FFF2-40B4-BE49-F238E27FC236}">
                <a16:creationId xmlns:a16="http://schemas.microsoft.com/office/drawing/2014/main" id="{854E9DFA-6868-43D2-8B24-309DAA18874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마감 시각과 학생이 직접 할 일을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자료에 없는 승인·여석·세부 순서를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임시 답장의 잘못된 문장 두 곳에 밑줄</a:t>
            </a:r>
          </a:p>
        </p:txBody>
      </p:sp>
      <p:sp>
        <p:nvSpPr>
          <p:cNvPr id="5" name="남길 결과">
            <a:extLst xmlns:a="http://schemas.openxmlformats.org/drawingml/2006/main">
              <a:ext uri="{FF2B5EF4-FFF2-40B4-BE49-F238E27FC236}">
                <a16:creationId xmlns:a16="http://schemas.microsoft.com/office/drawing/2014/main" id="{131151D0-837F-42F6-AF9A-8541FD602CC1}"/>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메모 한 장과 읽는 데 걸린 시간">
            <a:extLst xmlns:a="http://schemas.openxmlformats.org/drawingml/2006/main">
              <a:ext uri="{FF2B5EF4-FFF2-40B4-BE49-F238E27FC236}">
                <a16:creationId xmlns:a16="http://schemas.microsoft.com/office/drawing/2014/main" id="{8BDC02CF-F8D0-4231-B205-2FAF06C65C2A}"/>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메모 한 장과 읽는 데 걸린 시간</a:t>
            </a:r>
          </a:p>
        </p:txBody>
      </p:sp>
      <p:sp>
        <p:nvSpPr>
          <p:cNvPr id="7" name="22–24분">
            <a:extLst xmlns:a="http://schemas.openxmlformats.org/drawingml/2006/main">
              <a:ext uri="{FF2B5EF4-FFF2-40B4-BE49-F238E27FC236}">
                <a16:creationId xmlns:a16="http://schemas.microsoft.com/office/drawing/2014/main" id="{729576E7-65CF-4FC6-A383-8AA9F55EF80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22–24분</a:t>
            </a:r>
          </a:p>
        </p:txBody>
      </p:sp>
      <p:sp>
        <p:nvSpPr>
          <p:cNvPr id="8" name="웹 실습 열기">
            <a:extLst xmlns:a="http://schemas.openxmlformats.org/drawingml/2006/main">
              <a:ext uri="{FF2B5EF4-FFF2-40B4-BE49-F238E27FC236}">
                <a16:creationId xmlns:a16="http://schemas.microsoft.com/office/drawing/2014/main" id="{67AC514E-B30C-40E4-AD94-D5296AA39A0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58fc8e9422041c1"/>
              </a:rPr>
              <a:t>웹 실습 열기</a:t>
            </a:r>
          </a:p>
        </p:txBody>
      </p:sp>
      <p:sp>
        <p:nvSpPr>
          <p:cNvPr id="9" name="11">
            <a:extLst xmlns:a="http://schemas.openxmlformats.org/drawingml/2006/main">
              <a:ext uri="{FF2B5EF4-FFF2-40B4-BE49-F238E27FC236}">
                <a16:creationId xmlns:a16="http://schemas.microsoft.com/office/drawing/2014/main" id="{AB792A89-6918-42F9-97AE-58C37AEF522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11</a:t>
            </a:r>
          </a:p>
        </p:txBody>
      </p:sp>
    </p:spTree>
    <p:extLst>
      <p:ext uri="{BB962C8B-B14F-4D97-AF65-F5344CB8AC3E}">
        <p14:creationId xmlns:p14="http://schemas.microsoft.com/office/powerpoint/2010/main" val="4779826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질문과 원자료 입력">
            <a:extLst xmlns:a="http://schemas.openxmlformats.org/drawingml/2006/main">
              <a:ext uri="{FF2B5EF4-FFF2-40B4-BE49-F238E27FC236}">
                <a16:creationId xmlns:a16="http://schemas.microsoft.com/office/drawing/2014/main" id="{3F9AA54C-46FD-4992-AD09-DFC14D67F3B6}"/>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질문과 원자료 입력</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2692136fecc4105"/>
          <a:stretch xmlns:a="http://schemas.openxmlformats.org/drawingml/2006/main"/>
        </p:blipFill>
        <p:spPr>
          <a:xfrm xmlns:a="http://schemas.openxmlformats.org/drawingml/2006/main">
            <a:off x="2025090" y="1504950"/>
            <a:ext cx="8141821" cy="29241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17308DD-7F14-404B-B539-1ECAADFDFA9C}"/>
              </a:ext>
            </a:extLst>
          </p:cNvPr>
          <p:cNvSpPr>
            <a:spLocks xmlns:a="http://schemas.openxmlformats.org/drawingml/2006/main" noGrp="1"/>
          </p:cNvSpPr>
          <p:nvPr/>
        </p:nvSpPr>
        <p:spPr>
          <a:xfrm xmlns:a="http://schemas.openxmlformats.org/drawingml/2006/main">
            <a:off x="742950" y="4724400"/>
            <a:ext cx="10668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500"/>
              </a:spcAft>
              <a:buChar char="•"/>
              <a:defRPr sz="1950" b="0">
                <a:solidFill>
                  <a:srgbClr val="20212A"/>
                </a:solidFill>
                <a:latin typeface="Malgun Gothic"/>
                <a:ea typeface="Malgun Gothic"/>
                <a:cs typeface="Malgun Gothic"/>
              </a:defRPr>
            </a:pPr>
            <a:r>
              <a:t>전체 복사로 질문과 원자료를 함께 입력</a:t>
            </a:r>
          </a:p>
          <a:p xmlns:a="http://schemas.openxmlformats.org/drawingml/2006/main">
            <a:pPr marL="228600" indent="-127000" algn="l">
              <a:spcAft>
                <a:spcPts val="500"/>
              </a:spcAft>
              <a:buChar char="•"/>
              <a:defRPr sz="1950" b="0">
                <a:solidFill>
                  <a:srgbClr val="20212A"/>
                </a:solidFill>
                <a:latin typeface="Malgun Gothic"/>
                <a:ea typeface="Malgun Gothic"/>
                <a:cs typeface="Malgun Gothic"/>
              </a:defRPr>
            </a:pPr>
            <a:r>
              <a:t>새 대화에서 한 번 전송하고 응답을 기다림</a:t>
            </a:r>
          </a:p>
          <a:p xmlns:a="http://schemas.openxmlformats.org/drawingml/2006/main">
            <a:pPr marL="228600" indent="-127000" algn="l">
              <a:spcAft>
                <a:spcPts val="500"/>
              </a:spcAft>
              <a:buChar char="•"/>
              <a:defRPr sz="1950" b="0">
                <a:solidFill>
                  <a:srgbClr val="20212A"/>
                </a:solidFill>
                <a:latin typeface="Malgun Gothic"/>
                <a:ea typeface="Malgun Gothic"/>
                <a:cs typeface="Malgun Gothic"/>
              </a:defRPr>
            </a:pPr>
            <a:r>
              <a:t>문의 6건과 답장 3건 요청 여부 확인</a:t>
            </a:r>
          </a:p>
        </p:txBody>
      </p:sp>
      <p:sp>
        <p:nvSpPr>
          <p:cNvPr id="4" name="기본연습 입력 화면 참고. 오늘은 웹의 업무실습 1">
            <a:extLst xmlns:a="http://schemas.openxmlformats.org/drawingml/2006/main">
              <a:ext uri="{FF2B5EF4-FFF2-40B4-BE49-F238E27FC236}">
                <a16:creationId xmlns:a16="http://schemas.microsoft.com/office/drawing/2014/main" id="{F0A3F3A5-6377-4115-9041-5ADF0E6E8ACD}"/>
              </a:ext>
            </a:extLst>
          </p:cNvPr>
          <p:cNvSpPr>
            <a:spLocks xmlns:a="http://schemas.openxmlformats.org/drawingml/2006/main" noGrp="1"/>
          </p:cNvSpPr>
          <p:nvPr/>
        </p:nvSpPr>
        <p:spPr>
          <a:xfrm xmlns:a="http://schemas.openxmlformats.org/drawingml/2006/main">
            <a:off x="685800" y="593407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기본연습 입력 화면 참고. 오늘은 웹의 업무실습 11번 질문과 자료를 복사합니다.</a:t>
            </a:r>
          </a:p>
        </p:txBody>
      </p:sp>
      <p:sp>
        <p:nvSpPr>
          <p:cNvPr id="5" name="24–27분">
            <a:extLst xmlns:a="http://schemas.openxmlformats.org/drawingml/2006/main">
              <a:ext uri="{FF2B5EF4-FFF2-40B4-BE49-F238E27FC236}">
                <a16:creationId xmlns:a16="http://schemas.microsoft.com/office/drawing/2014/main" id="{88544B86-0A21-42B9-AC97-4824D0053E4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24–27분</a:t>
            </a:r>
          </a:p>
        </p:txBody>
      </p:sp>
      <p:sp>
        <p:nvSpPr>
          <p:cNvPr id="6" name="웹 실습 열기">
            <a:extLst xmlns:a="http://schemas.openxmlformats.org/drawingml/2006/main">
              <a:ext uri="{FF2B5EF4-FFF2-40B4-BE49-F238E27FC236}">
                <a16:creationId xmlns:a16="http://schemas.microsoft.com/office/drawing/2014/main" id="{A4F33343-0941-44BD-95C1-1C1FC19AFB0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00e9d3c003d34cfc"/>
              </a:rPr>
              <a:t>웹 실습 열기</a:t>
            </a:r>
          </a:p>
        </p:txBody>
      </p:sp>
      <p:sp>
        <p:nvSpPr>
          <p:cNvPr id="7" name="12">
            <a:extLst xmlns:a="http://schemas.openxmlformats.org/drawingml/2006/main">
              <a:ext uri="{FF2B5EF4-FFF2-40B4-BE49-F238E27FC236}">
                <a16:creationId xmlns:a16="http://schemas.microsoft.com/office/drawing/2014/main" id="{1D2FEED8-84A8-4825-AAD0-E275B679762C}"/>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12</a:t>
            </a:r>
          </a:p>
        </p:txBody>
      </p:sp>
    </p:spTree>
    <p:extLst>
      <p:ext uri="{BB962C8B-B14F-4D97-AF65-F5344CB8AC3E}">
        <p14:creationId xmlns:p14="http://schemas.microsoft.com/office/powerpoint/2010/main" val="11708034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처리표 6행과 답장 3건">
            <a:extLst xmlns:a="http://schemas.openxmlformats.org/drawingml/2006/main">
              <a:ext uri="{FF2B5EF4-FFF2-40B4-BE49-F238E27FC236}">
                <a16:creationId xmlns:a16="http://schemas.microsoft.com/office/drawing/2014/main" id="{982019C5-9AC1-41B1-89CE-FC898200118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처리표 6행과 답장 3건</a:t>
            </a:r>
          </a:p>
        </p:txBody>
      </p:sp>
      <p:sp>
        <p:nvSpPr>
          <p:cNvPr id="2" name="5분">
            <a:extLst xmlns:a="http://schemas.openxmlformats.org/drawingml/2006/main">
              <a:ext uri="{FF2B5EF4-FFF2-40B4-BE49-F238E27FC236}">
                <a16:creationId xmlns:a16="http://schemas.microsoft.com/office/drawing/2014/main" id="{74140FF2-640B-4BDE-8138-7F1A11DA34A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응답에서 건별 마지막 요청을 찾고 답장 초안을 확인">
            <a:extLst xmlns:a="http://schemas.openxmlformats.org/drawingml/2006/main">
              <a:ext uri="{FF2B5EF4-FFF2-40B4-BE49-F238E27FC236}">
                <a16:creationId xmlns:a16="http://schemas.microsoft.com/office/drawing/2014/main" id="{35A5F384-F5DD-4695-ABE4-12239B242E0B}"/>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응답에서 건별 마지막 요청을 찾고 답장 초안을 확인합니다.</a:t>
            </a:r>
          </a:p>
        </p:txBody>
      </p:sp>
      <p:sp>
        <p:nvSpPr>
          <p:cNvPr id="4" name="">
            <a:extLst xmlns:a="http://schemas.openxmlformats.org/drawingml/2006/main">
              <a:ext uri="{FF2B5EF4-FFF2-40B4-BE49-F238E27FC236}">
                <a16:creationId xmlns:a16="http://schemas.microsoft.com/office/drawing/2014/main" id="{B3947FD8-409A-48DA-A80C-0B2955766BB5}"/>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S01·S03·S05 답장은 각각 250~400자</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S04의 취소 철회와 S06의 출석 문의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나머지 문의는 답할 문장과 확인할 담당을 분리</a:t>
            </a:r>
          </a:p>
        </p:txBody>
      </p:sp>
      <p:sp>
        <p:nvSpPr>
          <p:cNvPr id="5" name="남길 결과">
            <a:extLst xmlns:a="http://schemas.openxmlformats.org/drawingml/2006/main">
              <a:ext uri="{FF2B5EF4-FFF2-40B4-BE49-F238E27FC236}">
                <a16:creationId xmlns:a16="http://schemas.microsoft.com/office/drawing/2014/main" id="{99D7236F-3579-4BE4-B461-3D4B349A638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처리표 6행과 우선 답장 3건">
            <a:extLst xmlns:a="http://schemas.openxmlformats.org/drawingml/2006/main">
              <a:ext uri="{FF2B5EF4-FFF2-40B4-BE49-F238E27FC236}">
                <a16:creationId xmlns:a16="http://schemas.microsoft.com/office/drawing/2014/main" id="{96B4FA72-A71F-452D-A34C-A84159102CC3}"/>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처리표 6행과 우선 답장 3건</a:t>
            </a:r>
          </a:p>
        </p:txBody>
      </p:sp>
      <p:sp>
        <p:nvSpPr>
          <p:cNvPr id="7" name="27–32분">
            <a:extLst xmlns:a="http://schemas.openxmlformats.org/drawingml/2006/main">
              <a:ext uri="{FF2B5EF4-FFF2-40B4-BE49-F238E27FC236}">
                <a16:creationId xmlns:a16="http://schemas.microsoft.com/office/drawing/2014/main" id="{874492F6-4D28-4029-B1B8-3771C7AF6AB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27–32분</a:t>
            </a:r>
          </a:p>
        </p:txBody>
      </p:sp>
      <p:sp>
        <p:nvSpPr>
          <p:cNvPr id="8" name="웹 실습 열기">
            <a:extLst xmlns:a="http://schemas.openxmlformats.org/drawingml/2006/main">
              <a:ext uri="{FF2B5EF4-FFF2-40B4-BE49-F238E27FC236}">
                <a16:creationId xmlns:a16="http://schemas.microsoft.com/office/drawing/2014/main" id="{516F68CC-10F2-42CF-853F-A423AEEFAA1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6d361181e9f4474"/>
              </a:rPr>
              <a:t>웹 실습 열기</a:t>
            </a:r>
          </a:p>
        </p:txBody>
      </p:sp>
      <p:sp>
        <p:nvSpPr>
          <p:cNvPr id="9" name="13">
            <a:extLst xmlns:a="http://schemas.openxmlformats.org/drawingml/2006/main">
              <a:ext uri="{FF2B5EF4-FFF2-40B4-BE49-F238E27FC236}">
                <a16:creationId xmlns:a16="http://schemas.microsoft.com/office/drawing/2014/main" id="{4F3AC106-C797-48C7-9AEA-48AC1C9D3E6C}"/>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13</a:t>
            </a:r>
          </a:p>
        </p:txBody>
      </p:sp>
    </p:spTree>
    <p:extLst>
      <p:ext uri="{BB962C8B-B14F-4D97-AF65-F5344CB8AC3E}">
        <p14:creationId xmlns:p14="http://schemas.microsoft.com/office/powerpoint/2010/main" val="161935345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수정 요청 뒤에도 남은 단정">
            <a:extLst xmlns:a="http://schemas.openxmlformats.org/drawingml/2006/main">
              <a:ext uri="{FF2B5EF4-FFF2-40B4-BE49-F238E27FC236}">
                <a16:creationId xmlns:a16="http://schemas.microsoft.com/office/drawing/2014/main" id="{A8FD5A53-7E71-422B-9176-8A9A175A551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수정 요청 뒤에도 남은 단정</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b43ce2a43164320"/>
          <a:srcRect xmlns:a="http://schemas.openxmlformats.org/drawingml/2006/main" l="8000" t="29000" r="5000" b="27000"/>
          <a:stretch xmlns:a="http://schemas.openxmlformats.org/drawingml/2006/main"/>
        </p:blipFill>
        <p:spPr>
          <a:xfrm xmlns:a="http://schemas.openxmlformats.org/drawingml/2006/main">
            <a:off x="609600" y="2063062"/>
            <a:ext cx="7200900" cy="334147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850EC5B-4744-4175-AD4D-B3F681AA94C5}"/>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예외 승인 “가능”과 “불가” 모두 근거 필요</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미발송 임시 답장을 과거 안내로 쓰지 않기</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“마감 후 접수 불가 원칙”도 원문에서 확인</a:t>
            </a:r>
          </a:p>
        </p:txBody>
      </p:sp>
      <p:sp>
        <p:nvSpPr>
          <p:cNvPr id="4" name="업무실습 실제 재검토 화면 일부 확대. 수정 응답도">
            <a:extLst xmlns:a="http://schemas.openxmlformats.org/drawingml/2006/main">
              <a:ext uri="{FF2B5EF4-FFF2-40B4-BE49-F238E27FC236}">
                <a16:creationId xmlns:a16="http://schemas.microsoft.com/office/drawing/2014/main" id="{1AC27DA6-D0FC-4C69-8082-E6A5AF1B4B8A}"/>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재검토 화면 일부 확대. 수정 응답도 원문과 대조합니다.</a:t>
            </a:r>
          </a:p>
        </p:txBody>
      </p:sp>
      <p:sp>
        <p:nvSpPr>
          <p:cNvPr id="5" name="32–34분">
            <a:extLst xmlns:a="http://schemas.openxmlformats.org/drawingml/2006/main">
              <a:ext uri="{FF2B5EF4-FFF2-40B4-BE49-F238E27FC236}">
                <a16:creationId xmlns:a16="http://schemas.microsoft.com/office/drawing/2014/main" id="{5A205DE1-0C92-4060-B996-C6CE44974A1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32–34분</a:t>
            </a:r>
          </a:p>
        </p:txBody>
      </p:sp>
      <p:sp>
        <p:nvSpPr>
          <p:cNvPr id="6" name="웹 실습 열기">
            <a:extLst xmlns:a="http://schemas.openxmlformats.org/drawingml/2006/main">
              <a:ext uri="{FF2B5EF4-FFF2-40B4-BE49-F238E27FC236}">
                <a16:creationId xmlns:a16="http://schemas.microsoft.com/office/drawing/2014/main" id="{8F810C9F-271F-4B6D-8B37-E819EAA0730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642cca8fe924a77"/>
              </a:rPr>
              <a:t>웹 실습 열기</a:t>
            </a:r>
          </a:p>
        </p:txBody>
      </p:sp>
      <p:sp>
        <p:nvSpPr>
          <p:cNvPr id="7" name="14">
            <a:extLst xmlns:a="http://schemas.openxmlformats.org/drawingml/2006/main">
              <a:ext uri="{FF2B5EF4-FFF2-40B4-BE49-F238E27FC236}">
                <a16:creationId xmlns:a16="http://schemas.microsoft.com/office/drawing/2014/main" id="{0F40FD8F-4037-47B2-A6E0-776A0FF1FA4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14</a:t>
            </a:r>
          </a:p>
        </p:txBody>
      </p:sp>
    </p:spTree>
    <p:extLst>
      <p:ext uri="{BB962C8B-B14F-4D97-AF65-F5344CB8AC3E}">
        <p14:creationId xmlns:p14="http://schemas.microsoft.com/office/powerpoint/2010/main" val="121563080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답장 짝 검토">
            <a:extLst xmlns:a="http://schemas.openxmlformats.org/drawingml/2006/main">
              <a:ext uri="{FF2B5EF4-FFF2-40B4-BE49-F238E27FC236}">
                <a16:creationId xmlns:a16="http://schemas.microsoft.com/office/drawing/2014/main" id="{36E729C8-F1D8-4EA4-8B4F-3B24C37E5F7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답장 짝 검토</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3714750"/>
                <a:gridCol w="7048500"/>
              </a:tblGrid>
              <a:tr h="590550">
                <a:tc>
                  <a:txBody>
                    <a:bodyPr lIns="114300" tIns="66675" rIns="114300" bIns="57150">
                      <a:noAutofit/>
                    </a:bodyPr>
                    <a:lstStyle/>
                    <a:p>
                      <a:pPr algn="l"/>
                      <a:r>
                        <a:rPr sz="1875" b="1">
                          <a:solidFill>
                            <a:srgbClr val="FFFFFF"/>
                          </a:solidFill>
                          <a:latin typeface="Malgun Gothic"/>
                          <a:ea typeface="Malgun Gothic"/>
                          <a:cs typeface="Malgun Gothic"/>
                        </a:rPr>
                        <a:t>확인할 문장</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수정 방향</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예외 승인은 불가능합니다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승인 가능 여부는 자료로 확답할 수 없어 학과 확인이 필요합니다</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신분증 사진을 회신해 주세요</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일반 이메일로 신분증 사진을 보내지 않도록 안내합니다</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메일을 보냈으니 신청됐습니다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포털의 최종 신청내역에서 과목·분반·상태를 확인합니다</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오늘 마감됐으니 접수할 수 없습니다</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기준 시각 17:20과 마감 18:00을 구분합니다</a:t>
                      </a:r>
                    </a:p>
                  </a:txBody>
                  <a:tcPr marL="91440" marR="91440" marT="45720" marB="45720" anchor="ctr">
                    <a:solidFill>
                      <a:srgbClr val="F5F2FC"/>
                    </a:solidFill>
                  </a:tcPr>
                </a:tc>
              </a:tr>
            </a:tbl>
          </a:graphicData>
        </a:graphic>
      </p:graphicFrame>
      <p:sp>
        <p:nvSpPr>
          <p:cNvPr id="3" name="짝과 2분 교환 검토 후, 원문 기준 번호와 고친 ">
            <a:extLst xmlns:a="http://schemas.openxmlformats.org/drawingml/2006/main">
              <a:ext uri="{FF2B5EF4-FFF2-40B4-BE49-F238E27FC236}">
                <a16:creationId xmlns:a16="http://schemas.microsoft.com/office/drawing/2014/main" id="{E3701474-2269-45E3-88AB-FB76EE42D5F4}"/>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짝과 2분 교환 검토 후, 원문 기준 번호와 고친 문장을 기록합니다.</a:t>
            </a:r>
          </a:p>
        </p:txBody>
      </p:sp>
      <p:sp>
        <p:nvSpPr>
          <p:cNvPr id="4" name="34–38분">
            <a:extLst xmlns:a="http://schemas.openxmlformats.org/drawingml/2006/main">
              <a:ext uri="{FF2B5EF4-FFF2-40B4-BE49-F238E27FC236}">
                <a16:creationId xmlns:a16="http://schemas.microsoft.com/office/drawing/2014/main" id="{D49F379C-F4C1-4497-8A92-0938C7BE165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34–38분</a:t>
            </a:r>
          </a:p>
        </p:txBody>
      </p:sp>
      <p:sp>
        <p:nvSpPr>
          <p:cNvPr id="5" name="웹 실습 열기">
            <a:extLst xmlns:a="http://schemas.openxmlformats.org/drawingml/2006/main">
              <a:ext uri="{FF2B5EF4-FFF2-40B4-BE49-F238E27FC236}">
                <a16:creationId xmlns:a16="http://schemas.microsoft.com/office/drawing/2014/main" id="{C9EE3DEA-847F-4A0C-B8AC-74DB53A83FD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7e9e596f0f0b4577"/>
              </a:rPr>
              <a:t>웹 실습 열기</a:t>
            </a:r>
          </a:p>
        </p:txBody>
      </p:sp>
      <p:sp>
        <p:nvSpPr>
          <p:cNvPr id="6" name="15">
            <a:extLst xmlns:a="http://schemas.openxmlformats.org/drawingml/2006/main">
              <a:ext uri="{FF2B5EF4-FFF2-40B4-BE49-F238E27FC236}">
                <a16:creationId xmlns:a16="http://schemas.microsoft.com/office/drawing/2014/main" id="{03AEFD7F-AE6D-4D12-B56E-76875D9C3DD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15</a:t>
            </a:r>
          </a:p>
        </p:txBody>
      </p:sp>
    </p:spTree>
    <p:extLst>
      <p:ext uri="{BB962C8B-B14F-4D97-AF65-F5344CB8AC3E}">
        <p14:creationId xmlns:p14="http://schemas.microsoft.com/office/powerpoint/2010/main" val="19961558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회의에서 바뀐 결정">
            <a:extLst xmlns:a="http://schemas.openxmlformats.org/drawingml/2006/main">
              <a:ext uri="{FF2B5EF4-FFF2-40B4-BE49-F238E27FC236}">
                <a16:creationId xmlns:a16="http://schemas.microsoft.com/office/drawing/2014/main" id="{41F03995-F8E2-4AC2-903D-9004E93D28C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회의에서 바뀐 결정</a:t>
            </a:r>
          </a:p>
        </p:txBody>
      </p:sp>
      <p:sp>
        <p:nvSpPr>
          <p:cNvPr id="2" name="“방금 말씀드린 21일은 정정하겠습니다.&#10;제가 20">
            <a:extLst xmlns:a="http://schemas.openxmlformats.org/drawingml/2006/main">
              <a:ext uri="{FF2B5EF4-FFF2-40B4-BE49-F238E27FC236}">
                <a16:creationId xmlns:a16="http://schemas.microsoft.com/office/drawing/2014/main" id="{C0657474-01A8-4D81-8880-4CD09C868D15}"/>
              </a:ext>
            </a:extLst>
          </p:cNvPr>
          <p:cNvSpPr>
            <a:spLocks xmlns:a="http://schemas.openxmlformats.org/drawingml/2006/main" noGrp="1"/>
          </p:cNvSpPr>
          <p:nvPr/>
        </p:nvSpPr>
        <p:spPr>
          <a:xfrm xmlns:a="http://schemas.openxmlformats.org/drawingml/2006/main">
            <a:off x="685800" y="1676400"/>
            <a:ext cx="10820400" cy="198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000" b="1">
                <a:solidFill>
                  <a:srgbClr val="6B43C7"/>
                </a:solidFill>
                <a:latin typeface="Malgun Gothic"/>
                <a:ea typeface="Malgun Gothic"/>
                <a:cs typeface="Malgun Gothic"/>
              </a:defRPr>
            </a:pPr>
            <a:r>
              <a:rPr sz="3000" b="1">
                <a:solidFill>
                  <a:srgbClr val="6B43C7"/>
                </a:solidFill>
                <a:latin typeface="Malgun Gothic"/>
                <a:ea typeface="Malgun Gothic"/>
                <a:cs typeface="Malgun Gothic"/>
              </a:rPr>
              <a:t>“방금 말씀드린 21일은 정정하겠습니다.</a:t>
            </a:r>
          </a:p>
          <a:p xmlns:a="http://schemas.openxmlformats.org/drawingml/2006/main">
            <a:pPr algn="l">
              <a:lnSpc>
                <a:spcPct val="116000"/>
              </a:lnSpc>
              <a:buNone/>
              <a:defRPr sz="3000" b="1">
                <a:solidFill>
                  <a:srgbClr val="6B43C7"/>
                </a:solidFill>
                <a:latin typeface="Malgun Gothic"/>
                <a:ea typeface="Malgun Gothic"/>
                <a:cs typeface="Malgun Gothic"/>
              </a:defRPr>
            </a:pPr>
            <a:r>
              <a:rPr sz="3000" b="1">
                <a:solidFill>
                  <a:srgbClr val="6B43C7"/>
                </a:solidFill>
                <a:latin typeface="Malgun Gothic"/>
                <a:ea typeface="Malgun Gothic"/>
                <a:cs typeface="Malgun Gothic"/>
              </a:rPr>
              <a:t>제가 2026-10-20까지 201호 전원과 무선망을 점검하고…”</a:t>
            </a:r>
          </a:p>
        </p:txBody>
      </p:sp>
      <p:sp>
        <p:nvSpPr>
          <p:cNvPr id="3" name="12번 회의 기록 14:33, 시설담당 발언 발췌">
            <a:extLst xmlns:a="http://schemas.openxmlformats.org/drawingml/2006/main">
              <a:ext uri="{FF2B5EF4-FFF2-40B4-BE49-F238E27FC236}">
                <a16:creationId xmlns:a16="http://schemas.microsoft.com/office/drawing/2014/main" id="{C5CD84FA-3633-4BBE-B812-B8F3C922306C}"/>
              </a:ext>
            </a:extLst>
          </p:cNvPr>
          <p:cNvSpPr>
            <a:spLocks xmlns:a="http://schemas.openxmlformats.org/drawingml/2006/main" noGrp="1"/>
          </p:cNvSpPr>
          <p:nvPr/>
        </p:nvSpPr>
        <p:spPr>
          <a:xfrm xmlns:a="http://schemas.openxmlformats.org/drawingml/2006/main">
            <a:off x="685800" y="39528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75" b="0">
                <a:solidFill>
                  <a:srgbClr val="606170"/>
                </a:solidFill>
                <a:latin typeface="Malgun Gothic"/>
                <a:ea typeface="Malgun Gothic"/>
                <a:cs typeface="Malgun Gothic"/>
              </a:defRPr>
            </a:pPr>
            <a:r>
              <a:rPr sz="1575" b="0">
                <a:solidFill>
                  <a:srgbClr val="606170"/>
                </a:solidFill>
                <a:latin typeface="Malgun Gothic"/>
                <a:ea typeface="Malgun Gothic"/>
                <a:cs typeface="Malgun Gothic"/>
              </a:rPr>
              <a:t>12번 회의 기록 14:33, 시설담당 발언 발췌</a:t>
            </a:r>
          </a:p>
        </p:txBody>
      </p:sp>
      <p:sp>
        <p:nvSpPr>
          <p:cNvPr id="4" name="">
            <a:extLst xmlns:a="http://schemas.openxmlformats.org/drawingml/2006/main">
              <a:ext uri="{FF2B5EF4-FFF2-40B4-BE49-F238E27FC236}">
                <a16:creationId xmlns:a16="http://schemas.microsoft.com/office/drawing/2014/main" id="{7765EDD1-A8BA-4393-B84B-76C08597153D}"/>
              </a:ext>
            </a:extLst>
          </p:cNvPr>
          <p:cNvSpPr>
            <a:spLocks xmlns:a="http://schemas.openxmlformats.org/drawingml/2006/main" noGrp="1"/>
          </p:cNvSpPr>
          <p:nvPr/>
        </p:nvSpPr>
        <p:spPr>
          <a:xfrm xmlns:a="http://schemas.openxmlformats.org/drawingml/2006/main">
            <a:off x="685800" y="4695825"/>
            <a:ext cx="108204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600"/>
              </a:spcAft>
              <a:buChar char="•"/>
              <a:defRPr sz="2100" b="0">
                <a:solidFill>
                  <a:srgbClr val="20212A"/>
                </a:solidFill>
                <a:latin typeface="Malgun Gothic"/>
                <a:ea typeface="Malgun Gothic"/>
                <a:cs typeface="Malgun Gothic"/>
              </a:defRPr>
            </a:pPr>
            <a:r>
              <a:t>앞선 의견과 최종 정정 발언을 함께 보관</a:t>
            </a:r>
          </a:p>
          <a:p xmlns:a="http://schemas.openxmlformats.org/drawingml/2006/main">
            <a:pPr marL="228600" indent="-127000" algn="l">
              <a:spcAft>
                <a:spcPts val="1600"/>
              </a:spcAft>
              <a:buChar char="•"/>
              <a:defRPr sz="2100" b="0">
                <a:solidFill>
                  <a:srgbClr val="20212A"/>
                </a:solidFill>
                <a:latin typeface="Malgun Gothic"/>
                <a:ea typeface="Malgun Gothic"/>
                <a:cs typeface="Malgun Gothic"/>
              </a:defRPr>
            </a:pPr>
            <a:r>
              <a:t>뒤 날짜 변경 공지를 당시 회의 발언에 소급하지 않음</a:t>
            </a:r>
          </a:p>
        </p:txBody>
      </p:sp>
      <p:sp>
        <p:nvSpPr>
          <p:cNvPr id="5" name="38–40분">
            <a:extLst xmlns:a="http://schemas.openxmlformats.org/drawingml/2006/main">
              <a:ext uri="{FF2B5EF4-FFF2-40B4-BE49-F238E27FC236}">
                <a16:creationId xmlns:a16="http://schemas.microsoft.com/office/drawing/2014/main" id="{422D172D-061F-4701-9F0B-321F967BB82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38–40분</a:t>
            </a:r>
          </a:p>
        </p:txBody>
      </p:sp>
      <p:sp>
        <p:nvSpPr>
          <p:cNvPr id="6" name="웹 실습 열기">
            <a:extLst xmlns:a="http://schemas.openxmlformats.org/drawingml/2006/main">
              <a:ext uri="{FF2B5EF4-FFF2-40B4-BE49-F238E27FC236}">
                <a16:creationId xmlns:a16="http://schemas.microsoft.com/office/drawing/2014/main" id="{80AACE5B-5890-44CA-BEE6-3C488D6E05F9}"/>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ef1b6710095d47d3"/>
              </a:rPr>
              <a:t>웹 실습 열기</a:t>
            </a:r>
          </a:p>
        </p:txBody>
      </p:sp>
      <p:sp>
        <p:nvSpPr>
          <p:cNvPr id="7" name="16">
            <a:extLst xmlns:a="http://schemas.openxmlformats.org/drawingml/2006/main">
              <a:ext uri="{FF2B5EF4-FFF2-40B4-BE49-F238E27FC236}">
                <a16:creationId xmlns:a16="http://schemas.microsoft.com/office/drawing/2014/main" id="{486C215D-5060-4801-9BDD-D7752FA071B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16</a:t>
            </a:r>
          </a:p>
        </p:txBody>
      </p:sp>
    </p:spTree>
    <p:extLst>
      <p:ext uri="{BB962C8B-B14F-4D97-AF65-F5344CB8AC3E}">
        <p14:creationId xmlns:p14="http://schemas.microsoft.com/office/powerpoint/2010/main" val="110518881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다음 주 업무회의용 인계표">
            <a:extLst xmlns:a="http://schemas.openxmlformats.org/drawingml/2006/main">
              <a:ext uri="{FF2B5EF4-FFF2-40B4-BE49-F238E27FC236}">
                <a16:creationId xmlns:a16="http://schemas.microsoft.com/office/drawing/2014/main" id="{B3D0B2A8-C2AF-4B32-8388-B741F711968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다음 주 업무회의용 인계표</a:t>
            </a:r>
          </a:p>
        </p:txBody>
      </p:sp>
      <p:sp>
        <p:nvSpPr>
          <p:cNvPr id="2" name="4분">
            <a:extLst xmlns:a="http://schemas.openxmlformats.org/drawingml/2006/main">
              <a:ext uri="{FF2B5EF4-FFF2-40B4-BE49-F238E27FC236}">
                <a16:creationId xmlns:a16="http://schemas.microsoft.com/office/drawing/2014/main" id="{0D6EFC2D-E664-401E-B587-9DA0B13E34C5}"/>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회의 원문을 새 대화에 넣어 최종 결정과 후속 업무">
            <a:extLst xmlns:a="http://schemas.openxmlformats.org/drawingml/2006/main">
              <a:ext uri="{FF2B5EF4-FFF2-40B4-BE49-F238E27FC236}">
                <a16:creationId xmlns:a16="http://schemas.microsoft.com/office/drawing/2014/main" id="{DED1F28F-912E-4779-884F-5ADDF28C89BB}"/>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회의 원문을 새 대화에 넣어 최종 결정과 후속 업무를 정리합니다.</a:t>
            </a:r>
          </a:p>
        </p:txBody>
      </p:sp>
      <p:sp>
        <p:nvSpPr>
          <p:cNvPr id="4" name="">
            <a:extLst xmlns:a="http://schemas.openxmlformats.org/drawingml/2006/main">
              <a:ext uri="{FF2B5EF4-FFF2-40B4-BE49-F238E27FC236}">
                <a16:creationId xmlns:a16="http://schemas.microsoft.com/office/drawing/2014/main" id="{3E202420-6642-4CD3-B8D4-1A36A832D34E}"/>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결정은 주제별로 6개 이내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보류·미승인·담당 미정은 별도 목록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업무마다 담당, 마감일, 선행 확인과 발언 시각</a:t>
            </a:r>
          </a:p>
        </p:txBody>
      </p:sp>
      <p:sp>
        <p:nvSpPr>
          <p:cNvPr id="5" name="남길 결과">
            <a:extLst xmlns:a="http://schemas.openxmlformats.org/drawingml/2006/main">
              <a:ext uri="{FF2B5EF4-FFF2-40B4-BE49-F238E27FC236}">
                <a16:creationId xmlns:a16="http://schemas.microsoft.com/office/drawing/2014/main" id="{8EA22A43-7908-40A3-A434-DBEB3CF94DAD}"/>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후속 업무표와 정정 전후 기록">
            <a:extLst xmlns:a="http://schemas.openxmlformats.org/drawingml/2006/main">
              <a:ext uri="{FF2B5EF4-FFF2-40B4-BE49-F238E27FC236}">
                <a16:creationId xmlns:a16="http://schemas.microsoft.com/office/drawing/2014/main" id="{D5ADEB10-C52A-42A4-AF7F-84D117E0E8DD}"/>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후속 업무표와 정정 전후 기록</a:t>
            </a:r>
          </a:p>
        </p:txBody>
      </p:sp>
      <p:sp>
        <p:nvSpPr>
          <p:cNvPr id="7" name="40–44분">
            <a:extLst xmlns:a="http://schemas.openxmlformats.org/drawingml/2006/main">
              <a:ext uri="{FF2B5EF4-FFF2-40B4-BE49-F238E27FC236}">
                <a16:creationId xmlns:a16="http://schemas.microsoft.com/office/drawing/2014/main" id="{368C2E97-ED00-42D0-8BED-E42C364F816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40–44분</a:t>
            </a:r>
          </a:p>
        </p:txBody>
      </p:sp>
      <p:sp>
        <p:nvSpPr>
          <p:cNvPr id="8" name="웹 실습 열기">
            <a:extLst xmlns:a="http://schemas.openxmlformats.org/drawingml/2006/main">
              <a:ext uri="{FF2B5EF4-FFF2-40B4-BE49-F238E27FC236}">
                <a16:creationId xmlns:a16="http://schemas.microsoft.com/office/drawing/2014/main" id="{629F5F33-84F9-4C0E-AB61-4AF0D5D986B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c9125b87f6c40fb"/>
              </a:rPr>
              <a:t>웹 실습 열기</a:t>
            </a:r>
          </a:p>
        </p:txBody>
      </p:sp>
      <p:sp>
        <p:nvSpPr>
          <p:cNvPr id="9" name="17">
            <a:extLst xmlns:a="http://schemas.openxmlformats.org/drawingml/2006/main">
              <a:ext uri="{FF2B5EF4-FFF2-40B4-BE49-F238E27FC236}">
                <a16:creationId xmlns:a16="http://schemas.microsoft.com/office/drawing/2014/main" id="{9A78F770-DB70-4EBF-97F1-1B92AAEF1D5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17</a:t>
            </a:r>
          </a:p>
        </p:txBody>
      </p:sp>
    </p:spTree>
    <p:extLst>
      <p:ext uri="{BB962C8B-B14F-4D97-AF65-F5344CB8AC3E}">
        <p14:creationId xmlns:p14="http://schemas.microsoft.com/office/powerpoint/2010/main" val="2002929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회의 후속 업무 9건">
            <a:extLst xmlns:a="http://schemas.openxmlformats.org/drawingml/2006/main">
              <a:ext uri="{FF2B5EF4-FFF2-40B4-BE49-F238E27FC236}">
                <a16:creationId xmlns:a16="http://schemas.microsoft.com/office/drawing/2014/main" id="{5791886F-5D8D-416D-B054-8CBDC9F226D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회의 후속 업무 9건</a:t>
            </a:r>
          </a:p>
        </p:txBody>
      </p:sp>
      <p:graphicFrame>
        <p:nvGraphicFramePr>
          <p:cNvPr id="8" name=""/>
          <p:cNvGraphicFramePr/>
          <p:nvPr/>
        </p:nvGraphicFramePr>
        <p:xfrm>
          <a:off xmlns:a="http://schemas.openxmlformats.org/drawingml/2006/main" x="685800" y="1543050"/>
          <a:ext xmlns:a="http://schemas.openxmlformats.org/drawingml/2006/main" cx="10820400" cy="4476750"/>
        </p:xfrm>
        <a:graphic xmlns:a="http://schemas.openxmlformats.org/drawingml/2006/main">
          <a:graphicData uri="http://schemas.openxmlformats.org/drawingml/2006/table">
            <a:tbl>
              <a:tblPr firstRow="1" bandRow="0"/>
              <a:tblGrid>
                <a:gridCol w="4857750"/>
                <a:gridCol w="1714500"/>
                <a:gridCol w="1809750"/>
                <a:gridCol w="2381250"/>
              </a:tblGrid>
              <a:tr h="447675">
                <a:tc>
                  <a:txBody>
                    <a:bodyPr lIns="114300" tIns="66675" rIns="114300" bIns="57150">
                      <a:noAutofit/>
                    </a:bodyPr>
                    <a:lstStyle/>
                    <a:p>
                      <a:pPr algn="l"/>
                      <a:r>
                        <a:rPr sz="1800" b="1">
                          <a:solidFill>
                            <a:srgbClr val="FFFFFF"/>
                          </a:solidFill>
                          <a:latin typeface="Malgun Gothic"/>
                          <a:ea typeface="Malgun Gothic"/>
                          <a:cs typeface="Malgun Gothic"/>
                        </a:rPr>
                        <a:t>업무</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담당</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마감</a:t>
                      </a:r>
                    </a:p>
                  </a:txBody>
                  <a:tcPr marL="91440" marR="91440" marT="45720" marB="45720" anchor="ctr">
                    <a:solidFill>
                      <a:srgbClr val="6B43C7"/>
                    </a:solidFill>
                  </a:tcPr>
                </a:tc>
                <a:tc>
                  <a:txBody>
                    <a:bodyPr lIns="114300" tIns="66675" rIns="114300" bIns="57150">
                      <a:noAutofit/>
                    </a:bodyPr>
                    <a:lstStyle/>
                    <a:p>
                      <a:pPr algn="l"/>
                      <a:r>
                        <a:rPr sz="1800" b="1">
                          <a:solidFill>
                            <a:srgbClr val="FFFFFF"/>
                          </a:solidFill>
                          <a:latin typeface="Malgun Gothic"/>
                          <a:ea typeface="Malgun Gothic"/>
                          <a:cs typeface="Malgun Gothic"/>
                        </a:rPr>
                        <a:t>발언</a:t>
                      </a:r>
                    </a:p>
                  </a:txBody>
                  <a:tcPr marL="91440" marR="91440" marT="45720" marB="45720" anchor="ctr">
                    <a:solidFill>
                      <a:srgbClr val="6B43C7"/>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참가 안내문 정리</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운영</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10/19</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14:37</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가상 실습 자료 완성</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10/21</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14:20</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수정 예산표 공유</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행정</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10/23</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14:29</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201호 전원·무선망 점검</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시설</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10/20</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14:33</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로그인·사용량 안내 작성</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10/22</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14:41</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캡처·오프라인 자료 확인</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보조진행</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10/27</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14:49</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최종 명단·대기 순서 정리</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운영</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10/26</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14:53</a:t>
                      </a:r>
                    </a:p>
                  </a:txBody>
                  <a:tcPr marL="91440" marR="91440" marT="45720" marB="45720" anchor="ctr">
                    <a:solidFill>
                      <a:srgbClr val="FFFFFF"/>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대여 장비 예약 확인</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행정</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10/23</a:t>
                      </a:r>
                    </a:p>
                  </a:txBody>
                  <a:tcPr marL="91440" marR="91440" marT="45720" marB="45720" anchor="ctr">
                    <a:solidFill>
                      <a:srgbClr val="F5F2FC"/>
                    </a:solidFill>
                  </a:tcPr>
                </a:tc>
                <a:tc>
                  <a:txBody>
                    <a:bodyPr lIns="114300" tIns="66675" rIns="114300" bIns="57150">
                      <a:noAutofit/>
                    </a:bodyPr>
                    <a:lstStyle/>
                    <a:p>
                      <a:pPr algn="l"/>
                      <a:r>
                        <a:rPr sz="1800" b="0">
                          <a:solidFill>
                            <a:srgbClr val="20212A"/>
                          </a:solidFill>
                          <a:latin typeface="Malgun Gothic"/>
                          <a:ea typeface="Malgun Gothic"/>
                          <a:cs typeface="Malgun Gothic"/>
                        </a:rPr>
                        <a:t>14:57</a:t>
                      </a:r>
                    </a:p>
                  </a:txBody>
                  <a:tcPr marL="91440" marR="91440" marT="45720" marB="45720" anchor="ctr">
                    <a:solidFill>
                      <a:srgbClr val="F5F2FC"/>
                    </a:solidFill>
                  </a:tcPr>
                </a:tc>
              </a:tr>
              <a:tr h="447675">
                <a:tc>
                  <a:txBody>
                    <a:bodyPr lIns="114300" tIns="66675" rIns="114300" bIns="57150">
                      <a:noAutofit/>
                    </a:bodyPr>
                    <a:lstStyle/>
                    <a:p>
                      <a:pPr algn="l"/>
                      <a:r>
                        <a:rPr sz="1800" b="0">
                          <a:solidFill>
                            <a:srgbClr val="20212A"/>
                          </a:solidFill>
                          <a:latin typeface="Malgun Gothic"/>
                          <a:ea typeface="Malgun Gothic"/>
                          <a:cs typeface="Malgun Gothic"/>
                        </a:rPr>
                        <a:t>설문 초안 작성</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교육</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10/26</a:t>
                      </a:r>
                    </a:p>
                  </a:txBody>
                  <a:tcPr marL="91440" marR="91440" marT="45720" marB="45720" anchor="ctr">
                    <a:solidFill>
                      <a:srgbClr val="FFFFFF"/>
                    </a:solidFill>
                  </a:tcPr>
                </a:tc>
                <a:tc>
                  <a:txBody>
                    <a:bodyPr lIns="114300" tIns="66675" rIns="114300" bIns="57150">
                      <a:noAutofit/>
                    </a:bodyPr>
                    <a:lstStyle/>
                    <a:p>
                      <a:pPr algn="l"/>
                      <a:r>
                        <a:rPr sz="1800" b="0">
                          <a:solidFill>
                            <a:srgbClr val="20212A"/>
                          </a:solidFill>
                          <a:latin typeface="Malgun Gothic"/>
                          <a:ea typeface="Malgun Gothic"/>
                          <a:cs typeface="Malgun Gothic"/>
                        </a:rPr>
                        <a:t>15:11</a:t>
                      </a:r>
                    </a:p>
                  </a:txBody>
                  <a:tcPr marL="91440" marR="91440" marT="45720" marB="45720" anchor="ctr">
                    <a:solidFill>
                      <a:srgbClr val="FFFFFF"/>
                    </a:solidFill>
                  </a:tcPr>
                </a:tc>
              </a:tr>
            </a:tbl>
          </a:graphicData>
        </a:graphic>
      </p:graphicFrame>
      <p:sp>
        <p:nvSpPr>
          <p:cNvPr id="3" name="2026년의 마감일입니다. 모두 앞으로 할 일이며 ">
            <a:extLst xmlns:a="http://schemas.openxmlformats.org/drawingml/2006/main">
              <a:ext uri="{FF2B5EF4-FFF2-40B4-BE49-F238E27FC236}">
                <a16:creationId xmlns:a16="http://schemas.microsoft.com/office/drawing/2014/main" id="{54BE2405-6CF7-418E-8CEB-62FE15C452D7}"/>
              </a:ext>
            </a:extLst>
          </p:cNvPr>
          <p:cNvSpPr>
            <a:spLocks xmlns:a="http://schemas.openxmlformats.org/drawingml/2006/main" noGrp="1"/>
          </p:cNvSpPr>
          <p:nvPr/>
        </p:nvSpPr>
        <p:spPr>
          <a:xfrm xmlns:a="http://schemas.openxmlformats.org/drawingml/2006/main">
            <a:off x="685800" y="61341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2026년의 마감일입니다. 모두 앞으로 할 일이며 완료 기록은 아닙니다.</a:t>
            </a:r>
          </a:p>
        </p:txBody>
      </p:sp>
      <p:sp>
        <p:nvSpPr>
          <p:cNvPr id="4" name="44–48분">
            <a:extLst xmlns:a="http://schemas.openxmlformats.org/drawingml/2006/main">
              <a:ext uri="{FF2B5EF4-FFF2-40B4-BE49-F238E27FC236}">
                <a16:creationId xmlns:a16="http://schemas.microsoft.com/office/drawing/2014/main" id="{D72FA173-0C3A-4717-8715-C9F99126C6F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44–48분</a:t>
            </a:r>
          </a:p>
        </p:txBody>
      </p:sp>
      <p:sp>
        <p:nvSpPr>
          <p:cNvPr id="5" name="웹 실습 열기">
            <a:extLst xmlns:a="http://schemas.openxmlformats.org/drawingml/2006/main">
              <a:ext uri="{FF2B5EF4-FFF2-40B4-BE49-F238E27FC236}">
                <a16:creationId xmlns:a16="http://schemas.microsoft.com/office/drawing/2014/main" id="{23AB7EE2-EDDF-4110-9FFC-567A259D9CB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a14b5f435d840f6"/>
              </a:rPr>
              <a:t>웹 실습 열기</a:t>
            </a:r>
          </a:p>
        </p:txBody>
      </p:sp>
      <p:sp>
        <p:nvSpPr>
          <p:cNvPr id="6" name="18">
            <a:extLst xmlns:a="http://schemas.openxmlformats.org/drawingml/2006/main">
              <a:ext uri="{FF2B5EF4-FFF2-40B4-BE49-F238E27FC236}">
                <a16:creationId xmlns:a16="http://schemas.microsoft.com/office/drawing/2014/main" id="{DA47E48A-4ED2-47CF-A9CC-7D5B7E54A69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18</a:t>
            </a:r>
          </a:p>
        </p:txBody>
      </p:sp>
    </p:spTree>
    <p:extLst>
      <p:ext uri="{BB962C8B-B14F-4D97-AF65-F5344CB8AC3E}">
        <p14:creationId xmlns:p14="http://schemas.microsoft.com/office/powerpoint/2010/main" val="16684009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정·보류·완료의 구분">
            <a:extLst xmlns:a="http://schemas.openxmlformats.org/drawingml/2006/main">
              <a:ext uri="{FF2B5EF4-FFF2-40B4-BE49-F238E27FC236}">
                <a16:creationId xmlns:a16="http://schemas.microsoft.com/office/drawing/2014/main" id="{D78711C0-807F-4238-B41C-1DF10D076EA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결정·보류·완료의 구분</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5429250"/>
                <a:gridCol w="5334000"/>
              </a:tblGrid>
              <a:tr h="590550">
                <a:tc>
                  <a:txBody>
                    <a:bodyPr lIns="114300" tIns="66675" rIns="114300" bIns="57150">
                      <a:noAutofit/>
                    </a:bodyPr>
                    <a:lstStyle/>
                    <a:p>
                      <a:pPr algn="l"/>
                      <a:r>
                        <a:rPr sz="1875" b="1">
                          <a:solidFill>
                            <a:srgbClr val="FFFFFF"/>
                          </a:solidFill>
                          <a:latin typeface="Malgun Gothic"/>
                          <a:ea typeface="Malgun Gothic"/>
                          <a:cs typeface="Malgun Gothic"/>
                        </a:rPr>
                        <a:t>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회의가 끝난 시점의 상태</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201호, 30명, 참가비 무료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운영 조건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준비 예산 845,000원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준비하기로 결정, 지급 완료는 아님</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 제공, 사진 촬영·공개, 주차 안내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보류. 담당과 기한 미배정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정원 40명, 예비비·통신장치 비용</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채택하지 않은 제안</a:t>
                      </a:r>
                    </a:p>
                  </a:txBody>
                  <a:tcPr marL="91440" marR="91440" marT="45720" marB="45720" anchor="ctr">
                    <a:solidFill>
                      <a:srgbClr val="F5F2FC"/>
                    </a:solidFill>
                  </a:tcPr>
                </a:tc>
              </a:tr>
            </a:tbl>
          </a:graphicData>
        </a:graphic>
      </p:graphicFrame>
      <p:sp>
        <p:nvSpPr>
          <p:cNvPr id="3" name="짝에게 정정 한 건과 보류 한 건을 설명합니다.">
            <a:extLst xmlns:a="http://schemas.openxmlformats.org/drawingml/2006/main">
              <a:ext uri="{FF2B5EF4-FFF2-40B4-BE49-F238E27FC236}">
                <a16:creationId xmlns:a16="http://schemas.microsoft.com/office/drawing/2014/main" id="{68FBD2F4-BC9B-4763-89BC-74A88CD52D86}"/>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짝에게 정정 한 건과 보류 한 건을 설명합니다.</a:t>
            </a:r>
          </a:p>
        </p:txBody>
      </p:sp>
      <p:sp>
        <p:nvSpPr>
          <p:cNvPr id="4" name="48–51분">
            <a:extLst xmlns:a="http://schemas.openxmlformats.org/drawingml/2006/main">
              <a:ext uri="{FF2B5EF4-FFF2-40B4-BE49-F238E27FC236}">
                <a16:creationId xmlns:a16="http://schemas.microsoft.com/office/drawing/2014/main" id="{A252279C-FBB4-4C6E-97DB-C2056C362F5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48–51분</a:t>
            </a:r>
          </a:p>
        </p:txBody>
      </p:sp>
      <p:sp>
        <p:nvSpPr>
          <p:cNvPr id="5" name="웹 실습 열기">
            <a:extLst xmlns:a="http://schemas.openxmlformats.org/drawingml/2006/main">
              <a:ext uri="{FF2B5EF4-FFF2-40B4-BE49-F238E27FC236}">
                <a16:creationId xmlns:a16="http://schemas.microsoft.com/office/drawing/2014/main" id="{B1B4BBDB-2E30-46B3-BF4C-6852E9FEFDF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99594e342bc4515"/>
              </a:rPr>
              <a:t>웹 실습 열기</a:t>
            </a:r>
          </a:p>
        </p:txBody>
      </p:sp>
      <p:sp>
        <p:nvSpPr>
          <p:cNvPr id="6" name="19">
            <a:extLst xmlns:a="http://schemas.openxmlformats.org/drawingml/2006/main">
              <a:ext uri="{FF2B5EF4-FFF2-40B4-BE49-F238E27FC236}">
                <a16:creationId xmlns:a16="http://schemas.microsoft.com/office/drawing/2014/main" id="{0692F292-290C-422F-A03E-6764599EDDA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19</a:t>
            </a:r>
          </a:p>
        </p:txBody>
      </p:sp>
    </p:spTree>
    <p:extLst>
      <p:ext uri="{BB962C8B-B14F-4D97-AF65-F5344CB8AC3E}">
        <p14:creationId xmlns:p14="http://schemas.microsoft.com/office/powerpoint/2010/main" val="57905243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구매 요청 24행의 검토">
            <a:extLst xmlns:a="http://schemas.openxmlformats.org/drawingml/2006/main">
              <a:ext uri="{FF2B5EF4-FFF2-40B4-BE49-F238E27FC236}">
                <a16:creationId xmlns:a16="http://schemas.microsoft.com/office/drawing/2014/main" id="{93729C70-3C51-4160-9D60-EC5334287DA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구매 요청 24행의 검토</a:t>
            </a:r>
          </a:p>
        </p:txBody>
      </p:sp>
      <p:graphicFrame>
        <p:nvGraphicFramePr>
          <p:cNvPr id="8" name=""/>
          <p:cNvGraphicFramePr/>
          <p:nvPr/>
        </p:nvGraphicFramePr>
        <p:xfrm>
          <a:off xmlns:a="http://schemas.openxmlformats.org/drawingml/2006/main" x="685800" y="1543050"/>
          <a:ext xmlns:a="http://schemas.openxmlformats.org/drawingml/2006/main" cx="10820400" cy="3543300"/>
        </p:xfrm>
        <a:graphic xmlns:a="http://schemas.openxmlformats.org/drawingml/2006/main">
          <a:graphicData uri="http://schemas.openxmlformats.org/drawingml/2006/table">
            <a:tbl>
              <a:tblPr firstRow="1" bandRow="0"/>
              <a:tblGrid>
                <a:gridCol w="1619250"/>
                <a:gridCol w="5143500"/>
                <a:gridCol w="4000500"/>
              </a:tblGrid>
              <a:tr h="590550">
                <a:tc>
                  <a:txBody>
                    <a:bodyPr lIns="114300" tIns="66675" rIns="114300" bIns="57150">
                      <a:noAutofit/>
                    </a:bodyPr>
                    <a:lstStyle/>
                    <a:p>
                      <a:pPr algn="l"/>
                      <a:r>
                        <a:rPr sz="1875" b="1">
                          <a:solidFill>
                            <a:srgbClr val="FFFFFF"/>
                          </a:solidFill>
                          <a:latin typeface="Malgun Gothic"/>
                          <a:ea typeface="Malgun Gothic"/>
                          <a:cs typeface="Malgun Gothic"/>
                        </a:rPr>
                        <a:t>행 ID</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기재 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함께 볼 기록</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A06</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장비대여 2개 × 25,000원 / 60,000원 기재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AP-A-1016</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B04</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다과 40개 / 최초 단가 6,000원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승인 단가 5,500원</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B07·B08</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현수막과 “추가 전달분”</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같은 견적을 다시 전달</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C05</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제본교재 24권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제본교재만 취소, 인쇄·배송 유지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C09</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사진기록 견적 80,000원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승인 대기</a:t>
                      </a:r>
                    </a:p>
                  </a:txBody>
                  <a:tcPr marL="91440" marR="91440" marT="45720" marB="45720" anchor="ctr">
                    <a:solidFill>
                      <a:srgbClr val="FFFFFF"/>
                    </a:solidFill>
                  </a:tcPr>
                </a:tc>
              </a:tr>
            </a:tbl>
          </a:graphicData>
        </a:graphic>
      </p:graphicFrame>
      <p:sp>
        <p:nvSpPr>
          <p:cNvPr id="3" name="가상 구매 요청 중 일부 발췌. 전체 24행은 웹 ">
            <a:extLst xmlns:a="http://schemas.openxmlformats.org/drawingml/2006/main">
              <a:ext uri="{FF2B5EF4-FFF2-40B4-BE49-F238E27FC236}">
                <a16:creationId xmlns:a16="http://schemas.microsoft.com/office/drawing/2014/main" id="{1C48AC0B-21CD-452D-9807-795A2D3ADBF4}"/>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가상 구매 요청 중 일부 발췌. 전체 24행은 웹 질문과 13번 원자료에 있습니다.</a:t>
            </a:r>
          </a:p>
        </p:txBody>
      </p:sp>
      <p:sp>
        <p:nvSpPr>
          <p:cNvPr id="4" name="51–54분">
            <a:extLst xmlns:a="http://schemas.openxmlformats.org/drawingml/2006/main">
              <a:ext uri="{FF2B5EF4-FFF2-40B4-BE49-F238E27FC236}">
                <a16:creationId xmlns:a16="http://schemas.microsoft.com/office/drawing/2014/main" id="{9C133430-E63E-46D2-A328-C46E3E22B25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51–54분</a:t>
            </a:r>
          </a:p>
        </p:txBody>
      </p:sp>
      <p:sp>
        <p:nvSpPr>
          <p:cNvPr id="5" name="웹 실습 열기">
            <a:extLst xmlns:a="http://schemas.openxmlformats.org/drawingml/2006/main">
              <a:ext uri="{FF2B5EF4-FFF2-40B4-BE49-F238E27FC236}">
                <a16:creationId xmlns:a16="http://schemas.microsoft.com/office/drawing/2014/main" id="{A0A71965-D4F6-4E65-B98F-CC6389482030}"/>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f2b8b248779430f"/>
              </a:rPr>
              <a:t>웹 실습 열기</a:t>
            </a:r>
          </a:p>
        </p:txBody>
      </p:sp>
      <p:sp>
        <p:nvSpPr>
          <p:cNvPr id="6" name="20">
            <a:extLst xmlns:a="http://schemas.openxmlformats.org/drawingml/2006/main">
              <a:ext uri="{FF2B5EF4-FFF2-40B4-BE49-F238E27FC236}">
                <a16:creationId xmlns:a16="http://schemas.microsoft.com/office/drawing/2014/main" id="{11DC6779-A0E5-49E7-BBA3-3BB5BA486D8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20</a:t>
            </a:r>
          </a:p>
        </p:txBody>
      </p:sp>
    </p:spTree>
    <p:extLst>
      <p:ext uri="{BB962C8B-B14F-4D97-AF65-F5344CB8AC3E}">
        <p14:creationId xmlns:p14="http://schemas.microsoft.com/office/powerpoint/2010/main" val="25028009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세 가지 합계의 의미">
            <a:extLst xmlns:a="http://schemas.openxmlformats.org/drawingml/2006/main">
              <a:ext uri="{FF2B5EF4-FFF2-40B4-BE49-F238E27FC236}">
                <a16:creationId xmlns:a16="http://schemas.microsoft.com/office/drawing/2014/main" id="{37AB728D-A82C-47BE-BB6E-A0F0152A982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세 가지 합계의 의미</a:t>
            </a:r>
          </a:p>
        </p:txBody>
      </p:sp>
      <p:sp>
        <p:nvSpPr>
          <p:cNvPr id="2" name="4분">
            <a:extLst xmlns:a="http://schemas.openxmlformats.org/drawingml/2006/main">
              <a:ext uri="{FF2B5EF4-FFF2-40B4-BE49-F238E27FC236}">
                <a16:creationId xmlns:a16="http://schemas.microsoft.com/office/drawing/2014/main" id="{F81A5CC7-37BA-4765-8761-F92289CE59D1}"/>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24행 검토 질문을 전송하고 합계의 이름과 적용 규">
            <a:extLst xmlns:a="http://schemas.openxmlformats.org/drawingml/2006/main">
              <a:ext uri="{FF2B5EF4-FFF2-40B4-BE49-F238E27FC236}">
                <a16:creationId xmlns:a16="http://schemas.microsoft.com/office/drawing/2014/main" id="{061C3538-5A0E-4546-9D11-E8AC7A6A813B}"/>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24행 검토 질문을 전송하고 합계의 이름과 적용 규칙을 확인합니다.</a:t>
            </a:r>
          </a:p>
        </p:txBody>
      </p:sp>
      <p:sp>
        <p:nvSpPr>
          <p:cNvPr id="4" name="">
            <a:extLst xmlns:a="http://schemas.openxmlformats.org/drawingml/2006/main">
              <a:ext uri="{FF2B5EF4-FFF2-40B4-BE49-F238E27FC236}">
                <a16:creationId xmlns:a16="http://schemas.microsoft.com/office/drawing/2014/main" id="{4E5F5CD4-E7EE-49B3-8D5E-F80F0C462879}"/>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기재금액을 그대로 더한 합계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원표 수량과 원표 단가로 곱한 합계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승인 단가·중복·취소·승인 대기를 반영한 합계</a:t>
            </a:r>
          </a:p>
        </p:txBody>
      </p:sp>
      <p:sp>
        <p:nvSpPr>
          <p:cNvPr id="5" name="남길 결과">
            <a:extLst xmlns:a="http://schemas.openxmlformats.org/drawingml/2006/main">
              <a:ext uri="{FF2B5EF4-FFF2-40B4-BE49-F238E27FC236}">
                <a16:creationId xmlns:a16="http://schemas.microsoft.com/office/drawing/2014/main" id="{215D4C04-64C3-4830-816D-B800B69D36E1}"/>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24행 검토표, 행사별 합계, 보완 요청문">
            <a:extLst xmlns:a="http://schemas.openxmlformats.org/drawingml/2006/main">
              <a:ext uri="{FF2B5EF4-FFF2-40B4-BE49-F238E27FC236}">
                <a16:creationId xmlns:a16="http://schemas.microsoft.com/office/drawing/2014/main" id="{AD96370E-14CE-4261-8EA3-B0A7CF974202}"/>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24행 검토표, 행사별 합계, 보완 요청문</a:t>
            </a:r>
          </a:p>
        </p:txBody>
      </p:sp>
      <p:sp>
        <p:nvSpPr>
          <p:cNvPr id="7" name="54–58분">
            <a:extLst xmlns:a="http://schemas.openxmlformats.org/drawingml/2006/main">
              <a:ext uri="{FF2B5EF4-FFF2-40B4-BE49-F238E27FC236}">
                <a16:creationId xmlns:a16="http://schemas.microsoft.com/office/drawing/2014/main" id="{7AAEDC85-7AE1-49F4-856D-561387D49DC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54–58분</a:t>
            </a:r>
          </a:p>
        </p:txBody>
      </p:sp>
      <p:sp>
        <p:nvSpPr>
          <p:cNvPr id="8" name="웹 실습 열기">
            <a:extLst xmlns:a="http://schemas.openxmlformats.org/drawingml/2006/main">
              <a:ext uri="{FF2B5EF4-FFF2-40B4-BE49-F238E27FC236}">
                <a16:creationId xmlns:a16="http://schemas.microsoft.com/office/drawing/2014/main" id="{3E6597FF-B739-4FA2-A55D-9A9082F9676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c18a690954c47aa"/>
              </a:rPr>
              <a:t>웹 실습 열기</a:t>
            </a:r>
          </a:p>
        </p:txBody>
      </p:sp>
      <p:sp>
        <p:nvSpPr>
          <p:cNvPr id="9" name="21">
            <a:extLst xmlns:a="http://schemas.openxmlformats.org/drawingml/2006/main">
              <a:ext uri="{FF2B5EF4-FFF2-40B4-BE49-F238E27FC236}">
                <a16:creationId xmlns:a16="http://schemas.microsoft.com/office/drawing/2014/main" id="{2FDCAE45-129D-4479-AE4C-0508B8485F9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21</a:t>
            </a:r>
          </a:p>
        </p:txBody>
      </p:sp>
    </p:spTree>
    <p:extLst>
      <p:ext uri="{BB962C8B-B14F-4D97-AF65-F5344CB8AC3E}">
        <p14:creationId xmlns:p14="http://schemas.microsoft.com/office/powerpoint/2010/main" val="85229036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행사별 한도까지 확인한 결과">
            <a:extLst xmlns:a="http://schemas.openxmlformats.org/drawingml/2006/main">
              <a:ext uri="{FF2B5EF4-FFF2-40B4-BE49-F238E27FC236}">
                <a16:creationId xmlns:a16="http://schemas.microsoft.com/office/drawing/2014/main" id="{06DC9A11-7457-4C81-9992-4C5A7661840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행사별 한도까지 확인한 결과</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1428750"/>
                <a:gridCol w="3048000"/>
                <a:gridCol w="2952750"/>
                <a:gridCol w="3333750"/>
              </a:tblGrid>
              <a:tr h="590550">
                <a:tc>
                  <a:txBody>
                    <a:bodyPr lIns="114300" tIns="66675" rIns="114300" bIns="57150">
                      <a:noAutofit/>
                    </a:bodyPr>
                    <a:lstStyle/>
                    <a:p>
                      <a:pPr algn="l"/>
                      <a:r>
                        <a:rPr sz="1875" b="1">
                          <a:solidFill>
                            <a:srgbClr val="FFFFFF"/>
                          </a:solidFill>
                          <a:latin typeface="Malgun Gothic"/>
                          <a:ea typeface="Malgun Gothic"/>
                          <a:cs typeface="Malgun Gothic"/>
                        </a:rPr>
                        <a:t>행사</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지급 검토액(원)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예산 한도(원)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남는 금액·초과</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A</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0원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B</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961,000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950,000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11,000원 초과</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C</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724,000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900,000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176,000원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전체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2,530,000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2,695,000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잔액 165,000원</a:t>
                      </a:r>
                    </a:p>
                  </a:txBody>
                  <a:tcPr marL="91440" marR="91440" marT="45720" marB="45720" anchor="ctr">
                    <a:solidFill>
                      <a:srgbClr val="F5F2FC"/>
                    </a:solidFill>
                  </a:tcPr>
                </a:tc>
              </a:tr>
            </a:tbl>
          </a:graphicData>
        </a:graphic>
      </p:graphicFrame>
      <p:sp>
        <p:nvSpPr>
          <p:cNvPr id="3" name="기재 합계 2,882,000원 / 단순 곱셈 검산 ">
            <a:extLst xmlns:a="http://schemas.openxmlformats.org/drawingml/2006/main">
              <a:ext uri="{FF2B5EF4-FFF2-40B4-BE49-F238E27FC236}">
                <a16:creationId xmlns:a16="http://schemas.microsoft.com/office/drawing/2014/main" id="{3DE24F79-0171-4DA3-B8F1-1067C75E0E43}"/>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기재 합계 2,882,000원 / 단순 곱셈 검산 2,867,000원. 전체 잔액이 있어도 B의 초과는 별도 승인 확인이 필요합니다.</a:t>
            </a:r>
          </a:p>
        </p:txBody>
      </p:sp>
      <p:sp>
        <p:nvSpPr>
          <p:cNvPr id="4" name="58–65분">
            <a:extLst xmlns:a="http://schemas.openxmlformats.org/drawingml/2006/main">
              <a:ext uri="{FF2B5EF4-FFF2-40B4-BE49-F238E27FC236}">
                <a16:creationId xmlns:a16="http://schemas.microsoft.com/office/drawing/2014/main" id="{A6BD1A06-EAA2-450A-B62E-AE1B606E2FB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58–65분</a:t>
            </a:r>
          </a:p>
        </p:txBody>
      </p:sp>
      <p:sp>
        <p:nvSpPr>
          <p:cNvPr id="5" name="웹 실습 열기">
            <a:extLst xmlns:a="http://schemas.openxmlformats.org/drawingml/2006/main">
              <a:ext uri="{FF2B5EF4-FFF2-40B4-BE49-F238E27FC236}">
                <a16:creationId xmlns:a16="http://schemas.microsoft.com/office/drawing/2014/main" id="{CDBE3CF8-A4D0-4BFA-B4CA-98E7CF1AB67A}"/>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bdd1f7db28f4ac0"/>
              </a:rPr>
              <a:t>웹 실습 열기</a:t>
            </a:r>
          </a:p>
        </p:txBody>
      </p:sp>
      <p:sp>
        <p:nvSpPr>
          <p:cNvPr id="6" name="22">
            <a:extLst xmlns:a="http://schemas.openxmlformats.org/drawingml/2006/main">
              <a:ext uri="{FF2B5EF4-FFF2-40B4-BE49-F238E27FC236}">
                <a16:creationId xmlns:a16="http://schemas.microsoft.com/office/drawing/2014/main" id="{AF0C0D02-4833-498F-95E6-CEE7A20959C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22</a:t>
            </a:r>
          </a:p>
        </p:txBody>
      </p:sp>
    </p:spTree>
    <p:extLst>
      <p:ext uri="{BB962C8B-B14F-4D97-AF65-F5344CB8AC3E}">
        <p14:creationId xmlns:p14="http://schemas.microsoft.com/office/powerpoint/2010/main" val="48415673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휴식">
            <a:extLst xmlns:a="http://schemas.openxmlformats.org/drawingml/2006/main">
              <a:ext uri="{FF2B5EF4-FFF2-40B4-BE49-F238E27FC236}">
                <a16:creationId xmlns:a16="http://schemas.microsoft.com/office/drawing/2014/main" id="{F7EF9285-741D-495F-AAE0-D5197BB11B0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휴식</a:t>
            </a:r>
          </a:p>
        </p:txBody>
      </p:sp>
      <p:sp>
        <p:nvSpPr>
          <p:cNvPr id="2" name="5분">
            <a:extLst xmlns:a="http://schemas.openxmlformats.org/drawingml/2006/main">
              <a:ext uri="{FF2B5EF4-FFF2-40B4-BE49-F238E27FC236}">
                <a16:creationId xmlns:a16="http://schemas.microsoft.com/office/drawing/2014/main" id="{1E4162F6-E003-4DD5-8D0A-7D70565DF957}"/>
              </a:ext>
            </a:extLst>
          </p:cNvPr>
          <p:cNvSpPr>
            <a:spLocks xmlns:a="http://schemas.openxmlformats.org/drawingml/2006/main" noGrp="1"/>
          </p:cNvSpPr>
          <p:nvPr/>
        </p:nvSpPr>
        <p:spPr>
          <a:xfrm xmlns:a="http://schemas.openxmlformats.org/drawingml/2006/main">
            <a:off x="685800" y="1695450"/>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7350" b="1">
                <a:solidFill>
                  <a:srgbClr val="6B43C7"/>
                </a:solidFill>
                <a:latin typeface="Malgun Gothic"/>
                <a:ea typeface="Malgun Gothic"/>
                <a:cs typeface="Malgun Gothic"/>
              </a:defRPr>
            </a:pPr>
            <a:r>
              <a:rPr sz="7350" b="1">
                <a:solidFill>
                  <a:srgbClr val="6B43C7"/>
                </a:solidFill>
                <a:latin typeface="Malgun Gothic"/>
                <a:ea typeface="Malgun Gothic"/>
                <a:cs typeface="Malgun Gothic"/>
              </a:rPr>
              <a:t>5분</a:t>
            </a:r>
          </a:p>
        </p:txBody>
      </p:sp>
      <p:sp>
        <p:nvSpPr>
          <p:cNvPr id="3" name="">
            <a:extLst xmlns:a="http://schemas.openxmlformats.org/drawingml/2006/main">
              <a:ext uri="{FF2B5EF4-FFF2-40B4-BE49-F238E27FC236}">
                <a16:creationId xmlns:a16="http://schemas.microsoft.com/office/drawing/2014/main" id="{E888CEE3-3961-4F87-AC92-3F3147EBB8E3}"/>
              </a:ext>
            </a:extLst>
          </p:cNvPr>
          <p:cNvSpPr>
            <a:spLocks xmlns:a="http://schemas.openxmlformats.org/drawingml/2006/main" noGrp="1"/>
          </p:cNvSpPr>
          <p:nvPr/>
        </p:nvSpPr>
        <p:spPr>
          <a:xfrm xmlns:a="http://schemas.openxmlformats.org/drawingml/2006/main">
            <a:off x="742950" y="3857625"/>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답장·회의표·구매표와 확인 메모를 저장합니다.</a:t>
            </a:r>
          </a:p>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70분부터 NotebookLM 인수인계 실습을 시작합니다.</a:t>
            </a:r>
          </a:p>
        </p:txBody>
      </p:sp>
      <p:sp>
        <p:nvSpPr>
          <p:cNvPr id="4" name="65–70분">
            <a:extLst xmlns:a="http://schemas.openxmlformats.org/drawingml/2006/main">
              <a:ext uri="{FF2B5EF4-FFF2-40B4-BE49-F238E27FC236}">
                <a16:creationId xmlns:a16="http://schemas.microsoft.com/office/drawing/2014/main" id="{2D439356-0F3E-478B-AE63-CD9DEC078C8F}"/>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65–70분</a:t>
            </a:r>
          </a:p>
        </p:txBody>
      </p:sp>
      <p:sp>
        <p:nvSpPr>
          <p:cNvPr id="5" name="웹 실습 열기">
            <a:extLst xmlns:a="http://schemas.openxmlformats.org/drawingml/2006/main">
              <a:ext uri="{FF2B5EF4-FFF2-40B4-BE49-F238E27FC236}">
                <a16:creationId xmlns:a16="http://schemas.microsoft.com/office/drawing/2014/main" id="{72222652-8620-4093-8961-9D6103A011B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38574aed99c48ca"/>
              </a:rPr>
              <a:t>웹 실습 열기</a:t>
            </a:r>
          </a:p>
        </p:txBody>
      </p:sp>
      <p:sp>
        <p:nvSpPr>
          <p:cNvPr id="6" name="23">
            <a:extLst xmlns:a="http://schemas.openxmlformats.org/drawingml/2006/main">
              <a:ext uri="{FF2B5EF4-FFF2-40B4-BE49-F238E27FC236}">
                <a16:creationId xmlns:a16="http://schemas.microsoft.com/office/drawing/2014/main" id="{1A327BE9-6216-4D0E-BF41-7FE11044417F}"/>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23</a:t>
            </a:r>
          </a:p>
        </p:txBody>
      </p:sp>
    </p:spTree>
    <p:extLst>
      <p:ext uri="{BB962C8B-B14F-4D97-AF65-F5344CB8AC3E}">
        <p14:creationId xmlns:p14="http://schemas.microsoft.com/office/powerpoint/2010/main" val="97304555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NotebookLM 인수인계 실습">
            <a:extLst xmlns:a="http://schemas.openxmlformats.org/drawingml/2006/main">
              <a:ext uri="{FF2B5EF4-FFF2-40B4-BE49-F238E27FC236}">
                <a16:creationId xmlns:a16="http://schemas.microsoft.com/office/drawing/2014/main" id="{71A8CECE-CC9A-4709-89ED-826B386A8F0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NotebookLM 인수인계 실습</a:t>
            </a:r>
          </a:p>
        </p:txBody>
      </p:sp>
      <p:sp>
        <p:nvSpPr>
          <p:cNvPr id="2" name="">
            <a:extLst xmlns:a="http://schemas.openxmlformats.org/drawingml/2006/main">
              <a:ext uri="{FF2B5EF4-FFF2-40B4-BE49-F238E27FC236}">
                <a16:creationId xmlns:a16="http://schemas.microsoft.com/office/drawing/2014/main" id="{853B5B6E-6942-432E-9F75-2251AD715674}"/>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최초 공지와 뒤에 승인된 변경을 함께 읽기</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담당자가 바뀌어도 현재 조건을 설명할 인계표 만들기</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참가자 FAQ와 문의 14건 처리표 완성</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답변의 인용을 눌러 실제 원문 두 곳 확인</a:t>
            </a:r>
          </a:p>
        </p:txBody>
      </p:sp>
      <p:sp>
        <p:nvSpPr>
          <p:cNvPr id="3" name="문서 날짜만 보지 않고 승인 범위와 처리 상태를 함">
            <a:extLst xmlns:a="http://schemas.openxmlformats.org/drawingml/2006/main">
              <a:ext uri="{FF2B5EF4-FFF2-40B4-BE49-F238E27FC236}">
                <a16:creationId xmlns:a16="http://schemas.microsoft.com/office/drawing/2014/main" id="{6A8BDB2A-D0B4-4BCE-B7AF-23CB11DC0236}"/>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문서 날짜만 보지 않고 승인 범위와 처리 상태를 함께 봅니다</a:t>
            </a:r>
          </a:p>
        </p:txBody>
      </p:sp>
      <p:sp>
        <p:nvSpPr>
          <p:cNvPr id="4" name="70–73분">
            <a:extLst xmlns:a="http://schemas.openxmlformats.org/drawingml/2006/main">
              <a:ext uri="{FF2B5EF4-FFF2-40B4-BE49-F238E27FC236}">
                <a16:creationId xmlns:a16="http://schemas.microsoft.com/office/drawing/2014/main" id="{40F27911-A861-4B2D-AEDC-BEFFC4E85E7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70–73분</a:t>
            </a:r>
          </a:p>
        </p:txBody>
      </p:sp>
      <p:sp>
        <p:nvSpPr>
          <p:cNvPr id="5" name="웹 실습 열기">
            <a:extLst xmlns:a="http://schemas.openxmlformats.org/drawingml/2006/main">
              <a:ext uri="{FF2B5EF4-FFF2-40B4-BE49-F238E27FC236}">
                <a16:creationId xmlns:a16="http://schemas.microsoft.com/office/drawing/2014/main" id="{8D778FAC-334D-4E67-8795-2C0B352475A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d9b050b854746d8"/>
              </a:rPr>
              <a:t>웹 실습 열기</a:t>
            </a:r>
          </a:p>
        </p:txBody>
      </p:sp>
      <p:sp>
        <p:nvSpPr>
          <p:cNvPr id="6" name="24">
            <a:extLst xmlns:a="http://schemas.openxmlformats.org/drawingml/2006/main">
              <a:ext uri="{FF2B5EF4-FFF2-40B4-BE49-F238E27FC236}">
                <a16:creationId xmlns:a16="http://schemas.microsoft.com/office/drawing/2014/main" id="{4C4A7DC3-281C-443A-9CD5-82765831ACA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24</a:t>
            </a:r>
          </a:p>
        </p:txBody>
      </p:sp>
    </p:spTree>
    <p:extLst>
      <p:ext uri="{BB962C8B-B14F-4D97-AF65-F5344CB8AC3E}">
        <p14:creationId xmlns:p14="http://schemas.microsoft.com/office/powerpoint/2010/main" val="96794757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인수인계 문서 네 개">
            <a:extLst xmlns:a="http://schemas.openxmlformats.org/drawingml/2006/main">
              <a:ext uri="{FF2B5EF4-FFF2-40B4-BE49-F238E27FC236}">
                <a16:creationId xmlns:a16="http://schemas.microsoft.com/office/drawing/2014/main" id="{A57549AF-ED4A-4DFF-9470-0402B86126A5}"/>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인수인계 문서 네 개</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667000"/>
                <a:gridCol w="2190750"/>
                <a:gridCol w="5905500"/>
              </a:tblGrid>
              <a:tr h="590550">
                <a:tc>
                  <a:txBody>
                    <a:bodyPr lIns="114300" tIns="66675" rIns="114300" bIns="57150">
                      <a:noAutofit/>
                    </a:bodyPr>
                    <a:lstStyle/>
                    <a:p>
                      <a:pPr algn="l"/>
                      <a:r>
                        <a:rPr sz="1875" b="1">
                          <a:solidFill>
                            <a:srgbClr val="FFFFFF"/>
                          </a:solidFill>
                          <a:latin typeface="Malgun Gothic"/>
                          <a:ea typeface="Malgun Gothic"/>
                          <a:cs typeface="Malgun Gothic"/>
                        </a:rPr>
                        <a:t>문서</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기준일</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읽을 내용</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14A 최초 안내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10/16</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행사 조건과 구 신청 마감</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14B 업무 인계</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10/20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업무별 완료·대기 상태</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14C 변경 승인</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10/22</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신청 연장 승인, 장소 제안, 대여 확보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14D 문의 목록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10/22 16:20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참가자와 내부 문의 14건</a:t>
                      </a:r>
                    </a:p>
                  </a:txBody>
                  <a:tcPr marL="91440" marR="91440" marT="45720" marB="45720" anchor="ctr">
                    <a:solidFill>
                      <a:srgbClr val="F5F2FC"/>
                    </a:solidFill>
                  </a:tcPr>
                </a:tc>
              </a:tr>
            </a:tbl>
          </a:graphicData>
        </a:graphic>
      </p:graphicFrame>
      <p:sp>
        <p:nvSpPr>
          <p:cNvPr id="3" name="17번 검토 기준과 Claude의 행사 후 자료 1">
            <a:extLst xmlns:a="http://schemas.openxmlformats.org/drawingml/2006/main">
              <a:ext uri="{FF2B5EF4-FFF2-40B4-BE49-F238E27FC236}">
                <a16:creationId xmlns:a16="http://schemas.microsoft.com/office/drawing/2014/main" id="{B63DDDE3-7DF9-45F3-ABB2-806D6F79CED4}"/>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17번 검토 기준과 Claude의 행사 후 자료 15번은 소스로 넣지 않습니다.</a:t>
            </a:r>
          </a:p>
        </p:txBody>
      </p:sp>
      <p:sp>
        <p:nvSpPr>
          <p:cNvPr id="4" name="73–77분">
            <a:extLst xmlns:a="http://schemas.openxmlformats.org/drawingml/2006/main">
              <a:ext uri="{FF2B5EF4-FFF2-40B4-BE49-F238E27FC236}">
                <a16:creationId xmlns:a16="http://schemas.microsoft.com/office/drawing/2014/main" id="{86F72AAF-888D-4124-A8FD-EBD24D467D5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73–77분</a:t>
            </a:r>
          </a:p>
        </p:txBody>
      </p:sp>
      <p:sp>
        <p:nvSpPr>
          <p:cNvPr id="5" name="웹 실습 열기">
            <a:extLst xmlns:a="http://schemas.openxmlformats.org/drawingml/2006/main">
              <a:ext uri="{FF2B5EF4-FFF2-40B4-BE49-F238E27FC236}">
                <a16:creationId xmlns:a16="http://schemas.microsoft.com/office/drawing/2014/main" id="{4F13121A-5CEA-4C5F-AC54-0A60686A733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0a558c58e97142f1"/>
              </a:rPr>
              <a:t>웹 실습 열기</a:t>
            </a:r>
          </a:p>
        </p:txBody>
      </p:sp>
      <p:sp>
        <p:nvSpPr>
          <p:cNvPr id="6" name="25">
            <a:extLst xmlns:a="http://schemas.openxmlformats.org/drawingml/2006/main">
              <a:ext uri="{FF2B5EF4-FFF2-40B4-BE49-F238E27FC236}">
                <a16:creationId xmlns:a16="http://schemas.microsoft.com/office/drawing/2014/main" id="{26136DD1-9A1E-4A97-AEE8-792137021E14}"/>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25</a:t>
            </a:r>
          </a:p>
        </p:txBody>
      </p:sp>
    </p:spTree>
    <p:extLst>
      <p:ext uri="{BB962C8B-B14F-4D97-AF65-F5344CB8AC3E}">
        <p14:creationId xmlns:p14="http://schemas.microsoft.com/office/powerpoint/2010/main" val="201621732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소스 추가와 목록 확인">
            <a:extLst xmlns:a="http://schemas.openxmlformats.org/drawingml/2006/main">
              <a:ext uri="{FF2B5EF4-FFF2-40B4-BE49-F238E27FC236}">
                <a16:creationId xmlns:a16="http://schemas.microsoft.com/office/drawing/2014/main" id="{35B47FA6-71F6-401C-BF15-DEB8019F6B85}"/>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소스 추가와 목록 확인</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a576492aa9f45b4"/>
          <a:stretch xmlns:a="http://schemas.openxmlformats.org/drawingml/2006/main"/>
        </p:blipFill>
        <p:spPr>
          <a:xfrm xmlns:a="http://schemas.openxmlformats.org/drawingml/2006/main">
            <a:off x="1046075" y="1552575"/>
            <a:ext cx="6327949"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779E831-159A-4F87-BF5A-305A519F9783}"/>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새 노트북에서 파일별로 추가</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네 파일 이름과 선택 상태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업로드가 어려우면 파일별 텍스트로 추가</a:t>
            </a:r>
          </a:p>
        </p:txBody>
      </p:sp>
      <p:sp>
        <p:nvSpPr>
          <p:cNvPr id="4" name="기본연습의 소스 추가 화면 참고. 오늘은 14A~1">
            <a:extLst xmlns:a="http://schemas.openxmlformats.org/drawingml/2006/main">
              <a:ext uri="{FF2B5EF4-FFF2-40B4-BE49-F238E27FC236}">
                <a16:creationId xmlns:a16="http://schemas.microsoft.com/office/drawing/2014/main" id="{7929DC20-216E-4519-B115-0716A13948F0}"/>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기본연습의 소스 추가 화면 참고. 오늘은 14A~14D 네 파일을 각각 넣습니다.</a:t>
            </a:r>
          </a:p>
        </p:txBody>
      </p:sp>
      <p:sp>
        <p:nvSpPr>
          <p:cNvPr id="5" name="77–80분">
            <a:extLst xmlns:a="http://schemas.openxmlformats.org/drawingml/2006/main">
              <a:ext uri="{FF2B5EF4-FFF2-40B4-BE49-F238E27FC236}">
                <a16:creationId xmlns:a16="http://schemas.microsoft.com/office/drawing/2014/main" id="{39EAC27B-1DED-4F85-ADBE-CC9EDFAB06D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77–80분</a:t>
            </a:r>
          </a:p>
        </p:txBody>
      </p:sp>
      <p:sp>
        <p:nvSpPr>
          <p:cNvPr id="6" name="웹 실습 열기">
            <a:extLst xmlns:a="http://schemas.openxmlformats.org/drawingml/2006/main">
              <a:ext uri="{FF2B5EF4-FFF2-40B4-BE49-F238E27FC236}">
                <a16:creationId xmlns:a16="http://schemas.microsoft.com/office/drawing/2014/main" id="{73FE28EA-FD6A-48C0-80DE-A9E9A4109DF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eb22b614fb944b4"/>
              </a:rPr>
              <a:t>웹 실습 열기</a:t>
            </a:r>
          </a:p>
        </p:txBody>
      </p:sp>
      <p:sp>
        <p:nvSpPr>
          <p:cNvPr id="7" name="26">
            <a:extLst xmlns:a="http://schemas.openxmlformats.org/drawingml/2006/main">
              <a:ext uri="{FF2B5EF4-FFF2-40B4-BE49-F238E27FC236}">
                <a16:creationId xmlns:a16="http://schemas.microsoft.com/office/drawing/2014/main" id="{0EADBFDE-63FB-4CBA-A574-4A7C63850B4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26</a:t>
            </a:r>
          </a:p>
        </p:txBody>
      </p:sp>
    </p:spTree>
    <p:extLst>
      <p:ext uri="{BB962C8B-B14F-4D97-AF65-F5344CB8AC3E}">
        <p14:creationId xmlns:p14="http://schemas.microsoft.com/office/powerpoint/2010/main" val="19674986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승인된 변경의 범위">
            <a:extLst xmlns:a="http://schemas.openxmlformats.org/drawingml/2006/main">
              <a:ext uri="{FF2B5EF4-FFF2-40B4-BE49-F238E27FC236}">
                <a16:creationId xmlns:a16="http://schemas.microsoft.com/office/drawing/2014/main" id="{034949F4-D4DC-4371-8C74-340B7787276E}"/>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승인된 변경의 범위</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095500"/>
                <a:gridCol w="4095750"/>
                <a:gridCol w="4572000"/>
              </a:tblGrid>
              <a:tr h="590550">
                <a:tc>
                  <a:txBody>
                    <a:bodyPr lIns="114300" tIns="66675" rIns="114300" bIns="57150">
                      <a:noAutofit/>
                    </a:bodyPr>
                    <a:lstStyle/>
                    <a:p>
                      <a:pPr algn="l"/>
                      <a:r>
                        <a:rPr sz="1875" b="1">
                          <a:solidFill>
                            <a:srgbClr val="FFFFFF"/>
                          </a:solidFill>
                          <a:latin typeface="Malgun Gothic"/>
                          <a:ea typeface="Malgun Gothic"/>
                          <a:cs typeface="Malgun Gothic"/>
                        </a:rPr>
                        <a:t>항목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최초 조건 또는 제안</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10월 22일 현재 적용</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신청 마감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23일 18:00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26일 18:00 승인 연장</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취소 통보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28일 12:00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그대로 유지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장소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201호 / 301호 제안</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301호 미승인, 201호 유지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대여 기기</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보유 노트북 사용 검토</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 승인, 개인 배정 미확정</a:t>
                      </a:r>
                    </a:p>
                  </a:txBody>
                  <a:tcPr marL="91440" marR="91440" marT="45720" marB="45720" anchor="ctr">
                    <a:solidFill>
                      <a:srgbClr val="F5F2FC"/>
                    </a:solidFill>
                  </a:tcPr>
                </a:tc>
              </a:tr>
            </a:tbl>
          </a:graphicData>
        </a:graphic>
      </p:graphicFrame>
      <p:sp>
        <p:nvSpPr>
          <p:cNvPr id="3" name="원문 C2, C2-1, C3, C4를 함께 읽습니다">
            <a:extLst xmlns:a="http://schemas.openxmlformats.org/drawingml/2006/main">
              <a:ext uri="{FF2B5EF4-FFF2-40B4-BE49-F238E27FC236}">
                <a16:creationId xmlns:a16="http://schemas.microsoft.com/office/drawing/2014/main" id="{8E08790E-2B6B-4540-94EC-A3F52BA0B9DA}"/>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원문 C2, C2-1, C3, C4를 함께 읽습니다.</a:t>
            </a:r>
          </a:p>
        </p:txBody>
      </p:sp>
      <p:sp>
        <p:nvSpPr>
          <p:cNvPr id="4" name="80–83분">
            <a:extLst xmlns:a="http://schemas.openxmlformats.org/drawingml/2006/main">
              <a:ext uri="{FF2B5EF4-FFF2-40B4-BE49-F238E27FC236}">
                <a16:creationId xmlns:a16="http://schemas.microsoft.com/office/drawing/2014/main" id="{B47B9823-59BF-4548-85DF-5782522372CC}"/>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80–83분</a:t>
            </a:r>
          </a:p>
        </p:txBody>
      </p:sp>
      <p:sp>
        <p:nvSpPr>
          <p:cNvPr id="5" name="웹 실습 열기">
            <a:extLst xmlns:a="http://schemas.openxmlformats.org/drawingml/2006/main">
              <a:ext uri="{FF2B5EF4-FFF2-40B4-BE49-F238E27FC236}">
                <a16:creationId xmlns:a16="http://schemas.microsoft.com/office/drawing/2014/main" id="{96B840F9-4FF5-42C8-930A-9ECD9D9F2E1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b7f2670b70246a3"/>
              </a:rPr>
              <a:t>웹 실습 열기</a:t>
            </a:r>
          </a:p>
        </p:txBody>
      </p:sp>
      <p:sp>
        <p:nvSpPr>
          <p:cNvPr id="6" name="27">
            <a:extLst xmlns:a="http://schemas.openxmlformats.org/drawingml/2006/main">
              <a:ext uri="{FF2B5EF4-FFF2-40B4-BE49-F238E27FC236}">
                <a16:creationId xmlns:a16="http://schemas.microsoft.com/office/drawing/2014/main" id="{FD11E6E2-E9E0-4F64-BD02-F1E50070ED8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27</a:t>
            </a:r>
          </a:p>
        </p:txBody>
      </p:sp>
    </p:spTree>
    <p:extLst>
      <p:ext uri="{BB962C8B-B14F-4D97-AF65-F5344CB8AC3E}">
        <p14:creationId xmlns:p14="http://schemas.microsoft.com/office/powerpoint/2010/main" val="3101678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바꿀 공지 세 곳과 남은 업무">
            <a:extLst xmlns:a="http://schemas.openxmlformats.org/drawingml/2006/main">
              <a:ext uri="{FF2B5EF4-FFF2-40B4-BE49-F238E27FC236}">
                <a16:creationId xmlns:a16="http://schemas.microsoft.com/office/drawing/2014/main" id="{CBB25216-A3E9-4664-854A-FA3F7A7EE8E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바꿀 공지 세 곳과 남은 업무</a:t>
            </a:r>
          </a:p>
        </p:txBody>
      </p:sp>
      <p:sp>
        <p:nvSpPr>
          <p:cNvPr id="2" name="4분">
            <a:extLst xmlns:a="http://schemas.openxmlformats.org/drawingml/2006/main">
              <a:ext uri="{FF2B5EF4-FFF2-40B4-BE49-F238E27FC236}">
                <a16:creationId xmlns:a16="http://schemas.microsoft.com/office/drawing/2014/main" id="{0A0D9577-C244-44A3-B15D-9FFC7386B0CD}"/>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첫 질문으로 최신 운영 조건과 구공지 수정표를 만듭">
            <a:extLst xmlns:a="http://schemas.openxmlformats.org/drawingml/2006/main">
              <a:ext uri="{FF2B5EF4-FFF2-40B4-BE49-F238E27FC236}">
                <a16:creationId xmlns:a16="http://schemas.microsoft.com/office/drawing/2014/main" id="{5AD3F899-8040-4F8A-BD36-4CEAABA22362}"/>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첫 질문으로 최신 운영 조건과 구공지 수정표를 만듭니다.</a:t>
            </a:r>
          </a:p>
        </p:txBody>
      </p:sp>
      <p:sp>
        <p:nvSpPr>
          <p:cNvPr id="4" name="">
            <a:extLst xmlns:a="http://schemas.openxmlformats.org/drawingml/2006/main">
              <a:ext uri="{FF2B5EF4-FFF2-40B4-BE49-F238E27FC236}">
                <a16:creationId xmlns:a16="http://schemas.microsoft.com/office/drawing/2014/main" id="{FF051CF6-CD3D-493F-8D2A-58217555A89A}"/>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A3의 신청 마감 문장</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A5-2의 부서 전달용 문안</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C5에 보관된 포털 요약 문안</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수정 요청과 수정 완료 회신을 구분</a:t>
            </a:r>
          </a:p>
        </p:txBody>
      </p:sp>
      <p:sp>
        <p:nvSpPr>
          <p:cNvPr id="5" name="남길 결과">
            <a:extLst xmlns:a="http://schemas.openxmlformats.org/drawingml/2006/main">
              <a:ext uri="{FF2B5EF4-FFF2-40B4-BE49-F238E27FC236}">
                <a16:creationId xmlns:a16="http://schemas.microsoft.com/office/drawing/2014/main" id="{AF767586-A0AB-4A93-812C-309837893080}"/>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수정표 3행과 미완료 업무 5행 이내">
            <a:extLst xmlns:a="http://schemas.openxmlformats.org/drawingml/2006/main">
              <a:ext uri="{FF2B5EF4-FFF2-40B4-BE49-F238E27FC236}">
                <a16:creationId xmlns:a16="http://schemas.microsoft.com/office/drawing/2014/main" id="{C94D09E8-81A2-4DE2-BCAD-E6A0D067435E}"/>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수정표 3행과 미완료 업무 5행 이내</a:t>
            </a:r>
          </a:p>
        </p:txBody>
      </p:sp>
      <p:sp>
        <p:nvSpPr>
          <p:cNvPr id="7" name="83–87분">
            <a:extLst xmlns:a="http://schemas.openxmlformats.org/drawingml/2006/main">
              <a:ext uri="{FF2B5EF4-FFF2-40B4-BE49-F238E27FC236}">
                <a16:creationId xmlns:a16="http://schemas.microsoft.com/office/drawing/2014/main" id="{D3AD3846-73F4-4B13-83DE-632697DC397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83–87분</a:t>
            </a:r>
          </a:p>
        </p:txBody>
      </p:sp>
      <p:sp>
        <p:nvSpPr>
          <p:cNvPr id="8" name="웹 실습 열기">
            <a:extLst xmlns:a="http://schemas.openxmlformats.org/drawingml/2006/main">
              <a:ext uri="{FF2B5EF4-FFF2-40B4-BE49-F238E27FC236}">
                <a16:creationId xmlns:a16="http://schemas.microsoft.com/office/drawing/2014/main" id="{8ABAED80-753F-4501-B9BC-6620D48162BD}"/>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12bb2279c1d4c79"/>
              </a:rPr>
              <a:t>웹 실습 열기</a:t>
            </a:r>
          </a:p>
        </p:txBody>
      </p:sp>
      <p:sp>
        <p:nvSpPr>
          <p:cNvPr id="9" name="28">
            <a:extLst xmlns:a="http://schemas.openxmlformats.org/drawingml/2006/main">
              <a:ext uri="{FF2B5EF4-FFF2-40B4-BE49-F238E27FC236}">
                <a16:creationId xmlns:a16="http://schemas.microsoft.com/office/drawing/2014/main" id="{C3E6F584-F65E-470E-9F5F-1310BF0D3225}"/>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28</a:t>
            </a:r>
          </a:p>
        </p:txBody>
      </p:sp>
    </p:spTree>
    <p:extLst>
      <p:ext uri="{BB962C8B-B14F-4D97-AF65-F5344CB8AC3E}">
        <p14:creationId xmlns:p14="http://schemas.microsoft.com/office/powerpoint/2010/main" val="149968063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네 소스를 사용한 실제 인계표">
            <a:extLst xmlns:a="http://schemas.openxmlformats.org/drawingml/2006/main">
              <a:ext uri="{FF2B5EF4-FFF2-40B4-BE49-F238E27FC236}">
                <a16:creationId xmlns:a16="http://schemas.microsoft.com/office/drawing/2014/main" id="{53812F97-4538-4392-A094-5045BBDF6D1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네 소스를 사용한 실제 인계표</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45b0c200bf14e92"/>
          <a:srcRect xmlns:a="http://schemas.openxmlformats.org/drawingml/2006/main" l="0" t="12000" r="8000" b="34000"/>
          <a:stretch xmlns:a="http://schemas.openxmlformats.org/drawingml/2006/main"/>
        </p:blipFill>
        <p:spPr>
          <a:xfrm xmlns:a="http://schemas.openxmlformats.org/drawingml/2006/main">
            <a:off x="609600" y="2018968"/>
            <a:ext cx="7200900" cy="3429664"/>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2C8B854-7FA7-4277-95A7-6D675E0D7082}"/>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왼쪽 네 소스 이름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대여 요청 확인과 개인 배정을 구분</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문의 14건의 답변 검토가 남아 있는지 확인</a:t>
            </a:r>
          </a:p>
        </p:txBody>
      </p:sp>
      <p:sp>
        <p:nvSpPr>
          <p:cNvPr id="4" name="업무실습 실제 응답 일부 확대. 확보, 배정, 회신">
            <a:extLst xmlns:a="http://schemas.openxmlformats.org/drawingml/2006/main">
              <a:ext uri="{FF2B5EF4-FFF2-40B4-BE49-F238E27FC236}">
                <a16:creationId xmlns:a16="http://schemas.microsoft.com/office/drawing/2014/main" id="{193A63AE-92B9-456E-AEA0-BA6043F97045}"/>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확보, 배정, 회신의 상태를 따로 읽습니다.</a:t>
            </a:r>
          </a:p>
        </p:txBody>
      </p:sp>
      <p:sp>
        <p:nvSpPr>
          <p:cNvPr id="5" name="87–89분">
            <a:extLst xmlns:a="http://schemas.openxmlformats.org/drawingml/2006/main">
              <a:ext uri="{FF2B5EF4-FFF2-40B4-BE49-F238E27FC236}">
                <a16:creationId xmlns:a16="http://schemas.microsoft.com/office/drawing/2014/main" id="{C3CB9329-7331-47BD-A37E-B929068715A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87–89분</a:t>
            </a:r>
          </a:p>
        </p:txBody>
      </p:sp>
      <p:sp>
        <p:nvSpPr>
          <p:cNvPr id="6" name="웹 실습 열기">
            <a:extLst xmlns:a="http://schemas.openxmlformats.org/drawingml/2006/main">
              <a:ext uri="{FF2B5EF4-FFF2-40B4-BE49-F238E27FC236}">
                <a16:creationId xmlns:a16="http://schemas.microsoft.com/office/drawing/2014/main" id="{229B00B0-BA1A-4D5A-996F-CAB211947600}"/>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c83d4be0f834a60"/>
              </a:rPr>
              <a:t>웹 실습 열기</a:t>
            </a:r>
          </a:p>
        </p:txBody>
      </p:sp>
      <p:sp>
        <p:nvSpPr>
          <p:cNvPr id="7" name="29">
            <a:extLst xmlns:a="http://schemas.openxmlformats.org/drawingml/2006/main">
              <a:ext uri="{FF2B5EF4-FFF2-40B4-BE49-F238E27FC236}">
                <a16:creationId xmlns:a16="http://schemas.microsoft.com/office/drawing/2014/main" id="{785861CC-2952-47FC-BBC5-EA2DE37C5FA4}"/>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29</a:t>
            </a:r>
          </a:p>
        </p:txBody>
      </p:sp>
    </p:spTree>
    <p:extLst>
      <p:ext uri="{BB962C8B-B14F-4D97-AF65-F5344CB8AC3E}">
        <p14:creationId xmlns:p14="http://schemas.microsoft.com/office/powerpoint/2010/main" val="183334868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인용을 열어 원문 확인">
            <a:extLst xmlns:a="http://schemas.openxmlformats.org/drawingml/2006/main">
              <a:ext uri="{FF2B5EF4-FFF2-40B4-BE49-F238E27FC236}">
                <a16:creationId xmlns:a16="http://schemas.microsoft.com/office/drawing/2014/main" id="{D261B461-AF0C-471D-862D-E5CEF9D05B6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인용을 열어 원문 확인</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7acd31d14714e44"/>
          <a:stretch xmlns:a="http://schemas.openxmlformats.org/drawingml/2006/main"/>
        </p:blipFill>
        <p:spPr>
          <a:xfrm xmlns:a="http://schemas.openxmlformats.org/drawingml/2006/main">
            <a:off x="2071274" y="1552575"/>
            <a:ext cx="4277552"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F3DA33F-E7C3-46CA-AD1A-D4797177E26D}"/>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답변의 인용 번호 선택</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문서 이름과 주변 문장 함께 읽기</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업무실습 C2의 10월 26일 18:00 확인</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확인한 문장과 문단 ID 기록</a:t>
            </a:r>
          </a:p>
        </p:txBody>
      </p:sp>
      <p:sp>
        <p:nvSpPr>
          <p:cNvPr id="4" name="기본연습의 인용 열기 조작 참고. 화면의 10월 2">
            <a:extLst xmlns:a="http://schemas.openxmlformats.org/drawingml/2006/main">
              <a:ext uri="{FF2B5EF4-FFF2-40B4-BE49-F238E27FC236}">
                <a16:creationId xmlns:a16="http://schemas.microsoft.com/office/drawing/2014/main" id="{14FFE9D5-08B5-4B98-A3D7-AB9EF4E8A85C}"/>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기본연습의 인용 열기 조작 참고. 화면의 10월 23일은 구기한이며 오늘의 최신 마감이 아닙니다.</a:t>
            </a:r>
          </a:p>
        </p:txBody>
      </p:sp>
      <p:sp>
        <p:nvSpPr>
          <p:cNvPr id="5" name="89–92분">
            <a:extLst xmlns:a="http://schemas.openxmlformats.org/drawingml/2006/main">
              <a:ext uri="{FF2B5EF4-FFF2-40B4-BE49-F238E27FC236}">
                <a16:creationId xmlns:a16="http://schemas.microsoft.com/office/drawing/2014/main" id="{C3D2CA9E-820A-41AA-B254-87B38A29DE99}"/>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89–92분</a:t>
            </a:r>
          </a:p>
        </p:txBody>
      </p:sp>
      <p:sp>
        <p:nvSpPr>
          <p:cNvPr id="6" name="웹 실습 열기">
            <a:extLst xmlns:a="http://schemas.openxmlformats.org/drawingml/2006/main">
              <a:ext uri="{FF2B5EF4-FFF2-40B4-BE49-F238E27FC236}">
                <a16:creationId xmlns:a16="http://schemas.microsoft.com/office/drawing/2014/main" id="{E82CE6AA-4040-4D19-977A-726EB593B7AD}"/>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911aa85338441e4"/>
              </a:rPr>
              <a:t>웹 실습 열기</a:t>
            </a:r>
          </a:p>
        </p:txBody>
      </p:sp>
      <p:sp>
        <p:nvSpPr>
          <p:cNvPr id="7" name="30">
            <a:extLst xmlns:a="http://schemas.openxmlformats.org/drawingml/2006/main">
              <a:ext uri="{FF2B5EF4-FFF2-40B4-BE49-F238E27FC236}">
                <a16:creationId xmlns:a16="http://schemas.microsoft.com/office/drawing/2014/main" id="{F26995BE-6867-476D-A6A7-28E5C1694405}"/>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30</a:t>
            </a:r>
          </a:p>
        </p:txBody>
      </p:sp>
    </p:spTree>
    <p:extLst>
      <p:ext uri="{BB962C8B-B14F-4D97-AF65-F5344CB8AC3E}">
        <p14:creationId xmlns:p14="http://schemas.microsoft.com/office/powerpoint/2010/main" val="179770105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참가자 FAQ 여섯 항목">
            <a:extLst xmlns:a="http://schemas.openxmlformats.org/drawingml/2006/main">
              <a:ext uri="{FF2B5EF4-FFF2-40B4-BE49-F238E27FC236}">
                <a16:creationId xmlns:a16="http://schemas.microsoft.com/office/drawing/2014/main" id="{7E6A56B0-C096-42A9-9CD0-B1828BB4F21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참가자 FAQ 여섯 항목</a:t>
            </a:r>
          </a:p>
        </p:txBody>
      </p:sp>
      <p:graphicFrame>
        <p:nvGraphicFramePr>
          <p:cNvPr id="8" name=""/>
          <p:cNvGraphicFramePr/>
          <p:nvPr/>
        </p:nvGraphicFramePr>
        <p:xfrm>
          <a:off xmlns:a="http://schemas.openxmlformats.org/drawingml/2006/main" x="685800" y="1543050"/>
          <a:ext xmlns:a="http://schemas.openxmlformats.org/drawingml/2006/main" cx="10820400" cy="4133850"/>
        </p:xfrm>
        <a:graphic xmlns:a="http://schemas.openxmlformats.org/drawingml/2006/main">
          <a:graphicData uri="http://schemas.openxmlformats.org/drawingml/2006/table">
            <a:tbl>
              <a:tblPr firstRow="1" bandRow="0"/>
              <a:tblGrid>
                <a:gridCol w="2667000"/>
                <a:gridCol w="8096250"/>
              </a:tblGrid>
              <a:tr h="590550">
                <a:tc>
                  <a:txBody>
                    <a:bodyPr lIns="114300" tIns="66675" rIns="114300" bIns="57150">
                      <a:noAutofit/>
                    </a:bodyPr>
                    <a:lstStyle/>
                    <a:p>
                      <a:pPr algn="l"/>
                      <a:r>
                        <a:rPr sz="1875" b="1">
                          <a:solidFill>
                            <a:srgbClr val="FFFFFF"/>
                          </a:solidFill>
                          <a:latin typeface="Malgun Gothic"/>
                          <a:ea typeface="Malgun Gothic"/>
                          <a:cs typeface="Malgun Gothic"/>
                        </a:rPr>
                        <a:t>FAQ 항목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답변에 남길 조건</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교육 일시·장소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30일 14:00~17:00, 201호</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신청 마감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26일 18:00, 참가 확정은 별도 확인</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취소 마감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10월 28일 12:00, 통보와 처리 완료 구분</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참가비·주차</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참가비 무료, 주차 금액은 확인 필요</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노트북 대여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 개인 배정·수령 시간 미확정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제공 여부·일정 미정</a:t>
                      </a:r>
                    </a:p>
                  </a:txBody>
                  <a:tcPr marL="91440" marR="91440" marT="45720" marB="45720" anchor="ctr">
                    <a:solidFill>
                      <a:srgbClr val="F5F2FC"/>
                    </a:solidFill>
                  </a:tcPr>
                </a:tc>
              </a:tr>
            </a:tbl>
          </a:graphicData>
        </a:graphic>
      </p:graphicFrame>
      <p:sp>
        <p:nvSpPr>
          <p:cNvPr id="3" name="실습 3분, 마지막 1분은 신청 마감과 대여 배정 ">
            <a:extLst xmlns:a="http://schemas.openxmlformats.org/drawingml/2006/main">
              <a:ext uri="{FF2B5EF4-FFF2-40B4-BE49-F238E27FC236}">
                <a16:creationId xmlns:a16="http://schemas.microsoft.com/office/drawing/2014/main" id="{46B01394-B013-4569-9C49-684C7A5A82EF}"/>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실습 3분, 마지막 1분은 신청 마감과 대여 배정 인용을 확인합니다.</a:t>
            </a:r>
          </a:p>
        </p:txBody>
      </p:sp>
      <p:sp>
        <p:nvSpPr>
          <p:cNvPr id="4" name="92–96분">
            <a:extLst xmlns:a="http://schemas.openxmlformats.org/drawingml/2006/main">
              <a:ext uri="{FF2B5EF4-FFF2-40B4-BE49-F238E27FC236}">
                <a16:creationId xmlns:a16="http://schemas.microsoft.com/office/drawing/2014/main" id="{BEFD1B0C-2B20-41EB-98CC-87A4B05AD28B}"/>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92–96분</a:t>
            </a:r>
          </a:p>
        </p:txBody>
      </p:sp>
      <p:sp>
        <p:nvSpPr>
          <p:cNvPr id="5" name="웹 실습 열기">
            <a:extLst xmlns:a="http://schemas.openxmlformats.org/drawingml/2006/main">
              <a:ext uri="{FF2B5EF4-FFF2-40B4-BE49-F238E27FC236}">
                <a16:creationId xmlns:a16="http://schemas.microsoft.com/office/drawing/2014/main" id="{84215A40-2E9F-4B5E-9DD2-A4A94BF17B1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b5f242324174a3b"/>
              </a:rPr>
              <a:t>웹 실습 열기</a:t>
            </a:r>
          </a:p>
        </p:txBody>
      </p:sp>
      <p:sp>
        <p:nvSpPr>
          <p:cNvPr id="6" name="31">
            <a:extLst xmlns:a="http://schemas.openxmlformats.org/drawingml/2006/main">
              <a:ext uri="{FF2B5EF4-FFF2-40B4-BE49-F238E27FC236}">
                <a16:creationId xmlns:a16="http://schemas.microsoft.com/office/drawing/2014/main" id="{973B2E66-E263-4C57-9771-4E8D5101978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31</a:t>
            </a:r>
          </a:p>
        </p:txBody>
      </p:sp>
    </p:spTree>
    <p:extLst>
      <p:ext uri="{BB962C8B-B14F-4D97-AF65-F5344CB8AC3E}">
        <p14:creationId xmlns:p14="http://schemas.microsoft.com/office/powerpoint/2010/main" val="92417904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실제 FAQ에서 마지막으로 고칠 것">
            <a:extLst xmlns:a="http://schemas.openxmlformats.org/drawingml/2006/main">
              <a:ext uri="{FF2B5EF4-FFF2-40B4-BE49-F238E27FC236}">
                <a16:creationId xmlns:a16="http://schemas.microsoft.com/office/drawing/2014/main" id="{F50469C4-696D-43C8-A851-17A4ABC0491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실제 FAQ에서 마지막으로 고칠 것</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01982949a454704"/>
          <a:srcRect xmlns:a="http://schemas.openxmlformats.org/drawingml/2006/main" l="26000" t="0" r="11000" b="46000"/>
          <a:stretch xmlns:a="http://schemas.openxmlformats.org/drawingml/2006/main"/>
        </p:blipFill>
        <p:spPr>
          <a:xfrm xmlns:a="http://schemas.openxmlformats.org/drawingml/2006/main">
            <a:off x="1073961" y="1552575"/>
            <a:ext cx="6272178" cy="436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B622DE8-3C57-43E2-8BE4-CD883ABF75C3}"/>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&lt;br&gt; 같은 표시를 읽기 쉬운 문장으로 정리</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과거 안내·검토 설명은 외부 답변에서 분리</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미정과 개인별 배정 조건은 유지</a:t>
            </a:r>
          </a:p>
        </p:txBody>
      </p:sp>
      <p:sp>
        <p:nvSpPr>
          <p:cNvPr id="4" name="업무실습 실제 응답 일부 확대. 사실 확인 뒤 문장">
            <a:extLst xmlns:a="http://schemas.openxmlformats.org/drawingml/2006/main">
              <a:ext uri="{FF2B5EF4-FFF2-40B4-BE49-F238E27FC236}">
                <a16:creationId xmlns:a16="http://schemas.microsoft.com/office/drawing/2014/main" id="{032413D6-48B1-4ADC-9E6E-0C2BE1C29294}"/>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사실 확인 뒤 문장과 표 형식도 정리합니다.</a:t>
            </a:r>
          </a:p>
        </p:txBody>
      </p:sp>
      <p:sp>
        <p:nvSpPr>
          <p:cNvPr id="5" name="96–100분">
            <a:extLst xmlns:a="http://schemas.openxmlformats.org/drawingml/2006/main">
              <a:ext uri="{FF2B5EF4-FFF2-40B4-BE49-F238E27FC236}">
                <a16:creationId xmlns:a16="http://schemas.microsoft.com/office/drawing/2014/main" id="{F7D0C63B-B00D-42D7-8DBE-2DEA8E3E7EB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96–100분</a:t>
            </a:r>
          </a:p>
        </p:txBody>
      </p:sp>
      <p:sp>
        <p:nvSpPr>
          <p:cNvPr id="6" name="웹 실습 열기">
            <a:extLst xmlns:a="http://schemas.openxmlformats.org/drawingml/2006/main">
              <a:ext uri="{FF2B5EF4-FFF2-40B4-BE49-F238E27FC236}">
                <a16:creationId xmlns:a16="http://schemas.microsoft.com/office/drawing/2014/main" id="{517B4F6F-6C84-4B68-AB31-6E8F4BB3FAD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ddc2687ae8b4aee"/>
              </a:rPr>
              <a:t>웹 실습 열기</a:t>
            </a:r>
          </a:p>
        </p:txBody>
      </p:sp>
      <p:sp>
        <p:nvSpPr>
          <p:cNvPr id="7" name="32">
            <a:extLst xmlns:a="http://schemas.openxmlformats.org/drawingml/2006/main">
              <a:ext uri="{FF2B5EF4-FFF2-40B4-BE49-F238E27FC236}">
                <a16:creationId xmlns:a16="http://schemas.microsoft.com/office/drawing/2014/main" id="{FA71AE1D-1541-4EE9-9458-6857D26EF1E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32</a:t>
            </a:r>
          </a:p>
        </p:txBody>
      </p:sp>
    </p:spTree>
    <p:extLst>
      <p:ext uri="{BB962C8B-B14F-4D97-AF65-F5344CB8AC3E}">
        <p14:creationId xmlns:p14="http://schemas.microsoft.com/office/powerpoint/2010/main" val="290704538"/>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답변 대기 문의 14건">
            <a:extLst xmlns:a="http://schemas.openxmlformats.org/drawingml/2006/main">
              <a:ext uri="{FF2B5EF4-FFF2-40B4-BE49-F238E27FC236}">
                <a16:creationId xmlns:a16="http://schemas.microsoft.com/office/drawing/2014/main" id="{8F7F69EB-B5A9-44DA-9881-2183C6B27C1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답변 대기 문의 14건</a:t>
            </a:r>
          </a:p>
        </p:txBody>
      </p:sp>
      <p:sp>
        <p:nvSpPr>
          <p:cNvPr id="2" name="5분">
            <a:extLst xmlns:a="http://schemas.openxmlformats.org/drawingml/2006/main">
              <a:ext uri="{FF2B5EF4-FFF2-40B4-BE49-F238E27FC236}">
                <a16:creationId xmlns:a16="http://schemas.microsoft.com/office/drawing/2014/main" id="{2D0E29AE-9AAD-4ECB-99D6-8C95EE0AFA46}"/>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세 번째 질문으로 문의별 답변과 담당자에게 확인할 ">
            <a:extLst xmlns:a="http://schemas.openxmlformats.org/drawingml/2006/main">
              <a:ext uri="{FF2B5EF4-FFF2-40B4-BE49-F238E27FC236}">
                <a16:creationId xmlns:a16="http://schemas.microsoft.com/office/drawing/2014/main" id="{445DB843-45D9-4D0F-BCC0-39AA81E35630}"/>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세 번째 질문으로 문의별 답변과 담당자에게 확인할 질문을 나눕니다.</a:t>
            </a:r>
          </a:p>
        </p:txBody>
      </p:sp>
      <p:sp>
        <p:nvSpPr>
          <p:cNvPr id="4" name="">
            <a:extLst xmlns:a="http://schemas.openxmlformats.org/drawingml/2006/main">
              <a:ext uri="{FF2B5EF4-FFF2-40B4-BE49-F238E27FC236}">
                <a16:creationId xmlns:a16="http://schemas.microsoft.com/office/drawing/2014/main" id="{A21DA4E2-4987-4DCA-9164-40770ED2511F}"/>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D01~D14를 중복 없이 처리표에 포함</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D01~D12 참가자 문의와 D13·D14 내부 문의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답변 가능, 조건부 안내, 담당 확인을 선택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상태 옆에 무엇이 불확실한지 구체적으로 기록</a:t>
            </a:r>
          </a:p>
        </p:txBody>
      </p:sp>
      <p:sp>
        <p:nvSpPr>
          <p:cNvPr id="5" name="남길 결과">
            <a:extLst xmlns:a="http://schemas.openxmlformats.org/drawingml/2006/main">
              <a:ext uri="{FF2B5EF4-FFF2-40B4-BE49-F238E27FC236}">
                <a16:creationId xmlns:a16="http://schemas.microsoft.com/office/drawing/2014/main" id="{7071E309-5DBE-43ED-A08C-21E2237E7E90}"/>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문의 처리표 14행">
            <a:extLst xmlns:a="http://schemas.openxmlformats.org/drawingml/2006/main">
              <a:ext uri="{FF2B5EF4-FFF2-40B4-BE49-F238E27FC236}">
                <a16:creationId xmlns:a16="http://schemas.microsoft.com/office/drawing/2014/main" id="{A20E54E6-9DB0-480D-A657-6E9B03E6C7E2}"/>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문의 처리표 14행</a:t>
            </a:r>
          </a:p>
        </p:txBody>
      </p:sp>
      <p:sp>
        <p:nvSpPr>
          <p:cNvPr id="7" name="100–105분">
            <a:extLst xmlns:a="http://schemas.openxmlformats.org/drawingml/2006/main">
              <a:ext uri="{FF2B5EF4-FFF2-40B4-BE49-F238E27FC236}">
                <a16:creationId xmlns:a16="http://schemas.microsoft.com/office/drawing/2014/main" id="{E8E54AF2-3139-4590-ABBF-A261C6488AC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100–105분</a:t>
            </a:r>
          </a:p>
        </p:txBody>
      </p:sp>
      <p:sp>
        <p:nvSpPr>
          <p:cNvPr id="8" name="웹 실습 열기">
            <a:extLst xmlns:a="http://schemas.openxmlformats.org/drawingml/2006/main">
              <a:ext uri="{FF2B5EF4-FFF2-40B4-BE49-F238E27FC236}">
                <a16:creationId xmlns:a16="http://schemas.microsoft.com/office/drawing/2014/main" id="{19EC7B2C-0AC6-48EE-B8AA-6B81F6F9681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4cae9ca704a14b0b"/>
              </a:rPr>
              <a:t>웹 실습 열기</a:t>
            </a:r>
          </a:p>
        </p:txBody>
      </p:sp>
      <p:sp>
        <p:nvSpPr>
          <p:cNvPr id="9" name="33">
            <a:extLst xmlns:a="http://schemas.openxmlformats.org/drawingml/2006/main">
              <a:ext uri="{FF2B5EF4-FFF2-40B4-BE49-F238E27FC236}">
                <a16:creationId xmlns:a16="http://schemas.microsoft.com/office/drawing/2014/main" id="{9C8455FB-DEC3-47D3-A7C6-081E5000F85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33</a:t>
            </a:r>
          </a:p>
        </p:txBody>
      </p:sp>
    </p:spTree>
    <p:extLst>
      <p:ext uri="{BB962C8B-B14F-4D97-AF65-F5344CB8AC3E}">
        <p14:creationId xmlns:p14="http://schemas.microsoft.com/office/powerpoint/2010/main" val="46435647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자료 없음·미정·조건부 안내">
            <a:extLst xmlns:a="http://schemas.openxmlformats.org/drawingml/2006/main">
              <a:ext uri="{FF2B5EF4-FFF2-40B4-BE49-F238E27FC236}">
                <a16:creationId xmlns:a16="http://schemas.microsoft.com/office/drawing/2014/main" id="{9FDEB54A-EF84-47F2-969A-90AFD09AEDE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자료 없음·미정·조건부 안내</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000250"/>
                <a:gridCol w="4000500"/>
                <a:gridCol w="4762500"/>
              </a:tblGrid>
              <a:tr h="590550">
                <a:tc>
                  <a:txBody>
                    <a:bodyPr lIns="114300" tIns="66675" rIns="114300" bIns="57150">
                      <a:noAutofit/>
                    </a:bodyPr>
                    <a:lstStyle/>
                    <a:p>
                      <a:pPr algn="l"/>
                      <a:r>
                        <a:rPr sz="1875" b="1">
                          <a:solidFill>
                            <a:srgbClr val="FFFFFF"/>
                          </a:solidFill>
                          <a:latin typeface="Malgun Gothic"/>
                          <a:ea typeface="Malgun Gothic"/>
                          <a:cs typeface="Malgun Gothic"/>
                        </a:rPr>
                        <a:t>문의</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현재 말할 수 있는 내용</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추가 확인</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주차 요금</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참가비 무료와 별도 항목</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3시간 요금, 감면, 등록 절차</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녹화본</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제공 여부와 일정 미정</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촬영·배포 결정, 대체 이수</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노트북 대여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4대 확보와 대여료 없음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개인 배정, 수령·반납 시각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기간 안의 신청</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연장된 신청 기간 안</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접수 상태, 잔여석, 참가 확정</a:t>
                      </a:r>
                    </a:p>
                  </a:txBody>
                  <a:tcPr marL="91440" marR="91440" marT="45720" marB="45720" anchor="ctr">
                    <a:solidFill>
                      <a:srgbClr val="F5F2FC"/>
                    </a:solidFill>
                  </a:tcPr>
                </a:tc>
              </a:tr>
            </a:tbl>
          </a:graphicData>
        </a:graphic>
      </p:graphicFrame>
      <p:sp>
        <p:nvSpPr>
          <p:cNvPr id="3" name="자료에 없는 값과 아직 결정하지 않은 일을 같은 뜻">
            <a:extLst xmlns:a="http://schemas.openxmlformats.org/drawingml/2006/main">
              <a:ext uri="{FF2B5EF4-FFF2-40B4-BE49-F238E27FC236}">
                <a16:creationId xmlns:a16="http://schemas.microsoft.com/office/drawing/2014/main" id="{19311D13-E81F-44CC-93BC-F1CAF4E3DAB3}"/>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자료에 없는 값과 아직 결정하지 않은 일을 같은 뜻으로 쓰지 않습니다.</a:t>
            </a:r>
          </a:p>
        </p:txBody>
      </p:sp>
      <p:sp>
        <p:nvSpPr>
          <p:cNvPr id="4" name="105–108분">
            <a:extLst xmlns:a="http://schemas.openxmlformats.org/drawingml/2006/main">
              <a:ext uri="{FF2B5EF4-FFF2-40B4-BE49-F238E27FC236}">
                <a16:creationId xmlns:a16="http://schemas.microsoft.com/office/drawing/2014/main" id="{1AA689DB-B7ED-4A00-9FDB-881D0A306BC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105–108분</a:t>
            </a:r>
          </a:p>
        </p:txBody>
      </p:sp>
      <p:sp>
        <p:nvSpPr>
          <p:cNvPr id="5" name="웹 실습 열기">
            <a:extLst xmlns:a="http://schemas.openxmlformats.org/drawingml/2006/main">
              <a:ext uri="{FF2B5EF4-FFF2-40B4-BE49-F238E27FC236}">
                <a16:creationId xmlns:a16="http://schemas.microsoft.com/office/drawing/2014/main" id="{1F475369-7242-4933-B282-205E29AEE55A}"/>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3f33c4e5fcb49d4"/>
              </a:rPr>
              <a:t>웹 실습 열기</a:t>
            </a:r>
          </a:p>
        </p:txBody>
      </p:sp>
      <p:sp>
        <p:nvSpPr>
          <p:cNvPr id="6" name="34">
            <a:extLst xmlns:a="http://schemas.openxmlformats.org/drawingml/2006/main">
              <a:ext uri="{FF2B5EF4-FFF2-40B4-BE49-F238E27FC236}">
                <a16:creationId xmlns:a16="http://schemas.microsoft.com/office/drawing/2014/main" id="{6A272DA4-E439-41F8-9531-F5A213AD32D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34</a:t>
            </a:r>
          </a:p>
        </p:txBody>
      </p:sp>
    </p:spTree>
    <p:extLst>
      <p:ext uri="{BB962C8B-B14F-4D97-AF65-F5344CB8AC3E}">
        <p14:creationId xmlns:p14="http://schemas.microsoft.com/office/powerpoint/2010/main" val="163010965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완료 기록은 업무별로 다릅니다">
            <a:extLst xmlns:a="http://schemas.openxmlformats.org/drawingml/2006/main">
              <a:ext uri="{FF2B5EF4-FFF2-40B4-BE49-F238E27FC236}">
                <a16:creationId xmlns:a16="http://schemas.microsoft.com/office/drawing/2014/main" id="{A088DFEE-2473-4A0E-AC1F-1A637F17CAD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완료 기록은 업무별로 다릅니다</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762250"/>
                <a:gridCol w="3619500"/>
                <a:gridCol w="4381500"/>
              </a:tblGrid>
              <a:tr h="590550">
                <a:tc>
                  <a:txBody>
                    <a:bodyPr lIns="114300" tIns="66675" rIns="114300" bIns="57150">
                      <a:noAutofit/>
                    </a:bodyPr>
                    <a:lstStyle/>
                    <a:p>
                      <a:pPr algn="l"/>
                      <a:r>
                        <a:rPr sz="1875" b="1">
                          <a:solidFill>
                            <a:srgbClr val="FFFFFF"/>
                          </a:solidFill>
                          <a:latin typeface="Malgun Gothic"/>
                          <a:ea typeface="Malgun Gothic"/>
                          <a:cs typeface="Malgun Gothic"/>
                        </a:rPr>
                        <a:t>업무</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마지막 기록</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남은 확인</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최초 참가 안내문</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정리·내부 공유 완료</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부서 게시·전달, 승인 변경 반영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가상 실습 자료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작성 중</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완성·배포 여부</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수정 예산표</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금액 수정 완료, 공유 대기</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최종 공유 기록과 수신 대상</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공지 세 곳 수정</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수정 요청, 완료 회신 없음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세 곳의 실제 수정과 부서 전달</a:t>
                      </a:r>
                    </a:p>
                  </a:txBody>
                  <a:tcPr marL="91440" marR="91440" marT="45720" marB="45720" anchor="ctr">
                    <a:solidFill>
                      <a:srgbClr val="F5F2FC"/>
                    </a:solidFill>
                  </a:tcPr>
                </a:tc>
              </a:tr>
            </a:tbl>
          </a:graphicData>
        </a:graphic>
      </p:graphicFrame>
      <p:sp>
        <p:nvSpPr>
          <p:cNvPr id="3" name="B2와 C6, D13·D14를 함께 확인합니다.">
            <a:extLst xmlns:a="http://schemas.openxmlformats.org/drawingml/2006/main">
              <a:ext uri="{FF2B5EF4-FFF2-40B4-BE49-F238E27FC236}">
                <a16:creationId xmlns:a16="http://schemas.microsoft.com/office/drawing/2014/main" id="{928D33F7-AD44-4E16-8F43-F83D09DF5ADC}"/>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B2와 C6, D13·D14를 함께 확인합니다.</a:t>
            </a:r>
          </a:p>
        </p:txBody>
      </p:sp>
      <p:sp>
        <p:nvSpPr>
          <p:cNvPr id="4" name="108–111분">
            <a:extLst xmlns:a="http://schemas.openxmlformats.org/drawingml/2006/main">
              <a:ext uri="{FF2B5EF4-FFF2-40B4-BE49-F238E27FC236}">
                <a16:creationId xmlns:a16="http://schemas.microsoft.com/office/drawing/2014/main" id="{AACB1A4E-7A3F-4089-B8D0-0F1EE8E71B8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108–111분</a:t>
            </a:r>
          </a:p>
        </p:txBody>
      </p:sp>
      <p:sp>
        <p:nvSpPr>
          <p:cNvPr id="5" name="웹 실습 열기">
            <a:extLst xmlns:a="http://schemas.openxmlformats.org/drawingml/2006/main">
              <a:ext uri="{FF2B5EF4-FFF2-40B4-BE49-F238E27FC236}">
                <a16:creationId xmlns:a16="http://schemas.microsoft.com/office/drawing/2014/main" id="{9DD9A89D-2706-46D6-A1BC-2EAFE84D630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d03bbd39f1a49ef"/>
              </a:rPr>
              <a:t>웹 실습 열기</a:t>
            </a:r>
          </a:p>
        </p:txBody>
      </p:sp>
      <p:sp>
        <p:nvSpPr>
          <p:cNvPr id="6" name="35">
            <a:extLst xmlns:a="http://schemas.openxmlformats.org/drawingml/2006/main">
              <a:ext uri="{FF2B5EF4-FFF2-40B4-BE49-F238E27FC236}">
                <a16:creationId xmlns:a16="http://schemas.microsoft.com/office/drawing/2014/main" id="{D9625128-039D-4A97-A5B4-C74BB9A5687C}"/>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35</a:t>
            </a:r>
          </a:p>
        </p:txBody>
      </p:sp>
    </p:spTree>
    <p:extLst>
      <p:ext uri="{BB962C8B-B14F-4D97-AF65-F5344CB8AC3E}">
        <p14:creationId xmlns:p14="http://schemas.microsoft.com/office/powerpoint/2010/main" val="112730302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30초 인계와 짝 확인">
            <a:extLst xmlns:a="http://schemas.openxmlformats.org/drawingml/2006/main">
              <a:ext uri="{FF2B5EF4-FFF2-40B4-BE49-F238E27FC236}">
                <a16:creationId xmlns:a16="http://schemas.microsoft.com/office/drawing/2014/main" id="{C2731957-D049-4E9C-8C0B-DC8635F644E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30초 인계와 짝 확인</a:t>
            </a:r>
          </a:p>
        </p:txBody>
      </p:sp>
      <p:sp>
        <p:nvSpPr>
          <p:cNvPr id="2" name="30초">
            <a:extLst xmlns:a="http://schemas.openxmlformats.org/drawingml/2006/main">
              <a:ext uri="{FF2B5EF4-FFF2-40B4-BE49-F238E27FC236}">
                <a16:creationId xmlns:a16="http://schemas.microsoft.com/office/drawing/2014/main" id="{84094737-C16E-400D-BBDA-8DF223AD0EB9}"/>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30초</a:t>
            </a:r>
          </a:p>
        </p:txBody>
      </p:sp>
      <p:sp>
        <p:nvSpPr>
          <p:cNvPr id="3" name="최신 신청 마감과 남은 확인 두 가지를 옆 사람과 ">
            <a:extLst xmlns:a="http://schemas.openxmlformats.org/drawingml/2006/main">
              <a:ext uri="{FF2B5EF4-FFF2-40B4-BE49-F238E27FC236}">
                <a16:creationId xmlns:a16="http://schemas.microsoft.com/office/drawing/2014/main" id="{DC77E661-4974-4C3E-9EA7-0D469527EE06}"/>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최신 신청 마감과 남은 확인 두 가지를 옆 사람과 번갈아 설명합니다.</a:t>
            </a:r>
          </a:p>
        </p:txBody>
      </p:sp>
      <p:sp>
        <p:nvSpPr>
          <p:cNvPr id="4" name="">
            <a:extLst xmlns:a="http://schemas.openxmlformats.org/drawingml/2006/main">
              <a:ext uri="{FF2B5EF4-FFF2-40B4-BE49-F238E27FC236}">
                <a16:creationId xmlns:a16="http://schemas.microsoft.com/office/drawing/2014/main" id="{F4605A8F-447A-4E72-953F-6C99EEFD94BF}"/>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듣는 사람은 원문에서 근거 문단 찾기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설명에서 빠진 조건 한 가지 알려 주기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각자 확인한 문장과 문단 ID 기록</a:t>
            </a:r>
          </a:p>
        </p:txBody>
      </p:sp>
      <p:sp>
        <p:nvSpPr>
          <p:cNvPr id="5" name="남길 결과">
            <a:extLst xmlns:a="http://schemas.openxmlformats.org/drawingml/2006/main">
              <a:ext uri="{FF2B5EF4-FFF2-40B4-BE49-F238E27FC236}">
                <a16:creationId xmlns:a16="http://schemas.microsoft.com/office/drawing/2014/main" id="{9FFAC6E5-AEDD-47B6-808A-517CB7B1E099}"/>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짧은 인계 설명과 원문 확인 기록">
            <a:extLst xmlns:a="http://schemas.openxmlformats.org/drawingml/2006/main">
              <a:ext uri="{FF2B5EF4-FFF2-40B4-BE49-F238E27FC236}">
                <a16:creationId xmlns:a16="http://schemas.microsoft.com/office/drawing/2014/main" id="{40431EBB-E4CB-49CA-8B24-DDC4128F487B}"/>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짧은 인계 설명과 원문 확인 기록</a:t>
            </a:r>
          </a:p>
        </p:txBody>
      </p:sp>
      <p:sp>
        <p:nvSpPr>
          <p:cNvPr id="7" name="여유 시간과 사용량이 있으면 오디오 요약은 선택합니">
            <a:extLst xmlns:a="http://schemas.openxmlformats.org/drawingml/2006/main">
              <a:ext uri="{FF2B5EF4-FFF2-40B4-BE49-F238E27FC236}">
                <a16:creationId xmlns:a16="http://schemas.microsoft.com/office/drawing/2014/main" id="{89ABB3F8-344D-4904-9A28-B23BD802D1C9}"/>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여유 시간과 사용량이 있으면 오디오 요약은 선택합니다.</a:t>
            </a:r>
          </a:p>
        </p:txBody>
      </p:sp>
      <p:sp>
        <p:nvSpPr>
          <p:cNvPr id="8" name="111–115분">
            <a:extLst xmlns:a="http://schemas.openxmlformats.org/drawingml/2006/main">
              <a:ext uri="{FF2B5EF4-FFF2-40B4-BE49-F238E27FC236}">
                <a16:creationId xmlns:a16="http://schemas.microsoft.com/office/drawing/2014/main" id="{62F508C4-E42F-4B4B-AC1C-029D01CB848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111–115분</a:t>
            </a:r>
          </a:p>
        </p:txBody>
      </p:sp>
      <p:sp>
        <p:nvSpPr>
          <p:cNvPr id="9" name="웹 실습 열기">
            <a:extLst xmlns:a="http://schemas.openxmlformats.org/drawingml/2006/main">
              <a:ext uri="{FF2B5EF4-FFF2-40B4-BE49-F238E27FC236}">
                <a16:creationId xmlns:a16="http://schemas.microsoft.com/office/drawing/2014/main" id="{70DE8744-A239-4B3B-B6E3-4FFB3C60C60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b8d3bab08e14bb5"/>
              </a:rPr>
              <a:t>웹 실습 열기</a:t>
            </a:r>
          </a:p>
        </p:txBody>
      </p:sp>
      <p:sp>
        <p:nvSpPr>
          <p:cNvPr id="10" name="36">
            <a:extLst xmlns:a="http://schemas.openxmlformats.org/drawingml/2006/main">
              <a:ext uri="{FF2B5EF4-FFF2-40B4-BE49-F238E27FC236}">
                <a16:creationId xmlns:a16="http://schemas.microsoft.com/office/drawing/2014/main" id="{86BB8961-FE2A-4DE0-8EAA-CFEA9264D37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36</a:t>
            </a:r>
          </a:p>
        </p:txBody>
      </p:sp>
    </p:spTree>
    <p:extLst>
      <p:ext uri="{BB962C8B-B14F-4D97-AF65-F5344CB8AC3E}">
        <p14:creationId xmlns:p14="http://schemas.microsoft.com/office/powerpoint/2010/main" val="187449257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휴식">
            <a:extLst xmlns:a="http://schemas.openxmlformats.org/drawingml/2006/main">
              <a:ext uri="{FF2B5EF4-FFF2-40B4-BE49-F238E27FC236}">
                <a16:creationId xmlns:a16="http://schemas.microsoft.com/office/drawing/2014/main" id="{079B1A76-A261-4225-8D01-BDB4B28BBAE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휴식</a:t>
            </a:r>
          </a:p>
        </p:txBody>
      </p:sp>
      <p:sp>
        <p:nvSpPr>
          <p:cNvPr id="2" name="5분">
            <a:extLst xmlns:a="http://schemas.openxmlformats.org/drawingml/2006/main">
              <a:ext uri="{FF2B5EF4-FFF2-40B4-BE49-F238E27FC236}">
                <a16:creationId xmlns:a16="http://schemas.microsoft.com/office/drawing/2014/main" id="{EA7D89C0-E43B-4B05-989D-A468CA6A4E4E}"/>
              </a:ext>
            </a:extLst>
          </p:cNvPr>
          <p:cNvSpPr>
            <a:spLocks xmlns:a="http://schemas.openxmlformats.org/drawingml/2006/main" noGrp="1"/>
          </p:cNvSpPr>
          <p:nvPr/>
        </p:nvSpPr>
        <p:spPr>
          <a:xfrm xmlns:a="http://schemas.openxmlformats.org/drawingml/2006/main">
            <a:off x="685800" y="1695450"/>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7350" b="1">
                <a:solidFill>
                  <a:srgbClr val="6B43C7"/>
                </a:solidFill>
                <a:latin typeface="Malgun Gothic"/>
                <a:ea typeface="Malgun Gothic"/>
                <a:cs typeface="Malgun Gothic"/>
              </a:defRPr>
            </a:pPr>
            <a:r>
              <a:rPr sz="7350" b="1">
                <a:solidFill>
                  <a:srgbClr val="6B43C7"/>
                </a:solidFill>
                <a:latin typeface="Malgun Gothic"/>
                <a:ea typeface="Malgun Gothic"/>
                <a:cs typeface="Malgun Gothic"/>
              </a:rPr>
              <a:t>5분</a:t>
            </a:r>
          </a:p>
        </p:txBody>
      </p:sp>
      <p:sp>
        <p:nvSpPr>
          <p:cNvPr id="3" name="">
            <a:extLst xmlns:a="http://schemas.openxmlformats.org/drawingml/2006/main">
              <a:ext uri="{FF2B5EF4-FFF2-40B4-BE49-F238E27FC236}">
                <a16:creationId xmlns:a16="http://schemas.microsoft.com/office/drawing/2014/main" id="{7DD6A6F3-0FC6-4DC5-B5DB-826A453F7126}"/>
              </a:ext>
            </a:extLst>
          </p:cNvPr>
          <p:cNvSpPr>
            <a:spLocks xmlns:a="http://schemas.openxmlformats.org/drawingml/2006/main" noGrp="1"/>
          </p:cNvSpPr>
          <p:nvPr/>
        </p:nvSpPr>
        <p:spPr>
          <a:xfrm xmlns:a="http://schemas.openxmlformats.org/drawingml/2006/main">
            <a:off x="742950" y="3857625"/>
            <a:ext cx="1066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인계표·FAQ·문의 처리표를 저장합니다.</a:t>
            </a:r>
          </a:p>
          <a:p xmlns:a="http://schemas.openxmlformats.org/drawingml/2006/main">
            <a:pPr marL="228600" indent="-127000" algn="l">
              <a:spcAft>
                <a:spcPts val="2000"/>
              </a:spcAft>
              <a:buChar char="•"/>
              <a:defRPr sz="2400" b="0">
                <a:solidFill>
                  <a:srgbClr val="20212A"/>
                </a:solidFill>
                <a:latin typeface="Malgun Gothic"/>
                <a:ea typeface="Malgun Gothic"/>
                <a:cs typeface="Malgun Gothic"/>
              </a:defRPr>
            </a:pPr>
            <a:r>
              <a:t>120분부터 Claude 결과 보고 실습을 시작합니다.</a:t>
            </a:r>
          </a:p>
        </p:txBody>
      </p:sp>
      <p:sp>
        <p:nvSpPr>
          <p:cNvPr id="4" name="115–120분">
            <a:extLst xmlns:a="http://schemas.openxmlformats.org/drawingml/2006/main">
              <a:ext uri="{FF2B5EF4-FFF2-40B4-BE49-F238E27FC236}">
                <a16:creationId xmlns:a16="http://schemas.microsoft.com/office/drawing/2014/main" id="{3B1171D2-E4C4-4C03-B62C-34FD8B5C6BC7}"/>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115–120분</a:t>
            </a:r>
          </a:p>
        </p:txBody>
      </p:sp>
      <p:sp>
        <p:nvSpPr>
          <p:cNvPr id="5" name="웹 실습 열기">
            <a:extLst xmlns:a="http://schemas.openxmlformats.org/drawingml/2006/main">
              <a:ext uri="{FF2B5EF4-FFF2-40B4-BE49-F238E27FC236}">
                <a16:creationId xmlns:a16="http://schemas.microsoft.com/office/drawing/2014/main" id="{E204E0EE-6546-4A83-B02B-7BF47DD60980}"/>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92c20dc318d4c6d"/>
              </a:rPr>
              <a:t>웹 실습 열기</a:t>
            </a:r>
          </a:p>
        </p:txBody>
      </p:sp>
      <p:sp>
        <p:nvSpPr>
          <p:cNvPr id="6" name="37">
            <a:extLst xmlns:a="http://schemas.openxmlformats.org/drawingml/2006/main">
              <a:ext uri="{FF2B5EF4-FFF2-40B4-BE49-F238E27FC236}">
                <a16:creationId xmlns:a16="http://schemas.microsoft.com/office/drawing/2014/main" id="{37581DFB-113D-43E0-936D-6B666917EB7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37</a:t>
            </a:r>
          </a:p>
        </p:txBody>
      </p:sp>
    </p:spTree>
    <p:extLst>
      <p:ext uri="{BB962C8B-B14F-4D97-AF65-F5344CB8AC3E}">
        <p14:creationId xmlns:p14="http://schemas.microsoft.com/office/powerpoint/2010/main" val="66848232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laude 결과 보고 실습">
            <a:extLst xmlns:a="http://schemas.openxmlformats.org/drawingml/2006/main">
              <a:ext uri="{FF2B5EF4-FFF2-40B4-BE49-F238E27FC236}">
                <a16:creationId xmlns:a16="http://schemas.microsoft.com/office/drawing/2014/main" id="{EF000463-21B1-4830-A776-EB546B7CD7C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Claude 결과 보고 실습</a:t>
            </a:r>
          </a:p>
        </p:txBody>
      </p:sp>
      <p:sp>
        <p:nvSpPr>
          <p:cNvPr id="2" name="">
            <a:extLst xmlns:a="http://schemas.openxmlformats.org/drawingml/2006/main">
              <a:ext uri="{FF2B5EF4-FFF2-40B4-BE49-F238E27FC236}">
                <a16:creationId xmlns:a16="http://schemas.microsoft.com/office/drawing/2014/main" id="{61674C4C-06E1-446B-8550-E356A148D85D}"/>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10월 31일에 모인 출석·설문·지출과 부서 메일</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부서장이 논의할 결정 안건 두 가지</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본문 1,200~1,600자와 지표·후속 업무 표</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전체 보고서를 보관하고 350~500자 전달 메일 별도 작성</a:t>
            </a:r>
          </a:p>
        </p:txBody>
      </p:sp>
      <p:sp>
        <p:nvSpPr>
          <p:cNvPr id="3" name="15번 행사 후 자료만 사용합니다.">
            <a:extLst xmlns:a="http://schemas.openxmlformats.org/drawingml/2006/main">
              <a:ext uri="{FF2B5EF4-FFF2-40B4-BE49-F238E27FC236}">
                <a16:creationId xmlns:a16="http://schemas.microsoft.com/office/drawing/2014/main" id="{5CCBDE15-2E95-4A8D-800D-626EB15E7DBC}"/>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15번 행사 후 자료만 사용합니다.</a:t>
            </a:r>
          </a:p>
        </p:txBody>
      </p:sp>
      <p:sp>
        <p:nvSpPr>
          <p:cNvPr id="4" name="120–123분">
            <a:extLst xmlns:a="http://schemas.openxmlformats.org/drawingml/2006/main">
              <a:ext uri="{FF2B5EF4-FFF2-40B4-BE49-F238E27FC236}">
                <a16:creationId xmlns:a16="http://schemas.microsoft.com/office/drawing/2014/main" id="{2426DB50-06B5-4EB6-8485-B538D1BCF5D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120–123분</a:t>
            </a:r>
          </a:p>
        </p:txBody>
      </p:sp>
      <p:sp>
        <p:nvSpPr>
          <p:cNvPr id="5" name="웹 실습 열기">
            <a:extLst xmlns:a="http://schemas.openxmlformats.org/drawingml/2006/main">
              <a:ext uri="{FF2B5EF4-FFF2-40B4-BE49-F238E27FC236}">
                <a16:creationId xmlns:a16="http://schemas.microsoft.com/office/drawing/2014/main" id="{28E732B8-0F67-4F12-ACC9-1EC420AB1C7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a13389b1ccd54f61"/>
              </a:rPr>
              <a:t>웹 실습 열기</a:t>
            </a:r>
          </a:p>
        </p:txBody>
      </p:sp>
      <p:sp>
        <p:nvSpPr>
          <p:cNvPr id="6" name="38">
            <a:extLst xmlns:a="http://schemas.openxmlformats.org/drawingml/2006/main">
              <a:ext uri="{FF2B5EF4-FFF2-40B4-BE49-F238E27FC236}">
                <a16:creationId xmlns:a16="http://schemas.microsoft.com/office/drawing/2014/main" id="{D88EF86A-6AC1-42DD-8037-933AE6746A8B}"/>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38</a:t>
            </a:r>
          </a:p>
        </p:txBody>
      </p:sp>
    </p:spTree>
    <p:extLst>
      <p:ext uri="{BB962C8B-B14F-4D97-AF65-F5344CB8AC3E}">
        <p14:creationId xmlns:p14="http://schemas.microsoft.com/office/powerpoint/2010/main" val="118938268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임시 집계와 확정 대장">
            <a:extLst xmlns:a="http://schemas.openxmlformats.org/drawingml/2006/main">
              <a:ext uri="{FF2B5EF4-FFF2-40B4-BE49-F238E27FC236}">
                <a16:creationId xmlns:a16="http://schemas.microsoft.com/office/drawing/2014/main" id="{38AFDA92-E133-44D8-AAB2-34C0FBB87FFC}"/>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임시 집계와 확정 대장</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2476500"/>
                <a:gridCol w="3619500"/>
                <a:gridCol w="4667250"/>
              </a:tblGrid>
              <a:tr h="590550">
                <a:tc>
                  <a:txBody>
                    <a:bodyPr lIns="114300" tIns="66675" rIns="114300" bIns="57150">
                      <a:noAutofit/>
                    </a:bodyPr>
                    <a:lstStyle/>
                    <a:p>
                      <a:pPr algn="l"/>
                      <a:r>
                        <a:rPr sz="1875" b="1">
                          <a:solidFill>
                            <a:srgbClr val="FFFFFF"/>
                          </a:solidFill>
                          <a:latin typeface="Malgun Gothic"/>
                          <a:ea typeface="Malgun Gothic"/>
                          <a:cs typeface="Malgun Gothic"/>
                        </a:rPr>
                        <a:t>받은 숫자</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무엇을 센 값인가</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보고서에 사용할 기준</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참석 29</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입장 서명 줄 수</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P16 재입장 중복 제외</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완료 25</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제출 폴더 묶음 수</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P22 재제출 중복 제외</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설문 24건, 평균 4.5</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마감 전 중간 화면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20:00 마감 원응답 25건</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지출 전표 6건</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행사 후 집행 기록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준비 예산과 중복 합산하지 않음</a:t>
                      </a:r>
                    </a:p>
                  </a:txBody>
                  <a:tcPr marL="91440" marR="91440" marT="45720" marB="45720" anchor="ctr">
                    <a:solidFill>
                      <a:srgbClr val="F5F2FC"/>
                    </a:solidFill>
                  </a:tcPr>
                </a:tc>
              </a:tr>
            </a:tbl>
          </a:graphicData>
        </a:graphic>
      </p:graphicFrame>
      <p:sp>
        <p:nvSpPr>
          <p:cNvPr id="3" name="출석·제출은 P번호, 설문은 S번호, 의견은 F번호">
            <a:extLst xmlns:a="http://schemas.openxmlformats.org/drawingml/2006/main">
              <a:ext uri="{FF2B5EF4-FFF2-40B4-BE49-F238E27FC236}">
                <a16:creationId xmlns:a16="http://schemas.microsoft.com/office/drawing/2014/main" id="{509BEEA3-56F0-4923-8141-0E15199E60DE}"/>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출석·제출은 P번호, 설문은 S번호, 의견은 F번호입니다. 번호끼리 임의 연결하지 않습니다.</a:t>
            </a:r>
          </a:p>
        </p:txBody>
      </p:sp>
      <p:sp>
        <p:nvSpPr>
          <p:cNvPr id="4" name="123–127분">
            <a:extLst xmlns:a="http://schemas.openxmlformats.org/drawingml/2006/main">
              <a:ext uri="{FF2B5EF4-FFF2-40B4-BE49-F238E27FC236}">
                <a16:creationId xmlns:a16="http://schemas.microsoft.com/office/drawing/2014/main" id="{138CB7BB-52D9-4471-86DE-3CC856CF531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123–127분</a:t>
            </a:r>
          </a:p>
        </p:txBody>
      </p:sp>
      <p:sp>
        <p:nvSpPr>
          <p:cNvPr id="5" name="웹 실습 열기">
            <a:extLst xmlns:a="http://schemas.openxmlformats.org/drawingml/2006/main">
              <a:ext uri="{FF2B5EF4-FFF2-40B4-BE49-F238E27FC236}">
                <a16:creationId xmlns:a16="http://schemas.microsoft.com/office/drawing/2014/main" id="{BAA85E47-A699-4617-AA82-AD4926ACAC3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20cde50fd674179"/>
              </a:rPr>
              <a:t>웹 실습 열기</a:t>
            </a:r>
          </a:p>
        </p:txBody>
      </p:sp>
      <p:sp>
        <p:nvSpPr>
          <p:cNvPr id="6" name="39">
            <a:extLst xmlns:a="http://schemas.openxmlformats.org/drawingml/2006/main">
              <a:ext uri="{FF2B5EF4-FFF2-40B4-BE49-F238E27FC236}">
                <a16:creationId xmlns:a16="http://schemas.microsoft.com/office/drawing/2014/main" id="{D58D2D3A-2493-4932-9B1D-D1206FC64E85}"/>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39</a:t>
            </a:r>
          </a:p>
        </p:txBody>
      </p:sp>
    </p:spTree>
    <p:extLst>
      <p:ext uri="{BB962C8B-B14F-4D97-AF65-F5344CB8AC3E}">
        <p14:creationId xmlns:p14="http://schemas.microsoft.com/office/powerpoint/2010/main" val="21667401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보고서 목차와 결정 요청">
            <a:extLst xmlns:a="http://schemas.openxmlformats.org/drawingml/2006/main">
              <a:ext uri="{FF2B5EF4-FFF2-40B4-BE49-F238E27FC236}">
                <a16:creationId xmlns:a16="http://schemas.microsoft.com/office/drawing/2014/main" id="{9DA9021E-ADC1-4ABA-BF53-9DE5975C2E8A}"/>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 목차와 결정 요청</a:t>
            </a:r>
          </a:p>
        </p:txBody>
      </p:sp>
      <p:sp>
        <p:nvSpPr>
          <p:cNvPr id="2" name="4분">
            <a:extLst xmlns:a="http://schemas.openxmlformats.org/drawingml/2006/main">
              <a:ext uri="{FF2B5EF4-FFF2-40B4-BE49-F238E27FC236}">
                <a16:creationId xmlns:a16="http://schemas.microsoft.com/office/drawing/2014/main" id="{A230F557-1537-4634-80E8-72C9B8BE9B97}"/>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4분</a:t>
            </a:r>
          </a:p>
        </p:txBody>
      </p:sp>
      <p:sp>
        <p:nvSpPr>
          <p:cNvPr id="3" name="전체 자료와 첫 질문을 입력해 사용할 자료와 목차를">
            <a:extLst xmlns:a="http://schemas.openxmlformats.org/drawingml/2006/main">
              <a:ext uri="{FF2B5EF4-FFF2-40B4-BE49-F238E27FC236}">
                <a16:creationId xmlns:a16="http://schemas.microsoft.com/office/drawing/2014/main" id="{AD7E05D1-E410-4731-898E-64472616EC50}"/>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전체 자료와 첫 질문을 입력해 사용할 자료와 목차를 정리합니다.</a:t>
            </a:r>
          </a:p>
        </p:txBody>
      </p:sp>
      <p:sp>
        <p:nvSpPr>
          <p:cNvPr id="4" name="">
            <a:extLst xmlns:a="http://schemas.openxmlformats.org/drawingml/2006/main">
              <a:ext uri="{FF2B5EF4-FFF2-40B4-BE49-F238E27FC236}">
                <a16:creationId xmlns:a16="http://schemas.microsoft.com/office/drawing/2014/main" id="{4F93F7CF-F251-4BC3-A0E6-AA20192AA28F}"/>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확정 자료와 제외할 중간 집계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계산할 지표의 분모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 목차 네 개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로그인 점검 절차와 보충 실습 안내 안건 포함</a:t>
            </a:r>
          </a:p>
        </p:txBody>
      </p:sp>
      <p:sp>
        <p:nvSpPr>
          <p:cNvPr id="5" name="남길 결과">
            <a:extLst xmlns:a="http://schemas.openxmlformats.org/drawingml/2006/main">
              <a:ext uri="{FF2B5EF4-FFF2-40B4-BE49-F238E27FC236}">
                <a16:creationId xmlns:a16="http://schemas.microsoft.com/office/drawing/2014/main" id="{077E6FD1-224F-42EE-B9DD-2FB5461B962C}"/>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자료 목록, 계산 기준, 목차와 결정 요청 2건">
            <a:extLst xmlns:a="http://schemas.openxmlformats.org/drawingml/2006/main">
              <a:ext uri="{FF2B5EF4-FFF2-40B4-BE49-F238E27FC236}">
                <a16:creationId xmlns:a16="http://schemas.microsoft.com/office/drawing/2014/main" id="{8FB6707B-C2DE-4B46-942C-C674B9A2BCF1}"/>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자료 목록, 계산 기준, 목차와 결정 요청 2건</a:t>
            </a:r>
          </a:p>
        </p:txBody>
      </p:sp>
      <p:sp>
        <p:nvSpPr>
          <p:cNvPr id="7" name="127–131분">
            <a:extLst xmlns:a="http://schemas.openxmlformats.org/drawingml/2006/main">
              <a:ext uri="{FF2B5EF4-FFF2-40B4-BE49-F238E27FC236}">
                <a16:creationId xmlns:a16="http://schemas.microsoft.com/office/drawing/2014/main" id="{FB4BC8AA-219D-4C1F-AEBF-19C2E95FDD1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127–131분</a:t>
            </a:r>
          </a:p>
        </p:txBody>
      </p:sp>
      <p:sp>
        <p:nvSpPr>
          <p:cNvPr id="8" name="웹 실습 열기">
            <a:extLst xmlns:a="http://schemas.openxmlformats.org/drawingml/2006/main">
              <a:ext uri="{FF2B5EF4-FFF2-40B4-BE49-F238E27FC236}">
                <a16:creationId xmlns:a16="http://schemas.microsoft.com/office/drawing/2014/main" id="{5AE03F4E-EE7A-4D70-9A54-80B031D0C29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f616078653834e08"/>
              </a:rPr>
              <a:t>웹 실습 열기</a:t>
            </a:r>
          </a:p>
        </p:txBody>
      </p:sp>
      <p:sp>
        <p:nvSpPr>
          <p:cNvPr id="9" name="40">
            <a:extLst xmlns:a="http://schemas.openxmlformats.org/drawingml/2006/main">
              <a:ext uri="{FF2B5EF4-FFF2-40B4-BE49-F238E27FC236}">
                <a16:creationId xmlns:a16="http://schemas.microsoft.com/office/drawing/2014/main" id="{29E17270-28A5-4F41-80C8-166984B8E28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40</a:t>
            </a:r>
          </a:p>
        </p:txBody>
      </p:sp>
    </p:spTree>
    <p:extLst>
      <p:ext uri="{BB962C8B-B14F-4D97-AF65-F5344CB8AC3E}">
        <p14:creationId xmlns:p14="http://schemas.microsoft.com/office/powerpoint/2010/main" val="171849787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집계표를 포함한 보고서 초안">
            <a:extLst xmlns:a="http://schemas.openxmlformats.org/drawingml/2006/main">
              <a:ext uri="{FF2B5EF4-FFF2-40B4-BE49-F238E27FC236}">
                <a16:creationId xmlns:a16="http://schemas.microsoft.com/office/drawing/2014/main" id="{89247F01-A133-4D4B-B306-DB2152358E4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집계표를 포함한 보고서 초안</a:t>
            </a:r>
          </a:p>
        </p:txBody>
      </p:sp>
      <p:sp>
        <p:nvSpPr>
          <p:cNvPr id="2" name="6분">
            <a:extLst xmlns:a="http://schemas.openxmlformats.org/drawingml/2006/main">
              <a:ext uri="{FF2B5EF4-FFF2-40B4-BE49-F238E27FC236}">
                <a16:creationId xmlns:a16="http://schemas.microsoft.com/office/drawing/2014/main" id="{A20E82A6-D06C-43AF-AD80-0D475C82A46A}"/>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6분</a:t>
            </a:r>
          </a:p>
        </p:txBody>
      </p:sp>
      <p:sp>
        <p:nvSpPr>
          <p:cNvPr id="3" name="같은 대화에서 부서장 보고서 초안을 요청합니다.">
            <a:extLst xmlns:a="http://schemas.openxmlformats.org/drawingml/2006/main">
              <a:ext uri="{FF2B5EF4-FFF2-40B4-BE49-F238E27FC236}">
                <a16:creationId xmlns:a16="http://schemas.microsoft.com/office/drawing/2014/main" id="{BE0100AB-17E4-4176-B96A-67CB2264DF66}"/>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같은 대화에서 부서장 보고서 초안을 요청합니다.</a:t>
            </a:r>
          </a:p>
        </p:txBody>
      </p:sp>
      <p:sp>
        <p:nvSpPr>
          <p:cNvPr id="4" name="">
            <a:extLst xmlns:a="http://schemas.openxmlformats.org/drawingml/2006/main">
              <a:ext uri="{FF2B5EF4-FFF2-40B4-BE49-F238E27FC236}">
                <a16:creationId xmlns:a16="http://schemas.microsoft.com/office/drawing/2014/main" id="{6EAFBF86-748E-48F7-BCC9-AC9ED1CE9F8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핵심 결과와 이전·이번 지표 비교표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운영 관찰과 결정 요청 2건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담당 부서·할 일·협의할 기한을 담은 후속 업무표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계산식과 사용 문서 ID를 별도 메모</a:t>
            </a:r>
          </a:p>
        </p:txBody>
      </p:sp>
      <p:sp>
        <p:nvSpPr>
          <p:cNvPr id="5" name="남길 결과">
            <a:extLst xmlns:a="http://schemas.openxmlformats.org/drawingml/2006/main">
              <a:ext uri="{FF2B5EF4-FFF2-40B4-BE49-F238E27FC236}">
                <a16:creationId xmlns:a16="http://schemas.microsoft.com/office/drawing/2014/main" id="{322DBE95-1D70-463C-B164-4664F9C93EAE}"/>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본문 1,200~1,600자, 표와 계산 메모 별도">
            <a:extLst xmlns:a="http://schemas.openxmlformats.org/drawingml/2006/main">
              <a:ext uri="{FF2B5EF4-FFF2-40B4-BE49-F238E27FC236}">
                <a16:creationId xmlns:a16="http://schemas.microsoft.com/office/drawing/2014/main" id="{AD6B10F7-9917-4E7A-8B65-7BC675582B5E}"/>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본문 1,200~1,600자, 표와 계산 메모 별도</a:t>
            </a:r>
          </a:p>
        </p:txBody>
      </p:sp>
      <p:sp>
        <p:nvSpPr>
          <p:cNvPr id="7" name="131–137분">
            <a:extLst xmlns:a="http://schemas.openxmlformats.org/drawingml/2006/main">
              <a:ext uri="{FF2B5EF4-FFF2-40B4-BE49-F238E27FC236}">
                <a16:creationId xmlns:a16="http://schemas.microsoft.com/office/drawing/2014/main" id="{116187EB-C554-4235-9C8A-B33BA87B538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131–137분</a:t>
            </a:r>
          </a:p>
        </p:txBody>
      </p:sp>
      <p:sp>
        <p:nvSpPr>
          <p:cNvPr id="8" name="웹 실습 열기">
            <a:extLst xmlns:a="http://schemas.openxmlformats.org/drawingml/2006/main">
              <a:ext uri="{FF2B5EF4-FFF2-40B4-BE49-F238E27FC236}">
                <a16:creationId xmlns:a16="http://schemas.microsoft.com/office/drawing/2014/main" id="{5CAB79D5-CC75-41E5-B87D-61D001238CE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d16ac8db13dc4f20"/>
              </a:rPr>
              <a:t>웹 실습 열기</a:t>
            </a:r>
          </a:p>
        </p:txBody>
      </p:sp>
      <p:sp>
        <p:nvSpPr>
          <p:cNvPr id="9" name="41">
            <a:extLst xmlns:a="http://schemas.openxmlformats.org/drawingml/2006/main">
              <a:ext uri="{FF2B5EF4-FFF2-40B4-BE49-F238E27FC236}">
                <a16:creationId xmlns:a16="http://schemas.microsoft.com/office/drawing/2014/main" id="{4B7951A3-EB34-4EFC-9B88-EDE965E75C58}"/>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41</a:t>
            </a:r>
          </a:p>
        </p:txBody>
      </p:sp>
    </p:spTree>
    <p:extLst>
      <p:ext uri="{BB962C8B-B14F-4D97-AF65-F5344CB8AC3E}">
        <p14:creationId xmlns:p14="http://schemas.microsoft.com/office/powerpoint/2010/main" val="1575011694"/>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실제 응답의 계산 메모">
            <a:extLst xmlns:a="http://schemas.openxmlformats.org/drawingml/2006/main">
              <a:ext uri="{FF2B5EF4-FFF2-40B4-BE49-F238E27FC236}">
                <a16:creationId xmlns:a16="http://schemas.microsoft.com/office/drawing/2014/main" id="{1A21FDAD-BC88-4E0E-9287-03BEF0119FDE}"/>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실제 응답의 계산 메모</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8e8af50c8a94bfb"/>
          <a:srcRect xmlns:a="http://schemas.openxmlformats.org/drawingml/2006/main" l="17000" t="29000" r="13000" b="26000"/>
          <a:stretch xmlns:a="http://schemas.openxmlformats.org/drawingml/2006/main"/>
        </p:blipFill>
        <p:spPr>
          <a:xfrm xmlns:a="http://schemas.openxmlformats.org/drawingml/2006/main">
            <a:off x="609600" y="1610297"/>
            <a:ext cx="7200900" cy="424700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4D14011-526B-4606-961A-6B98015EA016}"/>
              </a:ext>
            </a:extLst>
          </p:cNvPr>
          <p:cNvSpPr>
            <a:spLocks xmlns:a="http://schemas.openxmlformats.org/drawingml/2006/main" noGrp="1"/>
          </p:cNvSpPr>
          <p:nvPr/>
        </p:nvSpPr>
        <p:spPr>
          <a:xfrm xmlns:a="http://schemas.openxmlformats.org/drawingml/2006/main">
            <a:off x="8201025" y="1752600"/>
            <a:ext cx="3295650" cy="3867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참여 28명, 이수 24명</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설문 점수 합계 112점, 응답 25건</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집행액 845,000원</a:t>
            </a:r>
          </a:p>
          <a:p xmlns:a="http://schemas.openxmlformats.org/drawingml/2006/main">
            <a:pPr marL="228600" indent="-127000" algn="l">
              <a:spcAft>
                <a:spcPts val="1800"/>
              </a:spcAft>
              <a:buChar char="•"/>
              <a:defRPr sz="2025" b="0">
                <a:solidFill>
                  <a:srgbClr val="20212A"/>
                </a:solidFill>
                <a:latin typeface="Malgun Gothic"/>
                <a:ea typeface="Malgun Gothic"/>
                <a:cs typeface="Malgun Gothic"/>
              </a:defRPr>
            </a:pPr>
            <a:r>
              <a:t>반올림은 보고용 표시 단계에서 적용</a:t>
            </a:r>
          </a:p>
        </p:txBody>
      </p:sp>
      <p:sp>
        <p:nvSpPr>
          <p:cNvPr id="4" name="업무실습 실제 응답 일부 확대. 계산 메모의 숫자를">
            <a:extLst xmlns:a="http://schemas.openxmlformats.org/drawingml/2006/main">
              <a:ext uri="{FF2B5EF4-FFF2-40B4-BE49-F238E27FC236}">
                <a16:creationId xmlns:a16="http://schemas.microsoft.com/office/drawing/2014/main" id="{0B9CE325-92AD-4575-97C0-F49F2FBE9111}"/>
              </a:ext>
            </a:extLst>
          </p:cNvPr>
          <p:cNvSpPr>
            <a:spLocks xmlns:a="http://schemas.openxmlformats.org/drawingml/2006/main" noGrp="1"/>
          </p:cNvSpPr>
          <p:nvPr/>
        </p:nvSpPr>
        <p:spPr>
          <a:xfrm xmlns:a="http://schemas.openxmlformats.org/drawingml/2006/main">
            <a:off x="685800" y="599122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업무실습 실제 응답 일부 확대. 계산 메모의 숫자를 원자료로 다시 확인합니다.</a:t>
            </a:r>
          </a:p>
        </p:txBody>
      </p:sp>
      <p:sp>
        <p:nvSpPr>
          <p:cNvPr id="5" name="137–142분">
            <a:extLst xmlns:a="http://schemas.openxmlformats.org/drawingml/2006/main">
              <a:ext uri="{FF2B5EF4-FFF2-40B4-BE49-F238E27FC236}">
                <a16:creationId xmlns:a16="http://schemas.microsoft.com/office/drawing/2014/main" id="{188ABA52-7EA0-4038-A210-D83804EB143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137–142분</a:t>
            </a:r>
          </a:p>
        </p:txBody>
      </p:sp>
      <p:sp>
        <p:nvSpPr>
          <p:cNvPr id="6" name="웹 실습 열기">
            <a:extLst xmlns:a="http://schemas.openxmlformats.org/drawingml/2006/main">
              <a:ext uri="{FF2B5EF4-FFF2-40B4-BE49-F238E27FC236}">
                <a16:creationId xmlns:a16="http://schemas.microsoft.com/office/drawing/2014/main" id="{74A06E01-275B-41F1-8933-1027909C15B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808532940c74e70"/>
              </a:rPr>
              <a:t>웹 실습 열기</a:t>
            </a:r>
          </a:p>
        </p:txBody>
      </p:sp>
      <p:sp>
        <p:nvSpPr>
          <p:cNvPr id="7" name="42">
            <a:extLst xmlns:a="http://schemas.openxmlformats.org/drawingml/2006/main">
              <a:ext uri="{FF2B5EF4-FFF2-40B4-BE49-F238E27FC236}">
                <a16:creationId xmlns:a16="http://schemas.microsoft.com/office/drawing/2014/main" id="{414F04A3-0048-4E08-B476-4430BEA60CE1}"/>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42</a:t>
            </a:r>
          </a:p>
        </p:txBody>
      </p:sp>
    </p:spTree>
    <p:extLst>
      <p:ext uri="{BB962C8B-B14F-4D97-AF65-F5344CB8AC3E}">
        <p14:creationId xmlns:p14="http://schemas.microsoft.com/office/powerpoint/2010/main" val="122103933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재자가 판단할 문장">
            <a:extLst xmlns:a="http://schemas.openxmlformats.org/drawingml/2006/main">
              <a:ext uri="{FF2B5EF4-FFF2-40B4-BE49-F238E27FC236}">
                <a16:creationId xmlns:a16="http://schemas.microsoft.com/office/drawing/2014/main" id="{7C662C1A-9D7A-45C5-BE22-851E216A408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결재자가 판단할 문장</a:t>
            </a:r>
          </a:p>
        </p:txBody>
      </p:sp>
      <p:graphicFrame>
        <p:nvGraphicFramePr>
          <p:cNvPr id="8" name=""/>
          <p:cNvGraphicFramePr/>
          <p:nvPr/>
        </p:nvGraphicFramePr>
        <p:xfrm>
          <a:off xmlns:a="http://schemas.openxmlformats.org/drawingml/2006/main" x="685800" y="1543050"/>
          <a:ext xmlns:a="http://schemas.openxmlformats.org/drawingml/2006/main" cx="10820400" cy="2952750"/>
        </p:xfrm>
        <a:graphic xmlns:a="http://schemas.openxmlformats.org/drawingml/2006/main">
          <a:graphicData uri="http://schemas.openxmlformats.org/drawingml/2006/table">
            <a:tbl>
              <a:tblPr firstRow="1" bandRow="0"/>
              <a:tblGrid>
                <a:gridCol w="4191000"/>
                <a:gridCol w="6572250"/>
              </a:tblGrid>
              <a:tr h="590550">
                <a:tc>
                  <a:txBody>
                    <a:bodyPr lIns="114300" tIns="66675" rIns="114300" bIns="57150">
                      <a:noAutofit/>
                    </a:bodyPr>
                    <a:lstStyle/>
                    <a:p>
                      <a:pPr algn="l"/>
                      <a:r>
                        <a:rPr sz="1875" b="1">
                          <a:solidFill>
                            <a:srgbClr val="FFFFFF"/>
                          </a:solidFill>
                          <a:latin typeface="Malgun Gothic"/>
                          <a:ea typeface="Malgun Gothic"/>
                          <a:cs typeface="Malgun Gothic"/>
                        </a:rPr>
                        <a:t>초안에서 흔한 표현</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수정 방향</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교육 효과가 크게 향상됐다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참여·이수 수치를 먼저 제시하고 효과의 원인은 확인 필요로 남김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로그인 문제로 4명이 미이수했다</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로그인 지연과 미이수 4명은 각각 기록하고 인과는 단정하지 않음</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사전 점검을 시행하지 않았다</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이번 자료에 시행을 확인할 기록이 없다고 범위를 한정</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보충 실습을 실시한다</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안내 여부와 이수 변경 기준을 승인 전 결정 요청으로 표시</a:t>
                      </a:r>
                    </a:p>
                  </a:txBody>
                  <a:tcPr marL="91440" marR="91440" marT="45720" marB="45720" anchor="ctr">
                    <a:solidFill>
                      <a:srgbClr val="F5F2FC"/>
                    </a:solidFill>
                  </a:tcPr>
                </a:tc>
              </a:tr>
            </a:tbl>
          </a:graphicData>
        </a:graphic>
      </p:graphicFrame>
      <p:sp>
        <p:nvSpPr>
          <p:cNvPr id="3" name="수정 5분. 확인된 수치와 비교표·후속 업무표를 유">
            <a:extLst xmlns:a="http://schemas.openxmlformats.org/drawingml/2006/main">
              <a:ext uri="{FF2B5EF4-FFF2-40B4-BE49-F238E27FC236}">
                <a16:creationId xmlns:a16="http://schemas.microsoft.com/office/drawing/2014/main" id="{ECDC116A-1F9F-424E-B2CE-B669D637C886}"/>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수정 5분. 확인된 수치와 비교표·후속 업무표를 유지합니다.</a:t>
            </a:r>
          </a:p>
        </p:txBody>
      </p:sp>
      <p:sp>
        <p:nvSpPr>
          <p:cNvPr id="4" name="142–147분">
            <a:extLst xmlns:a="http://schemas.openxmlformats.org/drawingml/2006/main">
              <a:ext uri="{FF2B5EF4-FFF2-40B4-BE49-F238E27FC236}">
                <a16:creationId xmlns:a16="http://schemas.microsoft.com/office/drawing/2014/main" id="{6FB0F271-30B0-46A8-8332-EF688E5C6F4B}"/>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142–147분</a:t>
            </a:r>
          </a:p>
        </p:txBody>
      </p:sp>
      <p:sp>
        <p:nvSpPr>
          <p:cNvPr id="5" name="웹 실습 열기">
            <a:extLst xmlns:a="http://schemas.openxmlformats.org/drawingml/2006/main">
              <a:ext uri="{FF2B5EF4-FFF2-40B4-BE49-F238E27FC236}">
                <a16:creationId xmlns:a16="http://schemas.microsoft.com/office/drawing/2014/main" id="{4699895C-2665-40E0-9D72-A4EA3057B15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bf8795099d844bfc"/>
              </a:rPr>
              <a:t>웹 실습 열기</a:t>
            </a:r>
          </a:p>
        </p:txBody>
      </p:sp>
      <p:sp>
        <p:nvSpPr>
          <p:cNvPr id="6" name="43">
            <a:extLst xmlns:a="http://schemas.openxmlformats.org/drawingml/2006/main">
              <a:ext uri="{FF2B5EF4-FFF2-40B4-BE49-F238E27FC236}">
                <a16:creationId xmlns:a16="http://schemas.microsoft.com/office/drawing/2014/main" id="{DBFD0C11-CBCC-4762-A259-C52CACF52E6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43</a:t>
            </a:r>
          </a:p>
        </p:txBody>
      </p:sp>
    </p:spTree>
    <p:extLst>
      <p:ext uri="{BB962C8B-B14F-4D97-AF65-F5344CB8AC3E}">
        <p14:creationId xmlns:p14="http://schemas.microsoft.com/office/powerpoint/2010/main" val="100844168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전체 보고서와 전달 메일">
            <a:extLst xmlns:a="http://schemas.openxmlformats.org/drawingml/2006/main">
              <a:ext uri="{FF2B5EF4-FFF2-40B4-BE49-F238E27FC236}">
                <a16:creationId xmlns:a16="http://schemas.microsoft.com/office/drawing/2014/main" id="{1D8F1E28-EF49-4D77-9B8C-07C631F564AB}"/>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전체 보고서와 전달 메일</a:t>
            </a:r>
          </a:p>
        </p:txBody>
      </p:sp>
      <p:sp>
        <p:nvSpPr>
          <p:cNvPr id="2" name="전체 보고서 보관">
            <a:extLst xmlns:a="http://schemas.openxmlformats.org/drawingml/2006/main">
              <a:ext uri="{FF2B5EF4-FFF2-40B4-BE49-F238E27FC236}">
                <a16:creationId xmlns:a16="http://schemas.microsoft.com/office/drawing/2014/main" id="{FEC33B2B-A1CF-4629-B52D-FC9820F155FE}"/>
              </a:ext>
            </a:extLst>
          </p:cNvPr>
          <p:cNvSpPr>
            <a:spLocks xmlns:a="http://schemas.openxmlformats.org/drawingml/2006/main" noGrp="1"/>
          </p:cNvSpPr>
          <p:nvPr/>
        </p:nvSpPr>
        <p:spPr>
          <a:xfrm xmlns:a="http://schemas.openxmlformats.org/drawingml/2006/main">
            <a:off x="685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전체 보고서 보관</a:t>
            </a:r>
          </a:p>
        </p:txBody>
      </p:sp>
      <p:sp>
        <p:nvSpPr>
          <p:cNvPr id="3" name="전달 메일 별도 작성">
            <a:extLst xmlns:a="http://schemas.openxmlformats.org/drawingml/2006/main">
              <a:ext uri="{FF2B5EF4-FFF2-40B4-BE49-F238E27FC236}">
                <a16:creationId xmlns:a16="http://schemas.microsoft.com/office/drawing/2014/main" id="{50B55902-3F13-4884-B218-463D72B466FF}"/>
              </a:ext>
            </a:extLst>
          </p:cNvPr>
          <p:cNvSpPr>
            <a:spLocks xmlns:a="http://schemas.openxmlformats.org/drawingml/2006/main" noGrp="1"/>
          </p:cNvSpPr>
          <p:nvPr/>
        </p:nvSpPr>
        <p:spPr>
          <a:xfrm xmlns:a="http://schemas.openxmlformats.org/drawingml/2006/main">
            <a:off x="6400800" y="1666875"/>
            <a:ext cx="5105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400" b="1">
                <a:solidFill>
                  <a:srgbClr val="6B43C7"/>
                </a:solidFill>
                <a:latin typeface="Malgun Gothic"/>
                <a:ea typeface="Malgun Gothic"/>
                <a:cs typeface="Malgun Gothic"/>
              </a:defRPr>
            </a:pPr>
            <a:r>
              <a:rPr sz="2400" b="1">
                <a:solidFill>
                  <a:srgbClr val="6B43C7"/>
                </a:solidFill>
                <a:latin typeface="Malgun Gothic"/>
                <a:ea typeface="Malgun Gothic"/>
                <a:cs typeface="Malgun Gothic"/>
              </a:rPr>
              <a:t>전달 메일 별도 작성</a:t>
            </a:r>
          </a:p>
        </p:txBody>
      </p:sp>
      <p:sp>
        <p:nvSpPr>
          <p:cNvPr id="4" name="">
            <a:extLst xmlns:a="http://schemas.openxmlformats.org/drawingml/2006/main">
              <a:ext uri="{FF2B5EF4-FFF2-40B4-BE49-F238E27FC236}">
                <a16:creationId xmlns:a16="http://schemas.microsoft.com/office/drawing/2014/main" id="{EA0D1B64-9F4E-4DB8-A6A7-B38023195400}"/>
              </a:ext>
            </a:extLst>
          </p:cNvPr>
          <p:cNvSpPr>
            <a:spLocks xmlns:a="http://schemas.openxmlformats.org/drawingml/2006/main" noGrp="1"/>
          </p:cNvSpPr>
          <p:nvPr/>
        </p:nvSpPr>
        <p:spPr>
          <a:xfrm xmlns:a="http://schemas.openxmlformats.org/drawingml/2006/main">
            <a:off x="723900" y="2476500"/>
            <a:ext cx="50482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본문 1,200~1,600자</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지표 비교표와 후속 업무표</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계산식과 확인 메모</a:t>
            </a:r>
          </a:p>
        </p:txBody>
      </p:sp>
      <p:sp>
        <p:nvSpPr>
          <p:cNvPr id="5" name="">
            <a:extLst xmlns:a="http://schemas.openxmlformats.org/drawingml/2006/main">
              <a:ext uri="{FF2B5EF4-FFF2-40B4-BE49-F238E27FC236}">
                <a16:creationId xmlns:a16="http://schemas.microsoft.com/office/drawing/2014/main" id="{F6538A5A-C664-4371-9E02-FE3C0BE5BEFC}"/>
              </a:ext>
            </a:extLst>
          </p:cNvPr>
          <p:cNvSpPr>
            <a:spLocks xmlns:a="http://schemas.openxmlformats.org/drawingml/2006/main" noGrp="1"/>
          </p:cNvSpPr>
          <p:nvPr/>
        </p:nvSpPr>
        <p:spPr>
          <a:xfrm xmlns:a="http://schemas.openxmlformats.org/drawingml/2006/main">
            <a:off x="6438900" y="2476500"/>
            <a:ext cx="5010150" cy="2905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제목과 본문 350~500자</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참여·이수 현황과 결정 안건 2건</a:t>
            </a:r>
          </a:p>
          <a:p xmlns:a="http://schemas.openxmlformats.org/drawingml/2006/main">
            <a:pPr marL="228600" indent="-127000" algn="l">
              <a:spcAft>
                <a:spcPts val="1800"/>
              </a:spcAft>
              <a:buChar char="•"/>
              <a:defRPr sz="2100" b="0">
                <a:solidFill>
                  <a:srgbClr val="20212A"/>
                </a:solidFill>
                <a:latin typeface="Malgun Gothic"/>
                <a:ea typeface="Malgun Gothic"/>
                <a:cs typeface="Malgun Gothic"/>
              </a:defRPr>
            </a:pPr>
            <a:r>
              <a:t>자세한 표는 첨부 보고서로 안내</a:t>
            </a:r>
          </a:p>
        </p:txBody>
      </p:sp>
      <p:sp>
        <p:nvSpPr>
          <p:cNvPr id="6" name="실습 4분. 초안을 만들고 실제 발송은 하지 않습니">
            <a:extLst xmlns:a="http://schemas.openxmlformats.org/drawingml/2006/main">
              <a:ext uri="{FF2B5EF4-FFF2-40B4-BE49-F238E27FC236}">
                <a16:creationId xmlns:a16="http://schemas.microsoft.com/office/drawing/2014/main" id="{2DEF37D3-AF2D-4B27-BCE5-358D4B7A768B}"/>
              </a:ext>
            </a:extLst>
          </p:cNvPr>
          <p:cNvSpPr>
            <a:spLocks xmlns:a="http://schemas.openxmlformats.org/drawingml/2006/main" noGrp="1"/>
          </p:cNvSpPr>
          <p:nvPr/>
        </p:nvSpPr>
        <p:spPr>
          <a:xfrm xmlns:a="http://schemas.openxmlformats.org/drawingml/2006/main">
            <a:off x="685800" y="5791200"/>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실습 4분. 초안을 만들고 실제 발송은 하지 않습니다.</a:t>
            </a:r>
          </a:p>
        </p:txBody>
      </p:sp>
      <p:sp>
        <p:nvSpPr>
          <p:cNvPr id="7" name="147–151분">
            <a:extLst xmlns:a="http://schemas.openxmlformats.org/drawingml/2006/main">
              <a:ext uri="{FF2B5EF4-FFF2-40B4-BE49-F238E27FC236}">
                <a16:creationId xmlns:a16="http://schemas.microsoft.com/office/drawing/2014/main" id="{A9DCDEC2-EBD8-4804-886A-153252B9C5FA}"/>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147–151분</a:t>
            </a:r>
          </a:p>
        </p:txBody>
      </p:sp>
      <p:sp>
        <p:nvSpPr>
          <p:cNvPr id="8" name="웹 실습 열기">
            <a:extLst xmlns:a="http://schemas.openxmlformats.org/drawingml/2006/main">
              <a:ext uri="{FF2B5EF4-FFF2-40B4-BE49-F238E27FC236}">
                <a16:creationId xmlns:a16="http://schemas.microsoft.com/office/drawing/2014/main" id="{585764E2-49C2-471C-9712-2545852E2A3E}"/>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8a62db84c144887"/>
              </a:rPr>
              <a:t>웹 실습 열기</a:t>
            </a:r>
          </a:p>
        </p:txBody>
      </p:sp>
      <p:sp>
        <p:nvSpPr>
          <p:cNvPr id="9" name="44">
            <a:extLst xmlns:a="http://schemas.openxmlformats.org/drawingml/2006/main">
              <a:ext uri="{FF2B5EF4-FFF2-40B4-BE49-F238E27FC236}">
                <a16:creationId xmlns:a16="http://schemas.microsoft.com/office/drawing/2014/main" id="{51F514E6-84DB-412F-A809-78A9DB240F3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44</a:t>
            </a:r>
          </a:p>
        </p:txBody>
      </p:sp>
    </p:spTree>
    <p:extLst>
      <p:ext uri="{BB962C8B-B14F-4D97-AF65-F5344CB8AC3E}">
        <p14:creationId xmlns:p14="http://schemas.microsoft.com/office/powerpoint/2010/main" val="40861231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직접 확인할 핵심 수치">
            <a:extLst xmlns:a="http://schemas.openxmlformats.org/drawingml/2006/main">
              <a:ext uri="{FF2B5EF4-FFF2-40B4-BE49-F238E27FC236}">
                <a16:creationId xmlns:a16="http://schemas.microsoft.com/office/drawing/2014/main" id="{3BF8D651-F603-42BF-BCAF-ADBC31E4821E}"/>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직접 확인할 핵심 수치</a:t>
            </a:r>
          </a:p>
        </p:txBody>
      </p:sp>
      <p:graphicFrame>
        <p:nvGraphicFramePr>
          <p:cNvPr id="8" name=""/>
          <p:cNvGraphicFramePr/>
          <p:nvPr/>
        </p:nvGraphicFramePr>
        <p:xfrm>
          <a:off xmlns:a="http://schemas.openxmlformats.org/drawingml/2006/main" x="685800" y="1543050"/>
          <a:ext xmlns:a="http://schemas.openxmlformats.org/drawingml/2006/main" cx="10820400" cy="4133850"/>
        </p:xfrm>
        <a:graphic xmlns:a="http://schemas.openxmlformats.org/drawingml/2006/main">
          <a:graphicData uri="http://schemas.openxmlformats.org/drawingml/2006/table">
            <a:tbl>
              <a:tblPr firstRow="1" bandRow="0"/>
              <a:tblGrid>
                <a:gridCol w="2381250"/>
                <a:gridCol w="2476500"/>
                <a:gridCol w="2857500"/>
                <a:gridCol w="3048000"/>
              </a:tblGrid>
              <a:tr h="590550">
                <a:tc>
                  <a:txBody>
                    <a:bodyPr lIns="114300" tIns="66675" rIns="114300" bIns="57150">
                      <a:noAutofit/>
                    </a:bodyPr>
                    <a:lstStyle/>
                    <a:p>
                      <a:pPr algn="l"/>
                      <a:r>
                        <a:rPr sz="1875" b="1">
                          <a:solidFill>
                            <a:srgbClr val="FFFFFF"/>
                          </a:solidFill>
                          <a:latin typeface="Malgun Gothic"/>
                          <a:ea typeface="Malgun Gothic"/>
                          <a:cs typeface="Malgun Gothic"/>
                        </a:rPr>
                        <a:t>지표</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이전 회차</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이번 회차</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변화·계산</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실제 참여</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20명</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28명</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8명, 40.0% 증가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이수율</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16÷20 = 80.0%</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24÷28 ≈ 85.7%</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5.7%p 상승</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집행액</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720,000원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845,000원</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125,000원, 약 17.4% 증가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1인당 집행액</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36,000원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30,179원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약 16.2% 감소</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설문 응답률</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18÷20 = 90.0%</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25÷28 ≈ 89.3%</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실제 참여자 기준</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만족도 평균</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표시값 4.2점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112÷25 = 4.48점</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표시 4.5점</a:t>
                      </a:r>
                    </a:p>
                  </a:txBody>
                  <a:tcPr marL="91440" marR="91440" marT="45720" marB="45720" anchor="ctr">
                    <a:solidFill>
                      <a:srgbClr val="F5F2FC"/>
                    </a:solidFill>
                  </a:tcPr>
                </a:tc>
              </a:tr>
            </a:tbl>
          </a:graphicData>
        </a:graphic>
      </p:graphicFrame>
      <p:sp>
        <p:nvSpPr>
          <p:cNvPr id="3" name="원 단위, 비율은 소수점 첫째 자리. 계산에는 반올">
            <a:extLst xmlns:a="http://schemas.openxmlformats.org/drawingml/2006/main">
              <a:ext uri="{FF2B5EF4-FFF2-40B4-BE49-F238E27FC236}">
                <a16:creationId xmlns:a16="http://schemas.microsoft.com/office/drawing/2014/main" id="{1E902059-53EE-4AAC-850C-4D1922625212}"/>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원 단위, 비율은 소수점 첫째 자리. 계산에는 반올림 전 값을 사용합니다.</a:t>
            </a:r>
          </a:p>
        </p:txBody>
      </p:sp>
      <p:sp>
        <p:nvSpPr>
          <p:cNvPr id="4" name="151–156분">
            <a:extLst xmlns:a="http://schemas.openxmlformats.org/drawingml/2006/main">
              <a:ext uri="{FF2B5EF4-FFF2-40B4-BE49-F238E27FC236}">
                <a16:creationId xmlns:a16="http://schemas.microsoft.com/office/drawing/2014/main" id="{BFE3DAEA-3CBD-4CDF-91F7-5AD0291ED67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151–156분</a:t>
            </a:r>
          </a:p>
        </p:txBody>
      </p:sp>
      <p:sp>
        <p:nvSpPr>
          <p:cNvPr id="5" name="웹 실습 열기">
            <a:extLst xmlns:a="http://schemas.openxmlformats.org/drawingml/2006/main">
              <a:ext uri="{FF2B5EF4-FFF2-40B4-BE49-F238E27FC236}">
                <a16:creationId xmlns:a16="http://schemas.microsoft.com/office/drawing/2014/main" id="{72542E20-7285-4F3C-AE76-B7B7680C473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574737bf0cdc42b4"/>
              </a:rPr>
              <a:t>웹 실습 열기</a:t>
            </a:r>
          </a:p>
        </p:txBody>
      </p:sp>
      <p:sp>
        <p:nvSpPr>
          <p:cNvPr id="6" name="45">
            <a:extLst xmlns:a="http://schemas.openxmlformats.org/drawingml/2006/main">
              <a:ext uri="{FF2B5EF4-FFF2-40B4-BE49-F238E27FC236}">
                <a16:creationId xmlns:a16="http://schemas.microsoft.com/office/drawing/2014/main" id="{2CFD74FD-CA49-4A7C-890A-B02A93542CE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45</a:t>
            </a:r>
          </a:p>
        </p:txBody>
      </p:sp>
    </p:spTree>
    <p:extLst>
      <p:ext uri="{BB962C8B-B14F-4D97-AF65-F5344CB8AC3E}">
        <p14:creationId xmlns:p14="http://schemas.microsoft.com/office/powerpoint/2010/main" val="1050699829"/>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보고서에서 확인할 수 없는 내용">
            <a:extLst xmlns:a="http://schemas.openxmlformats.org/drawingml/2006/main">
              <a:ext uri="{FF2B5EF4-FFF2-40B4-BE49-F238E27FC236}">
                <a16:creationId xmlns:a16="http://schemas.microsoft.com/office/drawing/2014/main" id="{B6AEA986-654D-4658-8696-E355D6814337}"/>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보고서에서 확인할 수 없는 내용</a:t>
            </a:r>
          </a:p>
        </p:txBody>
      </p:sp>
      <p:graphicFrame>
        <p:nvGraphicFramePr>
          <p:cNvPr id="8" name=""/>
          <p:cNvGraphicFramePr/>
          <p:nvPr/>
        </p:nvGraphicFramePr>
        <p:xfrm>
          <a:off xmlns:a="http://schemas.openxmlformats.org/drawingml/2006/main" x="685800" y="1543050"/>
          <a:ext xmlns:a="http://schemas.openxmlformats.org/drawingml/2006/main" cx="10820400" cy="3543300"/>
        </p:xfrm>
        <a:graphic xmlns:a="http://schemas.openxmlformats.org/drawingml/2006/main">
          <a:graphicData uri="http://schemas.openxmlformats.org/drawingml/2006/table">
            <a:tbl>
              <a:tblPr firstRow="1" bandRow="0"/>
              <a:tblGrid>
                <a:gridCol w="4953000"/>
                <a:gridCol w="5810250"/>
              </a:tblGrid>
              <a:tr h="590550">
                <a:tc>
                  <a:txBody>
                    <a:bodyPr lIns="114300" tIns="66675" rIns="114300" bIns="57150">
                      <a:noAutofit/>
                    </a:bodyPr>
                    <a:lstStyle/>
                    <a:p>
                      <a:pPr algn="l"/>
                      <a:r>
                        <a:rPr sz="1875" b="1">
                          <a:solidFill>
                            <a:srgbClr val="FFFFFF"/>
                          </a:solidFill>
                          <a:latin typeface="Malgun Gothic"/>
                          <a:ea typeface="Malgun Gothic"/>
                          <a:cs typeface="Malgun Gothic"/>
                        </a:rPr>
                        <a:t>확인한 사실</a:t>
                      </a:r>
                    </a:p>
                  </a:txBody>
                  <a:tcPr marL="91440" marR="91440" marT="45720" marB="45720" anchor="ctr">
                    <a:solidFill>
                      <a:srgbClr val="6B43C7"/>
                    </a:solidFill>
                  </a:tcPr>
                </a:tc>
                <a:tc>
                  <a:txBody>
                    <a:bodyPr lIns="114300" tIns="66675" rIns="114300" bIns="57150">
                      <a:noAutofit/>
                    </a:bodyPr>
                    <a:lstStyle/>
                    <a:p>
                      <a:pPr algn="l"/>
                      <a:r>
                        <a:rPr sz="1875" b="1">
                          <a:solidFill>
                            <a:srgbClr val="FFFFFF"/>
                          </a:solidFill>
                          <a:latin typeface="Malgun Gothic"/>
                          <a:ea typeface="Malgun Gothic"/>
                          <a:cs typeface="Malgun Gothic"/>
                        </a:rPr>
                        <a:t>추가 자료가 필요한 판단</a:t>
                      </a:r>
                    </a:p>
                  </a:txBody>
                  <a:tcPr marL="91440" marR="91440" marT="45720" marB="45720" anchor="ctr">
                    <a:solidFill>
                      <a:srgbClr val="6B43C7"/>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P07·P12·P19·P25는 일부 결과물 미제출</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미이수한 이유</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일부 참가자의 로그인 지연 기록</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전체 지연 인원과 분 단위 소요 시간</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자유 의견 12건</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전체 참가자의 의견 비율과 인과</a:t>
                      </a:r>
                    </a:p>
                  </a:txBody>
                  <a:tcPr marL="91440" marR="91440" marT="45720" marB="45720" anchor="ctr">
                    <a:solidFill>
                      <a:srgbClr val="FFFFFF"/>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1인당 집행액 감소</a:t>
                      </a:r>
                    </a:p>
                  </a:txBody>
                  <a:tcPr marL="91440" marR="91440" marT="45720" marB="45720" anchor="ctr">
                    <a:solidFill>
                      <a:srgbClr val="F5F2FC"/>
                    </a:solidFill>
                  </a:tcPr>
                </a:tc>
                <a:tc>
                  <a:txBody>
                    <a:bodyPr lIns="114300" tIns="66675" rIns="114300" bIns="57150">
                      <a:noAutofit/>
                    </a:bodyPr>
                    <a:lstStyle/>
                    <a:p>
                      <a:pPr algn="l"/>
                      <a:r>
                        <a:rPr sz="1875" b="0">
                          <a:solidFill>
                            <a:srgbClr val="20212A"/>
                          </a:solidFill>
                          <a:latin typeface="Malgun Gothic"/>
                          <a:ea typeface="Malgun Gothic"/>
                          <a:cs typeface="Malgun Gothic"/>
                        </a:rPr>
                        <a:t>교육 효과나 도구별 생산성 향상</a:t>
                      </a:r>
                    </a:p>
                  </a:txBody>
                  <a:tcPr marL="91440" marR="91440" marT="45720" marB="45720" anchor="ctr">
                    <a:solidFill>
                      <a:srgbClr val="F5F2FC"/>
                    </a:solidFill>
                  </a:tcPr>
                </a:tc>
              </a:tr>
              <a:tr h="590550">
                <a:tc>
                  <a:txBody>
                    <a:bodyPr lIns="114300" tIns="66675" rIns="114300" bIns="57150">
                      <a:noAutofit/>
                    </a:bodyPr>
                    <a:lstStyle/>
                    <a:p>
                      <a:pPr algn="l"/>
                      <a:r>
                        <a:rPr sz="1875" b="0">
                          <a:solidFill>
                            <a:srgbClr val="20212A"/>
                          </a:solidFill>
                          <a:latin typeface="Malgun Gothic"/>
                          <a:ea typeface="Malgun Gothic"/>
                          <a:cs typeface="Malgun Gothic"/>
                        </a:rPr>
                        <a:t>이번 설문 원응답 25건 제공</a:t>
                      </a:r>
                    </a:p>
                  </a:txBody>
                  <a:tcPr marL="91440" marR="91440" marT="45720" marB="45720" anchor="ctr">
                    <a:solidFill>
                      <a:srgbClr val="FFFFFF"/>
                    </a:solidFill>
                  </a:tcPr>
                </a:tc>
                <a:tc>
                  <a:txBody>
                    <a:bodyPr lIns="114300" tIns="66675" rIns="114300" bIns="57150">
                      <a:noAutofit/>
                    </a:bodyPr>
                    <a:lstStyle/>
                    <a:p>
                      <a:pPr algn="l"/>
                      <a:r>
                        <a:rPr sz="1875" b="0">
                          <a:solidFill>
                            <a:srgbClr val="20212A"/>
                          </a:solidFill>
                          <a:latin typeface="Malgun Gothic"/>
                          <a:ea typeface="Malgun Gothic"/>
                          <a:cs typeface="Malgun Gothic"/>
                        </a:rPr>
                        <a:t>이전 회차의 응답별 점수</a:t>
                      </a:r>
                    </a:p>
                  </a:txBody>
                  <a:tcPr marL="91440" marR="91440" marT="45720" marB="45720" anchor="ctr">
                    <a:solidFill>
                      <a:srgbClr val="FFFFFF"/>
                    </a:solidFill>
                  </a:tcPr>
                </a:tc>
              </a:tr>
            </a:tbl>
          </a:graphicData>
        </a:graphic>
      </p:graphicFrame>
      <p:sp>
        <p:nvSpPr>
          <p:cNvPr id="3" name="확인된 사실을 먼저 쓰고, 판단에 필요한 추가 자료">
            <a:extLst xmlns:a="http://schemas.openxmlformats.org/drawingml/2006/main">
              <a:ext uri="{FF2B5EF4-FFF2-40B4-BE49-F238E27FC236}">
                <a16:creationId xmlns:a16="http://schemas.microsoft.com/office/drawing/2014/main" id="{92C385C3-0C01-437A-A7D3-2B22B5862E3E}"/>
              </a:ext>
            </a:extLst>
          </p:cNvPr>
          <p:cNvSpPr>
            <a:spLocks xmlns:a="http://schemas.openxmlformats.org/drawingml/2006/main" noGrp="1"/>
          </p:cNvSpPr>
          <p:nvPr/>
        </p:nvSpPr>
        <p:spPr>
          <a:xfrm xmlns:a="http://schemas.openxmlformats.org/drawingml/2006/main">
            <a:off x="685800" y="58102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확인된 사실을 먼저 쓰고, 판단에 필요한 추가 자료를 구체적으로 남깁니다.</a:t>
            </a:r>
          </a:p>
        </p:txBody>
      </p:sp>
      <p:sp>
        <p:nvSpPr>
          <p:cNvPr id="4" name="156–160분">
            <a:extLst xmlns:a="http://schemas.openxmlformats.org/drawingml/2006/main">
              <a:ext uri="{FF2B5EF4-FFF2-40B4-BE49-F238E27FC236}">
                <a16:creationId xmlns:a16="http://schemas.microsoft.com/office/drawing/2014/main" id="{58AEC789-3CC3-443C-94E3-F00A62FE07B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156–160분</a:t>
            </a:r>
          </a:p>
        </p:txBody>
      </p:sp>
      <p:sp>
        <p:nvSpPr>
          <p:cNvPr id="5" name="웹 실습 열기">
            <a:extLst xmlns:a="http://schemas.openxmlformats.org/drawingml/2006/main">
              <a:ext uri="{FF2B5EF4-FFF2-40B4-BE49-F238E27FC236}">
                <a16:creationId xmlns:a16="http://schemas.microsoft.com/office/drawing/2014/main" id="{CD9A0BDF-A369-4543-8943-5FA247755A07}"/>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e0b5db66bc94885"/>
              </a:rPr>
              <a:t>웹 실습 열기</a:t>
            </a:r>
          </a:p>
        </p:txBody>
      </p:sp>
      <p:sp>
        <p:nvSpPr>
          <p:cNvPr id="6" name="46">
            <a:extLst xmlns:a="http://schemas.openxmlformats.org/drawingml/2006/main">
              <a:ext uri="{FF2B5EF4-FFF2-40B4-BE49-F238E27FC236}">
                <a16:creationId xmlns:a16="http://schemas.microsoft.com/office/drawing/2014/main" id="{C973E6F8-DB40-4D72-982A-40B9247F17E3}"/>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46</a:t>
            </a:r>
          </a:p>
        </p:txBody>
      </p:sp>
    </p:spTree>
    <p:extLst>
      <p:ext uri="{BB962C8B-B14F-4D97-AF65-F5344CB8AC3E}">
        <p14:creationId xmlns:p14="http://schemas.microsoft.com/office/powerpoint/2010/main" val="170048115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보고서와 메일의 짝 검토">
            <a:extLst xmlns:a="http://schemas.openxmlformats.org/drawingml/2006/main">
              <a:ext uri="{FF2B5EF4-FFF2-40B4-BE49-F238E27FC236}">
                <a16:creationId xmlns:a16="http://schemas.microsoft.com/office/drawing/2014/main" id="{D14807D9-F440-43D7-932E-E6759141362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보고서와 메일의 짝 검토</a:t>
            </a:r>
          </a:p>
        </p:txBody>
      </p:sp>
      <p:sp>
        <p:nvSpPr>
          <p:cNvPr id="2" name="5분">
            <a:extLst xmlns:a="http://schemas.openxmlformats.org/drawingml/2006/main">
              <a:ext uri="{FF2B5EF4-FFF2-40B4-BE49-F238E27FC236}">
                <a16:creationId xmlns:a16="http://schemas.microsoft.com/office/drawing/2014/main" id="{3CC08659-BF6C-40B8-9F2C-F60957B761DB}"/>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5분</a:t>
            </a:r>
          </a:p>
        </p:txBody>
      </p:sp>
      <p:sp>
        <p:nvSpPr>
          <p:cNvPr id="3" name="서로의 보고서에서 숫자 한 곳과 확정 표현 한 곳을">
            <a:extLst xmlns:a="http://schemas.openxmlformats.org/drawingml/2006/main">
              <a:ext uri="{FF2B5EF4-FFF2-40B4-BE49-F238E27FC236}">
                <a16:creationId xmlns:a16="http://schemas.microsoft.com/office/drawing/2014/main" id="{F9979E23-EFC1-47C3-8A0F-C88DAA30CC2E}"/>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서로의 보고서에서 숫자 한 곳과 확정 표현 한 곳을 확인합니다.</a:t>
            </a:r>
          </a:p>
        </p:txBody>
      </p:sp>
      <p:sp>
        <p:nvSpPr>
          <p:cNvPr id="4" name="">
            <a:extLst xmlns:a="http://schemas.openxmlformats.org/drawingml/2006/main">
              <a:ext uri="{FF2B5EF4-FFF2-40B4-BE49-F238E27FC236}">
                <a16:creationId xmlns:a16="http://schemas.microsoft.com/office/drawing/2014/main" id="{48A8FDA2-7076-419D-ACB3-5DE83DBDA3B7}"/>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대장의 집계와 비교표 수치 맞추기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보고서와 전달 메일의 결정 요청 2건 비교</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제안한 담당·기한을 확정된 값과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바꾼 문장과 아직 확인할 항목 기록</a:t>
            </a:r>
          </a:p>
        </p:txBody>
      </p:sp>
      <p:sp>
        <p:nvSpPr>
          <p:cNvPr id="5" name="남길 결과">
            <a:extLst xmlns:a="http://schemas.openxmlformats.org/drawingml/2006/main">
              <a:ext uri="{FF2B5EF4-FFF2-40B4-BE49-F238E27FC236}">
                <a16:creationId xmlns:a16="http://schemas.microsoft.com/office/drawing/2014/main" id="{0E9BD564-7C10-4632-888E-4E66FB4CA2C9}"/>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전체 보고서, 전달 메일, 계산표, 확인 메모">
            <a:extLst xmlns:a="http://schemas.openxmlformats.org/drawingml/2006/main">
              <a:ext uri="{FF2B5EF4-FFF2-40B4-BE49-F238E27FC236}">
                <a16:creationId xmlns:a16="http://schemas.microsoft.com/office/drawing/2014/main" id="{FB1BD9D5-54B5-47C8-BD39-2621FBE3C514}"/>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전체 보고서, 전달 메일, 계산표, 확인 메모</a:t>
            </a:r>
          </a:p>
        </p:txBody>
      </p:sp>
      <p:sp>
        <p:nvSpPr>
          <p:cNvPr id="7" name="160–165분">
            <a:extLst xmlns:a="http://schemas.openxmlformats.org/drawingml/2006/main">
              <a:ext uri="{FF2B5EF4-FFF2-40B4-BE49-F238E27FC236}">
                <a16:creationId xmlns:a16="http://schemas.microsoft.com/office/drawing/2014/main" id="{9A60E2A2-4603-4E16-9F4B-31E59456658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160–165분</a:t>
            </a:r>
          </a:p>
        </p:txBody>
      </p:sp>
      <p:sp>
        <p:nvSpPr>
          <p:cNvPr id="8" name="웹 실습 열기">
            <a:extLst xmlns:a="http://schemas.openxmlformats.org/drawingml/2006/main">
              <a:ext uri="{FF2B5EF4-FFF2-40B4-BE49-F238E27FC236}">
                <a16:creationId xmlns:a16="http://schemas.microsoft.com/office/drawing/2014/main" id="{0D8C9196-A7CF-45D0-AD0E-B2BF5E42E8A5}"/>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26b0fc5511f14f10"/>
              </a:rPr>
              <a:t>웹 실습 열기</a:t>
            </a:r>
          </a:p>
        </p:txBody>
      </p:sp>
      <p:sp>
        <p:nvSpPr>
          <p:cNvPr id="9" name="47">
            <a:extLst xmlns:a="http://schemas.openxmlformats.org/drawingml/2006/main">
              <a:ext uri="{FF2B5EF4-FFF2-40B4-BE49-F238E27FC236}">
                <a16:creationId xmlns:a16="http://schemas.microsoft.com/office/drawing/2014/main" id="{DAE63C7E-BDF1-4AE7-98FA-2A8760B7BA5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47</a:t>
            </a:r>
          </a:p>
        </p:txBody>
      </p:sp>
    </p:spTree>
    <p:extLst>
      <p:ext uri="{BB962C8B-B14F-4D97-AF65-F5344CB8AC3E}">
        <p14:creationId xmlns:p14="http://schemas.microsoft.com/office/powerpoint/2010/main" val="1914863954"/>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결과물과 확인 기록 저장">
            <a:extLst xmlns:a="http://schemas.openxmlformats.org/drawingml/2006/main">
              <a:ext uri="{FF2B5EF4-FFF2-40B4-BE49-F238E27FC236}">
                <a16:creationId xmlns:a16="http://schemas.microsoft.com/office/drawing/2014/main" id="{CB5848D1-21DD-41D9-9F62-F0C7776E1FA3}"/>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결과물과 확인 기록 저장</a:t>
            </a:r>
          </a:p>
        </p:txBody>
      </p:sp>
      <p:sp>
        <p:nvSpPr>
          <p:cNvPr id="2" name="">
            <a:extLst xmlns:a="http://schemas.openxmlformats.org/drawingml/2006/main">
              <a:ext uri="{FF2B5EF4-FFF2-40B4-BE49-F238E27FC236}">
                <a16:creationId xmlns:a16="http://schemas.microsoft.com/office/drawing/2014/main" id="{1D6C816D-DA06-4629-BE7E-C162A6C4D0A9}"/>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문의·회의·구매 검토 결과</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인계표·참가자 FAQ·문의 처리표</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전체 보고서·전달 메일·계산 메모</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원문 위치, 고친 문장, 남은 확인과 수행 방식</a:t>
            </a:r>
          </a:p>
        </p:txBody>
      </p:sp>
      <p:sp>
        <p:nvSpPr>
          <p:cNvPr id="3" name="웹의 전체 기록 받기로 개인 기록을 저장합니다">
            <a:extLst xmlns:a="http://schemas.openxmlformats.org/drawingml/2006/main">
              <a:ext uri="{FF2B5EF4-FFF2-40B4-BE49-F238E27FC236}">
                <a16:creationId xmlns:a16="http://schemas.microsoft.com/office/drawing/2014/main" id="{1A648D32-79D6-4841-972D-73FAB9D73317}"/>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웹의 전체 기록 받기로 개인 기록을 저장합니다</a:t>
            </a:r>
          </a:p>
        </p:txBody>
      </p:sp>
      <p:sp>
        <p:nvSpPr>
          <p:cNvPr id="4" name="165–169분">
            <a:extLst xmlns:a="http://schemas.openxmlformats.org/drawingml/2006/main">
              <a:ext uri="{FF2B5EF4-FFF2-40B4-BE49-F238E27FC236}">
                <a16:creationId xmlns:a16="http://schemas.microsoft.com/office/drawing/2014/main" id="{4E6D6A55-E72D-40E4-A343-B2C9E0785C00}"/>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165–169분</a:t>
            </a:r>
          </a:p>
        </p:txBody>
      </p:sp>
      <p:sp>
        <p:nvSpPr>
          <p:cNvPr id="5" name="웹 실습 열기">
            <a:extLst xmlns:a="http://schemas.openxmlformats.org/drawingml/2006/main">
              <a:ext uri="{FF2B5EF4-FFF2-40B4-BE49-F238E27FC236}">
                <a16:creationId xmlns:a16="http://schemas.microsoft.com/office/drawing/2014/main" id="{A406A25D-9CD1-4822-92BE-339872D246F3}"/>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82b4946353524974"/>
              </a:rPr>
              <a:t>웹 실습 열기</a:t>
            </a:r>
          </a:p>
        </p:txBody>
      </p:sp>
      <p:sp>
        <p:nvSpPr>
          <p:cNvPr id="6" name="48">
            <a:extLst xmlns:a="http://schemas.openxmlformats.org/drawingml/2006/main">
              <a:ext uri="{FF2B5EF4-FFF2-40B4-BE49-F238E27FC236}">
                <a16:creationId xmlns:a16="http://schemas.microsoft.com/office/drawing/2014/main" id="{F75F8B9C-B159-4D4A-81DA-C6BFED8D301D}"/>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48</a:t>
            </a:r>
          </a:p>
        </p:txBody>
      </p:sp>
    </p:spTree>
    <p:extLst>
      <p:ext uri="{BB962C8B-B14F-4D97-AF65-F5344CB8AC3E}">
        <p14:creationId xmlns:p14="http://schemas.microsoft.com/office/powerpoint/2010/main" val="62806358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내 업무에 적용할 작은 계획">
            <a:extLst xmlns:a="http://schemas.openxmlformats.org/drawingml/2006/main">
              <a:ext uri="{FF2B5EF4-FFF2-40B4-BE49-F238E27FC236}">
                <a16:creationId xmlns:a16="http://schemas.microsoft.com/office/drawing/2014/main" id="{857F08C7-8C6C-473A-B1D8-FE2AC57B60A2}"/>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내 업무에 적용할 작은 계획</a:t>
            </a:r>
          </a:p>
        </p:txBody>
      </p:sp>
      <p:sp>
        <p:nvSpPr>
          <p:cNvPr id="2" name="6분">
            <a:extLst xmlns:a="http://schemas.openxmlformats.org/drawingml/2006/main">
              <a:ext uri="{FF2B5EF4-FFF2-40B4-BE49-F238E27FC236}">
                <a16:creationId xmlns:a16="http://schemas.microsoft.com/office/drawing/2014/main" id="{E66396F2-62F9-4D8C-AE8A-1D6C1FB5ABAB}"/>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6분</a:t>
            </a:r>
          </a:p>
        </p:txBody>
      </p:sp>
      <p:sp>
        <p:nvSpPr>
          <p:cNvPr id="3" name="내일부터 해 볼 반복 업무 세 가지를 기록지에 적습">
            <a:extLst xmlns:a="http://schemas.openxmlformats.org/drawingml/2006/main">
              <a:ext uri="{FF2B5EF4-FFF2-40B4-BE49-F238E27FC236}">
                <a16:creationId xmlns:a16="http://schemas.microsoft.com/office/drawing/2014/main" id="{3A177190-A2DE-45F8-B992-9A8FDFEA8BDC}"/>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내일부터 해 볼 반복 업무 세 가지를 기록지에 적습니다.</a:t>
            </a:r>
          </a:p>
        </p:txBody>
      </p:sp>
      <p:sp>
        <p:nvSpPr>
          <p:cNvPr id="4" name="">
            <a:extLst xmlns:a="http://schemas.openxmlformats.org/drawingml/2006/main">
              <a:ext uri="{FF2B5EF4-FFF2-40B4-BE49-F238E27FC236}">
                <a16:creationId xmlns:a16="http://schemas.microsoft.com/office/drawing/2014/main" id="{1F42BA0D-CDB4-4D2B-AB05-ECE32A19D626}"/>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공개 가능 자료 또는 새 가상 자료 선택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필요한 산출물과 사용할 도구 기록</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사람이 확인할 숫자·날짜·승인 상태 정하기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첫 실행의 범위와 저장할 결과 정하기</a:t>
            </a:r>
          </a:p>
        </p:txBody>
      </p:sp>
      <p:sp>
        <p:nvSpPr>
          <p:cNvPr id="5" name="남길 결과">
            <a:extLst xmlns:a="http://schemas.openxmlformats.org/drawingml/2006/main">
              <a:ext uri="{FF2B5EF4-FFF2-40B4-BE49-F238E27FC236}">
                <a16:creationId xmlns:a16="http://schemas.microsoft.com/office/drawing/2014/main" id="{D7A2D479-593B-4021-A024-BE4558A60BB9}"/>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업무별 실행 계획 3행">
            <a:extLst xmlns:a="http://schemas.openxmlformats.org/drawingml/2006/main">
              <a:ext uri="{FF2B5EF4-FFF2-40B4-BE49-F238E27FC236}">
                <a16:creationId xmlns:a16="http://schemas.microsoft.com/office/drawing/2014/main" id="{4E6DC6A0-6157-4AB7-86B2-D3B8A78A5411}"/>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업무별 실행 계획 3행</a:t>
            </a:r>
          </a:p>
        </p:txBody>
      </p:sp>
      <p:sp>
        <p:nvSpPr>
          <p:cNvPr id="7" name="169–175분">
            <a:extLst xmlns:a="http://schemas.openxmlformats.org/drawingml/2006/main">
              <a:ext uri="{FF2B5EF4-FFF2-40B4-BE49-F238E27FC236}">
                <a16:creationId xmlns:a16="http://schemas.microsoft.com/office/drawing/2014/main" id="{BB613C6B-F646-4B8B-A1D0-9FD73F4564B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169–175분</a:t>
            </a:r>
          </a:p>
        </p:txBody>
      </p:sp>
      <p:sp>
        <p:nvSpPr>
          <p:cNvPr id="8" name="웹 실습 열기">
            <a:extLst xmlns:a="http://schemas.openxmlformats.org/drawingml/2006/main">
              <a:ext uri="{FF2B5EF4-FFF2-40B4-BE49-F238E27FC236}">
                <a16:creationId xmlns:a16="http://schemas.microsoft.com/office/drawing/2014/main" id="{A71E3F10-1A29-46D9-AA85-D6C50E33BA92}"/>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b86593decac426c"/>
              </a:rPr>
              <a:t>웹 실습 열기</a:t>
            </a:r>
          </a:p>
        </p:txBody>
      </p:sp>
      <p:sp>
        <p:nvSpPr>
          <p:cNvPr id="9" name="49">
            <a:extLst xmlns:a="http://schemas.openxmlformats.org/drawingml/2006/main">
              <a:ext uri="{FF2B5EF4-FFF2-40B4-BE49-F238E27FC236}">
                <a16:creationId xmlns:a16="http://schemas.microsoft.com/office/drawing/2014/main" id="{0949E3D1-41B0-4B72-8548-A1C1932CD8B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49</a:t>
            </a:r>
          </a:p>
        </p:txBody>
      </p:sp>
    </p:spTree>
    <p:extLst>
      <p:ext uri="{BB962C8B-B14F-4D97-AF65-F5344CB8AC3E}">
        <p14:creationId xmlns:p14="http://schemas.microsoft.com/office/powerpoint/2010/main" val="1115540777"/>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수업 후 다시 연습할 자료">
            <a:extLst xmlns:a="http://schemas.openxmlformats.org/drawingml/2006/main">
              <a:ext uri="{FF2B5EF4-FFF2-40B4-BE49-F238E27FC236}">
                <a16:creationId xmlns:a16="http://schemas.microsoft.com/office/drawing/2014/main" id="{DCABF967-2CA6-438D-BBEC-9C5A7072A8A0}"/>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수업 후 다시 연습할 자료</a:t>
            </a:r>
          </a:p>
        </p:txBody>
      </p:sp>
      <p:sp>
        <p:nvSpPr>
          <p:cNvPr id="2" name="">
            <a:extLst xmlns:a="http://schemas.openxmlformats.org/drawingml/2006/main">
              <a:ext uri="{FF2B5EF4-FFF2-40B4-BE49-F238E27FC236}">
                <a16:creationId xmlns:a16="http://schemas.microsoft.com/office/drawing/2014/main" id="{840D72FF-2DB4-4E87-B0E3-64950957BDDE}"/>
              </a:ext>
            </a:extLst>
          </p:cNvPr>
          <p:cNvSpPr>
            <a:spLocks xmlns:a="http://schemas.openxmlformats.org/drawingml/2006/main" noGrp="1"/>
          </p:cNvSpPr>
          <p:nvPr/>
        </p:nvSpPr>
        <p:spPr>
          <a:xfrm xmlns:a="http://schemas.openxmlformats.org/drawingml/2006/main">
            <a:off x="742950" y="1724025"/>
            <a:ext cx="106680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막혔던 활동은 같은 자료로 다시 실행</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다른 조건을 연습할 때는 추가 과제 8개 중 선택</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먼저 결과를 만들고 원문·해설과 비교</a:t>
            </a:r>
          </a:p>
          <a:p xmlns:a="http://schemas.openxmlformats.org/drawingml/2006/main">
            <a:pPr marL="228600" indent="-127000" algn="l">
              <a:spcAft>
                <a:spcPts val="2200"/>
              </a:spcAft>
              <a:buChar char="•"/>
              <a:defRPr sz="2400" b="0">
                <a:solidFill>
                  <a:srgbClr val="20212A"/>
                </a:solidFill>
                <a:latin typeface="Malgun Gothic"/>
                <a:ea typeface="Malgun Gothic"/>
                <a:cs typeface="Malgun Gothic"/>
              </a:defRPr>
            </a:pPr>
            <a:r>
              <a:t>같은 건수·같은 완료 기준일 때만 처리 시간 비교</a:t>
            </a:r>
          </a:p>
        </p:txBody>
      </p:sp>
      <p:sp>
        <p:nvSpPr>
          <p:cNvPr id="3" name="추가 과제는 선택 활동입니다. 본수업 180분에 더">
            <a:extLst xmlns:a="http://schemas.openxmlformats.org/drawingml/2006/main">
              <a:ext uri="{FF2B5EF4-FFF2-40B4-BE49-F238E27FC236}">
                <a16:creationId xmlns:a16="http://schemas.microsoft.com/office/drawing/2014/main" id="{C75429EC-3F36-44E3-A434-54566013AE1A}"/>
              </a:ext>
            </a:extLst>
          </p:cNvPr>
          <p:cNvSpPr>
            <a:spLocks xmlns:a="http://schemas.openxmlformats.org/drawingml/2006/main" noGrp="1"/>
          </p:cNvSpPr>
          <p:nvPr/>
        </p:nvSpPr>
        <p:spPr>
          <a:xfrm xmlns:a="http://schemas.openxmlformats.org/drawingml/2006/main">
            <a:off x="742950" y="54102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6B43C7"/>
                </a:solidFill>
                <a:latin typeface="Malgun Gothic"/>
                <a:ea typeface="Malgun Gothic"/>
                <a:cs typeface="Malgun Gothic"/>
              </a:defRPr>
            </a:pPr>
            <a:r>
              <a:rPr sz="2100" b="1">
                <a:solidFill>
                  <a:srgbClr val="6B43C7"/>
                </a:solidFill>
                <a:latin typeface="Malgun Gothic"/>
                <a:ea typeface="Malgun Gothic"/>
                <a:cs typeface="Malgun Gothic"/>
              </a:rPr>
              <a:t>추가 과제는 선택 활동입니다. 본수업 180분에 더하지 않습니다.</a:t>
            </a:r>
          </a:p>
        </p:txBody>
      </p:sp>
      <p:sp>
        <p:nvSpPr>
          <p:cNvPr id="4" name="175–180분">
            <a:extLst xmlns:a="http://schemas.openxmlformats.org/drawingml/2006/main">
              <a:ext uri="{FF2B5EF4-FFF2-40B4-BE49-F238E27FC236}">
                <a16:creationId xmlns:a16="http://schemas.microsoft.com/office/drawing/2014/main" id="{1EBED98F-CC47-45B7-B211-4A4DA1E134D1}"/>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175–180분</a:t>
            </a:r>
          </a:p>
        </p:txBody>
      </p:sp>
      <p:sp>
        <p:nvSpPr>
          <p:cNvPr id="5" name="웹 실습 열기">
            <a:extLst xmlns:a="http://schemas.openxmlformats.org/drawingml/2006/main">
              <a:ext uri="{FF2B5EF4-FFF2-40B4-BE49-F238E27FC236}">
                <a16:creationId xmlns:a16="http://schemas.microsoft.com/office/drawing/2014/main" id="{FF52EAF6-355C-45CE-B537-2C7C74C9017C}"/>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b7e1a7cbc774603"/>
              </a:rPr>
              <a:t>웹 실습 열기</a:t>
            </a:r>
          </a:p>
        </p:txBody>
      </p:sp>
      <p:sp>
        <p:nvSpPr>
          <p:cNvPr id="6" name="50">
            <a:extLst xmlns:a="http://schemas.openxmlformats.org/drawingml/2006/main">
              <a:ext uri="{FF2B5EF4-FFF2-40B4-BE49-F238E27FC236}">
                <a16:creationId xmlns:a16="http://schemas.microsoft.com/office/drawing/2014/main" id="{14C26F36-A554-4DCB-A8E2-204E6CD1463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50</a:t>
            </a:r>
          </a:p>
        </p:txBody>
      </p:sp>
    </p:spTree>
    <p:extLst>
      <p:ext uri="{BB962C8B-B14F-4D97-AF65-F5344CB8AC3E}">
        <p14:creationId xmlns:p14="http://schemas.microsoft.com/office/powerpoint/2010/main" val="2105150003"/>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1. 추가 회신 12건과 신청 상태 갱신">
            <a:extLst xmlns:a="http://schemas.openxmlformats.org/drawingml/2006/main">
              <a:ext uri="{FF2B5EF4-FFF2-40B4-BE49-F238E27FC236}">
                <a16:creationId xmlns:a16="http://schemas.microsoft.com/office/drawing/2014/main" id="{5046888C-AAFE-4469-9175-EA5171C602DD}"/>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1. 추가 회신 12건과 신청 상태 갱신</a:t>
            </a:r>
          </a:p>
        </p:txBody>
      </p:sp>
      <p:sp>
        <p:nvSpPr>
          <p:cNvPr id="2" name="15분">
            <a:extLst xmlns:a="http://schemas.openxmlformats.org/drawingml/2006/main">
              <a:ext uri="{FF2B5EF4-FFF2-40B4-BE49-F238E27FC236}">
                <a16:creationId xmlns:a16="http://schemas.microsoft.com/office/drawing/2014/main" id="{3F5740FF-3D2E-4D36-8FFC-E66B03D59210}"/>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같은 학생의 후속 메일을&#10;최신 상태로 정리">
            <a:extLst xmlns:a="http://schemas.openxmlformats.org/drawingml/2006/main">
              <a:ext uri="{FF2B5EF4-FFF2-40B4-BE49-F238E27FC236}">
                <a16:creationId xmlns:a16="http://schemas.microsoft.com/office/drawing/2014/main" id="{9FF5745F-736F-4822-9CE9-8E397C39252B}"/>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같은 학생의 후속 메일을</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최신 상태로 정리</a:t>
            </a:r>
          </a:p>
        </p:txBody>
      </p:sp>
      <p:sp>
        <p:nvSpPr>
          <p:cNvPr id="4" name="">
            <a:extLst xmlns:a="http://schemas.openxmlformats.org/drawingml/2006/main">
              <a:ext uri="{FF2B5EF4-FFF2-40B4-BE49-F238E27FC236}">
                <a16:creationId xmlns:a16="http://schemas.microsoft.com/office/drawing/2014/main" id="{369F761C-2835-4275-9863-FAD3FC2BD172}"/>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11·21을 대조해 기준 시각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회신 12건을 기존 학생 ID에 연결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최신 상태 3행과 답장 3건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신청 완료·기술 접수·검토 접수 대조</a:t>
            </a:r>
          </a:p>
        </p:txBody>
      </p:sp>
      <p:sp>
        <p:nvSpPr>
          <p:cNvPr id="5" name="남길 결과">
            <a:extLst xmlns:a="http://schemas.openxmlformats.org/drawingml/2006/main">
              <a:ext uri="{FF2B5EF4-FFF2-40B4-BE49-F238E27FC236}">
                <a16:creationId xmlns:a16="http://schemas.microsoft.com/office/drawing/2014/main" id="{F349E058-0E50-49DB-A75E-E7262143188E}"/>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변경 이력 12행 · 최신 상태 3행 · 답장 3건">
            <a:extLst xmlns:a="http://schemas.openxmlformats.org/drawingml/2006/main">
              <a:ext uri="{FF2B5EF4-FFF2-40B4-BE49-F238E27FC236}">
                <a16:creationId xmlns:a16="http://schemas.microsoft.com/office/drawing/2014/main" id="{87CB795F-7A61-40B9-AE50-9A9BF51C1F7C}"/>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변경 이력 12행 · 최신 상태 3행 · 답장 3건</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DBE113F3-9FB2-459D-8EB6-93F31C14D1D8}"/>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81DF79D7-F68B-49AA-8911-2AA5D92D4DCE}"/>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6A397E1F-6BD3-4984-A88E-9C98C8502A29}"/>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3f406058da104738"/>
              </a:rPr>
              <a:t>웹 실습 열기</a:t>
            </a:r>
          </a:p>
        </p:txBody>
      </p:sp>
      <p:sp>
        <p:nvSpPr>
          <p:cNvPr id="10" name="51">
            <a:extLst xmlns:a="http://schemas.openxmlformats.org/drawingml/2006/main">
              <a:ext uri="{FF2B5EF4-FFF2-40B4-BE49-F238E27FC236}">
                <a16:creationId xmlns:a16="http://schemas.microsoft.com/office/drawing/2014/main" id="{E631288F-F3E7-49B2-B3B9-13CFE04365D2}"/>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51</a:t>
            </a:r>
          </a:p>
        </p:txBody>
      </p:sp>
    </p:spTree>
    <p:extLst>
      <p:ext uri="{BB962C8B-B14F-4D97-AF65-F5344CB8AC3E}">
        <p14:creationId xmlns:p14="http://schemas.microsoft.com/office/powerpoint/2010/main" val="90084405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2. 준비 업무 9건의 상태 갱신">
            <a:extLst xmlns:a="http://schemas.openxmlformats.org/drawingml/2006/main">
              <a:ext uri="{FF2B5EF4-FFF2-40B4-BE49-F238E27FC236}">
                <a16:creationId xmlns:a16="http://schemas.microsoft.com/office/drawing/2014/main" id="{B83D49EC-A647-4723-8A25-57AAB2634BE5}"/>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2. 준비 업무 9건의 상태 갱신</a:t>
            </a:r>
          </a:p>
        </p:txBody>
      </p:sp>
      <p:sp>
        <p:nvSpPr>
          <p:cNvPr id="2" name="15분">
            <a:extLst xmlns:a="http://schemas.openxmlformats.org/drawingml/2006/main">
              <a:ext uri="{FF2B5EF4-FFF2-40B4-BE49-F238E27FC236}">
                <a16:creationId xmlns:a16="http://schemas.microsoft.com/office/drawing/2014/main" id="{33BC405F-519F-4580-B326-31758E7E479E}"/>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아홉 업무의&#10;완료·보완 상태 갱신">
            <a:extLst xmlns:a="http://schemas.openxmlformats.org/drawingml/2006/main">
              <a:ext uri="{FF2B5EF4-FFF2-40B4-BE49-F238E27FC236}">
                <a16:creationId xmlns:a16="http://schemas.microsoft.com/office/drawing/2014/main" id="{6FB748C6-4DA3-4C40-A1CB-802E4963B724}"/>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아홉 업무의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완료·보완 상태 갱신</a:t>
            </a:r>
          </a:p>
        </p:txBody>
      </p:sp>
      <p:sp>
        <p:nvSpPr>
          <p:cNvPr id="4" name="">
            <a:extLst xmlns:a="http://schemas.openxmlformats.org/drawingml/2006/main">
              <a:ext uri="{FF2B5EF4-FFF2-40B4-BE49-F238E27FC236}">
                <a16:creationId xmlns:a16="http://schemas.microsoft.com/office/drawing/2014/main" id="{99EF05BC-BD72-429C-A4DD-DB5E1DB6D0F0}"/>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12·22의 같은 업무끼리 연결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최초 마감과 승인된 새 기한 보존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완료·진행·보완을 근거로 분류</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남은 세 업무와 인계 메일 작성</a:t>
            </a:r>
          </a:p>
        </p:txBody>
      </p:sp>
      <p:sp>
        <p:nvSpPr>
          <p:cNvPr id="5" name="남길 결과">
            <a:extLst xmlns:a="http://schemas.openxmlformats.org/drawingml/2006/main">
              <a:ext uri="{FF2B5EF4-FFF2-40B4-BE49-F238E27FC236}">
                <a16:creationId xmlns:a16="http://schemas.microsoft.com/office/drawing/2014/main" id="{D8E76626-E105-44ED-BC43-2A05075F51EA}"/>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상태표 9행 · 우선 확인 3건 · 인계 메일">
            <a:extLst xmlns:a="http://schemas.openxmlformats.org/drawingml/2006/main">
              <a:ext uri="{FF2B5EF4-FFF2-40B4-BE49-F238E27FC236}">
                <a16:creationId xmlns:a16="http://schemas.microsoft.com/office/drawing/2014/main" id="{9625C22A-428A-42B0-8D8E-8C0C91A38F03}"/>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상태표 9행 · 우선 확인 3건 · 인계 메일</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07BC978A-755B-46ED-A831-120A834B9955}"/>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66F8F72A-5158-4DA5-A861-64362B9C56D2}"/>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84C705AD-39B8-4B55-B713-9A1A509D519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cedd6b78d20e4276"/>
              </a:rPr>
              <a:t>웹 실습 열기</a:t>
            </a:r>
          </a:p>
        </p:txBody>
      </p:sp>
      <p:sp>
        <p:nvSpPr>
          <p:cNvPr id="10" name="52">
            <a:extLst xmlns:a="http://schemas.openxmlformats.org/drawingml/2006/main">
              <a:ext uri="{FF2B5EF4-FFF2-40B4-BE49-F238E27FC236}">
                <a16:creationId xmlns:a16="http://schemas.microsoft.com/office/drawing/2014/main" id="{61126924-F3EA-41B3-AD1C-C3BF4BBCCDA9}"/>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52</a:t>
            </a:r>
          </a:p>
        </p:txBody>
      </p:sp>
    </p:spTree>
    <p:extLst>
      <p:ext uri="{BB962C8B-B14F-4D97-AF65-F5344CB8AC3E}">
        <p14:creationId xmlns:p14="http://schemas.microsoft.com/office/powerpoint/2010/main" val="140024735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3. 수정 견적과 승인 변경 재검토">
            <a:extLst xmlns:a="http://schemas.openxmlformats.org/drawingml/2006/main">
              <a:ext uri="{FF2B5EF4-FFF2-40B4-BE49-F238E27FC236}">
                <a16:creationId xmlns:a16="http://schemas.microsoft.com/office/drawing/2014/main" id="{849CA486-BD66-4479-A541-FC90BC0D503F}"/>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3. 수정 견적과 승인 변경 재검토</a:t>
            </a:r>
          </a:p>
        </p:txBody>
      </p:sp>
      <p:sp>
        <p:nvSpPr>
          <p:cNvPr id="2" name="20분">
            <a:extLst xmlns:a="http://schemas.openxmlformats.org/drawingml/2006/main">
              <a:ext uri="{FF2B5EF4-FFF2-40B4-BE49-F238E27FC236}">
                <a16:creationId xmlns:a16="http://schemas.microsoft.com/office/drawing/2014/main" id="{5C776759-6C01-4120-9B0A-5D66789C95B5}"/>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새 견적과 승인을&#10;구매표에 반영">
            <a:extLst xmlns:a="http://schemas.openxmlformats.org/drawingml/2006/main">
              <a:ext uri="{FF2B5EF4-FFF2-40B4-BE49-F238E27FC236}">
                <a16:creationId xmlns:a16="http://schemas.microsoft.com/office/drawing/2014/main" id="{573EB947-91F7-4C91-93B7-75B071878F28}"/>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새 견적과 승인을</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구매표에 반영</a:t>
            </a:r>
          </a:p>
        </p:txBody>
      </p:sp>
      <p:sp>
        <p:nvSpPr>
          <p:cNvPr id="4" name="">
            <a:extLst xmlns:a="http://schemas.openxmlformats.org/drawingml/2006/main">
              <a:ext uri="{FF2B5EF4-FFF2-40B4-BE49-F238E27FC236}">
                <a16:creationId xmlns:a16="http://schemas.microsoft.com/office/drawing/2014/main" id="{EB9ECFDF-68C9-463C-97E9-9E6DF2723FA8}"/>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13·23에서 승인 조건 표시</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중복·취소를 포함해 24행 유지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수정 5행과 행사별 한도 계산</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계산기로 재검산 후 확인 메모 작성</a:t>
            </a:r>
          </a:p>
        </p:txBody>
      </p:sp>
      <p:sp>
        <p:nvSpPr>
          <p:cNvPr id="5" name="남길 결과">
            <a:extLst xmlns:a="http://schemas.openxmlformats.org/drawingml/2006/main">
              <a:ext uri="{FF2B5EF4-FFF2-40B4-BE49-F238E27FC236}">
                <a16:creationId xmlns:a16="http://schemas.microsoft.com/office/drawing/2014/main" id="{6B38902A-CCD4-4ABB-B25E-0F3D1F38C188}"/>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구매표 24행 · 행사별 한도 · 변경표 5행">
            <a:extLst xmlns:a="http://schemas.openxmlformats.org/drawingml/2006/main">
              <a:ext uri="{FF2B5EF4-FFF2-40B4-BE49-F238E27FC236}">
                <a16:creationId xmlns:a16="http://schemas.microsoft.com/office/drawing/2014/main" id="{B53E7CBC-4D3F-4EA4-B5AD-4E3A8AD5FB45}"/>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구매표 24행 · 행사별 한도 · 변경표 5행</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6D55E875-D767-4B91-843F-0AC63D6DDC98}"/>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564336A2-B553-42FA-A67E-D43E56AF572B}"/>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786D2161-0459-427F-AA1D-D15EC3244B8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5480c708eef44d9"/>
              </a:rPr>
              <a:t>웹 실습 열기</a:t>
            </a:r>
          </a:p>
        </p:txBody>
      </p:sp>
      <p:sp>
        <p:nvSpPr>
          <p:cNvPr id="10" name="53">
            <a:extLst xmlns:a="http://schemas.openxmlformats.org/drawingml/2006/main">
              <a:ext uri="{FF2B5EF4-FFF2-40B4-BE49-F238E27FC236}">
                <a16:creationId xmlns:a16="http://schemas.microsoft.com/office/drawing/2014/main" id="{36DD7A71-FFB2-4AFB-BF8E-774F5B167E3E}"/>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53</a:t>
            </a:r>
          </a:p>
        </p:txBody>
      </p:sp>
    </p:spTree>
    <p:extLst>
      <p:ext uri="{BB962C8B-B14F-4D97-AF65-F5344CB8AC3E}">
        <p14:creationId xmlns:p14="http://schemas.microsoft.com/office/powerpoint/2010/main" val="154618072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4. 새 공지를 반영한 참가 안내 갱신">
            <a:extLst xmlns:a="http://schemas.openxmlformats.org/drawingml/2006/main">
              <a:ext uri="{FF2B5EF4-FFF2-40B4-BE49-F238E27FC236}">
                <a16:creationId xmlns:a16="http://schemas.microsoft.com/office/drawing/2014/main" id="{A2690652-E5CD-4D63-A453-402F9789FDF6}"/>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4. 새 공지를 반영한 참가 안내 갱신</a:t>
            </a:r>
          </a:p>
        </p:txBody>
      </p:sp>
      <p:sp>
        <p:nvSpPr>
          <p:cNvPr id="2" name="15분">
            <a:extLst xmlns:a="http://schemas.openxmlformats.org/drawingml/2006/main">
              <a:ext uri="{FF2B5EF4-FFF2-40B4-BE49-F238E27FC236}">
                <a16:creationId xmlns:a16="http://schemas.microsoft.com/office/drawing/2014/main" id="{D4CCC9D3-DB5F-47BE-B6D5-E24B58C6E594}"/>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새 공지로&#10;참가 안내 갱신">
            <a:extLst xmlns:a="http://schemas.openxmlformats.org/drawingml/2006/main">
              <a:ext uri="{FF2B5EF4-FFF2-40B4-BE49-F238E27FC236}">
                <a16:creationId xmlns:a16="http://schemas.microsoft.com/office/drawing/2014/main" id="{D8219528-7039-4176-88D2-A6A550A4F6D2}"/>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새 공지로</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참가 안내 갱신</a:t>
            </a:r>
          </a:p>
        </p:txBody>
      </p:sp>
      <p:sp>
        <p:nvSpPr>
          <p:cNvPr id="4" name="">
            <a:extLst xmlns:a="http://schemas.openxmlformats.org/drawingml/2006/main">
              <a:ext uri="{FF2B5EF4-FFF2-40B4-BE49-F238E27FC236}">
                <a16:creationId xmlns:a16="http://schemas.microsoft.com/office/drawing/2014/main" id="{1F801970-5296-4C98-9F21-D3F6148235C8}"/>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기존 14A~D와 새 24번 소스 추가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주차·녹화·개인 배정의 변경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공지 500~700자와 남은 확인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새 결정 인용 2곳을 원문과 대조</a:t>
            </a:r>
          </a:p>
        </p:txBody>
      </p:sp>
      <p:sp>
        <p:nvSpPr>
          <p:cNvPr id="5" name="남길 결과">
            <a:extLst xmlns:a="http://schemas.openxmlformats.org/drawingml/2006/main">
              <a:ext uri="{FF2B5EF4-FFF2-40B4-BE49-F238E27FC236}">
                <a16:creationId xmlns:a16="http://schemas.microsoft.com/office/drawing/2014/main" id="{87DA3761-8948-475E-9471-0DB2E0DEDE81}"/>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변경표 5행 · 공지 · 인용 확인 2건">
            <a:extLst xmlns:a="http://schemas.openxmlformats.org/drawingml/2006/main">
              <a:ext uri="{FF2B5EF4-FFF2-40B4-BE49-F238E27FC236}">
                <a16:creationId xmlns:a16="http://schemas.microsoft.com/office/drawing/2014/main" id="{A595944B-53B8-4D80-8C99-56F2FD7613C9}"/>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변경표 5행 · 공지 · 인용 확인 2건</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ED5C3DA3-FEB1-4D53-B0E2-92C925470D6D}"/>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46BC0D2C-650E-4157-B729-742638AB6AD5}"/>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E7D03777-46E1-4F36-A2AB-EDBB9EA4BB61}"/>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a10cfd1547da4990"/>
              </a:rPr>
              <a:t>웹 실습 열기</a:t>
            </a:r>
          </a:p>
        </p:txBody>
      </p:sp>
      <p:sp>
        <p:nvSpPr>
          <p:cNvPr id="10" name="54">
            <a:extLst xmlns:a="http://schemas.openxmlformats.org/drawingml/2006/main">
              <a:ext uri="{FF2B5EF4-FFF2-40B4-BE49-F238E27FC236}">
                <a16:creationId xmlns:a16="http://schemas.microsoft.com/office/drawing/2014/main" id="{A3E80881-44A6-425F-8E47-593546D9736A}"/>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54</a:t>
            </a:r>
          </a:p>
        </p:txBody>
      </p:sp>
    </p:spTree>
    <p:extLst>
      <p:ext uri="{BB962C8B-B14F-4D97-AF65-F5344CB8AC3E}">
        <p14:creationId xmlns:p14="http://schemas.microsoft.com/office/powerpoint/2010/main" val="57879320"/>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5. 부서별 안내와 답변 3종">
            <a:extLst xmlns:a="http://schemas.openxmlformats.org/drawingml/2006/main">
              <a:ext uri="{FF2B5EF4-FFF2-40B4-BE49-F238E27FC236}">
                <a16:creationId xmlns:a16="http://schemas.microsoft.com/office/drawing/2014/main" id="{26177ACE-223E-4A0D-9632-9138305BE158}"/>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5. 부서별 안내와 답변 3종</a:t>
            </a:r>
          </a:p>
        </p:txBody>
      </p:sp>
      <p:sp>
        <p:nvSpPr>
          <p:cNvPr id="2" name="15분">
            <a:extLst xmlns:a="http://schemas.openxmlformats.org/drawingml/2006/main">
              <a:ext uri="{FF2B5EF4-FFF2-40B4-BE49-F238E27FC236}">
                <a16:creationId xmlns:a16="http://schemas.microsoft.com/office/drawing/2014/main" id="{88CE6367-4E91-47AB-BB3C-729CCD03D547}"/>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15분</a:t>
            </a:r>
          </a:p>
        </p:txBody>
      </p:sp>
      <p:sp>
        <p:nvSpPr>
          <p:cNvPr id="3" name="수신 부서에 맞춘&#10;회신 세 개 작성">
            <a:extLst xmlns:a="http://schemas.openxmlformats.org/drawingml/2006/main">
              <a:ext uri="{FF2B5EF4-FFF2-40B4-BE49-F238E27FC236}">
                <a16:creationId xmlns:a16="http://schemas.microsoft.com/office/drawing/2014/main" id="{A63F29E2-86E6-4E1B-B8B6-8DB064566B7E}"/>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수신 부서에 맞춘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회신 세 개 작성</a:t>
            </a:r>
          </a:p>
        </p:txBody>
      </p:sp>
      <p:sp>
        <p:nvSpPr>
          <p:cNvPr id="4" name="">
            <a:extLst xmlns:a="http://schemas.openxmlformats.org/drawingml/2006/main">
              <a:ext uri="{FF2B5EF4-FFF2-40B4-BE49-F238E27FC236}">
                <a16:creationId xmlns:a16="http://schemas.microsoft.com/office/drawing/2014/main" id="{1963444D-1AA2-43DA-B7EB-9AD2FE8EC577}"/>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기존 14A~D와 새 24·25번 추가</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부서별 필요한 행동을 한 줄로 정리</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세 회신과 내부 근거 검토표 분리</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주차 계산과 수신 범위를 짝과 대조</a:t>
            </a:r>
          </a:p>
        </p:txBody>
      </p:sp>
      <p:sp>
        <p:nvSpPr>
          <p:cNvPr id="5" name="남길 결과">
            <a:extLst xmlns:a="http://schemas.openxmlformats.org/drawingml/2006/main">
              <a:ext uri="{FF2B5EF4-FFF2-40B4-BE49-F238E27FC236}">
                <a16:creationId xmlns:a16="http://schemas.microsoft.com/office/drawing/2014/main" id="{C6F7C5DD-4D32-4A05-B46D-7D7086BE9376}"/>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부서별 회신 3건 · 근거 6행 · 공통 사실표">
            <a:extLst xmlns:a="http://schemas.openxmlformats.org/drawingml/2006/main">
              <a:ext uri="{FF2B5EF4-FFF2-40B4-BE49-F238E27FC236}">
                <a16:creationId xmlns:a16="http://schemas.microsoft.com/office/drawing/2014/main" id="{75798FF8-3BE6-4F9B-A270-39DB043A45AA}"/>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부서별 회신 3건 · 근거 6행 · 공통 사실표</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F3C31A2E-62D8-4733-A4FC-A440F94DB183}"/>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15분">
            <a:extLst xmlns:a="http://schemas.openxmlformats.org/drawingml/2006/main">
              <a:ext uri="{FF2B5EF4-FFF2-40B4-BE49-F238E27FC236}">
                <a16:creationId xmlns:a16="http://schemas.microsoft.com/office/drawing/2014/main" id="{4503D0F9-D45A-4E85-94AB-A0E739438B43}"/>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15분</a:t>
            </a:r>
          </a:p>
        </p:txBody>
      </p:sp>
      <p:sp>
        <p:nvSpPr>
          <p:cNvPr id="9" name="웹 실습 열기">
            <a:extLst xmlns:a="http://schemas.openxmlformats.org/drawingml/2006/main">
              <a:ext uri="{FF2B5EF4-FFF2-40B4-BE49-F238E27FC236}">
                <a16:creationId xmlns:a16="http://schemas.microsoft.com/office/drawing/2014/main" id="{F6C53C36-9F92-4CAC-860E-72A5CBEAE658}"/>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e13a9f3e0237473d"/>
              </a:rPr>
              <a:t>웹 실습 열기</a:t>
            </a:r>
          </a:p>
        </p:txBody>
      </p:sp>
      <p:sp>
        <p:nvSpPr>
          <p:cNvPr id="10" name="55">
            <a:extLst xmlns:a="http://schemas.openxmlformats.org/drawingml/2006/main">
              <a:ext uri="{FF2B5EF4-FFF2-40B4-BE49-F238E27FC236}">
                <a16:creationId xmlns:a16="http://schemas.microsoft.com/office/drawing/2014/main" id="{11A6884C-8B43-423E-AC19-A1D28BA27A57}"/>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55</a:t>
            </a:r>
          </a:p>
        </p:txBody>
      </p:sp>
    </p:spTree>
    <p:extLst>
      <p:ext uri="{BB962C8B-B14F-4D97-AF65-F5344CB8AC3E}">
        <p14:creationId xmlns:p14="http://schemas.microsoft.com/office/powerpoint/2010/main" val="203609607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6. 보완 대장과 설문 10건 재집계">
            <a:extLst xmlns:a="http://schemas.openxmlformats.org/drawingml/2006/main">
              <a:ext uri="{FF2B5EF4-FFF2-40B4-BE49-F238E27FC236}">
                <a16:creationId xmlns:a16="http://schemas.microsoft.com/office/drawing/2014/main" id="{95559726-A673-4EFD-B171-0E4F6B2BC124}"/>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6. 보완 대장과 설문 10건 재집계</a:t>
            </a:r>
          </a:p>
        </p:txBody>
      </p:sp>
      <p:sp>
        <p:nvSpPr>
          <p:cNvPr id="2" name="20분">
            <a:extLst xmlns:a="http://schemas.openxmlformats.org/drawingml/2006/main">
              <a:ext uri="{FF2B5EF4-FFF2-40B4-BE49-F238E27FC236}">
                <a16:creationId xmlns:a16="http://schemas.microsoft.com/office/drawing/2014/main" id="{89334E15-60DD-48AF-AAAA-C9AD4CE07B03}"/>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대장과 원점수를&#10;보완 근거로 재집계">
            <a:extLst xmlns:a="http://schemas.openxmlformats.org/drawingml/2006/main">
              <a:ext uri="{FF2B5EF4-FFF2-40B4-BE49-F238E27FC236}">
                <a16:creationId xmlns:a16="http://schemas.microsoft.com/office/drawing/2014/main" id="{B7091139-1DFE-4330-8467-3475A812D427}"/>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대장과 원점수를</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보완 근거로 재집계</a:t>
            </a:r>
          </a:p>
        </p:txBody>
      </p:sp>
      <p:sp>
        <p:nvSpPr>
          <p:cNvPr id="4" name="">
            <a:extLst xmlns:a="http://schemas.openxmlformats.org/drawingml/2006/main">
              <a:ext uri="{FF2B5EF4-FFF2-40B4-BE49-F238E27FC236}">
                <a16:creationId xmlns:a16="http://schemas.microsoft.com/office/drawing/2014/main" id="{0548929C-6354-4EF6-8D27-5B642DE5603A}"/>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15·26의 승인 기준일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출석·제출 승인과 접수만 된 건 구분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설문 교체 7건과 추가 3건 재집계</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최종 점수·분모·정정 문장 직접 대조</a:t>
            </a:r>
          </a:p>
        </p:txBody>
      </p:sp>
      <p:sp>
        <p:nvSpPr>
          <p:cNvPr id="5" name="남길 결과">
            <a:extLst xmlns:a="http://schemas.openxmlformats.org/drawingml/2006/main">
              <a:ext uri="{FF2B5EF4-FFF2-40B4-BE49-F238E27FC236}">
                <a16:creationId xmlns:a16="http://schemas.microsoft.com/office/drawing/2014/main" id="{EA1206CA-474F-4339-9D0E-CDC462519AE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점수 28행 · 지표 13행 · 정정 보고">
            <a:extLst xmlns:a="http://schemas.openxmlformats.org/drawingml/2006/main">
              <a:ext uri="{FF2B5EF4-FFF2-40B4-BE49-F238E27FC236}">
                <a16:creationId xmlns:a16="http://schemas.microsoft.com/office/drawing/2014/main" id="{DB4499D9-2207-4BBD-B601-73461E6777BE}"/>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점수 28행 · 지표 13행 · 정정 보고</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B6F53B75-0872-47FA-8D4D-1906BBAA560C}"/>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5CF42557-DFA7-47C1-B7C8-B0508B20BFBD}"/>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5CD45D5D-B87A-4414-A63B-80650BFD8E36}"/>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9b7087189a2b4285"/>
              </a:rPr>
              <a:t>웹 실습 열기</a:t>
            </a:r>
          </a:p>
        </p:txBody>
      </p:sp>
      <p:sp>
        <p:nvSpPr>
          <p:cNvPr id="10" name="56">
            <a:extLst xmlns:a="http://schemas.openxmlformats.org/drawingml/2006/main">
              <a:ext uri="{FF2B5EF4-FFF2-40B4-BE49-F238E27FC236}">
                <a16:creationId xmlns:a16="http://schemas.microsoft.com/office/drawing/2014/main" id="{D29C4A46-89DA-4573-AAFE-8A9A072FE936}"/>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56</a:t>
            </a:r>
          </a:p>
        </p:txBody>
      </p:sp>
    </p:spTree>
    <p:extLst>
      <p:ext uri="{BB962C8B-B14F-4D97-AF65-F5344CB8AC3E}">
        <p14:creationId xmlns:p14="http://schemas.microsoft.com/office/powerpoint/2010/main" val="334968531"/>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7. 부서장 보완 요청 3문서 동시 반영">
            <a:extLst xmlns:a="http://schemas.openxmlformats.org/drawingml/2006/main">
              <a:ext uri="{FF2B5EF4-FFF2-40B4-BE49-F238E27FC236}">
                <a16:creationId xmlns:a16="http://schemas.microsoft.com/office/drawing/2014/main" id="{4DF4978E-33C0-4CDD-ADBF-D0B235511846}"/>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7. 부서장 보완 요청 3문서 동시 반영</a:t>
            </a:r>
          </a:p>
        </p:txBody>
      </p:sp>
      <p:sp>
        <p:nvSpPr>
          <p:cNvPr id="2" name="20분">
            <a:extLst xmlns:a="http://schemas.openxmlformats.org/drawingml/2006/main">
              <a:ext uri="{FF2B5EF4-FFF2-40B4-BE49-F238E27FC236}">
                <a16:creationId xmlns:a16="http://schemas.microsoft.com/office/drawing/2014/main" id="{36E50E05-F4A4-4088-B2D4-29ACD18120E3}"/>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20분</a:t>
            </a:r>
          </a:p>
        </p:txBody>
      </p:sp>
      <p:sp>
        <p:nvSpPr>
          <p:cNvPr id="3" name="세 문서의&#10;수치와 결정 통일">
            <a:extLst xmlns:a="http://schemas.openxmlformats.org/drawingml/2006/main">
              <a:ext uri="{FF2B5EF4-FFF2-40B4-BE49-F238E27FC236}">
                <a16:creationId xmlns:a16="http://schemas.microsoft.com/office/drawing/2014/main" id="{8E698B6F-0991-4098-986E-693FC5B4B94A}"/>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세 문서의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수치와 결정 통일</a:t>
            </a:r>
          </a:p>
        </p:txBody>
      </p:sp>
      <p:sp>
        <p:nvSpPr>
          <p:cNvPr id="4" name="">
            <a:extLst xmlns:a="http://schemas.openxmlformats.org/drawingml/2006/main">
              <a:ext uri="{FF2B5EF4-FFF2-40B4-BE49-F238E27FC236}">
                <a16:creationId xmlns:a16="http://schemas.microsoft.com/office/drawing/2014/main" id="{A96C5C44-32DE-4754-BC38-2247D25B0FDC}"/>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원문 15·26·27과 잘못된 초안 비교</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보고서·메일·업무표를 함께 수정</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승인된 담당과 기한·상태 보존</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공통 수치·기준일·결정 상태 대조</a:t>
            </a:r>
          </a:p>
        </p:txBody>
      </p:sp>
      <p:sp>
        <p:nvSpPr>
          <p:cNvPr id="5" name="남길 결과">
            <a:extLst xmlns:a="http://schemas.openxmlformats.org/drawingml/2006/main">
              <a:ext uri="{FF2B5EF4-FFF2-40B4-BE49-F238E27FC236}">
                <a16:creationId xmlns:a16="http://schemas.microsoft.com/office/drawing/2014/main" id="{7FB2E210-13AA-4A41-897E-1CD408BA2BD9}"/>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보고서 · 전달 메일 · 후속 업무표 3행">
            <a:extLst xmlns:a="http://schemas.openxmlformats.org/drawingml/2006/main">
              <a:ext uri="{FF2B5EF4-FFF2-40B4-BE49-F238E27FC236}">
                <a16:creationId xmlns:a16="http://schemas.microsoft.com/office/drawing/2014/main" id="{55A6A69E-C5AD-48DF-B733-038B0120B15A}"/>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보고서 · 전달 메일 · 후속 업무표 3행</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9618F041-21DB-4D69-92C6-D4B6209F77FA}"/>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0분">
            <a:extLst xmlns:a="http://schemas.openxmlformats.org/drawingml/2006/main">
              <a:ext uri="{FF2B5EF4-FFF2-40B4-BE49-F238E27FC236}">
                <a16:creationId xmlns:a16="http://schemas.microsoft.com/office/drawing/2014/main" id="{C740BE45-03D5-40DC-9093-EAC9EB6FF0A4}"/>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20분</a:t>
            </a:r>
          </a:p>
        </p:txBody>
      </p:sp>
      <p:sp>
        <p:nvSpPr>
          <p:cNvPr id="9" name="웹 실습 열기">
            <a:extLst xmlns:a="http://schemas.openxmlformats.org/drawingml/2006/main">
              <a:ext uri="{FF2B5EF4-FFF2-40B4-BE49-F238E27FC236}">
                <a16:creationId xmlns:a16="http://schemas.microsoft.com/office/drawing/2014/main" id="{107E373B-5708-4C60-8E2E-06E355592DDB}"/>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69e14f00fe5c461b"/>
              </a:rPr>
              <a:t>웹 실습 열기</a:t>
            </a:r>
          </a:p>
        </p:txBody>
      </p:sp>
      <p:sp>
        <p:nvSpPr>
          <p:cNvPr id="10" name="57">
            <a:extLst xmlns:a="http://schemas.openxmlformats.org/drawingml/2006/main">
              <a:ext uri="{FF2B5EF4-FFF2-40B4-BE49-F238E27FC236}">
                <a16:creationId xmlns:a16="http://schemas.microsoft.com/office/drawing/2014/main" id="{A206D5DE-15C4-4D5C-966F-6D17138888F4}"/>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57</a:t>
            </a:r>
          </a:p>
        </p:txBody>
      </p:sp>
    </p:spTree>
    <p:extLst>
      <p:ext uri="{BB962C8B-B14F-4D97-AF65-F5344CB8AC3E}">
        <p14:creationId xmlns:p14="http://schemas.microsoft.com/office/powerpoint/2010/main" val="100741700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선택 8. 새 행사 운영 묶음 완성">
            <a:extLst xmlns:a="http://schemas.openxmlformats.org/drawingml/2006/main">
              <a:ext uri="{FF2B5EF4-FFF2-40B4-BE49-F238E27FC236}">
                <a16:creationId xmlns:a16="http://schemas.microsoft.com/office/drawing/2014/main" id="{2CFD7AD4-BB9E-408D-A8F0-B29AA3386F39}"/>
              </a:ext>
            </a:extLst>
          </p:cNvPr>
          <p:cNvSpPr>
            <a:spLocks xmlns:a="http://schemas.openxmlformats.org/drawingml/2006/main" noGrp="1"/>
          </p:cNvSpPr>
          <p:nvPr/>
        </p:nvSpPr>
        <p:spPr>
          <a:xfrm xmlns:a="http://schemas.openxmlformats.org/drawingml/2006/main">
            <a:off x="685800" y="4762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3300" b="1">
                <a:solidFill>
                  <a:srgbClr val="20212A"/>
                </a:solidFill>
                <a:latin typeface="Malgun Gothic"/>
                <a:ea typeface="Malgun Gothic"/>
                <a:cs typeface="Malgun Gothic"/>
              </a:defRPr>
            </a:pPr>
            <a:r>
              <a:rPr sz="3300" b="1">
                <a:solidFill>
                  <a:srgbClr val="20212A"/>
                </a:solidFill>
                <a:latin typeface="Malgun Gothic"/>
                <a:ea typeface="Malgun Gothic"/>
                <a:cs typeface="Malgun Gothic"/>
              </a:rPr>
              <a:t>선택 8. 새 행사 운영 묶음 완성</a:t>
            </a:r>
          </a:p>
        </p:txBody>
      </p:sp>
      <p:sp>
        <p:nvSpPr>
          <p:cNvPr id="2" name="25분">
            <a:extLst xmlns:a="http://schemas.openxmlformats.org/drawingml/2006/main">
              <a:ext uri="{FF2B5EF4-FFF2-40B4-BE49-F238E27FC236}">
                <a16:creationId xmlns:a16="http://schemas.microsoft.com/office/drawing/2014/main" id="{F2D8C3CE-FD9D-43D7-9480-19973D6AC31E}"/>
              </a:ext>
            </a:extLst>
          </p:cNvPr>
          <p:cNvSpPr>
            <a:spLocks xmlns:a="http://schemas.openxmlformats.org/drawingml/2006/main" noGrp="1"/>
          </p:cNvSpPr>
          <p:nvPr/>
        </p:nvSpPr>
        <p:spPr>
          <a:xfrm xmlns:a="http://schemas.openxmlformats.org/drawingml/2006/main">
            <a:off x="685800" y="1619250"/>
            <a:ext cx="2743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4125" b="1">
                <a:solidFill>
                  <a:srgbClr val="6B43C7"/>
                </a:solidFill>
                <a:latin typeface="Malgun Gothic"/>
                <a:ea typeface="Malgun Gothic"/>
                <a:cs typeface="Malgun Gothic"/>
              </a:defRPr>
            </a:pPr>
            <a:r>
              <a:rPr sz="4125" b="1">
                <a:solidFill>
                  <a:srgbClr val="6B43C7"/>
                </a:solidFill>
                <a:latin typeface="Malgun Gothic"/>
                <a:ea typeface="Malgun Gothic"/>
                <a:cs typeface="Malgun Gothic"/>
              </a:rPr>
              <a:t>25분</a:t>
            </a:r>
          </a:p>
        </p:txBody>
      </p:sp>
      <p:sp>
        <p:nvSpPr>
          <p:cNvPr id="3" name="독립된 새 행사의&#10;운영 묶음 완성">
            <a:extLst xmlns:a="http://schemas.openxmlformats.org/drawingml/2006/main">
              <a:ext uri="{FF2B5EF4-FFF2-40B4-BE49-F238E27FC236}">
                <a16:creationId xmlns:a16="http://schemas.microsoft.com/office/drawing/2014/main" id="{C90A9091-7699-4E03-89E6-DAA3E5396F58}"/>
              </a:ext>
            </a:extLst>
          </p:cNvPr>
          <p:cNvSpPr>
            <a:spLocks xmlns:a="http://schemas.openxmlformats.org/drawingml/2006/main" noGrp="1"/>
          </p:cNvSpPr>
          <p:nvPr/>
        </p:nvSpPr>
        <p:spPr>
          <a:xfrm xmlns:a="http://schemas.openxmlformats.org/drawingml/2006/main">
            <a:off x="685800" y="2895600"/>
            <a:ext cx="27622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독립된 새 행사의</a:t>
            </a:r>
          </a:p>
          <a:p xmlns:a="http://schemas.openxmlformats.org/drawingml/2006/main">
            <a:pPr algn="l">
              <a:lnSpc>
                <a:spcPct val="116000"/>
              </a:lnSpc>
              <a:buNone/>
              <a:defRPr sz="2250" b="1">
                <a:solidFill>
                  <a:srgbClr val="20212A"/>
                </a:solidFill>
                <a:latin typeface="Malgun Gothic"/>
                <a:ea typeface="Malgun Gothic"/>
                <a:cs typeface="Malgun Gothic"/>
              </a:defRPr>
            </a:pPr>
            <a:r>
              <a:rPr sz="2250" b="1">
                <a:solidFill>
                  <a:srgbClr val="20212A"/>
                </a:solidFill>
                <a:latin typeface="Malgun Gothic"/>
                <a:ea typeface="Malgun Gothic"/>
                <a:cs typeface="Malgun Gothic"/>
              </a:rPr>
              <a:t>운영 묶음 완성</a:t>
            </a:r>
          </a:p>
        </p:txBody>
      </p:sp>
      <p:sp>
        <p:nvSpPr>
          <p:cNvPr id="4" name="">
            <a:extLst xmlns:a="http://schemas.openxmlformats.org/drawingml/2006/main">
              <a:ext uri="{FF2B5EF4-FFF2-40B4-BE49-F238E27FC236}">
                <a16:creationId xmlns:a16="http://schemas.microsoft.com/office/drawing/2014/main" id="{C9E911F2-AFAE-4ADC-94E1-DA023CA98928}"/>
              </a:ext>
            </a:extLst>
          </p:cNvPr>
          <p:cNvSpPr>
            <a:spLocks xmlns:a="http://schemas.openxmlformats.org/drawingml/2006/main" noGrp="1"/>
          </p:cNvSpPr>
          <p:nvPr/>
        </p:nvSpPr>
        <p:spPr>
          <a:xfrm xmlns:a="http://schemas.openxmlformats.org/drawingml/2006/main">
            <a:off x="4038600" y="1647825"/>
            <a:ext cx="746760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Gemini 7분: 업무표와 회신 작성</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NotebookLM 7분: FAQ와 인용 확인</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Claude 8분: 준비 보고와 예산 검토</a:t>
            </a:r>
          </a:p>
          <a:p xmlns:a="http://schemas.openxmlformats.org/drawingml/2006/main">
            <a:pPr marL="228600" indent="-127000" algn="l">
              <a:spcAft>
                <a:spcPts val="1700"/>
              </a:spcAft>
              <a:buChar char="•"/>
              <a:defRPr sz="2175" b="0">
                <a:solidFill>
                  <a:srgbClr val="20212A"/>
                </a:solidFill>
                <a:latin typeface="Malgun Gothic"/>
                <a:ea typeface="Malgun Gothic"/>
                <a:cs typeface="Malgun Gothic"/>
              </a:defRPr>
            </a:pPr>
            <a:r>
              <a:t>마지막 3분: 세 결과와 원문 대조</a:t>
            </a:r>
          </a:p>
        </p:txBody>
      </p:sp>
      <p:sp>
        <p:nvSpPr>
          <p:cNvPr id="5" name="남길 결과">
            <a:extLst xmlns:a="http://schemas.openxmlformats.org/drawingml/2006/main">
              <a:ext uri="{FF2B5EF4-FFF2-40B4-BE49-F238E27FC236}">
                <a16:creationId xmlns:a16="http://schemas.microsoft.com/office/drawing/2014/main" id="{BC5C22F8-776C-466E-89F4-56090B28F993}"/>
              </a:ext>
            </a:extLst>
          </p:cNvPr>
          <p:cNvSpPr>
            <a:spLocks xmlns:a="http://schemas.openxmlformats.org/drawingml/2006/main" noGrp="1"/>
          </p:cNvSpPr>
          <p:nvPr/>
        </p:nvSpPr>
        <p:spPr>
          <a:xfrm xmlns:a="http://schemas.openxmlformats.org/drawingml/2006/main">
            <a:off x="4038600" y="5029200"/>
            <a:ext cx="746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725" b="1">
                <a:solidFill>
                  <a:srgbClr val="6B43C7"/>
                </a:solidFill>
                <a:latin typeface="Malgun Gothic"/>
                <a:ea typeface="Malgun Gothic"/>
                <a:cs typeface="Malgun Gothic"/>
              </a:defRPr>
            </a:pPr>
            <a:r>
              <a:rPr sz="1725" b="1">
                <a:solidFill>
                  <a:srgbClr val="6B43C7"/>
                </a:solidFill>
                <a:latin typeface="Malgun Gothic"/>
                <a:ea typeface="Malgun Gothic"/>
                <a:cs typeface="Malgun Gothic"/>
              </a:rPr>
              <a:t>남길 결과</a:t>
            </a:r>
          </a:p>
        </p:txBody>
      </p:sp>
      <p:sp>
        <p:nvSpPr>
          <p:cNvPr id="6" name="업무표와 회신 · FAQ · 준비 보고와 예산표">
            <a:extLst xmlns:a="http://schemas.openxmlformats.org/drawingml/2006/main">
              <a:ext uri="{FF2B5EF4-FFF2-40B4-BE49-F238E27FC236}">
                <a16:creationId xmlns:a16="http://schemas.microsoft.com/office/drawing/2014/main" id="{D72D622A-60A2-493D-89EE-5CF793CB716E}"/>
              </a:ext>
            </a:extLst>
          </p:cNvPr>
          <p:cNvSpPr>
            <a:spLocks xmlns:a="http://schemas.openxmlformats.org/drawingml/2006/main" noGrp="1"/>
          </p:cNvSpPr>
          <p:nvPr/>
        </p:nvSpPr>
        <p:spPr>
          <a:xfrm xmlns:a="http://schemas.openxmlformats.org/drawingml/2006/main">
            <a:off x="4038600" y="5429250"/>
            <a:ext cx="7467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2100" b="1">
                <a:solidFill>
                  <a:srgbClr val="20212A"/>
                </a:solidFill>
                <a:latin typeface="Malgun Gothic"/>
                <a:ea typeface="Malgun Gothic"/>
                <a:cs typeface="Malgun Gothic"/>
              </a:defRPr>
            </a:pPr>
            <a:r>
              <a:rPr sz="2100" b="1">
                <a:solidFill>
                  <a:srgbClr val="20212A"/>
                </a:solidFill>
                <a:latin typeface="Malgun Gothic"/>
                <a:ea typeface="Malgun Gothic"/>
                <a:cs typeface="Malgun Gothic"/>
              </a:rPr>
              <a:t>업무표와 회신 · FAQ · 준비 보고와 예산표</a:t>
            </a:r>
          </a:p>
        </p:txBody>
      </p:sp>
      <p:sp>
        <p:nvSpPr>
          <p:cNvPr id="7" name="본수업 후 복습 또는 별도 심화 수업에서 선택 진행">
            <a:extLst xmlns:a="http://schemas.openxmlformats.org/drawingml/2006/main">
              <a:ext uri="{FF2B5EF4-FFF2-40B4-BE49-F238E27FC236}">
                <a16:creationId xmlns:a16="http://schemas.microsoft.com/office/drawing/2014/main" id="{F497A57D-E8D2-41F0-9298-B8B39EB8FF36}"/>
              </a:ext>
            </a:extLst>
          </p:cNvPr>
          <p:cNvSpPr>
            <a:spLocks xmlns:a="http://schemas.openxmlformats.org/drawingml/2006/main" noGrp="1"/>
          </p:cNvSpPr>
          <p:nvPr/>
        </p:nvSpPr>
        <p:spPr>
          <a:xfrm xmlns:a="http://schemas.openxmlformats.org/drawingml/2006/main">
            <a:off x="685800" y="603885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본수업 후 복습 또는 별도 심화 수업에서 선택 진행</a:t>
            </a:r>
          </a:p>
        </p:txBody>
      </p:sp>
      <p:sp>
        <p:nvSpPr>
          <p:cNvPr id="8" name="선택 활동 25분">
            <a:extLst xmlns:a="http://schemas.openxmlformats.org/drawingml/2006/main">
              <a:ext uri="{FF2B5EF4-FFF2-40B4-BE49-F238E27FC236}">
                <a16:creationId xmlns:a16="http://schemas.microsoft.com/office/drawing/2014/main" id="{9C825FE3-82AE-49BD-8EDF-9E9E8ACC56D8}"/>
              </a:ext>
            </a:extLst>
          </p:cNvPr>
          <p:cNvSpPr>
            <a:spLocks xmlns:a="http://schemas.openxmlformats.org/drawingml/2006/main" noGrp="1"/>
          </p:cNvSpPr>
          <p:nvPr/>
        </p:nvSpPr>
        <p:spPr>
          <a:xfrm xmlns:a="http://schemas.openxmlformats.org/drawingml/2006/main">
            <a:off x="685800" y="64008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350" b="0">
                <a:solidFill>
                  <a:srgbClr val="606170"/>
                </a:solidFill>
                <a:latin typeface="Malgun Gothic"/>
                <a:ea typeface="Malgun Gothic"/>
                <a:cs typeface="Malgun Gothic"/>
              </a:defRPr>
            </a:pPr>
            <a:r>
              <a:rPr sz="1350" b="0">
                <a:solidFill>
                  <a:srgbClr val="606170"/>
                </a:solidFill>
                <a:latin typeface="Malgun Gothic"/>
                <a:ea typeface="Malgun Gothic"/>
                <a:cs typeface="Malgun Gothic"/>
              </a:rPr>
              <a:t>선택 활동 25분</a:t>
            </a:r>
          </a:p>
        </p:txBody>
      </p:sp>
      <p:sp>
        <p:nvSpPr>
          <p:cNvPr id="9" name="웹 실습 열기">
            <a:extLst xmlns:a="http://schemas.openxmlformats.org/drawingml/2006/main">
              <a:ext uri="{FF2B5EF4-FFF2-40B4-BE49-F238E27FC236}">
                <a16:creationId xmlns:a16="http://schemas.microsoft.com/office/drawing/2014/main" id="{00978B22-C5C2-46F3-BAE8-A92A353EDB14}"/>
              </a:ext>
            </a:extLst>
          </p:cNvPr>
          <p:cNvSpPr>
            <a:spLocks xmlns:a="http://schemas.openxmlformats.org/drawingml/2006/main" noGrp="1"/>
          </p:cNvSpPr>
          <p:nvPr/>
        </p:nvSpPr>
        <p:spPr>
          <a:xfrm xmlns:a="http://schemas.openxmlformats.org/drawingml/2006/main">
            <a:off x="8915400" y="6381750"/>
            <a:ext cx="1857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1">
                <a:solidFill>
                  <a:srgbClr val="6B43C7"/>
                </a:solidFill>
                <a:latin typeface="Malgun Gothic"/>
                <a:ea typeface="Malgun Gothic"/>
                <a:cs typeface="Malgun Gothic"/>
              </a:defRPr>
            </a:pPr>
            <a:r>
              <a:rPr sz="1500" b="1">
                <a:solidFill>
                  <a:srgbClr val="6B43C7"/>
                </a:solidFill>
                <a:latin typeface="Malgun Gothic"/>
                <a:ea typeface="Malgun Gothic"/>
                <a:cs typeface="Malgun Gothic"/>
                <a:hlinkClick xmlns:r="http://schemas.openxmlformats.org/officeDocument/2006/relationships" r:id="R395d974aae8e438c"/>
              </a:rPr>
              <a:t>웹 실습 열기</a:t>
            </a:r>
          </a:p>
        </p:txBody>
      </p:sp>
      <p:sp>
        <p:nvSpPr>
          <p:cNvPr id="10" name="58">
            <a:extLst xmlns:a="http://schemas.openxmlformats.org/drawingml/2006/main">
              <a:ext uri="{FF2B5EF4-FFF2-40B4-BE49-F238E27FC236}">
                <a16:creationId xmlns:a16="http://schemas.microsoft.com/office/drawing/2014/main" id="{9575C9D4-36EB-4CDC-8951-2B802B27F170}"/>
              </a:ext>
            </a:extLst>
          </p:cNvPr>
          <p:cNvSpPr>
            <a:spLocks xmlns:a="http://schemas.openxmlformats.org/drawingml/2006/main" noGrp="1"/>
          </p:cNvSpPr>
          <p:nvPr/>
        </p:nvSpPr>
        <p:spPr>
          <a:xfrm xmlns:a="http://schemas.openxmlformats.org/drawingml/2006/main">
            <a:off x="10953750" y="6381750"/>
            <a:ext cx="552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6000"/>
              </a:lnSpc>
              <a:buNone/>
              <a:defRPr sz="1500" b="0">
                <a:solidFill>
                  <a:srgbClr val="606170"/>
                </a:solidFill>
                <a:latin typeface="Malgun Gothic"/>
                <a:ea typeface="Malgun Gothic"/>
                <a:cs typeface="Malgun Gothic"/>
              </a:defRPr>
            </a:pPr>
            <a:r>
              <a:rPr sz="1500" b="0">
                <a:solidFill>
                  <a:srgbClr val="606170"/>
                </a:solidFill>
                <a:latin typeface="Malgun Gothic"/>
                <a:ea typeface="Malgun Gothic"/>
                <a:cs typeface="Malgun Gothic"/>
              </a:rPr>
              <a:t>58</a:t>
            </a:r>
          </a:p>
        </p:txBody>
      </p:sp>
    </p:spTree>
    <p:extLst>
      <p:ext uri="{BB962C8B-B14F-4D97-AF65-F5344CB8AC3E}">
        <p14:creationId xmlns:p14="http://schemas.microsoft.com/office/powerpoint/2010/main" val="1203239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2026-09-28T04:21:38.2820000Z</dcterms:created>
  <dcterms:modified xsi:type="dcterms:W3CDTF">2026-09-28T04:21:38.2820000Z</dcterms:modified>
</coreProperties>
</file>