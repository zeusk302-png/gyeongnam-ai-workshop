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 메일은 AI가 먼저 읽고, 판단은 교수님이 합니다</a:t>
            </a:r>
          </a:p>
          <a:p/>
          <a:p>
            <a:r>
              <a:t>시간: 시작 후 0–1분, 1분</a:t>
            </a:r>
          </a:p>
          <a:p/>
          <a:p>
            <a:r>
              <a:t>말할 내용: 인사하고 오늘의 한 문장을 읽습니다. 오늘은 교수님 업무 중 '읽기·분류·초안'만 AI에게 맡기고, '판단·승인·관계'는 교수님이 하는 연습을 합니다. 오른쪽 네 가지가 오늘 직접 해 볼 업무입니다. 자료는 모두 교육용 가상 자료입니다.</a:t>
            </a:r>
          </a:p>
          <a:p/>
          <a:p>
            <a:r>
              <a:t>참가자에게 할 질문: 지난주에 학생 메일에 답하느라 쓴 시간이 대략 얼마였나요?</a:t>
            </a:r>
          </a:p>
          <a:p/>
          <a:p>
            <a:r>
              <a:t>예상 오류와 대응: 노트북이 없는 분은 옆 분과 짝으로 진행한다고 먼저 안내합니다.</a:t>
            </a:r>
          </a:p>
          <a:p/>
          <a:p>
            <a:r>
              <a:t>수업 링크: https://zeusk302-png.github.io/gyeongnam-ai-workshop/#orientation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 오늘 함께할 강사, 김세영입니다</a:t>
            </a:r>
          </a:p>
          <a:p/>
          <a:p>
            <a:r>
              <a:t>시간: 시작 후 1–3분, 2분</a:t>
            </a:r>
          </a:p>
          <a:p/>
          <a:p>
            <a:r>
              <a:t>말할 내용: 산업용 AI와 임베디드 소프트웨어를 개발하며 시스템 설계, 시험·검증, 기술 문서 작성을 해 왔습니다. 만든 것이 실제로 맞는지 시험하는 일이 제 일입니다. 오늘도 AI가 쓴 결과가 원문과 맞는지 함께 확인하겠습니다. 상세 경력은 웹 강사 소개에 있습니다.</a:t>
            </a:r>
          </a:p>
          <a:p/>
          <a:p>
            <a:r>
              <a:t>참가자에게 할 질문: 요즘 가장 자주 고쳐 쓰는 문서는 무엇인가요?</a:t>
            </a:r>
          </a:p>
          <a:p/>
          <a:p>
            <a:r>
              <a:t>예상 오류와 대응: 경력 소개는 짧게 끝내고 바로 다음 장으로 넘어갑니다.</a:t>
            </a:r>
          </a:p>
          <a:p/>
          <a:p>
            <a:r>
              <a:t>수업 링크: https://zeusk302-png.github.io/gyeongnam-ai-workshop/#instructor</a:t>
            </a:r>
          </a:p>
          <a:p/>
          <a:p>
            <a:r>
              <a:t>화면 원본: assets/instructor/kim-seyoung.jpg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 이번 주, 이 중 몇 가지 하셨나요?</a:t>
            </a:r>
          </a:p>
          <a:p/>
          <a:p>
            <a:r>
              <a:t>시간: 시작 후 3–5분, 2분</a:t>
            </a:r>
          </a:p>
          <a:p/>
          <a:p>
            <a:r>
              <a:t>말할 내용: 여섯 가지를 하나씩 읽으며 해당하면 손을 들어 달라고 합니다. 세 가지 이상 손을 든 분이 많을 것입니다. 이 여섯 가지는 모두 '많이 읽고, 나누고, 첫 초안을 쓰는' 일이라는 공통점이 있습니다. 오늘은 그 앞부분을 AI에게 맡겨 봅니다.</a:t>
            </a:r>
          </a:p>
          <a:p/>
          <a:p>
            <a:r>
              <a:t>참가자에게 할 질문: 이 중 가장 시간이 오래 걸리는 일은 무엇인가요?</a:t>
            </a:r>
          </a:p>
          <a:p/>
          <a:p>
            <a:r>
              <a:t>예상 오류와 대응: 손을 잘 들지 않으면 '저는 첫 번째와 네 번째입니다'처럼 강사가 먼저 답합니다.</a:t>
            </a:r>
          </a:p>
          <a:p/>
          <a:p>
            <a:r>
              <a:t>수업 링크: https://zeusk302-png.github.io/gyeongnam-ai-workshop/#why-ai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 월요일 아침, 학생 메일 40통이 와 있습니다</a:t>
            </a:r>
          </a:p>
          <a:p/>
          <a:p>
            <a:r>
              <a:t>시간: 시작 후 5–6분, 1분</a:t>
            </a:r>
          </a:p>
          <a:p/>
          <a:p>
            <a:r>
              <a:t>말할 내용: 오늘의 무대를 소개합니다. 가상의 가온대학교 한도윤 교수입니다. 교양 과목 「데이터로 읽는 사회」 두 분반을 맡고 있고, 중간고사 직전 월요일 아침에 메일 40통이 쌓였습니다. 연장 요청, 공결, 성적 문의, 철회, 추천서가 섞여 있습니다. 오늘 쓰는 자료는 모두 이 교수의 가상 자료입니다.</a:t>
            </a:r>
          </a:p>
          <a:p/>
          <a:p>
            <a:r>
              <a:t>참가자에게 할 질문: 교수님 받은편지함에서 가장 많이 오는 메일은 어떤 종류인가요?</a:t>
            </a:r>
          </a:p>
          <a:p/>
          <a:p>
            <a:r>
              <a:t>예상 오류와 대응: '실제 경남대 자료인가요?'라는 질문이 나오면 모두 가상 자료이며 가온대학교는 만든 대학이라고 답합니다.</a:t>
            </a:r>
          </a:p>
          <a:p/>
          <a:p>
            <a:r>
              <a:t>수업 링크: https://zeusk302-png.github.io/gyeongnam-ai-workshop/#why-ai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 먼저 결과부터: 메일 40통이 이렇게 정리됩니다</a:t>
            </a:r>
          </a:p>
          <a:p/>
          <a:p>
            <a:r>
              <a:t>시간: 시작 후 6–9분, 3분</a:t>
            </a:r>
          </a:p>
          <a:p/>
          <a:p>
            <a:r>
              <a:t>말할 내용: 설명보다 결과를 먼저 보여 드립니다. 강사가 리허설에서 Claude에 메일 40통을 올리고 네 줄 질문 한 번으로 받은 결과를 재현한 화면입니다. 왼쪽은 유형별 개수, 가운데는 처리표 일부, 오른쪽은 답장 초안 한 통입니다. 리허설에서 잰 시간을 빈칸에 채워 말합니다(리허설 실측값만 씁니다). 이 방에서 15분쯤 직접 다시 잽니다. 판단이 필요한 메일(M16, M33 등)은 이 표에서 골라 교수님이 읽습니다.</a:t>
            </a:r>
          </a:p>
          <a:p/>
          <a:p>
            <a:r>
              <a:t>참가자에게 할 질문: 이 표가 있으면 어느 메일부터 읽으시겠어요?</a:t>
            </a:r>
          </a:p>
          <a:p/>
          <a:p>
            <a:r>
              <a:t>예상 오류와 대응: 리허설 시간을 아직 재지 않았으면 빈칸을 그대로 두고 '오늘 이 방에서 잽니다'라고 말합니다. 숫자를 짐작해 말하지 않습니다.</a:t>
            </a:r>
          </a:p>
          <a:p/>
          <a:p>
            <a:r>
              <a:t>수업 링크: https://zeusk302-png.github.io/gyeongnam-ai-workshop/#why-ai</a:t>
            </a:r>
          </a:p>
          <a:p/>
          <a:p>
            <a:r>
              <a:t>처리표 행과 유형별 개수는 90_교수실습_해설.md 1-1 기준입니다. 답장 초안은 질문 1-2의 조건(날짜·시간을 지어내지 않음)을 지킨 예시입니다.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 대학 교원이 AI에 가장 많이 맡긴 일은 수업 준비였습니다</a:t>
            </a:r>
          </a:p>
          <a:p/>
          <a:p>
            <a:r>
              <a:t>시간: 시작 후 9–11분, 2분</a:t>
            </a:r>
          </a:p>
          <a:p/>
          <a:p>
            <a:r>
              <a:t>말할 내용: 실제 자료입니다. Anthropic이 2025년 8월 낸 교육 보고서는 2025년 5~6월 고등교육 종사자의 Claude.ai 대화 약 7만 4천 건을 익명으로 분석했습니다. 가장 많은 용도는 교육과정·수업 자료 개발 57%, 학술 연구 13%, 학생 평가 7%였습니다. 교수님들이 이미 AI를 '수업 준비 조수'로 쓰고 있다는 뜻입니다. 같은 보고서는 채점 같은 평가 업무에서는 AI에 거의 통째로 맡기는 방식이 절반쯤(48.9%)이었다며 주의가 필요하다고 봤습니다. 한 회사, 한 도구 이용자의 대화라는 한계가 있습니다.</a:t>
            </a:r>
          </a:p>
          <a:p/>
          <a:p>
            <a:r>
              <a:t>참가자에게 할 질문: 교수님이 AI에 맡겨 보고 싶은 수업 준비 일은 무엇인가요?</a:t>
            </a:r>
          </a:p>
          <a:p/>
          <a:p>
            <a:r>
              <a:t>예상 오류와 대응: '회사가 낸 자료라 믿을 수 있나요?'라는 질문에는 한 도구 이용자 대화 분석이라는 한계를 인정하고, 뒤에서 여러 나라 교수 설문(Digital Education Council)도 보여 드린다고 답합니다.</a:t>
            </a:r>
          </a:p>
          <a:p/>
          <a:p>
            <a:r>
              <a:t>수업 링크: https://zeusk302-png.github.io/gyeongnam-ai-workshop/#why-ai</a:t>
            </a:r>
          </a:p>
          <a:p/>
          <a:p>
            <a:r>
              <a:t>출처: Anthropic, 'Anthropic Education Report: How educators use Claude' (2025-08-27) https://www.anthropic.com/news/anthropic-education-report-how-educators-use-claude — 수치는 2026-10-01 원문에서 확인.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7. AI는 읽고 정리하고, 결정은 교수님이 합니다</a:t>
            </a:r>
          </a:p>
          <a:p/>
          <a:p>
            <a:r>
              <a:t>시간: 시작 후 11–13분, 2분</a:t>
            </a:r>
          </a:p>
          <a:p/>
          <a:p>
            <a:r>
              <a:t>말할 내용: 오늘의 기준 하나입니다. 왼쪽은 AI에게 맡겨도 되는 일, 오른쪽은 교수님이 해야 하는 일입니다. 많이 읽고 나누고 첫 초안을 쓰는 일은 AI가 빠릅니다. 성적이나 예외 승인, 숫자가 맞는지, 학생과의 관계가 걸린 말투, 최종 발송은 교수님 몫입니다. 오늘 실습마다 이 두 칸을 다시 확인합니다.</a:t>
            </a:r>
          </a:p>
          <a:p/>
          <a:p>
            <a:r>
              <a:t>참가자에게 할 질문: 오른쪽 칸에 더 넣고 싶은 일이 있나요?</a:t>
            </a:r>
          </a:p>
          <a:p/>
          <a:p>
            <a:r>
              <a:t>예상 오류와 대응: 'AI가 판단까지 하면 안 되나요?'라는 질문에는 '판단의 근거를 찾는 데까지는 AI, 결정은 사람'이라고 답합니다.</a:t>
            </a:r>
          </a:p>
          <a:p/>
          <a:p>
            <a:r>
              <a:t>수업 링크: https://zeusk302-png.github.io/gyeongnam-ai-workshop/#why-ai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8. 세 시간 동안 다섯 가지 업무를 직접 해 봅니다</a:t>
            </a:r>
          </a:p>
          <a:p/>
          <a:p>
            <a:r>
              <a:t>시간: 시작 후 13–15분, 2분</a:t>
            </a:r>
          </a:p>
          <a:p/>
          <a:p>
            <a:r>
              <a:t>말할 내용: 오늘 순서입니다. 먼저 제가 메일 40통으로 시연하고, 도구 지도와 질문 공식을 짧게 봅니다. 그다음 8분 동안 어느 AI에서나 생기는 문제, 환각·컨텍스트·맞장구와 점검 질문을 봅니다. 이어서 Gemini Notebook으로 논문 다섯 편, Claude로 강의평가 180개, Gemini로 강의계획서와 학칙 근거 답장을 합니다. 105분쯤 10분 쉽니다. 마지막 30분은 AI·표절이 의심되는 과제를 AI로 검토하는 방법과 내일 할 일입니다.</a:t>
            </a:r>
          </a:p>
          <a:p/>
          <a:p>
            <a:r>
              <a:t>참가자에게 할 질문: 지금 세 도구 중 로그인이 안 되는 분이 있나요?</a:t>
            </a:r>
          </a:p>
          <a:p/>
          <a:p>
            <a:r>
              <a:t>예상 오류와 대응: 로그인이 안 되면 휴식 시간 전에 조교나 강사가 돕습니다. 사이트 '무료 계정 안내'를 엽니다.</a:t>
            </a:r>
          </a:p>
          <a:p/>
          <a:p>
            <a:r>
              <a:t>수업 링크: https://zeusk302-png.github.io/gyeongnam-ai-workshop/#orientation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9. 지금 제가 메일 40통을 직접 분류해 보겠습니다</a:t>
            </a:r>
          </a:p>
          <a:p/>
          <a:p>
            <a:r>
              <a:t>시간: 시작 후 15–17분, 2분 (시연 포함 총 5분)</a:t>
            </a:r>
          </a:p>
          <a:p/>
          <a:p>
            <a:r>
              <a:t>말할 내용: 강사 화면으로 Claude(또는 Gemini)에 01_학생메일_40통.txt를 올리고 질문 1-1을 붙여 넣습니다. 질문이 네 줄(역할·자료·형태·금지)로 되어 있다는 점을 짚습니다. 답이 나오는 동안 타이머를 켜 둡니다. 답이 나오면 유형별 개수를 소리 내 더해 40인지 봅니다. 이어서 1-2(M17·M21·M40 답장)를 보여 줍니다.</a:t>
            </a:r>
          </a:p>
          <a:p/>
          <a:p>
            <a:r>
              <a:t>참가자에게 할 질문: 표가 나오면, 어디부터 확인하시겠어요?</a:t>
            </a:r>
          </a:p>
          <a:p/>
          <a:p>
            <a:r>
              <a:t>예상 오류와 대응: 파일 업로드가 실패하면 메일 내용을 복사해 붙여 넣습니다. 답이 길게 끊기면 '이어서'를 입력합니다. 한도에 걸리면 미리 받아 둔 결과 화면으로 넘어갑니다.</a:t>
            </a:r>
          </a:p>
          <a:p/>
          <a:p>
            <a:r>
              <a:t>수업 링크: https://zeusk302-png.github.io/gyeongnam-ai-workshop/#demo-email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10. 실제 화면: Claude가 메일 40통을 표 한 장으로 정리했습니다</a:t>
            </a:r>
          </a:p>
          <a:p/>
          <a:p>
            <a:r>
              <a:t>시간: 시작 후 17분, 1분 (시연 결과를 보여 줄 때)</a:t>
            </a:r>
          </a:p>
          <a:p/>
          <a:p>
            <a:r>
              <a:t>말할 내용: 강사가 오늘 아침 실제로 돌린 화면입니다. 01_학생메일_40통.txt를 올리고 질문 1-1을 그대로 붙여 넣었습니다. 왼쪽이 표의 앞부분, 오른쪽이 표 아래에 붙은 유형별 개수와 같은 요청을 다시 보낸 메일입니다. 합계가 40이고, M01·M02와 M03·M04를 같은 건으로 묶었고, 날짜가 이상한 메일로 M05·M26·M28을 찾았습니다. 해설과 같습니다. 다만 유형별 개수는 해설과 조금 다릅니다. M14를 성적·시험으로, M18·M35를 기타로 넣었습니다. 분류는 사람이 해도 조금씩 다르므로 합계와 중복·날짜만 먼저 맞춥니다.</a:t>
            </a:r>
          </a:p>
          <a:p/>
          <a:p>
            <a:r>
              <a:t>참가자에게 할 질문: 해설과 다르게 분류된 메일이 있으면 틀린 걸까요, 기준이 다른 걸까요?</a:t>
            </a:r>
          </a:p>
          <a:p/>
          <a:p>
            <a:r>
              <a:t>예상 오류와 대응: 라이브 시연이 실패하거나 느리면 이 장을 대신 보여 줍니다. 답은 실행할 때마다 조금씩 달라진다고 먼저 말합니다.</a:t>
            </a:r>
          </a:p>
          <a:p/>
          <a:p>
            <a:r>
              <a:t>수업 링크: https://zeusk302-png.github.io/gyeongnam-ai-workshop/#demo-email</a:t>
            </a:r>
          </a:p>
          <a:p/>
          <a:p>
            <a:r>
              <a:t>화면 원본: 제작자료/pptx-v2.1/captures/mail-table.png, mail-counts.png (Claude Opus 5.5,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11. 메일은 40통이지만, 답장할 일은 37건입니다</a:t>
            </a:r>
          </a:p>
          <a:p/>
          <a:p>
            <a:r>
              <a:t>시간: 시작 후 17–19분, 2분</a:t>
            </a:r>
          </a:p>
          <a:p/>
          <a:p>
            <a:r>
              <a:t>말할 내용: 메일은 40통이지만 처리할 건은 38건입니다. M02는 M01을 7분 뒤 다시 보낸 메일, M04는 M03에 입원확인서만 붙인 메일입니다. 답장이 필요 없는 메일은 외부 학회 홍보인 M37 하나라서 답장할 건은 37건입니다. AI 표에서 이 숫자가 맞게 나왔는지 같이 봅니다.</a:t>
            </a:r>
          </a:p>
          <a:p/>
          <a:p>
            <a:r>
              <a:t>참가자에게 할 질문: AI 표에서 중복 메일이 따로 적혀 있나요?</a:t>
            </a:r>
          </a:p>
          <a:p/>
          <a:p>
            <a:r>
              <a:t>예상 오류와 대응: AI가 40건을 모두 따로 세면 그대로 보여 주고 다음 장에서 짚습니다. 유형 분류가 조금 달라도(예: M35를 출석·공결로) 맞은 것으로 봅니다.</a:t>
            </a:r>
          </a:p>
          <a:p/>
          <a:p>
            <a:r>
              <a:t>수업 링크: https://zeusk302-png.github.io/gyeongnam-ai-workshop/#demo-email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12. AI는 같은 요청을 두 번 세기도 합니다</a:t>
            </a:r>
          </a:p>
          <a:p/>
          <a:p>
            <a:r>
              <a:t>시간: 시작 후 19–20분, 1분</a:t>
            </a:r>
          </a:p>
          <a:p/>
          <a:p>
            <a:r>
              <a:t>말할 내용: 재현 예시입니다. AI가 '답장 필요 40통'이라고 쓰는 경우가 있습니다. 원문을 보면 M02는 M01을 7분 뒤 다시 보낸 메일이고, M04는 M03에 첨부만 더한 메일입니다. M37은 학회 홍보라 답장이 필요 없습니다. 개수는 AI가 말한 숫자가 아니라 메일 번호로 셉니다. 오늘 시연에서 실제로 틀린 곳이 있으면 그 화면으로 바꿔 보여 줍니다.</a:t>
            </a:r>
          </a:p>
          <a:p/>
          <a:p>
            <a:r>
              <a:t>참가자에게 할 질문: AI가 틀린 개수를 말하면, 어떤 질문으로 다시 시키시겠어요?</a:t>
            </a:r>
          </a:p>
          <a:p/>
          <a:p>
            <a:r>
              <a:t>예상 오류와 대응: AI가 이번에는 맞게 셌다면 '오늘은 맞았지만 매번 맞는 것은 아니다'라고 말하고 재현 예시로 설명합니다.</a:t>
            </a:r>
          </a:p>
          <a:p/>
          <a:p>
            <a:r>
              <a:t>수업 링크: https://zeusk302-png.github.io/gyeongnam-ai-workshop/#demo-email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13. AI는 하나가 아니고, 답의 근거가 저마다 다릅니다</a:t>
            </a:r>
          </a:p>
          <a:p/>
          <a:p>
            <a:r>
              <a:t>시간: 시작 후 20–21분, 1분</a:t>
            </a:r>
          </a:p>
          <a:p/>
          <a:p>
            <a:r>
              <a:t>말할 내용: 도구를 '무엇을 근거로 답하나'로 나눕니다. Copilot은 학교 Microsoft 365 계정이 있을 때 편합니다. 왼쪽 Gemini Notebook(구 NotebookLM)은 내가 올린 자료 안에서만 답하고 출처 번호를 붙입니다. 가운데는 모델이 배운 지식으로 쓰고 다듬는 도구입니다. 오른쪽은 웹이나 논문 데이터베이스를 찾아 답합니다. 오늘 직접 쓰는 세 도구는 굵은 테두리입니다. 클로바X는 2026년 4월 서비스를 끝내서 뺐습니다. NotebookLM은 2026년 7월 'Gemini Notebook'으로 이름이 바뀌었고 주소와 요금은 같습니다.</a:t>
            </a:r>
          </a:p>
          <a:p/>
          <a:p>
            <a:r>
              <a:t>참가자에게 할 질문: 이 중 한 번이라도 써 본 도구는 몇 개인가요?</a:t>
            </a:r>
          </a:p>
          <a:p/>
          <a:p>
            <a:r>
              <a:t>예상 오류와 대응: '뤼튼은 어떤 모델인가요?'라는 질문에는 여러 모델을 한국어 화면으로 쓰는 서비스이며, 약관과 학습 설정은 직접 확인하라고 답합니다.</a:t>
            </a:r>
          </a:p>
          <a:p/>
          <a:p>
            <a:r>
              <a:t>수업 링크: https://zeusk302-png.github.io/gyeongnam-ai-workshop/#tool-comparison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14. 도구마다 답의 근거와 약한 곳이 다릅니다</a:t>
            </a:r>
          </a:p>
          <a:p/>
          <a:p>
            <a:r>
              <a:t>시간: 시작 후 21–22분, 1분 30초</a:t>
            </a:r>
          </a:p>
          <a:p/>
          <a:p>
            <a:r>
              <a:t>말할 내용: 도구 비교표입니다. 왼쪽부터 답의 근거, 교수 업무에 좋은 일, 약한 곳, 무료 여부, 학습 설정입니다. 학습 설정 칸이 중요합니다. 학교 계정 도구가 있으면 먼저 쓰고, 없으면 개인 계정에서 학습 설정을 끄고 씁니다. Gemini Notebook(구 NotebookLM)은 업로드한 자료로 학습하지 않는다고 제품 안내에 적혀 있습니다. Claude 개인 계정은 'Claude 개선에 참여'를, ChatGPT는 '모두를 위한 모델 개선'을, Perplexity는 'AI data retention'을 끕니다. Copilot은 학교 Microsoft 365 계정일 때 학습에 쓰지 않습니다. 경남대가 Google Workspace for Education과 Microsoft 365 중 무엇을 쓰는지는 행사 전에 전산 담당 부서에 확인해 안내합니다.</a:t>
            </a:r>
          </a:p>
          <a:p/>
          <a:p>
            <a:r>
              <a:t>참가자에게 할 질문: 교수님이 쓰는 도구의 학습 설정을 확인해 보신 적이 있나요?</a:t>
            </a:r>
          </a:p>
          <a:p/>
          <a:p>
            <a:r>
              <a:t>예상 오류와 대응: 요금과 한도는 자주 바뀝니다. '2026년 9월 기준, 쓰기 전에 각 서비스 화면에서 확인'이라고 말합니다. 뤼튼의 약관·학습 설정과 Gemini 개인 계정 기본값은 강사가 확인하지 못했습니다(미검증). 화면에는 '설정에서 직접 확인'으로만 적었습니다.</a:t>
            </a:r>
          </a:p>
          <a:p/>
          <a:p>
            <a:r>
              <a:t>수업 링크: https://zeusk302-png.github.io/gyeongnam-ai-workshop/#tool-comparison</a:t>
            </a:r>
          </a:p>
          <a:p/>
          <a:p>
            <a:r>
              <a:t>출처: https://workspace.google.com/products/notebooklm/ ; https://blog.google/innovation-and-ai/products/gemini-notebook/notebooklm-gemini-notebook/ ; https://www.anthropic.com/news/updates-to-our-consumer-terms ; https://blog.google/products-and-platforms/products/education/gemini-enterprise-grade-data-protection/ ; https://help.openai.com/en/articles/7730893-data-controls-faq ; https://learn.microsoft.com/en-us/microsoft-365/copilot/enterprise-data-protection ; https://www.perplexity.ai/help-center/en/articles/11564572-data-collection-at-perplexity ; https://consensus.app ; https://elicit.com ; https://wrtn.ai — 같은 데이터: 제작자료/pptx-v2.0/tool-table.json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15. 질문은 네 줄이면 충분합니다: 역할·자료·형태·금지</a:t>
            </a:r>
          </a:p>
          <a:p/>
          <a:p>
            <a:r>
              <a:t>시간: 시작 후 22–23분, 1분 30초</a:t>
            </a:r>
          </a:p>
          <a:p/>
          <a:p>
            <a:r>
              <a:t>말할 내용: 오늘 모든 질문은 네 줄로 되어 있습니다. 역할은 AI가 누구처럼 일할지, 자료는 무엇만 보고 답할지, 형태는 표·개수·길이, 금지는 지어내기·개인정보·단정처럼 하지 말아야 할 것입니다. 특히 '자료'와 '금지'가 AI가 지어내는 것을 줄여 줍니다. 방금 시연한 질문이 바로 이 네 줄이었습니다.</a:t>
            </a:r>
          </a:p>
          <a:p/>
          <a:p>
            <a:r>
              <a:t>참가자에게 할 질문: 네 줄 중 평소 질문에서 가장 자주 빠지는 줄은 어느 것인가요?</a:t>
            </a:r>
          </a:p>
          <a:p/>
          <a:p>
            <a:r>
              <a:t>예상 오류와 대응: '영어로 써야 잘하나요?'라는 질문에는 한국어로 충분하다고 답합니다.</a:t>
            </a:r>
          </a:p>
          <a:p/>
          <a:p>
            <a:r>
              <a:t>수업 링크: https://zeusk302-png.github.io/gyeongnam-ai-workshop/#tool-comparison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16. 학생 정보는 세 겹으로 지킵니다</a:t>
            </a:r>
          </a:p>
          <a:p/>
          <a:p>
            <a:r>
              <a:t>시간: 시작 후 23–25분, 2분</a:t>
            </a:r>
          </a:p>
          <a:p/>
          <a:p>
            <a:r>
              <a:t>말할 내용: 실제 업무에 쓰기 전 약속입니다. 첫째, 학교 계정으로 쓰는 도구가 있으면 그것부터 씁니다. 없으면 개인 계정으로 쓰되 학습 설정을 끕니다. Google Workspace for Education의 Gemini·Gemini Notebook, Microsoft 365 학교 계정의 Copilot Chat은 기관 약관상 입력 자료를 모델 학습에 쓰지 않습니다. 둘째, 개인 계정이면 학습 설정을 끕니다. ChatGPT는 설정 &gt; 데이터 제어 &gt; '모두를 위한 모델 개선', Claude는 개인정보 설정의 'Claude 개선에 참여', Perplexity는 'AI data retention'입니다. Gemini 개인 계정은 앱 활동 설정을 확인합니다. 셋째, 넣기 전에 이름·학번·연락처를 지웁니다. 오늘은 가상 자료만 씁니다.</a:t>
            </a:r>
          </a:p>
          <a:p/>
          <a:p>
            <a:r>
              <a:t>참가자에게 할 질문: 우리 학교가 Google과 Microsoft 중 어느 쪽 학교 계정을 주는지 아시는 분?</a:t>
            </a:r>
          </a:p>
          <a:p/>
          <a:p>
            <a:r>
              <a:t>예상 오류와 대응: 학교 계정 여부가 불확실하면 '전산 담당 부서 확인 필요'로 남깁니다. 가상 자료에도 전화번호·학번이 일부 들어 있습니다. AI가 걸러 내는지 보는 연습이라고 안내합니다.</a:t>
            </a:r>
          </a:p>
          <a:p/>
          <a:p>
            <a:r>
              <a:t>수업 링크: https://zeusk302-png.github.io/gyeongnam-ai-workshop/#tool-comparison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17. 모르면 지어냅니다: 없는 논문도 요약합니다</a:t>
            </a:r>
          </a:p>
          <a:p/>
          <a:p>
            <a:r>
              <a:t>시간: 시작 후 25–27분, 2분</a:t>
            </a:r>
          </a:p>
          <a:p/>
          <a:p>
            <a:r>
              <a:t>말할 내용: 실습에 들어가기 전에 어느 AI에서나 생기는 문제 세 가지를 봅니다. 첫째는 환각, 모르는 것도 그럴듯하게 만드는 것입니다. 왼쪽은 강사가 오늘 Gemini에 없는 논문 '박민수(2024)'를 요약해 달라고 한 화면입니다. Gemini는 '가상의 출처로 확인된다'고 먼저 말합니다. 그런데 바로 뒤에 '예시 요약'이라며 500명 설문, 다변화 회귀분석 같은 내용을 만들어 붙였습니다. 없다고 말했어도 뒤에 붙은 숫자를 쓰면 안 됩니다. 2023년 연구에서는 ChatGPT가 단 참고문헌 중 GPT-3.5는 55%, GPT-4는 18%가 없는 문헌이었습니다. 미국에서는 변호사가 ChatGPT가 만든 없는 판례 6건을 법원에 냈다가 5,000달러 제재를 받았습니다. 판례가 진짜냐고 되물었을 때도 ChatGPT는 진짜라고 답했습니다.</a:t>
            </a:r>
          </a:p>
          <a:p/>
          <a:p>
            <a:r>
              <a:t>참가자에게 할 질문: 교수님이 AI 답에서 가장 먼저 확인하는 것은 무엇인가요?</a:t>
            </a:r>
          </a:p>
          <a:p/>
          <a:p>
            <a:r>
              <a:t>예상 오류와 대응: '최신 모델은 괜찮지 않나요?'에는 '줄었지만 없어지지 않았다, 그래서 인용은 원문을 직접 찾는다'고 답합니다.</a:t>
            </a:r>
          </a:p>
          <a:p/>
          <a:p>
            <a:r>
              <a:t>수업 링크: https://zeusk302-png.github.io/gyeongnam-ai-workshop/#ai-basics</a:t>
            </a:r>
          </a:p>
          <a:p/>
          <a:p>
            <a:r>
              <a:t>출처: Walters &amp; Wilder (2023) Scientific Reports 13:14045 https://www.nature.com/articles/s41598-023-41032-5 ; Mata v. Avianca, Inc., S.D.N.Y. 2023-06-22</a:t>
            </a:r>
          </a:p>
          <a:p>
            <a:r>
              <a:t>화면 원본: 제작자료/pptx-v2.1/captures/gm-hallucination.png (Gemini,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18. AI가 한 번에 보는 범위에는 한계가 있습니다</a:t>
            </a:r>
          </a:p>
          <a:p/>
          <a:p>
            <a:r>
              <a:t>시간: 시작 후 27–29분, 2분</a:t>
            </a:r>
          </a:p>
          <a:p/>
          <a:p>
            <a:r>
              <a:t>말할 내용: 둘째는 컨텍스트입니다. AI가 한 번에 보는 범위, 대화 전체와 올린 파일을 말합니다. 이 범위가 길어지면 처음과 끝은 잘 보고 가운데는 덜 본다는 연구가 있습니다(Liu 외 2024, 'Lost in the Middle'). 그래서 세 가지를 지킵니다. 활동마다 새 대화를 엽니다. 파일을 올리면 첫 항목과 마지막 항목, 개수부터 확인합니다. 대화가 길어지면 요약을 받아 새 대화로 넘깁니다. 오른쪽은 강의평가 CSV를 올리고 질문 7-2를 넣은 Claude 화면입니다. R001, R180, 180개로 원본과 같았습니다.</a:t>
            </a:r>
          </a:p>
          <a:p/>
          <a:p>
            <a:r>
              <a:t>참가자에게 할 질문: 한 대화창을 며칠씩 이어서 쓰시는 분 계신가요?</a:t>
            </a:r>
          </a:p>
          <a:p/>
          <a:p>
            <a:r>
              <a:t>예상 오류와 대응: '컨텍스트 창이 얼마나 되나요?'에는 도구와 요금제마다 다르고 자주 바뀌므로, 숫자보다 처음과 끝 확인 습관이 중요하다고 답합니다.</a:t>
            </a:r>
          </a:p>
          <a:p/>
          <a:p>
            <a:r>
              <a:t>수업 링크: https://zeusk302-png.github.io/gyeongnam-ai-workshop/#ai-basics</a:t>
            </a:r>
          </a:p>
          <a:p/>
          <a:p>
            <a:r>
              <a:t>출처: Liu et al. (2024) Lost in the Middle, TACL 12:157–173 https://aclanthology.org/2024.tacl-1.9/</a:t>
            </a:r>
          </a:p>
          <a:p>
            <a:r>
              <a:t>화면 원본: 제작자료/pptx-v2.1/captures/cl-context.png (Claude Opus 5.5,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19. 내 말에 맞장구치고, 물을 때마다 답이 바뀝니다</a:t>
            </a:r>
          </a:p>
          <a:p/>
          <a:p>
            <a:r>
              <a:t>시간: 시작 후 29–31분, 2분</a:t>
            </a:r>
          </a:p>
          <a:p/>
          <a:p>
            <a:r>
              <a:t>말할 내용: 셋째와 넷째입니다. AI는 사용자 의견에 맞추려는 경향이 있습니다. OpenAI는 2025년 4월 ChatGPT 업데이트가 지나치게 맞장구를 친다며 이전 버전으로 되돌렸습니다. 내 초안을 검토시킬 때 '좋은지 봐 줘'라고 하면 칭찬부터 받습니다. '약점과 반대 근거부터'라고 묻습니다(질문 7-4). 또 같은 질문에도 답이 바뀝니다. 오늘 Gemini에 'H01을 AI가 썼을 가능성'을 물었더니 15%, 새 대화에서는 10%였습니다. 중요한 결과는 새 대화에서 한 번 더 묻고, 달라진 곳만 원문과 맞춥니다.</a:t>
            </a:r>
          </a:p>
          <a:p/>
          <a:p>
            <a:r>
              <a:t>참가자에게 할 질문: AI가 교수님 의견에 반대한 적이 있었나요?</a:t>
            </a:r>
          </a:p>
          <a:p/>
          <a:p>
            <a:r>
              <a:t>예상 오류와 대응: '그럼 AI를 못 믿는 건가요?'에는 '믿을 곳과 확인할 곳을 나누자는 것'이라고 답합니다.</a:t>
            </a:r>
          </a:p>
          <a:p/>
          <a:p>
            <a:r>
              <a:t>수업 링크: https://zeusk302-png.github.io/gyeongnam-ai-workshop/#ai-basics</a:t>
            </a:r>
          </a:p>
          <a:p/>
          <a:p>
            <a:r>
              <a:t>출처: OpenAI의 GPT-4o 업데이트 되돌림(2025-04) 보도 https://venturebeat.com/ai/openai-rolls-back-chatgpts-sycophancy-and-explains-what-went-wrong</a:t>
            </a:r>
          </a:p>
          <a:p>
            <a:r>
              <a:t>오늘 실행 예: 제작자료/pptx-v2.1/captures/pct-gm-1.png, pct-gm-2.png (Gemini,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20. 어느 도구에서나 쓰는 점검 질문 네 개</a:t>
            </a:r>
          </a:p>
          <a:p/>
          <a:p>
            <a:r>
              <a:t>시간: 시작 후 31–33분, 2분</a:t>
            </a:r>
          </a:p>
          <a:p/>
          <a:p>
            <a:r>
              <a:t>말할 내용: 오늘 모든 실습에서 이 네 가지를 씁니다. 답을 받으면 7-1로 숫자·날짜·인용의 근거 위치를 표로 받습니다. 파일을 올리면 7-2로 처음과 끝, 개수부터 확인합니다. 대화가 길어지면 7-3으로 요약해 새 대화로 넘깁니다. 내 초안을 검토받을 때는 7-4로 약점부터 묻습니다. 전체 문장은 사이트 'AI 공통 원리' 페이지와 질문 모음 7번에 있습니다.</a:t>
            </a:r>
          </a:p>
          <a:p/>
          <a:p>
            <a:r>
              <a:t>참가자에게 할 질문: 이 중 내일 바로 쓸 질문 하나를 고른다면?</a:t>
            </a:r>
          </a:p>
          <a:p/>
          <a:p>
            <a:r>
              <a:t>예상 오류와 대응: 7-1에서 '자료에 없음'이 나오면 그 문장부터 원문을 확인하게 합니다. 없는 것을 찾으려고 AI에게 다시 묻지 않습니다.</a:t>
            </a:r>
          </a:p>
          <a:p/>
          <a:p>
            <a:r>
              <a:t>수업 링크: https://zeusk302-png.github.io/gyeongnam-ai-workshop/#ai-basics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21. Gemini Notebook (구 NotebookLM): 논문 다섯 편을 표 한 장으로</a:t>
            </a:r>
          </a:p>
          <a:p/>
          <a:p>
            <a:r>
              <a:t>시간: 시작 후 33–34분, 1분</a:t>
            </a:r>
          </a:p>
          <a:p/>
          <a:p>
            <a:r>
              <a:t>말할 내용: 첫 실습입니다. NotebookLM은 2026년 7월 16일 이름이 'Gemini Notebook'으로 바뀌었습니다. 주소(notebooklm.google)와 요금은 같습니다. 이 도구는 내가 올린 자료 안에서만 답하고, 문장마다 어느 자료의 어디인지 번호를 붙입니다. 오늘은 가상 논문 다섯 편으로 비교표, 인용 확인, 오디오 요약을 합니다.</a:t>
            </a:r>
          </a:p>
          <a:p/>
          <a:p>
            <a:r>
              <a:t>참가자에게 할 질문: 논문을 읽고 정리할 때 가장 번거로운 단계는 무엇인가요?</a:t>
            </a:r>
          </a:p>
          <a:p/>
          <a:p>
            <a:r>
              <a:t>예상 오류와 대응: 화면에 'NotebookLM' 이름이나 옛 로고가 보여도 같은 서비스라고 안내합니다.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22. 비교표 초안은 AI가 쓰고, 해석은 교수님이 합니다</a:t>
            </a:r>
          </a:p>
          <a:p/>
          <a:p>
            <a:r>
              <a:t>시간: 시작 후 34–35분, 1분</a:t>
            </a:r>
          </a:p>
          <a:p/>
          <a:p>
            <a:r>
              <a:t>말할 내용: 혼자 읽으면 다섯 편을 차례로 읽고 표를 채웁니다. 다섯째 편을 읽을 때 첫 편의 표본 수가 흐려집니다. Gemini Notebook이 먼저 읽으면 비교표 초안을 받고, 숫자마다 인용을 눌러 원문을 보고, 해석은 교수님이 합니다. 시간 빈칸은 실습이 끝난 뒤 함께 채웁니다.</a:t>
            </a:r>
          </a:p>
          <a:p/>
          <a:p>
            <a:r>
              <a:t>참가자에게 할 질문: 평소 논문 한 편 정리에 몇 분쯤 쓰시나요?</a:t>
            </a:r>
          </a:p>
          <a:p/>
          <a:p>
            <a:r>
              <a:t>예상 오류와 대응: 'AI가 요약하면 논문을 안 읽어도 되나요?'에는 '읽을 곳을 좁혀 주는 것이지 읽기를 대신하지 않는다'고 답합니다.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23. 새 노트북에는 논문 다섯 편만 소스로 올립니다</a:t>
            </a:r>
          </a:p>
          <a:p/>
          <a:p>
            <a:r>
              <a:t>시간: 시작 후 35–37분, 2분</a:t>
            </a:r>
          </a:p>
          <a:p/>
          <a:p>
            <a:r>
              <a:t>말할 내용: notebooklm.google에 들어가 '새 노트북'을 만듭니다. 왼쪽 출처 칸의 '+ 소스 추가'를 누르고 '파일 업로드'에서 02A부터 02E까지 다섯 파일만 고릅니다. 질문 모음이나 해설 파일은 넣지 않습니다. 이 화면은 강사가 2026-10-01에 실제로 만든 노트북입니다. 다섯 개가 목록에 모두 보이고 체크되어 있으면, 가운데에 자동 요약이 나옵니다. 제목은 영어로 붙을 수 있으니 눌러서 한국어로 바꿔도 됩니다.</a:t>
            </a:r>
          </a:p>
          <a:p/>
          <a:p>
            <a:r>
              <a:t>참가자에게 할 질문: 소스 목록에 다섯 개가 다 보이시나요?</a:t>
            </a:r>
          </a:p>
          <a:p/>
          <a:p>
            <a:r>
              <a:t>예상 오류와 대응: 파일이 안 올라가면 파일 내용을 복사해 '복사된 텍스트'로 붙여 넣습니다. 해설 파일(90번)을 올렸으면 소스에서 지우라고 안내합니다. 새 기능 안내 창이 뜨면 X로 닫습니다. 로그인이 안 되면 짝과 함께 봅니다.</a:t>
            </a:r>
          </a:p>
          <a:p/>
          <a:p>
            <a:r>
              <a:t>수업 링크: https://zeusk302-png.github.io/gyeongnam-ai-workshop/#notebooklm-papers</a:t>
            </a:r>
          </a:p>
          <a:p/>
          <a:p>
            <a:r>
              <a:t>화면 원본: 제작자료/pptx-v2.1/captures/nb-sources.png (Gemini Notebook,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24. 다섯 편의 연구 설계를 한 표로 비교합니다</a:t>
            </a:r>
          </a:p>
          <a:p/>
          <a:p>
            <a:r>
              <a:t>시간: 시작 후 37–44분, 7분</a:t>
            </a:r>
          </a:p>
          <a:p/>
          <a:p>
            <a:r>
              <a:t>말할 내용: 질문 2-1을 사이트에서 복사해 붙여 넣습니다. 오른쪽은 결과가 어떤 모양으로 나오는지 보여 주는 미리보기입니다. 표가 나오면 먼저 논문 C의 78.3% 옆 인용 번호를 눌러 몇 명 중 몇 명인지 봅니다. 짝과 함께 해도 됩니다. 8분이 지나면 '표가 나온 분 손'으로 진행 상황을 봅니다. 먼저 끝난 분은 논문 A의 효과가 몇 점인지도 인용으로 확인합니다.</a:t>
            </a:r>
          </a:p>
          <a:p/>
          <a:p>
            <a:r>
              <a:t>참가자에게 할 질문: 표에서 가장 먼저 확인하고 싶은 숫자는 무엇인가요?</a:t>
            </a:r>
          </a:p>
          <a:p/>
          <a:p>
            <a:r>
              <a:t>예상 오류와 대응: 표가 옆으로 잘리면 '표를 두 개로 나눠 줘'라고 다시 요청합니다. 인용 번호가 안 보이면 답변 속 작은 숫자 위에 마우스를 올립니다. 효과크기로 순위를 매기면 '설계가 달라 순위를 매기지 않는다'를 짚습니다.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25. 실제 화면: 인용 번호를 누르면 원문의 862명 표가 열립니다</a:t>
            </a:r>
          </a:p>
          <a:p/>
          <a:p>
            <a:r>
              <a:t>시간: 시작 후 44–45분, 1분 (비교표 실습 끝)</a:t>
            </a:r>
          </a:p>
          <a:p/>
          <a:p>
            <a:r>
              <a:t>말할 내용: 비교표 실습의 마지막에 보여 줍니다. 강사가 실제로 받은 비교표에서 논문 C 행입니다. '78.3%(675명)' 뒤의 인용 번호 6을 눌렀더니 왼쪽 출처 칸에 논문 C가 열리고 2.2절 표가 보였습니다. 표 제목이 '사용 경험이 있는 학생 862명의 응답'이고, 바로 아래에 '전체 1,204명 기준으로는 675명, 56.1%'라는 문장이 있습니다. 이번 실행에서는 AI가 862명 기준을 맞게 적었습니다. 그래도 인용을 눌러 기준을 확인한 결과입니다. 표 칸에 &lt;br&gt; 같은 글자가 보이는 것처럼 형식이 깨질 때도 있습니다.</a:t>
            </a:r>
          </a:p>
          <a:p/>
          <a:p>
            <a:r>
              <a:t>참가자에게 할 질문: 여러분 표에서 78.3% 뒤의 인용을 누르면 어느 절이 열리나요?</a:t>
            </a:r>
          </a:p>
          <a:p/>
          <a:p>
            <a:r>
              <a:t>예상 오류와 대응: 인용 번호가 안 보이면 답 위에 마우스를 올립니다. 출처 칸이 좁으면 칸 경계를 끌어 넓힙니다.</a:t>
            </a:r>
          </a:p>
          <a:p/>
          <a:p>
            <a:r>
              <a:t>수업 링크: https://zeusk302-png.github.io/gyeongnam-ai-workshop/#notebooklm-papers</a:t>
            </a:r>
          </a:p>
          <a:p/>
          <a:p>
            <a:r>
              <a:t>화면 원본: 제작자료/pptx-v2.1/captures/nb-ai-row.png, nb-source-862.png (Gemini Notebook,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26. 이 세 문장, 논문에 그대로 써도 될까요?</a:t>
            </a:r>
          </a:p>
          <a:p/>
          <a:p>
            <a:r>
              <a:t>시간: 시작 후 45–53분, 8분</a:t>
            </a:r>
          </a:p>
          <a:p/>
          <a:p>
            <a:r>
              <a:t>말할 내용: 질문 2-2입니다. 동료 논문 초고에 있는 세 문장을 AI에게 판정시킵니다. 먼저 교수님이 직접 맞음·일부 맞음·틀림 중 하나를 골라 보고, 그다음 AI 판정과 인용을 확인합니다. 세 문장 모두 '일부 맞음' 이하가 정답입니다. 3분 동안 직접 판단, 5분 동안 AI 판정과 인용 확인을 합니다.</a:t>
            </a:r>
          </a:p>
          <a:p/>
          <a:p>
            <a:r>
              <a:t>참가자에게 할 질문: 세 문장 중 '맞음'이라고 생각한 문장이 있나요? 손으로 표시해 주세요.</a:t>
            </a:r>
          </a:p>
          <a:p/>
          <a:p>
            <a:r>
              <a:t>예상 오류와 대응: AI가 판정을 흐리게 쓰면('어느 정도 맞다') '맞음/일부 맞음/틀림 중 하나로만 답해'라고 다시 요청합니다. 근거를 못 찾으면 '근거 없음'이라고 쓰게 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27. 세 문장 모두 원문과 조금씩 다릅니다</a:t>
            </a:r>
          </a:p>
          <a:p/>
          <a:p>
            <a:r>
              <a:t>시간: 시작 후 53–56분, 3분</a:t>
            </a:r>
          </a:p>
          <a:p/>
          <a:p>
            <a:r>
              <a:t>말할 내용: 정답입니다. 첫째 문장은 사용자 862명 기준 78.3%라서 전체 학생으로 쓰면 틀립니다. 전체 기준은 56.1%입니다. 둘째 문장의 11.2점은 과제 점수입니다. AI 없이 치른 시험은 0.8점 차이로 의미가 없었습니다(p=.61). 셋째 문장의 4.3점은 사후 점수만 비교한 값이고, 사전 차이를 통제하면 2.6점입니다.</a:t>
            </a:r>
          </a:p>
          <a:p/>
          <a:p>
            <a:r>
              <a:t>참가자에게 할 질문: AI 판정이 이 정답과 달랐던 분이 있나요? 어느 문장이었나요?</a:t>
            </a:r>
          </a:p>
          <a:p/>
          <a:p>
            <a:r>
              <a:t>예상 오류와 대응: '일부 맞음'과 '틀림'의 경계를 묻는 분께는 첫째 문장은 둘 다 인정한다고 답합니다.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28. 실제 화면: AI도 세 문장을 원문과 다르다고 판정했습니다</a:t>
            </a:r>
          </a:p>
          <a:p/>
          <a:p>
            <a:r>
              <a:t>시간: 시작 후 56분, 1분 (정답 공개 뒤)</a:t>
            </a:r>
          </a:p>
          <a:p/>
          <a:p>
            <a:r>
              <a:t>말할 내용: 정답 기준을 본 뒤, 강사가 실제로 질문 2-2를 넣은 결과를 보여 줍니다. Gemini Notebook은 ① 일부 맞음(862명 기준, 전체 56.1%), ② 틀림(11.2점은 과제 점수, 시험은 +0.8점), ③ 일부 맞음(사전 통제 후 2.6점)으로 판정했습니다. 해설과 같습니다. ①은 해설에서 '틀림'과 '일부 맞음'을 모두 정답으로 봅니다. 판정마다 인용 번호가 붙어 있으니 눌러서 원문을 확인합니다.</a:t>
            </a:r>
          </a:p>
          <a:p/>
          <a:p>
            <a:r>
              <a:t>참가자에게 할 질문: AI의 판정과 여러분의 판정이 다른 문장이 있었나요?</a:t>
            </a:r>
          </a:p>
          <a:p/>
          <a:p>
            <a:r>
              <a:t>예상 오류와 대응: AI가 '근거 없음'이라고 쓴 문장이 있으면 해당 논문 파일이 소스에 들어갔는지 먼저 봅니다.</a:t>
            </a:r>
          </a:p>
          <a:p/>
          <a:p>
            <a:r>
              <a:t>수업 링크: https://zeusk302-png.github.io/gyeongnam-ai-workshop/#notebooklm-papers</a:t>
            </a:r>
          </a:p>
          <a:p/>
          <a:p>
            <a:r>
              <a:t>화면 원본: 제작자료/pptx-v2.1/captures/nb-verify.png (Gemini Notebook,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29. 출처 번호가 붙어도 퍼센트의 기준은 틀릴 수 있습니다</a:t>
            </a:r>
          </a:p>
          <a:p/>
          <a:p>
            <a:r>
              <a:t>시간: 시작 후 56–59분, 3분</a:t>
            </a:r>
          </a:p>
          <a:p/>
          <a:p>
            <a:r>
              <a:t>말할 내용: 방금 정답을 본 1번 문장이 AI 표에서는 어떻게 나오는지 봅니다. 이번 실습의 주 함정입니다. 논문 C의 초록에는 '1,204명에게 물었다… 도움이 된다는 응답은 78.3%'라고 쓰여 있습니다. 그래서 AI가 '대학생의 78.3%'로 요약하기 쉽습니다. 본문 2.2절을 보면 이 비율은 사용 경험이 있는 862명 기준입니다. 전체 1,204명 기준은 56.1%입니다. 인용 번호가 있어도 눌러서 기준까지 봐야 합니다.</a:t>
            </a:r>
          </a:p>
          <a:p/>
          <a:p>
            <a:r>
              <a:t>참가자에게 할 질문: 여러분의 표에는 78.3%가 어떻게 적혀 있나요?</a:t>
            </a:r>
          </a:p>
          <a:p/>
          <a:p>
            <a:r>
              <a:t>예상 오류와 대응: AI가 이미 862명 기준이라고 맞게 썼다면 칭찬하고, 초록만 인용한 경우와 비교해 보여 줍니다.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30. 학과 회의에서 틀어 줄 5분 오디오 요약을 만듭니다</a:t>
            </a:r>
          </a:p>
          <a:p/>
          <a:p>
            <a:r>
              <a:t>시간: 시작 후 59–66분, 7분</a:t>
            </a:r>
          </a:p>
          <a:p/>
          <a:p>
            <a:r>
              <a:t>말할 내용: 스튜디오 패널의 '오디오 개요' 옆 '맞춤설정'을 누르고 질문 2-3을 붙여 넣습니다. 만드는 데 몇 분 걸리므로 그동안 비교표를 다시 봅니다. 완성되면 앞부분 1–2분만 들어 봅니다. 핵심은 '학생 78%'가 어떤 기준으로 나오는지 듣는 것입니다. 오디오도 소스를 잘못 요약할 수 있습니다.</a:t>
            </a:r>
          </a:p>
          <a:p/>
          <a:p>
            <a:r>
              <a:t>참가자에게 할 질문: 오디오에서 '78%'가 나왔나요? 어떤 기준이었나요?</a:t>
            </a:r>
          </a:p>
          <a:p/>
          <a:p>
            <a:r>
              <a:t>예상 오류와 대응: 무료 사용량 한도에 걸리면 강사가 만든 오디오를 함께 듣습니다. 소리가 안 나오면 이어폰을 쓰거나 스크립트 보기를 켭니다. 언어가 영어로 나오면 출력 언어를 한국어로 바꿉니다.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31. 실제 화면: 맞춤설정에 질문을 넣고 5분 35초 요약을 받았습니다</a:t>
            </a:r>
          </a:p>
          <a:p/>
          <a:p>
            <a:r>
              <a:t>시간: 시작 후 59–60분, 1분 (오디오 실습 안내 직후)</a:t>
            </a:r>
          </a:p>
          <a:p/>
          <a:p>
            <a:r>
              <a:t>말할 내용: 오디오 실습 안내 바로 뒤에 실제 화면을 보여 줍니다. 스튜디오의 'AI 오디오 오버뷰'를 누르면 맞춤설정 창이 바로 열립니다. 형식은 심층 분석, 길이는 짧게, 언어는 한국어로 두고 아래 칸에 질문 2-3을 붙여 넣은 뒤 '지금 생성'을 누릅니다. 강사가 해 보니 3–4분 뒤에 5분 35초짜리 요약이 나왔습니다. 제목은 AI가 'AI 과제 점수가 시험 성적을 망치는 이유'로 붙였습니다. 제목부터 조금 과장되어 있으니 내용을 들으며 확인합니다.</a:t>
            </a:r>
          </a:p>
          <a:p/>
          <a:p>
            <a:r>
              <a:t>참가자에게 할 질문: 제목이 소스 내용보다 강하게 들리나요, 그대로인가요?</a:t>
            </a:r>
          </a:p>
          <a:p/>
          <a:p>
            <a:r>
              <a:t>예상 오류와 대응: '지금 생성' 버튼이 아래로 밀려 안 보이면 창을 아래로 내립니다. 만드는 동안 탭을 닫아도 계속 만들어집니다. 재생하면 소리가 바로 나오니 이어폰을 준비합니다.</a:t>
            </a:r>
          </a:p>
          <a:p/>
          <a:p>
            <a:r>
              <a:t>수업 링크: https://zeusk302-png.github.io/gyeongnam-ai-workshop/#notebooklm-papers</a:t>
            </a:r>
          </a:p>
          <a:p/>
          <a:p>
            <a:r>
              <a:t>화면 원본: 제작자료/pptx-v2.1/captures/nb-audio-set.png, nb-audio-play.png (Gemini Notebook,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32. 과제 점수는 올랐고, 혼자 치른 시험은 거의 그대로였습니다</a:t>
            </a:r>
          </a:p>
          <a:p/>
          <a:p>
            <a:r>
              <a:t>시간: 시작 후 66–70분, 4분</a:t>
            </a:r>
          </a:p>
          <a:p/>
          <a:p>
            <a:r>
              <a:t>말할 내용: 다섯 편이 공통으로 말하는 것입니다. AI는 과제와 산출물 점수를 높였지만, AI 없이 혼자 치른 시험의 효과는 작거나 없었습니다(B는 0.8점, E는 g=0.12로 신뢰구간이 0을 포함). 차이점은 사용 방법을 안내했을 때 결과가 나았다는 것입니다(D 가이드 사용 +6.8점). 설계가 다르므로 효과크기로 순위를 매기지 않습니다. 이 결론은 뒤의 '학생의 AI 사용'에서 다시 씁니다. 정리: 인용은 누르기 전까지는 확인한 것이 아닙니다.</a:t>
            </a:r>
          </a:p>
          <a:p/>
          <a:p>
            <a:r>
              <a:t>참가자에게 할 질문: 이 결과를 교수님 수업에 옮기면, 무엇을 바꾸고 싶으신가요?</a:t>
            </a:r>
          </a:p>
          <a:p/>
          <a:p>
            <a:r>
              <a:t>예상 오류와 대응: 가상 논문이라는 점을 다시 말합니다. 실제 연구 동향으로 받아들이지 않도록 합니다.</a:t>
            </a:r>
          </a:p>
          <a:p/>
          <a:p>
            <a:r>
              <a:t>수업 링크: https://zeusk302-png.github.io/gyeongnam-ai-workshop/#notebooklm-papers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33. Claude: 강의평가 서술형 180개를 끝까지 세어 봅니다</a:t>
            </a:r>
          </a:p>
          <a:p/>
          <a:p>
            <a:r>
              <a:t>시간: 시작 후 70–71분, 1분</a:t>
            </a:r>
          </a:p>
          <a:p/>
          <a:p>
            <a:r>
              <a:t>말할 내용: 두 번째 실습입니다. Claude는 긴 자료를 읽고, 세고, 나누고, 초안을 쓰는 데 강합니다. 가상 강의평가 서술형 응답 180개를 주제별로 세고, 바꿀 것을 골라 다음 학기 계획과 학생 공지를 씁니다. 개인 무료 계정이라면 설정에서 'Claude 개선에 참여'가 꺼져 있는지 먼저 확인합니다.</a:t>
            </a:r>
          </a:p>
          <a:p/>
          <a:p>
            <a:r>
              <a:t>참가자에게 할 질문: 지난 학기 강의평가 서술형을 끝까지 다 읽으셨나요?</a:t>
            </a:r>
          </a:p>
          <a:p/>
          <a:p>
            <a:r>
              <a:t>예상 오류와 대응: Claude 로그인이 안 되면 Gemini로 같은 질문을 해도 됩니다. 결과 형식만 조금 다릅니다.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34. 180개를 끝까지 읽고 세는 일은 AI에게 맡깁니다</a:t>
            </a:r>
          </a:p>
          <a:p/>
          <a:p>
            <a:r>
              <a:t>시간: 시작 후 71–73분, 2분</a:t>
            </a:r>
          </a:p>
          <a:p/>
          <a:p>
            <a:r>
              <a:t>말할 내용: 혼자 읽으면 앞의 몇 개만 읽고 인상으로 판단하기 쉽습니다. 개인정보가 섞인 응답도 그대로 봅니다. Claude가 먼저 읽으면 개인정보가 든 응답을 먼저 찾고, 주제별로 나눠 세고, 교수님은 무엇을 바꿀지 고릅니다.</a:t>
            </a:r>
          </a:p>
          <a:p/>
          <a:p>
            <a:r>
              <a:t>참가자에게 할 질문: 강한 비판 한두 개가 머리에 오래 남았던 경험이 있으신가요?</a:t>
            </a:r>
          </a:p>
          <a:p/>
          <a:p>
            <a:r>
              <a:t>예상 오류와 대응: 'AI가 센 숫자를 믿어도 되나요?'에는 '합계가 180인지 직접 더해 보는 것까지가 실습'이라고 답합니다.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35. 응답 180개를 주제별로 나누고 개수를 셉니다</a:t>
            </a:r>
          </a:p>
          <a:p/>
          <a:p>
            <a:r>
              <a:t>시간: 시작 후 73–85분, 12분</a:t>
            </a:r>
          </a:p>
          <a:p/>
          <a:p>
            <a:r>
              <a:t>말할 내용: 03_강의평가_서술형응답.csv를 올리고 질문 3-1을 붙여 넣습니다. CSV가 엑셀에서 깨져 보여도 그대로 올리면 됩니다(UTF-8). 표가 나오면 응답 수를 모두 더해 180인지 봅니다. 정답은 주제 14개이지만 AI가 합치거나 나누는 것은 괜찮고, 주제별 개수는 ±2까지 인정합니다.</a:t>
            </a:r>
          </a:p>
          <a:p/>
          <a:p>
            <a:r>
              <a:t>참가자에게 할 질문: 여러분 표의 합계는 몇 개인가요?</a:t>
            </a:r>
          </a:p>
          <a:p/>
          <a:p>
            <a:r>
              <a:t>예상 오류와 대응: 합이 180이 아니면 '각 주제의 응답번호를 모두 적고 다시 세어 줘'라고 요청합니다. 파일 업로드가 안 되면 CSV 내용을 복사해 붙여 넣습니다. 답이 끊기면 '이어서'를 입력합니다.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36. 실제 화면: 개인정보 6건을 먼저 찾고, 합계 180을 맞췄습니다</a:t>
            </a:r>
          </a:p>
          <a:p/>
          <a:p>
            <a:r>
              <a:t>시간: 시작 후 84–85분, 1분 (분류 실습 끝)</a:t>
            </a:r>
          </a:p>
          <a:p/>
          <a:p>
            <a:r>
              <a:t>말할 내용: 강사가 실제로 03_강의평가_서술형응답.csv를 올리고 질문 3-1을 넣은 결과입니다. Claude는 표를 만들기 전에 개인정보가 든 응답 R031, R101, R114, R146, R158, R166을 먼저 적었습니다. 해설의 여섯 개와 같습니다. 주제 14개로 나눈 표의 합계는 180이고, 진도는 '빠르다 14, 느리다 5'로 따로 셌습니다. 다만 좋았던 점·개선점·기타 수는 문항이 아니라 응답 내용으로 나눴다고 스스로 밝혔습니다(57/93/30). 해설은 문항 기준 62/86/32입니다. 기준이 다르면 숫자도 다릅니다.</a:t>
            </a:r>
          </a:p>
          <a:p/>
          <a:p>
            <a:r>
              <a:t>참가자에게 할 질문: 여러분의 표는 합계가 180이 되었나요? 좋았던 점 개수는 몇이었나요?</a:t>
            </a:r>
          </a:p>
          <a:p/>
          <a:p>
            <a:r>
              <a:t>예상 오류와 대응: 합계가 180이 아니면 '응답 수를 직접 세어 합계를 다시 맞춰 줘'라고 한 번 더 묻습니다. 표가 잘려 보이면 '표만 다시 보여 줘'라고 합니다.</a:t>
            </a:r>
          </a:p>
          <a:p/>
          <a:p>
            <a:r>
              <a:t>수업 링크: https://zeusk302-png.github.io/gyeongnam-ai-workshop/#claude-evaluations</a:t>
            </a:r>
          </a:p>
          <a:p/>
          <a:p>
            <a:r>
              <a:t>화면 원본: 제작자료/pptx-v2.1/captures/cl-privacy.png, cl-total.png (Claude Opus 5.5,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37. 개인정보가 든 응답 6개를 먼저 찾아 결과에서 뺍니다</a:t>
            </a:r>
          </a:p>
          <a:p/>
          <a:p>
            <a:r>
              <a:t>시간: 시작 후 85–87분, 2분</a:t>
            </a:r>
          </a:p>
          <a:p/>
          <a:p>
            <a:r>
              <a:t>말할 내용: 정답 기준입니다. 개인정보가 들어간 응답은 여섯 개입니다. R031 전화번호, R101 다른 학생 이름, R114 다른 학생 이름 두 명, R146 학번과 전화번호, R158 본인 이름과 메일 주소, R166 치료 이력 같은 건강 정보입니다. 이 번호만 목록으로 받고, 내용은 결과표에 옮기지 않게 합니다. AI가 결과표에 전화번호나 이름을 옮겨 적었으면 바로 짚습니다.</a:t>
            </a:r>
          </a:p>
          <a:p/>
          <a:p>
            <a:r>
              <a:t>참가자에게 할 질문: 여러분 결과에서 여섯 개를 모두 찾았나요? 빠진 번호는 무엇인가요?</a:t>
            </a:r>
          </a:p>
          <a:p/>
          <a:p>
            <a:r>
              <a:t>예상 오류와 대응: 건강 정보(R166)를 개인정보로 보지 않는 경우가 많습니다. '건강 정보도 민감정보'라고 설명합니다.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38. 수업과 관계없는 의견을 개선점으로 세기도 합니다</a:t>
            </a:r>
          </a:p>
          <a:p/>
          <a:p>
            <a:r>
              <a:t>시간: 시작 후 87–89분, 2분</a:t>
            </a:r>
          </a:p>
          <a:p/>
          <a:p>
            <a:r>
              <a:t>말할 내용: 재현 예시입니다. AI가 학식, 셔틀버스, 열람실 같은 의견을 '개선 요청'으로 셀 수 있습니다. 원문을 보면 이런 응답은 대부분 '기타 하고 싶은 말' 문항에 있고, 수업과 관계가 없습니다. 이런 응답 12개는 개선점에서 뺍니다. 의미 없는 응답(없음, 기호 등) 19개도 따로 둡니다.</a:t>
            </a:r>
          </a:p>
          <a:p/>
          <a:p>
            <a:r>
              <a:t>참가자에게 할 질문: 여러분 표에 수업과 관계없는 주제가 개선점으로 들어가 있나요?</a:t>
            </a:r>
          </a:p>
          <a:p/>
          <a:p>
            <a:r>
              <a:t>예상 오류와 대응: 수업 밖 의견을 '학교에 전달할 것'으로 따로 두는 것은 괜찮다고 안내합니다.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39. 반대 의견은 분반을 나눠 봐야 이유가 보입니다</a:t>
            </a:r>
          </a:p>
          <a:p/>
          <a:p>
            <a:r>
              <a:t>시간: 시작 후 89–91분, 2분</a:t>
            </a:r>
          </a:p>
          <a:p/>
          <a:p>
            <a:r>
              <a:t>말할 내용: 진도가 빠르다는 응답이 14개, 느리거나 쉽다는 응답이 5개입니다. 둘 다 01분반에 몰려 있습니다(빠르다 10, 느리다 4). 01분반에 수준 차이가 크다는 뜻입니다. 그래서 '진도를 늦춘다'가 아니라 초반 기초는 줄이고 회귀 단원에 시간을 더 쓰는 쪽이 맞습니다. 과제 양도 많다 13, 적당하다 6으로 갈립니다. 핵심은 과제 수보다 마감이 겹치는 것입니다.</a:t>
            </a:r>
          </a:p>
          <a:p/>
          <a:p>
            <a:r>
              <a:t>참가자에게 할 질문: AI가 분반별 숫자까지 나눠 주었나요? 아니면 어떻게 다시 물으시겠어요?</a:t>
            </a:r>
          </a:p>
          <a:p/>
          <a:p>
            <a:r>
              <a:t>예상 오류와 대응: 분반이 안 나뉘어 있으면 '분반별로 나눠 다시 세어 줘'라고 요청하게 합니다. T03 일부는 '슬라이드 넘기는 속도'라 T09로 분류해도 맞습니다.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40. 개선점을 세 칸으로 나누고 학생 공지까지 씁니다</a:t>
            </a:r>
          </a:p>
          <a:p/>
          <a:p>
            <a:r>
              <a:t>시간: 시작 후 91–101분, 10분</a:t>
            </a:r>
          </a:p>
          <a:p/>
          <a:p>
            <a:r>
              <a:t>말할 내용: 같은 대화에서 질문 3-2와 3-3을 이어서 보냅니다. 3-2는 개선점을 '내가 바꿀 것, 학교에 요청할 것, 그대로 둘 것' 세 칸으로 나눕니다. 3-3은 다음 학기 계획 한 쪽과 학생 공지 다섯 문장입니다. 공지에 강의실 교체나 성적 기준 완화처럼 교수가 혼자 정할 수 없는 약속이 있는지 봅니다.</a:t>
            </a:r>
          </a:p>
          <a:p/>
          <a:p>
            <a:r>
              <a:t>참가자에게 할 질문: 공지에 지킬 수 없는 약속이 들어갔나요?</a:t>
            </a:r>
          </a:p>
          <a:p/>
          <a:p>
            <a:r>
              <a:t>예상 오류와 대응: 새 대화를 열면 앞의 표를 잊습니다. 같은 대화에서 이어 가라고 안내합니다. 무료 한도에 걸리면 짝의 화면을 함께 봅니다.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41. 실제 화면: 다음 학기 계획표와 학생 공지까지 받았습니다</a:t>
            </a:r>
          </a:p>
          <a:p/>
          <a:p>
            <a:r>
              <a:t>시간: 시작 후 100–101분, 1분 (공지 실습 끝)</a:t>
            </a:r>
          </a:p>
          <a:p/>
          <a:p>
            <a:r>
              <a:t>말할 내용: 같은 대화에서 질문 3-2와 3-3을 이어서 넣은 실제 결과입니다. 바꿀 것 세 가지마다 무엇을, 언제부터, 학생이 알 수 있는 방법이 표로 나왔고, 아래에 학생 공지 다섯 문장이 붙었습니다. 좋은 점은 강의실 기자재(6건)를 교수가 약속할 수 없는 일로 보고 '학교에 요청'으로 뺀 것입니다. 확인할 점은 공지 채널을 LMS로 정한 것이 AI의 가정이라는 것입니다. Claude도 마지막 줄에 '실제로 쓰실 채널에 맞게 바꿔 주세요'라고 적었습니다.</a:t>
            </a:r>
          </a:p>
          <a:p/>
          <a:p>
            <a:r>
              <a:t>참가자에게 할 질문: 공지에 교수님이 실제로 지킬 수 없는 문장이 있나요?</a:t>
            </a:r>
          </a:p>
          <a:p/>
          <a:p>
            <a:r>
              <a:t>예상 오류와 대응: '강의실을 바꾸겠습니다' 같은 문장이 나오면 '내가 할 수 없는 약속은 빼 줘'라고 다시 묻습니다.</a:t>
            </a:r>
          </a:p>
          <a:p/>
          <a:p>
            <a:r>
              <a:t>수업 링크: https://zeusk302-png.github.io/gyeongnam-ai-workshop/#claude-evaluations</a:t>
            </a:r>
          </a:p>
          <a:p/>
          <a:p>
            <a:r>
              <a:t>화면 원본: 제작자료/pptx-v2.1/captures/cl-plan.png, cl-notice.png (Claude Opus 5.5,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42. 개선점은 세 칸으로 나눠야 지킬 약속만 남습니다</a:t>
            </a:r>
          </a:p>
          <a:p/>
          <a:p>
            <a:r>
              <a:t>시간: 시작 후 101–105분, 4분</a:t>
            </a:r>
          </a:p>
          <a:p/>
          <a:p>
            <a:r>
              <a:t>말할 내용: 정답 기준입니다. 내가 바꿀 것은 조별 과제 개인 기여 반영(14), 과제 피드백 속도(12), 평가 기준 미리 공개(9)입니다. 진도 조절과 슬라이드 사전 게시, 공지 채널 정리도 여기에 들어갑니다. 학교에 요청할 것은 마이크·냉난방 같은 강의실 환경(6, 모두 02분반)입니다. 그대로 둘 것은 실제 데이터 실습(26)과 친절한 설명(26)입니다. 좋은 점을 지키는 것도 계획입니다. 이 결과는 오후 강의계획서 수정과 이어집니다.</a:t>
            </a:r>
          </a:p>
          <a:p/>
          <a:p>
            <a:r>
              <a:t>참가자에게 할 질문: 세 칸 중 가장 먼저 손대고 싶은 것은 무엇인가요?</a:t>
            </a:r>
          </a:p>
          <a:p/>
          <a:p>
            <a:r>
              <a:t>예상 오류와 대응: 숫자가 ±2 다르면 맞은 것으로 봅니다. 수업 밖 의견을 개선점에 넣었으면 앞 장을 다시 가리킵니다.</a:t>
            </a:r>
          </a:p>
          <a:p/>
          <a:p>
            <a:r>
              <a:t>수업 링크: https://zeusk302-png.github.io/gyeongnam-ai-workshop/#claude-evaluations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43. 10분 쉬고, Gemini로 강의계획서를 고칩니다</a:t>
            </a:r>
          </a:p>
          <a:p/>
          <a:p>
            <a:r>
              <a:t>시간: 시작 후 105–115분, 10분</a:t>
            </a:r>
          </a:p>
          <a:p/>
          <a:p>
            <a:r>
              <a:t>말할 내용: 10분 쉽니다. 쉬는 동안 Gemini(gemini.google.com)에 로그인해 두시고, 사이트에서 05_강의계획서_초안.md와 04_학칙발췌_성적과출석.md를 내려받아 두세요. 로그인이 안 되는 분은 이 시간에 도와드립니다.</a:t>
            </a:r>
          </a:p>
          <a:p/>
          <a:p>
            <a:r>
              <a:t>참가자에게 할 질문: 쉬는 동안 로그인이 안 되는 분은 손을 들어 주세요.</a:t>
            </a:r>
          </a:p>
          <a:p/>
          <a:p>
            <a:r>
              <a:t>예상 오류와 대응: 휴식이 길어지면 115분에 바로 Gemini 실습을 시작합니다. 앞 실습을 못 끝낸 분은 사이트의 해설로 결과를 확인합니다.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44. Gemini: 강의계획서와 학칙 근거 답장을 고칩니다</a:t>
            </a:r>
          </a:p>
          <a:p/>
          <a:p>
            <a:r>
              <a:t>시간: 시작 후 115–116분, 1분</a:t>
            </a:r>
          </a:p>
          <a:p/>
          <a:p>
            <a:r>
              <a:t>말할 내용: 세 번째 실습입니다. Gemini는 Google 문서·메일과 이어지는 범용 AI입니다. 학교가 Google Workspace for Education을 쓰면 학교 계정으로 쓰는 것이 좋습니다. 오늘은 파일을 직접 올려서 강의계획서 고치기, 기말 프로젝트 루브릭, 학칙을 근거로 한 답장 세 가지를 합니다. 활동마다 새 채팅을 엽니다.</a:t>
            </a:r>
          </a:p>
          <a:p/>
          <a:p>
            <a:r>
              <a:t>참가자에게 할 질문: 강의계획서를 새 학기마다 얼마나 고치시나요?</a:t>
            </a:r>
          </a:p>
          <a:p/>
          <a:p>
            <a:r>
              <a:t>예상 오류와 대응: Gemini 로그인이 안 되면 Claude로 같은 질문을 해도 됩니다.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45. 활동마다 새 채팅을 열고 파일 두 개를 올립니다</a:t>
            </a:r>
          </a:p>
          <a:p/>
          <a:p>
            <a:r>
              <a:t>시간: 시작 후 116–118분, 2분</a:t>
            </a:r>
          </a:p>
          <a:p/>
          <a:p>
            <a:r>
              <a:t>말할 내용: gemini.google.com에서 왼쪽 위 '새 채팅'을 누릅니다. 입력칸 왼쪽의 +를 누르고 '파일 업로드'에서 05_강의계획서_초안.md와 04_학칙발췌_성적과출석.md를 고릅니다. 파일 두 개가 입력칸 위에 보이면 질문 4-1을 붙여 넣고 보냅니다. 이 화면은 강사가 오늘 실제로 올린 화면입니다. 앞 활동의 대화에 이어 쓰지 않고 활동마다 새 채팅을 엽니다. 방금 본 컨텍스트 이야기와 같습니다.</a:t>
            </a:r>
          </a:p>
          <a:p/>
          <a:p>
            <a:r>
              <a:t>참가자에게 할 질문: 파일 두 개가 입력칸 위에 보이시나요?</a:t>
            </a:r>
          </a:p>
          <a:p/>
          <a:p>
            <a:r>
              <a:t>예상 오류와 대응: 파일 업로드 메뉴가 안 보이면 로그인 상태를 확인합니다. .md 파일이 안 올라가면 내용을 복사해 붙여 넣어도 됩니다. 학교 Google 계정이 있으면 그 계정을 씁니다.</a:t>
            </a:r>
          </a:p>
          <a:p/>
          <a:p>
            <a:r>
              <a:t>수업 링크: https://zeusk302-png.github.io/gyeongnam-ai-workshop/#gemini-syllabus</a:t>
            </a:r>
          </a:p>
          <a:p/>
          <a:p>
            <a:r>
              <a:t>화면 원본: 제작자료/pptx-v2.1/captures/gm-41-input.png (Gemini Flash,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46. 강의계획서 초안의 틀린 곳을 학칙과 맞춰 고칩니다</a:t>
            </a:r>
          </a:p>
          <a:p/>
          <a:p>
            <a:r>
              <a:t>시간: 시작 후 118–128분, 10분</a:t>
            </a:r>
          </a:p>
          <a:p/>
          <a:p>
            <a:r>
              <a:t>말할 내용: 새 채팅에 05_강의계획서_초안.md와 04_학칙발췌_성적과출석.md를 올리고 질문 4-1을 붙여 넣습니다. '위치 | 문제 | 고친 문장' 표가 먼저 나오고, 고친 계획서 전체가 뒤따릅니다. 고친 평가 비율을 더해 100%인지 봅니다. 어느 항목을 줄일지는 교수가 정할 일이라 [확인 필요]로 남았는지도 봅니다.</a:t>
            </a:r>
          </a:p>
          <a:p/>
          <a:p>
            <a:r>
              <a:t>참가자에게 할 질문: AI가 찾은 문제는 몇 개인가요?</a:t>
            </a:r>
          </a:p>
          <a:p/>
          <a:p>
            <a:r>
              <a:t>예상 오류와 대응: AI가 비율을 임의로 조정했으면 '내가 정하지 않은 비율은 [확인 필요]로 남겨'라고 다시 요청합니다. 4주차 '9/24 휴강 확인'에 대해 휴강 여부를 지어내는지도 봅니다.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47. 초안에는 고칠 곳이 열두 군데 숨어 있습니다</a:t>
            </a:r>
          </a:p>
          <a:p/>
          <a:p>
            <a:r>
              <a:t>시간: 시작 후 128–131분, 3분</a:t>
            </a:r>
          </a:p>
          <a:p/>
          <a:p>
            <a:r>
              <a:t>말할 내용: 정답 기준입니다. 핵심 네 개는 평가 비율 합 110%(10+15+15+25+35+10), '결석 5회 이상 F'(학칙은 8회부터 F, 지각 3회는 결석 1회), 과제2 마감이 10/20과 10/15로 다름, 9주차가 두 번이고 13주차가 없음입니다. 그 밖에 늦은 제출 감점 기준 없음, 기말 프로젝트 평가 기준 '추후 안내', 면담 장소 미정, 공지 채널 두 곳, 명사 나열식 목표, '사유서 제출'(학칙은 포털 공결 신청), 슬라이드 수업 후 게시, AI 사용 원칙 없음이 있습니다.</a:t>
            </a:r>
          </a:p>
          <a:p/>
          <a:p>
            <a:r>
              <a:t>참가자에게 할 질문: AI가 놓친 것은 무엇이었나요?</a:t>
            </a:r>
          </a:p>
          <a:p/>
          <a:p>
            <a:r>
              <a:t>예상 오류와 대응: 110%를 AI가 바로 100%로 바꿨다면 어느 항목을 줄였는지 보고, 그 결정은 교수 몫이라고 짚습니다.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48. 실제 화면: Gemini가 찾은 곳, 놓친 곳, 없는데 만든 곳</a:t>
            </a:r>
          </a:p>
          <a:p/>
          <a:p>
            <a:r>
              <a:t>시간: 시작 후 131–132분, 1분 (정답 공개 직후)</a:t>
            </a:r>
          </a:p>
          <a:p/>
          <a:p>
            <a:r>
              <a:t>말할 내용: 강사가 오늘 질문 4-1을 넣은 결과입니다. Gemini는 표에 여섯 곳을 적었습니다. 핵심 여섯 개 가운데 비율 합 110%, 결석 기준, 과제2 마감, 주차 번호 네 개를 찾았습니다. 110%는 스스로 바꾸지 않고 [확인 필요]로 남겼습니다. 좋은 점입니다. 늦은 제출 감점 기준과 기말 프로젝트 평가 기준은 표에 없었습니다. 그리고 '12/1, 12/3 날짜 배정이 꼬였다'고 했는데 이것은 없는 문제입니다. 두 날짜는 화요일, 목요일이 맞고 주차 번호만 틀렸습니다. 표를 받으면 해설의 12곳과 맞춰 보고, AI가 새로 만든 문제도 원문에서 확인합니다.</a:t>
            </a:r>
          </a:p>
          <a:p/>
          <a:p>
            <a:r>
              <a:t>참가자에게 할 질문: 여러분 표에는 몇 곳이 나왔나요? 해설에 없는 문제가 있었나요?</a:t>
            </a:r>
          </a:p>
          <a:p/>
          <a:p>
            <a:r>
              <a:t>예상 오류와 대응: AI가 찾은 곳이 해설보다 많으면 하나씩 원문과 맞춰 보고, 근거가 없으면 지웁니다.</a:t>
            </a:r>
          </a:p>
          <a:p/>
          <a:p>
            <a:r>
              <a:t>수업 링크: https://zeusk302-png.github.io/gyeongnam-ai-workshop/#gemini-syllabus</a:t>
            </a:r>
          </a:p>
          <a:p/>
          <a:p>
            <a:r>
              <a:t>화면 원본: 제작자료/pptx-v2.1/captures/gm-41-table.png (Gemini Flash,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49. 기말 프로젝트 루브릭에 '개인 기여'를 넣습니다</a:t>
            </a:r>
          </a:p>
          <a:p/>
          <a:p>
            <a:r>
              <a:t>시간: 시작 후 132–137분, 5분</a:t>
            </a:r>
          </a:p>
          <a:p/>
          <a:p>
            <a:r>
              <a:t>말할 내용: 같은 채팅에서 질문 4-2를 보냅니다. 100점 만점, 기준 5개, 수준 4단계 루브릭입니다. 강의평가에서 가장 많았던 불만 중 하나가 조별 과제 무임승차(14)였으므로 '개인 기여' 기준과 조원 평가 반영 방법을 넣습니다. 배점을 더해 100점인지, 칸마다 눈으로 확인할 수 있는 행동으로 썼는지 봅니다.</a:t>
            </a:r>
          </a:p>
          <a:p/>
          <a:p>
            <a:r>
              <a:t>참가자에게 할 질문: 루브릭 칸 중 '우수함'처럼 흐린 말이 남은 곳이 있나요?</a:t>
            </a:r>
          </a:p>
          <a:p/>
          <a:p>
            <a:r>
              <a:t>예상 오류와 대응: AI가 계획서에 없는 제출물(예: 영상)을 더하면 빼라고 요청합니다. 배점 합이 100이 아니면 다시 계산하게 합니다.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50. 학칙을 근거로 까다로운 메일 다섯 통에 답합니다</a:t>
            </a:r>
          </a:p>
          <a:p/>
          <a:p>
            <a:r>
              <a:t>시간: 시작 후 137–145분, 8분</a:t>
            </a:r>
          </a:p>
          <a:p/>
          <a:p>
            <a:r>
              <a:t>말할 내용: 새 채팅을 열고 학칙 발췌와 메일 40통을 올립니다. 질문 4-3은 오늘을 2026-10-19(월)로 알려 주고, M11·M16·M23·M33·M35 다섯 통의 답장과 근거 조항을 받습니다. M16 답장부터 읽습니다. 윤서아 학생은 결석 6회, 지각 3회라 지금 결석 7회로 봅니다. 한 번 더 결석하면 8회로 F입니다.</a:t>
            </a:r>
          </a:p>
          <a:p/>
          <a:p>
            <a:r>
              <a:t>참가자에게 할 질문: M16 답장에 '한 번 더 결석하면 F'가 있나요?</a:t>
            </a:r>
          </a:p>
          <a:p/>
          <a:p>
            <a:r>
              <a:t>예상 오류와 대응: 날짜를 알려 주지 않으면 AI가 기한을 잘못 계산합니다. 질문 첫 줄의 날짜를 지우지 말라고 안내합니다. 보호자 메일(M35)에 성적을 알려 주는 답장이 나오면 바로 짚습니다.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51. 실제 화면: 이번에는 M16을 맞게 계산했습니다</a:t>
            </a:r>
          </a:p>
          <a:p/>
          <a:p>
            <a:r>
              <a:t>시간: 시작 후 145분, 1분 (답장 실습 끝)</a:t>
            </a:r>
          </a:p>
          <a:p/>
          <a:p>
            <a:r>
              <a:t>말할 내용: 강사가 오늘 질문 4-3을 넣은 결과입니다. M16 윤서아 학생 답장에 '지각 3회는 결석 1회로 계산되므로 총 결석 7회, 추가로 1회 이상 결석하면 F'라고 맞게 썼습니다. 근거 조항도 제12조 1·2·3항으로 맞습니다. M11은 외래 진료라 공결이 아니라고 했고, M23은 '학과 확인 필요'로 남겼습니다. 이번에는 맞았습니다. 그래도 다음 장처럼 틀리는 경우가 있으니 계산이 든 답장은 직접 한 번 셉니다.</a:t>
            </a:r>
          </a:p>
          <a:p/>
          <a:p>
            <a:r>
              <a:t>참가자에게 할 질문: 여러분 M16 답장도 '한 번 더 결석하면 F'였나요?</a:t>
            </a:r>
          </a:p>
          <a:p/>
          <a:p>
            <a:r>
              <a:t>예상 오류와 대응: M16을 틀린 분이 있으면 바로 다음 장의 재현 예시로 함께 봅니다.</a:t>
            </a:r>
          </a:p>
          <a:p/>
          <a:p>
            <a:r>
              <a:t>수업 링크: https://zeusk302-png.github.io/gyeongnam-ai-workshop/#gemini-syllabus</a:t>
            </a:r>
          </a:p>
          <a:p/>
          <a:p>
            <a:r>
              <a:t>화면 원본: 제작자료/pptx-v2.1/captures/gm-43-m11m16.png (Gemini Flash,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52. 지각을 결석으로 바꾸는 계산에서 AI가 틀립니다</a:t>
            </a:r>
          </a:p>
          <a:p/>
          <a:p>
            <a:r>
              <a:t>시간: 시작 후 145–147분, 2분</a:t>
            </a:r>
          </a:p>
          <a:p/>
          <a:p>
            <a:r>
              <a:t>말할 내용: 재현 예시입니다. M16 윤서아 학생은 결석 6회, 지각 3회입니다. AI는 결석 6회만 보고 '7회까지 괜찮으니 한 번 더 결석해도 된다'고 쓰기 쉽습니다. 학칙 제12조 3항은 지각 3회를 결석 1회로 봅니다. 그래서 지금 이미 7회이고, 한 번 더 결석하면 8회로 F입니다(제12조 2항). 계산이 들어간 답장은 직접 한 번 더 셉니다.</a:t>
            </a:r>
          </a:p>
          <a:p/>
          <a:p>
            <a:r>
              <a:t>참가자에게 할 질문: 여러분의 M16 답장은 어느 쪽이었나요?</a:t>
            </a:r>
          </a:p>
          <a:p/>
          <a:p>
            <a:r>
              <a:t>예상 오류와 대응: AI가 맞게 계산했으면 '이번에는 맞았다'고 말하고, 지각 조항을 찾았는지 근거 조항 번호를 봅니다.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53. 조항 번호로 답하고, 판단할 건은 학과장에게 넘깁니다</a:t>
            </a:r>
          </a:p>
          <a:p/>
          <a:p>
            <a:r>
              <a:t>시간: 시작 후 147–150분, 3분</a:t>
            </a:r>
          </a:p>
          <a:p/>
          <a:p>
            <a:r>
              <a:t>말할 내용: 다섯 통 모두 조항 번호를 붙여 답합니다. 노란 줄(M23)만 교수가 혼자 정하지 않고 학과장 확인으로 넘깁니다. 나머지 네 통의 정답 요지입니다. M23은 서류 제출 기한(10/8)이 지나 원칙은 불인정이지만, 부득이한 사정이면 학과장 확인이 필요합니다. 교수가 된다·안 된다를 단정하지 않습니다(제13조 3·5항). M33은 철회 마감(10/16 17:00) 뒤 요청이라 교수가 대신 철회할 수 없습니다(제17조). M35는 보호자 문의라 본인 서면 동의 없이 알려 줄 수 없습니다(제19조 1항). M11은 외래 진료라 공결이 아니지만 사유 기록은 가능합니다(제13조 2항).</a:t>
            </a:r>
          </a:p>
          <a:p/>
          <a:p>
            <a:r>
              <a:t>참가자에게 할 질문: AI 답장이 학칙보다 강하게 단정한 곳이 있었나요?</a:t>
            </a:r>
          </a:p>
          <a:p/>
          <a:p>
            <a:r>
              <a:t>예상 오류와 대응: M23을 AI가 '인정 불가'로 단정하면, 학칙 5항의 학과장 확인 절차를 짚습니다.</a:t>
            </a:r>
          </a:p>
          <a:p/>
          <a:p>
            <a:r>
              <a:t>수업 링크: https://zeusk302-png.github.io/gyeongnam-ai-workshop/#gemini-syllabus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54. AI·표절 의심 과제: 점수 대신 근거를 모읍니다</a:t>
            </a:r>
          </a:p>
          <a:p/>
          <a:p>
            <a:r>
              <a:t>시간: 시작 후 150–151분, 1분</a:t>
            </a:r>
          </a:p>
          <a:p/>
          <a:p>
            <a:r>
              <a:t>말할 내용: 마지막 실습입니다. 과제를 읽다가 'AI로 쓴 것 같다', '어디서 옮긴 것 같다'는 생각이 들 때 교수님이 AI를 어떻게 쓸지 연습합니다. 가상 학생 세 명의 과제2 보고서와, 과제 안내·데이터 표·읽기자료 발췌가 든 제공자료를 씁니다. AI에게 판정을 맡기지 않고, 제공자료와 대조한 근거와 면담 질문을 모으게 합니다. 판정은 교수님과 학교 절차가 합니다.</a:t>
            </a:r>
          </a:p>
          <a:p/>
          <a:p>
            <a:r>
              <a:t>참가자에게 할 질문: 과제를 읽다가 'AI로 쓴 것 같다'고 느낀 적이 있으신가요? 무엇 때문이었나요?</a:t>
            </a:r>
          </a:p>
          <a:p/>
          <a:p>
            <a:r>
              <a:t>예상 오류와 대응: 실제 학생 과제를 올리려는 분께는 이름·학번을 지우고, 학교가 허용한 도구인지 먼저 확인하라고 안내합니다. 오늘은 가상 자료만 씁니다.</a:t>
            </a:r>
          </a:p>
          <a:p/>
          <a:p>
            <a:r>
              <a:t>수업 링크: https://zeusk302-png.github.io/gyeongnam-ai-workshop/#assignment-review</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55. AI 탐지 점수는 판정 근거가 되기 어렵습니다</a:t>
            </a:r>
          </a:p>
          <a:p/>
          <a:p>
            <a:r>
              <a:t>시간: 시작 후 151–153분, 2분</a:t>
            </a:r>
          </a:p>
          <a:p/>
          <a:p>
            <a:r>
              <a:t>말할 내용: 먼저 AI 탐지 도구 이야기입니다. OpenAI가 2023년 1월 내놓은 AI 글 분류기는 AI가 쓴 글의 26%만 잡고, 사람 글의 9%를 AI로 판정했습니다. 정확도 문제로 6개월 만에 서비스를 멈췄습니다. 유럽 연구진(Weber-Wulff 외 2023)은 Turnitin, GPTZero를 포함한 탐지 도구 14개를 시험했고 모두 정확도 80% 미만이었습니다. 스탠퍼드 연구(Liang 외 2023)에서는 비원어민이 쓴 TOEFL 에세이의 61.3%를 AI 글로 잘못 판정했습니다. Turnitin 스스로도 20% 미만 점수는 별표로 신뢰도가 낮다고 표시하고, 점수만으로 학생을 처벌하지 말라고 안내합니다. 한국어 탐지 도구(GPT킬러 등)의 공개 검증 자료는 찾지 못했습니다.</a:t>
            </a:r>
          </a:p>
          <a:p/>
          <a:p>
            <a:r>
              <a:t>참가자에게 할 질문: 학교에서 AI 탐지 점수를 받아 보신 적이 있나요? 그 점수로 무엇을 하셨나요?</a:t>
            </a:r>
          </a:p>
          <a:p/>
          <a:p>
            <a:r>
              <a:t>예상 오류와 대응: '그럼 탐지기를 쓰지 말라는 건가요?'에는 '면담을 시작할 이유로는 쓰되, 판정 근거로는 쓰지 않는다'고 답합니다.</a:t>
            </a:r>
          </a:p>
          <a:p/>
          <a:p>
            <a:r>
              <a:t>수업 링크: https://zeusk302-png.github.io/gyeongnam-ai-workshop/#assignment-review</a:t>
            </a:r>
          </a:p>
          <a:p/>
          <a:p>
            <a:r>
              <a:t>출처: OpenAI AI classifier(2023-01 공개, 2023-07-20 중단) https://openai.com/index/new-ai-classifier-for-indicating-ai-written-text/ ; Weber-Wulff et al. (2023) Int. J. Educational Integrity 19:26 https://link.springer.com/article/10.1007/s40979-023-00146-z ; Liang et al. (2023) Patterns https://www.cell.com/patterns/pdf/S2666-3899(23)00130-7.pdf ; Turnitin AI Writing Report 안내 https://guides.turnitin.com/hc/en-us/articles/22774058814093-Using-the-AI-Writing-Report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56. 같은 글, 같은 질문: 15%, 10%, 그리고 '말할 수 없다'</a:t>
            </a:r>
          </a:p>
          <a:p/>
          <a:p>
            <a:r>
              <a:t>시간: 시작 후 153–155분, 2분</a:t>
            </a:r>
          </a:p>
          <a:p/>
          <a:p>
            <a:r>
              <a:t>말할 내용: 질문 5-1을 강사가 오늘 실제로 넣은 결과입니다. 'H01을 AI가 썼을 가능성을 0~100%로'라고 물었습니다. Gemini는 15%라고 했고, 새 대화에서 같은 질문을 하니 10%였습니다. Claude는 '퍼센트로는 말할 수 없다, 숫자가 학생 평가의 근거처럼 쓰일 위험이 있다'며 숫자를 내지 않았습니다. Gemini는 H03을 95%라고 했는데, 그 근거 가운데 쓸 만한 것은 '표와 다른 36.8%', '없는 문헌'처럼 원문과 대조할 수 있는 것뿐이었습니다. 그래서 다음 질문은 퍼센트를 묻지 않고 근거 대조표를 받습니다.</a:t>
            </a:r>
          </a:p>
          <a:p/>
          <a:p>
            <a:r>
              <a:t>참가자에게 할 질문: 여러분 화면에서는 몇 %가 나왔나요? 옆 분과 같은가요?</a:t>
            </a:r>
          </a:p>
          <a:p/>
          <a:p>
            <a:r>
              <a:t>예상 오류와 대응: 퍼센트가 높게 나온 분이 '그럼 AI가 쓴 게 맞네요'라고 하면, 같은 질문을 새 대화에서 한 번 더 해 보게 합니다.</a:t>
            </a:r>
          </a:p>
          <a:p/>
          <a:p>
            <a:r>
              <a:t>수업 링크: https://zeusk302-png.github.io/gyeongnam-ai-workshop/#assignment-review</a:t>
            </a:r>
          </a:p>
          <a:p/>
          <a:p>
            <a:r>
              <a:t>화면 원본: 제작자료/pptx-v2.1/captures/pct-gm-1.png, pct-gm-2.png, pct-cl.png (Gemini Flash, Claude Opus 5.5,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57. 제출물 세 편을 제공자료와 대조합니다</a:t>
            </a:r>
          </a:p>
          <a:p/>
          <a:p>
            <a:r>
              <a:t>시간: 시작 후 155–162분, 7분</a:t>
            </a:r>
          </a:p>
          <a:p/>
          <a:p>
            <a:r>
              <a:t>말할 내용: 질문 5-2입니다. 07_과제2_제출물_3편.md와 08_과제2_제공자료.md를 올리고 붙여 넣습니다. AI는 제출물마다 네 가지를 봅니다. 읽기자료와 거의 같은데 따옴표·출처가 없는 문장, 데이터 표와 다른 숫자나 없는 지역, 읽기 목록에 없는 인용, 같은 학생의 과제1과 크게 다른 문체입니다. 'AI가 썼다', '표절이다'는 단정하지 말고, 점수나 처벌도 정하지 말라고 질문에 넣었습니다. 표가 나오면 H03의 숫자 하나를 직접 계산해 봅니다.</a:t>
            </a:r>
          </a:p>
          <a:p/>
          <a:p>
            <a:r>
              <a:t>참가자에게 할 질문: H03 표에서 여러분이 직접 계산해 본 숫자는 무엇인가요?</a:t>
            </a:r>
          </a:p>
          <a:p/>
          <a:p>
            <a:r>
              <a:t>예상 오류와 대응: AI가 '표절입니다'라고 단정하면 '판단은 일치/불일치/확인 필요 중 하나로만'이라고 다시 요청합니다. 표가 잘리면 '제출물 하나씩 나눠서'라고 요청합니다.</a:t>
            </a:r>
          </a:p>
          <a:p/>
          <a:p>
            <a:r>
              <a:t>수업 링크: https://zeusk302-png.github.io/gyeongnam-ai-workshop/#assignment-review</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58. 대조표가 찾은 근거: 옮긴 문장, 없는 지역, 없는 문헌</a:t>
            </a:r>
          </a:p>
          <a:p/>
          <a:p>
            <a:r>
              <a:t>시간: 시작 후 162–164분, 2분</a:t>
            </a:r>
          </a:p>
          <a:p/>
          <a:p>
            <a:r>
              <a:t>말할 내용: 강사가 오늘 질문 5-2를 넣은 Gemini 결과입니다. H02는 읽기자료 R2 7쪽의 다섯 문장을 따옴표와 출처 없이 옮긴 것을 '불일치'로 찾았습니다. H02의 핵심은 AI가 아니라 출처 없는 옮김입니다. 숫자는 모두 표와 맞았습니다. H03은 가온시 전체 36.8%(표1은 32.9%), 가온시에 없는 '북구', 읽기자료에 없는 서하람 인용, 읽기 목록 밖의 박민수(2024)를 찾았습니다. H01은 모두 일치였습니다. 면담 질문도 '어디서 찾았는지 보여 달라'처럼 사실을 묻는 질문으로 나왔습니다.</a:t>
            </a:r>
          </a:p>
          <a:p/>
          <a:p>
            <a:r>
              <a:t>참가자에게 할 질문: 여러분 대조표에서 H01은 어떻게 나왔나요?</a:t>
            </a:r>
          </a:p>
          <a:p/>
          <a:p>
            <a:r>
              <a:t>예상 오류와 대응: H01을 '개인 일화가 많아 의심'처럼 인상으로 판단한 표가 있으면, 그 칸의 근거가 제공자료의 어디인지 묻게 합니다.</a:t>
            </a:r>
          </a:p>
          <a:p/>
          <a:p>
            <a:r>
              <a:t>수업 링크: https://zeusk302-png.github.io/gyeongnam-ai-workshop/#assignment-review</a:t>
            </a:r>
          </a:p>
          <a:p/>
          <a:p>
            <a:r>
              <a:t>화면 원본: 제작자료/pptx-v2.1/captures/review-h02.png, review-h03.png (Gemini Flash, 2026-10-01 실행)</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59. AI 대조표도 계산 하나는 놓쳤습니다</a:t>
            </a:r>
          </a:p>
          <a:p/>
          <a:p>
            <a:r>
              <a:t>시간: 시작 후 164–165분, 1분</a:t>
            </a:r>
          </a:p>
          <a:p/>
          <a:p>
            <a:r>
              <a:t>말할 내용: 같은 대조표에서 Gemini가 놓친 곳입니다. H03은 '강변구는 2015년 19.5%에서 2025년 29.8%로 10년 사이 두 배 가까이 증가'라고 썼습니다. 29.8을 19.5로 나누면 1.53배입니다. 두 배가 아닙니다. Gemini 대조표는 숫자 두 개가 표와 같다는 것만 보고 이 문장을 지적하지 않았습니다. AI가 만든 대조표도 검토 대상입니다. 숫자 하나는 직접 계산합니다.</a:t>
            </a:r>
          </a:p>
          <a:p/>
          <a:p>
            <a:r>
              <a:t>참가자에게 할 질문: 여러분 대조표는 '두 배 가까이'를 잡았나요?</a:t>
            </a:r>
          </a:p>
          <a:p/>
          <a:p>
            <a:r>
              <a:t>예상 오류와 대응: 잡은 분이 있으면 도구와 질문을 물어보고 함께 봅니다. 도구마다 결과가 다르다는 예로 씁니다.</a:t>
            </a:r>
          </a:p>
          <a:p/>
          <a:p>
            <a:r>
              <a:t>수업 링크: https://zeusk302-png.github.io/gyeongnam-ai-workshop/#assignment-review</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60. 의심이 들면 이 순서로: 점수가 아니라 절차로</a:t>
            </a:r>
          </a:p>
          <a:p/>
          <a:p>
            <a:r>
              <a:t>시간: 시작 후 165–170분, 5분</a:t>
            </a:r>
          </a:p>
          <a:p/>
          <a:p>
            <a:r>
              <a:t>말할 내용: 정리입니다. 과제가 의심스러우면 이 순서로 합니다. 첫째, 유사도 검사로 옮긴 문장을 찾습니다. 경남대는 중앙도서관에서 카피킬러 캠퍼스를 교직원도 쓸 수 있고, 한국연구재단 KCI 유사도 검사는 무료이며 올린 문서끼리도 비교합니다. 둘째, 오늘처럼 AI로 제공자료와 대조한 근거표를 만듭니다. 유사도 검사가 못 잡는 표와 다른 숫자, 없는 문헌을 찾습니다. 셋째, 면담에서 자료를 어디서 찾았는지 듣습니다. 질문 5-3으로 사실만 적은 면담 요청 메일을 만들 수 있습니다. 넷째, 학칙과 연구윤리 규정, 학과 절차를 따릅니다. 교수 혼자 단정하지 않습니다. AI 작성 탐지 도구의 경남대 제공 여부는 강사가 확인하지 못했습니다.</a:t>
            </a:r>
          </a:p>
          <a:p/>
          <a:p>
            <a:r>
              <a:t>참가자에게 할 질문: 우리 학과에는 과제 표절이 의심될 때의 절차가 정해져 있나요?</a:t>
            </a:r>
          </a:p>
          <a:p/>
          <a:p>
            <a:r>
              <a:t>예상 오류와 대응: 학교 절차를 묻는 질문에는 강사가 답을 만들지 않고 '교무·학과 사무실 확인'으로 안내합니다.</a:t>
            </a:r>
          </a:p>
          <a:p/>
          <a:p>
            <a:r>
              <a:t>수업 링크: https://zeusk302-png.github.io/gyeongnam-ai-workshop/#assignment-review</a:t>
            </a:r>
          </a:p>
          <a:p/>
          <a:p>
            <a:r>
              <a:t>출처: 경남대 도서관 CopyKiller Campus https://library.kyungnam.ac.kr/webcontent/info/11 ; KCI 논문 유사도 검사 https://library.kyungnam.ac.kr/webcontent/info/12 , https://check.kci.go.kr/ (2026-10-01 확인)</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61. 내일 아침, 딱 하나만 해 보세요</a:t>
            </a:r>
          </a:p>
          <a:p/>
          <a:p>
            <a:r>
              <a:t>시간: 시작 후 170–175분, 5분</a:t>
            </a:r>
          </a:p>
          <a:p/>
          <a:p>
            <a:r>
              <a:t>말할 내용: 오늘 배운 것을 내 업무 하나에 옮깁니다. 업무, 도구, 확인할 한 곳 세 칸을 채웁니다. 사이트의 질문 6(네 줄 빈칸 질문)을 복사해 내일 바로 씁니다. 실제 학생 이름, 학번, 성적은 넣지 않고, 개인정보를 지운 자료로 시작합니다. 두세 분께 무엇을 적었는지 들어 봅니다.</a:t>
            </a:r>
          </a:p>
          <a:p/>
          <a:p>
            <a:r>
              <a:t>참가자에게 할 질문: 내일 해 볼 업무 하나를 말씀해 주실 분 계신가요?</a:t>
            </a:r>
          </a:p>
          <a:p/>
          <a:p>
            <a:r>
              <a:t>예상 오류와 대응: 업무를 못 고르면 '이번 주 학생 메일 정리'를 권합니다. 가장 효과가 빨리 보이는 업무입니다.</a:t>
            </a:r>
          </a:p>
          <a:p/>
          <a:p>
            <a:r>
              <a:t>수업 링크: https://zeusk302-png.github.io/gyeongnam-ai-workshop/#tomorrow</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62. 세 도구 모두 무료 계정으로 다시 해 볼 수 있습니다</a:t>
            </a:r>
          </a:p>
          <a:p/>
          <a:p>
            <a:r>
              <a:t>시간: 시작 후 175–178분, 3분</a:t>
            </a:r>
          </a:p>
          <a:p/>
          <a:p>
            <a:r>
              <a:t>말할 내용: 세 도구 모두 개인 무료 계정으로 오늘 실습을 다시 할 수 있습니다. 무료 사용량은 고정 횟수가 공개되어 있지 않고, 대략 5시간마다 갱신되며 주간 한도가 있습니다(2026-09-27 확인). 긴 파일과 긴 대화는 사용량을 더 씁니다. 학교 계정(Google Workspace for Education, Microsoft 365)이 있으면 그 계정을 먼저 쓰는 것이 개인정보 면에서 안전합니다. 자세한 내용은 사이트의 '무료 계정 안내'에 있습니다.</a:t>
            </a:r>
          </a:p>
          <a:p/>
          <a:p>
            <a:r>
              <a:t>참가자에게 할 질문: 오늘 한도 알림을 본 분이 있나요?</a:t>
            </a:r>
          </a:p>
          <a:p/>
          <a:p>
            <a:r>
              <a:t>예상 오류와 대응: 요금과 한도는 자주 바뀝니다. 사이트 확인일(2026-09-27)을 함께 말하고, 쓰기 전 각 서비스 화면을 확인하라고 안내합니다.</a:t>
            </a:r>
          </a:p>
          <a:p/>
          <a:p>
            <a:r>
              <a:t>수업 링크: https://zeusk302-png.github.io/gyeongnam-ai-workshop/#free-guide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63. AI는 초안을 쓰고, 판단은 교수님이 합니다</a:t>
            </a:r>
          </a:p>
          <a:p/>
          <a:p>
            <a:r>
              <a:t>시간: 시작 후 178–180분, 2분</a:t>
            </a:r>
          </a:p>
          <a:p/>
          <a:p>
            <a:r>
              <a:t>말할 내용: 오늘의 한 문장을 다시 읽고 마칩니다. 자료와 복사할 질문, 해설은 모두 강의 사이트에 있습니다. 실습을 다 못 끝낸 부분은 사이트의 해설로 확인할 수 있습니다. 질문은 사이트의 연락처나 휴식 시간에 받습니다.</a:t>
            </a:r>
          </a:p>
          <a:p/>
          <a:p>
            <a:r>
              <a:t>참가자에게 할 질문: 오늘 가장 쓸 만했던 실습은 무엇이었나요?</a:t>
            </a:r>
          </a:p>
          <a:p/>
          <a:p>
            <a:r>
              <a:t>예상 오류와 대응: 시간이 부족하면 이 장만 보여 주고 마칩니다.</a:t>
            </a:r>
          </a:p>
          <a:p/>
          <a:p>
            <a:r>
              <a:t>수업 링크: https://zeusk302-png.github.io/gyeongnam-ai-workshop/#tomorrow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orientation" TargetMode="External"/><Relationship Id="rId3" Type="http://schemas.openxmlformats.org/officeDocument/2006/relationships/notesSlide" Target="../notesSlides/notesSlide1.xml"/><Relationship Id="rId4" Type="http://schemas.openxmlformats.org/officeDocument/2006/relationships/image" Target="../media/image1.jp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instructor" TargetMode="External"/><Relationship Id="rId3" Type="http://schemas.openxmlformats.org/officeDocument/2006/relationships/notesSlide" Target="../notesSlides/notesSlide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why-ai"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why-ai"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why-ai"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why-ai"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why-ai"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orientation" TargetMode="Externa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demo-email"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demo-email" TargetMode="Externa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demo-email"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demo-email"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tool-comparison"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tool-comparison"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tool-comparison"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tool-comparison"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i-basics" TargetMode="External"/><Relationship Id="rId3" Type="http://schemas.openxmlformats.org/officeDocument/2006/relationships/notesSlide" Target="../notesSlides/notesSlide1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i-basics" TargetMode="External"/><Relationship Id="rId3" Type="http://schemas.openxmlformats.org/officeDocument/2006/relationships/notesSlide" Target="../notesSlides/notesSlide18.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i-basics"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i-basics"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3.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5.xml"/><Relationship Id="rId4" Type="http://schemas.openxmlformats.org/officeDocument/2006/relationships/image" Target="../media/image8.png"/><Relationship Id="rId5"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31.xml"/><Relationship Id="rId4" Type="http://schemas.openxmlformats.org/officeDocument/2006/relationships/image" Target="../media/image11.png"/><Relationship Id="rId5"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notebooklm-papers"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6.xml"/><Relationship Id="rId4" Type="http://schemas.openxmlformats.org/officeDocument/2006/relationships/image" Target="../media/image13.png"/><Relationship Id="rId5"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41.xml"/><Relationship Id="rId4" Type="http://schemas.openxmlformats.org/officeDocument/2006/relationships/image" Target="../media/image15.png"/><Relationship Id="rId5"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claude-evaluations" TargetMode="Externa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5.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8.xml"/><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51.xml"/><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gemini-syllabus" TargetMode="Externa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56.xml"/><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58.xml"/><Relationship Id="rId4" Type="http://schemas.openxmlformats.org/officeDocument/2006/relationships/image" Target="../media/image23.png"/><Relationship Id="rId5"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assignment-review" TargetMode="Externa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tomorrow" TargetMode="Externa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free-guide" TargetMode="Externa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usk302-png.github.io/gyeongnam-ai-workshop/#tomorrow" TargetMode="External"/><Relationship Id="rId3" Type="http://schemas.openxmlformats.org/officeDocument/2006/relationships/notesSlide" Target="../notesSlides/notesSlide63.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2921"/>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C1C9BE"/>
                </a:solidFill>
                <a:latin typeface="Noto Sans KR"/>
                <a:ea typeface="Noto Sans KR"/>
                <a:cs typeface="Noto Sans KR"/>
              </a:rPr>
              <a:t>경남대학교 교원 대상 · 생성형 AI 실습 3시간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F4F1E9"/>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C1C9BE"/>
                </a:solidFill>
                <a:latin typeface="Noto Sans KR"/>
                <a:ea typeface="Noto Sans KR"/>
                <a:cs typeface="Noto Sans KR"/>
              </a:rPr>
              <a:t>01</a:t>
            </a:r>
          </a:p>
        </p:txBody>
      </p:sp>
      <p:sp>
        <p:nvSpPr>
          <p:cNvPr id="5" name="TextBox 4"/>
          <p:cNvSpPr txBox="1"/>
          <p:nvPr/>
        </p:nvSpPr>
        <p:spPr>
          <a:xfrm>
            <a:off x="685800" y="609600"/>
            <a:ext cx="7048500" cy="304800"/>
          </a:xfrm>
          <a:prstGeom prst="rect">
            <a:avLst/>
          </a:prstGeom>
          <a:noFill/>
        </p:spPr>
        <p:txBody>
          <a:bodyPr wrap="square" lIns="0" tIns="0" rIns="0" bIns="0" anchor="t"/>
          <a:lstStyle/>
          <a:p>
            <a:pPr algn="l" latinLnBrk="0" eaLnBrk="1">
              <a:lnSpc>
                <a:spcPct val="100000"/>
              </a:lnSpc>
            </a:pPr>
            <a:r>
              <a:rPr sz="1800" b="1" spc="-36" lang="ko-KR" altLang="en-US">
                <a:solidFill>
                  <a:srgbClr val="C1C9BE"/>
                </a:solidFill>
                <a:latin typeface="Noto Sans KR"/>
                <a:ea typeface="Noto Sans KR"/>
                <a:cs typeface="Noto Sans KR"/>
              </a:rPr>
              <a:t>경남대학교 교원 대상 · 생성형 AI 실습 3시간</a:t>
            </a:r>
          </a:p>
        </p:txBody>
      </p:sp>
      <p:sp>
        <p:nvSpPr>
          <p:cNvPr id="6" name="TextBox 5"/>
          <p:cNvSpPr txBox="1"/>
          <p:nvPr/>
        </p:nvSpPr>
        <p:spPr>
          <a:xfrm>
            <a:off x="685800" y="1428750"/>
            <a:ext cx="7048500" cy="1905000"/>
          </a:xfrm>
          <a:prstGeom prst="rect">
            <a:avLst/>
          </a:prstGeom>
          <a:noFill/>
        </p:spPr>
        <p:txBody>
          <a:bodyPr wrap="square" lIns="0" tIns="0" rIns="0" bIns="0" anchor="t"/>
          <a:lstStyle/>
          <a:p>
            <a:pPr algn="l" latinLnBrk="0" eaLnBrk="1">
              <a:lnSpc>
                <a:spcPct val="120000"/>
              </a:lnSpc>
            </a:pPr>
            <a:r>
              <a:rPr sz="4950" b="1" spc="-99" lang="ko-KR" altLang="en-US">
                <a:solidFill>
                  <a:srgbClr val="FFFDF7"/>
                </a:solidFill>
                <a:latin typeface="Noto Sans KR"/>
                <a:ea typeface="Noto Sans KR"/>
                <a:cs typeface="Noto Sans KR"/>
              </a:rPr>
              <a:t>메일은 AI가 먼저 읽고,</a:t>
            </a:r>
            <a:br/>
            <a:r>
              <a:rPr sz="4950" b="1" spc="-99" lang="ko-KR" altLang="en-US">
                <a:solidFill>
                  <a:srgbClr val="EA5936"/>
                </a:solidFill>
                <a:latin typeface="Noto Sans KR"/>
                <a:ea typeface="Noto Sans KR"/>
                <a:cs typeface="Noto Sans KR"/>
              </a:rPr>
              <a:t>판단은 교수님이</a:t>
            </a:r>
            <a:r>
              <a:rPr sz="4950" b="1" spc="-99" lang="ko-KR" altLang="en-US">
                <a:solidFill>
                  <a:srgbClr val="FFFDF7"/>
                </a:solidFill>
                <a:latin typeface="Noto Sans KR"/>
                <a:ea typeface="Noto Sans KR"/>
                <a:cs typeface="Noto Sans KR"/>
              </a:rPr>
              <a:t> 합니다</a:t>
            </a:r>
          </a:p>
        </p:txBody>
      </p:sp>
      <p:sp>
        <p:nvSpPr>
          <p:cNvPr id="7" name="TextBox 6"/>
          <p:cNvSpPr txBox="1"/>
          <p:nvPr/>
        </p:nvSpPr>
        <p:spPr>
          <a:xfrm>
            <a:off x="685800" y="3619500"/>
            <a:ext cx="6667500" cy="857250"/>
          </a:xfrm>
          <a:prstGeom prst="rect">
            <a:avLst/>
          </a:prstGeom>
          <a:noFill/>
        </p:spPr>
        <p:txBody>
          <a:bodyPr wrap="square" lIns="0" tIns="0" rIns="0" bIns="0" anchor="t"/>
          <a:lstStyle/>
          <a:p>
            <a:pPr algn="l" latinLnBrk="0" eaLnBrk="1">
              <a:lnSpc>
                <a:spcPct val="140000"/>
              </a:lnSpc>
            </a:pPr>
            <a:r>
              <a:rPr sz="2100" b="0" spc="-42" lang="ko-KR" altLang="en-US">
                <a:solidFill>
                  <a:srgbClr val="EBB597"/>
                </a:solidFill>
                <a:latin typeface="Noto Sans KR"/>
                <a:ea typeface="Noto Sans KR"/>
                <a:cs typeface="Noto Sans KR"/>
              </a:rPr>
              <a:t>학생 메일, 논문, 강의평가, 강의계획서로</a:t>
            </a:r>
            <a:br/>
            <a:r>
              <a:rPr sz="2100" b="0" spc="-42" lang="ko-KR" altLang="en-US">
                <a:solidFill>
                  <a:srgbClr val="EBB597"/>
                </a:solidFill>
                <a:latin typeface="Noto Sans KR"/>
                <a:ea typeface="Noto Sans KR"/>
                <a:cs typeface="Noto Sans KR"/>
              </a:rPr>
              <a:t>직접 해 봅니다</a:t>
            </a:r>
          </a:p>
        </p:txBody>
      </p:sp>
      <p:sp>
        <p:nvSpPr>
          <p:cNvPr id="8" name="Rounded Rectangle 7"/>
          <p:cNvSpPr/>
          <p:nvPr/>
        </p:nvSpPr>
        <p:spPr>
          <a:xfrm>
            <a:off x="7810500" y="1428750"/>
            <a:ext cx="3695700" cy="647700"/>
          </a:xfrm>
          <a:prstGeom prst="roundRect">
            <a:avLst>
              <a:gd name="adj" fmla="val 588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9100" y="142875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학생 메일 40통 → 분류·답장</a:t>
            </a:r>
          </a:p>
        </p:txBody>
      </p:sp>
      <p:sp>
        <p:nvSpPr>
          <p:cNvPr id="10" name="Rounded Rectangle 9"/>
          <p:cNvSpPr/>
          <p:nvPr/>
        </p:nvSpPr>
        <p:spPr>
          <a:xfrm>
            <a:off x="7810500" y="2209800"/>
            <a:ext cx="3695700" cy="647700"/>
          </a:xfrm>
          <a:prstGeom prst="roundRect">
            <a:avLst>
              <a:gd name="adj" fmla="val 588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39100" y="220980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논문 5편 → 비교표</a:t>
            </a:r>
          </a:p>
        </p:txBody>
      </p:sp>
      <p:sp>
        <p:nvSpPr>
          <p:cNvPr id="12" name="Rounded Rectangle 11"/>
          <p:cNvSpPr/>
          <p:nvPr/>
        </p:nvSpPr>
        <p:spPr>
          <a:xfrm>
            <a:off x="7810500" y="2990850"/>
            <a:ext cx="3695700" cy="647700"/>
          </a:xfrm>
          <a:prstGeom prst="roundRect">
            <a:avLst>
              <a:gd name="adj" fmla="val 588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39100" y="299085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강의평가 180개 → 개선안</a:t>
            </a:r>
          </a:p>
        </p:txBody>
      </p:sp>
      <p:sp>
        <p:nvSpPr>
          <p:cNvPr id="14" name="Rounded Rectangle 13"/>
          <p:cNvSpPr/>
          <p:nvPr/>
        </p:nvSpPr>
        <p:spPr>
          <a:xfrm>
            <a:off x="7810500" y="3771900"/>
            <a:ext cx="3695700" cy="647700"/>
          </a:xfrm>
          <a:prstGeom prst="roundRect">
            <a:avLst>
              <a:gd name="adj" fmla="val 588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39100" y="3771900"/>
            <a:ext cx="3238500" cy="64770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강의계획서 → 고친 판·루브릭</a:t>
            </a:r>
          </a:p>
        </p:txBody>
      </p:sp>
      <p:pic>
        <p:nvPicPr>
          <p:cNvPr id="16" name="Picture 15" descr="kim-seyoung.jpg"/>
          <p:cNvPicPr>
            <a:picLocks noChangeAspect="1"/>
          </p:cNvPicPr>
          <p:nvPr/>
        </p:nvPicPr>
        <p:blipFill>
          <a:blip r:embed="rId4"/>
          <a:srcRect t="6000" b="14000"/>
          <a:stretch>
            <a:fillRect/>
          </a:stretch>
        </p:blipFill>
        <p:spPr>
          <a:xfrm>
            <a:off x="685800" y="5219700"/>
            <a:ext cx="723900" cy="723900"/>
          </a:xfrm>
          <a:prstGeom prst="ellipse">
            <a:avLst/>
          </a:prstGeom>
        </p:spPr>
      </p:pic>
      <p:sp>
        <p:nvSpPr>
          <p:cNvPr id="17" name="TextBox 16"/>
          <p:cNvSpPr txBox="1"/>
          <p:nvPr/>
        </p:nvSpPr>
        <p:spPr>
          <a:xfrm>
            <a:off x="1600200" y="5238750"/>
            <a:ext cx="5715000" cy="342900"/>
          </a:xfrm>
          <a:prstGeom prst="rect">
            <a:avLst/>
          </a:prstGeom>
          <a:noFill/>
        </p:spPr>
        <p:txBody>
          <a:bodyPr wrap="square" lIns="0" tIns="0" rIns="0" bIns="0" anchor="t"/>
          <a:lstStyle/>
          <a:p>
            <a:pPr algn="l" latinLnBrk="0" eaLnBrk="1">
              <a:lnSpc>
                <a:spcPct val="100000"/>
              </a:lnSpc>
            </a:pPr>
            <a:r>
              <a:rPr sz="2100" b="1" spc="-42" lang="ko-KR" altLang="en-US">
                <a:solidFill>
                  <a:srgbClr val="FFFDF7"/>
                </a:solidFill>
                <a:latin typeface="Noto Sans KR"/>
                <a:ea typeface="Noto Sans KR"/>
                <a:cs typeface="Noto Sans KR"/>
              </a:rPr>
              <a:t>김세영</a:t>
            </a:r>
          </a:p>
        </p:txBody>
      </p:sp>
      <p:sp>
        <p:nvSpPr>
          <p:cNvPr id="18" name="TextBox 17"/>
          <p:cNvSpPr txBox="1"/>
          <p:nvPr/>
        </p:nvSpPr>
        <p:spPr>
          <a:xfrm>
            <a:off x="1600200" y="5619750"/>
            <a:ext cx="5715000" cy="304800"/>
          </a:xfrm>
          <a:prstGeom prst="rect">
            <a:avLst/>
          </a:prstGeom>
          <a:noFill/>
        </p:spPr>
        <p:txBody>
          <a:bodyPr wrap="square" lIns="0" tIns="0" rIns="0" bIns="0" anchor="t"/>
          <a:lstStyle/>
          <a:p>
            <a:pPr algn="l" latinLnBrk="0" eaLnBrk="1">
              <a:lnSpc>
                <a:spcPct val="100000"/>
              </a:lnSpc>
            </a:pPr>
            <a:r>
              <a:rPr sz="1800" b="0" spc="-36" lang="ko-KR" altLang="en-US">
                <a:solidFill>
                  <a:srgbClr val="B5C1AF"/>
                </a:solidFill>
                <a:latin typeface="Noto Sans KR"/>
                <a:ea typeface="Noto Sans KR"/>
                <a:cs typeface="Noto Sans KR"/>
              </a:rPr>
              <a:t>㈜파운드리머 기업부설연구소 연구소장</a:t>
            </a:r>
          </a:p>
        </p:txBody>
      </p:sp>
      <p:pic>
        <p:nvPicPr>
          <p:cNvPr id="19" name="Picture 18" descr="qr_202921_FFFDF7.png"/>
          <p:cNvPicPr>
            <a:picLocks noChangeAspect="1"/>
          </p:cNvPicPr>
          <p:nvPr/>
        </p:nvPicPr>
        <p:blipFill>
          <a:blip r:embed="rId5"/>
          <a:stretch>
            <a:fillRect/>
          </a:stretch>
        </p:blipFill>
        <p:spPr>
          <a:xfrm>
            <a:off x="10439400" y="5048250"/>
            <a:ext cx="1066800" cy="1066800"/>
          </a:xfrm>
          <a:prstGeom prst="rect">
            <a:avLst/>
          </a:prstGeom>
        </p:spPr>
      </p:pic>
      <p:sp>
        <p:nvSpPr>
          <p:cNvPr id="20" name="TextBox 19"/>
          <p:cNvSpPr txBox="1"/>
          <p:nvPr/>
        </p:nvSpPr>
        <p:spPr>
          <a:xfrm>
            <a:off x="8362950" y="5219700"/>
            <a:ext cx="1905000" cy="762000"/>
          </a:xfrm>
          <a:prstGeom prst="rect">
            <a:avLst/>
          </a:prstGeom>
          <a:noFill/>
        </p:spPr>
        <p:txBody>
          <a:bodyPr wrap="square" lIns="0" tIns="0" rIns="0" bIns="0" anchor="t"/>
          <a:lstStyle/>
          <a:p>
            <a:pPr algn="r" latinLnBrk="0" eaLnBrk="1">
              <a:lnSpc>
                <a:spcPct val="130000"/>
              </a:lnSpc>
            </a:pPr>
            <a:r>
              <a:rPr sz="1800" b="0" spc="-36" lang="ko-KR" altLang="en-US">
                <a:solidFill>
                  <a:srgbClr val="B5C1AF"/>
                </a:solidFill>
                <a:latin typeface="Noto Sans KR"/>
                <a:ea typeface="Noto Sans KR"/>
                <a:cs typeface="Noto Sans KR"/>
              </a:rPr>
              <a:t>자료·질문</a:t>
            </a:r>
            <a:br/>
            <a:r>
              <a:rPr sz="1800" b="0" spc="-36" lang="ko-KR" altLang="en-US">
                <a:solidFill>
                  <a:srgbClr val="B5C1AF"/>
                </a:solidFill>
                <a:latin typeface="Noto Sans KR"/>
                <a:ea typeface="Noto Sans KR"/>
                <a:cs typeface="Noto Sans KR"/>
              </a:rPr>
              <a:t>강의 사이트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1–3분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02</a:t>
            </a:r>
          </a:p>
        </p:txBody>
      </p:sp>
      <p:sp>
        <p:nvSpPr>
          <p:cNvPr id="5" name="TextBox 4"/>
          <p:cNvSpPr txBox="1"/>
          <p:nvPr/>
        </p:nvSpPr>
        <p:spPr>
          <a:xfrm>
            <a:off x="685800" y="609600"/>
            <a:ext cx="66675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오늘 함께할 강사</a:t>
            </a:r>
          </a:p>
        </p:txBody>
      </p:sp>
      <p:sp>
        <p:nvSpPr>
          <p:cNvPr id="6" name="TextBox 5"/>
          <p:cNvSpPr txBox="1"/>
          <p:nvPr/>
        </p:nvSpPr>
        <p:spPr>
          <a:xfrm>
            <a:off x="685800" y="1238250"/>
            <a:ext cx="6667500" cy="1238250"/>
          </a:xfrm>
          <a:prstGeom prst="rect">
            <a:avLst/>
          </a:prstGeom>
          <a:noFill/>
        </p:spPr>
        <p:txBody>
          <a:bodyPr wrap="square" lIns="0" tIns="0" rIns="0" bIns="0" anchor="t"/>
          <a:lstStyle/>
          <a:p>
            <a:pPr algn="l" latinLnBrk="0" eaLnBrk="1">
              <a:lnSpc>
                <a:spcPct val="100000"/>
              </a:lnSpc>
            </a:pPr>
            <a:r>
              <a:rPr sz="7500" b="1" spc="-150" lang="ko-KR" altLang="en-US">
                <a:solidFill>
                  <a:srgbClr val="202921"/>
                </a:solidFill>
                <a:latin typeface="Noto Sans KR"/>
                <a:ea typeface="Noto Sans KR"/>
                <a:cs typeface="Noto Sans KR"/>
              </a:rPr>
              <a:t>김세영</a:t>
            </a:r>
          </a:p>
        </p:txBody>
      </p:sp>
      <p:sp>
        <p:nvSpPr>
          <p:cNvPr id="7" name="Rectangle 6"/>
          <p:cNvSpPr/>
          <p:nvPr/>
        </p:nvSpPr>
        <p:spPr>
          <a:xfrm>
            <a:off x="685800" y="3086100"/>
            <a:ext cx="76200" cy="28575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2500" y="3009900"/>
            <a:ext cx="6477000" cy="476250"/>
          </a:xfrm>
          <a:prstGeom prst="rect">
            <a:avLst/>
          </a:prstGeom>
          <a:noFill/>
        </p:spPr>
        <p:txBody>
          <a:bodyPr wrap="square" lIns="0" tIns="0" rIns="0" bIns="0" anchor="t"/>
          <a:lstStyle/>
          <a:p>
            <a:pPr algn="l" latinLnBrk="0" eaLnBrk="1">
              <a:lnSpc>
                <a:spcPct val="120000"/>
              </a:lnSpc>
            </a:pPr>
            <a:r>
              <a:rPr sz="2250" b="0" spc="-45" lang="ko-KR" altLang="en-US">
                <a:solidFill>
                  <a:srgbClr val="202921"/>
                </a:solidFill>
                <a:latin typeface="Noto Sans KR"/>
                <a:ea typeface="Noto Sans KR"/>
                <a:cs typeface="Noto Sans KR"/>
              </a:rPr>
              <a:t>㈜파운드리머 기업부설연구소 연구소장</a:t>
            </a:r>
          </a:p>
        </p:txBody>
      </p:sp>
      <p:sp>
        <p:nvSpPr>
          <p:cNvPr id="9" name="Rectangle 8"/>
          <p:cNvSpPr/>
          <p:nvPr/>
        </p:nvSpPr>
        <p:spPr>
          <a:xfrm>
            <a:off x="685800" y="3790950"/>
            <a:ext cx="76200" cy="28575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2500" y="3714750"/>
            <a:ext cx="6477000" cy="476250"/>
          </a:xfrm>
          <a:prstGeom prst="rect">
            <a:avLst/>
          </a:prstGeom>
          <a:noFill/>
        </p:spPr>
        <p:txBody>
          <a:bodyPr wrap="square" lIns="0" tIns="0" rIns="0" bIns="0" anchor="t"/>
          <a:lstStyle/>
          <a:p>
            <a:pPr algn="l" latinLnBrk="0" eaLnBrk="1">
              <a:lnSpc>
                <a:spcPct val="120000"/>
              </a:lnSpc>
            </a:pPr>
            <a:r>
              <a:rPr sz="2250" b="0" spc="-45" lang="ko-KR" altLang="en-US">
                <a:solidFill>
                  <a:srgbClr val="202921"/>
                </a:solidFill>
                <a:latin typeface="Noto Sans KR"/>
                <a:ea typeface="Noto Sans KR"/>
                <a:cs typeface="Noto Sans KR"/>
              </a:rPr>
              <a:t>산업용 AI·임베디드 소프트웨어 개발</a:t>
            </a:r>
          </a:p>
        </p:txBody>
      </p:sp>
      <p:sp>
        <p:nvSpPr>
          <p:cNvPr id="11" name="Rectangle 10"/>
          <p:cNvSpPr/>
          <p:nvPr/>
        </p:nvSpPr>
        <p:spPr>
          <a:xfrm>
            <a:off x="685800" y="4495800"/>
            <a:ext cx="76200" cy="28575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2500" y="4419600"/>
            <a:ext cx="6477000" cy="476250"/>
          </a:xfrm>
          <a:prstGeom prst="rect">
            <a:avLst/>
          </a:prstGeom>
          <a:noFill/>
        </p:spPr>
        <p:txBody>
          <a:bodyPr wrap="square" lIns="0" tIns="0" rIns="0" bIns="0" anchor="t"/>
          <a:lstStyle/>
          <a:p>
            <a:pPr algn="l" latinLnBrk="0" eaLnBrk="1">
              <a:lnSpc>
                <a:spcPct val="120000"/>
              </a:lnSpc>
            </a:pPr>
            <a:r>
              <a:rPr sz="2250" b="0" spc="-45" lang="ko-KR" altLang="en-US">
                <a:solidFill>
                  <a:srgbClr val="202921"/>
                </a:solidFill>
                <a:latin typeface="Noto Sans KR"/>
                <a:ea typeface="Noto Sans KR"/>
                <a:cs typeface="Noto Sans KR"/>
              </a:rPr>
              <a:t>부산대학교 대학원 인공지능 전공</a:t>
            </a:r>
          </a:p>
        </p:txBody>
      </p:sp>
      <p:sp>
        <p:nvSpPr>
          <p:cNvPr id="13" name="TextBox 12"/>
          <p:cNvSpPr txBox="1"/>
          <p:nvPr/>
        </p:nvSpPr>
        <p:spPr>
          <a:xfrm>
            <a:off x="685800" y="5295900"/>
            <a:ext cx="6667500" cy="666750"/>
          </a:xfrm>
          <a:prstGeom prst="rect">
            <a:avLst/>
          </a:prstGeom>
          <a:noFill/>
        </p:spPr>
        <p:txBody>
          <a:bodyPr wrap="square" lIns="0" tIns="0" rIns="0" bIns="0" anchor="t"/>
          <a:lstStyle/>
          <a:p>
            <a:pPr algn="l" latinLnBrk="0" eaLnBrk="1">
              <a:lnSpc>
                <a:spcPct val="135000"/>
              </a:lnSpc>
            </a:pPr>
            <a:r>
              <a:rPr sz="1950" b="0" spc="-39" lang="ko-KR" altLang="en-US">
                <a:solidFill>
                  <a:srgbClr val="586356"/>
                </a:solidFill>
                <a:latin typeface="Noto Sans KR"/>
                <a:ea typeface="Noto Sans KR"/>
                <a:cs typeface="Noto Sans KR"/>
              </a:rPr>
              <a:t>만든 것이 맞는지 시험하는 일을 합니다.</a:t>
            </a:r>
            <a:br/>
            <a:r>
              <a:rPr sz="1950" b="0" spc="-39" lang="ko-KR" altLang="en-US">
                <a:solidFill>
                  <a:srgbClr val="586356"/>
                </a:solidFill>
                <a:latin typeface="Noto Sans KR"/>
                <a:ea typeface="Noto Sans KR"/>
                <a:cs typeface="Noto Sans KR"/>
              </a:rPr>
              <a:t>오늘도 AI의 답을 원문과 맞춰 봅니다.</a:t>
            </a:r>
          </a:p>
        </p:txBody>
      </p:sp>
      <p:pic>
        <p:nvPicPr>
          <p:cNvPr id="14" name="Picture 13" descr="kim-seyoung.jpg"/>
          <p:cNvPicPr>
            <a:picLocks noChangeAspect="1"/>
          </p:cNvPicPr>
          <p:nvPr/>
        </p:nvPicPr>
        <p:blipFill>
          <a:blip r:embed="rId4"/>
          <a:stretch>
            <a:fillRect/>
          </a:stretch>
        </p:blipFill>
        <p:spPr>
          <a:xfrm>
            <a:off x="7848600" y="1047750"/>
            <a:ext cx="3657600" cy="4572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3–5분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03</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시작하며 · 손을 들어 주세요</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이번 주, 이 중 몇 가지 하셨나요?</a:t>
            </a:r>
          </a:p>
        </p:txBody>
      </p:sp>
      <p:sp>
        <p:nvSpPr>
          <p:cNvPr id="7" name="Rounded Rectangle 6"/>
          <p:cNvSpPr/>
          <p:nvPr/>
        </p:nvSpPr>
        <p:spPr>
          <a:xfrm>
            <a:off x="685800" y="2038350"/>
            <a:ext cx="3454400" cy="1714500"/>
          </a:xfrm>
          <a:prstGeom prst="roundRect">
            <a:avLst>
              <a:gd name="adj" fmla="val 222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2500" y="230505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학생 메일 답장</a:t>
            </a:r>
          </a:p>
        </p:txBody>
      </p:sp>
      <p:sp>
        <p:nvSpPr>
          <p:cNvPr id="9" name="TextBox 8"/>
          <p:cNvSpPr txBox="1"/>
          <p:nvPr/>
        </p:nvSpPr>
        <p:spPr>
          <a:xfrm>
            <a:off x="952500" y="283845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비슷한 연장·출석 문의에</a:t>
            </a:r>
            <a:br/>
            <a:r>
              <a:rPr sz="1950" b="0" spc="-39" lang="ko-KR" altLang="en-US">
                <a:solidFill>
                  <a:srgbClr val="586356"/>
                </a:solidFill>
                <a:latin typeface="Noto Sans KR"/>
                <a:ea typeface="Noto Sans KR"/>
                <a:cs typeface="Noto Sans KR"/>
              </a:rPr>
              <a:t>또 답장합니다</a:t>
            </a:r>
          </a:p>
        </p:txBody>
      </p:sp>
      <p:sp>
        <p:nvSpPr>
          <p:cNvPr id="10" name="Rounded Rectangle 9"/>
          <p:cNvSpPr/>
          <p:nvPr/>
        </p:nvSpPr>
        <p:spPr>
          <a:xfrm>
            <a:off x="4368800" y="2038350"/>
            <a:ext cx="3454400" cy="1714500"/>
          </a:xfrm>
          <a:prstGeom prst="roundRect">
            <a:avLst>
              <a:gd name="adj" fmla="val 222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35500" y="230505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논문 읽고 정리</a:t>
            </a:r>
          </a:p>
        </p:txBody>
      </p:sp>
      <p:sp>
        <p:nvSpPr>
          <p:cNvPr id="12" name="TextBox 11"/>
          <p:cNvSpPr txBox="1"/>
          <p:nvPr/>
        </p:nvSpPr>
        <p:spPr>
          <a:xfrm>
            <a:off x="4635500" y="283845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다섯 편째 읽으면</a:t>
            </a:r>
            <a:br/>
            <a:r>
              <a:rPr sz="1950" b="0" spc="-39" lang="ko-KR" altLang="en-US">
                <a:solidFill>
                  <a:srgbClr val="586356"/>
                </a:solidFill>
                <a:latin typeface="Noto Sans KR"/>
                <a:ea typeface="Noto Sans KR"/>
                <a:cs typeface="Noto Sans KR"/>
              </a:rPr>
              <a:t>첫 편이 흐려집니다</a:t>
            </a:r>
          </a:p>
        </p:txBody>
      </p:sp>
      <p:sp>
        <p:nvSpPr>
          <p:cNvPr id="13" name="Rounded Rectangle 12"/>
          <p:cNvSpPr/>
          <p:nvPr/>
        </p:nvSpPr>
        <p:spPr>
          <a:xfrm>
            <a:off x="8051800" y="2038350"/>
            <a:ext cx="3454400" cy="1714500"/>
          </a:xfrm>
          <a:prstGeom prst="roundRect">
            <a:avLst>
              <a:gd name="adj" fmla="val 222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18500" y="230505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강의평가 읽기</a:t>
            </a:r>
          </a:p>
        </p:txBody>
      </p:sp>
      <p:sp>
        <p:nvSpPr>
          <p:cNvPr id="15" name="TextBox 14"/>
          <p:cNvSpPr txBox="1"/>
          <p:nvPr/>
        </p:nvSpPr>
        <p:spPr>
          <a:xfrm>
            <a:off x="8318500" y="283845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서술형 수백 개 중</a:t>
            </a:r>
            <a:br/>
            <a:r>
              <a:rPr sz="1950" b="0" spc="-39" lang="ko-KR" altLang="en-US">
                <a:solidFill>
                  <a:srgbClr val="586356"/>
                </a:solidFill>
                <a:latin typeface="Noto Sans KR"/>
                <a:ea typeface="Noto Sans KR"/>
                <a:cs typeface="Noto Sans KR"/>
              </a:rPr>
              <a:t>앞의 몇 개만 봅니다</a:t>
            </a:r>
          </a:p>
        </p:txBody>
      </p:sp>
      <p:sp>
        <p:nvSpPr>
          <p:cNvPr id="16" name="Rounded Rectangle 15"/>
          <p:cNvSpPr/>
          <p:nvPr/>
        </p:nvSpPr>
        <p:spPr>
          <a:xfrm>
            <a:off x="685800" y="4000500"/>
            <a:ext cx="3454400" cy="1714500"/>
          </a:xfrm>
          <a:prstGeom prst="roundRect">
            <a:avLst>
              <a:gd name="adj" fmla="val 222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2500" y="426720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강의계획서·루브릭</a:t>
            </a:r>
          </a:p>
        </p:txBody>
      </p:sp>
      <p:sp>
        <p:nvSpPr>
          <p:cNvPr id="18" name="TextBox 17"/>
          <p:cNvSpPr txBox="1"/>
          <p:nvPr/>
        </p:nvSpPr>
        <p:spPr>
          <a:xfrm>
            <a:off x="952500" y="480060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작년 것을 열어</a:t>
            </a:r>
            <a:br/>
            <a:r>
              <a:rPr sz="1950" b="0" spc="-39" lang="ko-KR" altLang="en-US">
                <a:solidFill>
                  <a:srgbClr val="586356"/>
                </a:solidFill>
                <a:latin typeface="Noto Sans KR"/>
                <a:ea typeface="Noto Sans KR"/>
                <a:cs typeface="Noto Sans KR"/>
              </a:rPr>
              <a:t>날짜만 고칩니다</a:t>
            </a:r>
          </a:p>
        </p:txBody>
      </p:sp>
      <p:sp>
        <p:nvSpPr>
          <p:cNvPr id="19" name="Rounded Rectangle 18"/>
          <p:cNvSpPr/>
          <p:nvPr/>
        </p:nvSpPr>
        <p:spPr>
          <a:xfrm>
            <a:off x="4368800" y="4000500"/>
            <a:ext cx="3454400" cy="1714500"/>
          </a:xfrm>
          <a:prstGeom prst="roundRect">
            <a:avLst>
              <a:gd name="adj" fmla="val 222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35500" y="426720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연구 보고서</a:t>
            </a:r>
          </a:p>
        </p:txBody>
      </p:sp>
      <p:sp>
        <p:nvSpPr>
          <p:cNvPr id="21" name="TextBox 20"/>
          <p:cNvSpPr txBox="1"/>
          <p:nvPr/>
        </p:nvSpPr>
        <p:spPr>
          <a:xfrm>
            <a:off x="4635500" y="480060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흩어진 실적을</a:t>
            </a:r>
            <a:br/>
            <a:r>
              <a:rPr sz="1950" b="0" spc="-39" lang="ko-KR" altLang="en-US">
                <a:solidFill>
                  <a:srgbClr val="586356"/>
                </a:solidFill>
                <a:latin typeface="Noto Sans KR"/>
                <a:ea typeface="Noto Sans KR"/>
                <a:cs typeface="Noto Sans KR"/>
              </a:rPr>
              <a:t>양식에 옮겨 적습니다</a:t>
            </a:r>
          </a:p>
        </p:txBody>
      </p:sp>
      <p:sp>
        <p:nvSpPr>
          <p:cNvPr id="22" name="Rounded Rectangle 21"/>
          <p:cNvSpPr/>
          <p:nvPr/>
        </p:nvSpPr>
        <p:spPr>
          <a:xfrm>
            <a:off x="8051800" y="4000500"/>
            <a:ext cx="3454400" cy="1714500"/>
          </a:xfrm>
          <a:prstGeom prst="roundRect">
            <a:avLst>
              <a:gd name="adj" fmla="val 222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18500" y="4267200"/>
            <a:ext cx="29210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회의록·공문</a:t>
            </a:r>
          </a:p>
        </p:txBody>
      </p:sp>
      <p:sp>
        <p:nvSpPr>
          <p:cNvPr id="24" name="TextBox 23"/>
          <p:cNvSpPr txBox="1"/>
          <p:nvPr/>
        </p:nvSpPr>
        <p:spPr>
          <a:xfrm>
            <a:off x="8318500" y="4800600"/>
            <a:ext cx="292100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회의는 끝났는데</a:t>
            </a:r>
            <a:br/>
            <a:r>
              <a:rPr sz="1950" b="0" spc="-39" lang="ko-KR" altLang="en-US">
                <a:solidFill>
                  <a:srgbClr val="586356"/>
                </a:solidFill>
                <a:latin typeface="Noto Sans KR"/>
                <a:ea typeface="Noto Sans KR"/>
                <a:cs typeface="Noto Sans KR"/>
              </a:rPr>
              <a:t>정리가 남습니다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5–6분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04</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오늘의 무대 · 가상 사례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월요일 아침, 학생 메일 40통이 와 있습니다</a:t>
            </a:r>
          </a:p>
        </p:txBody>
      </p:sp>
      <p:sp>
        <p:nvSpPr>
          <p:cNvPr id="7" name="TextBox 6"/>
          <p:cNvSpPr txBox="1"/>
          <p:nvPr/>
        </p:nvSpPr>
        <p:spPr>
          <a:xfrm>
            <a:off x="685800" y="1905000"/>
            <a:ext cx="4000500" cy="2476500"/>
          </a:xfrm>
          <a:prstGeom prst="rect">
            <a:avLst/>
          </a:prstGeom>
          <a:noFill/>
        </p:spPr>
        <p:txBody>
          <a:bodyPr wrap="square" lIns="0" tIns="0" rIns="0" bIns="0" anchor="t"/>
          <a:lstStyle/>
          <a:p>
            <a:pPr algn="l" latinLnBrk="0" eaLnBrk="1">
              <a:lnSpc>
                <a:spcPct val="100000"/>
              </a:lnSpc>
            </a:pPr>
            <a:r>
              <a:rPr sz="17250" b="1" spc="-345" lang="ko-KR" altLang="en-US">
                <a:solidFill>
                  <a:srgbClr val="EA5936"/>
                </a:solidFill>
                <a:latin typeface="Noto Sans KR"/>
                <a:ea typeface="Noto Sans KR"/>
                <a:cs typeface="Noto Sans KR"/>
              </a:rPr>
              <a:t>40</a:t>
            </a:r>
            <a:r>
              <a:rPr sz="6000" b="1" spc="-120" lang="ko-KR" altLang="en-US">
                <a:solidFill>
                  <a:srgbClr val="EA5936"/>
                </a:solidFill>
                <a:latin typeface="Noto Sans KR"/>
                <a:ea typeface="Noto Sans KR"/>
                <a:cs typeface="Noto Sans KR"/>
              </a:rPr>
              <a:t>통</a:t>
            </a:r>
          </a:p>
        </p:txBody>
      </p:sp>
      <p:sp>
        <p:nvSpPr>
          <p:cNvPr id="8" name="Rectangle 7"/>
          <p:cNvSpPr/>
          <p:nvPr/>
        </p:nvSpPr>
        <p:spPr>
          <a:xfrm>
            <a:off x="5334000" y="2343150"/>
            <a:ext cx="76200" cy="285750"/>
          </a:xfrm>
          <a:prstGeom prst="rect">
            <a:avLst/>
          </a:prstGeom>
          <a:solidFill>
            <a:srgbClr val="586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00700" y="2247900"/>
            <a:ext cx="5905500" cy="476250"/>
          </a:xfrm>
          <a:prstGeom prst="rect">
            <a:avLst/>
          </a:prstGeom>
          <a:noFill/>
        </p:spPr>
        <p:txBody>
          <a:bodyPr wrap="square" lIns="0" tIns="0" rIns="0" bIns="0" anchor="t"/>
          <a:lstStyle/>
          <a:p>
            <a:pPr algn="l" latinLnBrk="0" eaLnBrk="1">
              <a:lnSpc>
                <a:spcPct val="120000"/>
              </a:lnSpc>
            </a:pPr>
            <a:r>
              <a:rPr sz="2250" b="0" spc="-45" lang="ko-KR" altLang="en-US">
                <a:solidFill>
                  <a:srgbClr val="202921"/>
                </a:solidFill>
                <a:latin typeface="Noto Sans KR"/>
                <a:ea typeface="Noto Sans KR"/>
                <a:cs typeface="Noto Sans KR"/>
              </a:rPr>
              <a:t>가온대학교 한도윤 교수 (가상)</a:t>
            </a:r>
          </a:p>
        </p:txBody>
      </p:sp>
      <p:sp>
        <p:nvSpPr>
          <p:cNvPr id="10" name="Rectangle 9"/>
          <p:cNvSpPr/>
          <p:nvPr/>
        </p:nvSpPr>
        <p:spPr>
          <a:xfrm>
            <a:off x="5334000" y="3009900"/>
            <a:ext cx="76200" cy="285750"/>
          </a:xfrm>
          <a:prstGeom prst="rect">
            <a:avLst/>
          </a:prstGeom>
          <a:solidFill>
            <a:srgbClr val="586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00700" y="2914650"/>
            <a:ext cx="5905500" cy="476250"/>
          </a:xfrm>
          <a:prstGeom prst="rect">
            <a:avLst/>
          </a:prstGeom>
          <a:noFill/>
        </p:spPr>
        <p:txBody>
          <a:bodyPr wrap="square" lIns="0" tIns="0" rIns="0" bIns="0" anchor="t"/>
          <a:lstStyle/>
          <a:p>
            <a:pPr algn="l" latinLnBrk="0" eaLnBrk="1">
              <a:lnSpc>
                <a:spcPct val="120000"/>
              </a:lnSpc>
            </a:pPr>
            <a:r>
              <a:rPr sz="2250" b="0" spc="-45" lang="ko-KR" altLang="en-US">
                <a:solidFill>
                  <a:srgbClr val="202921"/>
                </a:solidFill>
                <a:latin typeface="Noto Sans KR"/>
                <a:ea typeface="Noto Sans KR"/>
                <a:cs typeface="Noto Sans KR"/>
              </a:rPr>
              <a:t>「데이터로 읽는 사회」 01·02분반</a:t>
            </a:r>
          </a:p>
        </p:txBody>
      </p:sp>
      <p:sp>
        <p:nvSpPr>
          <p:cNvPr id="12" name="Rectangle 11"/>
          <p:cNvSpPr/>
          <p:nvPr/>
        </p:nvSpPr>
        <p:spPr>
          <a:xfrm>
            <a:off x="5334000" y="3676650"/>
            <a:ext cx="76200" cy="285750"/>
          </a:xfrm>
          <a:prstGeom prst="rect">
            <a:avLst/>
          </a:prstGeom>
          <a:solidFill>
            <a:srgbClr val="586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00700" y="3581400"/>
            <a:ext cx="5905500" cy="476250"/>
          </a:xfrm>
          <a:prstGeom prst="rect">
            <a:avLst/>
          </a:prstGeom>
          <a:noFill/>
        </p:spPr>
        <p:txBody>
          <a:bodyPr wrap="square" lIns="0" tIns="0" rIns="0" bIns="0" anchor="t"/>
          <a:lstStyle/>
          <a:p>
            <a:pPr algn="l" latinLnBrk="0" eaLnBrk="1">
              <a:lnSpc>
                <a:spcPct val="120000"/>
              </a:lnSpc>
            </a:pPr>
            <a:r>
              <a:rPr sz="2250" b="0" spc="-45" lang="ko-KR" altLang="en-US">
                <a:solidFill>
                  <a:srgbClr val="202921"/>
                </a:solidFill>
                <a:latin typeface="Noto Sans KR"/>
                <a:ea typeface="Noto Sans KR"/>
                <a:cs typeface="Noto Sans KR"/>
              </a:rPr>
              <a:t>2026년 10월 19일(월), 중간고사 직전</a:t>
            </a:r>
          </a:p>
        </p:txBody>
      </p:sp>
      <p:sp>
        <p:nvSpPr>
          <p:cNvPr id="14" name="Rounded Rectangle 13"/>
          <p:cNvSpPr/>
          <p:nvPr/>
        </p:nvSpPr>
        <p:spPr>
          <a:xfrm>
            <a:off x="685800" y="5334000"/>
            <a:ext cx="10820400" cy="666750"/>
          </a:xfrm>
          <a:prstGeom prst="roundRect">
            <a:avLst>
              <a:gd name="adj" fmla="val 5714"/>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2500" y="5334000"/>
            <a:ext cx="10287000" cy="666750"/>
          </a:xfrm>
          <a:prstGeom prst="rect">
            <a:avLst/>
          </a:prstGeom>
          <a:noFill/>
        </p:spPr>
        <p:txBody>
          <a:bodyPr wrap="square" lIns="0" tIns="0" rIns="0" bIns="0" anchor="ctr"/>
          <a:lstStyle/>
          <a:p>
            <a:pPr algn="l" latinLnBrk="0" eaLnBrk="1">
              <a:lnSpc>
                <a:spcPct val="100000"/>
              </a:lnSpc>
            </a:pPr>
            <a:r>
              <a:rPr sz="1950" b="0" spc="-39" lang="ko-KR" altLang="en-US">
                <a:solidFill>
                  <a:srgbClr val="586356"/>
                </a:solidFill>
                <a:latin typeface="Noto Sans KR"/>
                <a:ea typeface="Noto Sans KR"/>
                <a:cs typeface="Noto Sans KR"/>
              </a:rPr>
              <a:t>오늘 쓰는 대학, 교수, 학생, 논문, 학칙은 모두 교육용 가상 자료입니다.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6–9분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05</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리허설 결과 재현 · 질문 한 번</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300" b="1" spc="-66" lang="ko-KR" altLang="en-US">
                <a:solidFill>
                  <a:srgbClr val="202921"/>
                </a:solidFill>
                <a:latin typeface="Noto Sans KR"/>
                <a:ea typeface="Noto Sans KR"/>
                <a:cs typeface="Noto Sans KR"/>
              </a:rPr>
              <a:t>먼저 결과부터: 메일 40통이 이렇게 정리됩니다</a:t>
            </a:r>
          </a:p>
        </p:txBody>
      </p:sp>
      <p:sp>
        <p:nvSpPr>
          <p:cNvPr id="7" name="Rounded Rectangle 6"/>
          <p:cNvSpPr/>
          <p:nvPr/>
        </p:nvSpPr>
        <p:spPr>
          <a:xfrm>
            <a:off x="685800" y="1676400"/>
            <a:ext cx="2857500" cy="3810000"/>
          </a:xfrm>
          <a:prstGeom prst="roundRect">
            <a:avLst>
              <a:gd name="adj" fmla="val 1333"/>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6300" y="1790700"/>
            <a:ext cx="2857500" cy="3238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유형별 개수</a:t>
            </a:r>
          </a:p>
        </p:txBody>
      </p:sp>
      <p:sp>
        <p:nvSpPr>
          <p:cNvPr id="9" name="TextBox 8"/>
          <p:cNvSpPr txBox="1"/>
          <p:nvPr/>
        </p:nvSpPr>
        <p:spPr>
          <a:xfrm>
            <a:off x="876300" y="22098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출석·공결</a:t>
            </a:r>
          </a:p>
        </p:txBody>
      </p:sp>
      <p:sp>
        <p:nvSpPr>
          <p:cNvPr id="10" name="Rounded Rectangle 9"/>
          <p:cNvSpPr/>
          <p:nvPr/>
        </p:nvSpPr>
        <p:spPr>
          <a:xfrm>
            <a:off x="2552700" y="2286000"/>
            <a:ext cx="685800" cy="190500"/>
          </a:xfrm>
          <a:prstGeom prst="roundRect">
            <a:avLst>
              <a:gd name="adj" fmla="val 15000"/>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95650" y="22098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9</a:t>
            </a:r>
          </a:p>
        </p:txBody>
      </p:sp>
      <p:sp>
        <p:nvSpPr>
          <p:cNvPr id="12" name="TextBox 11"/>
          <p:cNvSpPr txBox="1"/>
          <p:nvPr/>
        </p:nvSpPr>
        <p:spPr>
          <a:xfrm>
            <a:off x="876300" y="26098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과제 연장·제출</a:t>
            </a:r>
          </a:p>
        </p:txBody>
      </p:sp>
      <p:sp>
        <p:nvSpPr>
          <p:cNvPr id="13" name="Rounded Rectangle 12"/>
          <p:cNvSpPr/>
          <p:nvPr/>
        </p:nvSpPr>
        <p:spPr>
          <a:xfrm>
            <a:off x="2552700" y="2686050"/>
            <a:ext cx="6096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219450" y="26098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8</a:t>
            </a:r>
          </a:p>
        </p:txBody>
      </p:sp>
      <p:sp>
        <p:nvSpPr>
          <p:cNvPr id="15" name="TextBox 14"/>
          <p:cNvSpPr txBox="1"/>
          <p:nvPr/>
        </p:nvSpPr>
        <p:spPr>
          <a:xfrm>
            <a:off x="876300" y="30099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성적·시험</a:t>
            </a:r>
          </a:p>
        </p:txBody>
      </p:sp>
      <p:sp>
        <p:nvSpPr>
          <p:cNvPr id="16" name="Rounded Rectangle 15"/>
          <p:cNvSpPr/>
          <p:nvPr/>
        </p:nvSpPr>
        <p:spPr>
          <a:xfrm>
            <a:off x="2552700" y="3086100"/>
            <a:ext cx="4572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067050" y="30099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6</a:t>
            </a:r>
          </a:p>
        </p:txBody>
      </p:sp>
      <p:sp>
        <p:nvSpPr>
          <p:cNvPr id="18" name="TextBox 17"/>
          <p:cNvSpPr txBox="1"/>
          <p:nvPr/>
        </p:nvSpPr>
        <p:spPr>
          <a:xfrm>
            <a:off x="876300" y="34099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수강신청·철회</a:t>
            </a:r>
          </a:p>
        </p:txBody>
      </p:sp>
      <p:sp>
        <p:nvSpPr>
          <p:cNvPr id="19" name="Rounded Rectangle 18"/>
          <p:cNvSpPr/>
          <p:nvPr/>
        </p:nvSpPr>
        <p:spPr>
          <a:xfrm>
            <a:off x="2552700" y="3486150"/>
            <a:ext cx="3048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914650" y="34099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4</a:t>
            </a:r>
          </a:p>
        </p:txBody>
      </p:sp>
      <p:sp>
        <p:nvSpPr>
          <p:cNvPr id="21" name="TextBox 20"/>
          <p:cNvSpPr txBox="1"/>
          <p:nvPr/>
        </p:nvSpPr>
        <p:spPr>
          <a:xfrm>
            <a:off x="876300" y="38100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면담 요청</a:t>
            </a:r>
          </a:p>
        </p:txBody>
      </p:sp>
      <p:sp>
        <p:nvSpPr>
          <p:cNvPr id="22" name="Rounded Rectangle 21"/>
          <p:cNvSpPr/>
          <p:nvPr/>
        </p:nvSpPr>
        <p:spPr>
          <a:xfrm>
            <a:off x="2552700" y="3886200"/>
            <a:ext cx="3048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914650" y="38100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4</a:t>
            </a:r>
          </a:p>
        </p:txBody>
      </p:sp>
      <p:sp>
        <p:nvSpPr>
          <p:cNvPr id="24" name="TextBox 23"/>
          <p:cNvSpPr txBox="1"/>
          <p:nvPr/>
        </p:nvSpPr>
        <p:spPr>
          <a:xfrm>
            <a:off x="876300" y="42100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추천서</a:t>
            </a:r>
          </a:p>
        </p:txBody>
      </p:sp>
      <p:sp>
        <p:nvSpPr>
          <p:cNvPr id="25" name="Rounded Rectangle 24"/>
          <p:cNvSpPr/>
          <p:nvPr/>
        </p:nvSpPr>
        <p:spPr>
          <a:xfrm>
            <a:off x="2552700" y="4286250"/>
            <a:ext cx="2286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838450" y="42100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3</a:t>
            </a:r>
          </a:p>
        </p:txBody>
      </p:sp>
      <p:sp>
        <p:nvSpPr>
          <p:cNvPr id="27" name="TextBox 26"/>
          <p:cNvSpPr txBox="1"/>
          <p:nvPr/>
        </p:nvSpPr>
        <p:spPr>
          <a:xfrm>
            <a:off x="876300" y="461010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수업 내용 질문</a:t>
            </a:r>
          </a:p>
        </p:txBody>
      </p:sp>
      <p:sp>
        <p:nvSpPr>
          <p:cNvPr id="28" name="Rounded Rectangle 27"/>
          <p:cNvSpPr/>
          <p:nvPr/>
        </p:nvSpPr>
        <p:spPr>
          <a:xfrm>
            <a:off x="2552700" y="4686300"/>
            <a:ext cx="2286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838450" y="461010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3</a:t>
            </a:r>
          </a:p>
        </p:txBody>
      </p:sp>
      <p:sp>
        <p:nvSpPr>
          <p:cNvPr id="30" name="TextBox 29"/>
          <p:cNvSpPr txBox="1"/>
          <p:nvPr/>
        </p:nvSpPr>
        <p:spPr>
          <a:xfrm>
            <a:off x="876300" y="5010150"/>
            <a:ext cx="1676400" cy="3429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기타</a:t>
            </a:r>
          </a:p>
        </p:txBody>
      </p:sp>
      <p:sp>
        <p:nvSpPr>
          <p:cNvPr id="31" name="Rounded Rectangle 30"/>
          <p:cNvSpPr/>
          <p:nvPr/>
        </p:nvSpPr>
        <p:spPr>
          <a:xfrm>
            <a:off x="2552700" y="5086350"/>
            <a:ext cx="228600" cy="190500"/>
          </a:xfrm>
          <a:prstGeom prst="roundRect">
            <a:avLst>
              <a:gd name="adj" fmla="val 15000"/>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838450" y="5010150"/>
            <a:ext cx="381000" cy="3429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3</a:t>
            </a:r>
          </a:p>
        </p:txBody>
      </p:sp>
      <p:sp>
        <p:nvSpPr>
          <p:cNvPr id="33" name="Rounded Rectangle 32"/>
          <p:cNvSpPr/>
          <p:nvPr/>
        </p:nvSpPr>
        <p:spPr>
          <a:xfrm>
            <a:off x="3695700" y="1676400"/>
            <a:ext cx="4191000" cy="3810000"/>
          </a:xfrm>
          <a:prstGeom prst="roundRect">
            <a:avLst>
              <a:gd name="adj" fmla="val 1000"/>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886200" y="1790700"/>
            <a:ext cx="3810000" cy="3238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처리표 일부 (40행 중 4행)</a:t>
            </a:r>
          </a:p>
        </p:txBody>
      </p:sp>
      <p:sp>
        <p:nvSpPr>
          <p:cNvPr id="35" name="Rectangle 34"/>
          <p:cNvSpPr/>
          <p:nvPr/>
        </p:nvSpPr>
        <p:spPr>
          <a:xfrm>
            <a:off x="3790950" y="2190750"/>
            <a:ext cx="4000500" cy="49530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886200" y="21907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번호</a:t>
            </a:r>
          </a:p>
        </p:txBody>
      </p:sp>
      <p:sp>
        <p:nvSpPr>
          <p:cNvPr id="37" name="TextBox 36"/>
          <p:cNvSpPr txBox="1"/>
          <p:nvPr/>
        </p:nvSpPr>
        <p:spPr>
          <a:xfrm>
            <a:off x="4572000" y="2190750"/>
            <a:ext cx="1085850" cy="4953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유형</a:t>
            </a:r>
          </a:p>
        </p:txBody>
      </p:sp>
      <p:sp>
        <p:nvSpPr>
          <p:cNvPr id="38" name="TextBox 37"/>
          <p:cNvSpPr txBox="1"/>
          <p:nvPr/>
        </p:nvSpPr>
        <p:spPr>
          <a:xfrm>
            <a:off x="5791200" y="2190750"/>
            <a:ext cx="1962150" cy="4953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요청 한 줄</a:t>
            </a:r>
          </a:p>
        </p:txBody>
      </p:sp>
      <p:sp>
        <p:nvSpPr>
          <p:cNvPr id="39" name="Rectangle 38"/>
          <p:cNvSpPr/>
          <p:nvPr/>
        </p:nvSpPr>
        <p:spPr>
          <a:xfrm>
            <a:off x="3790950" y="3167062"/>
            <a:ext cx="40005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886200" y="26860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M11</a:t>
            </a:r>
          </a:p>
        </p:txBody>
      </p:sp>
      <p:sp>
        <p:nvSpPr>
          <p:cNvPr id="41" name="TextBox 40"/>
          <p:cNvSpPr txBox="1"/>
          <p:nvPr/>
        </p:nvSpPr>
        <p:spPr>
          <a:xfrm>
            <a:off x="4572000" y="26860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출석·공결</a:t>
            </a:r>
          </a:p>
        </p:txBody>
      </p:sp>
      <p:sp>
        <p:nvSpPr>
          <p:cNvPr id="42" name="TextBox 41"/>
          <p:cNvSpPr txBox="1"/>
          <p:nvPr/>
        </p:nvSpPr>
        <p:spPr>
          <a:xfrm>
            <a:off x="5791200" y="26860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병결 출석 인정</a:t>
            </a:r>
          </a:p>
        </p:txBody>
      </p:sp>
      <p:sp>
        <p:nvSpPr>
          <p:cNvPr id="43" name="Rectangle 42"/>
          <p:cNvSpPr/>
          <p:nvPr/>
        </p:nvSpPr>
        <p:spPr>
          <a:xfrm>
            <a:off x="3790950" y="3662362"/>
            <a:ext cx="40005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886200" y="31813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M16</a:t>
            </a:r>
          </a:p>
        </p:txBody>
      </p:sp>
      <p:sp>
        <p:nvSpPr>
          <p:cNvPr id="45" name="TextBox 44"/>
          <p:cNvSpPr txBox="1"/>
          <p:nvPr/>
        </p:nvSpPr>
        <p:spPr>
          <a:xfrm>
            <a:off x="4572000" y="31813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출석·공결</a:t>
            </a:r>
          </a:p>
        </p:txBody>
      </p:sp>
      <p:sp>
        <p:nvSpPr>
          <p:cNvPr id="46" name="TextBox 45"/>
          <p:cNvSpPr txBox="1"/>
          <p:nvPr/>
        </p:nvSpPr>
        <p:spPr>
          <a:xfrm>
            <a:off x="5791200" y="31813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결석 몇 번까지?</a:t>
            </a:r>
          </a:p>
        </p:txBody>
      </p:sp>
      <p:sp>
        <p:nvSpPr>
          <p:cNvPr id="47" name="Rectangle 46"/>
          <p:cNvSpPr/>
          <p:nvPr/>
        </p:nvSpPr>
        <p:spPr>
          <a:xfrm>
            <a:off x="3790950" y="4157662"/>
            <a:ext cx="40005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86200" y="36766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M33</a:t>
            </a:r>
          </a:p>
        </p:txBody>
      </p:sp>
      <p:sp>
        <p:nvSpPr>
          <p:cNvPr id="49" name="TextBox 48"/>
          <p:cNvSpPr txBox="1"/>
          <p:nvPr/>
        </p:nvSpPr>
        <p:spPr>
          <a:xfrm>
            <a:off x="4572000" y="36766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철회</a:t>
            </a:r>
          </a:p>
        </p:txBody>
      </p:sp>
      <p:sp>
        <p:nvSpPr>
          <p:cNvPr id="50" name="TextBox 49"/>
          <p:cNvSpPr txBox="1"/>
          <p:nvPr/>
        </p:nvSpPr>
        <p:spPr>
          <a:xfrm>
            <a:off x="5791200" y="36766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마감 뒤 철회</a:t>
            </a:r>
          </a:p>
        </p:txBody>
      </p:sp>
      <p:sp>
        <p:nvSpPr>
          <p:cNvPr id="51" name="Rectangle 50"/>
          <p:cNvSpPr/>
          <p:nvPr/>
        </p:nvSpPr>
        <p:spPr>
          <a:xfrm>
            <a:off x="3790950" y="4652962"/>
            <a:ext cx="40005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3886200" y="4171950"/>
            <a:ext cx="552450" cy="4953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M37</a:t>
            </a:r>
          </a:p>
        </p:txBody>
      </p:sp>
      <p:sp>
        <p:nvSpPr>
          <p:cNvPr id="53" name="TextBox 52"/>
          <p:cNvSpPr txBox="1"/>
          <p:nvPr/>
        </p:nvSpPr>
        <p:spPr>
          <a:xfrm>
            <a:off x="4572000" y="4171950"/>
            <a:ext cx="10858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기타</a:t>
            </a:r>
          </a:p>
        </p:txBody>
      </p:sp>
      <p:sp>
        <p:nvSpPr>
          <p:cNvPr id="54" name="TextBox 53"/>
          <p:cNvSpPr txBox="1"/>
          <p:nvPr/>
        </p:nvSpPr>
        <p:spPr>
          <a:xfrm>
            <a:off x="5791200" y="4171950"/>
            <a:ext cx="1962150" cy="4953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학회 홍보 (답장 X)</a:t>
            </a:r>
          </a:p>
        </p:txBody>
      </p:sp>
      <p:sp>
        <p:nvSpPr>
          <p:cNvPr id="55" name="TextBox 54"/>
          <p:cNvSpPr txBox="1"/>
          <p:nvPr/>
        </p:nvSpPr>
        <p:spPr>
          <a:xfrm>
            <a:off x="3886200" y="4762500"/>
            <a:ext cx="3810000" cy="5715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중복 메일: M01·M02, M03·M04</a:t>
            </a:r>
          </a:p>
        </p:txBody>
      </p:sp>
      <p:sp>
        <p:nvSpPr>
          <p:cNvPr id="56" name="Rounded Rectangle 55"/>
          <p:cNvSpPr/>
          <p:nvPr/>
        </p:nvSpPr>
        <p:spPr>
          <a:xfrm>
            <a:off x="8039100" y="1676400"/>
            <a:ext cx="3467100" cy="3810000"/>
          </a:xfrm>
          <a:prstGeom prst="roundRect">
            <a:avLst>
              <a:gd name="adj" fmla="val 1098"/>
            </a:avLst>
          </a:prstGeom>
          <a:solidFill>
            <a:srgbClr val="E6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267700" y="1790700"/>
            <a:ext cx="3048000" cy="3238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M17 답장 초안</a:t>
            </a:r>
          </a:p>
        </p:txBody>
      </p:sp>
      <p:sp>
        <p:nvSpPr>
          <p:cNvPr id="58" name="TextBox 57"/>
          <p:cNvSpPr txBox="1"/>
          <p:nvPr/>
        </p:nvSpPr>
        <p:spPr>
          <a:xfrm>
            <a:off x="8267700" y="2209800"/>
            <a:ext cx="3086100" cy="3143250"/>
          </a:xfrm>
          <a:prstGeom prst="rect">
            <a:avLst/>
          </a:prstGeom>
          <a:noFill/>
        </p:spPr>
        <p:txBody>
          <a:bodyPr wrap="square" lIns="0" tIns="0" rIns="0" bIns="0" anchor="t"/>
          <a:lstStyle/>
          <a:p>
            <a:pPr algn="l" latinLnBrk="0" eaLnBrk="1">
              <a:lnSpc>
                <a:spcPct val="135000"/>
              </a:lnSpc>
            </a:pPr>
            <a:r>
              <a:rPr sz="1875" b="0" spc="-37" lang="ko-KR" altLang="en-US">
                <a:solidFill>
                  <a:srgbClr val="202921"/>
                </a:solidFill>
                <a:latin typeface="Noto Sans KR"/>
                <a:ea typeface="Noto Sans KR"/>
                <a:cs typeface="Noto Sans KR"/>
              </a:rPr>
              <a:t>배준호 학생,</a:t>
            </a:r>
            <a:br/>
            <a:r>
              <a:rPr sz="1875" b="0" spc="-37" lang="ko-KR" altLang="en-US">
                <a:solidFill>
                  <a:srgbClr val="202921"/>
                </a:solidFill>
                <a:latin typeface="Noto Sans KR"/>
                <a:ea typeface="Noto Sans KR"/>
                <a:cs typeface="Noto Sans KR"/>
              </a:rPr>
              <a:t>메일 고마워요.</a:t>
            </a:r>
            <a:br/>
            <a:r>
              <a:rPr sz="1875" b="0" spc="-37" lang="ko-KR" altLang="en-US">
                <a:solidFill>
                  <a:srgbClr val="202921"/>
                </a:solidFill>
                <a:latin typeface="Noto Sans KR"/>
                <a:ea typeface="Noto Sans KR"/>
                <a:cs typeface="Noto Sans KR"/>
              </a:rPr>
              <a:t>진로 이야기라니</a:t>
            </a:r>
            <a:br/>
            <a:r>
              <a:rPr sz="1875" b="0" spc="-37" lang="ko-KR" altLang="en-US">
                <a:solidFill>
                  <a:srgbClr val="202921"/>
                </a:solidFill>
                <a:latin typeface="Noto Sans KR"/>
                <a:ea typeface="Noto Sans KR"/>
                <a:cs typeface="Noto Sans KR"/>
              </a:rPr>
              <a:t>반갑습니다.</a:t>
            </a:r>
            <a:br/>
            <a:r>
              <a:rPr sz="1875" b="0" spc="-37" lang="ko-KR" altLang="en-US">
                <a:solidFill>
                  <a:srgbClr val="202921"/>
                </a:solidFill>
                <a:latin typeface="Noto Sans KR"/>
                <a:ea typeface="Noto Sans KR"/>
                <a:cs typeface="Noto Sans KR"/>
              </a:rPr>
              <a:t>[시간 확인] 중에</a:t>
            </a:r>
            <a:br/>
            <a:r>
              <a:rPr sz="1875" b="0" spc="-37" lang="ko-KR" altLang="en-US">
                <a:solidFill>
                  <a:srgbClr val="202921"/>
                </a:solidFill>
                <a:latin typeface="Noto Sans KR"/>
                <a:ea typeface="Noto Sans KR"/>
                <a:cs typeface="Noto Sans KR"/>
              </a:rPr>
              <a:t>편한 때를 알려 주세요.</a:t>
            </a:r>
          </a:p>
        </p:txBody>
      </p:sp>
      <p:sp>
        <p:nvSpPr>
          <p:cNvPr id="59" name="Rounded Rectangle 58"/>
          <p:cNvSpPr/>
          <p:nvPr/>
        </p:nvSpPr>
        <p:spPr>
          <a:xfrm>
            <a:off x="685800" y="5676900"/>
            <a:ext cx="10820400" cy="628650"/>
          </a:xfrm>
          <a:prstGeom prst="roundRect">
            <a:avLst>
              <a:gd name="adj" fmla="val 6060"/>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52500" y="5676900"/>
            <a:ext cx="10287000" cy="628650"/>
          </a:xfrm>
          <a:prstGeom prst="rect">
            <a:avLst/>
          </a:prstGeom>
          <a:noFill/>
        </p:spPr>
        <p:txBody>
          <a:bodyPr wrap="square" lIns="0" tIns="0" rIns="0" bIns="0" anchor="ctr"/>
          <a:lstStyle/>
          <a:p>
            <a:pPr algn="l" latinLnBrk="0" eaLnBrk="1">
              <a:lnSpc>
                <a:spcPct val="100000"/>
              </a:lnSpc>
            </a:pPr>
            <a:r>
              <a:rPr sz="2100" b="1" spc="-42" lang="ko-KR" altLang="en-US">
                <a:solidFill>
                  <a:srgbClr val="EA5936"/>
                </a:solidFill>
                <a:latin typeface="Noto Sans KR"/>
                <a:ea typeface="Noto Sans KR"/>
                <a:cs typeface="Noto Sans KR"/>
              </a:rPr>
              <a:t>걸린 시간  </a:t>
            </a:r>
            <a:r>
              <a:rPr sz="2100" b="1" spc="-42" lang="ko-KR" altLang="en-US">
                <a:solidFill>
                  <a:srgbClr val="202921"/>
                </a:solidFill>
                <a:latin typeface="Noto Sans KR"/>
                <a:ea typeface="Noto Sans KR"/>
                <a:cs typeface="Noto Sans KR"/>
              </a:rPr>
              <a:t>______분 (리허설 실측) · 오늘 이 방에서 다시 잽니다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9–11분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06</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실제 자료 · 대학 교원의 AI 사용</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300" b="1" spc="-66" lang="ko-KR" altLang="en-US">
                <a:solidFill>
                  <a:srgbClr val="202921"/>
                </a:solidFill>
                <a:latin typeface="Noto Sans KR"/>
                <a:ea typeface="Noto Sans KR"/>
                <a:cs typeface="Noto Sans KR"/>
              </a:rPr>
              <a:t>대학 교원이 AI에 가장 많이 맡긴 일은 수업 준비였습니다</a:t>
            </a:r>
          </a:p>
        </p:txBody>
      </p:sp>
      <p:sp>
        <p:nvSpPr>
          <p:cNvPr id="7" name="TextBox 6"/>
          <p:cNvSpPr txBox="1"/>
          <p:nvPr/>
        </p:nvSpPr>
        <p:spPr>
          <a:xfrm>
            <a:off x="685800" y="1962150"/>
            <a:ext cx="333375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교육과정·수업 자료 개발</a:t>
            </a:r>
          </a:p>
        </p:txBody>
      </p:sp>
      <p:sp>
        <p:nvSpPr>
          <p:cNvPr id="8" name="Rounded Rectangle 7"/>
          <p:cNvSpPr/>
          <p:nvPr/>
        </p:nvSpPr>
        <p:spPr>
          <a:xfrm>
            <a:off x="4191000" y="2009775"/>
            <a:ext cx="3474720" cy="571500"/>
          </a:xfrm>
          <a:prstGeom prst="roundRect">
            <a:avLst>
              <a:gd name="adj" fmla="val 6666"/>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18120" y="1962150"/>
            <a:ext cx="1143000" cy="666750"/>
          </a:xfrm>
          <a:prstGeom prst="rect">
            <a:avLst/>
          </a:prstGeom>
          <a:noFill/>
        </p:spPr>
        <p:txBody>
          <a:bodyPr wrap="square" lIns="0" tIns="0" rIns="0" bIns="0" anchor="ctr"/>
          <a:lstStyle/>
          <a:p>
            <a:pPr algn="l" latinLnBrk="0" eaLnBrk="1">
              <a:lnSpc>
                <a:spcPct val="100000"/>
              </a:lnSpc>
            </a:pPr>
            <a:r>
              <a:rPr sz="2400" b="1" spc="-48" lang="ko-KR" altLang="en-US">
                <a:solidFill>
                  <a:srgbClr val="202921"/>
                </a:solidFill>
                <a:latin typeface="Noto Sans KR"/>
                <a:ea typeface="Noto Sans KR"/>
                <a:cs typeface="Noto Sans KR"/>
              </a:rPr>
              <a:t>57%</a:t>
            </a:r>
          </a:p>
        </p:txBody>
      </p:sp>
      <p:sp>
        <p:nvSpPr>
          <p:cNvPr id="10" name="TextBox 9"/>
          <p:cNvSpPr txBox="1"/>
          <p:nvPr/>
        </p:nvSpPr>
        <p:spPr>
          <a:xfrm>
            <a:off x="685800" y="2876550"/>
            <a:ext cx="333375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학술 연구</a:t>
            </a:r>
          </a:p>
        </p:txBody>
      </p:sp>
      <p:sp>
        <p:nvSpPr>
          <p:cNvPr id="11" name="Rounded Rectangle 10"/>
          <p:cNvSpPr/>
          <p:nvPr/>
        </p:nvSpPr>
        <p:spPr>
          <a:xfrm>
            <a:off x="4191000" y="2924175"/>
            <a:ext cx="792480" cy="571500"/>
          </a:xfrm>
          <a:prstGeom prst="roundRect">
            <a:avLst>
              <a:gd name="adj" fmla="val 6666"/>
            </a:avLst>
          </a:prstGeom>
          <a:solidFill>
            <a:srgbClr val="A3A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135880" y="2876550"/>
            <a:ext cx="1143000" cy="666750"/>
          </a:xfrm>
          <a:prstGeom prst="rect">
            <a:avLst/>
          </a:prstGeom>
          <a:noFill/>
        </p:spPr>
        <p:txBody>
          <a:bodyPr wrap="square" lIns="0" tIns="0" rIns="0" bIns="0" anchor="ctr"/>
          <a:lstStyle/>
          <a:p>
            <a:pPr algn="l" latinLnBrk="0" eaLnBrk="1">
              <a:lnSpc>
                <a:spcPct val="100000"/>
              </a:lnSpc>
            </a:pPr>
            <a:r>
              <a:rPr sz="2400" b="1" spc="-48" lang="ko-KR" altLang="en-US">
                <a:solidFill>
                  <a:srgbClr val="202921"/>
                </a:solidFill>
                <a:latin typeface="Noto Sans KR"/>
                <a:ea typeface="Noto Sans KR"/>
                <a:cs typeface="Noto Sans KR"/>
              </a:rPr>
              <a:t>13%</a:t>
            </a:r>
          </a:p>
        </p:txBody>
      </p:sp>
      <p:sp>
        <p:nvSpPr>
          <p:cNvPr id="13" name="TextBox 12"/>
          <p:cNvSpPr txBox="1"/>
          <p:nvPr/>
        </p:nvSpPr>
        <p:spPr>
          <a:xfrm>
            <a:off x="685800" y="3790950"/>
            <a:ext cx="333375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학생 평가</a:t>
            </a:r>
          </a:p>
        </p:txBody>
      </p:sp>
      <p:sp>
        <p:nvSpPr>
          <p:cNvPr id="14" name="Rounded Rectangle 13"/>
          <p:cNvSpPr/>
          <p:nvPr/>
        </p:nvSpPr>
        <p:spPr>
          <a:xfrm>
            <a:off x="4191000" y="3838575"/>
            <a:ext cx="426720" cy="571500"/>
          </a:xfrm>
          <a:prstGeom prst="roundRect">
            <a:avLst>
              <a:gd name="adj" fmla="val 8928"/>
            </a:avLst>
          </a:prstGeom>
          <a:solidFill>
            <a:srgbClr val="A3A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0120" y="3790950"/>
            <a:ext cx="1143000" cy="666750"/>
          </a:xfrm>
          <a:prstGeom prst="rect">
            <a:avLst/>
          </a:prstGeom>
          <a:noFill/>
        </p:spPr>
        <p:txBody>
          <a:bodyPr wrap="square" lIns="0" tIns="0" rIns="0" bIns="0" anchor="ctr"/>
          <a:lstStyle/>
          <a:p>
            <a:pPr algn="l" latinLnBrk="0" eaLnBrk="1">
              <a:lnSpc>
                <a:spcPct val="100000"/>
              </a:lnSpc>
            </a:pPr>
            <a:r>
              <a:rPr sz="2400" b="1" spc="-48" lang="ko-KR" altLang="en-US">
                <a:solidFill>
                  <a:srgbClr val="202921"/>
                </a:solidFill>
                <a:latin typeface="Noto Sans KR"/>
                <a:ea typeface="Noto Sans KR"/>
                <a:cs typeface="Noto Sans KR"/>
              </a:rPr>
              <a:t>7%</a:t>
            </a:r>
          </a:p>
        </p:txBody>
      </p:sp>
      <p:sp>
        <p:nvSpPr>
          <p:cNvPr id="16" name="Rectangle 15"/>
          <p:cNvSpPr/>
          <p:nvPr/>
        </p:nvSpPr>
        <p:spPr>
          <a:xfrm>
            <a:off x="4191000" y="1885950"/>
            <a:ext cx="23812" cy="2762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85800" y="5048250"/>
            <a:ext cx="10820400" cy="1104900"/>
          </a:xfrm>
          <a:prstGeom prst="roundRect">
            <a:avLst>
              <a:gd name="adj" fmla="val 3448"/>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2500" y="5219700"/>
            <a:ext cx="10287000" cy="762000"/>
          </a:xfrm>
          <a:prstGeom prst="rect">
            <a:avLst/>
          </a:prstGeom>
          <a:noFill/>
        </p:spPr>
        <p:txBody>
          <a:bodyPr wrap="square" lIns="0" tIns="0" rIns="0" bIns="0" anchor="t"/>
          <a:lstStyle/>
          <a:p>
            <a:pPr algn="l" latinLnBrk="0" eaLnBrk="1">
              <a:lnSpc>
                <a:spcPct val="140000"/>
              </a:lnSpc>
            </a:pPr>
            <a:r>
              <a:rPr sz="1950" b="1" spc="-39" lang="ko-KR" altLang="en-US">
                <a:solidFill>
                  <a:srgbClr val="EA5936"/>
                </a:solidFill>
                <a:latin typeface="Noto Sans KR"/>
                <a:ea typeface="Noto Sans KR"/>
                <a:cs typeface="Noto Sans KR"/>
              </a:rPr>
              <a:t>출처  </a:t>
            </a:r>
            <a:r>
              <a:rPr sz="1950" b="1" spc="-39" lang="ko-KR" altLang="en-US">
                <a:solidFill>
                  <a:srgbClr val="202921"/>
                </a:solidFill>
                <a:latin typeface="Noto Sans KR"/>
                <a:ea typeface="Noto Sans KR"/>
                <a:cs typeface="Noto Sans KR"/>
              </a:rPr>
              <a:t>Anthropic Education Report (2025년 8월)</a:t>
            </a:r>
          </a:p>
          <a:p>
            <a:pPr algn="l" latinLnBrk="0" eaLnBrk="1">
              <a:lnSpc>
                <a:spcPct val="140000"/>
              </a:lnSpc>
            </a:pPr>
            <a:r>
              <a:rPr sz="1950" b="0" spc="-39" lang="ko-KR" altLang="en-US">
                <a:solidFill>
                  <a:srgbClr val="586356"/>
                </a:solidFill>
                <a:latin typeface="Noto Sans KR"/>
                <a:ea typeface="Noto Sans KR"/>
                <a:cs typeface="Noto Sans KR"/>
              </a:rPr>
              <a:t>고등교육 종사자의 Claude 대화 약 7만 4천 건 · 한 도구 이용자 기준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11–13분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07</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오늘의 기준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AI는 읽고 정리하고, 결정은 교수님이 합니다</a:t>
            </a:r>
          </a:p>
        </p:txBody>
      </p:sp>
      <p:sp>
        <p:nvSpPr>
          <p:cNvPr id="7" name="Rounded Rectangle 6"/>
          <p:cNvSpPr/>
          <p:nvPr/>
        </p:nvSpPr>
        <p:spPr>
          <a:xfrm>
            <a:off x="685800" y="1866900"/>
            <a:ext cx="5295900" cy="4095750"/>
          </a:xfrm>
          <a:prstGeom prst="roundRect">
            <a:avLst>
              <a:gd name="adj" fmla="val 930"/>
            </a:avLst>
          </a:prstGeom>
          <a:solidFill>
            <a:srgbClr val="E6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8700" y="2152650"/>
            <a:ext cx="45720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AI에게 맡길 일</a:t>
            </a:r>
          </a:p>
        </p:txBody>
      </p:sp>
      <p:sp>
        <p:nvSpPr>
          <p:cNvPr id="9" name="TextBox 8"/>
          <p:cNvSpPr txBox="1"/>
          <p:nvPr/>
        </p:nvSpPr>
        <p:spPr>
          <a:xfrm>
            <a:off x="1028700" y="27813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많은 글을 유형별로 나누기</a:t>
            </a:r>
          </a:p>
        </p:txBody>
      </p:sp>
      <p:sp>
        <p:nvSpPr>
          <p:cNvPr id="10" name="Rectangle 9"/>
          <p:cNvSpPr/>
          <p:nvPr/>
        </p:nvSpPr>
        <p:spPr>
          <a:xfrm>
            <a:off x="1028700" y="3390900"/>
            <a:ext cx="46101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8700" y="35052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긴 문서 요약과 비교표</a:t>
            </a:r>
          </a:p>
        </p:txBody>
      </p:sp>
      <p:sp>
        <p:nvSpPr>
          <p:cNvPr id="12" name="Rectangle 11"/>
          <p:cNvSpPr/>
          <p:nvPr/>
        </p:nvSpPr>
        <p:spPr>
          <a:xfrm>
            <a:off x="1028700" y="4114800"/>
            <a:ext cx="46101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28700" y="42291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답장·보고서의 첫 초안</a:t>
            </a:r>
          </a:p>
        </p:txBody>
      </p:sp>
      <p:sp>
        <p:nvSpPr>
          <p:cNvPr id="14" name="Rectangle 13"/>
          <p:cNvSpPr/>
          <p:nvPr/>
        </p:nvSpPr>
        <p:spPr>
          <a:xfrm>
            <a:off x="1028700" y="4838700"/>
            <a:ext cx="46101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8700" y="49530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형식 바꾸기 (메모 → 표)</a:t>
            </a:r>
          </a:p>
        </p:txBody>
      </p:sp>
      <p:sp>
        <p:nvSpPr>
          <p:cNvPr id="16" name="Rectangle 15"/>
          <p:cNvSpPr/>
          <p:nvPr/>
        </p:nvSpPr>
        <p:spPr>
          <a:xfrm>
            <a:off x="1028700" y="5562600"/>
            <a:ext cx="46101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210300" y="1866900"/>
            <a:ext cx="5295900" cy="4095750"/>
          </a:xfrm>
          <a:prstGeom prst="roundRect">
            <a:avLst>
              <a:gd name="adj" fmla="val 930"/>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53200" y="2152650"/>
            <a:ext cx="45720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교수님이 할 일</a:t>
            </a:r>
          </a:p>
        </p:txBody>
      </p:sp>
      <p:sp>
        <p:nvSpPr>
          <p:cNvPr id="19" name="TextBox 18"/>
          <p:cNvSpPr txBox="1"/>
          <p:nvPr/>
        </p:nvSpPr>
        <p:spPr>
          <a:xfrm>
            <a:off x="6553200" y="27813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성적·예외 승인 같은 판단</a:t>
            </a:r>
          </a:p>
        </p:txBody>
      </p:sp>
      <p:sp>
        <p:nvSpPr>
          <p:cNvPr id="20" name="Rectangle 19"/>
          <p:cNvSpPr/>
          <p:nvPr/>
        </p:nvSpPr>
        <p:spPr>
          <a:xfrm>
            <a:off x="6553200" y="3390900"/>
            <a:ext cx="46101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53200" y="35052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숫자와 인용이 맞는지 확인</a:t>
            </a:r>
          </a:p>
        </p:txBody>
      </p:sp>
      <p:sp>
        <p:nvSpPr>
          <p:cNvPr id="22" name="Rectangle 21"/>
          <p:cNvSpPr/>
          <p:nvPr/>
        </p:nvSpPr>
        <p:spPr>
          <a:xfrm>
            <a:off x="6553200" y="4114800"/>
            <a:ext cx="46101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3200" y="42291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학생과의 관계가 걸린 말투</a:t>
            </a:r>
          </a:p>
        </p:txBody>
      </p:sp>
      <p:sp>
        <p:nvSpPr>
          <p:cNvPr id="24" name="Rectangle 23"/>
          <p:cNvSpPr/>
          <p:nvPr/>
        </p:nvSpPr>
        <p:spPr>
          <a:xfrm>
            <a:off x="6553200" y="4838700"/>
            <a:ext cx="46101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53200" y="4953000"/>
            <a:ext cx="4610100" cy="5334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최종 발송과 제출</a:t>
            </a:r>
          </a:p>
        </p:txBody>
      </p:sp>
      <p:sp>
        <p:nvSpPr>
          <p:cNvPr id="26" name="Rectangle 25"/>
          <p:cNvSpPr/>
          <p:nvPr/>
        </p:nvSpPr>
        <p:spPr>
          <a:xfrm>
            <a:off x="6553200" y="5562600"/>
            <a:ext cx="46101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여는 이야기 · 13–15분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08</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오늘의 순서 · 180분</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세 시간 동안 다섯 가지 업무를 직접 해 봅니다</a:t>
            </a:r>
          </a:p>
        </p:txBody>
      </p:sp>
      <p:sp>
        <p:nvSpPr>
          <p:cNvPr id="7" name="Rectangle 6"/>
          <p:cNvSpPr/>
          <p:nvPr/>
        </p:nvSpPr>
        <p:spPr>
          <a:xfrm>
            <a:off x="1143000" y="3381375"/>
            <a:ext cx="9906000" cy="38100"/>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334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0분</a:t>
            </a:r>
          </a:p>
        </p:txBody>
      </p:sp>
      <p:sp>
        <p:nvSpPr>
          <p:cNvPr id="9" name="Oval 8"/>
          <p:cNvSpPr/>
          <p:nvPr/>
        </p:nvSpPr>
        <p:spPr>
          <a:xfrm>
            <a:off x="1133475" y="3238500"/>
            <a:ext cx="323850" cy="3238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43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메일 데모</a:t>
            </a:r>
          </a:p>
        </p:txBody>
      </p:sp>
      <p:sp>
        <p:nvSpPr>
          <p:cNvPr id="11" name="TextBox 10"/>
          <p:cNvSpPr txBox="1"/>
          <p:nvPr/>
        </p:nvSpPr>
        <p:spPr>
          <a:xfrm>
            <a:off x="5143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강사 시연</a:t>
            </a:r>
          </a:p>
        </p:txBody>
      </p:sp>
      <p:sp>
        <p:nvSpPr>
          <p:cNvPr id="12" name="TextBox 11"/>
          <p:cNvSpPr txBox="1"/>
          <p:nvPr/>
        </p:nvSpPr>
        <p:spPr>
          <a:xfrm>
            <a:off x="21336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25분</a:t>
            </a:r>
          </a:p>
        </p:txBody>
      </p:sp>
      <p:sp>
        <p:nvSpPr>
          <p:cNvPr id="13" name="Oval 12"/>
          <p:cNvSpPr/>
          <p:nvPr/>
        </p:nvSpPr>
        <p:spPr>
          <a:xfrm>
            <a:off x="2733675" y="3238500"/>
            <a:ext cx="323850" cy="32385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1145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AI 공통</a:t>
            </a:r>
            <a:br/>
            <a:r>
              <a:rPr sz="2100" b="1" spc="-42" lang="ko-KR" altLang="en-US">
                <a:solidFill>
                  <a:srgbClr val="202921"/>
                </a:solidFill>
                <a:latin typeface="Noto Sans KR"/>
                <a:ea typeface="Noto Sans KR"/>
                <a:cs typeface="Noto Sans KR"/>
              </a:rPr>
              <a:t>원리</a:t>
            </a:r>
          </a:p>
        </p:txBody>
      </p:sp>
      <p:sp>
        <p:nvSpPr>
          <p:cNvPr id="15" name="TextBox 14"/>
          <p:cNvSpPr txBox="1"/>
          <p:nvPr/>
        </p:nvSpPr>
        <p:spPr>
          <a:xfrm>
            <a:off x="21145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도구 공통</a:t>
            </a:r>
          </a:p>
        </p:txBody>
      </p:sp>
      <p:sp>
        <p:nvSpPr>
          <p:cNvPr id="16" name="TextBox 15"/>
          <p:cNvSpPr txBox="1"/>
          <p:nvPr/>
        </p:nvSpPr>
        <p:spPr>
          <a:xfrm>
            <a:off x="37338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33분</a:t>
            </a:r>
          </a:p>
        </p:txBody>
      </p:sp>
      <p:sp>
        <p:nvSpPr>
          <p:cNvPr id="17" name="Oval 16"/>
          <p:cNvSpPr/>
          <p:nvPr/>
        </p:nvSpPr>
        <p:spPr>
          <a:xfrm>
            <a:off x="4333875" y="3238500"/>
            <a:ext cx="323850" cy="3238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7147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논문 5편</a:t>
            </a:r>
          </a:p>
        </p:txBody>
      </p:sp>
      <p:sp>
        <p:nvSpPr>
          <p:cNvPr id="19" name="TextBox 18"/>
          <p:cNvSpPr txBox="1"/>
          <p:nvPr/>
        </p:nvSpPr>
        <p:spPr>
          <a:xfrm>
            <a:off x="37147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Gemini</a:t>
            </a:r>
            <a:br/>
            <a:r>
              <a:rPr sz="1800" b="1" spc="-36" lang="ko-KR" altLang="en-US">
                <a:solidFill>
                  <a:srgbClr val="586356"/>
                </a:solidFill>
                <a:latin typeface="Noto Sans KR"/>
                <a:ea typeface="Noto Sans KR"/>
                <a:cs typeface="Noto Sans KR"/>
              </a:rPr>
              <a:t>Notebook</a:t>
            </a:r>
          </a:p>
        </p:txBody>
      </p:sp>
      <p:sp>
        <p:nvSpPr>
          <p:cNvPr id="20" name="TextBox 19"/>
          <p:cNvSpPr txBox="1"/>
          <p:nvPr/>
        </p:nvSpPr>
        <p:spPr>
          <a:xfrm>
            <a:off x="53340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70분</a:t>
            </a:r>
          </a:p>
        </p:txBody>
      </p:sp>
      <p:sp>
        <p:nvSpPr>
          <p:cNvPr id="21" name="Oval 20"/>
          <p:cNvSpPr/>
          <p:nvPr/>
        </p:nvSpPr>
        <p:spPr>
          <a:xfrm>
            <a:off x="5934075" y="3238500"/>
            <a:ext cx="323850" cy="3238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3149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강의평가</a:t>
            </a:r>
            <a:br/>
            <a:r>
              <a:rPr sz="2100" b="1" spc="-42" lang="ko-KR" altLang="en-US">
                <a:solidFill>
                  <a:srgbClr val="202921"/>
                </a:solidFill>
                <a:latin typeface="Noto Sans KR"/>
                <a:ea typeface="Noto Sans KR"/>
                <a:cs typeface="Noto Sans KR"/>
              </a:rPr>
              <a:t>180개</a:t>
            </a:r>
          </a:p>
        </p:txBody>
      </p:sp>
      <p:sp>
        <p:nvSpPr>
          <p:cNvPr id="23" name="TextBox 22"/>
          <p:cNvSpPr txBox="1"/>
          <p:nvPr/>
        </p:nvSpPr>
        <p:spPr>
          <a:xfrm>
            <a:off x="53149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Claude</a:t>
            </a:r>
          </a:p>
        </p:txBody>
      </p:sp>
      <p:sp>
        <p:nvSpPr>
          <p:cNvPr id="24" name="TextBox 23"/>
          <p:cNvSpPr txBox="1"/>
          <p:nvPr/>
        </p:nvSpPr>
        <p:spPr>
          <a:xfrm>
            <a:off x="69342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115분</a:t>
            </a:r>
          </a:p>
        </p:txBody>
      </p:sp>
      <p:sp>
        <p:nvSpPr>
          <p:cNvPr id="25" name="Oval 24"/>
          <p:cNvSpPr/>
          <p:nvPr/>
        </p:nvSpPr>
        <p:spPr>
          <a:xfrm>
            <a:off x="7534275" y="3238500"/>
            <a:ext cx="323850" cy="3238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151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계획서·학칙</a:t>
            </a:r>
          </a:p>
        </p:txBody>
      </p:sp>
      <p:sp>
        <p:nvSpPr>
          <p:cNvPr id="27" name="TextBox 26"/>
          <p:cNvSpPr txBox="1"/>
          <p:nvPr/>
        </p:nvSpPr>
        <p:spPr>
          <a:xfrm>
            <a:off x="69151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Gemini</a:t>
            </a:r>
          </a:p>
        </p:txBody>
      </p:sp>
      <p:sp>
        <p:nvSpPr>
          <p:cNvPr id="28" name="TextBox 27"/>
          <p:cNvSpPr txBox="1"/>
          <p:nvPr/>
        </p:nvSpPr>
        <p:spPr>
          <a:xfrm>
            <a:off x="85344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150분</a:t>
            </a:r>
          </a:p>
        </p:txBody>
      </p:sp>
      <p:sp>
        <p:nvSpPr>
          <p:cNvPr id="29" name="Oval 28"/>
          <p:cNvSpPr/>
          <p:nvPr/>
        </p:nvSpPr>
        <p:spPr>
          <a:xfrm>
            <a:off x="9134475" y="3238500"/>
            <a:ext cx="323850" cy="32385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153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의심 과제</a:t>
            </a:r>
            <a:br/>
            <a:r>
              <a:rPr sz="2100" b="1" spc="-42" lang="ko-KR" altLang="en-US">
                <a:solidFill>
                  <a:srgbClr val="202921"/>
                </a:solidFill>
                <a:latin typeface="Noto Sans KR"/>
                <a:ea typeface="Noto Sans KR"/>
                <a:cs typeface="Noto Sans KR"/>
              </a:rPr>
              <a:t>검토</a:t>
            </a:r>
          </a:p>
        </p:txBody>
      </p:sp>
      <p:sp>
        <p:nvSpPr>
          <p:cNvPr id="31" name="TextBox 30"/>
          <p:cNvSpPr txBox="1"/>
          <p:nvPr/>
        </p:nvSpPr>
        <p:spPr>
          <a:xfrm>
            <a:off x="85153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Gemini</a:t>
            </a:r>
            <a:br/>
            <a:r>
              <a:rPr sz="1800" b="1" spc="-36" lang="ko-KR" altLang="en-US">
                <a:solidFill>
                  <a:srgbClr val="586356"/>
                </a:solidFill>
                <a:latin typeface="Noto Sans KR"/>
                <a:ea typeface="Noto Sans KR"/>
                <a:cs typeface="Noto Sans KR"/>
              </a:rPr>
              <a:t>Claude</a:t>
            </a:r>
          </a:p>
        </p:txBody>
      </p:sp>
      <p:sp>
        <p:nvSpPr>
          <p:cNvPr id="32" name="TextBox 31"/>
          <p:cNvSpPr txBox="1"/>
          <p:nvPr/>
        </p:nvSpPr>
        <p:spPr>
          <a:xfrm>
            <a:off x="10134600" y="2781300"/>
            <a:ext cx="1524000" cy="381000"/>
          </a:xfrm>
          <a:prstGeom prst="rect">
            <a:avLst/>
          </a:prstGeom>
          <a:noFill/>
        </p:spPr>
        <p:txBody>
          <a:bodyPr wrap="square" lIns="0" tIns="0" rIns="0" bIns="0" anchor="t"/>
          <a:lstStyle/>
          <a:p>
            <a:pPr algn="ctr" latinLnBrk="0" eaLnBrk="1">
              <a:lnSpc>
                <a:spcPct val="100000"/>
              </a:lnSpc>
            </a:pPr>
            <a:r>
              <a:rPr sz="1950" b="1" spc="-39" lang="ko-KR" altLang="en-US">
                <a:solidFill>
                  <a:srgbClr val="586356"/>
                </a:solidFill>
                <a:latin typeface="Noto Sans KR"/>
                <a:ea typeface="Noto Sans KR"/>
                <a:cs typeface="Noto Sans KR"/>
              </a:rPr>
              <a:t>170분</a:t>
            </a:r>
          </a:p>
        </p:txBody>
      </p:sp>
      <p:sp>
        <p:nvSpPr>
          <p:cNvPr id="33" name="Oval 32"/>
          <p:cNvSpPr/>
          <p:nvPr/>
        </p:nvSpPr>
        <p:spPr>
          <a:xfrm>
            <a:off x="10734675" y="3238500"/>
            <a:ext cx="323850" cy="3238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15550" y="3733800"/>
            <a:ext cx="1562100" cy="857250"/>
          </a:xfrm>
          <a:prstGeom prst="rect">
            <a:avLst/>
          </a:prstGeom>
          <a:noFill/>
        </p:spPr>
        <p:txBody>
          <a:bodyPr wrap="square" lIns="0" tIns="0" rIns="0" bIns="0" anchor="t"/>
          <a:lstStyle/>
          <a:p>
            <a:pPr algn="ctr" latinLnBrk="0" eaLnBrk="1">
              <a:lnSpc>
                <a:spcPct val="120000"/>
              </a:lnSpc>
            </a:pPr>
            <a:r>
              <a:rPr sz="2100" b="1" spc="-42" lang="ko-KR" altLang="en-US">
                <a:solidFill>
                  <a:srgbClr val="202921"/>
                </a:solidFill>
                <a:latin typeface="Noto Sans KR"/>
                <a:ea typeface="Noto Sans KR"/>
                <a:cs typeface="Noto Sans KR"/>
              </a:rPr>
              <a:t>내일</a:t>
            </a:r>
            <a:br/>
            <a:r>
              <a:rPr sz="2100" b="1" spc="-42" lang="ko-KR" altLang="en-US">
                <a:solidFill>
                  <a:srgbClr val="202921"/>
                </a:solidFill>
                <a:latin typeface="Noto Sans KR"/>
                <a:ea typeface="Noto Sans KR"/>
                <a:cs typeface="Noto Sans KR"/>
              </a:rPr>
              <a:t>할 일 하나</a:t>
            </a:r>
          </a:p>
        </p:txBody>
      </p:sp>
      <p:sp>
        <p:nvSpPr>
          <p:cNvPr id="35" name="TextBox 34"/>
          <p:cNvSpPr txBox="1"/>
          <p:nvPr/>
        </p:nvSpPr>
        <p:spPr>
          <a:xfrm>
            <a:off x="10115550" y="4648200"/>
            <a:ext cx="1562100" cy="666750"/>
          </a:xfrm>
          <a:prstGeom prst="rect">
            <a:avLst/>
          </a:prstGeom>
          <a:noFill/>
        </p:spPr>
        <p:txBody>
          <a:bodyPr wrap="square" lIns="0" tIns="0" rIns="0" bIns="0" anchor="t"/>
          <a:lstStyle/>
          <a:p>
            <a:pPr algn="ctr" latinLnBrk="0" eaLnBrk="1">
              <a:lnSpc>
                <a:spcPct val="115000"/>
              </a:lnSpc>
            </a:pPr>
            <a:r>
              <a:rPr sz="1800" b="1" spc="-36" lang="ko-KR" altLang="en-US">
                <a:solidFill>
                  <a:srgbClr val="586356"/>
                </a:solidFill>
                <a:latin typeface="Noto Sans KR"/>
                <a:ea typeface="Noto Sans KR"/>
                <a:cs typeface="Noto Sans KR"/>
              </a:rPr>
              <a:t>아무 도구</a:t>
            </a:r>
          </a:p>
        </p:txBody>
      </p:sp>
      <p:sp>
        <p:nvSpPr>
          <p:cNvPr id="36" name="Rounded Rectangle 35"/>
          <p:cNvSpPr/>
          <p:nvPr/>
        </p:nvSpPr>
        <p:spPr>
          <a:xfrm>
            <a:off x="5810250" y="2266950"/>
            <a:ext cx="2286000" cy="409575"/>
          </a:xfrm>
          <a:prstGeom prst="roundRect">
            <a:avLst>
              <a:gd name="adj" fmla="val 9302"/>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981700" y="2266950"/>
            <a:ext cx="2038350"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105분 · 휴식 10분</a:t>
            </a:r>
          </a:p>
        </p:txBody>
      </p:sp>
      <p:pic>
        <p:nvPicPr>
          <p:cNvPr id="38" name="Picture 37" descr="qr_202921_FFFDF7.png"/>
          <p:cNvPicPr>
            <a:picLocks noChangeAspect="1"/>
          </p:cNvPicPr>
          <p:nvPr/>
        </p:nvPicPr>
        <p:blipFill>
          <a:blip r:embed="rId4"/>
          <a:stretch>
            <a:fillRect/>
          </a:stretch>
        </p:blipFill>
        <p:spPr>
          <a:xfrm>
            <a:off x="10591800" y="5467350"/>
            <a:ext cx="914400" cy="914400"/>
          </a:xfrm>
          <a:prstGeom prst="rect">
            <a:avLst/>
          </a:prstGeom>
        </p:spPr>
      </p:pic>
      <p:sp>
        <p:nvSpPr>
          <p:cNvPr id="39" name="Rounded Rectangle 38"/>
          <p:cNvSpPr/>
          <p:nvPr/>
        </p:nvSpPr>
        <p:spPr>
          <a:xfrm>
            <a:off x="685800" y="5619750"/>
            <a:ext cx="9677400" cy="609600"/>
          </a:xfrm>
          <a:prstGeom prst="roundRect">
            <a:avLst>
              <a:gd name="adj" fmla="val 6250"/>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52500" y="5619750"/>
            <a:ext cx="9144000" cy="609600"/>
          </a:xfrm>
          <a:prstGeom prst="rect">
            <a:avLst/>
          </a:prstGeom>
          <a:noFill/>
        </p:spPr>
        <p:txBody>
          <a:bodyPr wrap="square" lIns="0" tIns="0" rIns="0" bIns="0" anchor="ctr"/>
          <a:lstStyle/>
          <a:p>
            <a:pPr algn="l" latinLnBrk="0" eaLnBrk="1">
              <a:lnSpc>
                <a:spcPct val="100000"/>
              </a:lnSpc>
            </a:pPr>
            <a:r>
              <a:rPr sz="1950" b="0" spc="-39" lang="ko-KR" altLang="en-US">
                <a:solidFill>
                  <a:srgbClr val="586356"/>
                </a:solidFill>
                <a:latin typeface="Noto Sans KR"/>
                <a:ea typeface="Noto Sans KR"/>
                <a:cs typeface="Noto Sans KR"/>
              </a:rPr>
              <a:t>자료와 복사할 질문은 모두 강의 사이트에 있습니다. QR로 여세요.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라이브 데모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09</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라이브 데모 · 강사 시연</a:t>
            </a:r>
          </a:p>
        </p:txBody>
      </p:sp>
      <p:sp>
        <p:nvSpPr>
          <p:cNvPr id="7" name="Rounded Rectangle 6"/>
          <p:cNvSpPr/>
          <p:nvPr/>
        </p:nvSpPr>
        <p:spPr>
          <a:xfrm>
            <a:off x="8113776" y="219075"/>
            <a:ext cx="3390900"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66176" y="357188"/>
            <a:ext cx="133350" cy="13335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94776" y="219075"/>
            <a:ext cx="2933700"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10분 · Claude 또는 Gemini</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지금 제가 메일 40통을 직접 분류해 보겠습니다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EA5936"/>
                </a:solidFill>
                <a:latin typeface="Noto Sans KR"/>
                <a:ea typeface="Noto Sans KR"/>
                <a:cs typeface="Noto Sans KR"/>
              </a:rPr>
              <a:t>① </a:t>
            </a:r>
            <a:r>
              <a:rPr sz="2025" b="0" spc="-40" lang="ko-KR" altLang="en-US">
                <a:solidFill>
                  <a:srgbClr val="202921"/>
                </a:solidFill>
                <a:latin typeface="Noto Sans KR"/>
                <a:ea typeface="Noto Sans KR"/>
                <a:cs typeface="Noto Sans KR"/>
              </a:rPr>
              <a:t>메일 파일 한 개 올리기</a:t>
            </a:r>
            <a:r>
              <a:rPr sz="2025" b="1" spc="-40" lang="ko-KR" altLang="en-US">
                <a:solidFill>
                  <a:srgbClr val="EA5936"/>
                </a:solidFill>
                <a:latin typeface="Noto Sans KR"/>
                <a:ea typeface="Noto Sans KR"/>
                <a:cs typeface="Noto Sans KR"/>
              </a:rPr>
              <a:t>   →   </a:t>
            </a:r>
            <a:r>
              <a:rPr sz="2025" b="1" spc="-40" lang="ko-KR" altLang="en-US">
                <a:solidFill>
                  <a:srgbClr val="EA5936"/>
                </a:solidFill>
                <a:latin typeface="Noto Sans KR"/>
                <a:ea typeface="Noto Sans KR"/>
                <a:cs typeface="Noto Sans KR"/>
              </a:rPr>
              <a:t>② </a:t>
            </a:r>
            <a:r>
              <a:rPr sz="2025" b="0" spc="-40" lang="ko-KR" altLang="en-US">
                <a:solidFill>
                  <a:srgbClr val="202921"/>
                </a:solidFill>
                <a:latin typeface="Noto Sans KR"/>
                <a:ea typeface="Noto Sans KR"/>
                <a:cs typeface="Noto Sans KR"/>
              </a:rPr>
              <a:t>네 줄 질문 붙여 넣기</a:t>
            </a:r>
            <a:r>
              <a:rPr sz="2025" b="1" spc="-40" lang="ko-KR" altLang="en-US">
                <a:solidFill>
                  <a:srgbClr val="EA5936"/>
                </a:solidFill>
                <a:latin typeface="Noto Sans KR"/>
                <a:ea typeface="Noto Sans KR"/>
                <a:cs typeface="Noto Sans KR"/>
              </a:rPr>
              <a:t>   →   </a:t>
            </a:r>
            <a:r>
              <a:rPr sz="2025" b="1" spc="-40" lang="ko-KR" altLang="en-US">
                <a:solidFill>
                  <a:srgbClr val="EA5936"/>
                </a:solidFill>
                <a:latin typeface="Noto Sans KR"/>
                <a:ea typeface="Noto Sans KR"/>
                <a:cs typeface="Noto Sans KR"/>
              </a:rPr>
              <a:t>③ </a:t>
            </a:r>
            <a:r>
              <a:rPr sz="2025" b="0" spc="-40" lang="ko-KR" altLang="en-US">
                <a:solidFill>
                  <a:srgbClr val="202921"/>
                </a:solidFill>
                <a:latin typeface="Noto Sans KR"/>
                <a:ea typeface="Noto Sans KR"/>
                <a:cs typeface="Noto Sans KR"/>
              </a:rPr>
              <a:t>유형별 개수 더하기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메일 정리를 돕는 조교</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첨부한 메일 40통만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유형별 표 하나, 중복·날짜 오류는 따로</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없는 사실, 학칙 판단, 개인정보 옮기기</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000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유형</a:t>
            </a:r>
          </a:p>
        </p:txBody>
      </p:sp>
      <p:sp>
        <p:nvSpPr>
          <p:cNvPr id="19" name="TextBox 18"/>
          <p:cNvSpPr txBox="1"/>
          <p:nvPr/>
        </p:nvSpPr>
        <p:spPr>
          <a:xfrm>
            <a:off x="10229850" y="2895600"/>
            <a:ext cx="10096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개수</a:t>
            </a:r>
          </a:p>
        </p:txBody>
      </p:sp>
      <p:sp>
        <p:nvSpPr>
          <p:cNvPr id="20" name="Rectangle 19"/>
          <p:cNvSpPr/>
          <p:nvPr/>
        </p:nvSpPr>
        <p:spPr>
          <a:xfrm>
            <a:off x="6438900" y="36814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34150" y="329565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출석·공결</a:t>
            </a:r>
          </a:p>
        </p:txBody>
      </p:sp>
      <p:sp>
        <p:nvSpPr>
          <p:cNvPr id="22" name="TextBox 21"/>
          <p:cNvSpPr txBox="1"/>
          <p:nvPr/>
        </p:nvSpPr>
        <p:spPr>
          <a:xfrm>
            <a:off x="10229850" y="329565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9</a:t>
            </a:r>
          </a:p>
        </p:txBody>
      </p:sp>
      <p:sp>
        <p:nvSpPr>
          <p:cNvPr id="23" name="Rectangle 22"/>
          <p:cNvSpPr/>
          <p:nvPr/>
        </p:nvSpPr>
        <p:spPr>
          <a:xfrm>
            <a:off x="6438900" y="40814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34150" y="369570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과제 연장·제출</a:t>
            </a:r>
          </a:p>
        </p:txBody>
      </p:sp>
      <p:sp>
        <p:nvSpPr>
          <p:cNvPr id="25" name="TextBox 24"/>
          <p:cNvSpPr txBox="1"/>
          <p:nvPr/>
        </p:nvSpPr>
        <p:spPr>
          <a:xfrm>
            <a:off x="10229850" y="369570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8</a:t>
            </a:r>
          </a:p>
        </p:txBody>
      </p:sp>
      <p:sp>
        <p:nvSpPr>
          <p:cNvPr id="26" name="Rectangle 25"/>
          <p:cNvSpPr/>
          <p:nvPr/>
        </p:nvSpPr>
        <p:spPr>
          <a:xfrm>
            <a:off x="6438900" y="4481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34150" y="409575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성적·시험</a:t>
            </a:r>
          </a:p>
        </p:txBody>
      </p:sp>
      <p:sp>
        <p:nvSpPr>
          <p:cNvPr id="28" name="TextBox 27"/>
          <p:cNvSpPr txBox="1"/>
          <p:nvPr/>
        </p:nvSpPr>
        <p:spPr>
          <a:xfrm>
            <a:off x="10229850" y="409575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6</a:t>
            </a:r>
          </a:p>
        </p:txBody>
      </p:sp>
      <p:sp>
        <p:nvSpPr>
          <p:cNvPr id="29" name="Rectangle 28"/>
          <p:cNvSpPr/>
          <p:nvPr/>
        </p:nvSpPr>
        <p:spPr>
          <a:xfrm>
            <a:off x="6438900" y="48815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34150" y="449580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나머지 5유형</a:t>
            </a:r>
          </a:p>
        </p:txBody>
      </p:sp>
      <p:sp>
        <p:nvSpPr>
          <p:cNvPr id="31" name="TextBox 30"/>
          <p:cNvSpPr txBox="1"/>
          <p:nvPr/>
        </p:nvSpPr>
        <p:spPr>
          <a:xfrm>
            <a:off x="10229850" y="449580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17</a:t>
            </a:r>
          </a:p>
        </p:txBody>
      </p:sp>
      <p:sp>
        <p:nvSpPr>
          <p:cNvPr id="32" name="Rectangle 31"/>
          <p:cNvSpPr/>
          <p:nvPr/>
        </p:nvSpPr>
        <p:spPr>
          <a:xfrm>
            <a:off x="6438900" y="5281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4150" y="4895850"/>
            <a:ext cx="3562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합계</a:t>
            </a:r>
          </a:p>
        </p:txBody>
      </p:sp>
      <p:sp>
        <p:nvSpPr>
          <p:cNvPr id="34" name="TextBox 33"/>
          <p:cNvSpPr txBox="1"/>
          <p:nvPr/>
        </p:nvSpPr>
        <p:spPr>
          <a:xfrm>
            <a:off x="10229850" y="4895850"/>
            <a:ext cx="10096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40?</a:t>
            </a:r>
          </a:p>
        </p:txBody>
      </p:sp>
      <p:sp>
        <p:nvSpPr>
          <p:cNvPr id="35" name="Rounded Rectangle 34"/>
          <p:cNvSpPr/>
          <p:nvPr/>
        </p:nvSpPr>
        <p:spPr>
          <a:xfrm>
            <a:off x="10153650" y="4924425"/>
            <a:ext cx="1104900" cy="342900"/>
          </a:xfrm>
          <a:prstGeom prst="roundRect">
            <a:avLst>
              <a:gd name="adj" fmla="val 11111"/>
            </a:avLst>
          </a:prstGeom>
          <a:noFill/>
          <a:ln w="33337">
            <a:solidFill>
              <a:srgbClr val="EA59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EA5936"/>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유형별 개수를 더하면 40인가?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라이브 데모 · 실제 화면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10</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라이브 데모 · 실제 화면 · Claude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Claude가 메일 40통을 한 표로 정리했습니다</a:t>
            </a:r>
          </a:p>
        </p:txBody>
      </p:sp>
      <p:pic>
        <p:nvPicPr>
          <p:cNvPr id="7" name="Picture 6" descr="mail-table.png"/>
          <p:cNvPicPr>
            <a:picLocks noChangeAspect="1"/>
          </p:cNvPicPr>
          <p:nvPr/>
        </p:nvPicPr>
        <p:blipFill>
          <a:blip r:embed="rId4"/>
          <a:stretch>
            <a:fillRect/>
          </a:stretch>
        </p:blipFill>
        <p:spPr>
          <a:xfrm>
            <a:off x="1066800" y="1619250"/>
            <a:ext cx="4800600" cy="4000500"/>
          </a:xfrm>
          <a:prstGeom prst="rect">
            <a:avLst/>
          </a:prstGeom>
          <a:ln w="9525">
            <a:solidFill>
              <a:srgbClr val="C9CCC0"/>
            </a:solidFill>
          </a:ln>
        </p:spPr>
      </p:pic>
      <p:pic>
        <p:nvPicPr>
          <p:cNvPr id="8" name="Picture 7" descr="mail-counts.png"/>
          <p:cNvPicPr>
            <a:picLocks noChangeAspect="1"/>
          </p:cNvPicPr>
          <p:nvPr/>
        </p:nvPicPr>
        <p:blipFill>
          <a:blip r:embed="rId5"/>
          <a:stretch>
            <a:fillRect/>
          </a:stretch>
        </p:blipFill>
        <p:spPr>
          <a:xfrm>
            <a:off x="6324600" y="1619250"/>
            <a:ext cx="4800600" cy="4000500"/>
          </a:xfrm>
          <a:prstGeom prst="rect">
            <a:avLst/>
          </a:prstGeom>
          <a:ln w="9525">
            <a:solidFill>
              <a:srgbClr val="C9CCC0"/>
            </a:solidFill>
          </a:ln>
        </p:spPr>
      </p:pic>
      <p:sp>
        <p:nvSpPr>
          <p:cNvPr id="9" name="TextBox 8"/>
          <p:cNvSpPr txBox="1"/>
          <p:nvPr/>
        </p:nvSpPr>
        <p:spPr>
          <a:xfrm>
            <a:off x="685800" y="5772150"/>
            <a:ext cx="10820400" cy="419100"/>
          </a:xfrm>
          <a:prstGeom prst="rect">
            <a:avLst/>
          </a:prstGeom>
          <a:noFill/>
        </p:spPr>
        <p:txBody>
          <a:bodyPr wrap="square" lIns="0" tIns="0" rIns="0" bIns="0" anchor="t"/>
          <a:lstStyle/>
          <a:p>
            <a:pPr algn="l" latinLnBrk="0" eaLnBrk="1">
              <a:lnSpc>
                <a:spcPct val="100000"/>
              </a:lnSpc>
            </a:pPr>
            <a:r>
              <a:rPr sz="1950" b="1" spc="-39" lang="ko-KR" altLang="en-US">
                <a:solidFill>
                  <a:srgbClr val="EA5936"/>
                </a:solidFill>
                <a:latin typeface="Noto Sans KR"/>
                <a:ea typeface="Noto Sans KR"/>
                <a:cs typeface="Noto Sans KR"/>
              </a:rPr>
              <a:t>합계 40</a:t>
            </a:r>
            <a:r>
              <a:rPr sz="1950" b="1" spc="-39" lang="ko-KR" altLang="en-US">
                <a:solidFill>
                  <a:srgbClr val="202921"/>
                </a:solidFill>
                <a:latin typeface="Noto Sans KR"/>
                <a:ea typeface="Noto Sans KR"/>
                <a:cs typeface="Noto Sans KR"/>
              </a:rPr>
              <a:t>  ·  같은 요청 M01·M02, M03·M04  ·  날짜 이상 M05·M26·M28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라이브 데모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11</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시연 결과 · 정답 기준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메일은 40통이지만, 답장할 일은 37건입니다</a:t>
            </a:r>
          </a:p>
        </p:txBody>
      </p:sp>
      <p:sp>
        <p:nvSpPr>
          <p:cNvPr id="7" name="TextBox 6"/>
          <p:cNvSpPr txBox="1"/>
          <p:nvPr/>
        </p:nvSpPr>
        <p:spPr>
          <a:xfrm>
            <a:off x="685800" y="1866900"/>
            <a:ext cx="3048000" cy="1905000"/>
          </a:xfrm>
          <a:prstGeom prst="rect">
            <a:avLst/>
          </a:prstGeom>
          <a:noFill/>
        </p:spPr>
        <p:txBody>
          <a:bodyPr wrap="square" lIns="0" tIns="0" rIns="0" bIns="0" anchor="t"/>
          <a:lstStyle/>
          <a:p>
            <a:pPr algn="l" latinLnBrk="0" eaLnBrk="1">
              <a:lnSpc>
                <a:spcPct val="100000"/>
              </a:lnSpc>
            </a:pPr>
            <a:r>
              <a:rPr sz="12750" b="1" spc="-255" lang="ko-KR" altLang="en-US">
                <a:solidFill>
                  <a:srgbClr val="586356"/>
                </a:solidFill>
                <a:latin typeface="Noto Sans KR"/>
                <a:ea typeface="Noto Sans KR"/>
                <a:cs typeface="Noto Sans KR"/>
              </a:rPr>
              <a:t>40</a:t>
            </a:r>
          </a:p>
        </p:txBody>
      </p:sp>
      <p:sp>
        <p:nvSpPr>
          <p:cNvPr id="8" name="TextBox 7"/>
          <p:cNvSpPr txBox="1"/>
          <p:nvPr/>
        </p:nvSpPr>
        <p:spPr>
          <a:xfrm>
            <a:off x="685800" y="3810000"/>
            <a:ext cx="314325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받은 메일</a:t>
            </a:r>
          </a:p>
        </p:txBody>
      </p:sp>
      <p:sp>
        <p:nvSpPr>
          <p:cNvPr id="9" name="TextBox 8"/>
          <p:cNvSpPr txBox="1"/>
          <p:nvPr/>
        </p:nvSpPr>
        <p:spPr>
          <a:xfrm>
            <a:off x="685800" y="4305300"/>
            <a:ext cx="3143250" cy="762000"/>
          </a:xfrm>
          <a:prstGeom prst="rect">
            <a:avLst/>
          </a:prstGeom>
          <a:noFill/>
        </p:spPr>
        <p:txBody>
          <a:bodyPr wrap="square" lIns="0" tIns="0" rIns="0" bIns="0" anchor="t"/>
          <a:lstStyle/>
          <a:p>
            <a:pPr algn="l" latinLnBrk="0" eaLnBrk="1">
              <a:lnSpc>
                <a:spcPct val="130000"/>
              </a:lnSpc>
            </a:pPr>
          </a:p>
        </p:txBody>
      </p:sp>
      <p:sp>
        <p:nvSpPr>
          <p:cNvPr id="10" name="TextBox 9"/>
          <p:cNvSpPr txBox="1"/>
          <p:nvPr/>
        </p:nvSpPr>
        <p:spPr>
          <a:xfrm>
            <a:off x="3543300" y="2381250"/>
            <a:ext cx="762000" cy="857250"/>
          </a:xfrm>
          <a:prstGeom prst="rect">
            <a:avLst/>
          </a:prstGeom>
          <a:noFill/>
        </p:spPr>
        <p:txBody>
          <a:bodyPr wrap="square" lIns="0" tIns="0" rIns="0" bIns="0" anchor="t"/>
          <a:lstStyle/>
          <a:p>
            <a:pPr algn="l" latinLnBrk="0" eaLnBrk="1">
              <a:lnSpc>
                <a:spcPct val="100000"/>
              </a:lnSpc>
            </a:pPr>
            <a:r>
              <a:rPr sz="4500" b="1" spc="-90" lang="ko-KR" altLang="en-US">
                <a:solidFill>
                  <a:srgbClr val="C9CCC0"/>
                </a:solidFill>
                <a:latin typeface="Noto Sans KR"/>
                <a:ea typeface="Noto Sans KR"/>
                <a:cs typeface="Noto Sans KR"/>
              </a:rPr>
              <a:t>→</a:t>
            </a:r>
          </a:p>
        </p:txBody>
      </p:sp>
      <p:sp>
        <p:nvSpPr>
          <p:cNvPr id="11" name="TextBox 10"/>
          <p:cNvSpPr txBox="1"/>
          <p:nvPr/>
        </p:nvSpPr>
        <p:spPr>
          <a:xfrm>
            <a:off x="4495800" y="1866900"/>
            <a:ext cx="3048000" cy="1905000"/>
          </a:xfrm>
          <a:prstGeom prst="rect">
            <a:avLst/>
          </a:prstGeom>
          <a:noFill/>
        </p:spPr>
        <p:txBody>
          <a:bodyPr wrap="square" lIns="0" tIns="0" rIns="0" bIns="0" anchor="t"/>
          <a:lstStyle/>
          <a:p>
            <a:pPr algn="l" latinLnBrk="0" eaLnBrk="1">
              <a:lnSpc>
                <a:spcPct val="100000"/>
              </a:lnSpc>
            </a:pPr>
            <a:r>
              <a:rPr sz="12750" b="1" spc="-255" lang="ko-KR" altLang="en-US">
                <a:solidFill>
                  <a:srgbClr val="EA5936"/>
                </a:solidFill>
                <a:latin typeface="Noto Sans KR"/>
                <a:ea typeface="Noto Sans KR"/>
                <a:cs typeface="Noto Sans KR"/>
              </a:rPr>
              <a:t>38</a:t>
            </a:r>
          </a:p>
        </p:txBody>
      </p:sp>
      <p:sp>
        <p:nvSpPr>
          <p:cNvPr id="12" name="TextBox 11"/>
          <p:cNvSpPr txBox="1"/>
          <p:nvPr/>
        </p:nvSpPr>
        <p:spPr>
          <a:xfrm>
            <a:off x="4495800" y="3810000"/>
            <a:ext cx="314325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처리할 건</a:t>
            </a:r>
          </a:p>
        </p:txBody>
      </p:sp>
      <p:sp>
        <p:nvSpPr>
          <p:cNvPr id="13" name="TextBox 12"/>
          <p:cNvSpPr txBox="1"/>
          <p:nvPr/>
        </p:nvSpPr>
        <p:spPr>
          <a:xfrm>
            <a:off x="4495800" y="4305300"/>
            <a:ext cx="314325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M02·M04는 재발송</a:t>
            </a:r>
          </a:p>
        </p:txBody>
      </p:sp>
      <p:sp>
        <p:nvSpPr>
          <p:cNvPr id="14" name="TextBox 13"/>
          <p:cNvSpPr txBox="1"/>
          <p:nvPr/>
        </p:nvSpPr>
        <p:spPr>
          <a:xfrm>
            <a:off x="7353300" y="2381250"/>
            <a:ext cx="762000" cy="857250"/>
          </a:xfrm>
          <a:prstGeom prst="rect">
            <a:avLst/>
          </a:prstGeom>
          <a:noFill/>
        </p:spPr>
        <p:txBody>
          <a:bodyPr wrap="square" lIns="0" tIns="0" rIns="0" bIns="0" anchor="t"/>
          <a:lstStyle/>
          <a:p>
            <a:pPr algn="l" latinLnBrk="0" eaLnBrk="1">
              <a:lnSpc>
                <a:spcPct val="100000"/>
              </a:lnSpc>
            </a:pPr>
            <a:r>
              <a:rPr sz="4500" b="1" spc="-90" lang="ko-KR" altLang="en-US">
                <a:solidFill>
                  <a:srgbClr val="C9CCC0"/>
                </a:solidFill>
                <a:latin typeface="Noto Sans KR"/>
                <a:ea typeface="Noto Sans KR"/>
                <a:cs typeface="Noto Sans KR"/>
              </a:rPr>
              <a:t>→</a:t>
            </a:r>
          </a:p>
        </p:txBody>
      </p:sp>
      <p:sp>
        <p:nvSpPr>
          <p:cNvPr id="15" name="TextBox 14"/>
          <p:cNvSpPr txBox="1"/>
          <p:nvPr/>
        </p:nvSpPr>
        <p:spPr>
          <a:xfrm>
            <a:off x="8305800" y="1866900"/>
            <a:ext cx="3048000" cy="1905000"/>
          </a:xfrm>
          <a:prstGeom prst="rect">
            <a:avLst/>
          </a:prstGeom>
          <a:noFill/>
        </p:spPr>
        <p:txBody>
          <a:bodyPr wrap="square" lIns="0" tIns="0" rIns="0" bIns="0" anchor="t"/>
          <a:lstStyle/>
          <a:p>
            <a:pPr algn="l" latinLnBrk="0" eaLnBrk="1">
              <a:lnSpc>
                <a:spcPct val="100000"/>
              </a:lnSpc>
            </a:pPr>
            <a:r>
              <a:rPr sz="12750" b="1" spc="-255" lang="ko-KR" altLang="en-US">
                <a:solidFill>
                  <a:srgbClr val="EA5936"/>
                </a:solidFill>
                <a:latin typeface="Noto Sans KR"/>
                <a:ea typeface="Noto Sans KR"/>
                <a:cs typeface="Noto Sans KR"/>
              </a:rPr>
              <a:t>37</a:t>
            </a:r>
          </a:p>
        </p:txBody>
      </p:sp>
      <p:sp>
        <p:nvSpPr>
          <p:cNvPr id="16" name="TextBox 15"/>
          <p:cNvSpPr txBox="1"/>
          <p:nvPr/>
        </p:nvSpPr>
        <p:spPr>
          <a:xfrm>
            <a:off x="8305800" y="3810000"/>
            <a:ext cx="314325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답장할 건</a:t>
            </a:r>
          </a:p>
        </p:txBody>
      </p:sp>
      <p:sp>
        <p:nvSpPr>
          <p:cNvPr id="17" name="TextBox 16"/>
          <p:cNvSpPr txBox="1"/>
          <p:nvPr/>
        </p:nvSpPr>
        <p:spPr>
          <a:xfrm>
            <a:off x="8305800" y="4305300"/>
            <a:ext cx="3143250" cy="76200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M37은 외부 학회 홍보</a:t>
            </a:r>
          </a:p>
        </p:txBody>
      </p:sp>
      <p:sp>
        <p:nvSpPr>
          <p:cNvPr id="18" name="Rounded Rectangle 17"/>
          <p:cNvSpPr/>
          <p:nvPr/>
        </p:nvSpPr>
        <p:spPr>
          <a:xfrm>
            <a:off x="685800" y="5410200"/>
            <a:ext cx="10820400" cy="685800"/>
          </a:xfrm>
          <a:prstGeom prst="roundRect">
            <a:avLst>
              <a:gd name="adj" fmla="val 5555"/>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2500" y="5410200"/>
            <a:ext cx="10287000" cy="6858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유형별 개수: </a:t>
            </a:r>
            <a:r>
              <a:rPr sz="1950" b="0" spc="-39" lang="ko-KR" altLang="en-US">
                <a:solidFill>
                  <a:srgbClr val="202921"/>
                </a:solidFill>
                <a:latin typeface="Noto Sans KR"/>
                <a:ea typeface="Noto Sans KR"/>
                <a:cs typeface="Noto Sans KR"/>
              </a:rPr>
              <a:t>출석·공결 9 · 과제 8 · 성적 6 · 철회 4 · 면담 4 · 추천서 3 · 수업 3 · 기타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라이브 데모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12</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C8431F"/>
                </a:solidFill>
                <a:latin typeface="Noto Sans KR"/>
                <a:ea typeface="Noto Sans KR"/>
                <a:cs typeface="Noto Sans KR"/>
              </a:rPr>
              <a:t>AI가 여기서 틀렸다 · 재현 예시</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AI는 같은 요청을 두 번 세기도 합니다</a:t>
            </a:r>
          </a:p>
        </p:txBody>
      </p:sp>
      <p:sp>
        <p:nvSpPr>
          <p:cNvPr id="7" name="Rounded Rectangle 6"/>
          <p:cNvSpPr/>
          <p:nvPr/>
        </p:nvSpPr>
        <p:spPr>
          <a:xfrm>
            <a:off x="685800" y="1962150"/>
            <a:ext cx="5295900" cy="2971800"/>
          </a:xfrm>
          <a:prstGeom prst="roundRect">
            <a:avLst>
              <a:gd name="adj" fmla="val 128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답</a:t>
            </a:r>
          </a:p>
        </p:txBody>
      </p:sp>
      <p:sp>
        <p:nvSpPr>
          <p:cNvPr id="9" name="TextBox 8"/>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답장이 필요한 메일: </a:t>
            </a:r>
            <a:r>
              <a:rPr sz="2100" b="1" spc="-42" lang="ko-KR" altLang="en-US">
                <a:solidFill>
                  <a:srgbClr val="202921"/>
                </a:solidFill>
                <a:highlight>
                  <a:srgbClr val="F6CDBE"/>
                </a:highlight>
                <a:latin typeface="Noto Sans KR"/>
                <a:ea typeface="Noto Sans KR"/>
                <a:cs typeface="Noto Sans KR"/>
              </a:rPr>
              <a:t>40통</a:t>
            </a:r>
          </a:p>
          <a:p>
            <a:pPr algn="l" latinLnBrk="0" eaLnBrk="1">
              <a:lnSpc>
                <a:spcPct val="145000"/>
              </a:lnSpc>
            </a:pPr>
            <a:r>
              <a:rPr sz="2100" b="0" spc="-42" lang="ko-KR" altLang="en-US">
                <a:solidFill>
                  <a:srgbClr val="202921"/>
                </a:solidFill>
                <a:latin typeface="Noto Sans KR"/>
                <a:ea typeface="Noto Sans KR"/>
                <a:cs typeface="Noto Sans KR"/>
              </a:rPr>
              <a:t>과제 연장 요청이 두 건 있습니다</a:t>
            </a:r>
            <a:br/>
            <a:r>
              <a:rPr sz="2100" b="0" spc="-42" lang="ko-KR" altLang="en-US">
                <a:solidFill>
                  <a:srgbClr val="202921"/>
                </a:solidFill>
                <a:latin typeface="Noto Sans KR"/>
                <a:ea typeface="Noto Sans KR"/>
                <a:cs typeface="Noto Sans KR"/>
              </a:rPr>
              <a:t>(M01, M02).</a:t>
            </a:r>
          </a:p>
        </p:txBody>
      </p:sp>
      <p:sp>
        <p:nvSpPr>
          <p:cNvPr id="10" name="Rounded Rectangle 9"/>
          <p:cNvSpPr/>
          <p:nvPr/>
        </p:nvSpPr>
        <p:spPr>
          <a:xfrm>
            <a:off x="6210300" y="1962150"/>
            <a:ext cx="5295900" cy="2971800"/>
          </a:xfrm>
          <a:prstGeom prst="roundRect">
            <a:avLst>
              <a:gd name="adj" fmla="val 128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원문 · 01_학생메일_40통.txt</a:t>
            </a:r>
          </a:p>
        </p:txBody>
      </p:sp>
      <p:sp>
        <p:nvSpPr>
          <p:cNvPr id="12" name="TextBox 11"/>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M02는 M01을 </a:t>
            </a:r>
            <a:r>
              <a:rPr sz="2100" b="0" spc="-42" lang="ko-KR" altLang="en-US">
                <a:solidFill>
                  <a:srgbClr val="202921"/>
                </a:solidFill>
                <a:highlight>
                  <a:srgbClr val="DCE3D3"/>
                </a:highlight>
                <a:latin typeface="Noto Sans KR"/>
                <a:ea typeface="Noto Sans KR"/>
                <a:cs typeface="Noto Sans KR"/>
              </a:rPr>
              <a:t>7분 뒤 다시 보낸</a:t>
            </a:r>
            <a:r>
              <a:rPr sz="2100" b="0" spc="-42" lang="ko-KR" altLang="en-US">
                <a:solidFill>
                  <a:srgbClr val="202921"/>
                </a:solidFill>
                <a:latin typeface="Noto Sans KR"/>
                <a:ea typeface="Noto Sans KR"/>
                <a:cs typeface="Noto Sans KR"/>
              </a:rPr>
              <a:t> 메일.</a:t>
            </a:r>
            <a:br/>
            <a:r>
              <a:rPr sz="2100" b="0" spc="-42" lang="ko-KR" altLang="en-US">
                <a:solidFill>
                  <a:srgbClr val="202921"/>
                </a:solidFill>
                <a:latin typeface="Noto Sans KR"/>
                <a:ea typeface="Noto Sans KR"/>
                <a:cs typeface="Noto Sans KR"/>
              </a:rPr>
              <a:t>M04는 M03에 첨부만 더한 메일.</a:t>
            </a:r>
            <a:br/>
            <a:r>
              <a:rPr sz="2100" b="0" spc="-42" lang="ko-KR" altLang="en-US">
                <a:solidFill>
                  <a:srgbClr val="202921"/>
                </a:solidFill>
                <a:latin typeface="Noto Sans KR"/>
                <a:ea typeface="Noto Sans KR"/>
                <a:cs typeface="Noto Sans KR"/>
              </a:rPr>
              <a:t>M37은 </a:t>
            </a:r>
            <a:r>
              <a:rPr sz="2100" b="0" spc="-42" lang="ko-KR" altLang="en-US">
                <a:solidFill>
                  <a:srgbClr val="202921"/>
                </a:solidFill>
                <a:highlight>
                  <a:srgbClr val="DCE3D3"/>
                </a:highlight>
                <a:latin typeface="Noto Sans KR"/>
                <a:ea typeface="Noto Sans KR"/>
                <a:cs typeface="Noto Sans KR"/>
              </a:rPr>
              <a:t>외부 학회 홍보</a:t>
            </a:r>
            <a:r>
              <a:rPr sz="2100" b="0" spc="-42" lang="ko-KR" altLang="en-US">
                <a:solidFill>
                  <a:srgbClr val="202921"/>
                </a:solidFill>
                <a:latin typeface="Noto Sans KR"/>
                <a:ea typeface="Noto Sans KR"/>
                <a:cs typeface="Noto Sans KR"/>
              </a:rPr>
              <a:t>.</a:t>
            </a:r>
          </a:p>
        </p:txBody>
      </p:sp>
      <p:sp>
        <p:nvSpPr>
          <p:cNvPr id="13" name="TextBox 12"/>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C8431F"/>
                </a:solidFill>
                <a:latin typeface="Noto Sans KR"/>
                <a:ea typeface="Noto Sans KR"/>
                <a:cs typeface="Noto Sans KR"/>
              </a:rPr>
              <a:t>→ </a:t>
            </a:r>
            <a:r>
              <a:rPr sz="2400" b="1" spc="-48" lang="ko-KR" altLang="en-US">
                <a:solidFill>
                  <a:srgbClr val="202921"/>
                </a:solidFill>
                <a:latin typeface="Noto Sans KR"/>
                <a:ea typeface="Noto Sans KR"/>
                <a:cs typeface="Noto Sans KR"/>
              </a:rPr>
              <a:t>개수는 AI 말고 메일 번호로 셉니다. 답장할 건은 37건입니다.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도구 지도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13</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도구 지도</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AI는 하나가 아니고, 답의 근거가 저마다 다릅니다</a:t>
            </a:r>
          </a:p>
        </p:txBody>
      </p:sp>
      <p:sp>
        <p:nvSpPr>
          <p:cNvPr id="7" name="Rounded Rectangle 6"/>
          <p:cNvSpPr/>
          <p:nvPr/>
        </p:nvSpPr>
        <p:spPr>
          <a:xfrm>
            <a:off x="685800" y="1866900"/>
            <a:ext cx="3479800" cy="3848100"/>
          </a:xfrm>
          <a:prstGeom prst="roundRect">
            <a:avLst>
              <a:gd name="adj" fmla="val 109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2500" y="2038350"/>
            <a:ext cx="29464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내가 올린 자료</a:t>
            </a:r>
          </a:p>
        </p:txBody>
      </p:sp>
      <p:sp>
        <p:nvSpPr>
          <p:cNvPr id="9" name="TextBox 8"/>
          <p:cNvSpPr txBox="1"/>
          <p:nvPr/>
        </p:nvSpPr>
        <p:spPr>
          <a:xfrm>
            <a:off x="952500" y="2438400"/>
            <a:ext cx="2946400" cy="666750"/>
          </a:xfrm>
          <a:prstGeom prst="rect">
            <a:avLst/>
          </a:prstGeom>
          <a:noFill/>
        </p:spPr>
        <p:txBody>
          <a:bodyPr wrap="square" lIns="0" tIns="0" rIns="0" bIns="0" anchor="t"/>
          <a:lstStyle/>
          <a:p>
            <a:pPr algn="l" latinLnBrk="0" eaLnBrk="1">
              <a:lnSpc>
                <a:spcPct val="125000"/>
              </a:lnSpc>
            </a:pPr>
            <a:r>
              <a:rPr sz="1800" b="0" spc="-36" lang="ko-KR" altLang="en-US">
                <a:solidFill>
                  <a:srgbClr val="586356"/>
                </a:solidFill>
                <a:latin typeface="Noto Sans KR"/>
                <a:ea typeface="Noto Sans KR"/>
                <a:cs typeface="Noto Sans KR"/>
              </a:rPr>
              <a:t>문서 안에서만 답하고</a:t>
            </a:r>
            <a:br/>
            <a:r>
              <a:rPr sz="1800" b="0" spc="-36" lang="ko-KR" altLang="en-US">
                <a:solidFill>
                  <a:srgbClr val="586356"/>
                </a:solidFill>
                <a:latin typeface="Noto Sans KR"/>
                <a:ea typeface="Noto Sans KR"/>
                <a:cs typeface="Noto Sans KR"/>
              </a:rPr>
              <a:t>출처 번호를 붙입니다</a:t>
            </a:r>
          </a:p>
        </p:txBody>
      </p:sp>
      <p:sp>
        <p:nvSpPr>
          <p:cNvPr id="10" name="Rounded Rectangle 9"/>
          <p:cNvSpPr/>
          <p:nvPr/>
        </p:nvSpPr>
        <p:spPr>
          <a:xfrm>
            <a:off x="952500" y="3200400"/>
            <a:ext cx="2495550" cy="476250"/>
          </a:xfrm>
          <a:prstGeom prst="roundRect">
            <a:avLst>
              <a:gd name="adj" fmla="val 8000"/>
            </a:avLst>
          </a:prstGeom>
          <a:solidFill>
            <a:srgbClr val="FFFDF7"/>
          </a:solidFill>
          <a:ln w="27940">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4900" y="33718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33500" y="3200400"/>
            <a:ext cx="2038350"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Gemini Notebook</a:t>
            </a:r>
          </a:p>
        </p:txBody>
      </p:sp>
      <p:sp>
        <p:nvSpPr>
          <p:cNvPr id="13" name="Rounded Rectangle 12"/>
          <p:cNvSpPr/>
          <p:nvPr/>
        </p:nvSpPr>
        <p:spPr>
          <a:xfrm>
            <a:off x="4356100" y="1866900"/>
            <a:ext cx="3479800" cy="3848100"/>
          </a:xfrm>
          <a:prstGeom prst="roundRect">
            <a:avLst>
              <a:gd name="adj" fmla="val 1094"/>
            </a:avLst>
          </a:prstGeom>
          <a:solidFill>
            <a:srgbClr val="EFECE3"/>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22800" y="2038350"/>
            <a:ext cx="29464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AI가 배운 지식</a:t>
            </a:r>
          </a:p>
        </p:txBody>
      </p:sp>
      <p:sp>
        <p:nvSpPr>
          <p:cNvPr id="15" name="TextBox 14"/>
          <p:cNvSpPr txBox="1"/>
          <p:nvPr/>
        </p:nvSpPr>
        <p:spPr>
          <a:xfrm>
            <a:off x="4622800" y="2438400"/>
            <a:ext cx="2946400" cy="666750"/>
          </a:xfrm>
          <a:prstGeom prst="rect">
            <a:avLst/>
          </a:prstGeom>
          <a:noFill/>
        </p:spPr>
        <p:txBody>
          <a:bodyPr wrap="square" lIns="0" tIns="0" rIns="0" bIns="0" anchor="t"/>
          <a:lstStyle/>
          <a:p>
            <a:pPr algn="l" latinLnBrk="0" eaLnBrk="1">
              <a:lnSpc>
                <a:spcPct val="125000"/>
              </a:lnSpc>
            </a:pPr>
            <a:r>
              <a:rPr sz="1800" b="0" spc="-36" lang="ko-KR" altLang="en-US">
                <a:solidFill>
                  <a:srgbClr val="586356"/>
                </a:solidFill>
                <a:latin typeface="Noto Sans KR"/>
                <a:ea typeface="Noto Sans KR"/>
                <a:cs typeface="Noto Sans KR"/>
              </a:rPr>
              <a:t>쓰고 다듬고 나눕니다</a:t>
            </a:r>
          </a:p>
        </p:txBody>
      </p:sp>
      <p:sp>
        <p:nvSpPr>
          <p:cNvPr id="16" name="Rounded Rectangle 15"/>
          <p:cNvSpPr/>
          <p:nvPr/>
        </p:nvSpPr>
        <p:spPr>
          <a:xfrm>
            <a:off x="4622800" y="2857500"/>
            <a:ext cx="1362075" cy="476250"/>
          </a:xfrm>
          <a:prstGeom prst="roundRect">
            <a:avLst>
              <a:gd name="adj" fmla="val 8000"/>
            </a:avLst>
          </a:prstGeom>
          <a:solidFill>
            <a:srgbClr val="FFFDF7"/>
          </a:solidFill>
          <a:ln w="27940">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775200" y="30289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03800" y="2857500"/>
            <a:ext cx="904875"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Claude</a:t>
            </a:r>
          </a:p>
        </p:txBody>
      </p:sp>
      <p:sp>
        <p:nvSpPr>
          <p:cNvPr id="19" name="Rounded Rectangle 18"/>
          <p:cNvSpPr/>
          <p:nvPr/>
        </p:nvSpPr>
        <p:spPr>
          <a:xfrm>
            <a:off x="4622800" y="3429000"/>
            <a:ext cx="1362075" cy="476250"/>
          </a:xfrm>
          <a:prstGeom prst="roundRect">
            <a:avLst>
              <a:gd name="adj" fmla="val 8000"/>
            </a:avLst>
          </a:prstGeom>
          <a:solidFill>
            <a:srgbClr val="FFFDF7"/>
          </a:solidFill>
          <a:ln w="27940">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775200" y="36004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03800" y="3429000"/>
            <a:ext cx="904875"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Gemini</a:t>
            </a:r>
          </a:p>
        </p:txBody>
      </p:sp>
      <p:sp>
        <p:nvSpPr>
          <p:cNvPr id="22" name="Rounded Rectangle 21"/>
          <p:cNvSpPr/>
          <p:nvPr/>
        </p:nvSpPr>
        <p:spPr>
          <a:xfrm>
            <a:off x="4622800" y="4000500"/>
            <a:ext cx="1571625" cy="476250"/>
          </a:xfrm>
          <a:prstGeom prst="roundRect">
            <a:avLst>
              <a:gd name="adj" fmla="val 8000"/>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775200" y="41719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03800" y="4000500"/>
            <a:ext cx="1114425"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ChatGPT</a:t>
            </a:r>
          </a:p>
        </p:txBody>
      </p:sp>
      <p:sp>
        <p:nvSpPr>
          <p:cNvPr id="25" name="Rounded Rectangle 24"/>
          <p:cNvSpPr/>
          <p:nvPr/>
        </p:nvSpPr>
        <p:spPr>
          <a:xfrm>
            <a:off x="4622800" y="4572000"/>
            <a:ext cx="1495425" cy="476250"/>
          </a:xfrm>
          <a:prstGeom prst="roundRect">
            <a:avLst>
              <a:gd name="adj" fmla="val 8000"/>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775200" y="4743450"/>
            <a:ext cx="133350" cy="133350"/>
          </a:xfrm>
          <a:prstGeom prst="ellipse">
            <a:avLst/>
          </a:prstGeom>
          <a:solidFill>
            <a:srgbClr val="586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003800" y="4572000"/>
            <a:ext cx="1038225"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Copilot</a:t>
            </a:r>
          </a:p>
        </p:txBody>
      </p:sp>
      <p:sp>
        <p:nvSpPr>
          <p:cNvPr id="28" name="Rounded Rectangle 27"/>
          <p:cNvSpPr/>
          <p:nvPr/>
        </p:nvSpPr>
        <p:spPr>
          <a:xfrm>
            <a:off x="4622800" y="5143500"/>
            <a:ext cx="1047750" cy="476250"/>
          </a:xfrm>
          <a:prstGeom prst="roundRect">
            <a:avLst>
              <a:gd name="adj" fmla="val 8000"/>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775200" y="53149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03800" y="5143500"/>
            <a:ext cx="590550"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뤼튼</a:t>
            </a:r>
          </a:p>
        </p:txBody>
      </p:sp>
      <p:sp>
        <p:nvSpPr>
          <p:cNvPr id="31" name="Rounded Rectangle 30"/>
          <p:cNvSpPr/>
          <p:nvPr/>
        </p:nvSpPr>
        <p:spPr>
          <a:xfrm>
            <a:off x="8026400" y="1866900"/>
            <a:ext cx="3479800" cy="3848100"/>
          </a:xfrm>
          <a:prstGeom prst="roundRect">
            <a:avLst>
              <a:gd name="adj" fmla="val 109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93100" y="2038350"/>
            <a:ext cx="29464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웹·논문 검색</a:t>
            </a:r>
          </a:p>
        </p:txBody>
      </p:sp>
      <p:sp>
        <p:nvSpPr>
          <p:cNvPr id="33" name="TextBox 32"/>
          <p:cNvSpPr txBox="1"/>
          <p:nvPr/>
        </p:nvSpPr>
        <p:spPr>
          <a:xfrm>
            <a:off x="8293100" y="2438400"/>
            <a:ext cx="2946400" cy="666750"/>
          </a:xfrm>
          <a:prstGeom prst="rect">
            <a:avLst/>
          </a:prstGeom>
          <a:noFill/>
        </p:spPr>
        <p:txBody>
          <a:bodyPr wrap="square" lIns="0" tIns="0" rIns="0" bIns="0" anchor="t"/>
          <a:lstStyle/>
          <a:p>
            <a:pPr algn="l" latinLnBrk="0" eaLnBrk="1">
              <a:lnSpc>
                <a:spcPct val="125000"/>
              </a:lnSpc>
            </a:pPr>
            <a:r>
              <a:rPr sz="1800" b="0" spc="-36" lang="ko-KR" altLang="en-US">
                <a:solidFill>
                  <a:srgbClr val="586356"/>
                </a:solidFill>
                <a:latin typeface="Noto Sans KR"/>
                <a:ea typeface="Noto Sans KR"/>
                <a:cs typeface="Noto Sans KR"/>
              </a:rPr>
              <a:t>바깥 자료를 찾아</a:t>
            </a:r>
            <a:br/>
            <a:r>
              <a:rPr sz="1800" b="0" spc="-36" lang="ko-KR" altLang="en-US">
                <a:solidFill>
                  <a:srgbClr val="586356"/>
                </a:solidFill>
                <a:latin typeface="Noto Sans KR"/>
                <a:ea typeface="Noto Sans KR"/>
                <a:cs typeface="Noto Sans KR"/>
              </a:rPr>
              <a:t>링크와 함께 답합니다</a:t>
            </a:r>
          </a:p>
        </p:txBody>
      </p:sp>
      <p:sp>
        <p:nvSpPr>
          <p:cNvPr id="34" name="Rounded Rectangle 33"/>
          <p:cNvSpPr/>
          <p:nvPr/>
        </p:nvSpPr>
        <p:spPr>
          <a:xfrm>
            <a:off x="8293100" y="3200400"/>
            <a:ext cx="1876425" cy="476250"/>
          </a:xfrm>
          <a:prstGeom prst="roundRect">
            <a:avLst>
              <a:gd name="adj" fmla="val 8000"/>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445500" y="33718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674100" y="3200400"/>
            <a:ext cx="1419225"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Perplexity</a:t>
            </a:r>
          </a:p>
        </p:txBody>
      </p:sp>
      <p:sp>
        <p:nvSpPr>
          <p:cNvPr id="37" name="Rounded Rectangle 36"/>
          <p:cNvSpPr/>
          <p:nvPr/>
        </p:nvSpPr>
        <p:spPr>
          <a:xfrm>
            <a:off x="8293100" y="3810000"/>
            <a:ext cx="1752600" cy="476250"/>
          </a:xfrm>
          <a:prstGeom prst="roundRect">
            <a:avLst>
              <a:gd name="adj" fmla="val 8000"/>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8445500" y="39814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674100" y="3810000"/>
            <a:ext cx="1295400"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Consensus</a:t>
            </a:r>
          </a:p>
        </p:txBody>
      </p:sp>
      <p:sp>
        <p:nvSpPr>
          <p:cNvPr id="40" name="Rounded Rectangle 39"/>
          <p:cNvSpPr/>
          <p:nvPr/>
        </p:nvSpPr>
        <p:spPr>
          <a:xfrm>
            <a:off x="8293100" y="4419600"/>
            <a:ext cx="1362075" cy="476250"/>
          </a:xfrm>
          <a:prstGeom prst="roundRect">
            <a:avLst>
              <a:gd name="adj" fmla="val 8000"/>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445500" y="4591050"/>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674100" y="4419600"/>
            <a:ext cx="904875" cy="47625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Elicit</a:t>
            </a:r>
          </a:p>
        </p:txBody>
      </p:sp>
      <p:sp>
        <p:nvSpPr>
          <p:cNvPr id="43" name="TextBox 42"/>
          <p:cNvSpPr txBox="1"/>
          <p:nvPr/>
        </p:nvSpPr>
        <p:spPr>
          <a:xfrm>
            <a:off x="952500" y="3771900"/>
            <a:ext cx="2857500" cy="32385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(구 NotebookLM)</a:t>
            </a:r>
          </a:p>
        </p:txBody>
      </p:sp>
      <p:sp>
        <p:nvSpPr>
          <p:cNvPr id="44" name="TextBox 43"/>
          <p:cNvSpPr txBox="1"/>
          <p:nvPr/>
        </p:nvSpPr>
        <p:spPr>
          <a:xfrm>
            <a:off x="685800" y="5962650"/>
            <a:ext cx="10820400" cy="3810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굵은 테두리: 오늘 직접 쓰는 도구 · 클로바X는 2026년 4월 서비스 종료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도구 비교 · ¹제품 안내 기준 · 2026년 9월 확인 · 출처는 사이트와 노트</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14</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도구 비교 · 무엇을 근거로 답하나</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도구마다 답의 근거와 약한 곳이 다릅니다</a:t>
            </a:r>
          </a:p>
        </p:txBody>
      </p:sp>
      <p:sp>
        <p:nvSpPr>
          <p:cNvPr id="7" name="Rectangle 6"/>
          <p:cNvSpPr/>
          <p:nvPr/>
        </p:nvSpPr>
        <p:spPr>
          <a:xfrm>
            <a:off x="685800" y="1543050"/>
            <a:ext cx="10820400" cy="4381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9150" y="1543050"/>
            <a:ext cx="2152650" cy="4381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도구</a:t>
            </a:r>
          </a:p>
        </p:txBody>
      </p:sp>
      <p:sp>
        <p:nvSpPr>
          <p:cNvPr id="9" name="TextBox 8"/>
          <p:cNvSpPr txBox="1"/>
          <p:nvPr/>
        </p:nvSpPr>
        <p:spPr>
          <a:xfrm>
            <a:off x="3143250" y="1543050"/>
            <a:ext cx="1409700" cy="4381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답의 근거</a:t>
            </a:r>
          </a:p>
        </p:txBody>
      </p:sp>
      <p:sp>
        <p:nvSpPr>
          <p:cNvPr id="10" name="TextBox 9"/>
          <p:cNvSpPr txBox="1"/>
          <p:nvPr/>
        </p:nvSpPr>
        <p:spPr>
          <a:xfrm>
            <a:off x="4724400" y="1543050"/>
            <a:ext cx="1600200" cy="4381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잘하는 일</a:t>
            </a:r>
          </a:p>
        </p:txBody>
      </p:sp>
      <p:sp>
        <p:nvSpPr>
          <p:cNvPr id="11" name="TextBox 10"/>
          <p:cNvSpPr txBox="1"/>
          <p:nvPr/>
        </p:nvSpPr>
        <p:spPr>
          <a:xfrm>
            <a:off x="6496050" y="1543050"/>
            <a:ext cx="1809750" cy="4381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약한 곳</a:t>
            </a:r>
          </a:p>
        </p:txBody>
      </p:sp>
      <p:sp>
        <p:nvSpPr>
          <p:cNvPr id="12" name="TextBox 11"/>
          <p:cNvSpPr txBox="1"/>
          <p:nvPr/>
        </p:nvSpPr>
        <p:spPr>
          <a:xfrm>
            <a:off x="8477250" y="1543050"/>
            <a:ext cx="1047750" cy="4381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무료</a:t>
            </a:r>
          </a:p>
        </p:txBody>
      </p:sp>
      <p:sp>
        <p:nvSpPr>
          <p:cNvPr id="13" name="TextBox 12"/>
          <p:cNvSpPr txBox="1"/>
          <p:nvPr/>
        </p:nvSpPr>
        <p:spPr>
          <a:xfrm>
            <a:off x="9696450" y="1543050"/>
            <a:ext cx="1771650" cy="4381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학습 설정</a:t>
            </a:r>
          </a:p>
        </p:txBody>
      </p:sp>
      <p:sp>
        <p:nvSpPr>
          <p:cNvPr id="14" name="Rounded Rectangle 13"/>
          <p:cNvSpPr/>
          <p:nvPr/>
        </p:nvSpPr>
        <p:spPr>
          <a:xfrm>
            <a:off x="685800" y="2019300"/>
            <a:ext cx="10820400" cy="609600"/>
          </a:xfrm>
          <a:prstGeom prst="roundRect">
            <a:avLst>
              <a:gd name="adj" fmla="val 625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00100" y="2257425"/>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9650" y="20193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Gemini Notebook</a:t>
            </a:r>
          </a:p>
        </p:txBody>
      </p:sp>
      <p:sp>
        <p:nvSpPr>
          <p:cNvPr id="17" name="TextBox 16"/>
          <p:cNvSpPr txBox="1"/>
          <p:nvPr/>
        </p:nvSpPr>
        <p:spPr>
          <a:xfrm>
            <a:off x="3143250" y="20193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올린 자료만</a:t>
            </a:r>
          </a:p>
        </p:txBody>
      </p:sp>
      <p:sp>
        <p:nvSpPr>
          <p:cNvPr id="18" name="TextBox 17"/>
          <p:cNvSpPr txBox="1"/>
          <p:nvPr/>
        </p:nvSpPr>
        <p:spPr>
          <a:xfrm>
            <a:off x="4724400" y="20193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논문·규정 비교</a:t>
            </a:r>
          </a:p>
        </p:txBody>
      </p:sp>
      <p:sp>
        <p:nvSpPr>
          <p:cNvPr id="19" name="TextBox 18"/>
          <p:cNvSpPr txBox="1"/>
          <p:nvPr/>
        </p:nvSpPr>
        <p:spPr>
          <a:xfrm>
            <a:off x="6496050" y="20193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자료 밖 질문</a:t>
            </a:r>
          </a:p>
        </p:txBody>
      </p:sp>
      <p:sp>
        <p:nvSpPr>
          <p:cNvPr id="20" name="TextBox 19"/>
          <p:cNvSpPr txBox="1"/>
          <p:nvPr/>
        </p:nvSpPr>
        <p:spPr>
          <a:xfrm>
            <a:off x="8477250" y="20193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있음</a:t>
            </a:r>
          </a:p>
        </p:txBody>
      </p:sp>
      <p:sp>
        <p:nvSpPr>
          <p:cNvPr id="21" name="TextBox 20"/>
          <p:cNvSpPr txBox="1"/>
          <p:nvPr/>
        </p:nvSpPr>
        <p:spPr>
          <a:xfrm>
            <a:off x="9696450" y="20193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학습 안 함¹</a:t>
            </a:r>
          </a:p>
        </p:txBody>
      </p:sp>
      <p:sp>
        <p:nvSpPr>
          <p:cNvPr id="22" name="Oval 21"/>
          <p:cNvSpPr/>
          <p:nvPr/>
        </p:nvSpPr>
        <p:spPr>
          <a:xfrm>
            <a:off x="800100" y="2867025"/>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9650" y="26289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Claude</a:t>
            </a:r>
          </a:p>
        </p:txBody>
      </p:sp>
      <p:sp>
        <p:nvSpPr>
          <p:cNvPr id="24" name="TextBox 23"/>
          <p:cNvSpPr txBox="1"/>
          <p:nvPr/>
        </p:nvSpPr>
        <p:spPr>
          <a:xfrm>
            <a:off x="3143250" y="26289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모델 지식</a:t>
            </a:r>
          </a:p>
        </p:txBody>
      </p:sp>
      <p:sp>
        <p:nvSpPr>
          <p:cNvPr id="25" name="TextBox 24"/>
          <p:cNvSpPr txBox="1"/>
          <p:nvPr/>
        </p:nvSpPr>
        <p:spPr>
          <a:xfrm>
            <a:off x="4724400" y="26289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긴 글 정리·초안</a:t>
            </a:r>
          </a:p>
        </p:txBody>
      </p:sp>
      <p:sp>
        <p:nvSpPr>
          <p:cNvPr id="26" name="TextBox 25"/>
          <p:cNvSpPr txBox="1"/>
          <p:nvPr/>
        </p:nvSpPr>
        <p:spPr>
          <a:xfrm>
            <a:off x="6496050" y="26289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올린 자료 밖</a:t>
            </a:r>
            <a:br/>
            <a:r>
              <a:rPr sz="1800" b="0" spc="-36" lang="ko-KR" altLang="en-US">
                <a:solidFill>
                  <a:srgbClr val="586356"/>
                </a:solidFill>
                <a:latin typeface="Noto Sans KR"/>
                <a:ea typeface="Noto Sans KR"/>
                <a:cs typeface="Noto Sans KR"/>
              </a:rPr>
              <a:t>최신 정보</a:t>
            </a:r>
          </a:p>
        </p:txBody>
      </p:sp>
      <p:sp>
        <p:nvSpPr>
          <p:cNvPr id="27" name="TextBox 26"/>
          <p:cNvSpPr txBox="1"/>
          <p:nvPr/>
        </p:nvSpPr>
        <p:spPr>
          <a:xfrm>
            <a:off x="8477250" y="26289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있음</a:t>
            </a:r>
          </a:p>
        </p:txBody>
      </p:sp>
      <p:sp>
        <p:nvSpPr>
          <p:cNvPr id="28" name="TextBox 27"/>
          <p:cNvSpPr txBox="1"/>
          <p:nvPr/>
        </p:nvSpPr>
        <p:spPr>
          <a:xfrm>
            <a:off x="9696450" y="26289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개인: 끌 수 있음</a:t>
            </a:r>
          </a:p>
        </p:txBody>
      </p:sp>
      <p:sp>
        <p:nvSpPr>
          <p:cNvPr id="29" name="Rounded Rectangle 28"/>
          <p:cNvSpPr/>
          <p:nvPr/>
        </p:nvSpPr>
        <p:spPr>
          <a:xfrm>
            <a:off x="685800" y="3238500"/>
            <a:ext cx="10820400" cy="609600"/>
          </a:xfrm>
          <a:prstGeom prst="roundRect">
            <a:avLst>
              <a:gd name="adj" fmla="val 625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00100" y="3476625"/>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09650" y="32385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Gemini</a:t>
            </a:r>
          </a:p>
        </p:txBody>
      </p:sp>
      <p:sp>
        <p:nvSpPr>
          <p:cNvPr id="32" name="TextBox 31"/>
          <p:cNvSpPr txBox="1"/>
          <p:nvPr/>
        </p:nvSpPr>
        <p:spPr>
          <a:xfrm>
            <a:off x="3143250" y="32385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모델+Google</a:t>
            </a:r>
          </a:p>
        </p:txBody>
      </p:sp>
      <p:sp>
        <p:nvSpPr>
          <p:cNvPr id="33" name="TextBox 32"/>
          <p:cNvSpPr txBox="1"/>
          <p:nvPr/>
        </p:nvSpPr>
        <p:spPr>
          <a:xfrm>
            <a:off x="4724400" y="32385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문서·메일 연동</a:t>
            </a:r>
          </a:p>
        </p:txBody>
      </p:sp>
      <p:sp>
        <p:nvSpPr>
          <p:cNvPr id="34" name="TextBox 33"/>
          <p:cNvSpPr txBox="1"/>
          <p:nvPr/>
        </p:nvSpPr>
        <p:spPr>
          <a:xfrm>
            <a:off x="6496050" y="32385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계정마다 다름</a:t>
            </a:r>
          </a:p>
        </p:txBody>
      </p:sp>
      <p:sp>
        <p:nvSpPr>
          <p:cNvPr id="35" name="TextBox 34"/>
          <p:cNvSpPr txBox="1"/>
          <p:nvPr/>
        </p:nvSpPr>
        <p:spPr>
          <a:xfrm>
            <a:off x="8477250" y="32385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있음</a:t>
            </a:r>
          </a:p>
        </p:txBody>
      </p:sp>
      <p:sp>
        <p:nvSpPr>
          <p:cNvPr id="36" name="TextBox 35"/>
          <p:cNvSpPr txBox="1"/>
          <p:nvPr/>
        </p:nvSpPr>
        <p:spPr>
          <a:xfrm>
            <a:off x="9696450" y="32385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설정에서</a:t>
            </a:r>
            <a:br/>
            <a:r>
              <a:rPr sz="1800" b="0" spc="-36" lang="ko-KR" altLang="en-US">
                <a:solidFill>
                  <a:srgbClr val="202921"/>
                </a:solidFill>
                <a:latin typeface="Noto Sans KR"/>
                <a:ea typeface="Noto Sans KR"/>
                <a:cs typeface="Noto Sans KR"/>
              </a:rPr>
              <a:t>직접 확인</a:t>
            </a:r>
          </a:p>
        </p:txBody>
      </p:sp>
      <p:sp>
        <p:nvSpPr>
          <p:cNvPr id="37" name="Oval 36"/>
          <p:cNvSpPr/>
          <p:nvPr/>
        </p:nvSpPr>
        <p:spPr>
          <a:xfrm>
            <a:off x="800100" y="4086225"/>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9650" y="38481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ChatGPT</a:t>
            </a:r>
          </a:p>
        </p:txBody>
      </p:sp>
      <p:sp>
        <p:nvSpPr>
          <p:cNvPr id="39" name="TextBox 38"/>
          <p:cNvSpPr txBox="1"/>
          <p:nvPr/>
        </p:nvSpPr>
        <p:spPr>
          <a:xfrm>
            <a:off x="3143250" y="38481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모델 지식</a:t>
            </a:r>
          </a:p>
        </p:txBody>
      </p:sp>
      <p:sp>
        <p:nvSpPr>
          <p:cNvPr id="40" name="TextBox 39"/>
          <p:cNvSpPr txBox="1"/>
          <p:nvPr/>
        </p:nvSpPr>
        <p:spPr>
          <a:xfrm>
            <a:off x="4724400" y="38481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범용 초안·분석</a:t>
            </a:r>
          </a:p>
        </p:txBody>
      </p:sp>
      <p:sp>
        <p:nvSpPr>
          <p:cNvPr id="41" name="TextBox 40"/>
          <p:cNvSpPr txBox="1"/>
          <p:nvPr/>
        </p:nvSpPr>
        <p:spPr>
          <a:xfrm>
            <a:off x="6496050" y="38481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개인 계정은</a:t>
            </a:r>
            <a:br/>
            <a:r>
              <a:rPr sz="1800" b="0" spc="-36" lang="ko-KR" altLang="en-US">
                <a:solidFill>
                  <a:srgbClr val="586356"/>
                </a:solidFill>
                <a:latin typeface="Noto Sans KR"/>
                <a:ea typeface="Noto Sans KR"/>
                <a:cs typeface="Noto Sans KR"/>
              </a:rPr>
              <a:t>학습 기본 켜짐</a:t>
            </a:r>
          </a:p>
        </p:txBody>
      </p:sp>
      <p:sp>
        <p:nvSpPr>
          <p:cNvPr id="42" name="TextBox 41"/>
          <p:cNvSpPr txBox="1"/>
          <p:nvPr/>
        </p:nvSpPr>
        <p:spPr>
          <a:xfrm>
            <a:off x="8477250" y="38481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있음</a:t>
            </a:r>
          </a:p>
        </p:txBody>
      </p:sp>
      <p:sp>
        <p:nvSpPr>
          <p:cNvPr id="43" name="TextBox 42"/>
          <p:cNvSpPr txBox="1"/>
          <p:nvPr/>
        </p:nvSpPr>
        <p:spPr>
          <a:xfrm>
            <a:off x="9696450" y="38481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기본 켜짐→끄기</a:t>
            </a:r>
          </a:p>
        </p:txBody>
      </p:sp>
      <p:sp>
        <p:nvSpPr>
          <p:cNvPr id="44" name="Rounded Rectangle 43"/>
          <p:cNvSpPr/>
          <p:nvPr/>
        </p:nvSpPr>
        <p:spPr>
          <a:xfrm>
            <a:off x="685800" y="4457700"/>
            <a:ext cx="10820400" cy="609600"/>
          </a:xfrm>
          <a:prstGeom prst="roundRect">
            <a:avLst>
              <a:gd name="adj" fmla="val 625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00100" y="4695825"/>
            <a:ext cx="133350" cy="133350"/>
          </a:xfrm>
          <a:prstGeom prst="ellipse">
            <a:avLst/>
          </a:prstGeom>
          <a:solidFill>
            <a:srgbClr val="586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09650" y="44577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Copilot</a:t>
            </a:r>
          </a:p>
        </p:txBody>
      </p:sp>
      <p:sp>
        <p:nvSpPr>
          <p:cNvPr id="47" name="TextBox 46"/>
          <p:cNvSpPr txBox="1"/>
          <p:nvPr/>
        </p:nvSpPr>
        <p:spPr>
          <a:xfrm>
            <a:off x="3143250" y="44577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모델+M365</a:t>
            </a:r>
          </a:p>
        </p:txBody>
      </p:sp>
      <p:sp>
        <p:nvSpPr>
          <p:cNvPr id="48" name="TextBox 47"/>
          <p:cNvSpPr txBox="1"/>
          <p:nvPr/>
        </p:nvSpPr>
        <p:spPr>
          <a:xfrm>
            <a:off x="4724400" y="44577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Word·메일 안</a:t>
            </a:r>
          </a:p>
        </p:txBody>
      </p:sp>
      <p:sp>
        <p:nvSpPr>
          <p:cNvPr id="49" name="TextBox 48"/>
          <p:cNvSpPr txBox="1"/>
          <p:nvPr/>
        </p:nvSpPr>
        <p:spPr>
          <a:xfrm>
            <a:off x="6496050" y="44577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개인판과 혼동</a:t>
            </a:r>
          </a:p>
        </p:txBody>
      </p:sp>
      <p:sp>
        <p:nvSpPr>
          <p:cNvPr id="50" name="TextBox 49"/>
          <p:cNvSpPr txBox="1"/>
          <p:nvPr/>
        </p:nvSpPr>
        <p:spPr>
          <a:xfrm>
            <a:off x="8477250" y="44577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학교 계정</a:t>
            </a:r>
          </a:p>
        </p:txBody>
      </p:sp>
      <p:sp>
        <p:nvSpPr>
          <p:cNvPr id="51" name="TextBox 50"/>
          <p:cNvSpPr txBox="1"/>
          <p:nvPr/>
        </p:nvSpPr>
        <p:spPr>
          <a:xfrm>
            <a:off x="9696450" y="44577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학교: 학습 안 함</a:t>
            </a:r>
          </a:p>
        </p:txBody>
      </p:sp>
      <p:sp>
        <p:nvSpPr>
          <p:cNvPr id="52" name="Oval 51"/>
          <p:cNvSpPr/>
          <p:nvPr/>
        </p:nvSpPr>
        <p:spPr>
          <a:xfrm>
            <a:off x="800100" y="5305425"/>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09650" y="50673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Perplexity·</a:t>
            </a:r>
            <a:br/>
            <a:r>
              <a:rPr sz="1800" b="1" spc="-36" lang="ko-KR" altLang="en-US">
                <a:solidFill>
                  <a:srgbClr val="202921"/>
                </a:solidFill>
                <a:latin typeface="Noto Sans KR"/>
                <a:ea typeface="Noto Sans KR"/>
                <a:cs typeface="Noto Sans KR"/>
              </a:rPr>
              <a:t>Consensus·Elicit</a:t>
            </a:r>
          </a:p>
        </p:txBody>
      </p:sp>
      <p:sp>
        <p:nvSpPr>
          <p:cNvPr id="54" name="TextBox 53"/>
          <p:cNvSpPr txBox="1"/>
          <p:nvPr/>
        </p:nvSpPr>
        <p:spPr>
          <a:xfrm>
            <a:off x="3143250" y="50673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웹·논문 DB</a:t>
            </a:r>
          </a:p>
        </p:txBody>
      </p:sp>
      <p:sp>
        <p:nvSpPr>
          <p:cNvPr id="55" name="TextBox 54"/>
          <p:cNvSpPr txBox="1"/>
          <p:nvPr/>
        </p:nvSpPr>
        <p:spPr>
          <a:xfrm>
            <a:off x="4724400" y="50673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출처 달린 검색</a:t>
            </a:r>
          </a:p>
        </p:txBody>
      </p:sp>
      <p:sp>
        <p:nvSpPr>
          <p:cNvPr id="56" name="TextBox 55"/>
          <p:cNvSpPr txBox="1"/>
          <p:nvPr/>
        </p:nvSpPr>
        <p:spPr>
          <a:xfrm>
            <a:off x="6496050" y="50673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요약만 믿기</a:t>
            </a:r>
          </a:p>
        </p:txBody>
      </p:sp>
      <p:sp>
        <p:nvSpPr>
          <p:cNvPr id="57" name="TextBox 56"/>
          <p:cNvSpPr txBox="1"/>
          <p:nvPr/>
        </p:nvSpPr>
        <p:spPr>
          <a:xfrm>
            <a:off x="8477250" y="50673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있음</a:t>
            </a:r>
          </a:p>
        </p:txBody>
      </p:sp>
      <p:sp>
        <p:nvSpPr>
          <p:cNvPr id="58" name="TextBox 57"/>
          <p:cNvSpPr txBox="1"/>
          <p:nvPr/>
        </p:nvSpPr>
        <p:spPr>
          <a:xfrm>
            <a:off x="9696450" y="50673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Perplexity: 끄기</a:t>
            </a:r>
          </a:p>
        </p:txBody>
      </p:sp>
      <p:sp>
        <p:nvSpPr>
          <p:cNvPr id="59" name="Rounded Rectangle 58"/>
          <p:cNvSpPr/>
          <p:nvPr/>
        </p:nvSpPr>
        <p:spPr>
          <a:xfrm>
            <a:off x="685800" y="5676900"/>
            <a:ext cx="10820400" cy="609600"/>
          </a:xfrm>
          <a:prstGeom prst="roundRect">
            <a:avLst>
              <a:gd name="adj" fmla="val 625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800100" y="5915025"/>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1009650" y="5676900"/>
            <a:ext cx="1981200" cy="6096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뤼튼</a:t>
            </a:r>
          </a:p>
        </p:txBody>
      </p:sp>
      <p:sp>
        <p:nvSpPr>
          <p:cNvPr id="62" name="TextBox 61"/>
          <p:cNvSpPr txBox="1"/>
          <p:nvPr/>
        </p:nvSpPr>
        <p:spPr>
          <a:xfrm>
            <a:off x="3143250" y="5676900"/>
            <a:ext cx="14097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여러 모델</a:t>
            </a:r>
          </a:p>
        </p:txBody>
      </p:sp>
      <p:sp>
        <p:nvSpPr>
          <p:cNvPr id="63" name="TextBox 62"/>
          <p:cNvSpPr txBox="1"/>
          <p:nvPr/>
        </p:nvSpPr>
        <p:spPr>
          <a:xfrm>
            <a:off x="4724400" y="5676900"/>
            <a:ext cx="160020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한국어 체험</a:t>
            </a:r>
          </a:p>
        </p:txBody>
      </p:sp>
      <p:sp>
        <p:nvSpPr>
          <p:cNvPr id="64" name="TextBox 63"/>
          <p:cNvSpPr txBox="1"/>
          <p:nvPr/>
        </p:nvSpPr>
        <p:spPr>
          <a:xfrm>
            <a:off x="6496050" y="5676900"/>
            <a:ext cx="1809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586356"/>
                </a:solidFill>
                <a:latin typeface="Noto Sans KR"/>
                <a:ea typeface="Noto Sans KR"/>
                <a:cs typeface="Noto Sans KR"/>
              </a:rPr>
              <a:t>모델 불분명</a:t>
            </a:r>
          </a:p>
        </p:txBody>
      </p:sp>
      <p:sp>
        <p:nvSpPr>
          <p:cNvPr id="65" name="TextBox 64"/>
          <p:cNvSpPr txBox="1"/>
          <p:nvPr/>
        </p:nvSpPr>
        <p:spPr>
          <a:xfrm>
            <a:off x="8477250" y="5676900"/>
            <a:ext cx="10477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있음</a:t>
            </a:r>
          </a:p>
        </p:txBody>
      </p:sp>
      <p:sp>
        <p:nvSpPr>
          <p:cNvPr id="66" name="TextBox 65"/>
          <p:cNvSpPr txBox="1"/>
          <p:nvPr/>
        </p:nvSpPr>
        <p:spPr>
          <a:xfrm>
            <a:off x="9696450" y="5676900"/>
            <a:ext cx="1771650" cy="6096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설정에서</a:t>
            </a:r>
            <a:br/>
            <a:r>
              <a:rPr sz="1800" b="0" spc="-36" lang="ko-KR" altLang="en-US">
                <a:solidFill>
                  <a:srgbClr val="202921"/>
                </a:solidFill>
                <a:latin typeface="Noto Sans KR"/>
                <a:ea typeface="Noto Sans KR"/>
                <a:cs typeface="Noto Sans KR"/>
              </a:rPr>
              <a:t>직접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질문 공식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15</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질문 공식</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질문은 네 줄이면 충분합니다: 역할·자료·형태·금지</a:t>
            </a:r>
          </a:p>
        </p:txBody>
      </p:sp>
      <p:sp>
        <p:nvSpPr>
          <p:cNvPr id="7" name="Rounded Rectangle 6"/>
          <p:cNvSpPr/>
          <p:nvPr/>
        </p:nvSpPr>
        <p:spPr>
          <a:xfrm>
            <a:off x="685800" y="2038350"/>
            <a:ext cx="2562225" cy="4000500"/>
          </a:xfrm>
          <a:prstGeom prst="roundRect">
            <a:avLst>
              <a:gd name="adj" fmla="val 148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2038350"/>
            <a:ext cx="2562225" cy="11430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3450"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202921"/>
                </a:solidFill>
                <a:latin typeface="Noto Sans KR"/>
                <a:ea typeface="Noto Sans KR"/>
                <a:cs typeface="Noto Sans KR"/>
              </a:rPr>
              <a:t>역할</a:t>
            </a:r>
          </a:p>
        </p:txBody>
      </p:sp>
      <p:sp>
        <p:nvSpPr>
          <p:cNvPr id="10" name="TextBox 9"/>
          <p:cNvSpPr txBox="1"/>
          <p:nvPr/>
        </p:nvSpPr>
        <p:spPr>
          <a:xfrm>
            <a:off x="933450"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586356"/>
                </a:solidFill>
                <a:latin typeface="Noto Sans KR"/>
                <a:ea typeface="Noto Sans KR"/>
                <a:cs typeface="Noto Sans KR"/>
              </a:rPr>
              <a:t>누구처럼 일할지</a:t>
            </a:r>
          </a:p>
        </p:txBody>
      </p:sp>
      <p:sp>
        <p:nvSpPr>
          <p:cNvPr id="11" name="Rounded Rectangle 10"/>
          <p:cNvSpPr/>
          <p:nvPr/>
        </p:nvSpPr>
        <p:spPr>
          <a:xfrm>
            <a:off x="876300" y="4000500"/>
            <a:ext cx="2181225" cy="1809750"/>
          </a:xfrm>
          <a:prstGeom prst="roundRect">
            <a:avLst>
              <a:gd name="adj" fmla="val 2105"/>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7750"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202921"/>
                </a:solidFill>
                <a:latin typeface="Noto Sans KR"/>
                <a:ea typeface="Noto Sans KR"/>
                <a:cs typeface="Noto Sans KR"/>
              </a:rPr>
              <a:t>너는 교수의 메일 정리를 돕는 조교야.</a:t>
            </a:r>
          </a:p>
        </p:txBody>
      </p:sp>
      <p:sp>
        <p:nvSpPr>
          <p:cNvPr id="13" name="Rounded Rectangle 12"/>
          <p:cNvSpPr/>
          <p:nvPr/>
        </p:nvSpPr>
        <p:spPr>
          <a:xfrm>
            <a:off x="3438525" y="2038350"/>
            <a:ext cx="2562225" cy="4000500"/>
          </a:xfrm>
          <a:prstGeom prst="roundRect">
            <a:avLst>
              <a:gd name="adj" fmla="val 148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438525" y="2038350"/>
            <a:ext cx="2562225" cy="11430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86175"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202921"/>
                </a:solidFill>
                <a:latin typeface="Noto Sans KR"/>
                <a:ea typeface="Noto Sans KR"/>
                <a:cs typeface="Noto Sans KR"/>
              </a:rPr>
              <a:t>자료</a:t>
            </a:r>
          </a:p>
        </p:txBody>
      </p:sp>
      <p:sp>
        <p:nvSpPr>
          <p:cNvPr id="16" name="TextBox 15"/>
          <p:cNvSpPr txBox="1"/>
          <p:nvPr/>
        </p:nvSpPr>
        <p:spPr>
          <a:xfrm>
            <a:off x="3686175"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586356"/>
                </a:solidFill>
                <a:latin typeface="Noto Sans KR"/>
                <a:ea typeface="Noto Sans KR"/>
                <a:cs typeface="Noto Sans KR"/>
              </a:rPr>
              <a:t>무엇만 보고 답할지</a:t>
            </a:r>
          </a:p>
        </p:txBody>
      </p:sp>
      <p:sp>
        <p:nvSpPr>
          <p:cNvPr id="17" name="Rounded Rectangle 16"/>
          <p:cNvSpPr/>
          <p:nvPr/>
        </p:nvSpPr>
        <p:spPr>
          <a:xfrm>
            <a:off x="3629025" y="4000500"/>
            <a:ext cx="2181225" cy="1809750"/>
          </a:xfrm>
          <a:prstGeom prst="roundRect">
            <a:avLst>
              <a:gd name="adj" fmla="val 2105"/>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00475"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202921"/>
                </a:solidFill>
                <a:latin typeface="Noto Sans KR"/>
                <a:ea typeface="Noto Sans KR"/>
                <a:cs typeface="Noto Sans KR"/>
              </a:rPr>
              <a:t>첨부한 메일 40통만 봐.</a:t>
            </a:r>
          </a:p>
        </p:txBody>
      </p:sp>
      <p:sp>
        <p:nvSpPr>
          <p:cNvPr id="19" name="Rounded Rectangle 18"/>
          <p:cNvSpPr/>
          <p:nvPr/>
        </p:nvSpPr>
        <p:spPr>
          <a:xfrm>
            <a:off x="6191250" y="2038350"/>
            <a:ext cx="2562225" cy="4000500"/>
          </a:xfrm>
          <a:prstGeom prst="roundRect">
            <a:avLst>
              <a:gd name="adj" fmla="val 148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91250" y="2038350"/>
            <a:ext cx="2562225" cy="11430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38900"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202921"/>
                </a:solidFill>
                <a:latin typeface="Noto Sans KR"/>
                <a:ea typeface="Noto Sans KR"/>
                <a:cs typeface="Noto Sans KR"/>
              </a:rPr>
              <a:t>형태</a:t>
            </a:r>
          </a:p>
        </p:txBody>
      </p:sp>
      <p:sp>
        <p:nvSpPr>
          <p:cNvPr id="22" name="TextBox 21"/>
          <p:cNvSpPr txBox="1"/>
          <p:nvPr/>
        </p:nvSpPr>
        <p:spPr>
          <a:xfrm>
            <a:off x="6438900"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586356"/>
                </a:solidFill>
                <a:latin typeface="Noto Sans KR"/>
                <a:ea typeface="Noto Sans KR"/>
                <a:cs typeface="Noto Sans KR"/>
              </a:rPr>
              <a:t>표·개수·길이</a:t>
            </a:r>
          </a:p>
        </p:txBody>
      </p:sp>
      <p:sp>
        <p:nvSpPr>
          <p:cNvPr id="23" name="Rounded Rectangle 22"/>
          <p:cNvSpPr/>
          <p:nvPr/>
        </p:nvSpPr>
        <p:spPr>
          <a:xfrm>
            <a:off x="6381750" y="4000500"/>
            <a:ext cx="2181225" cy="1809750"/>
          </a:xfrm>
          <a:prstGeom prst="roundRect">
            <a:avLst>
              <a:gd name="adj" fmla="val 2105"/>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3200"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202921"/>
                </a:solidFill>
                <a:latin typeface="Noto Sans KR"/>
                <a:ea typeface="Noto Sans KR"/>
                <a:cs typeface="Noto Sans KR"/>
              </a:rPr>
              <a:t>표 하나로. 열은 번호·유형·요청.</a:t>
            </a:r>
          </a:p>
        </p:txBody>
      </p:sp>
      <p:sp>
        <p:nvSpPr>
          <p:cNvPr id="25" name="Rounded Rectangle 24"/>
          <p:cNvSpPr/>
          <p:nvPr/>
        </p:nvSpPr>
        <p:spPr>
          <a:xfrm>
            <a:off x="8943975" y="2038350"/>
            <a:ext cx="2562225" cy="4000500"/>
          </a:xfrm>
          <a:prstGeom prst="roundRect">
            <a:avLst>
              <a:gd name="adj" fmla="val 148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943975" y="2038350"/>
            <a:ext cx="2562225" cy="11430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91625" y="2381250"/>
            <a:ext cx="2066925" cy="476250"/>
          </a:xfrm>
          <a:prstGeom prst="rect">
            <a:avLst/>
          </a:prstGeom>
          <a:noFill/>
        </p:spPr>
        <p:txBody>
          <a:bodyPr wrap="square" lIns="0" tIns="0" rIns="0" bIns="0" anchor="t"/>
          <a:lstStyle/>
          <a:p>
            <a:pPr algn="l" latinLnBrk="0" eaLnBrk="1">
              <a:lnSpc>
                <a:spcPct val="100000"/>
              </a:lnSpc>
            </a:pPr>
            <a:r>
              <a:rPr sz="3000" b="1" spc="-60" lang="ko-KR" altLang="en-US">
                <a:solidFill>
                  <a:srgbClr val="202921"/>
                </a:solidFill>
                <a:latin typeface="Noto Sans KR"/>
                <a:ea typeface="Noto Sans KR"/>
                <a:cs typeface="Noto Sans KR"/>
              </a:rPr>
              <a:t>금지</a:t>
            </a:r>
          </a:p>
        </p:txBody>
      </p:sp>
      <p:sp>
        <p:nvSpPr>
          <p:cNvPr id="28" name="TextBox 27"/>
          <p:cNvSpPr txBox="1"/>
          <p:nvPr/>
        </p:nvSpPr>
        <p:spPr>
          <a:xfrm>
            <a:off x="9191625" y="2990850"/>
            <a:ext cx="2066925" cy="762000"/>
          </a:xfrm>
          <a:prstGeom prst="rect">
            <a:avLst/>
          </a:prstGeom>
          <a:noFill/>
        </p:spPr>
        <p:txBody>
          <a:bodyPr wrap="square" lIns="0" tIns="0" rIns="0" bIns="0" anchor="t"/>
          <a:lstStyle/>
          <a:p>
            <a:pPr algn="l" latinLnBrk="0" eaLnBrk="1">
              <a:lnSpc>
                <a:spcPct val="125000"/>
              </a:lnSpc>
            </a:pPr>
            <a:r>
              <a:rPr sz="2100" b="0" spc="-42" lang="ko-KR" altLang="en-US">
                <a:solidFill>
                  <a:srgbClr val="586356"/>
                </a:solidFill>
                <a:latin typeface="Noto Sans KR"/>
                <a:ea typeface="Noto Sans KR"/>
                <a:cs typeface="Noto Sans KR"/>
              </a:rPr>
              <a:t>하면 안 되는 것</a:t>
            </a:r>
          </a:p>
        </p:txBody>
      </p:sp>
      <p:sp>
        <p:nvSpPr>
          <p:cNvPr id="29" name="Rounded Rectangle 28"/>
          <p:cNvSpPr/>
          <p:nvPr/>
        </p:nvSpPr>
        <p:spPr>
          <a:xfrm>
            <a:off x="9134475" y="4000500"/>
            <a:ext cx="2181225" cy="1809750"/>
          </a:xfrm>
          <a:prstGeom prst="roundRect">
            <a:avLst>
              <a:gd name="adj" fmla="val 2105"/>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5925" y="4171950"/>
            <a:ext cx="1838325" cy="1466850"/>
          </a:xfrm>
          <a:prstGeom prst="rect">
            <a:avLst/>
          </a:prstGeom>
          <a:noFill/>
        </p:spPr>
        <p:txBody>
          <a:bodyPr wrap="square" lIns="0" tIns="0" rIns="0" bIns="0" anchor="t"/>
          <a:lstStyle/>
          <a:p>
            <a:pPr algn="l" latinLnBrk="0" eaLnBrk="1">
              <a:lnSpc>
                <a:spcPct val="140000"/>
              </a:lnSpc>
            </a:pPr>
            <a:r>
              <a:rPr sz="1875" b="0" spc="-37" lang="ko-KR" altLang="en-US">
                <a:solidFill>
                  <a:srgbClr val="202921"/>
                </a:solidFill>
                <a:latin typeface="Noto Sans KR"/>
                <a:ea typeface="Noto Sans KR"/>
                <a:cs typeface="Noto Sans KR"/>
              </a:rPr>
              <a:t>메일에 없는 사실을 만들지 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개인정보 · 15–25분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16</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개인정보와 학습 설정</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학생 정보는 세 겹으로 지킵니다</a:t>
            </a:r>
          </a:p>
        </p:txBody>
      </p:sp>
      <p:sp>
        <p:nvSpPr>
          <p:cNvPr id="7" name="Rounded Rectangle 6"/>
          <p:cNvSpPr/>
          <p:nvPr/>
        </p:nvSpPr>
        <p:spPr>
          <a:xfrm>
            <a:off x="685800" y="1905000"/>
            <a:ext cx="3454400" cy="3714750"/>
          </a:xfrm>
          <a:prstGeom prst="roundRect">
            <a:avLst>
              <a:gd name="adj" fmla="val 110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71550" y="2190750"/>
            <a:ext cx="476250" cy="476250"/>
          </a:xfrm>
          <a:prstGeom prst="ellipse">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1550" y="2190750"/>
            <a:ext cx="476250" cy="47625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1</a:t>
            </a:r>
          </a:p>
        </p:txBody>
      </p:sp>
      <p:sp>
        <p:nvSpPr>
          <p:cNvPr id="10" name="TextBox 9"/>
          <p:cNvSpPr txBox="1"/>
          <p:nvPr/>
        </p:nvSpPr>
        <p:spPr>
          <a:xfrm>
            <a:off x="971550" y="2876550"/>
            <a:ext cx="2882900" cy="857250"/>
          </a:xfrm>
          <a:prstGeom prst="rect">
            <a:avLst/>
          </a:prstGeom>
          <a:noFill/>
        </p:spPr>
        <p:txBody>
          <a:bodyPr wrap="square" lIns="0" tIns="0" rIns="0" bIns="0" anchor="t"/>
          <a:lstStyle/>
          <a:p>
            <a:pPr algn="l" latinLnBrk="0" eaLnBrk="1">
              <a:lnSpc>
                <a:spcPct val="120000"/>
              </a:lnSpc>
            </a:pPr>
            <a:r>
              <a:rPr sz="2400" b="1" spc="-48" lang="ko-KR" altLang="en-US">
                <a:solidFill>
                  <a:srgbClr val="202921"/>
                </a:solidFill>
                <a:latin typeface="Noto Sans KR"/>
                <a:ea typeface="Noto Sans KR"/>
                <a:cs typeface="Noto Sans KR"/>
              </a:rPr>
              <a:t>학교 계정 도구가</a:t>
            </a:r>
            <a:br/>
            <a:r>
              <a:rPr sz="2400" b="1" spc="-48" lang="ko-KR" altLang="en-US">
                <a:solidFill>
                  <a:srgbClr val="202921"/>
                </a:solidFill>
                <a:latin typeface="Noto Sans KR"/>
                <a:ea typeface="Noto Sans KR"/>
                <a:cs typeface="Noto Sans KR"/>
              </a:rPr>
              <a:t>있으면 먼저</a:t>
            </a:r>
          </a:p>
        </p:txBody>
      </p:sp>
      <p:sp>
        <p:nvSpPr>
          <p:cNvPr id="11" name="TextBox 10"/>
          <p:cNvSpPr txBox="1"/>
          <p:nvPr/>
        </p:nvSpPr>
        <p:spPr>
          <a:xfrm>
            <a:off x="971550" y="3829050"/>
            <a:ext cx="2882900" cy="1600200"/>
          </a:xfrm>
          <a:prstGeom prst="rect">
            <a:avLst/>
          </a:prstGeom>
          <a:noFill/>
        </p:spPr>
        <p:txBody>
          <a:bodyPr wrap="square" lIns="0" tIns="0" rIns="0" bIns="0" anchor="t"/>
          <a:lstStyle/>
          <a:p>
            <a:pPr algn="l" latinLnBrk="0" eaLnBrk="1">
              <a:lnSpc>
                <a:spcPct val="135000"/>
              </a:lnSpc>
            </a:pPr>
            <a:r>
              <a:rPr sz="2100" b="0" spc="-42" lang="ko-KR" altLang="en-US">
                <a:solidFill>
                  <a:srgbClr val="586356"/>
                </a:solidFill>
                <a:latin typeface="Noto Sans KR"/>
                <a:ea typeface="Noto Sans KR"/>
                <a:cs typeface="Noto Sans KR"/>
              </a:rPr>
              <a:t>기관 약관의 학교 계정은 입력 자료를 학습에 쓰지 않습니다.</a:t>
            </a:r>
          </a:p>
        </p:txBody>
      </p:sp>
      <p:sp>
        <p:nvSpPr>
          <p:cNvPr id="12" name="Rounded Rectangle 11"/>
          <p:cNvSpPr/>
          <p:nvPr/>
        </p:nvSpPr>
        <p:spPr>
          <a:xfrm>
            <a:off x="4368800" y="1905000"/>
            <a:ext cx="3454400" cy="3714750"/>
          </a:xfrm>
          <a:prstGeom prst="roundRect">
            <a:avLst>
              <a:gd name="adj" fmla="val 110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54550" y="2190750"/>
            <a:ext cx="476250" cy="476250"/>
          </a:xfrm>
          <a:prstGeom prst="ellipse">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54550" y="2190750"/>
            <a:ext cx="476250" cy="47625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2</a:t>
            </a:r>
          </a:p>
        </p:txBody>
      </p:sp>
      <p:sp>
        <p:nvSpPr>
          <p:cNvPr id="15" name="TextBox 14"/>
          <p:cNvSpPr txBox="1"/>
          <p:nvPr/>
        </p:nvSpPr>
        <p:spPr>
          <a:xfrm>
            <a:off x="4654550" y="2876550"/>
            <a:ext cx="2882900" cy="857250"/>
          </a:xfrm>
          <a:prstGeom prst="rect">
            <a:avLst/>
          </a:prstGeom>
          <a:noFill/>
        </p:spPr>
        <p:txBody>
          <a:bodyPr wrap="square" lIns="0" tIns="0" rIns="0" bIns="0" anchor="t"/>
          <a:lstStyle/>
          <a:p>
            <a:pPr algn="l" latinLnBrk="0" eaLnBrk="1">
              <a:lnSpc>
                <a:spcPct val="120000"/>
              </a:lnSpc>
            </a:pPr>
            <a:r>
              <a:rPr sz="2400" b="1" spc="-48" lang="ko-KR" altLang="en-US">
                <a:solidFill>
                  <a:srgbClr val="202921"/>
                </a:solidFill>
                <a:latin typeface="Noto Sans KR"/>
                <a:ea typeface="Noto Sans KR"/>
                <a:cs typeface="Noto Sans KR"/>
              </a:rPr>
              <a:t>개인 계정이면</a:t>
            </a:r>
            <a:br/>
            <a:r>
              <a:rPr sz="2400" b="1" spc="-48" lang="ko-KR" altLang="en-US">
                <a:solidFill>
                  <a:srgbClr val="202921"/>
                </a:solidFill>
                <a:latin typeface="Noto Sans KR"/>
                <a:ea typeface="Noto Sans KR"/>
                <a:cs typeface="Noto Sans KR"/>
              </a:rPr>
              <a:t>학습 설정 끄기</a:t>
            </a:r>
          </a:p>
        </p:txBody>
      </p:sp>
      <p:sp>
        <p:nvSpPr>
          <p:cNvPr id="16" name="TextBox 15"/>
          <p:cNvSpPr txBox="1"/>
          <p:nvPr/>
        </p:nvSpPr>
        <p:spPr>
          <a:xfrm>
            <a:off x="4654550" y="3829050"/>
            <a:ext cx="2882900" cy="1600200"/>
          </a:xfrm>
          <a:prstGeom prst="rect">
            <a:avLst/>
          </a:prstGeom>
          <a:noFill/>
        </p:spPr>
        <p:txBody>
          <a:bodyPr wrap="square" lIns="0" tIns="0" rIns="0" bIns="0" anchor="t"/>
          <a:lstStyle/>
          <a:p>
            <a:pPr algn="l" latinLnBrk="0" eaLnBrk="1">
              <a:lnSpc>
                <a:spcPct val="135000"/>
              </a:lnSpc>
            </a:pPr>
            <a:r>
              <a:rPr sz="2100" b="0" spc="-42" lang="ko-KR" altLang="en-US">
                <a:solidFill>
                  <a:srgbClr val="586356"/>
                </a:solidFill>
                <a:latin typeface="Noto Sans KR"/>
                <a:ea typeface="Noto Sans KR"/>
                <a:cs typeface="Noto Sans KR"/>
              </a:rPr>
              <a:t>ChatGPT, Claude,</a:t>
            </a:r>
            <a:br/>
            <a:r>
              <a:rPr sz="2100" b="0" spc="-42" lang="ko-KR" altLang="en-US">
                <a:solidFill>
                  <a:srgbClr val="586356"/>
                </a:solidFill>
                <a:latin typeface="Noto Sans KR"/>
                <a:ea typeface="Noto Sans KR"/>
                <a:cs typeface="Noto Sans KR"/>
              </a:rPr>
              <a:t>Perplexity는 설정에서</a:t>
            </a:r>
            <a:br/>
            <a:r>
              <a:rPr sz="2100" b="0" spc="-42" lang="ko-KR" altLang="en-US">
                <a:solidFill>
                  <a:srgbClr val="586356"/>
                </a:solidFill>
                <a:latin typeface="Noto Sans KR"/>
                <a:ea typeface="Noto Sans KR"/>
                <a:cs typeface="Noto Sans KR"/>
              </a:rPr>
              <a:t>학습을 끕니다.</a:t>
            </a:r>
          </a:p>
        </p:txBody>
      </p:sp>
      <p:sp>
        <p:nvSpPr>
          <p:cNvPr id="17" name="Rounded Rectangle 16"/>
          <p:cNvSpPr/>
          <p:nvPr/>
        </p:nvSpPr>
        <p:spPr>
          <a:xfrm>
            <a:off x="8051800" y="1905000"/>
            <a:ext cx="3454400" cy="3714750"/>
          </a:xfrm>
          <a:prstGeom prst="roundRect">
            <a:avLst>
              <a:gd name="adj" fmla="val 110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337550" y="2190750"/>
            <a:ext cx="476250" cy="476250"/>
          </a:xfrm>
          <a:prstGeom prst="ellipse">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37550" y="2190750"/>
            <a:ext cx="476250" cy="47625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3</a:t>
            </a:r>
          </a:p>
        </p:txBody>
      </p:sp>
      <p:sp>
        <p:nvSpPr>
          <p:cNvPr id="20" name="TextBox 19"/>
          <p:cNvSpPr txBox="1"/>
          <p:nvPr/>
        </p:nvSpPr>
        <p:spPr>
          <a:xfrm>
            <a:off x="8337550" y="2876550"/>
            <a:ext cx="2882900" cy="857250"/>
          </a:xfrm>
          <a:prstGeom prst="rect">
            <a:avLst/>
          </a:prstGeom>
          <a:noFill/>
        </p:spPr>
        <p:txBody>
          <a:bodyPr wrap="square" lIns="0" tIns="0" rIns="0" bIns="0" anchor="t"/>
          <a:lstStyle/>
          <a:p>
            <a:pPr algn="l" latinLnBrk="0" eaLnBrk="1">
              <a:lnSpc>
                <a:spcPct val="120000"/>
              </a:lnSpc>
            </a:pPr>
            <a:r>
              <a:rPr sz="2400" b="1" spc="-48" lang="ko-KR" altLang="en-US">
                <a:solidFill>
                  <a:srgbClr val="202921"/>
                </a:solidFill>
                <a:latin typeface="Noto Sans KR"/>
                <a:ea typeface="Noto Sans KR"/>
                <a:cs typeface="Noto Sans KR"/>
              </a:rPr>
              <a:t>넣기 전에 지우기</a:t>
            </a:r>
          </a:p>
        </p:txBody>
      </p:sp>
      <p:sp>
        <p:nvSpPr>
          <p:cNvPr id="21" name="TextBox 20"/>
          <p:cNvSpPr txBox="1"/>
          <p:nvPr/>
        </p:nvSpPr>
        <p:spPr>
          <a:xfrm>
            <a:off x="8337550" y="3829050"/>
            <a:ext cx="2882900" cy="1600200"/>
          </a:xfrm>
          <a:prstGeom prst="rect">
            <a:avLst/>
          </a:prstGeom>
          <a:noFill/>
        </p:spPr>
        <p:txBody>
          <a:bodyPr wrap="square" lIns="0" tIns="0" rIns="0" bIns="0" anchor="t"/>
          <a:lstStyle/>
          <a:p>
            <a:pPr algn="l" latinLnBrk="0" eaLnBrk="1">
              <a:lnSpc>
                <a:spcPct val="135000"/>
              </a:lnSpc>
            </a:pPr>
            <a:r>
              <a:rPr sz="2100" b="0" spc="-42" lang="ko-KR" altLang="en-US">
                <a:solidFill>
                  <a:srgbClr val="586356"/>
                </a:solidFill>
                <a:latin typeface="Noto Sans KR"/>
                <a:ea typeface="Noto Sans KR"/>
                <a:cs typeface="Noto Sans KR"/>
              </a:rPr>
              <a:t>이름·학번·연락처를 지웁니다. 오늘은 가상 자료만 씁니다.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 공통 원리 · 25–33분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17</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공통 원리 1 · 환각 · 실제 화면 Gemini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모르면 지어냅니다: 없는 논문도 요약합니다</a:t>
            </a:r>
          </a:p>
        </p:txBody>
      </p:sp>
      <p:pic>
        <p:nvPicPr>
          <p:cNvPr id="7" name="Picture 6" descr="gm-hallucination.png"/>
          <p:cNvPicPr>
            <a:picLocks noChangeAspect="1"/>
          </p:cNvPicPr>
          <p:nvPr/>
        </p:nvPicPr>
        <p:blipFill>
          <a:blip r:embed="rId4"/>
          <a:stretch>
            <a:fillRect/>
          </a:stretch>
        </p:blipFill>
        <p:spPr>
          <a:xfrm>
            <a:off x="685800" y="1619250"/>
            <a:ext cx="4764505" cy="4191000"/>
          </a:xfrm>
          <a:prstGeom prst="rect">
            <a:avLst/>
          </a:prstGeom>
          <a:ln w="9525">
            <a:solidFill>
              <a:srgbClr val="C9CCC0"/>
            </a:solidFill>
          </a:ln>
        </p:spPr>
      </p:pic>
      <p:sp>
        <p:nvSpPr>
          <p:cNvPr id="8" name="TextBox 7"/>
          <p:cNvSpPr txBox="1"/>
          <p:nvPr/>
        </p:nvSpPr>
        <p:spPr>
          <a:xfrm>
            <a:off x="5829300" y="1638300"/>
            <a:ext cx="5676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'가상 출처'라고 하고도</a:t>
            </a:r>
          </a:p>
        </p:txBody>
      </p:sp>
      <p:sp>
        <p:nvSpPr>
          <p:cNvPr id="9" name="TextBox 8"/>
          <p:cNvSpPr txBox="1"/>
          <p:nvPr/>
        </p:nvSpPr>
        <p:spPr>
          <a:xfrm>
            <a:off x="5829300" y="2057400"/>
            <a:ext cx="56769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500명 설문, 회귀분석 같은</a:t>
            </a:r>
            <a:br/>
            <a:r>
              <a:rPr sz="1800" b="0" spc="-36" lang="ko-KR" altLang="en-US">
                <a:solidFill>
                  <a:srgbClr val="202921"/>
                </a:solidFill>
                <a:latin typeface="Noto Sans KR"/>
                <a:ea typeface="Noto Sans KR"/>
                <a:cs typeface="Noto Sans KR"/>
              </a:rPr>
              <a:t>내용을 만들어 붙였습니다</a:t>
            </a:r>
          </a:p>
        </p:txBody>
      </p:sp>
      <p:sp>
        <p:nvSpPr>
          <p:cNvPr id="10" name="TextBox 9"/>
          <p:cNvSpPr txBox="1"/>
          <p:nvPr/>
        </p:nvSpPr>
        <p:spPr>
          <a:xfrm>
            <a:off x="5829300" y="2971800"/>
            <a:ext cx="5676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55% · 18%</a:t>
            </a:r>
          </a:p>
        </p:txBody>
      </p:sp>
      <p:sp>
        <p:nvSpPr>
          <p:cNvPr id="11" name="TextBox 10"/>
          <p:cNvSpPr txBox="1"/>
          <p:nvPr/>
        </p:nvSpPr>
        <p:spPr>
          <a:xfrm>
            <a:off x="5829300" y="3390900"/>
            <a:ext cx="56769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ChatGPT가 단 참고문헌 중 없는 문헌</a:t>
            </a:r>
            <a:br/>
            <a:r>
              <a:rPr sz="1800" b="0" spc="-36" lang="ko-KR" altLang="en-US">
                <a:solidFill>
                  <a:srgbClr val="202921"/>
                </a:solidFill>
                <a:latin typeface="Noto Sans KR"/>
                <a:ea typeface="Noto Sans KR"/>
                <a:cs typeface="Noto Sans KR"/>
              </a:rPr>
              <a:t>(GPT-3.5 · GPT-4, 2023년 연구)</a:t>
            </a:r>
          </a:p>
        </p:txBody>
      </p:sp>
      <p:sp>
        <p:nvSpPr>
          <p:cNvPr id="12" name="TextBox 11"/>
          <p:cNvSpPr txBox="1"/>
          <p:nvPr/>
        </p:nvSpPr>
        <p:spPr>
          <a:xfrm>
            <a:off x="5829300" y="4305300"/>
            <a:ext cx="5676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없는 판례 6건</a:t>
            </a:r>
          </a:p>
        </p:txBody>
      </p:sp>
      <p:sp>
        <p:nvSpPr>
          <p:cNvPr id="13" name="TextBox 12"/>
          <p:cNvSpPr txBox="1"/>
          <p:nvPr/>
        </p:nvSpPr>
        <p:spPr>
          <a:xfrm>
            <a:off x="5829300" y="4724400"/>
            <a:ext cx="56769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변호사가 법원에 제출, 5,000달러 제재</a:t>
            </a:r>
            <a:br/>
            <a:r>
              <a:rPr sz="1800" b="0" spc="-36" lang="ko-KR" altLang="en-US">
                <a:solidFill>
                  <a:srgbClr val="202921"/>
                </a:solidFill>
                <a:latin typeface="Noto Sans KR"/>
                <a:ea typeface="Noto Sans KR"/>
                <a:cs typeface="Noto Sans KR"/>
              </a:rPr>
              <a:t>(미국 Mata v. Avianca, 2023)</a:t>
            </a:r>
          </a:p>
        </p:txBody>
      </p:sp>
      <p:sp>
        <p:nvSpPr>
          <p:cNvPr id="14" name="TextBox 13"/>
          <p:cNvSpPr txBox="1"/>
          <p:nvPr/>
        </p:nvSpPr>
        <p:spPr>
          <a:xfrm>
            <a:off x="685800" y="5962650"/>
            <a:ext cx="10820400" cy="381000"/>
          </a:xfrm>
          <a:prstGeom prst="rect">
            <a:avLst/>
          </a:prstGeom>
          <a:noFill/>
        </p:spPr>
        <p:txBody>
          <a:bodyPr wrap="square" lIns="0" tIns="0" rIns="0" bIns="0" anchor="t"/>
          <a:lstStyle/>
          <a:p>
            <a:pPr algn="l" latinLnBrk="0" eaLnBrk="1">
              <a:lnSpc>
                <a:spcPct val="100000"/>
              </a:lnSpc>
            </a:pPr>
            <a:r>
              <a:rPr sz="2100" b="1" spc="-42" lang="ko-KR" altLang="en-US">
                <a:solidFill>
                  <a:srgbClr val="EA5936"/>
                </a:solidFill>
                <a:latin typeface="Noto Sans KR"/>
                <a:ea typeface="Noto Sans KR"/>
                <a:cs typeface="Noto Sans KR"/>
              </a:rPr>
              <a:t>→ </a:t>
            </a:r>
            <a:r>
              <a:rPr sz="2100" b="1" spc="-42" lang="ko-KR" altLang="en-US">
                <a:solidFill>
                  <a:srgbClr val="202921"/>
                </a:solidFill>
                <a:latin typeface="Noto Sans KR"/>
                <a:ea typeface="Noto Sans KR"/>
                <a:cs typeface="Noto Sans KR"/>
              </a:rPr>
              <a:t>숫자·인용·이름은 원문에서 직접 찾습니다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 공통 원리 · 25–33분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18</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공통 원리 2 · 컨텍스트</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AI가 한 번에 보는 범위에는 한계가 있습니다</a:t>
            </a:r>
          </a:p>
        </p:txBody>
      </p:sp>
      <p:sp>
        <p:nvSpPr>
          <p:cNvPr id="7" name="TextBox 6"/>
          <p:cNvSpPr txBox="1"/>
          <p:nvPr/>
        </p:nvSpPr>
        <p:spPr>
          <a:xfrm>
            <a:off x="685800" y="1638300"/>
            <a:ext cx="57150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대화 전체와 올린 파일 = 컨텍스트</a:t>
            </a:r>
          </a:p>
        </p:txBody>
      </p:sp>
      <p:sp>
        <p:nvSpPr>
          <p:cNvPr id="8" name="Rectangle 7"/>
          <p:cNvSpPr/>
          <p:nvPr/>
        </p:nvSpPr>
        <p:spPr>
          <a:xfrm>
            <a:off x="685800" y="2019300"/>
            <a:ext cx="1562100" cy="68580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2019300"/>
            <a:ext cx="1562100" cy="6858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처음  </a:t>
            </a:r>
            <a:r>
              <a:rPr sz="1950" b="0" spc="-39" lang="ko-KR" altLang="en-US">
                <a:solidFill>
                  <a:srgbClr val="F4F1E9"/>
                </a:solidFill>
                <a:latin typeface="Noto Sans KR"/>
                <a:ea typeface="Noto Sans KR"/>
                <a:cs typeface="Noto Sans KR"/>
              </a:rPr>
              <a:t>잘 봄</a:t>
            </a:r>
          </a:p>
        </p:txBody>
      </p:sp>
      <p:sp>
        <p:nvSpPr>
          <p:cNvPr id="10" name="Rectangle 9"/>
          <p:cNvSpPr/>
          <p:nvPr/>
        </p:nvSpPr>
        <p:spPr>
          <a:xfrm>
            <a:off x="2305050" y="2019300"/>
            <a:ext cx="2419350" cy="685800"/>
          </a:xfrm>
          <a:prstGeom prst="rect">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05050" y="2019300"/>
            <a:ext cx="2419350" cy="685800"/>
          </a:xfrm>
          <a:prstGeom prst="rect">
            <a:avLst/>
          </a:prstGeom>
          <a:noFill/>
        </p:spPr>
        <p:txBody>
          <a:bodyPr wrap="square" lIns="0" tIns="0" rIns="0" bIns="0" anchor="ctr"/>
          <a:lstStyle/>
          <a:p>
            <a:pPr algn="ctr" latinLnBrk="0" eaLnBrk="1">
              <a:lnSpc>
                <a:spcPct val="100000"/>
              </a:lnSpc>
            </a:pPr>
            <a:r>
              <a:rPr sz="1950" b="1" spc="-39" lang="ko-KR" altLang="en-US">
                <a:solidFill>
                  <a:srgbClr val="586356"/>
                </a:solidFill>
                <a:latin typeface="Noto Sans KR"/>
                <a:ea typeface="Noto Sans KR"/>
                <a:cs typeface="Noto Sans KR"/>
              </a:rPr>
              <a:t>가운데  </a:t>
            </a:r>
            <a:r>
              <a:rPr sz="1950" b="0" spc="-39" lang="ko-KR" altLang="en-US">
                <a:solidFill>
                  <a:srgbClr val="586356"/>
                </a:solidFill>
                <a:latin typeface="Noto Sans KR"/>
                <a:ea typeface="Noto Sans KR"/>
                <a:cs typeface="Noto Sans KR"/>
              </a:rPr>
              <a:t>덜 봄</a:t>
            </a:r>
          </a:p>
        </p:txBody>
      </p:sp>
      <p:sp>
        <p:nvSpPr>
          <p:cNvPr id="12" name="Rectangle 11"/>
          <p:cNvSpPr/>
          <p:nvPr/>
        </p:nvSpPr>
        <p:spPr>
          <a:xfrm>
            <a:off x="4781550" y="2019300"/>
            <a:ext cx="1562100" cy="68580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81550" y="2019300"/>
            <a:ext cx="1562100" cy="6858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끝  </a:t>
            </a:r>
            <a:r>
              <a:rPr sz="1950" b="0" spc="-39" lang="ko-KR" altLang="en-US">
                <a:solidFill>
                  <a:srgbClr val="F4F1E9"/>
                </a:solidFill>
                <a:latin typeface="Noto Sans KR"/>
                <a:ea typeface="Noto Sans KR"/>
                <a:cs typeface="Noto Sans KR"/>
              </a:rPr>
              <a:t>잘 봄</a:t>
            </a:r>
          </a:p>
        </p:txBody>
      </p:sp>
      <p:sp>
        <p:nvSpPr>
          <p:cNvPr id="14" name="TextBox 13"/>
          <p:cNvSpPr txBox="1"/>
          <p:nvPr/>
        </p:nvSpPr>
        <p:spPr>
          <a:xfrm>
            <a:off x="685800" y="2800350"/>
            <a:ext cx="5715000" cy="28575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Liu 외 2024 'Lost in the Middle'</a:t>
            </a:r>
          </a:p>
        </p:txBody>
      </p:sp>
      <p:sp>
        <p:nvSpPr>
          <p:cNvPr id="15" name="Oval 14"/>
          <p:cNvSpPr/>
          <p:nvPr/>
        </p:nvSpPr>
        <p:spPr>
          <a:xfrm>
            <a:off x="685800" y="3295650"/>
            <a:ext cx="419100" cy="41910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3295650"/>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1</a:t>
            </a:r>
          </a:p>
        </p:txBody>
      </p:sp>
      <p:sp>
        <p:nvSpPr>
          <p:cNvPr id="17" name="TextBox 16"/>
          <p:cNvSpPr txBox="1"/>
          <p:nvPr/>
        </p:nvSpPr>
        <p:spPr>
          <a:xfrm>
            <a:off x="1276350" y="3276600"/>
            <a:ext cx="5124450" cy="381000"/>
          </a:xfrm>
          <a:prstGeom prst="rect">
            <a:avLst/>
          </a:prstGeom>
          <a:noFill/>
        </p:spPr>
        <p:txBody>
          <a:bodyPr wrap="square" lIns="0" tIns="0" rIns="0" bIns="0" anchor="t"/>
          <a:lstStyle/>
          <a:p>
            <a:pPr algn="l" latinLnBrk="0" eaLnBrk="1">
              <a:lnSpc>
                <a:spcPct val="110000"/>
              </a:lnSpc>
            </a:pPr>
            <a:r>
              <a:rPr sz="2100" b="1" spc="-42" lang="ko-KR" altLang="en-US">
                <a:solidFill>
                  <a:srgbClr val="202921"/>
                </a:solidFill>
                <a:latin typeface="Noto Sans KR"/>
                <a:ea typeface="Noto Sans KR"/>
                <a:cs typeface="Noto Sans KR"/>
              </a:rPr>
              <a:t>활동마다 새 대화</a:t>
            </a:r>
          </a:p>
        </p:txBody>
      </p:sp>
      <p:sp>
        <p:nvSpPr>
          <p:cNvPr id="18" name="TextBox 17"/>
          <p:cNvSpPr txBox="1"/>
          <p:nvPr/>
        </p:nvSpPr>
        <p:spPr>
          <a:xfrm>
            <a:off x="1276350" y="3676650"/>
            <a:ext cx="5124450" cy="666750"/>
          </a:xfrm>
          <a:prstGeom prst="rect">
            <a:avLst/>
          </a:prstGeom>
          <a:noFill/>
        </p:spPr>
        <p:txBody>
          <a:bodyPr wrap="square" lIns="0" tIns="0" rIns="0" bIns="0" anchor="t"/>
          <a:lstStyle/>
          <a:p>
            <a:pPr algn="l" latinLnBrk="0" eaLnBrk="1">
              <a:lnSpc>
                <a:spcPct val="130000"/>
              </a:lnSpc>
            </a:pPr>
            <a:r>
              <a:rPr sz="1800" b="0" spc="-36" lang="ko-KR" altLang="en-US">
                <a:solidFill>
                  <a:srgbClr val="586356"/>
                </a:solidFill>
                <a:latin typeface="Noto Sans KR"/>
                <a:ea typeface="Noto Sans KR"/>
                <a:cs typeface="Noto Sans KR"/>
              </a:rPr>
              <a:t>앞 활동의 조건이 섞이지 않게</a:t>
            </a:r>
          </a:p>
        </p:txBody>
      </p:sp>
      <p:sp>
        <p:nvSpPr>
          <p:cNvPr id="19" name="Oval 18"/>
          <p:cNvSpPr/>
          <p:nvPr/>
        </p:nvSpPr>
        <p:spPr>
          <a:xfrm>
            <a:off x="685800" y="4248150"/>
            <a:ext cx="419100" cy="41910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4248150"/>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2</a:t>
            </a:r>
          </a:p>
        </p:txBody>
      </p:sp>
      <p:sp>
        <p:nvSpPr>
          <p:cNvPr id="21" name="TextBox 20"/>
          <p:cNvSpPr txBox="1"/>
          <p:nvPr/>
        </p:nvSpPr>
        <p:spPr>
          <a:xfrm>
            <a:off x="1276350" y="4229100"/>
            <a:ext cx="5124450" cy="381000"/>
          </a:xfrm>
          <a:prstGeom prst="rect">
            <a:avLst/>
          </a:prstGeom>
          <a:noFill/>
        </p:spPr>
        <p:txBody>
          <a:bodyPr wrap="square" lIns="0" tIns="0" rIns="0" bIns="0" anchor="t"/>
          <a:lstStyle/>
          <a:p>
            <a:pPr algn="l" latinLnBrk="0" eaLnBrk="1">
              <a:lnSpc>
                <a:spcPct val="110000"/>
              </a:lnSpc>
            </a:pPr>
            <a:r>
              <a:rPr sz="2100" b="1" spc="-42" lang="ko-KR" altLang="en-US">
                <a:solidFill>
                  <a:srgbClr val="202921"/>
                </a:solidFill>
                <a:latin typeface="Noto Sans KR"/>
                <a:ea typeface="Noto Sans KR"/>
                <a:cs typeface="Noto Sans KR"/>
              </a:rPr>
              <a:t>올리면 처음과 끝부터</a:t>
            </a:r>
          </a:p>
        </p:txBody>
      </p:sp>
      <p:sp>
        <p:nvSpPr>
          <p:cNvPr id="22" name="TextBox 21"/>
          <p:cNvSpPr txBox="1"/>
          <p:nvPr/>
        </p:nvSpPr>
        <p:spPr>
          <a:xfrm>
            <a:off x="1276350" y="4629150"/>
            <a:ext cx="5124450" cy="666750"/>
          </a:xfrm>
          <a:prstGeom prst="rect">
            <a:avLst/>
          </a:prstGeom>
          <a:noFill/>
        </p:spPr>
        <p:txBody>
          <a:bodyPr wrap="square" lIns="0" tIns="0" rIns="0" bIns="0" anchor="t"/>
          <a:lstStyle/>
          <a:p>
            <a:pPr algn="l" latinLnBrk="0" eaLnBrk="1">
              <a:lnSpc>
                <a:spcPct val="130000"/>
              </a:lnSpc>
            </a:pPr>
            <a:r>
              <a:rPr sz="1800" b="0" spc="-36" lang="ko-KR" altLang="en-US">
                <a:solidFill>
                  <a:srgbClr val="586356"/>
                </a:solidFill>
                <a:latin typeface="Noto Sans KR"/>
                <a:ea typeface="Noto Sans KR"/>
                <a:cs typeface="Noto Sans KR"/>
              </a:rPr>
              <a:t>첫·마지막 항목과 개수 확인 (질문 7-2)</a:t>
            </a:r>
          </a:p>
        </p:txBody>
      </p:sp>
      <p:sp>
        <p:nvSpPr>
          <p:cNvPr id="23" name="Oval 22"/>
          <p:cNvSpPr/>
          <p:nvPr/>
        </p:nvSpPr>
        <p:spPr>
          <a:xfrm>
            <a:off x="685800" y="5200650"/>
            <a:ext cx="419100" cy="41910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5200650"/>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3</a:t>
            </a:r>
          </a:p>
        </p:txBody>
      </p:sp>
      <p:sp>
        <p:nvSpPr>
          <p:cNvPr id="25" name="TextBox 24"/>
          <p:cNvSpPr txBox="1"/>
          <p:nvPr/>
        </p:nvSpPr>
        <p:spPr>
          <a:xfrm>
            <a:off x="1276350" y="5181600"/>
            <a:ext cx="5124450" cy="381000"/>
          </a:xfrm>
          <a:prstGeom prst="rect">
            <a:avLst/>
          </a:prstGeom>
          <a:noFill/>
        </p:spPr>
        <p:txBody>
          <a:bodyPr wrap="square" lIns="0" tIns="0" rIns="0" bIns="0" anchor="t"/>
          <a:lstStyle/>
          <a:p>
            <a:pPr algn="l" latinLnBrk="0" eaLnBrk="1">
              <a:lnSpc>
                <a:spcPct val="110000"/>
              </a:lnSpc>
            </a:pPr>
            <a:r>
              <a:rPr sz="2100" b="1" spc="-42" lang="ko-KR" altLang="en-US">
                <a:solidFill>
                  <a:srgbClr val="202921"/>
                </a:solidFill>
                <a:latin typeface="Noto Sans KR"/>
                <a:ea typeface="Noto Sans KR"/>
                <a:cs typeface="Noto Sans KR"/>
              </a:rPr>
              <a:t>길어지면 요약해서 넘기기</a:t>
            </a:r>
          </a:p>
        </p:txBody>
      </p:sp>
      <p:sp>
        <p:nvSpPr>
          <p:cNvPr id="26" name="TextBox 25"/>
          <p:cNvSpPr txBox="1"/>
          <p:nvPr/>
        </p:nvSpPr>
        <p:spPr>
          <a:xfrm>
            <a:off x="1276350" y="5581650"/>
            <a:ext cx="5124450" cy="666750"/>
          </a:xfrm>
          <a:prstGeom prst="rect">
            <a:avLst/>
          </a:prstGeom>
          <a:noFill/>
        </p:spPr>
        <p:txBody>
          <a:bodyPr wrap="square" lIns="0" tIns="0" rIns="0" bIns="0" anchor="t"/>
          <a:lstStyle/>
          <a:p>
            <a:pPr algn="l" latinLnBrk="0" eaLnBrk="1">
              <a:lnSpc>
                <a:spcPct val="130000"/>
              </a:lnSpc>
            </a:pPr>
            <a:r>
              <a:rPr sz="1800" b="0" spc="-36" lang="ko-KR" altLang="en-US">
                <a:solidFill>
                  <a:srgbClr val="586356"/>
                </a:solidFill>
                <a:latin typeface="Noto Sans KR"/>
                <a:ea typeface="Noto Sans KR"/>
                <a:cs typeface="Noto Sans KR"/>
              </a:rPr>
              <a:t>조건·결론·남은 일을 새 대화로 (7-3)</a:t>
            </a:r>
          </a:p>
        </p:txBody>
      </p:sp>
      <p:pic>
        <p:nvPicPr>
          <p:cNvPr id="27" name="Picture 26" descr="cl-context.png"/>
          <p:cNvPicPr>
            <a:picLocks noChangeAspect="1"/>
          </p:cNvPicPr>
          <p:nvPr/>
        </p:nvPicPr>
        <p:blipFill>
          <a:blip r:embed="rId4"/>
          <a:stretch>
            <a:fillRect/>
          </a:stretch>
        </p:blipFill>
        <p:spPr>
          <a:xfrm>
            <a:off x="6781800" y="1638300"/>
            <a:ext cx="4724400" cy="3712029"/>
          </a:xfrm>
          <a:prstGeom prst="rect">
            <a:avLst/>
          </a:prstGeom>
          <a:ln w="9525">
            <a:solidFill>
              <a:srgbClr val="C9CCC0"/>
            </a:solidFill>
          </a:ln>
        </p:spPr>
      </p:pic>
      <p:sp>
        <p:nvSpPr>
          <p:cNvPr id="28" name="TextBox 27"/>
          <p:cNvSpPr txBox="1"/>
          <p:nvPr/>
        </p:nvSpPr>
        <p:spPr>
          <a:xfrm>
            <a:off x="6781800" y="5448300"/>
            <a:ext cx="4724400" cy="762000"/>
          </a:xfrm>
          <a:prstGeom prst="rect">
            <a:avLst/>
          </a:prstGeom>
          <a:noFill/>
        </p:spPr>
        <p:txBody>
          <a:bodyPr wrap="square" lIns="0" tIns="0" rIns="0" bIns="0" anchor="t"/>
          <a:lstStyle/>
          <a:p>
            <a:pPr algn="l" latinLnBrk="0" eaLnBrk="1">
              <a:lnSpc>
                <a:spcPct val="135000"/>
              </a:lnSpc>
            </a:pPr>
            <a:r>
              <a:rPr sz="1800" b="1" spc="-36" lang="ko-KR" altLang="en-US">
                <a:solidFill>
                  <a:srgbClr val="202921"/>
                </a:solidFill>
                <a:latin typeface="Noto Sans KR"/>
                <a:ea typeface="Noto Sans KR"/>
                <a:cs typeface="Noto Sans KR"/>
              </a:rPr>
              <a:t>Claude · 질문 7-2  </a:t>
            </a:r>
            <a:r>
              <a:rPr sz="1800" b="0" spc="-36" lang="ko-KR" altLang="en-US">
                <a:solidFill>
                  <a:srgbClr val="586356"/>
                </a:solidFill>
                <a:latin typeface="Noto Sans KR"/>
                <a:ea typeface="Noto Sans KR"/>
                <a:cs typeface="Noto Sans KR"/>
              </a:rPr>
              <a:t>R001 · R180 · 180개</a:t>
            </a:r>
            <a:br/>
            <a:r>
              <a:rPr sz="1800" b="0" spc="-36" lang="ko-KR" altLang="en-US">
                <a:solidFill>
                  <a:srgbClr val="586356"/>
                </a:solidFill>
                <a:latin typeface="Noto Sans KR"/>
                <a:ea typeface="Noto Sans KR"/>
                <a:cs typeface="Noto Sans KR"/>
              </a:rPr>
              <a:t>원본과 같습니다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 공통 원리 · 25–33분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19</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공통 원리 3 · 맞장구와 들쭉날쭉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내 말에 맞장구치고, 물을 때마다 답이 바뀝니다</a:t>
            </a:r>
          </a:p>
        </p:txBody>
      </p:sp>
      <p:sp>
        <p:nvSpPr>
          <p:cNvPr id="7" name="Rounded Rectangle 6"/>
          <p:cNvSpPr/>
          <p:nvPr/>
        </p:nvSpPr>
        <p:spPr>
          <a:xfrm>
            <a:off x="685800" y="1809750"/>
            <a:ext cx="5295900" cy="4191000"/>
          </a:xfrm>
          <a:prstGeom prst="roundRect">
            <a:avLst>
              <a:gd name="adj" fmla="val 909"/>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809750"/>
            <a:ext cx="5295900" cy="95250"/>
          </a:xfrm>
          <a:prstGeom prst="rect">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 y="2190750"/>
            <a:ext cx="4686300" cy="609600"/>
          </a:xfrm>
          <a:prstGeom prst="rect">
            <a:avLst/>
          </a:prstGeom>
          <a:noFill/>
        </p:spPr>
        <p:txBody>
          <a:bodyPr wrap="square" lIns="0" tIns="0" rIns="0" bIns="0" anchor="t"/>
          <a:lstStyle/>
          <a:p>
            <a:pPr algn="l" latinLnBrk="0" eaLnBrk="1">
              <a:lnSpc>
                <a:spcPct val="100000"/>
              </a:lnSpc>
            </a:pPr>
            <a:r>
              <a:rPr sz="3600" b="1" spc="-72" lang="ko-KR" altLang="en-US">
                <a:solidFill>
                  <a:srgbClr val="202921"/>
                </a:solidFill>
                <a:latin typeface="Noto Sans KR"/>
                <a:ea typeface="Noto Sans KR"/>
                <a:cs typeface="Noto Sans KR"/>
              </a:rPr>
              <a:t>맞장구</a:t>
            </a:r>
          </a:p>
        </p:txBody>
      </p:sp>
      <p:sp>
        <p:nvSpPr>
          <p:cNvPr id="10" name="TextBox 9"/>
          <p:cNvSpPr txBox="1"/>
          <p:nvPr/>
        </p:nvSpPr>
        <p:spPr>
          <a:xfrm>
            <a:off x="990600" y="3048000"/>
            <a:ext cx="4686300" cy="1619250"/>
          </a:xfrm>
          <a:prstGeom prst="rect">
            <a:avLst/>
          </a:prstGeom>
          <a:noFill/>
        </p:spPr>
        <p:txBody>
          <a:bodyPr wrap="square" lIns="0" tIns="0" rIns="0" bIns="0" anchor="t"/>
          <a:lstStyle/>
          <a:p>
            <a:pPr algn="l" latinLnBrk="0" eaLnBrk="1">
              <a:lnSpc>
                <a:spcPct val="145000"/>
              </a:lnSpc>
            </a:pPr>
            <a:r>
              <a:rPr sz="1950" b="0" spc="-39" lang="ko-KR" altLang="en-US">
                <a:solidFill>
                  <a:srgbClr val="586356"/>
                </a:solidFill>
                <a:latin typeface="Noto Sans KR"/>
                <a:ea typeface="Noto Sans KR"/>
                <a:cs typeface="Noto Sans KR"/>
              </a:rPr>
              <a:t>사용자 의견에 맞추려는 경향이 있습니다.</a:t>
            </a:r>
            <a:br/>
            <a:r>
              <a:rPr sz="1950" b="0" spc="-39" lang="ko-KR" altLang="en-US">
                <a:solidFill>
                  <a:srgbClr val="586356"/>
                </a:solidFill>
                <a:latin typeface="Noto Sans KR"/>
                <a:ea typeface="Noto Sans KR"/>
                <a:cs typeface="Noto Sans KR"/>
              </a:rPr>
              <a:t>OpenAI는 2025년 4월, 지나친 맞장구를</a:t>
            </a:r>
            <a:br/>
            <a:r>
              <a:rPr sz="1950" b="0" spc="-39" lang="ko-KR" altLang="en-US">
                <a:solidFill>
                  <a:srgbClr val="586356"/>
                </a:solidFill>
                <a:latin typeface="Noto Sans KR"/>
                <a:ea typeface="Noto Sans KR"/>
                <a:cs typeface="Noto Sans KR"/>
              </a:rPr>
              <a:t>이유로 ChatGPT 업데이트를 되돌렸습니다.</a:t>
            </a:r>
          </a:p>
        </p:txBody>
      </p:sp>
      <p:sp>
        <p:nvSpPr>
          <p:cNvPr id="11" name="Rounded Rectangle 10"/>
          <p:cNvSpPr/>
          <p:nvPr/>
        </p:nvSpPr>
        <p:spPr>
          <a:xfrm>
            <a:off x="914400" y="5048250"/>
            <a:ext cx="4838700" cy="723900"/>
          </a:xfrm>
          <a:prstGeom prst="roundRect">
            <a:avLst>
              <a:gd name="adj" fmla="val 5263"/>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04900" y="5048250"/>
            <a:ext cx="445770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이렇게 묻기  약점과 반대 근거부터 (7-4)</a:t>
            </a:r>
          </a:p>
        </p:txBody>
      </p:sp>
      <p:sp>
        <p:nvSpPr>
          <p:cNvPr id="13" name="Rounded Rectangle 12"/>
          <p:cNvSpPr/>
          <p:nvPr/>
        </p:nvSpPr>
        <p:spPr>
          <a:xfrm>
            <a:off x="6210300" y="1809750"/>
            <a:ext cx="5295900" cy="4191000"/>
          </a:xfrm>
          <a:prstGeom prst="roundRect">
            <a:avLst>
              <a:gd name="adj" fmla="val 909"/>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10300" y="1809750"/>
            <a:ext cx="5295900" cy="95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15100" y="2190750"/>
            <a:ext cx="4686300" cy="609600"/>
          </a:xfrm>
          <a:prstGeom prst="rect">
            <a:avLst/>
          </a:prstGeom>
          <a:noFill/>
        </p:spPr>
        <p:txBody>
          <a:bodyPr wrap="square" lIns="0" tIns="0" rIns="0" bIns="0" anchor="t"/>
          <a:lstStyle/>
          <a:p>
            <a:pPr algn="l" latinLnBrk="0" eaLnBrk="1">
              <a:lnSpc>
                <a:spcPct val="100000"/>
              </a:lnSpc>
            </a:pPr>
            <a:r>
              <a:rPr sz="3600" b="1" spc="-72" lang="ko-KR" altLang="en-US">
                <a:solidFill>
                  <a:srgbClr val="202921"/>
                </a:solidFill>
                <a:latin typeface="Noto Sans KR"/>
                <a:ea typeface="Noto Sans KR"/>
                <a:cs typeface="Noto Sans KR"/>
              </a:rPr>
              <a:t>들쭉날쭉</a:t>
            </a:r>
          </a:p>
        </p:txBody>
      </p:sp>
      <p:sp>
        <p:nvSpPr>
          <p:cNvPr id="16" name="TextBox 15"/>
          <p:cNvSpPr txBox="1"/>
          <p:nvPr/>
        </p:nvSpPr>
        <p:spPr>
          <a:xfrm>
            <a:off x="6515100" y="3048000"/>
            <a:ext cx="4686300" cy="1619250"/>
          </a:xfrm>
          <a:prstGeom prst="rect">
            <a:avLst/>
          </a:prstGeom>
          <a:noFill/>
        </p:spPr>
        <p:txBody>
          <a:bodyPr wrap="square" lIns="0" tIns="0" rIns="0" bIns="0" anchor="t"/>
          <a:lstStyle/>
          <a:p>
            <a:pPr algn="l" latinLnBrk="0" eaLnBrk="1">
              <a:lnSpc>
                <a:spcPct val="145000"/>
              </a:lnSpc>
            </a:pPr>
            <a:r>
              <a:rPr sz="1950" b="0" spc="-39" lang="ko-KR" altLang="en-US">
                <a:solidFill>
                  <a:srgbClr val="586356"/>
                </a:solidFill>
                <a:latin typeface="Noto Sans KR"/>
                <a:ea typeface="Noto Sans KR"/>
                <a:cs typeface="Noto Sans KR"/>
              </a:rPr>
              <a:t>같은 글, 같은 질문에도 답이 바뀝니다.</a:t>
            </a:r>
            <a:br/>
            <a:r>
              <a:rPr sz="1950" b="0" spc="-39" lang="ko-KR" altLang="en-US">
                <a:solidFill>
                  <a:srgbClr val="586356"/>
                </a:solidFill>
                <a:latin typeface="Noto Sans KR"/>
                <a:ea typeface="Noto Sans KR"/>
                <a:cs typeface="Noto Sans KR"/>
              </a:rPr>
              <a:t>오늘 Gemini: 'AI가 썼을 가능성'</a:t>
            </a:r>
            <a:br/>
            <a:r>
              <a:rPr sz="1950" b="0" spc="-39" lang="ko-KR" altLang="en-US">
                <a:solidFill>
                  <a:srgbClr val="586356"/>
                </a:solidFill>
                <a:latin typeface="Noto Sans KR"/>
                <a:ea typeface="Noto Sans KR"/>
                <a:cs typeface="Noto Sans KR"/>
              </a:rPr>
              <a:t>15% → 새 대화에서 10%</a:t>
            </a:r>
          </a:p>
        </p:txBody>
      </p:sp>
      <p:sp>
        <p:nvSpPr>
          <p:cNvPr id="17" name="Rounded Rectangle 16"/>
          <p:cNvSpPr/>
          <p:nvPr/>
        </p:nvSpPr>
        <p:spPr>
          <a:xfrm>
            <a:off x="6438900" y="5048250"/>
            <a:ext cx="4838700" cy="723900"/>
          </a:xfrm>
          <a:prstGeom prst="roundRect">
            <a:avLst>
              <a:gd name="adj" fmla="val 5263"/>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29400" y="5048250"/>
            <a:ext cx="445770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이렇게 묻기  새 대화에서 한 번 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 공통 원리 · 25–33분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20</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공통 원리 · 질문 모음 7번</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어느 도구에서나 쓰는 점검 질문 네 개</a:t>
            </a:r>
          </a:p>
        </p:txBody>
      </p:sp>
      <p:sp>
        <p:nvSpPr>
          <p:cNvPr id="7" name="Rounded Rectangle 6"/>
          <p:cNvSpPr/>
          <p:nvPr/>
        </p:nvSpPr>
        <p:spPr>
          <a:xfrm>
            <a:off x="685800" y="1809750"/>
            <a:ext cx="10820400" cy="914400"/>
          </a:xfrm>
          <a:prstGeom prst="roundRect">
            <a:avLst>
              <a:gd name="adj" fmla="val 416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76300" y="2038350"/>
            <a:ext cx="800100" cy="457200"/>
          </a:xfrm>
          <a:prstGeom prst="roundRect">
            <a:avLst>
              <a:gd name="adj" fmla="val 8333"/>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6300" y="2038350"/>
            <a:ext cx="800100" cy="4572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7-1</a:t>
            </a:r>
          </a:p>
        </p:txBody>
      </p:sp>
      <p:sp>
        <p:nvSpPr>
          <p:cNvPr id="10" name="TextBox 9"/>
          <p:cNvSpPr txBox="1"/>
          <p:nvPr/>
        </p:nvSpPr>
        <p:spPr>
          <a:xfrm>
            <a:off x="1905000" y="1924050"/>
            <a:ext cx="2762250" cy="381000"/>
          </a:xfrm>
          <a:prstGeom prst="rect">
            <a:avLst/>
          </a:prstGeom>
          <a:noFill/>
        </p:spPr>
        <p:txBody>
          <a:bodyPr wrap="square" lIns="0" tIns="0" rIns="0" bIns="0" anchor="t"/>
          <a:lstStyle/>
          <a:p>
            <a:pPr algn="l" latinLnBrk="0" eaLnBrk="1">
              <a:lnSpc>
                <a:spcPct val="100000"/>
              </a:lnSpc>
            </a:pPr>
            <a:r>
              <a:rPr sz="2100" b="1" spc="-42" lang="ko-KR" altLang="en-US">
                <a:solidFill>
                  <a:srgbClr val="202921"/>
                </a:solidFill>
                <a:latin typeface="Noto Sans KR"/>
                <a:ea typeface="Noto Sans KR"/>
                <a:cs typeface="Noto Sans KR"/>
              </a:rPr>
              <a:t>환각 점검</a:t>
            </a:r>
          </a:p>
        </p:txBody>
      </p:sp>
      <p:sp>
        <p:nvSpPr>
          <p:cNvPr id="11" name="TextBox 10"/>
          <p:cNvSpPr txBox="1"/>
          <p:nvPr/>
        </p:nvSpPr>
        <p:spPr>
          <a:xfrm>
            <a:off x="1905000" y="2324100"/>
            <a:ext cx="2762250" cy="3048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답을 받은 뒤</a:t>
            </a:r>
          </a:p>
        </p:txBody>
      </p:sp>
      <p:sp>
        <p:nvSpPr>
          <p:cNvPr id="12" name="TextBox 11"/>
          <p:cNvSpPr txBox="1"/>
          <p:nvPr/>
        </p:nvSpPr>
        <p:spPr>
          <a:xfrm>
            <a:off x="4876800" y="1809750"/>
            <a:ext cx="6438900" cy="914400"/>
          </a:xfrm>
          <a:prstGeom prst="rect">
            <a:avLst/>
          </a:prstGeom>
          <a:noFill/>
        </p:spPr>
        <p:txBody>
          <a:bodyPr wrap="square" lIns="0" tIns="0" rIns="0" bIns="0" anchor="ctr"/>
          <a:lstStyle/>
          <a:p>
            <a:pPr algn="l" latinLnBrk="0" eaLnBrk="1">
              <a:lnSpc>
                <a:spcPct val="130000"/>
              </a:lnSpc>
            </a:pPr>
            <a:r>
              <a:rPr sz="1950" b="0" spc="-39" lang="ko-KR" altLang="en-US">
                <a:solidFill>
                  <a:srgbClr val="202921"/>
                </a:solidFill>
                <a:latin typeface="Noto Sans KR"/>
                <a:ea typeface="Noto Sans KR"/>
                <a:cs typeface="Noto Sans KR"/>
              </a:rPr>
              <a:t>숫자·날짜·인용이 든 문장마다 근거 위치를 표로.</a:t>
            </a:r>
            <a:br/>
            <a:r>
              <a:rPr sz="1950" b="0" spc="-39" lang="ko-KR" altLang="en-US">
                <a:solidFill>
                  <a:srgbClr val="202921"/>
                </a:solidFill>
                <a:latin typeface="Noto Sans KR"/>
                <a:ea typeface="Noto Sans KR"/>
                <a:cs typeface="Noto Sans KR"/>
              </a:rPr>
              <a:t>못 찾으면 '자료에 없음'</a:t>
            </a:r>
          </a:p>
        </p:txBody>
      </p:sp>
      <p:sp>
        <p:nvSpPr>
          <p:cNvPr id="13" name="Rounded Rectangle 12"/>
          <p:cNvSpPr/>
          <p:nvPr/>
        </p:nvSpPr>
        <p:spPr>
          <a:xfrm>
            <a:off x="685800" y="2857500"/>
            <a:ext cx="10820400" cy="914400"/>
          </a:xfrm>
          <a:prstGeom prst="roundRect">
            <a:avLst>
              <a:gd name="adj" fmla="val 416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76300" y="3086100"/>
            <a:ext cx="800100" cy="457200"/>
          </a:xfrm>
          <a:prstGeom prst="roundRect">
            <a:avLst>
              <a:gd name="adj" fmla="val 8333"/>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6300" y="3086100"/>
            <a:ext cx="800100" cy="4572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7-2</a:t>
            </a:r>
          </a:p>
        </p:txBody>
      </p:sp>
      <p:sp>
        <p:nvSpPr>
          <p:cNvPr id="16" name="TextBox 15"/>
          <p:cNvSpPr txBox="1"/>
          <p:nvPr/>
        </p:nvSpPr>
        <p:spPr>
          <a:xfrm>
            <a:off x="1905000" y="2971800"/>
            <a:ext cx="2762250" cy="381000"/>
          </a:xfrm>
          <a:prstGeom prst="rect">
            <a:avLst/>
          </a:prstGeom>
          <a:noFill/>
        </p:spPr>
        <p:txBody>
          <a:bodyPr wrap="square" lIns="0" tIns="0" rIns="0" bIns="0" anchor="t"/>
          <a:lstStyle/>
          <a:p>
            <a:pPr algn="l" latinLnBrk="0" eaLnBrk="1">
              <a:lnSpc>
                <a:spcPct val="100000"/>
              </a:lnSpc>
            </a:pPr>
            <a:r>
              <a:rPr sz="2100" b="1" spc="-42" lang="ko-KR" altLang="en-US">
                <a:solidFill>
                  <a:srgbClr val="202921"/>
                </a:solidFill>
                <a:latin typeface="Noto Sans KR"/>
                <a:ea typeface="Noto Sans KR"/>
                <a:cs typeface="Noto Sans KR"/>
              </a:rPr>
              <a:t>끝까지 읽었나</a:t>
            </a:r>
          </a:p>
        </p:txBody>
      </p:sp>
      <p:sp>
        <p:nvSpPr>
          <p:cNvPr id="17" name="TextBox 16"/>
          <p:cNvSpPr txBox="1"/>
          <p:nvPr/>
        </p:nvSpPr>
        <p:spPr>
          <a:xfrm>
            <a:off x="1905000" y="3371850"/>
            <a:ext cx="2762250" cy="3048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파일을 올린 직후</a:t>
            </a:r>
          </a:p>
        </p:txBody>
      </p:sp>
      <p:sp>
        <p:nvSpPr>
          <p:cNvPr id="18" name="TextBox 17"/>
          <p:cNvSpPr txBox="1"/>
          <p:nvPr/>
        </p:nvSpPr>
        <p:spPr>
          <a:xfrm>
            <a:off x="4876800" y="2857500"/>
            <a:ext cx="6438900" cy="914400"/>
          </a:xfrm>
          <a:prstGeom prst="rect">
            <a:avLst/>
          </a:prstGeom>
          <a:noFill/>
        </p:spPr>
        <p:txBody>
          <a:bodyPr wrap="square" lIns="0" tIns="0" rIns="0" bIns="0" anchor="ctr"/>
          <a:lstStyle/>
          <a:p>
            <a:pPr algn="l" latinLnBrk="0" eaLnBrk="1">
              <a:lnSpc>
                <a:spcPct val="130000"/>
              </a:lnSpc>
            </a:pPr>
            <a:r>
              <a:rPr sz="1950" b="0" spc="-39" lang="ko-KR" altLang="en-US">
                <a:solidFill>
                  <a:srgbClr val="202921"/>
                </a:solidFill>
                <a:latin typeface="Noto Sans KR"/>
                <a:ea typeface="Noto Sans KR"/>
                <a:cs typeface="Noto Sans KR"/>
              </a:rPr>
              <a:t>첫 항목, 마지막 항목, 전체 개수만 먼저</a:t>
            </a:r>
          </a:p>
        </p:txBody>
      </p:sp>
      <p:sp>
        <p:nvSpPr>
          <p:cNvPr id="19" name="Rounded Rectangle 18"/>
          <p:cNvSpPr/>
          <p:nvPr/>
        </p:nvSpPr>
        <p:spPr>
          <a:xfrm>
            <a:off x="685800" y="3905250"/>
            <a:ext cx="10820400" cy="914400"/>
          </a:xfrm>
          <a:prstGeom prst="roundRect">
            <a:avLst>
              <a:gd name="adj" fmla="val 416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76300" y="4133850"/>
            <a:ext cx="800100" cy="457200"/>
          </a:xfrm>
          <a:prstGeom prst="roundRect">
            <a:avLst>
              <a:gd name="adj" fmla="val 8333"/>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6300" y="4133850"/>
            <a:ext cx="800100" cy="4572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7-3</a:t>
            </a:r>
          </a:p>
        </p:txBody>
      </p:sp>
      <p:sp>
        <p:nvSpPr>
          <p:cNvPr id="22" name="TextBox 21"/>
          <p:cNvSpPr txBox="1"/>
          <p:nvPr/>
        </p:nvSpPr>
        <p:spPr>
          <a:xfrm>
            <a:off x="1905000" y="4019550"/>
            <a:ext cx="2762250" cy="381000"/>
          </a:xfrm>
          <a:prstGeom prst="rect">
            <a:avLst/>
          </a:prstGeom>
          <a:noFill/>
        </p:spPr>
        <p:txBody>
          <a:bodyPr wrap="square" lIns="0" tIns="0" rIns="0" bIns="0" anchor="t"/>
          <a:lstStyle/>
          <a:p>
            <a:pPr algn="l" latinLnBrk="0" eaLnBrk="1">
              <a:lnSpc>
                <a:spcPct val="100000"/>
              </a:lnSpc>
            </a:pPr>
            <a:r>
              <a:rPr sz="2100" b="1" spc="-42" lang="ko-KR" altLang="en-US">
                <a:solidFill>
                  <a:srgbClr val="202921"/>
                </a:solidFill>
                <a:latin typeface="Noto Sans KR"/>
                <a:ea typeface="Noto Sans KR"/>
                <a:cs typeface="Noto Sans KR"/>
              </a:rPr>
              <a:t>새 대화로 넘기기</a:t>
            </a:r>
          </a:p>
        </p:txBody>
      </p:sp>
      <p:sp>
        <p:nvSpPr>
          <p:cNvPr id="23" name="TextBox 22"/>
          <p:cNvSpPr txBox="1"/>
          <p:nvPr/>
        </p:nvSpPr>
        <p:spPr>
          <a:xfrm>
            <a:off x="1905000" y="4419600"/>
            <a:ext cx="2762250" cy="3048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대화가 길어지면</a:t>
            </a:r>
          </a:p>
        </p:txBody>
      </p:sp>
      <p:sp>
        <p:nvSpPr>
          <p:cNvPr id="24" name="TextBox 23"/>
          <p:cNvSpPr txBox="1"/>
          <p:nvPr/>
        </p:nvSpPr>
        <p:spPr>
          <a:xfrm>
            <a:off x="4876800" y="3905250"/>
            <a:ext cx="6438900" cy="914400"/>
          </a:xfrm>
          <a:prstGeom prst="rect">
            <a:avLst/>
          </a:prstGeom>
          <a:noFill/>
        </p:spPr>
        <p:txBody>
          <a:bodyPr wrap="square" lIns="0" tIns="0" rIns="0" bIns="0" anchor="ctr"/>
          <a:lstStyle/>
          <a:p>
            <a:pPr algn="l" latinLnBrk="0" eaLnBrk="1">
              <a:lnSpc>
                <a:spcPct val="130000"/>
              </a:lnSpc>
            </a:pPr>
            <a:r>
              <a:rPr sz="1950" b="0" spc="-39" lang="ko-KR" altLang="en-US">
                <a:solidFill>
                  <a:srgbClr val="202921"/>
                </a:solidFill>
                <a:latin typeface="Noto Sans KR"/>
                <a:ea typeface="Noto Sans KR"/>
                <a:cs typeface="Noto Sans KR"/>
              </a:rPr>
              <a:t>조건·자료·결론·남은 일을 10줄로 요약</a:t>
            </a:r>
          </a:p>
        </p:txBody>
      </p:sp>
      <p:sp>
        <p:nvSpPr>
          <p:cNvPr id="25" name="Rounded Rectangle 24"/>
          <p:cNvSpPr/>
          <p:nvPr/>
        </p:nvSpPr>
        <p:spPr>
          <a:xfrm>
            <a:off x="685800" y="4953000"/>
            <a:ext cx="10820400" cy="914400"/>
          </a:xfrm>
          <a:prstGeom prst="roundRect">
            <a:avLst>
              <a:gd name="adj" fmla="val 416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876300" y="5181600"/>
            <a:ext cx="800100" cy="457200"/>
          </a:xfrm>
          <a:prstGeom prst="roundRect">
            <a:avLst>
              <a:gd name="adj" fmla="val 8333"/>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76300" y="5181600"/>
            <a:ext cx="800100" cy="4572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7-4</a:t>
            </a:r>
          </a:p>
        </p:txBody>
      </p:sp>
      <p:sp>
        <p:nvSpPr>
          <p:cNvPr id="28" name="TextBox 27"/>
          <p:cNvSpPr txBox="1"/>
          <p:nvPr/>
        </p:nvSpPr>
        <p:spPr>
          <a:xfrm>
            <a:off x="1905000" y="5067300"/>
            <a:ext cx="2762250" cy="381000"/>
          </a:xfrm>
          <a:prstGeom prst="rect">
            <a:avLst/>
          </a:prstGeom>
          <a:noFill/>
        </p:spPr>
        <p:txBody>
          <a:bodyPr wrap="square" lIns="0" tIns="0" rIns="0" bIns="0" anchor="t"/>
          <a:lstStyle/>
          <a:p>
            <a:pPr algn="l" latinLnBrk="0" eaLnBrk="1">
              <a:lnSpc>
                <a:spcPct val="100000"/>
              </a:lnSpc>
            </a:pPr>
            <a:r>
              <a:rPr sz="2100" b="1" spc="-42" lang="ko-KR" altLang="en-US">
                <a:solidFill>
                  <a:srgbClr val="202921"/>
                </a:solidFill>
                <a:latin typeface="Noto Sans KR"/>
                <a:ea typeface="Noto Sans KR"/>
                <a:cs typeface="Noto Sans KR"/>
              </a:rPr>
              <a:t>반대로 묻기</a:t>
            </a:r>
          </a:p>
        </p:txBody>
      </p:sp>
      <p:sp>
        <p:nvSpPr>
          <p:cNvPr id="29" name="TextBox 28"/>
          <p:cNvSpPr txBox="1"/>
          <p:nvPr/>
        </p:nvSpPr>
        <p:spPr>
          <a:xfrm>
            <a:off x="1905000" y="5467350"/>
            <a:ext cx="2762250" cy="3048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초안을 검토할 때</a:t>
            </a:r>
          </a:p>
        </p:txBody>
      </p:sp>
      <p:sp>
        <p:nvSpPr>
          <p:cNvPr id="30" name="TextBox 29"/>
          <p:cNvSpPr txBox="1"/>
          <p:nvPr/>
        </p:nvSpPr>
        <p:spPr>
          <a:xfrm>
            <a:off x="4876800" y="4953000"/>
            <a:ext cx="6438900" cy="914400"/>
          </a:xfrm>
          <a:prstGeom prst="rect">
            <a:avLst/>
          </a:prstGeom>
          <a:noFill/>
        </p:spPr>
        <p:txBody>
          <a:bodyPr wrap="square" lIns="0" tIns="0" rIns="0" bIns="0" anchor="ctr"/>
          <a:lstStyle/>
          <a:p>
            <a:pPr algn="l" latinLnBrk="0" eaLnBrk="1">
              <a:lnSpc>
                <a:spcPct val="130000"/>
              </a:lnSpc>
            </a:pPr>
            <a:r>
              <a:rPr sz="1950" b="0" spc="-39" lang="ko-KR" altLang="en-US">
                <a:solidFill>
                  <a:srgbClr val="202921"/>
                </a:solidFill>
                <a:latin typeface="Noto Sans KR"/>
                <a:ea typeface="Noto Sans KR"/>
                <a:cs typeface="Noto Sans KR"/>
              </a:rPr>
              <a:t>칭찬 말고 약점 세 가지와 반대 근거부터</a:t>
            </a:r>
          </a:p>
        </p:txBody>
      </p:sp>
      <p:sp>
        <p:nvSpPr>
          <p:cNvPr id="31" name="TextBox 30"/>
          <p:cNvSpPr txBox="1"/>
          <p:nvPr/>
        </p:nvSpPr>
        <p:spPr>
          <a:xfrm>
            <a:off x="685800" y="6057900"/>
            <a:ext cx="10820400" cy="32385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전체 문장: 사이트 'AI 공통 원리' · 06_복사용_질문모음.md 7번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02921"/>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C1C9BE"/>
                </a:solidFill>
                <a:latin typeface="Noto Sans KR"/>
                <a:ea typeface="Noto Sans KR"/>
                <a:cs typeface="Noto Sans KR"/>
              </a:rPr>
              <a:t>실습 1 · 33–70분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F4F1E9"/>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C1C9BE"/>
                </a:solidFill>
                <a:latin typeface="Noto Sans KR"/>
                <a:ea typeface="Noto Sans KR"/>
                <a:cs typeface="Noto Sans KR"/>
              </a:rPr>
              <a:t>21</a:t>
            </a:r>
          </a:p>
        </p:txBody>
      </p:sp>
      <p:sp>
        <p:nvSpPr>
          <p:cNvPr id="5" name="TextBox 4"/>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실습 1 · 33–70분 · 논문 5편</a:t>
            </a:r>
          </a:p>
        </p:txBody>
      </p:sp>
      <p:sp>
        <p:nvSpPr>
          <p:cNvPr id="6" name="TextBox 5"/>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DF7"/>
                </a:solidFill>
                <a:latin typeface="Noto Sans KR"/>
                <a:ea typeface="Noto Sans KR"/>
                <a:cs typeface="Noto Sans KR"/>
              </a:rPr>
              <a:t>Gemini Notebook</a:t>
            </a:r>
          </a:p>
        </p:txBody>
      </p:sp>
      <p:sp>
        <p:nvSpPr>
          <p:cNvPr id="7" name="TextBox 6"/>
          <p:cNvSpPr txBox="1"/>
          <p:nvPr/>
        </p:nvSpPr>
        <p:spPr>
          <a:xfrm>
            <a:off x="685800" y="2495550"/>
            <a:ext cx="7239000" cy="533400"/>
          </a:xfrm>
          <a:prstGeom prst="rect">
            <a:avLst/>
          </a:prstGeom>
          <a:noFill/>
        </p:spPr>
        <p:txBody>
          <a:bodyPr wrap="square" lIns="0" tIns="0" rIns="0" bIns="0" anchor="t"/>
          <a:lstStyle/>
          <a:p>
            <a:pPr algn="l" latinLnBrk="0" eaLnBrk="1">
              <a:lnSpc>
                <a:spcPct val="100000"/>
              </a:lnSpc>
            </a:pPr>
            <a:r>
              <a:rPr sz="3000" b="1" spc="-60" lang="ko-KR" altLang="en-US">
                <a:solidFill>
                  <a:srgbClr val="FFFDF7"/>
                </a:solidFill>
                <a:latin typeface="Noto Sans KR"/>
                <a:ea typeface="Noto Sans KR"/>
                <a:cs typeface="Noto Sans KR"/>
              </a:rPr>
              <a:t>(구 NotebookLM)</a:t>
            </a:r>
          </a:p>
        </p:txBody>
      </p:sp>
      <p:sp>
        <p:nvSpPr>
          <p:cNvPr id="8" name="TextBox 7"/>
          <p:cNvSpPr txBox="1"/>
          <p:nvPr/>
        </p:nvSpPr>
        <p:spPr>
          <a:xfrm>
            <a:off x="685800" y="34099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DF7"/>
                </a:solidFill>
                <a:latin typeface="Noto Sans KR"/>
                <a:ea typeface="Noto Sans KR"/>
                <a:cs typeface="Noto Sans KR"/>
              </a:rPr>
              <a:t>내가 올린 자료 안에서만 답하고,</a:t>
            </a:r>
            <a:br/>
            <a:r>
              <a:rPr sz="2250" b="0" spc="-45" lang="ko-KR" altLang="en-US">
                <a:solidFill>
                  <a:srgbClr val="FFFDF7"/>
                </a:solidFill>
                <a:latin typeface="Noto Sans KR"/>
                <a:ea typeface="Noto Sans KR"/>
                <a:cs typeface="Noto Sans KR"/>
              </a:rPr>
              <a:t>문장마다 출처 번호를 붙입니다.</a:t>
            </a:r>
          </a:p>
        </p:txBody>
      </p:sp>
      <p:sp>
        <p:nvSpPr>
          <p:cNvPr id="9" name="Rounded Rectangle 8"/>
          <p:cNvSpPr/>
          <p:nvPr/>
        </p:nvSpPr>
        <p:spPr>
          <a:xfrm>
            <a:off x="7810500" y="1428750"/>
            <a:ext cx="3695700" cy="3619500"/>
          </a:xfrm>
          <a:prstGeom prst="roundRect">
            <a:avLst>
              <a:gd name="adj" fmla="val 105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이 시간에 할 일</a:t>
            </a:r>
          </a:p>
        </p:txBody>
      </p:sp>
      <p:sp>
        <p:nvSpPr>
          <p:cNvPr id="11" name="Oval 10"/>
          <p:cNvSpPr/>
          <p:nvPr/>
        </p:nvSpPr>
        <p:spPr>
          <a:xfrm>
            <a:off x="8115300" y="22860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1</a:t>
            </a:r>
          </a:p>
        </p:txBody>
      </p:sp>
      <p:sp>
        <p:nvSpPr>
          <p:cNvPr id="13" name="TextBox 12"/>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비교표 만들기</a:t>
            </a:r>
          </a:p>
        </p:txBody>
      </p:sp>
      <p:sp>
        <p:nvSpPr>
          <p:cNvPr id="14" name="Oval 13"/>
          <p:cNvSpPr/>
          <p:nvPr/>
        </p:nvSpPr>
        <p:spPr>
          <a:xfrm>
            <a:off x="8115300" y="32004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2</a:t>
            </a:r>
          </a:p>
        </p:txBody>
      </p:sp>
      <p:sp>
        <p:nvSpPr>
          <p:cNvPr id="16" name="TextBox 15"/>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인용 세 문장 확인</a:t>
            </a:r>
          </a:p>
        </p:txBody>
      </p:sp>
      <p:sp>
        <p:nvSpPr>
          <p:cNvPr id="17" name="Oval 16"/>
          <p:cNvSpPr/>
          <p:nvPr/>
        </p:nvSpPr>
        <p:spPr>
          <a:xfrm>
            <a:off x="8115300" y="41148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3</a:t>
            </a:r>
          </a:p>
        </p:txBody>
      </p:sp>
      <p:sp>
        <p:nvSpPr>
          <p:cNvPr id="19" name="TextBox 18"/>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오디오 요약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Gemini Notebook · 33–70분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22</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왜 이 도구인가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비교표 초안은 AI가 쓰고, 해석은 교수님이 합니다</a:t>
            </a:r>
          </a:p>
        </p:txBody>
      </p:sp>
      <p:sp>
        <p:nvSpPr>
          <p:cNvPr id="7" name="Rounded Rectangle 6"/>
          <p:cNvSpPr/>
          <p:nvPr/>
        </p:nvSpPr>
        <p:spPr>
          <a:xfrm>
            <a:off x="685800" y="1866900"/>
            <a:ext cx="4953000" cy="4000500"/>
          </a:xfrm>
          <a:prstGeom prst="roundRect">
            <a:avLst>
              <a:gd name="adj" fmla="val 95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0600" y="2095500"/>
            <a:ext cx="43815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혼자 읽으면</a:t>
            </a:r>
          </a:p>
        </p:txBody>
      </p:sp>
      <p:sp>
        <p:nvSpPr>
          <p:cNvPr id="9" name="Rounded Rectangle 8"/>
          <p:cNvSpPr/>
          <p:nvPr/>
        </p:nvSpPr>
        <p:spPr>
          <a:xfrm>
            <a:off x="990600" y="2628900"/>
            <a:ext cx="746760" cy="1181100"/>
          </a:xfrm>
          <a:prstGeom prst="roundRect">
            <a:avLst>
              <a:gd name="adj" fmla="val 5102"/>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04900" y="28575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04900" y="306705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04900" y="32766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04900" y="3486150"/>
            <a:ext cx="3276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889760" y="2628900"/>
            <a:ext cx="746760" cy="1181100"/>
          </a:xfrm>
          <a:prstGeom prst="roundRect">
            <a:avLst>
              <a:gd name="adj" fmla="val 5102"/>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004060" y="28575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004060" y="306705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004060" y="32766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004060" y="3486150"/>
            <a:ext cx="3276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2788920" y="2628900"/>
            <a:ext cx="746760" cy="1181100"/>
          </a:xfrm>
          <a:prstGeom prst="roundRect">
            <a:avLst>
              <a:gd name="adj" fmla="val 5102"/>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903220" y="28575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903220" y="306705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903220" y="32766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903220" y="3486150"/>
            <a:ext cx="3276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688080" y="2628900"/>
            <a:ext cx="746760" cy="1181100"/>
          </a:xfrm>
          <a:prstGeom prst="roundRect">
            <a:avLst>
              <a:gd name="adj" fmla="val 5102"/>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802380" y="28575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802380" y="306705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802380" y="32766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802380" y="3486150"/>
            <a:ext cx="3276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587240" y="2628900"/>
            <a:ext cx="746760" cy="1181100"/>
          </a:xfrm>
          <a:prstGeom prst="roundRect">
            <a:avLst>
              <a:gd name="adj" fmla="val 5102"/>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701540" y="28575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01540" y="306705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01540" y="3276600"/>
            <a:ext cx="5181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01540" y="3486150"/>
            <a:ext cx="327660" cy="57150"/>
          </a:xfrm>
          <a:prstGeom prst="rect">
            <a:avLst/>
          </a:prstGeom>
          <a:solidFill>
            <a:srgbClr val="E3DE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90600" y="4095750"/>
            <a:ext cx="4381500" cy="1143000"/>
          </a:xfrm>
          <a:prstGeom prst="rect">
            <a:avLst/>
          </a:prstGeom>
          <a:noFill/>
        </p:spPr>
        <p:txBody>
          <a:bodyPr wrap="square" lIns="0" tIns="0" rIns="0" bIns="0" anchor="t"/>
          <a:lstStyle/>
          <a:p>
            <a:pPr algn="l" latinLnBrk="0" eaLnBrk="1">
              <a:lnSpc>
                <a:spcPct val="135000"/>
              </a:lnSpc>
            </a:pPr>
            <a:r>
              <a:rPr sz="2100" b="0" spc="-42" lang="ko-KR" altLang="en-US">
                <a:solidFill>
                  <a:srgbClr val="586356"/>
                </a:solidFill>
                <a:latin typeface="Noto Sans KR"/>
                <a:ea typeface="Noto Sans KR"/>
                <a:cs typeface="Noto Sans KR"/>
              </a:rPr>
              <a:t>다섯 편을 차례로 읽고 표를 채웁니다.</a:t>
            </a:r>
            <a:br/>
            <a:r>
              <a:rPr sz="2100" b="0" spc="-42" lang="ko-KR" altLang="en-US">
                <a:solidFill>
                  <a:srgbClr val="586356"/>
                </a:solidFill>
                <a:latin typeface="Noto Sans KR"/>
                <a:ea typeface="Noto Sans KR"/>
                <a:cs typeface="Noto Sans KR"/>
              </a:rPr>
              <a:t>다섯째 편쯤 첫 편이 흐려집니다.</a:t>
            </a:r>
          </a:p>
        </p:txBody>
      </p:sp>
      <p:sp>
        <p:nvSpPr>
          <p:cNvPr id="35" name="TextBox 34"/>
          <p:cNvSpPr txBox="1"/>
          <p:nvPr/>
        </p:nvSpPr>
        <p:spPr>
          <a:xfrm>
            <a:off x="990600" y="5334000"/>
            <a:ext cx="4381500" cy="381000"/>
          </a:xfrm>
          <a:prstGeom prst="rect">
            <a:avLst/>
          </a:prstGeom>
          <a:noFill/>
        </p:spPr>
        <p:txBody>
          <a:bodyPr wrap="square" lIns="0" tIns="0" rIns="0" bIns="0" anchor="t"/>
          <a:lstStyle/>
          <a:p>
            <a:pPr algn="l" latinLnBrk="0" eaLnBrk="1">
              <a:lnSpc>
                <a:spcPct val="100000"/>
              </a:lnSpc>
            </a:pPr>
            <a:r>
              <a:rPr sz="1950" b="1" spc="-39" lang="ko-KR" altLang="en-US">
                <a:solidFill>
                  <a:srgbClr val="586356"/>
                </a:solidFill>
                <a:latin typeface="Noto Sans KR"/>
                <a:ea typeface="Noto Sans KR"/>
                <a:cs typeface="Noto Sans KR"/>
              </a:rPr>
              <a:t>걸린 시간 ______분</a:t>
            </a:r>
          </a:p>
        </p:txBody>
      </p:sp>
      <p:sp>
        <p:nvSpPr>
          <p:cNvPr id="36" name="TextBox 35"/>
          <p:cNvSpPr txBox="1"/>
          <p:nvPr/>
        </p:nvSpPr>
        <p:spPr>
          <a:xfrm>
            <a:off x="5676900" y="3429000"/>
            <a:ext cx="495300" cy="571500"/>
          </a:xfrm>
          <a:prstGeom prst="rect">
            <a:avLst/>
          </a:prstGeom>
          <a:noFill/>
        </p:spPr>
        <p:txBody>
          <a:bodyPr wrap="square" lIns="0" tIns="0" rIns="0" bIns="0" anchor="t"/>
          <a:lstStyle/>
          <a:p>
            <a:pPr algn="ctr" latinLnBrk="0" eaLnBrk="1">
              <a:lnSpc>
                <a:spcPct val="100000"/>
              </a:lnSpc>
            </a:pPr>
            <a:r>
              <a:rPr sz="3300" b="1" spc="-66" lang="ko-KR" altLang="en-US">
                <a:solidFill>
                  <a:srgbClr val="202921"/>
                </a:solidFill>
                <a:latin typeface="Noto Sans KR"/>
                <a:ea typeface="Noto Sans KR"/>
                <a:cs typeface="Noto Sans KR"/>
              </a:rPr>
              <a:t>→</a:t>
            </a:r>
          </a:p>
        </p:txBody>
      </p:sp>
      <p:sp>
        <p:nvSpPr>
          <p:cNvPr id="37" name="Rounded Rectangle 36"/>
          <p:cNvSpPr/>
          <p:nvPr/>
        </p:nvSpPr>
        <p:spPr>
          <a:xfrm>
            <a:off x="6210300" y="1866900"/>
            <a:ext cx="5295900" cy="4000500"/>
          </a:xfrm>
          <a:prstGeom prst="roundRect">
            <a:avLst>
              <a:gd name="adj" fmla="val 952"/>
            </a:avLst>
          </a:prstGeom>
          <a:solidFill>
            <a:srgbClr val="FFFDF7"/>
          </a:solidFill>
          <a:ln w="28575">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15100" y="2095500"/>
            <a:ext cx="466725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Gemini Notebook이 먼저</a:t>
            </a:r>
          </a:p>
        </p:txBody>
      </p:sp>
      <p:sp>
        <p:nvSpPr>
          <p:cNvPr id="39" name="Rounded Rectangle 38"/>
          <p:cNvSpPr/>
          <p:nvPr/>
        </p:nvSpPr>
        <p:spPr>
          <a:xfrm>
            <a:off x="6515100" y="2628900"/>
            <a:ext cx="4686300" cy="666750"/>
          </a:xfrm>
          <a:prstGeom prst="roundRect">
            <a:avLst>
              <a:gd name="adj" fmla="val 5714"/>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705600" y="262890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① 비교표 초안 받기</a:t>
            </a:r>
          </a:p>
        </p:txBody>
      </p:sp>
      <p:sp>
        <p:nvSpPr>
          <p:cNvPr id="41" name="Rounded Rectangle 40"/>
          <p:cNvSpPr/>
          <p:nvPr/>
        </p:nvSpPr>
        <p:spPr>
          <a:xfrm>
            <a:off x="6515100" y="3409950"/>
            <a:ext cx="4686300" cy="666750"/>
          </a:xfrm>
          <a:prstGeom prst="roundRect">
            <a:avLst>
              <a:gd name="adj" fmla="val 5714"/>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05600" y="340995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② 숫자마다 인용 눌러 보기</a:t>
            </a:r>
          </a:p>
        </p:txBody>
      </p:sp>
      <p:sp>
        <p:nvSpPr>
          <p:cNvPr id="43" name="Rounded Rectangle 42"/>
          <p:cNvSpPr/>
          <p:nvPr/>
        </p:nvSpPr>
        <p:spPr>
          <a:xfrm>
            <a:off x="6515100" y="4191000"/>
            <a:ext cx="4686300" cy="666750"/>
          </a:xfrm>
          <a:prstGeom prst="roundRect">
            <a:avLst>
              <a:gd name="adj" fmla="val 5714"/>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705600" y="4191000"/>
            <a:ext cx="43815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③ 해석은 교수님이</a:t>
            </a:r>
          </a:p>
        </p:txBody>
      </p:sp>
      <p:sp>
        <p:nvSpPr>
          <p:cNvPr id="45" name="TextBox 44"/>
          <p:cNvSpPr txBox="1"/>
          <p:nvPr/>
        </p:nvSpPr>
        <p:spPr>
          <a:xfrm>
            <a:off x="6515100" y="5334000"/>
            <a:ext cx="4667250" cy="381000"/>
          </a:xfrm>
          <a:prstGeom prst="rect">
            <a:avLst/>
          </a:prstGeom>
          <a:noFill/>
        </p:spPr>
        <p:txBody>
          <a:bodyPr wrap="square" lIns="0" tIns="0" rIns="0" bIns="0" anchor="t"/>
          <a:lstStyle/>
          <a:p>
            <a:pPr algn="l" latinLnBrk="0" eaLnBrk="1">
              <a:lnSpc>
                <a:spcPct val="100000"/>
              </a:lnSpc>
            </a:pPr>
            <a:r>
              <a:rPr sz="1950" b="1" spc="-39" lang="ko-KR" altLang="en-US">
                <a:solidFill>
                  <a:srgbClr val="586356"/>
                </a:solidFill>
                <a:latin typeface="Noto Sans KR"/>
                <a:ea typeface="Noto Sans KR"/>
                <a:cs typeface="Noto Sans KR"/>
              </a:rPr>
              <a:t>걸린 시간 ______분 (오늘 실측)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Gemini Notebook · 33–70분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23</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실제 화면 · Gemini Notebook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새 노트북에는 논문 다섯 편만 소스로 올립니다</a:t>
            </a:r>
          </a:p>
        </p:txBody>
      </p:sp>
      <p:pic>
        <p:nvPicPr>
          <p:cNvPr id="7" name="Picture 6" descr="nb-sources.png"/>
          <p:cNvPicPr>
            <a:picLocks noChangeAspect="1"/>
          </p:cNvPicPr>
          <p:nvPr/>
        </p:nvPicPr>
        <p:blipFill>
          <a:blip r:embed="rId4"/>
          <a:stretch>
            <a:fillRect/>
          </a:stretch>
        </p:blipFill>
        <p:spPr>
          <a:xfrm>
            <a:off x="685800" y="1581150"/>
            <a:ext cx="10820400" cy="4311253"/>
          </a:xfrm>
          <a:prstGeom prst="rect">
            <a:avLst/>
          </a:prstGeom>
          <a:ln w="9525">
            <a:solidFill>
              <a:srgbClr val="C9CCC0"/>
            </a:solidFill>
          </a:ln>
        </p:spPr>
      </p:pic>
      <p:sp>
        <p:nvSpPr>
          <p:cNvPr id="8" name="Oval 7"/>
          <p:cNvSpPr/>
          <p:nvPr/>
        </p:nvSpPr>
        <p:spPr>
          <a:xfrm>
            <a:off x="457200" y="1905000"/>
            <a:ext cx="419100" cy="419100"/>
          </a:xfrm>
          <a:prstGeom prst="ellipse">
            <a:avLst/>
          </a:prstGeom>
          <a:solidFill>
            <a:srgbClr val="EA5936"/>
          </a:solidFill>
          <a:ln w="38100">
            <a:solidFill>
              <a:srgbClr val="FFFD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905000"/>
            <a:ext cx="419100" cy="41910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1</a:t>
            </a:r>
          </a:p>
        </p:txBody>
      </p:sp>
      <p:sp>
        <p:nvSpPr>
          <p:cNvPr id="10" name="Oval 9"/>
          <p:cNvSpPr/>
          <p:nvPr/>
        </p:nvSpPr>
        <p:spPr>
          <a:xfrm>
            <a:off x="457200" y="3524250"/>
            <a:ext cx="419100" cy="419100"/>
          </a:xfrm>
          <a:prstGeom prst="ellipse">
            <a:avLst/>
          </a:prstGeom>
          <a:solidFill>
            <a:srgbClr val="EA5936"/>
          </a:solidFill>
          <a:ln w="38100">
            <a:solidFill>
              <a:srgbClr val="FFFD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3524250"/>
            <a:ext cx="419100" cy="41910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2</a:t>
            </a:r>
          </a:p>
        </p:txBody>
      </p:sp>
      <p:sp>
        <p:nvSpPr>
          <p:cNvPr id="12" name="TextBox 11"/>
          <p:cNvSpPr txBox="1"/>
          <p:nvPr/>
        </p:nvSpPr>
        <p:spPr>
          <a:xfrm>
            <a:off x="685800" y="6019800"/>
            <a:ext cx="10820400" cy="342900"/>
          </a:xfrm>
          <a:prstGeom prst="rect">
            <a:avLst/>
          </a:prstGeom>
          <a:noFill/>
        </p:spPr>
        <p:txBody>
          <a:bodyPr wrap="square" lIns="0" tIns="0" rIns="0" bIns="0" anchor="t"/>
          <a:lstStyle/>
          <a:p>
            <a:pPr algn="l" latinLnBrk="0" eaLnBrk="1">
              <a:lnSpc>
                <a:spcPct val="100000"/>
              </a:lnSpc>
            </a:pPr>
            <a:r>
              <a:rPr sz="1800" b="1" spc="-36" lang="ko-KR" altLang="en-US">
                <a:solidFill>
                  <a:srgbClr val="EA5936"/>
                </a:solidFill>
                <a:latin typeface="Noto Sans KR"/>
                <a:ea typeface="Noto Sans KR"/>
                <a:cs typeface="Noto Sans KR"/>
              </a:rPr>
              <a:t>①</a:t>
            </a:r>
            <a:r>
              <a:rPr sz="1800" b="1" spc="-36" lang="ko-KR" altLang="en-US">
                <a:solidFill>
                  <a:srgbClr val="202921"/>
                </a:solidFill>
                <a:latin typeface="Noto Sans KR"/>
                <a:ea typeface="Noto Sans KR"/>
                <a:cs typeface="Noto Sans KR"/>
              </a:rPr>
              <a:t> + 소스 추가 → 파일 업로드    </a:t>
            </a:r>
            <a:r>
              <a:rPr sz="1800" b="1" spc="-36" lang="ko-KR" altLang="en-US">
                <a:solidFill>
                  <a:srgbClr val="EA5936"/>
                </a:solidFill>
                <a:latin typeface="Noto Sans KR"/>
                <a:ea typeface="Noto Sans KR"/>
                <a:cs typeface="Noto Sans KR"/>
              </a:rPr>
              <a:t>②</a:t>
            </a:r>
            <a:r>
              <a:rPr sz="1800" b="1" spc="-36" lang="ko-KR" altLang="en-US">
                <a:solidFill>
                  <a:srgbClr val="202921"/>
                </a:solidFill>
                <a:latin typeface="Noto Sans KR"/>
                <a:ea typeface="Noto Sans KR"/>
                <a:cs typeface="Noto Sans KR"/>
              </a:rPr>
              <a:t> 02A~02E 다섯 개만, 해설 파일은 넣지 않습니다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전체 질문은 사이트 #notebooklm-papers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24</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1-1 · 비교표</a:t>
            </a:r>
          </a:p>
        </p:txBody>
      </p:sp>
      <p:sp>
        <p:nvSpPr>
          <p:cNvPr id="7" name="Rounded Rectangle 6"/>
          <p:cNvSpPr/>
          <p:nvPr/>
        </p:nvSpPr>
        <p:spPr>
          <a:xfrm>
            <a:off x="8534400" y="219075"/>
            <a:ext cx="296227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0"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15400" y="219075"/>
            <a:ext cx="250507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7분 · Gemini Notebook</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다섯 편의 연구 설계를 한 표로 비교합니다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02A~02E 올리기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질문 2-1 붙여 넣기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C의 78.3% 인용 누르기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연구 조교</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이 노트북의 소스 5개만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설계·대상·기간·측정·핵심 수치·한계 표, 수치마다 인용</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없는 수치, 효과크기로 순위 매기기</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000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논문</a:t>
            </a:r>
          </a:p>
        </p:txBody>
      </p:sp>
      <p:sp>
        <p:nvSpPr>
          <p:cNvPr id="19" name="TextBox 18"/>
          <p:cNvSpPr txBox="1"/>
          <p:nvPr/>
        </p:nvSpPr>
        <p:spPr>
          <a:xfrm>
            <a:off x="7258050" y="2895600"/>
            <a:ext cx="1104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설계</a:t>
            </a:r>
          </a:p>
        </p:txBody>
      </p:sp>
      <p:sp>
        <p:nvSpPr>
          <p:cNvPr id="20" name="TextBox 19"/>
          <p:cNvSpPr txBox="1"/>
          <p:nvPr/>
        </p:nvSpPr>
        <p:spPr>
          <a:xfrm>
            <a:off x="8496300" y="2895600"/>
            <a:ext cx="12001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대상</a:t>
            </a:r>
          </a:p>
        </p:txBody>
      </p:sp>
      <p:sp>
        <p:nvSpPr>
          <p:cNvPr id="21" name="TextBox 20"/>
          <p:cNvSpPr txBox="1"/>
          <p:nvPr/>
        </p:nvSpPr>
        <p:spPr>
          <a:xfrm>
            <a:off x="9829800" y="2895600"/>
            <a:ext cx="14097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핵심 수치</a:t>
            </a:r>
          </a:p>
        </p:txBody>
      </p:sp>
      <p:sp>
        <p:nvSpPr>
          <p:cNvPr id="22" name="Rectangle 21"/>
          <p:cNvSpPr/>
          <p:nvPr/>
        </p:nvSpPr>
        <p:spPr>
          <a:xfrm>
            <a:off x="6438900" y="36814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34150" y="329565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A</a:t>
            </a:r>
          </a:p>
        </p:txBody>
      </p:sp>
      <p:sp>
        <p:nvSpPr>
          <p:cNvPr id="24" name="TextBox 23"/>
          <p:cNvSpPr txBox="1"/>
          <p:nvPr/>
        </p:nvSpPr>
        <p:spPr>
          <a:xfrm>
            <a:off x="7258050" y="32956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준실험</a:t>
            </a:r>
          </a:p>
        </p:txBody>
      </p:sp>
      <p:sp>
        <p:nvSpPr>
          <p:cNvPr id="25" name="TextBox 24"/>
          <p:cNvSpPr txBox="1"/>
          <p:nvPr/>
        </p:nvSpPr>
        <p:spPr>
          <a:xfrm>
            <a:off x="8496300" y="329565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212명</a:t>
            </a:r>
          </a:p>
        </p:txBody>
      </p:sp>
      <p:sp>
        <p:nvSpPr>
          <p:cNvPr id="26" name="TextBox 25"/>
          <p:cNvSpPr txBox="1"/>
          <p:nvPr/>
        </p:nvSpPr>
        <p:spPr>
          <a:xfrm>
            <a:off x="9829800" y="329565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7" name="Rectangle 26"/>
          <p:cNvSpPr/>
          <p:nvPr/>
        </p:nvSpPr>
        <p:spPr>
          <a:xfrm>
            <a:off x="6438900" y="40814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34150" y="369570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B</a:t>
            </a:r>
          </a:p>
        </p:txBody>
      </p:sp>
      <p:sp>
        <p:nvSpPr>
          <p:cNvPr id="29" name="TextBox 28"/>
          <p:cNvSpPr txBox="1"/>
          <p:nvPr/>
        </p:nvSpPr>
        <p:spPr>
          <a:xfrm>
            <a:off x="7258050" y="36957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무작위</a:t>
            </a:r>
          </a:p>
        </p:txBody>
      </p:sp>
      <p:sp>
        <p:nvSpPr>
          <p:cNvPr id="30" name="TextBox 29"/>
          <p:cNvSpPr txBox="1"/>
          <p:nvPr/>
        </p:nvSpPr>
        <p:spPr>
          <a:xfrm>
            <a:off x="8496300" y="369570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340명</a:t>
            </a:r>
          </a:p>
        </p:txBody>
      </p:sp>
      <p:sp>
        <p:nvSpPr>
          <p:cNvPr id="31" name="TextBox 30"/>
          <p:cNvSpPr txBox="1"/>
          <p:nvPr/>
        </p:nvSpPr>
        <p:spPr>
          <a:xfrm>
            <a:off x="9829800" y="369570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2" name="Rectangle 31"/>
          <p:cNvSpPr/>
          <p:nvPr/>
        </p:nvSpPr>
        <p:spPr>
          <a:xfrm>
            <a:off x="6438900" y="4481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4150" y="409575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C</a:t>
            </a:r>
          </a:p>
        </p:txBody>
      </p:sp>
      <p:sp>
        <p:nvSpPr>
          <p:cNvPr id="34" name="TextBox 33"/>
          <p:cNvSpPr txBox="1"/>
          <p:nvPr/>
        </p:nvSpPr>
        <p:spPr>
          <a:xfrm>
            <a:off x="7258050" y="40957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설문</a:t>
            </a:r>
          </a:p>
        </p:txBody>
      </p:sp>
      <p:sp>
        <p:nvSpPr>
          <p:cNvPr id="35" name="TextBox 34"/>
          <p:cNvSpPr txBox="1"/>
          <p:nvPr/>
        </p:nvSpPr>
        <p:spPr>
          <a:xfrm>
            <a:off x="8496300" y="409575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1,204명</a:t>
            </a:r>
          </a:p>
        </p:txBody>
      </p:sp>
      <p:sp>
        <p:nvSpPr>
          <p:cNvPr id="36" name="TextBox 35"/>
          <p:cNvSpPr txBox="1"/>
          <p:nvPr/>
        </p:nvSpPr>
        <p:spPr>
          <a:xfrm>
            <a:off x="9829800" y="409575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78.3% [3]</a:t>
            </a:r>
          </a:p>
        </p:txBody>
      </p:sp>
      <p:sp>
        <p:nvSpPr>
          <p:cNvPr id="37" name="Rounded Rectangle 36"/>
          <p:cNvSpPr/>
          <p:nvPr/>
        </p:nvSpPr>
        <p:spPr>
          <a:xfrm>
            <a:off x="9753600" y="4124325"/>
            <a:ext cx="1504950" cy="342900"/>
          </a:xfrm>
          <a:prstGeom prst="roundRect">
            <a:avLst>
              <a:gd name="adj" fmla="val 11111"/>
            </a:avLst>
          </a:prstGeom>
          <a:noFill/>
          <a:ln w="33337">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438900" y="48815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534150" y="449580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D</a:t>
            </a:r>
          </a:p>
        </p:txBody>
      </p:sp>
      <p:sp>
        <p:nvSpPr>
          <p:cNvPr id="40" name="TextBox 39"/>
          <p:cNvSpPr txBox="1"/>
          <p:nvPr/>
        </p:nvSpPr>
        <p:spPr>
          <a:xfrm>
            <a:off x="7258050" y="44958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3집단</a:t>
            </a:r>
          </a:p>
        </p:txBody>
      </p:sp>
      <p:sp>
        <p:nvSpPr>
          <p:cNvPr id="41" name="TextBox 40"/>
          <p:cNvSpPr txBox="1"/>
          <p:nvPr/>
        </p:nvSpPr>
        <p:spPr>
          <a:xfrm>
            <a:off x="8496300" y="449580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156명</a:t>
            </a:r>
          </a:p>
        </p:txBody>
      </p:sp>
      <p:sp>
        <p:nvSpPr>
          <p:cNvPr id="42" name="TextBox 41"/>
          <p:cNvSpPr txBox="1"/>
          <p:nvPr/>
        </p:nvSpPr>
        <p:spPr>
          <a:xfrm>
            <a:off x="9829800" y="449580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43" name="Rectangle 42"/>
          <p:cNvSpPr/>
          <p:nvPr/>
        </p:nvSpPr>
        <p:spPr>
          <a:xfrm>
            <a:off x="6438900" y="5281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34150" y="4895850"/>
            <a:ext cx="5905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E</a:t>
            </a:r>
          </a:p>
        </p:txBody>
      </p:sp>
      <p:sp>
        <p:nvSpPr>
          <p:cNvPr id="45" name="TextBox 44"/>
          <p:cNvSpPr txBox="1"/>
          <p:nvPr/>
        </p:nvSpPr>
        <p:spPr>
          <a:xfrm>
            <a:off x="7258050" y="48958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메타분석</a:t>
            </a:r>
          </a:p>
        </p:txBody>
      </p:sp>
      <p:sp>
        <p:nvSpPr>
          <p:cNvPr id="46" name="TextBox 45"/>
          <p:cNvSpPr txBox="1"/>
          <p:nvPr/>
        </p:nvSpPr>
        <p:spPr>
          <a:xfrm>
            <a:off x="8496300" y="4895850"/>
            <a:ext cx="12001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24편</a:t>
            </a:r>
          </a:p>
        </p:txBody>
      </p:sp>
      <p:sp>
        <p:nvSpPr>
          <p:cNvPr id="47" name="TextBox 46"/>
          <p:cNvSpPr txBox="1"/>
          <p:nvPr/>
        </p:nvSpPr>
        <p:spPr>
          <a:xfrm>
            <a:off x="9829800" y="4895850"/>
            <a:ext cx="14097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48" name="Rounded Rectangle 47"/>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논문 C의 78.3%는 몇 명 중 몇 명인가?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실제 화면 · 33–70분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25</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1 · 실제 화면 · Gemini Notebook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인용 번호를 누르면 원문의 862명 표가 열립니다</a:t>
            </a:r>
          </a:p>
        </p:txBody>
      </p:sp>
      <p:sp>
        <p:nvSpPr>
          <p:cNvPr id="7" name="TextBox 6"/>
          <p:cNvSpPr txBox="1"/>
          <p:nvPr/>
        </p:nvSpPr>
        <p:spPr>
          <a:xfrm>
            <a:off x="685800" y="1619250"/>
            <a:ext cx="6667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비교표 · 논문 C 행</a:t>
            </a:r>
          </a:p>
        </p:txBody>
      </p:sp>
      <p:pic>
        <p:nvPicPr>
          <p:cNvPr id="8" name="Picture 7" descr="nb-ai-row.png"/>
          <p:cNvPicPr>
            <a:picLocks noChangeAspect="1"/>
          </p:cNvPicPr>
          <p:nvPr/>
        </p:nvPicPr>
        <p:blipFill>
          <a:blip r:embed="rId4"/>
          <a:stretch>
            <a:fillRect/>
          </a:stretch>
        </p:blipFill>
        <p:spPr>
          <a:xfrm>
            <a:off x="685800" y="1962150"/>
            <a:ext cx="6667500" cy="2867025"/>
          </a:xfrm>
          <a:prstGeom prst="rect">
            <a:avLst/>
          </a:prstGeom>
          <a:ln w="9525">
            <a:solidFill>
              <a:srgbClr val="C9CCC0"/>
            </a:solidFill>
          </a:ln>
        </p:spPr>
      </p:pic>
      <p:sp>
        <p:nvSpPr>
          <p:cNvPr id="9" name="TextBox 8"/>
          <p:cNvSpPr txBox="1"/>
          <p:nvPr/>
        </p:nvSpPr>
        <p:spPr>
          <a:xfrm>
            <a:off x="7867650" y="1619250"/>
            <a:ext cx="363855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인용 6을 누르면 · 원문 2.2절</a:t>
            </a:r>
          </a:p>
        </p:txBody>
      </p:sp>
      <p:pic>
        <p:nvPicPr>
          <p:cNvPr id="10" name="Picture 9" descr="nb-source-862.png"/>
          <p:cNvPicPr>
            <a:picLocks noChangeAspect="1"/>
          </p:cNvPicPr>
          <p:nvPr/>
        </p:nvPicPr>
        <p:blipFill>
          <a:blip r:embed="rId5"/>
          <a:stretch>
            <a:fillRect/>
          </a:stretch>
        </p:blipFill>
        <p:spPr>
          <a:xfrm>
            <a:off x="7867650" y="1962150"/>
            <a:ext cx="3636818" cy="3810000"/>
          </a:xfrm>
          <a:prstGeom prst="rect">
            <a:avLst/>
          </a:prstGeom>
          <a:ln w="9525">
            <a:solidFill>
              <a:srgbClr val="C9CCC0"/>
            </a:solidFill>
          </a:ln>
        </p:spPr>
      </p:pic>
      <p:sp>
        <p:nvSpPr>
          <p:cNvPr id="11" name="TextBox 10"/>
          <p:cNvSpPr txBox="1"/>
          <p:nvPr/>
        </p:nvSpPr>
        <p:spPr>
          <a:xfrm>
            <a:off x="685800" y="5048250"/>
            <a:ext cx="6667500" cy="952500"/>
          </a:xfrm>
          <a:prstGeom prst="rect">
            <a:avLst/>
          </a:prstGeom>
          <a:noFill/>
        </p:spPr>
        <p:txBody>
          <a:bodyPr wrap="square" lIns="0" tIns="0" rIns="0" bIns="0" anchor="t"/>
          <a:lstStyle/>
          <a:p>
            <a:pPr algn="l" latinLnBrk="0" eaLnBrk="1">
              <a:lnSpc>
                <a:spcPct val="145000"/>
              </a:lnSpc>
            </a:pPr>
            <a:r>
              <a:rPr sz="2100" b="1" spc="-42" lang="ko-KR" altLang="en-US">
                <a:solidFill>
                  <a:srgbClr val="586356"/>
                </a:solidFill>
                <a:latin typeface="Noto Sans KR"/>
                <a:ea typeface="Noto Sans KR"/>
                <a:cs typeface="Noto Sans KR"/>
              </a:rPr>
              <a:t>AI 표  </a:t>
            </a:r>
            <a:r>
              <a:rPr sz="2100" b="1" spc="-42" lang="ko-KR" altLang="en-US">
                <a:solidFill>
                  <a:srgbClr val="202921"/>
                </a:solidFill>
                <a:latin typeface="Noto Sans KR"/>
                <a:ea typeface="Noto Sans KR"/>
                <a:cs typeface="Noto Sans KR"/>
              </a:rPr>
              <a:t>78.3%(675명) — 사용 경험자 862명 기준</a:t>
            </a:r>
          </a:p>
          <a:p>
            <a:pPr algn="l" latinLnBrk="0" eaLnBrk="1">
              <a:lnSpc>
                <a:spcPct val="145000"/>
              </a:lnSpc>
            </a:pPr>
            <a:r>
              <a:rPr sz="2100" b="1" spc="-42" lang="ko-KR" altLang="en-US">
                <a:solidFill>
                  <a:srgbClr val="586356"/>
                </a:solidFill>
                <a:latin typeface="Noto Sans KR"/>
                <a:ea typeface="Noto Sans KR"/>
                <a:cs typeface="Noto Sans KR"/>
              </a:rPr>
              <a:t>원문  </a:t>
            </a:r>
            <a:r>
              <a:rPr sz="2100" b="1" spc="-42" lang="ko-KR" altLang="en-US">
                <a:solidFill>
                  <a:srgbClr val="EA5936"/>
                </a:solidFill>
                <a:latin typeface="Noto Sans KR"/>
                <a:ea typeface="Noto Sans KR"/>
                <a:cs typeface="Noto Sans KR"/>
              </a:rPr>
              <a:t>전체 1,204명 기준으로는 56.1%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전체 질문은 사이트 #notebooklm-papers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26</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1-2 · 인용 확인</a:t>
            </a:r>
          </a:p>
        </p:txBody>
      </p:sp>
      <p:sp>
        <p:nvSpPr>
          <p:cNvPr id="7" name="Rounded Rectangle 6"/>
          <p:cNvSpPr/>
          <p:nvPr/>
        </p:nvSpPr>
        <p:spPr>
          <a:xfrm>
            <a:off x="8534400" y="219075"/>
            <a:ext cx="296227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0"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15400" y="219075"/>
            <a:ext cx="250507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8분 · Gemini Notebook</a:t>
            </a:r>
          </a:p>
        </p:txBody>
      </p:sp>
      <p:sp>
        <p:nvSpPr>
          <p:cNvPr id="10" name="TextBox 9"/>
          <p:cNvSpPr txBox="1"/>
          <p:nvPr/>
        </p:nvSpPr>
        <p:spPr>
          <a:xfrm>
            <a:off x="685800" y="11049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이 세 문장, 논문에 그대로 써도 될까요?</a:t>
            </a:r>
          </a:p>
        </p:txBody>
      </p:sp>
      <p:sp>
        <p:nvSpPr>
          <p:cNvPr id="11" name="Rounded Rectangle 10"/>
          <p:cNvSpPr/>
          <p:nvPr/>
        </p:nvSpPr>
        <p:spPr>
          <a:xfrm>
            <a:off x="685800" y="1905000"/>
            <a:ext cx="10820400" cy="990600"/>
          </a:xfrm>
          <a:prstGeom prst="roundRect">
            <a:avLst>
              <a:gd name="adj" fmla="val 384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33450" y="2181225"/>
            <a:ext cx="438150" cy="4381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181225"/>
            <a:ext cx="438150" cy="43815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1</a:t>
            </a:r>
          </a:p>
        </p:txBody>
      </p:sp>
      <p:sp>
        <p:nvSpPr>
          <p:cNvPr id="14" name="TextBox 13"/>
          <p:cNvSpPr txBox="1"/>
          <p:nvPr/>
        </p:nvSpPr>
        <p:spPr>
          <a:xfrm>
            <a:off x="1600200" y="1905000"/>
            <a:ext cx="9620250" cy="990600"/>
          </a:xfrm>
          <a:prstGeom prst="rect">
            <a:avLst/>
          </a:prstGeom>
          <a:noFill/>
        </p:spPr>
        <p:txBody>
          <a:bodyPr wrap="square" lIns="0" tIns="0" rIns="0" bIns="0" anchor="ctr"/>
          <a:lstStyle/>
          <a:p>
            <a:pPr algn="l" latinLnBrk="0" eaLnBrk="1">
              <a:lnSpc>
                <a:spcPct val="125000"/>
              </a:lnSpc>
            </a:pPr>
            <a:r>
              <a:rPr sz="2250" b="0" spc="-45" lang="ko-KR" altLang="en-US">
                <a:solidFill>
                  <a:srgbClr val="202921"/>
                </a:solidFill>
                <a:latin typeface="Noto Sans KR"/>
                <a:ea typeface="Noto Sans KR"/>
                <a:cs typeface="Noto Sans KR"/>
              </a:rPr>
              <a:t>대학생의 78%가 생성형 AI가 학습에 도움이 된다고 답했다.</a:t>
            </a:r>
          </a:p>
        </p:txBody>
      </p:sp>
      <p:sp>
        <p:nvSpPr>
          <p:cNvPr id="15" name="Rounded Rectangle 14"/>
          <p:cNvSpPr/>
          <p:nvPr/>
        </p:nvSpPr>
        <p:spPr>
          <a:xfrm>
            <a:off x="685800" y="3028950"/>
            <a:ext cx="10820400" cy="990600"/>
          </a:xfrm>
          <a:prstGeom prst="roundRect">
            <a:avLst>
              <a:gd name="adj" fmla="val 384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33450" y="3305175"/>
            <a:ext cx="438150" cy="4381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3450" y="3305175"/>
            <a:ext cx="438150" cy="43815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2</a:t>
            </a:r>
          </a:p>
        </p:txBody>
      </p:sp>
      <p:sp>
        <p:nvSpPr>
          <p:cNvPr id="18" name="TextBox 17"/>
          <p:cNvSpPr txBox="1"/>
          <p:nvPr/>
        </p:nvSpPr>
        <p:spPr>
          <a:xfrm>
            <a:off x="1600200" y="3028950"/>
            <a:ext cx="9620250" cy="990600"/>
          </a:xfrm>
          <a:prstGeom prst="rect">
            <a:avLst/>
          </a:prstGeom>
          <a:noFill/>
        </p:spPr>
        <p:txBody>
          <a:bodyPr wrap="square" lIns="0" tIns="0" rIns="0" bIns="0" anchor="ctr"/>
          <a:lstStyle/>
          <a:p>
            <a:pPr algn="l" latinLnBrk="0" eaLnBrk="1">
              <a:lnSpc>
                <a:spcPct val="125000"/>
              </a:lnSpc>
            </a:pPr>
            <a:r>
              <a:rPr sz="2250" b="0" spc="-45" lang="ko-KR" altLang="en-US">
                <a:solidFill>
                  <a:srgbClr val="202921"/>
                </a:solidFill>
                <a:latin typeface="Noto Sans KR"/>
                <a:ea typeface="Noto Sans KR"/>
                <a:cs typeface="Noto Sans KR"/>
              </a:rPr>
              <a:t>AI 튜터를 쓴 학생은 시험 점수가 11.2점 올랐다.</a:t>
            </a:r>
          </a:p>
        </p:txBody>
      </p:sp>
      <p:sp>
        <p:nvSpPr>
          <p:cNvPr id="19" name="Rounded Rectangle 18"/>
          <p:cNvSpPr/>
          <p:nvPr/>
        </p:nvSpPr>
        <p:spPr>
          <a:xfrm>
            <a:off x="685800" y="4152900"/>
            <a:ext cx="10820400" cy="990600"/>
          </a:xfrm>
          <a:prstGeom prst="roundRect">
            <a:avLst>
              <a:gd name="adj" fmla="val 3846"/>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33450" y="4429125"/>
            <a:ext cx="438150" cy="4381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3450" y="4429125"/>
            <a:ext cx="438150" cy="43815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3</a:t>
            </a:r>
          </a:p>
        </p:txBody>
      </p:sp>
      <p:sp>
        <p:nvSpPr>
          <p:cNvPr id="22" name="TextBox 21"/>
          <p:cNvSpPr txBox="1"/>
          <p:nvPr/>
        </p:nvSpPr>
        <p:spPr>
          <a:xfrm>
            <a:off x="1600200" y="4152900"/>
            <a:ext cx="9620250" cy="990600"/>
          </a:xfrm>
          <a:prstGeom prst="rect">
            <a:avLst/>
          </a:prstGeom>
          <a:noFill/>
        </p:spPr>
        <p:txBody>
          <a:bodyPr wrap="square" lIns="0" tIns="0" rIns="0" bIns="0" anchor="ctr"/>
          <a:lstStyle/>
          <a:p>
            <a:pPr algn="l" latinLnBrk="0" eaLnBrk="1">
              <a:lnSpc>
                <a:spcPct val="125000"/>
              </a:lnSpc>
            </a:pPr>
            <a:r>
              <a:rPr sz="2250" b="0" spc="-45" lang="ko-KR" altLang="en-US">
                <a:solidFill>
                  <a:srgbClr val="202921"/>
                </a:solidFill>
                <a:latin typeface="Noto Sans KR"/>
                <a:ea typeface="Noto Sans KR"/>
                <a:cs typeface="Noto Sans KR"/>
              </a:rPr>
              <a:t>AI 피드백을 받은 글쓰기 집단은 4.3점 높았다.</a:t>
            </a:r>
          </a:p>
        </p:txBody>
      </p:sp>
      <p:sp>
        <p:nvSpPr>
          <p:cNvPr id="23" name="TextBox 22"/>
          <p:cNvSpPr txBox="1"/>
          <p:nvPr/>
        </p:nvSpPr>
        <p:spPr>
          <a:xfrm>
            <a:off x="685800" y="5410200"/>
            <a:ext cx="10820400" cy="857250"/>
          </a:xfrm>
          <a:prstGeom prst="rect">
            <a:avLst/>
          </a:prstGeom>
          <a:noFill/>
        </p:spPr>
        <p:txBody>
          <a:bodyPr wrap="square" lIns="0" tIns="0" rIns="0" bIns="0" anchor="t"/>
          <a:lstStyle/>
          <a:p>
            <a:pPr algn="l" latinLnBrk="0" eaLnBrk="1">
              <a:lnSpc>
                <a:spcPct val="140000"/>
              </a:lnSpc>
            </a:pPr>
            <a:r>
              <a:rPr sz="1950" b="1" spc="-39" lang="ko-KR" altLang="en-US">
                <a:solidFill>
                  <a:srgbClr val="202921"/>
                </a:solidFill>
                <a:latin typeface="Noto Sans KR"/>
                <a:ea typeface="Noto Sans KR"/>
                <a:cs typeface="Noto Sans KR"/>
              </a:rPr>
              <a:t>순서  </a:t>
            </a:r>
            <a:r>
              <a:rPr sz="1950" b="0" spc="-39" lang="ko-KR" altLang="en-US">
                <a:solidFill>
                  <a:srgbClr val="202921"/>
                </a:solidFill>
                <a:latin typeface="Noto Sans KR"/>
                <a:ea typeface="Noto Sans KR"/>
                <a:cs typeface="Noto Sans KR"/>
              </a:rPr>
              <a:t>① 맞음·일부 맞음·틀림을 직접 고르기 3분  ② AI 판정과 인용 확인 5분</a:t>
            </a:r>
          </a:p>
          <a:p>
            <a:pPr algn="l" latinLnBrk="0" eaLnBrk="1">
              <a:lnSpc>
                <a:spcPct val="140000"/>
              </a:lnSpc>
            </a:pPr>
            <a:r>
              <a:rPr sz="1950" b="1" spc="-39" lang="ko-KR" altLang="en-US">
                <a:solidFill>
                  <a:srgbClr val="202921"/>
                </a:solidFill>
                <a:latin typeface="Noto Sans KR"/>
                <a:ea typeface="Noto Sans KR"/>
                <a:cs typeface="Noto Sans KR"/>
              </a:rPr>
              <a:t>금지  </a:t>
            </a:r>
            <a:r>
              <a:rPr sz="1950" b="0" spc="-39" lang="ko-KR" altLang="en-US">
                <a:solidFill>
                  <a:srgbClr val="202921"/>
                </a:solidFill>
                <a:latin typeface="Noto Sans KR"/>
                <a:ea typeface="Noto Sans KR"/>
                <a:cs typeface="Noto Sans KR"/>
              </a:rPr>
              <a:t>근거를 못 찾으면 '근거 없음'이라고 쓰게 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정답 기준 · 해설 2-3</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27</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정답 기준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세 문장 모두 원문과 조금씩 다릅니다</a:t>
            </a:r>
          </a:p>
        </p:txBody>
      </p:sp>
      <p:sp>
        <p:nvSpPr>
          <p:cNvPr id="7" name="Rounded Rectangle 6"/>
          <p:cNvSpPr/>
          <p:nvPr/>
        </p:nvSpPr>
        <p:spPr>
          <a:xfrm>
            <a:off x="685800" y="1905000"/>
            <a:ext cx="3454400" cy="3810000"/>
          </a:xfrm>
          <a:prstGeom prst="roundRect">
            <a:avLst>
              <a:gd name="adj" fmla="val 110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20980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① 78%가 도움</a:t>
            </a:r>
          </a:p>
        </p:txBody>
      </p:sp>
      <p:sp>
        <p:nvSpPr>
          <p:cNvPr id="9" name="Rounded Rectangle 8"/>
          <p:cNvSpPr/>
          <p:nvPr/>
        </p:nvSpPr>
        <p:spPr>
          <a:xfrm>
            <a:off x="971550" y="2819400"/>
            <a:ext cx="838200" cy="476250"/>
          </a:xfrm>
          <a:prstGeom prst="roundRect">
            <a:avLst>
              <a:gd name="adj" fmla="val 8000"/>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43000" y="2819400"/>
            <a:ext cx="590550"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틀림</a:t>
            </a:r>
          </a:p>
        </p:txBody>
      </p:sp>
      <p:sp>
        <p:nvSpPr>
          <p:cNvPr id="11" name="TextBox 10"/>
          <p:cNvSpPr txBox="1"/>
          <p:nvPr/>
        </p:nvSpPr>
        <p:spPr>
          <a:xfrm>
            <a:off x="971550" y="3581400"/>
            <a:ext cx="2882900" cy="1905000"/>
          </a:xfrm>
          <a:prstGeom prst="rect">
            <a:avLst/>
          </a:prstGeom>
          <a:noFill/>
        </p:spPr>
        <p:txBody>
          <a:bodyPr wrap="square" lIns="0" tIns="0" rIns="0" bIns="0" anchor="t"/>
          <a:lstStyle/>
          <a:p>
            <a:pPr algn="l" latinLnBrk="0" eaLnBrk="1">
              <a:lnSpc>
                <a:spcPct val="140000"/>
              </a:lnSpc>
            </a:pPr>
            <a:r>
              <a:rPr sz="2100" b="0" spc="-42" lang="ko-KR" altLang="en-US">
                <a:solidFill>
                  <a:srgbClr val="586356"/>
                </a:solidFill>
                <a:latin typeface="Noto Sans KR"/>
                <a:ea typeface="Noto Sans KR"/>
                <a:cs typeface="Noto Sans KR"/>
              </a:rPr>
              <a:t>사용자 862명 기준</a:t>
            </a:r>
            <a:br/>
            <a:r>
              <a:rPr sz="2100" b="0" spc="-42" lang="ko-KR" altLang="en-US">
                <a:solidFill>
                  <a:srgbClr val="586356"/>
                </a:solidFill>
                <a:latin typeface="Noto Sans KR"/>
                <a:ea typeface="Noto Sans KR"/>
                <a:cs typeface="Noto Sans KR"/>
              </a:rPr>
              <a:t>전체는 56.1%</a:t>
            </a:r>
          </a:p>
        </p:txBody>
      </p:sp>
      <p:sp>
        <p:nvSpPr>
          <p:cNvPr id="12" name="Rounded Rectangle 11"/>
          <p:cNvSpPr/>
          <p:nvPr/>
        </p:nvSpPr>
        <p:spPr>
          <a:xfrm>
            <a:off x="4368800" y="1905000"/>
            <a:ext cx="3454400" cy="3810000"/>
          </a:xfrm>
          <a:prstGeom prst="roundRect">
            <a:avLst>
              <a:gd name="adj" fmla="val 110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54550" y="220980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② 시험 +11.2점</a:t>
            </a:r>
          </a:p>
        </p:txBody>
      </p:sp>
      <p:sp>
        <p:nvSpPr>
          <p:cNvPr id="14" name="Rounded Rectangle 13"/>
          <p:cNvSpPr/>
          <p:nvPr/>
        </p:nvSpPr>
        <p:spPr>
          <a:xfrm>
            <a:off x="4654550" y="2819400"/>
            <a:ext cx="838200" cy="476250"/>
          </a:xfrm>
          <a:prstGeom prst="roundRect">
            <a:avLst>
              <a:gd name="adj" fmla="val 8000"/>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26000" y="2819400"/>
            <a:ext cx="590550"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틀림</a:t>
            </a:r>
          </a:p>
        </p:txBody>
      </p:sp>
      <p:sp>
        <p:nvSpPr>
          <p:cNvPr id="16" name="TextBox 15"/>
          <p:cNvSpPr txBox="1"/>
          <p:nvPr/>
        </p:nvSpPr>
        <p:spPr>
          <a:xfrm>
            <a:off x="4654550" y="3581400"/>
            <a:ext cx="2882900" cy="1905000"/>
          </a:xfrm>
          <a:prstGeom prst="rect">
            <a:avLst/>
          </a:prstGeom>
          <a:noFill/>
        </p:spPr>
        <p:txBody>
          <a:bodyPr wrap="square" lIns="0" tIns="0" rIns="0" bIns="0" anchor="t"/>
          <a:lstStyle/>
          <a:p>
            <a:pPr algn="l" latinLnBrk="0" eaLnBrk="1">
              <a:lnSpc>
                <a:spcPct val="140000"/>
              </a:lnSpc>
            </a:pPr>
            <a:r>
              <a:rPr sz="2100" b="0" spc="-42" lang="ko-KR" altLang="en-US">
                <a:solidFill>
                  <a:srgbClr val="586356"/>
                </a:solidFill>
                <a:latin typeface="Noto Sans KR"/>
                <a:ea typeface="Noto Sans KR"/>
                <a:cs typeface="Noto Sans KR"/>
              </a:rPr>
              <a:t>11.2점은 과제 점수</a:t>
            </a:r>
            <a:br/>
            <a:r>
              <a:rPr sz="2100" b="0" spc="-42" lang="ko-KR" altLang="en-US">
                <a:solidFill>
                  <a:srgbClr val="586356"/>
                </a:solidFill>
                <a:latin typeface="Noto Sans KR"/>
                <a:ea typeface="Noto Sans KR"/>
                <a:cs typeface="Noto Sans KR"/>
              </a:rPr>
              <a:t>시험은 +0.8점뿐</a:t>
            </a:r>
          </a:p>
        </p:txBody>
      </p:sp>
      <p:sp>
        <p:nvSpPr>
          <p:cNvPr id="17" name="Rounded Rectangle 16"/>
          <p:cNvSpPr/>
          <p:nvPr/>
        </p:nvSpPr>
        <p:spPr>
          <a:xfrm>
            <a:off x="8051800" y="1905000"/>
            <a:ext cx="3454400" cy="3810000"/>
          </a:xfrm>
          <a:prstGeom prst="roundRect">
            <a:avLst>
              <a:gd name="adj" fmla="val 110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37550" y="220980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③ 4.3점 높았다</a:t>
            </a:r>
          </a:p>
        </p:txBody>
      </p:sp>
      <p:sp>
        <p:nvSpPr>
          <p:cNvPr id="19" name="Rounded Rectangle 18"/>
          <p:cNvSpPr/>
          <p:nvPr/>
        </p:nvSpPr>
        <p:spPr>
          <a:xfrm>
            <a:off x="8337550" y="2819400"/>
            <a:ext cx="1400175" cy="476250"/>
          </a:xfrm>
          <a:prstGeom prst="roundRect">
            <a:avLst>
              <a:gd name="adj" fmla="val 8000"/>
            </a:avLst>
          </a:prstGeom>
          <a:solidFill>
            <a:srgbClr val="8C6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09000" y="2819400"/>
            <a:ext cx="1152525" cy="476250"/>
          </a:xfrm>
          <a:prstGeom prst="rect">
            <a:avLst/>
          </a:prstGeom>
          <a:noFill/>
        </p:spPr>
        <p:txBody>
          <a:bodyPr wrap="square" lIns="0" tIns="0" rIns="0" bIns="0" anchor="ctr"/>
          <a:lstStyle/>
          <a:p>
            <a:pPr algn="l" latinLnBrk="0" eaLnBrk="1">
              <a:lnSpc>
                <a:spcPct val="100000"/>
              </a:lnSpc>
            </a:pPr>
            <a:r>
              <a:rPr sz="1950" b="1" spc="-39" lang="ko-KR" altLang="en-US">
                <a:solidFill>
                  <a:srgbClr val="FFFDF7"/>
                </a:solidFill>
                <a:latin typeface="Noto Sans KR"/>
                <a:ea typeface="Noto Sans KR"/>
                <a:cs typeface="Noto Sans KR"/>
              </a:rPr>
              <a:t>일부 맞음</a:t>
            </a:r>
          </a:p>
        </p:txBody>
      </p:sp>
      <p:sp>
        <p:nvSpPr>
          <p:cNvPr id="21" name="TextBox 20"/>
          <p:cNvSpPr txBox="1"/>
          <p:nvPr/>
        </p:nvSpPr>
        <p:spPr>
          <a:xfrm>
            <a:off x="8337550" y="3581400"/>
            <a:ext cx="2882900" cy="1905000"/>
          </a:xfrm>
          <a:prstGeom prst="rect">
            <a:avLst/>
          </a:prstGeom>
          <a:noFill/>
        </p:spPr>
        <p:txBody>
          <a:bodyPr wrap="square" lIns="0" tIns="0" rIns="0" bIns="0" anchor="t"/>
          <a:lstStyle/>
          <a:p>
            <a:pPr algn="l" latinLnBrk="0" eaLnBrk="1">
              <a:lnSpc>
                <a:spcPct val="140000"/>
              </a:lnSpc>
            </a:pPr>
            <a:r>
              <a:rPr sz="2100" b="0" spc="-42" lang="ko-KR" altLang="en-US">
                <a:solidFill>
                  <a:srgbClr val="586356"/>
                </a:solidFill>
                <a:latin typeface="Noto Sans KR"/>
                <a:ea typeface="Noto Sans KR"/>
                <a:cs typeface="Noto Sans KR"/>
              </a:rPr>
              <a:t>사후 점수만 본 값</a:t>
            </a:r>
            <a:br/>
            <a:r>
              <a:rPr sz="2100" b="0" spc="-42" lang="ko-KR" altLang="en-US">
                <a:solidFill>
                  <a:srgbClr val="586356"/>
                </a:solidFill>
                <a:latin typeface="Noto Sans KR"/>
                <a:ea typeface="Noto Sans KR"/>
                <a:cs typeface="Noto Sans KR"/>
              </a:rPr>
              <a:t>사전 통제 후 2.6점</a:t>
            </a:r>
          </a:p>
        </p:txBody>
      </p:sp>
      <p:sp>
        <p:nvSpPr>
          <p:cNvPr id="22" name="TextBox 21"/>
          <p:cNvSpPr txBox="1"/>
          <p:nvPr/>
        </p:nvSpPr>
        <p:spPr>
          <a:xfrm>
            <a:off x="685800" y="5924550"/>
            <a:ext cx="10820400" cy="3810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근거: 논문 C 2.2절 · 논문 B 2절 · 논문 A 2절 (모두 가상 논문)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실제 화면 · 해설 2-3</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28</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1 · 실제 화면 · Gemini Notebook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AI도 세 문장을 원문과 다르다고 판정했습니다</a:t>
            </a:r>
          </a:p>
        </p:txBody>
      </p:sp>
      <p:pic>
        <p:nvPicPr>
          <p:cNvPr id="7" name="Picture 6" descr="nb-verify.png"/>
          <p:cNvPicPr>
            <a:picLocks noChangeAspect="1"/>
          </p:cNvPicPr>
          <p:nvPr/>
        </p:nvPicPr>
        <p:blipFill>
          <a:blip r:embed="rId4"/>
          <a:stretch>
            <a:fillRect/>
          </a:stretch>
        </p:blipFill>
        <p:spPr>
          <a:xfrm>
            <a:off x="685800" y="1619250"/>
            <a:ext cx="6914903" cy="4095750"/>
          </a:xfrm>
          <a:prstGeom prst="rect">
            <a:avLst/>
          </a:prstGeom>
          <a:ln w="9525">
            <a:solidFill>
              <a:srgbClr val="C9CCC0"/>
            </a:solidFill>
          </a:ln>
        </p:spPr>
      </p:pic>
      <p:sp>
        <p:nvSpPr>
          <p:cNvPr id="8" name="TextBox 7"/>
          <p:cNvSpPr txBox="1"/>
          <p:nvPr/>
        </p:nvSpPr>
        <p:spPr>
          <a:xfrm>
            <a:off x="7848600" y="1638300"/>
            <a:ext cx="36576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① 일부 맞음</a:t>
            </a:r>
          </a:p>
        </p:txBody>
      </p:sp>
      <p:sp>
        <p:nvSpPr>
          <p:cNvPr id="9" name="TextBox 8"/>
          <p:cNvSpPr txBox="1"/>
          <p:nvPr/>
        </p:nvSpPr>
        <p:spPr>
          <a:xfrm>
            <a:off x="7848600" y="2057400"/>
            <a:ext cx="36576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862명 기준, 전체 56.1%</a:t>
            </a:r>
          </a:p>
        </p:txBody>
      </p:sp>
      <p:sp>
        <p:nvSpPr>
          <p:cNvPr id="10" name="TextBox 9"/>
          <p:cNvSpPr txBox="1"/>
          <p:nvPr/>
        </p:nvSpPr>
        <p:spPr>
          <a:xfrm>
            <a:off x="7848600" y="2971800"/>
            <a:ext cx="36576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② 틀림</a:t>
            </a:r>
          </a:p>
        </p:txBody>
      </p:sp>
      <p:sp>
        <p:nvSpPr>
          <p:cNvPr id="11" name="TextBox 10"/>
          <p:cNvSpPr txBox="1"/>
          <p:nvPr/>
        </p:nvSpPr>
        <p:spPr>
          <a:xfrm>
            <a:off x="7848600" y="3390900"/>
            <a:ext cx="36576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11.2점은 과제 점수,</a:t>
            </a:r>
            <a:br/>
            <a:r>
              <a:rPr sz="1800" b="0" spc="-36" lang="ko-KR" altLang="en-US">
                <a:solidFill>
                  <a:srgbClr val="202921"/>
                </a:solidFill>
                <a:latin typeface="Noto Sans KR"/>
                <a:ea typeface="Noto Sans KR"/>
                <a:cs typeface="Noto Sans KR"/>
              </a:rPr>
              <a:t>시험은 +0.8점</a:t>
            </a:r>
          </a:p>
        </p:txBody>
      </p:sp>
      <p:sp>
        <p:nvSpPr>
          <p:cNvPr id="12" name="TextBox 11"/>
          <p:cNvSpPr txBox="1"/>
          <p:nvPr/>
        </p:nvSpPr>
        <p:spPr>
          <a:xfrm>
            <a:off x="7848600" y="4305300"/>
            <a:ext cx="36576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③ 일부 맞음</a:t>
            </a:r>
          </a:p>
        </p:txBody>
      </p:sp>
      <p:sp>
        <p:nvSpPr>
          <p:cNvPr id="13" name="TextBox 12"/>
          <p:cNvSpPr txBox="1"/>
          <p:nvPr/>
        </p:nvSpPr>
        <p:spPr>
          <a:xfrm>
            <a:off x="7848600" y="4724400"/>
            <a:ext cx="36576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사전 통제 후 2.6점</a:t>
            </a:r>
          </a:p>
        </p:txBody>
      </p:sp>
      <p:sp>
        <p:nvSpPr>
          <p:cNvPr id="14" name="TextBox 13"/>
          <p:cNvSpPr txBox="1"/>
          <p:nvPr/>
        </p:nvSpPr>
        <p:spPr>
          <a:xfrm>
            <a:off x="685800" y="5924550"/>
            <a:ext cx="10820400" cy="342900"/>
          </a:xfrm>
          <a:prstGeom prst="rect">
            <a:avLst/>
          </a:prstGeom>
          <a:noFill/>
        </p:spPr>
        <p:txBody>
          <a:bodyPr wrap="square" lIns="0" tIns="0" rIns="0" bIns="0" anchor="t"/>
          <a:lstStyle/>
          <a:p>
            <a:pPr algn="l" latinLnBrk="0" eaLnBrk="1">
              <a:lnSpc>
                <a:spcPct val="100000"/>
              </a:lnSpc>
            </a:pPr>
            <a:r>
              <a:rPr sz="1800" b="0" spc="-36" lang="ko-KR" altLang="en-US">
                <a:solidFill>
                  <a:srgbClr val="586356"/>
                </a:solidFill>
                <a:latin typeface="Noto Sans KR"/>
                <a:ea typeface="Noto Sans KR"/>
                <a:cs typeface="Noto Sans KR"/>
              </a:rPr>
              <a:t>해설과 같습니다. ①은 '틀림'도 정답으로 봅니다.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Gemini Notebook · 33–70분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29</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C8431F"/>
                </a:solidFill>
                <a:latin typeface="Noto Sans KR"/>
                <a:ea typeface="Noto Sans KR"/>
                <a:cs typeface="Noto Sans KR"/>
              </a:rPr>
              <a:t>AI가 여기서 틀렸다 · 재현 예시</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출처 번호가 붙어도 퍼센트의 기준은 틀릴 수 있습니다</a:t>
            </a:r>
          </a:p>
        </p:txBody>
      </p:sp>
      <p:sp>
        <p:nvSpPr>
          <p:cNvPr id="7" name="Rounded Rectangle 6"/>
          <p:cNvSpPr/>
          <p:nvPr/>
        </p:nvSpPr>
        <p:spPr>
          <a:xfrm>
            <a:off x="685800" y="1962150"/>
            <a:ext cx="5295900" cy="2971800"/>
          </a:xfrm>
          <a:prstGeom prst="roundRect">
            <a:avLst>
              <a:gd name="adj" fmla="val 128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답</a:t>
            </a:r>
          </a:p>
        </p:txBody>
      </p:sp>
      <p:sp>
        <p:nvSpPr>
          <p:cNvPr id="9" name="TextBox 8"/>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1" spc="-42" lang="ko-KR" altLang="en-US">
                <a:solidFill>
                  <a:srgbClr val="202921"/>
                </a:solidFill>
                <a:highlight>
                  <a:srgbClr val="F6CDBE"/>
                </a:highlight>
                <a:latin typeface="Noto Sans KR"/>
                <a:ea typeface="Noto Sans KR"/>
                <a:cs typeface="Noto Sans KR"/>
              </a:rPr>
              <a:t>대학생의 78.3%</a:t>
            </a:r>
            <a:r>
              <a:rPr sz="2100" b="0" spc="-42" lang="ko-KR" altLang="en-US">
                <a:solidFill>
                  <a:srgbClr val="202921"/>
                </a:solidFill>
                <a:latin typeface="Noto Sans KR"/>
                <a:ea typeface="Noto Sans KR"/>
                <a:cs typeface="Noto Sans KR"/>
              </a:rPr>
              <a:t>가 생성형 AI가</a:t>
            </a:r>
            <a:br/>
            <a:r>
              <a:rPr sz="2100" b="0" spc="-42" lang="ko-KR" altLang="en-US">
                <a:solidFill>
                  <a:srgbClr val="202921"/>
                </a:solidFill>
                <a:latin typeface="Noto Sans KR"/>
                <a:ea typeface="Noto Sans KR"/>
                <a:cs typeface="Noto Sans KR"/>
              </a:rPr>
              <a:t>학습에 도움이 된다고 답했다. [3]</a:t>
            </a:r>
          </a:p>
        </p:txBody>
      </p:sp>
      <p:sp>
        <p:nvSpPr>
          <p:cNvPr id="10" name="Rounded Rectangle 9"/>
          <p:cNvSpPr/>
          <p:nvPr/>
        </p:nvSpPr>
        <p:spPr>
          <a:xfrm>
            <a:off x="6210300" y="1962150"/>
            <a:ext cx="5295900" cy="2971800"/>
          </a:xfrm>
          <a:prstGeom prst="roundRect">
            <a:avLst>
              <a:gd name="adj" fmla="val 128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원문 · 논문 C 2.2절</a:t>
            </a:r>
          </a:p>
        </p:txBody>
      </p:sp>
      <p:sp>
        <p:nvSpPr>
          <p:cNvPr id="12" name="TextBox 11"/>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비율은 모두 </a:t>
            </a:r>
            <a:r>
              <a:rPr sz="2100" b="0" spc="-42" lang="ko-KR" altLang="en-US">
                <a:solidFill>
                  <a:srgbClr val="202921"/>
                </a:solidFill>
                <a:highlight>
                  <a:srgbClr val="DCE3D3"/>
                </a:highlight>
                <a:latin typeface="Noto Sans KR"/>
                <a:ea typeface="Noto Sans KR"/>
                <a:cs typeface="Noto Sans KR"/>
              </a:rPr>
              <a:t>사용 경험이 있는 862명</a:t>
            </a:r>
            <a:r>
              <a:rPr sz="2100" b="0" spc="-42" lang="ko-KR" altLang="en-US">
                <a:solidFill>
                  <a:srgbClr val="202921"/>
                </a:solidFill>
                <a:latin typeface="Noto Sans KR"/>
                <a:ea typeface="Noto Sans KR"/>
                <a:cs typeface="Noto Sans KR"/>
              </a:rPr>
              <a:t>을</a:t>
            </a:r>
            <a:br/>
            <a:r>
              <a:rPr sz="2100" b="0" spc="-42" lang="ko-KR" altLang="en-US">
                <a:solidFill>
                  <a:srgbClr val="202921"/>
                </a:solidFill>
                <a:latin typeface="Noto Sans KR"/>
                <a:ea typeface="Noto Sans KR"/>
                <a:cs typeface="Noto Sans KR"/>
              </a:rPr>
              <a:t>기준으로 계산했다.</a:t>
            </a:r>
            <a:br/>
            <a:r>
              <a:rPr sz="2100" b="0" spc="-42" lang="ko-KR" altLang="en-US">
                <a:solidFill>
                  <a:srgbClr val="202921"/>
                </a:solidFill>
                <a:latin typeface="Noto Sans KR"/>
                <a:ea typeface="Noto Sans KR"/>
                <a:cs typeface="Noto Sans KR"/>
              </a:rPr>
              <a:t>전체 1,204명 기준으로는 </a:t>
            </a:r>
            <a:r>
              <a:rPr sz="2100" b="0" spc="-42" lang="ko-KR" altLang="en-US">
                <a:solidFill>
                  <a:srgbClr val="202921"/>
                </a:solidFill>
                <a:highlight>
                  <a:srgbClr val="DCE3D3"/>
                </a:highlight>
                <a:latin typeface="Noto Sans KR"/>
                <a:ea typeface="Noto Sans KR"/>
                <a:cs typeface="Noto Sans KR"/>
              </a:rPr>
              <a:t>56.1%</a:t>
            </a:r>
            <a:r>
              <a:rPr sz="2100" b="0" spc="-42" lang="ko-KR" altLang="en-US">
                <a:solidFill>
                  <a:srgbClr val="202921"/>
                </a:solidFill>
                <a:latin typeface="Noto Sans KR"/>
                <a:ea typeface="Noto Sans KR"/>
                <a:cs typeface="Noto Sans KR"/>
              </a:rPr>
              <a:t>다.</a:t>
            </a:r>
          </a:p>
        </p:txBody>
      </p:sp>
      <p:sp>
        <p:nvSpPr>
          <p:cNvPr id="13" name="TextBox 12"/>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C8431F"/>
                </a:solidFill>
                <a:latin typeface="Noto Sans KR"/>
                <a:ea typeface="Noto Sans KR"/>
                <a:cs typeface="Noto Sans KR"/>
              </a:rPr>
              <a:t>→ </a:t>
            </a:r>
            <a:r>
              <a:rPr sz="2400" b="1" spc="-48" lang="ko-KR" altLang="en-US">
                <a:solidFill>
                  <a:srgbClr val="202921"/>
                </a:solidFill>
                <a:latin typeface="Noto Sans KR"/>
                <a:ea typeface="Noto Sans KR"/>
                <a:cs typeface="Noto Sans KR"/>
              </a:rPr>
              <a:t>퍼센트는 '몇 명 중'인지까지 눌러서 확인합니다.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전체 질문은 사이트 #notebooklm-papers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30</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1-3 · 오디오 요약</a:t>
            </a:r>
          </a:p>
        </p:txBody>
      </p:sp>
      <p:sp>
        <p:nvSpPr>
          <p:cNvPr id="7" name="Rounded Rectangle 6"/>
          <p:cNvSpPr/>
          <p:nvPr/>
        </p:nvSpPr>
        <p:spPr>
          <a:xfrm>
            <a:off x="8534400" y="219075"/>
            <a:ext cx="296227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0"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15400" y="219075"/>
            <a:ext cx="250507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7분 · Gemini Notebook</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학과 회의에서 틀어 줄 5분 오디오 요약을 만듭니다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오디오 개요 &gt; 맞춤설정</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질문 2-3 붙여 넣기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앞부분 1–2분 듣기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학과 회의용 요약 진행자</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소스 5개만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과제 점수와 AI 없이 본 시험의 차이 중심, 시사점 2개</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인식 조사인 논문 C를 성적 근거로 쓰기</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ounded Rectangle 16"/>
          <p:cNvSpPr/>
          <p:nvPr/>
        </p:nvSpPr>
        <p:spPr>
          <a:xfrm>
            <a:off x="6438900" y="2933700"/>
            <a:ext cx="4838700" cy="476250"/>
          </a:xfrm>
          <a:prstGeom prst="roundRect">
            <a:avLst>
              <a:gd name="adj" fmla="val 8000"/>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534150" y="3000375"/>
            <a:ext cx="342900" cy="34290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34150" y="3000375"/>
            <a:ext cx="342900" cy="342900"/>
          </a:xfrm>
          <a:prstGeom prst="rect">
            <a:avLst/>
          </a:prstGeom>
          <a:noFill/>
        </p:spPr>
        <p:txBody>
          <a:bodyPr wrap="square" lIns="0" tIns="0" rIns="0" bIns="0" anchor="ctr"/>
          <a:lstStyle/>
          <a:p>
            <a:pPr algn="ctr" latinLnBrk="0" eaLnBrk="1">
              <a:lnSpc>
                <a:spcPct val="100000"/>
              </a:lnSpc>
            </a:pPr>
            <a:r>
              <a:rPr sz="1800" b="0" spc="-36" lang="ko-KR" altLang="en-US">
                <a:solidFill>
                  <a:srgbClr val="FFFDF7"/>
                </a:solidFill>
                <a:latin typeface="Noto Sans KR"/>
                <a:ea typeface="Noto Sans KR"/>
                <a:cs typeface="Noto Sans KR"/>
              </a:rPr>
              <a:t>▶</a:t>
            </a:r>
          </a:p>
        </p:txBody>
      </p:sp>
      <p:sp>
        <p:nvSpPr>
          <p:cNvPr id="20" name="Rounded Rectangle 19"/>
          <p:cNvSpPr/>
          <p:nvPr/>
        </p:nvSpPr>
        <p:spPr>
          <a:xfrm>
            <a:off x="7010400" y="3143250"/>
            <a:ext cx="3219450" cy="57150"/>
          </a:xfrm>
          <a:prstGeom prst="roundRect">
            <a:avLst>
              <a:gd name="adj" fmla="val 50000"/>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7010400" y="3143250"/>
            <a:ext cx="965835" cy="57150"/>
          </a:xfrm>
          <a:prstGeom prst="roundRect">
            <a:avLst>
              <a:gd name="adj" fmla="val 50000"/>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325100" y="2933700"/>
            <a:ext cx="857250" cy="476250"/>
          </a:xfrm>
          <a:prstGeom prst="rect">
            <a:avLst/>
          </a:prstGeom>
          <a:noFill/>
        </p:spPr>
        <p:txBody>
          <a:bodyPr wrap="square" lIns="0" tIns="0" rIns="0" bIns="0" anchor="ctr"/>
          <a:lstStyle/>
          <a:p>
            <a:pPr algn="r" latinLnBrk="0" eaLnBrk="1">
              <a:lnSpc>
                <a:spcPct val="100000"/>
              </a:lnSpc>
            </a:pPr>
            <a:r>
              <a:rPr sz="1800" b="0" spc="-36" lang="ko-KR" altLang="en-US">
                <a:solidFill>
                  <a:srgbClr val="586356"/>
                </a:solidFill>
                <a:latin typeface="Noto Sans KR"/>
                <a:ea typeface="Noto Sans KR"/>
                <a:cs typeface="Noto Sans KR"/>
              </a:rPr>
              <a:t>1:32</a:t>
            </a:r>
          </a:p>
        </p:txBody>
      </p:sp>
      <p:sp>
        <p:nvSpPr>
          <p:cNvPr id="23" name="TextBox 22"/>
          <p:cNvSpPr txBox="1"/>
          <p:nvPr/>
        </p:nvSpPr>
        <p:spPr>
          <a:xfrm>
            <a:off x="6515100" y="3638550"/>
            <a:ext cx="4686300" cy="4381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진행자 A  </a:t>
            </a:r>
            <a:r>
              <a:rPr sz="1800" b="0" spc="-36" lang="ko-KR" altLang="en-US">
                <a:solidFill>
                  <a:srgbClr val="202921"/>
                </a:solidFill>
                <a:latin typeface="Noto Sans KR"/>
                <a:ea typeface="Noto Sans KR"/>
                <a:cs typeface="Noto Sans KR"/>
              </a:rPr>
              <a:t>과제 점수는 올랐지만…</a:t>
            </a:r>
          </a:p>
        </p:txBody>
      </p:sp>
      <p:sp>
        <p:nvSpPr>
          <p:cNvPr id="24" name="TextBox 23"/>
          <p:cNvSpPr txBox="1"/>
          <p:nvPr/>
        </p:nvSpPr>
        <p:spPr>
          <a:xfrm>
            <a:off x="6515100" y="4171950"/>
            <a:ext cx="4686300" cy="4381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진행자 B  </a:t>
            </a:r>
            <a:r>
              <a:rPr sz="1800" b="0" spc="-36" lang="ko-KR" altLang="en-US">
                <a:solidFill>
                  <a:srgbClr val="202921"/>
                </a:solidFill>
                <a:latin typeface="Noto Sans KR"/>
                <a:ea typeface="Noto Sans KR"/>
                <a:cs typeface="Noto Sans KR"/>
              </a:rPr>
              <a:t>학생 78%가  도움이 된다고…</a:t>
            </a:r>
          </a:p>
        </p:txBody>
      </p:sp>
      <p:sp>
        <p:nvSpPr>
          <p:cNvPr id="25" name="TextBox 24"/>
          <p:cNvSpPr txBox="1"/>
          <p:nvPr/>
        </p:nvSpPr>
        <p:spPr>
          <a:xfrm>
            <a:off x="6515100" y="4705350"/>
            <a:ext cx="4686300" cy="4381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진행자 A  </a:t>
            </a:r>
            <a:r>
              <a:rPr sz="1800" b="0" spc="-36" lang="ko-KR" altLang="en-US">
                <a:solidFill>
                  <a:srgbClr val="202921"/>
                </a:solidFill>
                <a:latin typeface="Noto Sans KR"/>
                <a:ea typeface="Noto Sans KR"/>
                <a:cs typeface="Noto Sans KR"/>
              </a:rPr>
              <a:t>시험은 거의 그대로…</a:t>
            </a:r>
          </a:p>
        </p:txBody>
      </p:sp>
      <p:sp>
        <p:nvSpPr>
          <p:cNvPr id="26" name="Rounded Rectangle 25"/>
          <p:cNvSpPr/>
          <p:nvPr/>
        </p:nvSpPr>
        <p:spPr>
          <a:xfrm>
            <a:off x="7467600" y="4191000"/>
            <a:ext cx="1333500" cy="400050"/>
          </a:xfrm>
          <a:prstGeom prst="roundRect">
            <a:avLst>
              <a:gd name="adj" fmla="val 9523"/>
            </a:avLst>
          </a:prstGeom>
          <a:noFill/>
          <a:ln w="33337">
            <a:solidFill>
              <a:srgbClr val="C843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'학생 78%'가 어떤 기준으로 나오는가?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실제 화면 · 33–70분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31</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1 · 실제 화면 · Gemini Notebook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맞춤설정에 질문을 넣고 5분 35초 요약을 받았습니다</a:t>
            </a:r>
          </a:p>
        </p:txBody>
      </p:sp>
      <p:pic>
        <p:nvPicPr>
          <p:cNvPr id="7" name="Picture 6" descr="nb-audio-set.png"/>
          <p:cNvPicPr>
            <a:picLocks noChangeAspect="1"/>
          </p:cNvPicPr>
          <p:nvPr/>
        </p:nvPicPr>
        <p:blipFill>
          <a:blip r:embed="rId4"/>
          <a:stretch>
            <a:fillRect/>
          </a:stretch>
        </p:blipFill>
        <p:spPr>
          <a:xfrm>
            <a:off x="685800" y="1619250"/>
            <a:ext cx="4814277" cy="4191000"/>
          </a:xfrm>
          <a:prstGeom prst="rect">
            <a:avLst/>
          </a:prstGeom>
          <a:ln w="9525">
            <a:solidFill>
              <a:srgbClr val="C9CCC0"/>
            </a:solidFill>
          </a:ln>
        </p:spPr>
      </p:pic>
      <p:pic>
        <p:nvPicPr>
          <p:cNvPr id="8" name="Picture 7" descr="nb-audio-play.png"/>
          <p:cNvPicPr>
            <a:picLocks noChangeAspect="1"/>
          </p:cNvPicPr>
          <p:nvPr/>
        </p:nvPicPr>
        <p:blipFill>
          <a:blip r:embed="rId5"/>
          <a:stretch>
            <a:fillRect/>
          </a:stretch>
        </p:blipFill>
        <p:spPr>
          <a:xfrm>
            <a:off x="5734050" y="1619250"/>
            <a:ext cx="2522660" cy="4191000"/>
          </a:xfrm>
          <a:prstGeom prst="rect">
            <a:avLst/>
          </a:prstGeom>
          <a:ln w="9525">
            <a:solidFill>
              <a:srgbClr val="C9CCC0"/>
            </a:solidFill>
          </a:ln>
        </p:spPr>
      </p:pic>
      <p:sp>
        <p:nvSpPr>
          <p:cNvPr id="9" name="TextBox 8"/>
          <p:cNvSpPr txBox="1"/>
          <p:nvPr/>
        </p:nvSpPr>
        <p:spPr>
          <a:xfrm>
            <a:off x="8591550" y="1638300"/>
            <a:ext cx="291465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짧게 · 한국어</a:t>
            </a:r>
          </a:p>
        </p:txBody>
      </p:sp>
      <p:sp>
        <p:nvSpPr>
          <p:cNvPr id="10" name="TextBox 9"/>
          <p:cNvSpPr txBox="1"/>
          <p:nvPr/>
        </p:nvSpPr>
        <p:spPr>
          <a:xfrm>
            <a:off x="8591550" y="2057400"/>
            <a:ext cx="291465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형식은 심층 분석</a:t>
            </a:r>
            <a:br/>
            <a:r>
              <a:rPr sz="1800" b="0" spc="-36" lang="ko-KR" altLang="en-US">
                <a:solidFill>
                  <a:srgbClr val="202921"/>
                </a:solidFill>
                <a:latin typeface="Noto Sans KR"/>
                <a:ea typeface="Noto Sans KR"/>
                <a:cs typeface="Noto Sans KR"/>
              </a:rPr>
              <a:t>질문 2-3을 아래 칸에</a:t>
            </a:r>
          </a:p>
        </p:txBody>
      </p:sp>
      <p:sp>
        <p:nvSpPr>
          <p:cNvPr id="11" name="TextBox 10"/>
          <p:cNvSpPr txBox="1"/>
          <p:nvPr/>
        </p:nvSpPr>
        <p:spPr>
          <a:xfrm>
            <a:off x="8591550" y="3143250"/>
            <a:ext cx="291465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5분 35초</a:t>
            </a:r>
          </a:p>
        </p:txBody>
      </p:sp>
      <p:sp>
        <p:nvSpPr>
          <p:cNvPr id="12" name="TextBox 11"/>
          <p:cNvSpPr txBox="1"/>
          <p:nvPr/>
        </p:nvSpPr>
        <p:spPr>
          <a:xfrm>
            <a:off x="8591550" y="3562350"/>
            <a:ext cx="291465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3–4분 뒤 완성</a:t>
            </a:r>
            <a:br/>
            <a:r>
              <a:rPr sz="1800" b="0" spc="-36" lang="ko-KR" altLang="en-US">
                <a:solidFill>
                  <a:srgbClr val="202921"/>
                </a:solidFill>
                <a:latin typeface="Noto Sans KR"/>
                <a:ea typeface="Noto Sans KR"/>
                <a:cs typeface="Noto Sans KR"/>
              </a:rPr>
              <a:t>소스 5개</a:t>
            </a:r>
          </a:p>
        </p:txBody>
      </p:sp>
      <p:sp>
        <p:nvSpPr>
          <p:cNvPr id="13" name="TextBox 12"/>
          <p:cNvSpPr txBox="1"/>
          <p:nvPr/>
        </p:nvSpPr>
        <p:spPr>
          <a:xfrm>
            <a:off x="8591550" y="4648200"/>
            <a:ext cx="2914650" cy="1143000"/>
          </a:xfrm>
          <a:prstGeom prst="rect">
            <a:avLst/>
          </a:prstGeom>
          <a:noFill/>
        </p:spPr>
        <p:txBody>
          <a:bodyPr wrap="square" lIns="0" tIns="0" rIns="0" bIns="0" anchor="t"/>
          <a:lstStyle/>
          <a:p>
            <a:pPr algn="l" latinLnBrk="0" eaLnBrk="1">
              <a:lnSpc>
                <a:spcPct val="130000"/>
              </a:lnSpc>
            </a:pPr>
            <a:r>
              <a:rPr sz="1800" b="1" spc="-36" lang="ko-KR" altLang="en-US">
                <a:solidFill>
                  <a:srgbClr val="586356"/>
                </a:solidFill>
                <a:latin typeface="Noto Sans KR"/>
                <a:ea typeface="Noto Sans KR"/>
                <a:cs typeface="Noto Sans KR"/>
              </a:rPr>
              <a:t>제목이 과장되면</a:t>
            </a:r>
            <a:br/>
            <a:r>
              <a:rPr sz="1800" b="1" spc="-36" lang="ko-KR" altLang="en-US">
                <a:solidFill>
                  <a:srgbClr val="586356"/>
                </a:solidFill>
                <a:latin typeface="Noto Sans KR"/>
                <a:ea typeface="Noto Sans KR"/>
                <a:cs typeface="Noto Sans KR"/>
              </a:rPr>
              <a:t>내용을 들으며 확인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1 · 정리 · 66–70분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32</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정리 · 가상 논문 5편이 함께 말하는 것</a:t>
            </a:r>
          </a:p>
        </p:txBody>
      </p:sp>
      <p:sp>
        <p:nvSpPr>
          <p:cNvPr id="6" name="TextBox 5"/>
          <p:cNvSpPr txBox="1"/>
          <p:nvPr/>
        </p:nvSpPr>
        <p:spPr>
          <a:xfrm>
            <a:off x="685800" y="1047750"/>
            <a:ext cx="10820400" cy="1905000"/>
          </a:xfrm>
          <a:prstGeom prst="rect">
            <a:avLst/>
          </a:prstGeom>
          <a:noFill/>
        </p:spPr>
        <p:txBody>
          <a:bodyPr wrap="square" lIns="0" tIns="0" rIns="0" bIns="0" anchor="t"/>
          <a:lstStyle/>
          <a:p>
            <a:pPr algn="l" latinLnBrk="0" eaLnBrk="1">
              <a:lnSpc>
                <a:spcPct val="125000"/>
              </a:lnSpc>
            </a:pPr>
            <a:r>
              <a:rPr sz="4050" b="1" spc="-81" lang="ko-KR" altLang="en-US">
                <a:solidFill>
                  <a:srgbClr val="202921"/>
                </a:solidFill>
                <a:latin typeface="Noto Sans KR"/>
                <a:ea typeface="Noto Sans KR"/>
                <a:cs typeface="Noto Sans KR"/>
              </a:rPr>
              <a:t>과제 점수는 올랐고,</a:t>
            </a:r>
            <a:br/>
            <a:r>
              <a:rPr sz="4050" b="1" spc="-81" lang="ko-KR" altLang="en-US">
                <a:solidFill>
                  <a:srgbClr val="202921"/>
                </a:solidFill>
                <a:latin typeface="Noto Sans KR"/>
                <a:ea typeface="Noto Sans KR"/>
                <a:cs typeface="Noto Sans KR"/>
              </a:rPr>
              <a:t>혼자 치른 시험은 거의 그대로였습니다</a:t>
            </a:r>
          </a:p>
        </p:txBody>
      </p:sp>
      <p:sp>
        <p:nvSpPr>
          <p:cNvPr id="7" name="Rounded Rectangle 6"/>
          <p:cNvSpPr/>
          <p:nvPr/>
        </p:nvSpPr>
        <p:spPr>
          <a:xfrm>
            <a:off x="685800" y="3143250"/>
            <a:ext cx="3454400" cy="2000250"/>
          </a:xfrm>
          <a:prstGeom prst="roundRect">
            <a:avLst>
              <a:gd name="adj" fmla="val 190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3143250"/>
            <a:ext cx="95250" cy="2000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28700" y="3390900"/>
            <a:ext cx="2882900" cy="666750"/>
          </a:xfrm>
          <a:prstGeom prst="rect">
            <a:avLst/>
          </a:prstGeom>
          <a:noFill/>
        </p:spPr>
        <p:txBody>
          <a:bodyPr wrap="square" lIns="0" tIns="0" rIns="0" bIns="0" anchor="t"/>
          <a:lstStyle/>
          <a:p>
            <a:pPr algn="l" latinLnBrk="0" eaLnBrk="1">
              <a:lnSpc>
                <a:spcPct val="100000"/>
              </a:lnSpc>
            </a:pPr>
            <a:r>
              <a:rPr sz="3900" b="1" spc="-78" lang="ko-KR" altLang="en-US">
                <a:solidFill>
                  <a:srgbClr val="202921"/>
                </a:solidFill>
                <a:latin typeface="Noto Sans KR"/>
                <a:ea typeface="Noto Sans KR"/>
                <a:cs typeface="Noto Sans KR"/>
              </a:rPr>
              <a:t>+0.8점</a:t>
            </a:r>
          </a:p>
        </p:txBody>
      </p:sp>
      <p:sp>
        <p:nvSpPr>
          <p:cNvPr id="10" name="TextBox 9"/>
          <p:cNvSpPr txBox="1"/>
          <p:nvPr/>
        </p:nvSpPr>
        <p:spPr>
          <a:xfrm>
            <a:off x="1028700" y="4191000"/>
            <a:ext cx="2882900" cy="85725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논문 B · AI 없이 본 시험</a:t>
            </a:r>
            <a:br/>
            <a:r>
              <a:rPr sz="1950" b="0" spc="-39" lang="ko-KR" altLang="en-US">
                <a:solidFill>
                  <a:srgbClr val="586356"/>
                </a:solidFill>
                <a:latin typeface="Noto Sans KR"/>
                <a:ea typeface="Noto Sans KR"/>
                <a:cs typeface="Noto Sans KR"/>
              </a:rPr>
              <a:t>(p=.61, 차이 없음)</a:t>
            </a:r>
          </a:p>
        </p:txBody>
      </p:sp>
      <p:sp>
        <p:nvSpPr>
          <p:cNvPr id="11" name="Rounded Rectangle 10"/>
          <p:cNvSpPr/>
          <p:nvPr/>
        </p:nvSpPr>
        <p:spPr>
          <a:xfrm>
            <a:off x="4368800" y="3143250"/>
            <a:ext cx="3454400" cy="2000250"/>
          </a:xfrm>
          <a:prstGeom prst="roundRect">
            <a:avLst>
              <a:gd name="adj" fmla="val 190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68800" y="3143250"/>
            <a:ext cx="95250" cy="2000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11700" y="3390900"/>
            <a:ext cx="2882900" cy="666750"/>
          </a:xfrm>
          <a:prstGeom prst="rect">
            <a:avLst/>
          </a:prstGeom>
          <a:noFill/>
        </p:spPr>
        <p:txBody>
          <a:bodyPr wrap="square" lIns="0" tIns="0" rIns="0" bIns="0" anchor="t"/>
          <a:lstStyle/>
          <a:p>
            <a:pPr algn="l" latinLnBrk="0" eaLnBrk="1">
              <a:lnSpc>
                <a:spcPct val="100000"/>
              </a:lnSpc>
            </a:pPr>
            <a:r>
              <a:rPr sz="3900" b="1" spc="-78" lang="ko-KR" altLang="en-US">
                <a:solidFill>
                  <a:srgbClr val="202921"/>
                </a:solidFill>
                <a:latin typeface="Noto Sans KR"/>
                <a:ea typeface="Noto Sans KR"/>
                <a:cs typeface="Noto Sans KR"/>
              </a:rPr>
              <a:t>g = 0.12</a:t>
            </a:r>
          </a:p>
        </p:txBody>
      </p:sp>
      <p:sp>
        <p:nvSpPr>
          <p:cNvPr id="14" name="TextBox 13"/>
          <p:cNvSpPr txBox="1"/>
          <p:nvPr/>
        </p:nvSpPr>
        <p:spPr>
          <a:xfrm>
            <a:off x="4711700" y="4191000"/>
            <a:ext cx="2882900" cy="85725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논문 E · 시험 효과</a:t>
            </a:r>
            <a:br/>
            <a:r>
              <a:rPr sz="1950" b="0" spc="-39" lang="ko-KR" altLang="en-US">
                <a:solidFill>
                  <a:srgbClr val="586356"/>
                </a:solidFill>
                <a:latin typeface="Noto Sans KR"/>
                <a:ea typeface="Noto Sans KR"/>
                <a:cs typeface="Noto Sans KR"/>
              </a:rPr>
              <a:t>(신뢰구간 0 포함)</a:t>
            </a:r>
          </a:p>
        </p:txBody>
      </p:sp>
      <p:sp>
        <p:nvSpPr>
          <p:cNvPr id="15" name="Rounded Rectangle 14"/>
          <p:cNvSpPr/>
          <p:nvPr/>
        </p:nvSpPr>
        <p:spPr>
          <a:xfrm>
            <a:off x="8051800" y="3143250"/>
            <a:ext cx="3454400" cy="2000250"/>
          </a:xfrm>
          <a:prstGeom prst="roundRect">
            <a:avLst>
              <a:gd name="adj" fmla="val 190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51800" y="3143250"/>
            <a:ext cx="95250" cy="2000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94700" y="3390900"/>
            <a:ext cx="2882900" cy="666750"/>
          </a:xfrm>
          <a:prstGeom prst="rect">
            <a:avLst/>
          </a:prstGeom>
          <a:noFill/>
        </p:spPr>
        <p:txBody>
          <a:bodyPr wrap="square" lIns="0" tIns="0" rIns="0" bIns="0" anchor="t"/>
          <a:lstStyle/>
          <a:p>
            <a:pPr algn="l" latinLnBrk="0" eaLnBrk="1">
              <a:lnSpc>
                <a:spcPct val="100000"/>
              </a:lnSpc>
            </a:pPr>
            <a:r>
              <a:rPr sz="3900" b="1" spc="-78" lang="ko-KR" altLang="en-US">
                <a:solidFill>
                  <a:srgbClr val="202921"/>
                </a:solidFill>
                <a:latin typeface="Noto Sans KR"/>
                <a:ea typeface="Noto Sans KR"/>
                <a:cs typeface="Noto Sans KR"/>
              </a:rPr>
              <a:t>+6.8점</a:t>
            </a:r>
          </a:p>
        </p:txBody>
      </p:sp>
      <p:sp>
        <p:nvSpPr>
          <p:cNvPr id="18" name="TextBox 17"/>
          <p:cNvSpPr txBox="1"/>
          <p:nvPr/>
        </p:nvSpPr>
        <p:spPr>
          <a:xfrm>
            <a:off x="8394700" y="4191000"/>
            <a:ext cx="2882900" cy="857250"/>
          </a:xfrm>
          <a:prstGeom prst="rect">
            <a:avLst/>
          </a:prstGeom>
          <a:noFill/>
        </p:spPr>
        <p:txBody>
          <a:bodyPr wrap="square" lIns="0" tIns="0" rIns="0" bIns="0" anchor="t"/>
          <a:lstStyle/>
          <a:p>
            <a:pPr algn="l" latinLnBrk="0" eaLnBrk="1">
              <a:lnSpc>
                <a:spcPct val="130000"/>
              </a:lnSpc>
            </a:pPr>
            <a:r>
              <a:rPr sz="1950" b="0" spc="-39" lang="ko-KR" altLang="en-US">
                <a:solidFill>
                  <a:srgbClr val="586356"/>
                </a:solidFill>
                <a:latin typeface="Noto Sans KR"/>
                <a:ea typeface="Noto Sans KR"/>
                <a:cs typeface="Noto Sans KR"/>
              </a:rPr>
              <a:t>논문 D · 금지한 반보다</a:t>
            </a:r>
            <a:br/>
            <a:r>
              <a:rPr sz="1950" b="0" spc="-39" lang="ko-KR" altLang="en-US">
                <a:solidFill>
                  <a:srgbClr val="586356"/>
                </a:solidFill>
                <a:latin typeface="Noto Sans KR"/>
                <a:ea typeface="Noto Sans KR"/>
                <a:cs typeface="Noto Sans KR"/>
              </a:rPr>
              <a:t>사용법을 안내한 반</a:t>
            </a:r>
          </a:p>
        </p:txBody>
      </p:sp>
      <p:sp>
        <p:nvSpPr>
          <p:cNvPr id="19" name="TextBox 18"/>
          <p:cNvSpPr txBox="1"/>
          <p:nvPr/>
        </p:nvSpPr>
        <p:spPr>
          <a:xfrm>
            <a:off x="685800" y="5486400"/>
            <a:ext cx="10820400" cy="762000"/>
          </a:xfrm>
          <a:prstGeom prst="rect">
            <a:avLst/>
          </a:prstGeom>
          <a:noFill/>
        </p:spPr>
        <p:txBody>
          <a:bodyPr wrap="square" lIns="0" tIns="0" rIns="0" bIns="0" anchor="t"/>
          <a:lstStyle/>
          <a:p>
            <a:pPr algn="l" latinLnBrk="0" eaLnBrk="1">
              <a:lnSpc>
                <a:spcPct val="120000"/>
              </a:lnSpc>
            </a:pPr>
            <a:r>
              <a:rPr sz="2400" b="1" spc="-48" lang="ko-KR" altLang="en-US">
                <a:solidFill>
                  <a:srgbClr val="202921"/>
                </a:solidFill>
                <a:latin typeface="Noto Sans KR"/>
                <a:ea typeface="Noto Sans KR"/>
                <a:cs typeface="Noto Sans KR"/>
              </a:rPr>
              <a:t>→ </a:t>
            </a:r>
            <a:r>
              <a:rPr sz="2400" b="1" spc="-48" lang="ko-KR" altLang="en-US">
                <a:solidFill>
                  <a:srgbClr val="202921"/>
                </a:solidFill>
                <a:latin typeface="Noto Sans KR"/>
                <a:ea typeface="Noto Sans KR"/>
                <a:cs typeface="Noto Sans KR"/>
              </a:rPr>
              <a:t>인용은 누르기 전까지 확인한 것이 아닙니다.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02921"/>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C1C9BE"/>
                </a:solidFill>
                <a:latin typeface="Noto Sans KR"/>
                <a:ea typeface="Noto Sans KR"/>
                <a:cs typeface="Noto Sans KR"/>
              </a:rPr>
              <a:t>실습 2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F4F1E9"/>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C1C9BE"/>
                </a:solidFill>
                <a:latin typeface="Noto Sans KR"/>
                <a:ea typeface="Noto Sans KR"/>
                <a:cs typeface="Noto Sans KR"/>
              </a:rPr>
              <a:t>33</a:t>
            </a:r>
          </a:p>
        </p:txBody>
      </p:sp>
      <p:sp>
        <p:nvSpPr>
          <p:cNvPr id="5" name="TextBox 4"/>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실습 2 · 70–105분 · 강의평가 180개</a:t>
            </a:r>
          </a:p>
        </p:txBody>
      </p:sp>
      <p:sp>
        <p:nvSpPr>
          <p:cNvPr id="6" name="TextBox 5"/>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DF7"/>
                </a:solidFill>
                <a:latin typeface="Noto Sans KR"/>
                <a:ea typeface="Noto Sans KR"/>
                <a:cs typeface="Noto Sans KR"/>
              </a:rPr>
              <a:t>Claude</a:t>
            </a:r>
          </a:p>
        </p:txBody>
      </p:sp>
      <p:sp>
        <p:nvSpPr>
          <p:cNvPr id="7" name="TextBox 6"/>
          <p:cNvSpPr txBox="1"/>
          <p:nvPr/>
        </p:nvSpPr>
        <p:spPr>
          <a:xfrm>
            <a:off x="685800" y="28765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DF7"/>
                </a:solidFill>
                <a:latin typeface="Noto Sans KR"/>
                <a:ea typeface="Noto Sans KR"/>
                <a:cs typeface="Noto Sans KR"/>
              </a:rPr>
              <a:t>긴 자료를 읽고 세고 나눈 뒤</a:t>
            </a:r>
            <a:br/>
            <a:r>
              <a:rPr sz="2250" b="0" spc="-45" lang="ko-KR" altLang="en-US">
                <a:solidFill>
                  <a:srgbClr val="FFFDF7"/>
                </a:solidFill>
                <a:latin typeface="Noto Sans KR"/>
                <a:ea typeface="Noto Sans KR"/>
                <a:cs typeface="Noto Sans KR"/>
              </a:rPr>
              <a:t>초안을 씁니다.</a:t>
            </a:r>
          </a:p>
        </p:txBody>
      </p:sp>
      <p:sp>
        <p:nvSpPr>
          <p:cNvPr id="8" name="Rounded Rectangle 7"/>
          <p:cNvSpPr/>
          <p:nvPr/>
        </p:nvSpPr>
        <p:spPr>
          <a:xfrm>
            <a:off x="7810500" y="1428750"/>
            <a:ext cx="3695700" cy="3619500"/>
          </a:xfrm>
          <a:prstGeom prst="roundRect">
            <a:avLst>
              <a:gd name="adj" fmla="val 105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이 시간에 할 일</a:t>
            </a:r>
          </a:p>
        </p:txBody>
      </p:sp>
      <p:sp>
        <p:nvSpPr>
          <p:cNvPr id="10" name="Oval 9"/>
          <p:cNvSpPr/>
          <p:nvPr/>
        </p:nvSpPr>
        <p:spPr>
          <a:xfrm>
            <a:off x="8115300" y="22860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1</a:t>
            </a:r>
          </a:p>
        </p:txBody>
      </p:sp>
      <p:sp>
        <p:nvSpPr>
          <p:cNvPr id="12" name="TextBox 11"/>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개인정보부터 찾기</a:t>
            </a:r>
          </a:p>
        </p:txBody>
      </p:sp>
      <p:sp>
        <p:nvSpPr>
          <p:cNvPr id="13" name="Oval 12"/>
          <p:cNvSpPr/>
          <p:nvPr/>
        </p:nvSpPr>
        <p:spPr>
          <a:xfrm>
            <a:off x="8115300" y="32004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2</a:t>
            </a:r>
          </a:p>
        </p:txBody>
      </p:sp>
      <p:sp>
        <p:nvSpPr>
          <p:cNvPr id="15" name="TextBox 14"/>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주제별로 세기</a:t>
            </a:r>
          </a:p>
        </p:txBody>
      </p:sp>
      <p:sp>
        <p:nvSpPr>
          <p:cNvPr id="16" name="Oval 15"/>
          <p:cNvSpPr/>
          <p:nvPr/>
        </p:nvSpPr>
        <p:spPr>
          <a:xfrm>
            <a:off x="8115300" y="41148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3</a:t>
            </a:r>
          </a:p>
        </p:txBody>
      </p:sp>
      <p:sp>
        <p:nvSpPr>
          <p:cNvPr id="18" name="TextBox 17"/>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다음 학기 계획·공지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Claude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34</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왜 이 도구인가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180개를 끝까지 읽고 세는 일은 AI에게 맡깁니다</a:t>
            </a:r>
          </a:p>
        </p:txBody>
      </p:sp>
      <p:sp>
        <p:nvSpPr>
          <p:cNvPr id="7" name="Rounded Rectangle 6"/>
          <p:cNvSpPr/>
          <p:nvPr/>
        </p:nvSpPr>
        <p:spPr>
          <a:xfrm>
            <a:off x="685800" y="1866900"/>
            <a:ext cx="4953000" cy="4000500"/>
          </a:xfrm>
          <a:prstGeom prst="roundRect">
            <a:avLst>
              <a:gd name="adj" fmla="val 95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0600" y="2095500"/>
            <a:ext cx="438150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혼자 읽으면</a:t>
            </a:r>
          </a:p>
        </p:txBody>
      </p:sp>
      <p:sp>
        <p:nvSpPr>
          <p:cNvPr id="9" name="Rounded Rectangle 8"/>
          <p:cNvSpPr/>
          <p:nvPr/>
        </p:nvSpPr>
        <p:spPr>
          <a:xfrm>
            <a:off x="99060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13760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28460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43160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57861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725613"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87261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01961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16662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31362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246062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60762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275463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290163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04863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19563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334264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48964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3664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378364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393065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407765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422465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437165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451866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66566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4812665"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4959668"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5106670"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5253672" y="262890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99060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13760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28460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143160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57861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725613"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87261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201961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216662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231362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246062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260762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275463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290163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304863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19563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334264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348964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363664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378364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unded Rectangle 58"/>
          <p:cNvSpPr/>
          <p:nvPr/>
        </p:nvSpPr>
        <p:spPr>
          <a:xfrm>
            <a:off x="393065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407765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422465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ounded Rectangle 61"/>
          <p:cNvSpPr/>
          <p:nvPr/>
        </p:nvSpPr>
        <p:spPr>
          <a:xfrm>
            <a:off x="437165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ounded Rectangle 62"/>
          <p:cNvSpPr/>
          <p:nvPr/>
        </p:nvSpPr>
        <p:spPr>
          <a:xfrm>
            <a:off x="451866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ounded Rectangle 63"/>
          <p:cNvSpPr/>
          <p:nvPr/>
        </p:nvSpPr>
        <p:spPr>
          <a:xfrm>
            <a:off x="466566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unded Rectangle 64"/>
          <p:cNvSpPr/>
          <p:nvPr/>
        </p:nvSpPr>
        <p:spPr>
          <a:xfrm>
            <a:off x="4812665"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4959668"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5106670"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ounded Rectangle 67"/>
          <p:cNvSpPr/>
          <p:nvPr/>
        </p:nvSpPr>
        <p:spPr>
          <a:xfrm>
            <a:off x="5253672" y="284638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unded Rectangle 68"/>
          <p:cNvSpPr/>
          <p:nvPr/>
        </p:nvSpPr>
        <p:spPr>
          <a:xfrm>
            <a:off x="99060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ounded Rectangle 69"/>
          <p:cNvSpPr/>
          <p:nvPr/>
        </p:nvSpPr>
        <p:spPr>
          <a:xfrm>
            <a:off x="113760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ounded Rectangle 70"/>
          <p:cNvSpPr/>
          <p:nvPr/>
        </p:nvSpPr>
        <p:spPr>
          <a:xfrm>
            <a:off x="128460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ounded Rectangle 71"/>
          <p:cNvSpPr/>
          <p:nvPr/>
        </p:nvSpPr>
        <p:spPr>
          <a:xfrm>
            <a:off x="143160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157861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ounded Rectangle 73"/>
          <p:cNvSpPr/>
          <p:nvPr/>
        </p:nvSpPr>
        <p:spPr>
          <a:xfrm>
            <a:off x="1725613"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ounded Rectangle 74"/>
          <p:cNvSpPr/>
          <p:nvPr/>
        </p:nvSpPr>
        <p:spPr>
          <a:xfrm>
            <a:off x="187261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201961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ounded Rectangle 76"/>
          <p:cNvSpPr/>
          <p:nvPr/>
        </p:nvSpPr>
        <p:spPr>
          <a:xfrm>
            <a:off x="216662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231362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a:off x="246062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ounded Rectangle 79"/>
          <p:cNvSpPr/>
          <p:nvPr/>
        </p:nvSpPr>
        <p:spPr>
          <a:xfrm>
            <a:off x="260762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unded Rectangle 80"/>
          <p:cNvSpPr/>
          <p:nvPr/>
        </p:nvSpPr>
        <p:spPr>
          <a:xfrm>
            <a:off x="275463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ounded Rectangle 81"/>
          <p:cNvSpPr/>
          <p:nvPr/>
        </p:nvSpPr>
        <p:spPr>
          <a:xfrm>
            <a:off x="290163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ounded Rectangle 82"/>
          <p:cNvSpPr/>
          <p:nvPr/>
        </p:nvSpPr>
        <p:spPr>
          <a:xfrm>
            <a:off x="304863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ounded Rectangle 83"/>
          <p:cNvSpPr/>
          <p:nvPr/>
        </p:nvSpPr>
        <p:spPr>
          <a:xfrm>
            <a:off x="319563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ounded Rectangle 84"/>
          <p:cNvSpPr/>
          <p:nvPr/>
        </p:nvSpPr>
        <p:spPr>
          <a:xfrm>
            <a:off x="334264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ounded Rectangle 85"/>
          <p:cNvSpPr/>
          <p:nvPr/>
        </p:nvSpPr>
        <p:spPr>
          <a:xfrm>
            <a:off x="348964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ounded Rectangle 86"/>
          <p:cNvSpPr/>
          <p:nvPr/>
        </p:nvSpPr>
        <p:spPr>
          <a:xfrm>
            <a:off x="363664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ounded Rectangle 87"/>
          <p:cNvSpPr/>
          <p:nvPr/>
        </p:nvSpPr>
        <p:spPr>
          <a:xfrm>
            <a:off x="378364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ounded Rectangle 88"/>
          <p:cNvSpPr/>
          <p:nvPr/>
        </p:nvSpPr>
        <p:spPr>
          <a:xfrm>
            <a:off x="393065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407765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unded Rectangle 90"/>
          <p:cNvSpPr/>
          <p:nvPr/>
        </p:nvSpPr>
        <p:spPr>
          <a:xfrm>
            <a:off x="422465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ounded Rectangle 91"/>
          <p:cNvSpPr/>
          <p:nvPr/>
        </p:nvSpPr>
        <p:spPr>
          <a:xfrm>
            <a:off x="437165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ounded Rectangle 92"/>
          <p:cNvSpPr/>
          <p:nvPr/>
        </p:nvSpPr>
        <p:spPr>
          <a:xfrm>
            <a:off x="451866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ounded Rectangle 93"/>
          <p:cNvSpPr/>
          <p:nvPr/>
        </p:nvSpPr>
        <p:spPr>
          <a:xfrm>
            <a:off x="466566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unded Rectangle 94"/>
          <p:cNvSpPr/>
          <p:nvPr/>
        </p:nvSpPr>
        <p:spPr>
          <a:xfrm>
            <a:off x="4812665"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ounded Rectangle 95"/>
          <p:cNvSpPr/>
          <p:nvPr/>
        </p:nvSpPr>
        <p:spPr>
          <a:xfrm>
            <a:off x="4959668"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ounded Rectangle 96"/>
          <p:cNvSpPr/>
          <p:nvPr/>
        </p:nvSpPr>
        <p:spPr>
          <a:xfrm>
            <a:off x="5106670"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5253672" y="3063875"/>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unded Rectangle 98"/>
          <p:cNvSpPr/>
          <p:nvPr/>
        </p:nvSpPr>
        <p:spPr>
          <a:xfrm>
            <a:off x="99060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113760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ounded Rectangle 100"/>
          <p:cNvSpPr/>
          <p:nvPr/>
        </p:nvSpPr>
        <p:spPr>
          <a:xfrm>
            <a:off x="128460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ounded Rectangle 101"/>
          <p:cNvSpPr/>
          <p:nvPr/>
        </p:nvSpPr>
        <p:spPr>
          <a:xfrm>
            <a:off x="143160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ounded Rectangle 102"/>
          <p:cNvSpPr/>
          <p:nvPr/>
        </p:nvSpPr>
        <p:spPr>
          <a:xfrm>
            <a:off x="157861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ounded Rectangle 103"/>
          <p:cNvSpPr/>
          <p:nvPr/>
        </p:nvSpPr>
        <p:spPr>
          <a:xfrm>
            <a:off x="1725613"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187261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201961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ounded Rectangle 106"/>
          <p:cNvSpPr/>
          <p:nvPr/>
        </p:nvSpPr>
        <p:spPr>
          <a:xfrm>
            <a:off x="216662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231362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ounded Rectangle 108"/>
          <p:cNvSpPr/>
          <p:nvPr/>
        </p:nvSpPr>
        <p:spPr>
          <a:xfrm>
            <a:off x="246062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ounded Rectangle 109"/>
          <p:cNvSpPr/>
          <p:nvPr/>
        </p:nvSpPr>
        <p:spPr>
          <a:xfrm>
            <a:off x="260762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ounded Rectangle 110"/>
          <p:cNvSpPr/>
          <p:nvPr/>
        </p:nvSpPr>
        <p:spPr>
          <a:xfrm>
            <a:off x="275463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ounded Rectangle 111"/>
          <p:cNvSpPr/>
          <p:nvPr/>
        </p:nvSpPr>
        <p:spPr>
          <a:xfrm>
            <a:off x="290163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ounded Rectangle 112"/>
          <p:cNvSpPr/>
          <p:nvPr/>
        </p:nvSpPr>
        <p:spPr>
          <a:xfrm>
            <a:off x="304863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ounded Rectangle 113"/>
          <p:cNvSpPr/>
          <p:nvPr/>
        </p:nvSpPr>
        <p:spPr>
          <a:xfrm>
            <a:off x="319563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ounded Rectangle 114"/>
          <p:cNvSpPr/>
          <p:nvPr/>
        </p:nvSpPr>
        <p:spPr>
          <a:xfrm>
            <a:off x="334264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ounded Rectangle 115"/>
          <p:cNvSpPr/>
          <p:nvPr/>
        </p:nvSpPr>
        <p:spPr>
          <a:xfrm>
            <a:off x="348964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ounded Rectangle 116"/>
          <p:cNvSpPr/>
          <p:nvPr/>
        </p:nvSpPr>
        <p:spPr>
          <a:xfrm>
            <a:off x="363664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378364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ounded Rectangle 118"/>
          <p:cNvSpPr/>
          <p:nvPr/>
        </p:nvSpPr>
        <p:spPr>
          <a:xfrm>
            <a:off x="393065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ounded Rectangle 119"/>
          <p:cNvSpPr/>
          <p:nvPr/>
        </p:nvSpPr>
        <p:spPr>
          <a:xfrm>
            <a:off x="407765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422465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ounded Rectangle 121"/>
          <p:cNvSpPr/>
          <p:nvPr/>
        </p:nvSpPr>
        <p:spPr>
          <a:xfrm>
            <a:off x="437165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451866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ounded Rectangle 123"/>
          <p:cNvSpPr/>
          <p:nvPr/>
        </p:nvSpPr>
        <p:spPr>
          <a:xfrm>
            <a:off x="466566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ounded Rectangle 124"/>
          <p:cNvSpPr/>
          <p:nvPr/>
        </p:nvSpPr>
        <p:spPr>
          <a:xfrm>
            <a:off x="4812665"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ounded Rectangle 125"/>
          <p:cNvSpPr/>
          <p:nvPr/>
        </p:nvSpPr>
        <p:spPr>
          <a:xfrm>
            <a:off x="4959668"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ounded Rectangle 126"/>
          <p:cNvSpPr/>
          <p:nvPr/>
        </p:nvSpPr>
        <p:spPr>
          <a:xfrm>
            <a:off x="5106670"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ounded Rectangle 127"/>
          <p:cNvSpPr/>
          <p:nvPr/>
        </p:nvSpPr>
        <p:spPr>
          <a:xfrm>
            <a:off x="5253672" y="3281362"/>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99060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ounded Rectangle 129"/>
          <p:cNvSpPr/>
          <p:nvPr/>
        </p:nvSpPr>
        <p:spPr>
          <a:xfrm>
            <a:off x="113760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ounded Rectangle 130"/>
          <p:cNvSpPr/>
          <p:nvPr/>
        </p:nvSpPr>
        <p:spPr>
          <a:xfrm>
            <a:off x="128460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ounded Rectangle 131"/>
          <p:cNvSpPr/>
          <p:nvPr/>
        </p:nvSpPr>
        <p:spPr>
          <a:xfrm>
            <a:off x="143160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ounded Rectangle 132"/>
          <p:cNvSpPr/>
          <p:nvPr/>
        </p:nvSpPr>
        <p:spPr>
          <a:xfrm>
            <a:off x="157861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ounded Rectangle 133"/>
          <p:cNvSpPr/>
          <p:nvPr/>
        </p:nvSpPr>
        <p:spPr>
          <a:xfrm>
            <a:off x="1725613"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ounded Rectangle 134"/>
          <p:cNvSpPr/>
          <p:nvPr/>
        </p:nvSpPr>
        <p:spPr>
          <a:xfrm>
            <a:off x="187261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ounded Rectangle 135"/>
          <p:cNvSpPr/>
          <p:nvPr/>
        </p:nvSpPr>
        <p:spPr>
          <a:xfrm>
            <a:off x="201961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ounded Rectangle 136"/>
          <p:cNvSpPr/>
          <p:nvPr/>
        </p:nvSpPr>
        <p:spPr>
          <a:xfrm>
            <a:off x="216662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ounded Rectangle 137"/>
          <p:cNvSpPr/>
          <p:nvPr/>
        </p:nvSpPr>
        <p:spPr>
          <a:xfrm>
            <a:off x="231362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ounded Rectangle 138"/>
          <p:cNvSpPr/>
          <p:nvPr/>
        </p:nvSpPr>
        <p:spPr>
          <a:xfrm>
            <a:off x="246062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ounded Rectangle 139"/>
          <p:cNvSpPr/>
          <p:nvPr/>
        </p:nvSpPr>
        <p:spPr>
          <a:xfrm>
            <a:off x="260762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ounded Rectangle 140"/>
          <p:cNvSpPr/>
          <p:nvPr/>
        </p:nvSpPr>
        <p:spPr>
          <a:xfrm>
            <a:off x="275463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ounded Rectangle 141"/>
          <p:cNvSpPr/>
          <p:nvPr/>
        </p:nvSpPr>
        <p:spPr>
          <a:xfrm>
            <a:off x="290163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ounded Rectangle 142"/>
          <p:cNvSpPr/>
          <p:nvPr/>
        </p:nvSpPr>
        <p:spPr>
          <a:xfrm>
            <a:off x="304863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ounded Rectangle 143"/>
          <p:cNvSpPr/>
          <p:nvPr/>
        </p:nvSpPr>
        <p:spPr>
          <a:xfrm>
            <a:off x="319563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ounded Rectangle 144"/>
          <p:cNvSpPr/>
          <p:nvPr/>
        </p:nvSpPr>
        <p:spPr>
          <a:xfrm>
            <a:off x="334264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ounded Rectangle 145"/>
          <p:cNvSpPr/>
          <p:nvPr/>
        </p:nvSpPr>
        <p:spPr>
          <a:xfrm>
            <a:off x="348964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ounded Rectangle 146"/>
          <p:cNvSpPr/>
          <p:nvPr/>
        </p:nvSpPr>
        <p:spPr>
          <a:xfrm>
            <a:off x="363664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ounded Rectangle 147"/>
          <p:cNvSpPr/>
          <p:nvPr/>
        </p:nvSpPr>
        <p:spPr>
          <a:xfrm>
            <a:off x="378364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ounded Rectangle 148"/>
          <p:cNvSpPr/>
          <p:nvPr/>
        </p:nvSpPr>
        <p:spPr>
          <a:xfrm>
            <a:off x="393065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ounded Rectangle 149"/>
          <p:cNvSpPr/>
          <p:nvPr/>
        </p:nvSpPr>
        <p:spPr>
          <a:xfrm>
            <a:off x="407765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ounded Rectangle 150"/>
          <p:cNvSpPr/>
          <p:nvPr/>
        </p:nvSpPr>
        <p:spPr>
          <a:xfrm>
            <a:off x="422465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ounded Rectangle 151"/>
          <p:cNvSpPr/>
          <p:nvPr/>
        </p:nvSpPr>
        <p:spPr>
          <a:xfrm>
            <a:off x="437165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ounded Rectangle 152"/>
          <p:cNvSpPr/>
          <p:nvPr/>
        </p:nvSpPr>
        <p:spPr>
          <a:xfrm>
            <a:off x="451866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ounded Rectangle 153"/>
          <p:cNvSpPr/>
          <p:nvPr/>
        </p:nvSpPr>
        <p:spPr>
          <a:xfrm>
            <a:off x="466566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ounded Rectangle 154"/>
          <p:cNvSpPr/>
          <p:nvPr/>
        </p:nvSpPr>
        <p:spPr>
          <a:xfrm>
            <a:off x="4812665"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ounded Rectangle 155"/>
          <p:cNvSpPr/>
          <p:nvPr/>
        </p:nvSpPr>
        <p:spPr>
          <a:xfrm>
            <a:off x="4959668"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ounded Rectangle 156"/>
          <p:cNvSpPr/>
          <p:nvPr/>
        </p:nvSpPr>
        <p:spPr>
          <a:xfrm>
            <a:off x="5106670"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ounded Rectangle 157"/>
          <p:cNvSpPr/>
          <p:nvPr/>
        </p:nvSpPr>
        <p:spPr>
          <a:xfrm>
            <a:off x="5253672" y="3498850"/>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ounded Rectangle 158"/>
          <p:cNvSpPr/>
          <p:nvPr/>
        </p:nvSpPr>
        <p:spPr>
          <a:xfrm>
            <a:off x="99060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ounded Rectangle 159"/>
          <p:cNvSpPr/>
          <p:nvPr/>
        </p:nvSpPr>
        <p:spPr>
          <a:xfrm>
            <a:off x="113760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ounded Rectangle 160"/>
          <p:cNvSpPr/>
          <p:nvPr/>
        </p:nvSpPr>
        <p:spPr>
          <a:xfrm>
            <a:off x="128460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ounded Rectangle 161"/>
          <p:cNvSpPr/>
          <p:nvPr/>
        </p:nvSpPr>
        <p:spPr>
          <a:xfrm>
            <a:off x="143160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ounded Rectangle 162"/>
          <p:cNvSpPr/>
          <p:nvPr/>
        </p:nvSpPr>
        <p:spPr>
          <a:xfrm>
            <a:off x="157861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ounded Rectangle 163"/>
          <p:cNvSpPr/>
          <p:nvPr/>
        </p:nvSpPr>
        <p:spPr>
          <a:xfrm>
            <a:off x="1725613"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ounded Rectangle 164"/>
          <p:cNvSpPr/>
          <p:nvPr/>
        </p:nvSpPr>
        <p:spPr>
          <a:xfrm>
            <a:off x="187261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ounded Rectangle 165"/>
          <p:cNvSpPr/>
          <p:nvPr/>
        </p:nvSpPr>
        <p:spPr>
          <a:xfrm>
            <a:off x="201961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ounded Rectangle 166"/>
          <p:cNvSpPr/>
          <p:nvPr/>
        </p:nvSpPr>
        <p:spPr>
          <a:xfrm>
            <a:off x="216662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ounded Rectangle 167"/>
          <p:cNvSpPr/>
          <p:nvPr/>
        </p:nvSpPr>
        <p:spPr>
          <a:xfrm>
            <a:off x="231362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ounded Rectangle 168"/>
          <p:cNvSpPr/>
          <p:nvPr/>
        </p:nvSpPr>
        <p:spPr>
          <a:xfrm>
            <a:off x="246062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ounded Rectangle 169"/>
          <p:cNvSpPr/>
          <p:nvPr/>
        </p:nvSpPr>
        <p:spPr>
          <a:xfrm>
            <a:off x="260762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ounded Rectangle 170"/>
          <p:cNvSpPr/>
          <p:nvPr/>
        </p:nvSpPr>
        <p:spPr>
          <a:xfrm>
            <a:off x="275463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ounded Rectangle 171"/>
          <p:cNvSpPr/>
          <p:nvPr/>
        </p:nvSpPr>
        <p:spPr>
          <a:xfrm>
            <a:off x="290163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ounded Rectangle 172"/>
          <p:cNvSpPr/>
          <p:nvPr/>
        </p:nvSpPr>
        <p:spPr>
          <a:xfrm>
            <a:off x="304863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ounded Rectangle 173"/>
          <p:cNvSpPr/>
          <p:nvPr/>
        </p:nvSpPr>
        <p:spPr>
          <a:xfrm>
            <a:off x="319563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ounded Rectangle 174"/>
          <p:cNvSpPr/>
          <p:nvPr/>
        </p:nvSpPr>
        <p:spPr>
          <a:xfrm>
            <a:off x="334264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ounded Rectangle 175"/>
          <p:cNvSpPr/>
          <p:nvPr/>
        </p:nvSpPr>
        <p:spPr>
          <a:xfrm>
            <a:off x="348964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ounded Rectangle 176"/>
          <p:cNvSpPr/>
          <p:nvPr/>
        </p:nvSpPr>
        <p:spPr>
          <a:xfrm>
            <a:off x="363664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ounded Rectangle 177"/>
          <p:cNvSpPr/>
          <p:nvPr/>
        </p:nvSpPr>
        <p:spPr>
          <a:xfrm>
            <a:off x="378364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ounded Rectangle 178"/>
          <p:cNvSpPr/>
          <p:nvPr/>
        </p:nvSpPr>
        <p:spPr>
          <a:xfrm>
            <a:off x="393065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ounded Rectangle 179"/>
          <p:cNvSpPr/>
          <p:nvPr/>
        </p:nvSpPr>
        <p:spPr>
          <a:xfrm>
            <a:off x="407765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ounded Rectangle 180"/>
          <p:cNvSpPr/>
          <p:nvPr/>
        </p:nvSpPr>
        <p:spPr>
          <a:xfrm>
            <a:off x="422465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ounded Rectangle 181"/>
          <p:cNvSpPr/>
          <p:nvPr/>
        </p:nvSpPr>
        <p:spPr>
          <a:xfrm>
            <a:off x="437165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ounded Rectangle 182"/>
          <p:cNvSpPr/>
          <p:nvPr/>
        </p:nvSpPr>
        <p:spPr>
          <a:xfrm>
            <a:off x="451866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ounded Rectangle 183"/>
          <p:cNvSpPr/>
          <p:nvPr/>
        </p:nvSpPr>
        <p:spPr>
          <a:xfrm>
            <a:off x="466566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ounded Rectangle 184"/>
          <p:cNvSpPr/>
          <p:nvPr/>
        </p:nvSpPr>
        <p:spPr>
          <a:xfrm>
            <a:off x="4812665"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ounded Rectangle 185"/>
          <p:cNvSpPr/>
          <p:nvPr/>
        </p:nvSpPr>
        <p:spPr>
          <a:xfrm>
            <a:off x="4959668"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ounded Rectangle 186"/>
          <p:cNvSpPr/>
          <p:nvPr/>
        </p:nvSpPr>
        <p:spPr>
          <a:xfrm>
            <a:off x="5106670"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ounded Rectangle 187"/>
          <p:cNvSpPr/>
          <p:nvPr/>
        </p:nvSpPr>
        <p:spPr>
          <a:xfrm>
            <a:off x="5253672" y="3716338"/>
            <a:ext cx="80328" cy="150812"/>
          </a:xfrm>
          <a:prstGeom prst="roundRect">
            <a:avLst>
              <a:gd name="adj" fmla="val 35573"/>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Box 188"/>
          <p:cNvSpPr txBox="1"/>
          <p:nvPr/>
        </p:nvSpPr>
        <p:spPr>
          <a:xfrm>
            <a:off x="990600" y="4095750"/>
            <a:ext cx="4381500" cy="1143000"/>
          </a:xfrm>
          <a:prstGeom prst="rect">
            <a:avLst/>
          </a:prstGeom>
          <a:noFill/>
        </p:spPr>
        <p:txBody>
          <a:bodyPr wrap="square" lIns="0" tIns="0" rIns="0" bIns="0" anchor="t"/>
          <a:lstStyle/>
          <a:p>
            <a:pPr algn="l" latinLnBrk="0" eaLnBrk="1">
              <a:lnSpc>
                <a:spcPct val="135000"/>
              </a:lnSpc>
            </a:pPr>
            <a:r>
              <a:rPr sz="2100" b="0" spc="-42" lang="ko-KR" altLang="en-US">
                <a:solidFill>
                  <a:srgbClr val="586356"/>
                </a:solidFill>
                <a:latin typeface="Noto Sans KR"/>
                <a:ea typeface="Noto Sans KR"/>
                <a:cs typeface="Noto Sans KR"/>
              </a:rPr>
              <a:t>앞의 몇 개만 읽고 인상으로</a:t>
            </a:r>
            <a:br/>
            <a:r>
              <a:rPr sz="2100" b="0" spc="-42" lang="ko-KR" altLang="en-US">
                <a:solidFill>
                  <a:srgbClr val="586356"/>
                </a:solidFill>
                <a:latin typeface="Noto Sans KR"/>
                <a:ea typeface="Noto Sans KR"/>
                <a:cs typeface="Noto Sans KR"/>
              </a:rPr>
              <a:t>판단하기 쉽습니다.</a:t>
            </a:r>
          </a:p>
        </p:txBody>
      </p:sp>
      <p:sp>
        <p:nvSpPr>
          <p:cNvPr id="190" name="TextBox 189"/>
          <p:cNvSpPr txBox="1"/>
          <p:nvPr/>
        </p:nvSpPr>
        <p:spPr>
          <a:xfrm>
            <a:off x="990600" y="5334000"/>
            <a:ext cx="4381500" cy="381000"/>
          </a:xfrm>
          <a:prstGeom prst="rect">
            <a:avLst/>
          </a:prstGeom>
          <a:noFill/>
        </p:spPr>
        <p:txBody>
          <a:bodyPr wrap="square" lIns="0" tIns="0" rIns="0" bIns="0" anchor="t"/>
          <a:lstStyle/>
          <a:p>
            <a:pPr algn="l" latinLnBrk="0" eaLnBrk="1">
              <a:lnSpc>
                <a:spcPct val="100000"/>
              </a:lnSpc>
            </a:pPr>
            <a:r>
              <a:rPr sz="1950" b="1" spc="-39" lang="ko-KR" altLang="en-US">
                <a:solidFill>
                  <a:srgbClr val="586356"/>
                </a:solidFill>
                <a:latin typeface="Noto Sans KR"/>
                <a:ea typeface="Noto Sans KR"/>
                <a:cs typeface="Noto Sans KR"/>
              </a:rPr>
              <a:t>걸린 시간 ______분</a:t>
            </a:r>
          </a:p>
        </p:txBody>
      </p:sp>
      <p:sp>
        <p:nvSpPr>
          <p:cNvPr id="191" name="TextBox 190"/>
          <p:cNvSpPr txBox="1"/>
          <p:nvPr/>
        </p:nvSpPr>
        <p:spPr>
          <a:xfrm>
            <a:off x="5676900" y="3429000"/>
            <a:ext cx="495300" cy="571500"/>
          </a:xfrm>
          <a:prstGeom prst="rect">
            <a:avLst/>
          </a:prstGeom>
          <a:noFill/>
        </p:spPr>
        <p:txBody>
          <a:bodyPr wrap="square" lIns="0" tIns="0" rIns="0" bIns="0" anchor="t"/>
          <a:lstStyle/>
          <a:p>
            <a:pPr algn="ctr" latinLnBrk="0" eaLnBrk="1">
              <a:lnSpc>
                <a:spcPct val="100000"/>
              </a:lnSpc>
            </a:pPr>
            <a:r>
              <a:rPr sz="3300" b="1" spc="-66" lang="ko-KR" altLang="en-US">
                <a:solidFill>
                  <a:srgbClr val="202921"/>
                </a:solidFill>
                <a:latin typeface="Noto Sans KR"/>
                <a:ea typeface="Noto Sans KR"/>
                <a:cs typeface="Noto Sans KR"/>
              </a:rPr>
              <a:t>→</a:t>
            </a:r>
          </a:p>
        </p:txBody>
      </p:sp>
      <p:sp>
        <p:nvSpPr>
          <p:cNvPr id="192" name="Rounded Rectangle 191"/>
          <p:cNvSpPr/>
          <p:nvPr/>
        </p:nvSpPr>
        <p:spPr>
          <a:xfrm>
            <a:off x="6210300" y="1866900"/>
            <a:ext cx="5295900" cy="4000500"/>
          </a:xfrm>
          <a:prstGeom prst="roundRect">
            <a:avLst>
              <a:gd name="adj" fmla="val 952"/>
            </a:avLst>
          </a:prstGeom>
          <a:solidFill>
            <a:srgbClr val="FFFDF7"/>
          </a:solidFill>
          <a:ln w="28575">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TextBox 192"/>
          <p:cNvSpPr txBox="1"/>
          <p:nvPr/>
        </p:nvSpPr>
        <p:spPr>
          <a:xfrm>
            <a:off x="6515100" y="2095500"/>
            <a:ext cx="4667250" cy="3810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Claude가 먼저 읽으면</a:t>
            </a:r>
          </a:p>
        </p:txBody>
      </p:sp>
      <p:sp>
        <p:nvSpPr>
          <p:cNvPr id="194" name="Rounded Rectangle 193"/>
          <p:cNvSpPr/>
          <p:nvPr/>
        </p:nvSpPr>
        <p:spPr>
          <a:xfrm>
            <a:off x="6515100" y="2628900"/>
            <a:ext cx="4686300" cy="666750"/>
          </a:xfrm>
          <a:prstGeom prst="roundRect">
            <a:avLst>
              <a:gd name="adj" fmla="val 5714"/>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Box 194"/>
          <p:cNvSpPr txBox="1"/>
          <p:nvPr/>
        </p:nvSpPr>
        <p:spPr>
          <a:xfrm>
            <a:off x="6705600" y="262890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① 개인정보 든 응답부터</a:t>
            </a:r>
          </a:p>
        </p:txBody>
      </p:sp>
      <p:sp>
        <p:nvSpPr>
          <p:cNvPr id="196" name="Rounded Rectangle 195"/>
          <p:cNvSpPr/>
          <p:nvPr/>
        </p:nvSpPr>
        <p:spPr>
          <a:xfrm>
            <a:off x="6515100" y="3409950"/>
            <a:ext cx="4686300" cy="666750"/>
          </a:xfrm>
          <a:prstGeom prst="roundRect">
            <a:avLst>
              <a:gd name="adj" fmla="val 5714"/>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TextBox 196"/>
          <p:cNvSpPr txBox="1"/>
          <p:nvPr/>
        </p:nvSpPr>
        <p:spPr>
          <a:xfrm>
            <a:off x="6705600" y="3409950"/>
            <a:ext cx="4381500" cy="66675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② 주제별로 나눠 세기</a:t>
            </a:r>
          </a:p>
        </p:txBody>
      </p:sp>
      <p:sp>
        <p:nvSpPr>
          <p:cNvPr id="198" name="Rounded Rectangle 197"/>
          <p:cNvSpPr/>
          <p:nvPr/>
        </p:nvSpPr>
        <p:spPr>
          <a:xfrm>
            <a:off x="6515100" y="4191000"/>
            <a:ext cx="4686300" cy="666750"/>
          </a:xfrm>
          <a:prstGeom prst="roundRect">
            <a:avLst>
              <a:gd name="adj" fmla="val 5714"/>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TextBox 198"/>
          <p:cNvSpPr txBox="1"/>
          <p:nvPr/>
        </p:nvSpPr>
        <p:spPr>
          <a:xfrm>
            <a:off x="6705600" y="4191000"/>
            <a:ext cx="43815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③ 바꿀 것은 교수님이</a:t>
            </a:r>
          </a:p>
        </p:txBody>
      </p:sp>
      <p:sp>
        <p:nvSpPr>
          <p:cNvPr id="200" name="TextBox 199"/>
          <p:cNvSpPr txBox="1"/>
          <p:nvPr/>
        </p:nvSpPr>
        <p:spPr>
          <a:xfrm>
            <a:off x="6515100" y="5334000"/>
            <a:ext cx="4667250" cy="381000"/>
          </a:xfrm>
          <a:prstGeom prst="rect">
            <a:avLst/>
          </a:prstGeom>
          <a:noFill/>
        </p:spPr>
        <p:txBody>
          <a:bodyPr wrap="square" lIns="0" tIns="0" rIns="0" bIns="0" anchor="t"/>
          <a:lstStyle/>
          <a:p>
            <a:pPr algn="l" latinLnBrk="0" eaLnBrk="1">
              <a:lnSpc>
                <a:spcPct val="100000"/>
              </a:lnSpc>
            </a:pPr>
            <a:r>
              <a:rPr sz="1950" b="1" spc="-39" lang="ko-KR" altLang="en-US">
                <a:solidFill>
                  <a:srgbClr val="586356"/>
                </a:solidFill>
                <a:latin typeface="Noto Sans KR"/>
                <a:ea typeface="Noto Sans KR"/>
                <a:cs typeface="Noto Sans KR"/>
              </a:rPr>
              <a:t>걸린 시간 ______분 (오늘 실측)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전체 질문은 사이트 #claude-evaluations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35</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2-1 · 주제 분류</a:t>
            </a:r>
          </a:p>
        </p:txBody>
      </p:sp>
      <p:sp>
        <p:nvSpPr>
          <p:cNvPr id="7" name="Rounded Rectangle 6"/>
          <p:cNvSpPr/>
          <p:nvPr/>
        </p:nvSpPr>
        <p:spPr>
          <a:xfrm>
            <a:off x="9435084" y="219075"/>
            <a:ext cx="206692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587484"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816084" y="219075"/>
            <a:ext cx="160972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12분 · Claude</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응답 180개를 주제별로 나누고 개수를 셉니다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CSV 올리기 (깨져 보여도 그대로)</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질문 3-1</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응답 수 더하기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수업 개선을 돕는 교육 컨설턴트</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CSV의 응답 180개만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개인정보 든 응답번호 먼저, 주제 10~14개 표, 합 180</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개인정보 옮기기, 무관한 응답을 개선점으로</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000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주제</a:t>
            </a:r>
          </a:p>
        </p:txBody>
      </p:sp>
      <p:sp>
        <p:nvSpPr>
          <p:cNvPr id="19" name="TextBox 18"/>
          <p:cNvSpPr txBox="1"/>
          <p:nvPr/>
        </p:nvSpPr>
        <p:spPr>
          <a:xfrm>
            <a:off x="10134600" y="2895600"/>
            <a:ext cx="1104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응답 수</a:t>
            </a:r>
          </a:p>
        </p:txBody>
      </p:sp>
      <p:sp>
        <p:nvSpPr>
          <p:cNvPr id="20" name="Rectangle 19"/>
          <p:cNvSpPr/>
          <p:nvPr/>
        </p:nvSpPr>
        <p:spPr>
          <a:xfrm>
            <a:off x="6438900" y="36814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34150" y="329565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실습·실제 데이터</a:t>
            </a:r>
          </a:p>
        </p:txBody>
      </p:sp>
      <p:sp>
        <p:nvSpPr>
          <p:cNvPr id="22" name="TextBox 21"/>
          <p:cNvSpPr txBox="1"/>
          <p:nvPr/>
        </p:nvSpPr>
        <p:spPr>
          <a:xfrm>
            <a:off x="10134600" y="32956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26</a:t>
            </a:r>
          </a:p>
        </p:txBody>
      </p:sp>
      <p:sp>
        <p:nvSpPr>
          <p:cNvPr id="23" name="Rectangle 22"/>
          <p:cNvSpPr/>
          <p:nvPr/>
        </p:nvSpPr>
        <p:spPr>
          <a:xfrm>
            <a:off x="6438900" y="40814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34150" y="369570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설명이 친절함</a:t>
            </a:r>
          </a:p>
        </p:txBody>
      </p:sp>
      <p:sp>
        <p:nvSpPr>
          <p:cNvPr id="25" name="TextBox 24"/>
          <p:cNvSpPr txBox="1"/>
          <p:nvPr/>
        </p:nvSpPr>
        <p:spPr>
          <a:xfrm>
            <a:off x="10134600" y="36957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26</a:t>
            </a:r>
          </a:p>
        </p:txBody>
      </p:sp>
      <p:sp>
        <p:nvSpPr>
          <p:cNvPr id="26" name="Rectangle 25"/>
          <p:cNvSpPr/>
          <p:nvPr/>
        </p:nvSpPr>
        <p:spPr>
          <a:xfrm>
            <a:off x="6438900" y="4481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34150" y="409575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진도가 빠름</a:t>
            </a:r>
          </a:p>
        </p:txBody>
      </p:sp>
      <p:sp>
        <p:nvSpPr>
          <p:cNvPr id="28" name="TextBox 27"/>
          <p:cNvSpPr txBox="1"/>
          <p:nvPr/>
        </p:nvSpPr>
        <p:spPr>
          <a:xfrm>
            <a:off x="10134600" y="40957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14</a:t>
            </a:r>
          </a:p>
        </p:txBody>
      </p:sp>
      <p:sp>
        <p:nvSpPr>
          <p:cNvPr id="29" name="Rectangle 28"/>
          <p:cNvSpPr/>
          <p:nvPr/>
        </p:nvSpPr>
        <p:spPr>
          <a:xfrm>
            <a:off x="6438900" y="48815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34150" y="449580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 (10~14개)</a:t>
            </a:r>
          </a:p>
        </p:txBody>
      </p:sp>
      <p:sp>
        <p:nvSpPr>
          <p:cNvPr id="31" name="TextBox 30"/>
          <p:cNvSpPr txBox="1"/>
          <p:nvPr/>
        </p:nvSpPr>
        <p:spPr>
          <a:xfrm>
            <a:off x="10134600" y="44958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2" name="Rectangle 31"/>
          <p:cNvSpPr/>
          <p:nvPr/>
        </p:nvSpPr>
        <p:spPr>
          <a:xfrm>
            <a:off x="6438900" y="5281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4150" y="4895850"/>
            <a:ext cx="34671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합계</a:t>
            </a:r>
          </a:p>
        </p:txBody>
      </p:sp>
      <p:sp>
        <p:nvSpPr>
          <p:cNvPr id="34" name="TextBox 33"/>
          <p:cNvSpPr txBox="1"/>
          <p:nvPr/>
        </p:nvSpPr>
        <p:spPr>
          <a:xfrm>
            <a:off x="10134600" y="48958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180?</a:t>
            </a:r>
          </a:p>
        </p:txBody>
      </p:sp>
      <p:sp>
        <p:nvSpPr>
          <p:cNvPr id="35" name="Rounded Rectangle 34"/>
          <p:cNvSpPr/>
          <p:nvPr/>
        </p:nvSpPr>
        <p:spPr>
          <a:xfrm>
            <a:off x="10058400" y="4924425"/>
            <a:ext cx="1200150" cy="342900"/>
          </a:xfrm>
          <a:prstGeom prst="roundRect">
            <a:avLst>
              <a:gd name="adj" fmla="val 11111"/>
            </a:avLst>
          </a:prstGeom>
          <a:noFill/>
          <a:ln w="33337">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표의 응답 수를 모두 더하면 180인가?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실제 화면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36</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2 · 실제 화면 · Claude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개인정보 6건을 먼저 찾고, 합계 180을 맞췄습니다</a:t>
            </a:r>
          </a:p>
        </p:txBody>
      </p:sp>
      <p:pic>
        <p:nvPicPr>
          <p:cNvPr id="7" name="Picture 6" descr="cl-privacy.png"/>
          <p:cNvPicPr>
            <a:picLocks noChangeAspect="1"/>
          </p:cNvPicPr>
          <p:nvPr/>
        </p:nvPicPr>
        <p:blipFill>
          <a:blip r:embed="rId4"/>
          <a:stretch>
            <a:fillRect/>
          </a:stretch>
        </p:blipFill>
        <p:spPr>
          <a:xfrm>
            <a:off x="685800" y="1619250"/>
            <a:ext cx="4667250" cy="4000500"/>
          </a:xfrm>
          <a:prstGeom prst="rect">
            <a:avLst/>
          </a:prstGeom>
          <a:ln w="9525">
            <a:solidFill>
              <a:srgbClr val="C9CCC0"/>
            </a:solidFill>
          </a:ln>
        </p:spPr>
      </p:pic>
      <p:pic>
        <p:nvPicPr>
          <p:cNvPr id="8" name="Picture 7" descr="cl-total.png"/>
          <p:cNvPicPr>
            <a:picLocks noChangeAspect="1"/>
          </p:cNvPicPr>
          <p:nvPr/>
        </p:nvPicPr>
        <p:blipFill>
          <a:blip r:embed="rId5"/>
          <a:stretch>
            <a:fillRect/>
          </a:stretch>
        </p:blipFill>
        <p:spPr>
          <a:xfrm>
            <a:off x="5638800" y="1619250"/>
            <a:ext cx="5864607" cy="4000500"/>
          </a:xfrm>
          <a:prstGeom prst="rect">
            <a:avLst/>
          </a:prstGeom>
          <a:ln w="9525">
            <a:solidFill>
              <a:srgbClr val="C9CCC0"/>
            </a:solidFill>
          </a:ln>
        </p:spPr>
      </p:pic>
      <p:sp>
        <p:nvSpPr>
          <p:cNvPr id="9" name="TextBox 8"/>
          <p:cNvSpPr txBox="1"/>
          <p:nvPr/>
        </p:nvSpPr>
        <p:spPr>
          <a:xfrm>
            <a:off x="685800" y="5772150"/>
            <a:ext cx="10820400" cy="419100"/>
          </a:xfrm>
          <a:prstGeom prst="rect">
            <a:avLst/>
          </a:prstGeom>
          <a:noFill/>
        </p:spPr>
        <p:txBody>
          <a:bodyPr wrap="square" lIns="0" tIns="0" rIns="0" bIns="0" anchor="t"/>
          <a:lstStyle/>
          <a:p>
            <a:pPr algn="l" latinLnBrk="0" eaLnBrk="1">
              <a:lnSpc>
                <a:spcPct val="100000"/>
              </a:lnSpc>
            </a:pPr>
            <a:r>
              <a:rPr sz="1950" b="1" spc="-39" lang="ko-KR" altLang="en-US">
                <a:solidFill>
                  <a:srgbClr val="EA5936"/>
                </a:solidFill>
                <a:latin typeface="Noto Sans KR"/>
                <a:ea typeface="Noto Sans KR"/>
                <a:cs typeface="Noto Sans KR"/>
              </a:rPr>
              <a:t>개인정보 6건</a:t>
            </a:r>
            <a:r>
              <a:rPr sz="1950" b="1" spc="-39" lang="ko-KR" altLang="en-US">
                <a:solidFill>
                  <a:srgbClr val="202921"/>
                </a:solidFill>
                <a:latin typeface="Noto Sans KR"/>
                <a:ea typeface="Noto Sans KR"/>
                <a:cs typeface="Noto Sans KR"/>
              </a:rPr>
              <a:t> 해설과 같음  ·  </a:t>
            </a:r>
            <a:r>
              <a:rPr sz="1950" b="1" spc="-39" lang="ko-KR" altLang="en-US">
                <a:solidFill>
                  <a:srgbClr val="EA5936"/>
                </a:solidFill>
                <a:latin typeface="Noto Sans KR"/>
                <a:ea typeface="Noto Sans KR"/>
                <a:cs typeface="Noto Sans KR"/>
              </a:rPr>
              <a:t>합계 180</a:t>
            </a:r>
            <a:r>
              <a:rPr sz="1950" b="1" spc="-39" lang="ko-KR" altLang="en-US">
                <a:solidFill>
                  <a:srgbClr val="202921"/>
                </a:solidFill>
                <a:latin typeface="Noto Sans KR"/>
                <a:ea typeface="Noto Sans KR"/>
                <a:cs typeface="Noto Sans KR"/>
              </a:rPr>
              <a:t>  ·  진도 빠름 14 / 느림 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Claude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37</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화면 재현 · 정답 기준</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개인정보가 든 응답 6개를 먼저 찾아 결과에서 뺍니다</a:t>
            </a:r>
          </a:p>
        </p:txBody>
      </p:sp>
      <p:sp>
        <p:nvSpPr>
          <p:cNvPr id="7" name="Rounded Rectangle 6"/>
          <p:cNvSpPr/>
          <p:nvPr/>
        </p:nvSpPr>
        <p:spPr>
          <a:xfrm>
            <a:off x="685800" y="1962150"/>
            <a:ext cx="6858000" cy="4191000"/>
          </a:xfrm>
          <a:prstGeom prst="roundRect">
            <a:avLst>
              <a:gd name="adj" fmla="val 909"/>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85800" y="1962150"/>
            <a:ext cx="6858000" cy="552450"/>
          </a:xfrm>
          <a:prstGeom prst="roundRect">
            <a:avLst>
              <a:gd name="adj" fmla="val 6896"/>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85800" y="2286000"/>
            <a:ext cx="6858000" cy="2286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95350" y="2171700"/>
            <a:ext cx="133350" cy="133350"/>
          </a:xfrm>
          <a:prstGeom prst="ellipse">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23950" y="2171700"/>
            <a:ext cx="133350" cy="133350"/>
          </a:xfrm>
          <a:prstGeom prst="ellipse">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52550" y="2171700"/>
            <a:ext cx="133350" cy="133350"/>
          </a:xfrm>
          <a:prstGeom prst="ellipse">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33550" y="1962150"/>
            <a:ext cx="5715000" cy="552450"/>
          </a:xfrm>
          <a:prstGeom prst="rect">
            <a:avLst/>
          </a:prstGeom>
          <a:noFill/>
        </p:spPr>
        <p:txBody>
          <a:bodyPr wrap="square" lIns="0" tIns="0" rIns="0" bIns="0" anchor="ctr"/>
          <a:lstStyle/>
          <a:p>
            <a:pPr algn="l" latinLnBrk="0" eaLnBrk="1">
              <a:lnSpc>
                <a:spcPct val="100000"/>
              </a:lnSpc>
            </a:pPr>
            <a:r>
              <a:rPr sz="1800" b="1" spc="-36" lang="ko-KR" altLang="en-US">
                <a:solidFill>
                  <a:srgbClr val="586356"/>
                </a:solidFill>
                <a:latin typeface="Noto Sans KR"/>
                <a:ea typeface="Noto Sans KR"/>
                <a:cs typeface="Noto Sans KR"/>
              </a:rPr>
              <a:t>Claude · 03_강의평가_서술형응답.csv</a:t>
            </a:r>
          </a:p>
        </p:txBody>
      </p:sp>
      <p:sp>
        <p:nvSpPr>
          <p:cNvPr id="14" name="TextBox 13"/>
          <p:cNvSpPr txBox="1"/>
          <p:nvPr/>
        </p:nvSpPr>
        <p:spPr>
          <a:xfrm>
            <a:off x="990600" y="2743200"/>
            <a:ext cx="6286500" cy="381000"/>
          </a:xfrm>
          <a:prstGeom prst="rect">
            <a:avLst/>
          </a:prstGeom>
          <a:noFill/>
        </p:spPr>
        <p:txBody>
          <a:bodyPr wrap="square" lIns="0" tIns="0" rIns="0" bIns="0" anchor="t"/>
          <a:lstStyle/>
          <a:p>
            <a:pPr algn="l" latinLnBrk="0" eaLnBrk="1">
              <a:lnSpc>
                <a:spcPct val="100000"/>
              </a:lnSpc>
            </a:pPr>
            <a:r>
              <a:rPr sz="2100" b="1" spc="-42" lang="ko-KR" altLang="en-US">
                <a:solidFill>
                  <a:srgbClr val="202921"/>
                </a:solidFill>
                <a:latin typeface="Noto Sans KR"/>
                <a:ea typeface="Noto Sans KR"/>
                <a:cs typeface="Noto Sans KR"/>
              </a:rPr>
              <a:t>개인정보가 들어간 응답</a:t>
            </a:r>
          </a:p>
        </p:txBody>
      </p:sp>
      <p:sp>
        <p:nvSpPr>
          <p:cNvPr id="15" name="Rounded Rectangle 14"/>
          <p:cNvSpPr/>
          <p:nvPr/>
        </p:nvSpPr>
        <p:spPr>
          <a:xfrm>
            <a:off x="990600" y="3295650"/>
            <a:ext cx="3009900" cy="723900"/>
          </a:xfrm>
          <a:prstGeom prst="roundRect">
            <a:avLst>
              <a:gd name="adj" fmla="val 5263"/>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81100" y="32956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R031  </a:t>
            </a:r>
            <a:r>
              <a:rPr sz="1950" b="0" spc="-39" lang="ko-KR" altLang="en-US">
                <a:solidFill>
                  <a:srgbClr val="202921"/>
                </a:solidFill>
                <a:latin typeface="Noto Sans KR"/>
                <a:ea typeface="Noto Sans KR"/>
                <a:cs typeface="Noto Sans KR"/>
              </a:rPr>
              <a:t>전화번호</a:t>
            </a:r>
          </a:p>
        </p:txBody>
      </p:sp>
      <p:sp>
        <p:nvSpPr>
          <p:cNvPr id="17" name="Rounded Rectangle 16"/>
          <p:cNvSpPr/>
          <p:nvPr/>
        </p:nvSpPr>
        <p:spPr>
          <a:xfrm>
            <a:off x="990600" y="4171950"/>
            <a:ext cx="3009900" cy="723900"/>
          </a:xfrm>
          <a:prstGeom prst="roundRect">
            <a:avLst>
              <a:gd name="adj" fmla="val 5263"/>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41719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R101  </a:t>
            </a:r>
            <a:r>
              <a:rPr sz="1950" b="0" spc="-39" lang="ko-KR" altLang="en-US">
                <a:solidFill>
                  <a:srgbClr val="202921"/>
                </a:solidFill>
                <a:latin typeface="Noto Sans KR"/>
                <a:ea typeface="Noto Sans KR"/>
                <a:cs typeface="Noto Sans KR"/>
              </a:rPr>
              <a:t>다른 학생 이름</a:t>
            </a:r>
          </a:p>
        </p:txBody>
      </p:sp>
      <p:sp>
        <p:nvSpPr>
          <p:cNvPr id="19" name="Rounded Rectangle 18"/>
          <p:cNvSpPr/>
          <p:nvPr/>
        </p:nvSpPr>
        <p:spPr>
          <a:xfrm>
            <a:off x="990600" y="5048250"/>
            <a:ext cx="3009900" cy="723900"/>
          </a:xfrm>
          <a:prstGeom prst="roundRect">
            <a:avLst>
              <a:gd name="adj" fmla="val 5263"/>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1100" y="50482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R114  </a:t>
            </a:r>
            <a:r>
              <a:rPr sz="1950" b="0" spc="-39" lang="ko-KR" altLang="en-US">
                <a:solidFill>
                  <a:srgbClr val="202921"/>
                </a:solidFill>
                <a:latin typeface="Noto Sans KR"/>
                <a:ea typeface="Noto Sans KR"/>
                <a:cs typeface="Noto Sans KR"/>
              </a:rPr>
              <a:t>다른 학생 2명</a:t>
            </a:r>
          </a:p>
        </p:txBody>
      </p:sp>
      <p:sp>
        <p:nvSpPr>
          <p:cNvPr id="21" name="Rounded Rectangle 20"/>
          <p:cNvSpPr/>
          <p:nvPr/>
        </p:nvSpPr>
        <p:spPr>
          <a:xfrm>
            <a:off x="4191000" y="3295650"/>
            <a:ext cx="3009900" cy="723900"/>
          </a:xfrm>
          <a:prstGeom prst="roundRect">
            <a:avLst>
              <a:gd name="adj" fmla="val 5263"/>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81500" y="32956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R146  </a:t>
            </a:r>
            <a:r>
              <a:rPr sz="1950" b="0" spc="-39" lang="ko-KR" altLang="en-US">
                <a:solidFill>
                  <a:srgbClr val="202921"/>
                </a:solidFill>
                <a:latin typeface="Noto Sans KR"/>
                <a:ea typeface="Noto Sans KR"/>
                <a:cs typeface="Noto Sans KR"/>
              </a:rPr>
              <a:t>학번·전화번호</a:t>
            </a:r>
          </a:p>
        </p:txBody>
      </p:sp>
      <p:sp>
        <p:nvSpPr>
          <p:cNvPr id="23" name="Rounded Rectangle 22"/>
          <p:cNvSpPr/>
          <p:nvPr/>
        </p:nvSpPr>
        <p:spPr>
          <a:xfrm>
            <a:off x="4191000" y="4171950"/>
            <a:ext cx="3009900" cy="723900"/>
          </a:xfrm>
          <a:prstGeom prst="roundRect">
            <a:avLst>
              <a:gd name="adj" fmla="val 5263"/>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381500" y="41719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R158  </a:t>
            </a:r>
            <a:r>
              <a:rPr sz="1950" b="0" spc="-39" lang="ko-KR" altLang="en-US">
                <a:solidFill>
                  <a:srgbClr val="202921"/>
                </a:solidFill>
                <a:latin typeface="Noto Sans KR"/>
                <a:ea typeface="Noto Sans KR"/>
                <a:cs typeface="Noto Sans KR"/>
              </a:rPr>
              <a:t>본인 이름·메일</a:t>
            </a:r>
          </a:p>
        </p:txBody>
      </p:sp>
      <p:sp>
        <p:nvSpPr>
          <p:cNvPr id="25" name="Rounded Rectangle 24"/>
          <p:cNvSpPr/>
          <p:nvPr/>
        </p:nvSpPr>
        <p:spPr>
          <a:xfrm>
            <a:off x="4191000" y="5048250"/>
            <a:ext cx="3009900" cy="723900"/>
          </a:xfrm>
          <a:prstGeom prst="roundRect">
            <a:avLst>
              <a:gd name="adj" fmla="val 5263"/>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381500" y="5048250"/>
            <a:ext cx="276225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R166  </a:t>
            </a:r>
            <a:r>
              <a:rPr sz="1950" b="0" spc="-39" lang="ko-KR" altLang="en-US">
                <a:solidFill>
                  <a:srgbClr val="202921"/>
                </a:solidFill>
                <a:latin typeface="Noto Sans KR"/>
                <a:ea typeface="Noto Sans KR"/>
                <a:cs typeface="Noto Sans KR"/>
              </a:rPr>
              <a:t>건강 정보</a:t>
            </a:r>
          </a:p>
        </p:txBody>
      </p:sp>
      <p:sp>
        <p:nvSpPr>
          <p:cNvPr id="27" name="Oval 26"/>
          <p:cNvSpPr/>
          <p:nvPr/>
        </p:nvSpPr>
        <p:spPr>
          <a:xfrm>
            <a:off x="7905750" y="2247900"/>
            <a:ext cx="495300" cy="495300"/>
          </a:xfrm>
          <a:prstGeom prst="ellipse">
            <a:avLst/>
          </a:prstGeom>
          <a:solidFill>
            <a:srgbClr val="202921"/>
          </a:solidFill>
          <a:ln w="38100">
            <a:solidFill>
              <a:srgbClr val="FFFD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905750" y="224790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1</a:t>
            </a:r>
          </a:p>
        </p:txBody>
      </p:sp>
      <p:sp>
        <p:nvSpPr>
          <p:cNvPr id="29" name="TextBox 28"/>
          <p:cNvSpPr txBox="1"/>
          <p:nvPr/>
        </p:nvSpPr>
        <p:spPr>
          <a:xfrm>
            <a:off x="8534400" y="2247900"/>
            <a:ext cx="2971800" cy="1333500"/>
          </a:xfrm>
          <a:prstGeom prst="rect">
            <a:avLst/>
          </a:prstGeom>
          <a:noFill/>
        </p:spPr>
        <p:txBody>
          <a:bodyPr wrap="square" lIns="0" tIns="0" rIns="0" bIns="0" anchor="t"/>
          <a:lstStyle/>
          <a:p>
            <a:pPr algn="l" latinLnBrk="0" eaLnBrk="1">
              <a:lnSpc>
                <a:spcPct val="130000"/>
              </a:lnSpc>
            </a:pPr>
            <a:r>
              <a:rPr sz="2100" b="1" spc="-42" lang="ko-KR" altLang="en-US">
                <a:solidFill>
                  <a:srgbClr val="202921"/>
                </a:solidFill>
                <a:latin typeface="Noto Sans KR"/>
                <a:ea typeface="Noto Sans KR"/>
                <a:cs typeface="Noto Sans KR"/>
              </a:rPr>
              <a:t>번호만 적고</a:t>
            </a:r>
            <a:br/>
            <a:r>
              <a:rPr sz="2100" b="1" spc="-42" lang="ko-KR" altLang="en-US">
                <a:solidFill>
                  <a:srgbClr val="202921"/>
                </a:solidFill>
                <a:latin typeface="Noto Sans KR"/>
                <a:ea typeface="Noto Sans KR"/>
                <a:cs typeface="Noto Sans KR"/>
              </a:rPr>
              <a:t>내용은 옮기지</a:t>
            </a:r>
            <a:br/>
            <a:r>
              <a:rPr sz="2100" b="1" spc="-42" lang="ko-KR" altLang="en-US">
                <a:solidFill>
                  <a:srgbClr val="202921"/>
                </a:solidFill>
                <a:latin typeface="Noto Sans KR"/>
                <a:ea typeface="Noto Sans KR"/>
                <a:cs typeface="Noto Sans KR"/>
              </a:rPr>
              <a:t>않게 합니다</a:t>
            </a:r>
          </a:p>
        </p:txBody>
      </p:sp>
      <p:sp>
        <p:nvSpPr>
          <p:cNvPr id="30" name="Oval 29"/>
          <p:cNvSpPr/>
          <p:nvPr/>
        </p:nvSpPr>
        <p:spPr>
          <a:xfrm>
            <a:off x="7905750" y="4057650"/>
            <a:ext cx="495300" cy="495300"/>
          </a:xfrm>
          <a:prstGeom prst="ellipse">
            <a:avLst/>
          </a:prstGeom>
          <a:solidFill>
            <a:srgbClr val="202921"/>
          </a:solidFill>
          <a:ln w="38100">
            <a:solidFill>
              <a:srgbClr val="FFFD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05750" y="4057650"/>
            <a:ext cx="495300" cy="495300"/>
          </a:xfrm>
          <a:prstGeom prst="rect">
            <a:avLst/>
          </a:prstGeom>
          <a:noFill/>
        </p:spPr>
        <p:txBody>
          <a:bodyPr wrap="square" lIns="0" tIns="0" rIns="0" bIns="0" anchor="ctr"/>
          <a:lstStyle/>
          <a:p>
            <a:pPr algn="ctr" latinLnBrk="0" eaLnBrk="1">
              <a:lnSpc>
                <a:spcPct val="100000"/>
              </a:lnSpc>
            </a:pPr>
            <a:r>
              <a:rPr sz="2100" b="1" spc="-42" lang="ko-KR" altLang="en-US">
                <a:solidFill>
                  <a:srgbClr val="FFFDF7"/>
                </a:solidFill>
                <a:latin typeface="Noto Sans KR"/>
                <a:ea typeface="Noto Sans KR"/>
                <a:cs typeface="Noto Sans KR"/>
              </a:rPr>
              <a:t>2</a:t>
            </a:r>
          </a:p>
        </p:txBody>
      </p:sp>
      <p:sp>
        <p:nvSpPr>
          <p:cNvPr id="32" name="TextBox 31"/>
          <p:cNvSpPr txBox="1"/>
          <p:nvPr/>
        </p:nvSpPr>
        <p:spPr>
          <a:xfrm>
            <a:off x="8534400" y="4057650"/>
            <a:ext cx="2971800" cy="1714500"/>
          </a:xfrm>
          <a:prstGeom prst="rect">
            <a:avLst/>
          </a:prstGeom>
          <a:noFill/>
        </p:spPr>
        <p:txBody>
          <a:bodyPr wrap="square" lIns="0" tIns="0" rIns="0" bIns="0" anchor="t"/>
          <a:lstStyle/>
          <a:p>
            <a:pPr algn="l" latinLnBrk="0" eaLnBrk="1">
              <a:lnSpc>
                <a:spcPct val="130000"/>
              </a:lnSpc>
            </a:pPr>
            <a:r>
              <a:rPr sz="2100" b="1" spc="-42" lang="ko-KR" altLang="en-US">
                <a:solidFill>
                  <a:srgbClr val="202921"/>
                </a:solidFill>
                <a:latin typeface="Noto Sans KR"/>
                <a:ea typeface="Noto Sans KR"/>
                <a:cs typeface="Noto Sans KR"/>
              </a:rPr>
              <a:t>건강 정보도</a:t>
            </a:r>
            <a:br/>
            <a:r>
              <a:rPr sz="2100" b="1" spc="-42" lang="ko-KR" altLang="en-US">
                <a:solidFill>
                  <a:srgbClr val="202921"/>
                </a:solidFill>
                <a:latin typeface="Noto Sans KR"/>
                <a:ea typeface="Noto Sans KR"/>
                <a:cs typeface="Noto Sans KR"/>
              </a:rPr>
              <a:t>개인정보입니다</a:t>
            </a:r>
            <a:br/>
            <a:r>
              <a:rPr sz="2100" b="1" spc="-42" lang="ko-KR" altLang="en-US">
                <a:solidFill>
                  <a:srgbClr val="202921"/>
                </a:solidFill>
                <a:latin typeface="Noto Sans KR"/>
                <a:ea typeface="Noto Sans KR"/>
                <a:cs typeface="Noto Sans KR"/>
              </a:rPr>
              <a:t>(R166)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Claude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38</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C8431F"/>
                </a:solidFill>
                <a:latin typeface="Noto Sans KR"/>
                <a:ea typeface="Noto Sans KR"/>
                <a:cs typeface="Noto Sans KR"/>
              </a:rPr>
              <a:t>AI가 여기서 틀렸다 · 재현 예시</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수업과 관계없는 의견을 개선점으로 세기도 합니다</a:t>
            </a:r>
          </a:p>
        </p:txBody>
      </p:sp>
      <p:sp>
        <p:nvSpPr>
          <p:cNvPr id="7" name="Rounded Rectangle 6"/>
          <p:cNvSpPr/>
          <p:nvPr/>
        </p:nvSpPr>
        <p:spPr>
          <a:xfrm>
            <a:off x="685800" y="1962150"/>
            <a:ext cx="5295900" cy="2971800"/>
          </a:xfrm>
          <a:prstGeom prst="roundRect">
            <a:avLst>
              <a:gd name="adj" fmla="val 128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답</a:t>
            </a:r>
          </a:p>
        </p:txBody>
      </p:sp>
      <p:sp>
        <p:nvSpPr>
          <p:cNvPr id="9" name="TextBox 8"/>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개선 요청 2위:</a:t>
            </a:r>
            <a:br/>
            <a:r>
              <a:rPr sz="2100" b="1" spc="-42" lang="ko-KR" altLang="en-US">
                <a:solidFill>
                  <a:srgbClr val="202921"/>
                </a:solidFill>
                <a:highlight>
                  <a:srgbClr val="F6CDBE"/>
                </a:highlight>
                <a:latin typeface="Noto Sans KR"/>
                <a:ea typeface="Noto Sans KR"/>
                <a:cs typeface="Noto Sans KR"/>
              </a:rPr>
              <a:t>학교 시설·식당 (12건)</a:t>
            </a:r>
          </a:p>
        </p:txBody>
      </p:sp>
      <p:sp>
        <p:nvSpPr>
          <p:cNvPr id="10" name="Rounded Rectangle 9"/>
          <p:cNvSpPr/>
          <p:nvPr/>
        </p:nvSpPr>
        <p:spPr>
          <a:xfrm>
            <a:off x="6210300" y="1962150"/>
            <a:ext cx="5295900" cy="2971800"/>
          </a:xfrm>
          <a:prstGeom prst="roundRect">
            <a:avLst>
              <a:gd name="adj" fmla="val 128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원문 · 03_강의평가 CSV</a:t>
            </a:r>
          </a:p>
        </p:txBody>
      </p:sp>
      <p:sp>
        <p:nvSpPr>
          <p:cNvPr id="12" name="TextBox 11"/>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R150 “</a:t>
            </a:r>
            <a:r>
              <a:rPr sz="2100" b="0" spc="-42" lang="ko-KR" altLang="en-US">
                <a:solidFill>
                  <a:srgbClr val="202921"/>
                </a:solidFill>
                <a:highlight>
                  <a:srgbClr val="DCE3D3"/>
                </a:highlight>
                <a:latin typeface="Noto Sans KR"/>
                <a:ea typeface="Noto Sans KR"/>
                <a:cs typeface="Noto Sans KR"/>
              </a:rPr>
              <a:t>학식 메뉴</a:t>
            </a:r>
            <a:r>
              <a:rPr sz="2100" b="0" spc="-42" lang="ko-KR" altLang="en-US">
                <a:solidFill>
                  <a:srgbClr val="202921"/>
                </a:solidFill>
                <a:latin typeface="Noto Sans KR"/>
                <a:ea typeface="Noto Sans KR"/>
                <a:cs typeface="Noto Sans KR"/>
              </a:rPr>
              <a:t>가 좀 더</a:t>
            </a:r>
            <a:br/>
            <a:r>
              <a:rPr sz="2100" b="0" spc="-42" lang="ko-KR" altLang="en-US">
                <a:solidFill>
                  <a:srgbClr val="202921"/>
                </a:solidFill>
                <a:latin typeface="Noto Sans KR"/>
                <a:ea typeface="Noto Sans KR"/>
                <a:cs typeface="Noto Sans KR"/>
              </a:rPr>
              <a:t>다양해졌으면 좋겠습니다.”</a:t>
            </a:r>
            <a:br/>
            <a:r>
              <a:rPr sz="2100" b="0" spc="-42" lang="ko-KR" altLang="en-US">
                <a:solidFill>
                  <a:srgbClr val="202921"/>
                </a:solidFill>
                <a:latin typeface="Noto Sans KR"/>
                <a:ea typeface="Noto Sans KR"/>
                <a:cs typeface="Noto Sans KR"/>
              </a:rPr>
              <a:t>R159 “</a:t>
            </a:r>
            <a:r>
              <a:rPr sz="2100" b="0" spc="-42" lang="ko-KR" altLang="en-US">
                <a:solidFill>
                  <a:srgbClr val="202921"/>
                </a:solidFill>
                <a:highlight>
                  <a:srgbClr val="DCE3D3"/>
                </a:highlight>
                <a:latin typeface="Noto Sans KR"/>
                <a:ea typeface="Noto Sans KR"/>
                <a:cs typeface="Noto Sans KR"/>
              </a:rPr>
              <a:t>도서관 열람실</a:t>
            </a:r>
            <a:r>
              <a:rPr sz="2100" b="0" spc="-42" lang="ko-KR" altLang="en-US">
                <a:solidFill>
                  <a:srgbClr val="202921"/>
                </a:solidFill>
                <a:latin typeface="Noto Sans KR"/>
                <a:ea typeface="Noto Sans KR"/>
                <a:cs typeface="Noto Sans KR"/>
              </a:rPr>
              <a:t> 자리가</a:t>
            </a:r>
            <a:br/>
            <a:r>
              <a:rPr sz="2100" b="0" spc="-42" lang="ko-KR" altLang="en-US">
                <a:solidFill>
                  <a:srgbClr val="202921"/>
                </a:solidFill>
                <a:latin typeface="Noto Sans KR"/>
                <a:ea typeface="Noto Sans KR"/>
                <a:cs typeface="Noto Sans KR"/>
              </a:rPr>
              <a:t>부족합니다.”</a:t>
            </a:r>
          </a:p>
        </p:txBody>
      </p:sp>
      <p:sp>
        <p:nvSpPr>
          <p:cNvPr id="13" name="TextBox 12"/>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C8431F"/>
                </a:solidFill>
                <a:latin typeface="Noto Sans KR"/>
                <a:ea typeface="Noto Sans KR"/>
                <a:cs typeface="Noto Sans KR"/>
              </a:rPr>
              <a:t>→ </a:t>
            </a:r>
            <a:r>
              <a:rPr sz="2400" b="1" spc="-48" lang="ko-KR" altLang="en-US">
                <a:solidFill>
                  <a:srgbClr val="202921"/>
                </a:solidFill>
                <a:latin typeface="Noto Sans KR"/>
                <a:ea typeface="Noto Sans KR"/>
                <a:cs typeface="Noto Sans KR"/>
              </a:rPr>
              <a:t>수업과 관계없는 응답 12개는 개선점에서 뺍니다.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Claude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39</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서로 반대되는 의견</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반대 의견은 분반을 나눠 봐야 이유가 보입니다</a:t>
            </a:r>
          </a:p>
        </p:txBody>
      </p:sp>
      <p:sp>
        <p:nvSpPr>
          <p:cNvPr id="7" name="Rounded Rectangle 6"/>
          <p:cNvSpPr/>
          <p:nvPr/>
        </p:nvSpPr>
        <p:spPr>
          <a:xfrm>
            <a:off x="685800" y="1866900"/>
            <a:ext cx="5295900" cy="2762250"/>
          </a:xfrm>
          <a:prstGeom prst="roundRect">
            <a:avLst>
              <a:gd name="adj" fmla="val 1379"/>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8700" y="2038350"/>
            <a:ext cx="2095500" cy="1714500"/>
          </a:xfrm>
          <a:prstGeom prst="rect">
            <a:avLst/>
          </a:prstGeom>
          <a:noFill/>
        </p:spPr>
        <p:txBody>
          <a:bodyPr wrap="square" lIns="0" tIns="0" rIns="0" bIns="0" anchor="t"/>
          <a:lstStyle/>
          <a:p>
            <a:pPr algn="l" latinLnBrk="0" eaLnBrk="1">
              <a:lnSpc>
                <a:spcPct val="100000"/>
              </a:lnSpc>
            </a:pPr>
            <a:r>
              <a:rPr sz="11250" b="1" spc="-225" lang="ko-KR" altLang="en-US">
                <a:solidFill>
                  <a:srgbClr val="202921"/>
                </a:solidFill>
                <a:latin typeface="Noto Sans KR"/>
                <a:ea typeface="Noto Sans KR"/>
                <a:cs typeface="Noto Sans KR"/>
              </a:rPr>
              <a:t>14</a:t>
            </a:r>
          </a:p>
        </p:txBody>
      </p:sp>
      <p:sp>
        <p:nvSpPr>
          <p:cNvPr id="9" name="TextBox 8"/>
          <p:cNvSpPr txBox="1"/>
          <p:nvPr/>
        </p:nvSpPr>
        <p:spPr>
          <a:xfrm>
            <a:off x="3067050" y="2381250"/>
            <a:ext cx="2762250" cy="476250"/>
          </a:xfrm>
          <a:prstGeom prst="rect">
            <a:avLst/>
          </a:prstGeom>
          <a:noFill/>
        </p:spPr>
        <p:txBody>
          <a:bodyPr wrap="square" lIns="0" tIns="0" rIns="0" bIns="0" anchor="t"/>
          <a:lstStyle/>
          <a:p>
            <a:pPr algn="l" latinLnBrk="0" eaLnBrk="1">
              <a:lnSpc>
                <a:spcPct val="110000"/>
              </a:lnSpc>
            </a:pPr>
            <a:r>
              <a:rPr sz="2250" b="1" spc="-45" lang="ko-KR" altLang="en-US">
                <a:solidFill>
                  <a:srgbClr val="202921"/>
                </a:solidFill>
                <a:latin typeface="Noto Sans KR"/>
                <a:ea typeface="Noto Sans KR"/>
                <a:cs typeface="Noto Sans KR"/>
              </a:rPr>
              <a:t>진도가 빠르다</a:t>
            </a:r>
          </a:p>
        </p:txBody>
      </p:sp>
      <p:sp>
        <p:nvSpPr>
          <p:cNvPr id="10" name="TextBox 9"/>
          <p:cNvSpPr txBox="1"/>
          <p:nvPr/>
        </p:nvSpPr>
        <p:spPr>
          <a:xfrm>
            <a:off x="3067050" y="2952750"/>
            <a:ext cx="2762250" cy="762000"/>
          </a:xfrm>
          <a:prstGeom prst="rect">
            <a:avLst/>
          </a:prstGeom>
          <a:noFill/>
        </p:spPr>
        <p:txBody>
          <a:bodyPr wrap="square" lIns="0" tIns="0" rIns="0" bIns="0" anchor="t"/>
          <a:lstStyle/>
          <a:p>
            <a:pPr algn="l" latinLnBrk="0" eaLnBrk="1">
              <a:lnSpc>
                <a:spcPct val="130000"/>
              </a:lnSpc>
            </a:pPr>
            <a:r>
              <a:rPr sz="2100" b="0" spc="-42" lang="ko-KR" altLang="en-US">
                <a:solidFill>
                  <a:srgbClr val="586356"/>
                </a:solidFill>
                <a:latin typeface="Noto Sans KR"/>
                <a:ea typeface="Noto Sans KR"/>
                <a:cs typeface="Noto Sans KR"/>
              </a:rPr>
              <a:t>01분반 10 · 02분반 4</a:t>
            </a:r>
          </a:p>
        </p:txBody>
      </p:sp>
      <p:sp>
        <p:nvSpPr>
          <p:cNvPr id="11" name="Rounded Rectangle 10"/>
          <p:cNvSpPr/>
          <p:nvPr/>
        </p:nvSpPr>
        <p:spPr>
          <a:xfrm>
            <a:off x="6210300" y="1866900"/>
            <a:ext cx="5295900" cy="2762250"/>
          </a:xfrm>
          <a:prstGeom prst="roundRect">
            <a:avLst>
              <a:gd name="adj" fmla="val 1379"/>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53200" y="2038350"/>
            <a:ext cx="2095500" cy="1714500"/>
          </a:xfrm>
          <a:prstGeom prst="rect">
            <a:avLst/>
          </a:prstGeom>
          <a:noFill/>
        </p:spPr>
        <p:txBody>
          <a:bodyPr wrap="square" lIns="0" tIns="0" rIns="0" bIns="0" anchor="t"/>
          <a:lstStyle/>
          <a:p>
            <a:pPr algn="l" latinLnBrk="0" eaLnBrk="1">
              <a:lnSpc>
                <a:spcPct val="100000"/>
              </a:lnSpc>
            </a:pPr>
            <a:r>
              <a:rPr sz="11250" b="1" spc="-225" lang="ko-KR" altLang="en-US">
                <a:solidFill>
                  <a:srgbClr val="586356"/>
                </a:solidFill>
                <a:latin typeface="Noto Sans KR"/>
                <a:ea typeface="Noto Sans KR"/>
                <a:cs typeface="Noto Sans KR"/>
              </a:rPr>
              <a:t>5</a:t>
            </a:r>
          </a:p>
        </p:txBody>
      </p:sp>
      <p:sp>
        <p:nvSpPr>
          <p:cNvPr id="13" name="TextBox 12"/>
          <p:cNvSpPr txBox="1"/>
          <p:nvPr/>
        </p:nvSpPr>
        <p:spPr>
          <a:xfrm>
            <a:off x="8591550" y="2381250"/>
            <a:ext cx="2762250" cy="476250"/>
          </a:xfrm>
          <a:prstGeom prst="rect">
            <a:avLst/>
          </a:prstGeom>
          <a:noFill/>
        </p:spPr>
        <p:txBody>
          <a:bodyPr wrap="square" lIns="0" tIns="0" rIns="0" bIns="0" anchor="t"/>
          <a:lstStyle/>
          <a:p>
            <a:pPr algn="l" latinLnBrk="0" eaLnBrk="1">
              <a:lnSpc>
                <a:spcPct val="110000"/>
              </a:lnSpc>
            </a:pPr>
            <a:r>
              <a:rPr sz="2250" b="1" spc="-45" lang="ko-KR" altLang="en-US">
                <a:solidFill>
                  <a:srgbClr val="202921"/>
                </a:solidFill>
                <a:latin typeface="Noto Sans KR"/>
                <a:ea typeface="Noto Sans KR"/>
                <a:cs typeface="Noto Sans KR"/>
              </a:rPr>
              <a:t>진도가 느리거나 쉽다</a:t>
            </a:r>
          </a:p>
        </p:txBody>
      </p:sp>
      <p:sp>
        <p:nvSpPr>
          <p:cNvPr id="14" name="TextBox 13"/>
          <p:cNvSpPr txBox="1"/>
          <p:nvPr/>
        </p:nvSpPr>
        <p:spPr>
          <a:xfrm>
            <a:off x="8591550" y="2952750"/>
            <a:ext cx="2762250" cy="762000"/>
          </a:xfrm>
          <a:prstGeom prst="rect">
            <a:avLst/>
          </a:prstGeom>
          <a:noFill/>
        </p:spPr>
        <p:txBody>
          <a:bodyPr wrap="square" lIns="0" tIns="0" rIns="0" bIns="0" anchor="t"/>
          <a:lstStyle/>
          <a:p>
            <a:pPr algn="l" latinLnBrk="0" eaLnBrk="1">
              <a:lnSpc>
                <a:spcPct val="130000"/>
              </a:lnSpc>
            </a:pPr>
            <a:r>
              <a:rPr sz="2100" b="0" spc="-42" lang="ko-KR" altLang="en-US">
                <a:solidFill>
                  <a:srgbClr val="586356"/>
                </a:solidFill>
                <a:latin typeface="Noto Sans KR"/>
                <a:ea typeface="Noto Sans KR"/>
                <a:cs typeface="Noto Sans KR"/>
              </a:rPr>
              <a:t>01분반 4 · 02분반 1</a:t>
            </a:r>
          </a:p>
        </p:txBody>
      </p:sp>
      <p:sp>
        <p:nvSpPr>
          <p:cNvPr id="15" name="Rounded Rectangle 14"/>
          <p:cNvSpPr/>
          <p:nvPr/>
        </p:nvSpPr>
        <p:spPr>
          <a:xfrm>
            <a:off x="685800" y="4895850"/>
            <a:ext cx="10820400" cy="1219200"/>
          </a:xfrm>
          <a:prstGeom prst="roundRect">
            <a:avLst>
              <a:gd name="adj" fmla="val 3125"/>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 y="5086350"/>
            <a:ext cx="10210800" cy="838200"/>
          </a:xfrm>
          <a:prstGeom prst="rect">
            <a:avLst/>
          </a:prstGeom>
          <a:noFill/>
        </p:spPr>
        <p:txBody>
          <a:bodyPr wrap="square" lIns="0" tIns="0" rIns="0" bIns="0" anchor="t"/>
          <a:lstStyle/>
          <a:p>
            <a:pPr algn="l" latinLnBrk="0" eaLnBrk="1">
              <a:lnSpc>
                <a:spcPct val="135000"/>
              </a:lnSpc>
            </a:pPr>
            <a:r>
              <a:rPr sz="2250" b="1" spc="-45" lang="ko-KR" altLang="en-US">
                <a:solidFill>
                  <a:srgbClr val="202921"/>
                </a:solidFill>
                <a:latin typeface="Noto Sans KR"/>
                <a:ea typeface="Noto Sans KR"/>
                <a:cs typeface="Noto Sans KR"/>
              </a:rPr>
              <a:t>01분반</a:t>
            </a:r>
            <a:r>
              <a:rPr sz="2250" b="0" spc="-45" lang="ko-KR" altLang="en-US">
                <a:solidFill>
                  <a:srgbClr val="202921"/>
                </a:solidFill>
                <a:latin typeface="Noto Sans KR"/>
                <a:ea typeface="Noto Sans KR"/>
                <a:cs typeface="Noto Sans KR"/>
              </a:rPr>
              <a:t>에 수준 차이가 큽니다.</a:t>
            </a:r>
            <a:br/>
            <a:r>
              <a:rPr sz="2250" b="0" spc="-45" lang="ko-KR" altLang="en-US">
                <a:solidFill>
                  <a:srgbClr val="202921"/>
                </a:solidFill>
                <a:latin typeface="Noto Sans KR"/>
                <a:ea typeface="Noto Sans KR"/>
                <a:cs typeface="Noto Sans KR"/>
              </a:rPr>
              <a:t>기초는 줄이고, 회귀 단원에 시간을 더 씁니다.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전체 질문은 사이트 #claude-evaluations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40</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2-2 · 개선 계획</a:t>
            </a:r>
          </a:p>
        </p:txBody>
      </p:sp>
      <p:sp>
        <p:nvSpPr>
          <p:cNvPr id="7" name="Rounded Rectangle 6"/>
          <p:cNvSpPr/>
          <p:nvPr/>
        </p:nvSpPr>
        <p:spPr>
          <a:xfrm>
            <a:off x="9435084" y="219075"/>
            <a:ext cx="206692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587484"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816084" y="219075"/>
            <a:ext cx="160972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10분 · Claude</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개선점을 세 칸으로 나누고 학생 공지까지 씁니다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같은 대화에서 질문 3-2</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이어서 3-3</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공지의 약속 읽기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같은 교육 컨설턴트</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방금 만든 주제 표만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바꿀 것·요청할 것·둘 것 + 응답 수, 계획 1쪽, 공지 5문장</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강의실 교체처럼 교수가 못 하는 약속</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TextBox 16"/>
          <p:cNvSpPr txBox="1"/>
          <p:nvPr/>
        </p:nvSpPr>
        <p:spPr>
          <a:xfrm>
            <a:off x="6515100" y="2895600"/>
            <a:ext cx="4838700" cy="323850"/>
          </a:xfrm>
          <a:prstGeom prst="rect">
            <a:avLst/>
          </a:prstGeom>
          <a:noFill/>
        </p:spPr>
        <p:txBody>
          <a:bodyPr wrap="square" lIns="0" tIns="0" rIns="0" bIns="0" anchor="t"/>
          <a:lstStyle/>
          <a:p>
            <a:pPr algn="l" latinLnBrk="0" eaLnBrk="1">
              <a:lnSpc>
                <a:spcPct val="100000"/>
              </a:lnSpc>
            </a:pPr>
            <a:r>
              <a:rPr sz="1800" b="1" spc="-36" lang="ko-KR" altLang="en-US">
                <a:solidFill>
                  <a:srgbClr val="202921"/>
                </a:solidFill>
                <a:latin typeface="Noto Sans KR"/>
                <a:ea typeface="Noto Sans KR"/>
                <a:cs typeface="Noto Sans KR"/>
              </a:rPr>
              <a:t>학생 공지 초안</a:t>
            </a:r>
          </a:p>
        </p:txBody>
      </p:sp>
      <p:sp>
        <p:nvSpPr>
          <p:cNvPr id="18" name="TextBox 17"/>
          <p:cNvSpPr txBox="1"/>
          <p:nvPr/>
        </p:nvSpPr>
        <p:spPr>
          <a:xfrm>
            <a:off x="6515100" y="329565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 지난 학기 의견을 읽었습니다.</a:t>
            </a:r>
          </a:p>
        </p:txBody>
      </p:sp>
      <p:sp>
        <p:nvSpPr>
          <p:cNvPr id="19" name="TextBox 18"/>
          <p:cNvSpPr txBox="1"/>
          <p:nvPr/>
        </p:nvSpPr>
        <p:spPr>
          <a:xfrm>
            <a:off x="6515100" y="369570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2. 과제 피드백을 1주 안에…</a:t>
            </a:r>
          </a:p>
        </p:txBody>
      </p:sp>
      <p:sp>
        <p:nvSpPr>
          <p:cNvPr id="20" name="TextBox 19"/>
          <p:cNvSpPr txBox="1"/>
          <p:nvPr/>
        </p:nvSpPr>
        <p:spPr>
          <a:xfrm>
            <a:off x="6515100" y="409575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3. 평가 기준을 미리 공개…</a:t>
            </a:r>
          </a:p>
        </p:txBody>
      </p:sp>
      <p:sp>
        <p:nvSpPr>
          <p:cNvPr id="21" name="TextBox 20"/>
          <p:cNvSpPr txBox="1"/>
          <p:nvPr/>
        </p:nvSpPr>
        <p:spPr>
          <a:xfrm>
            <a:off x="6515100" y="449580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4. 강의실을 바꾸겠습니다.</a:t>
            </a:r>
          </a:p>
        </p:txBody>
      </p:sp>
      <p:sp>
        <p:nvSpPr>
          <p:cNvPr id="22" name="TextBox 21"/>
          <p:cNvSpPr txBox="1"/>
          <p:nvPr/>
        </p:nvSpPr>
        <p:spPr>
          <a:xfrm>
            <a:off x="6515100" y="4895850"/>
            <a:ext cx="4686300" cy="3810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5. …</a:t>
            </a:r>
          </a:p>
        </p:txBody>
      </p:sp>
      <p:sp>
        <p:nvSpPr>
          <p:cNvPr id="23" name="Rounded Rectangle 22"/>
          <p:cNvSpPr/>
          <p:nvPr/>
        </p:nvSpPr>
        <p:spPr>
          <a:xfrm>
            <a:off x="6438900" y="4495800"/>
            <a:ext cx="2857500" cy="381000"/>
          </a:xfrm>
          <a:prstGeom prst="roundRect">
            <a:avLst>
              <a:gd name="adj" fmla="val 10000"/>
            </a:avLst>
          </a:prstGeom>
          <a:noFill/>
          <a:ln w="33337">
            <a:solidFill>
              <a:srgbClr val="C843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공지에 교수가 정할 수 없는 약속이 있는가?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실제 화면 · 70–105분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41</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2 · 실제 화면 · Claude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다음 학기 계획표와 학생 공지까지 받았습니다</a:t>
            </a:r>
          </a:p>
        </p:txBody>
      </p:sp>
      <p:pic>
        <p:nvPicPr>
          <p:cNvPr id="7" name="Picture 6" descr="cl-plan.png"/>
          <p:cNvPicPr>
            <a:picLocks noChangeAspect="1"/>
          </p:cNvPicPr>
          <p:nvPr/>
        </p:nvPicPr>
        <p:blipFill>
          <a:blip r:embed="rId4"/>
          <a:stretch>
            <a:fillRect/>
          </a:stretch>
        </p:blipFill>
        <p:spPr>
          <a:xfrm>
            <a:off x="685800" y="1619250"/>
            <a:ext cx="6667500" cy="4107656"/>
          </a:xfrm>
          <a:prstGeom prst="rect">
            <a:avLst/>
          </a:prstGeom>
          <a:ln w="9525">
            <a:solidFill>
              <a:srgbClr val="C9CCC0"/>
            </a:solidFill>
          </a:ln>
        </p:spPr>
      </p:pic>
      <p:pic>
        <p:nvPicPr>
          <p:cNvPr id="8" name="Picture 7" descr="cl-notice.png"/>
          <p:cNvPicPr>
            <a:picLocks noChangeAspect="1"/>
          </p:cNvPicPr>
          <p:nvPr/>
        </p:nvPicPr>
        <p:blipFill>
          <a:blip r:embed="rId5"/>
          <a:stretch>
            <a:fillRect/>
          </a:stretch>
        </p:blipFill>
        <p:spPr>
          <a:xfrm>
            <a:off x="7581900" y="1619250"/>
            <a:ext cx="3924300" cy="946037"/>
          </a:xfrm>
          <a:prstGeom prst="rect">
            <a:avLst/>
          </a:prstGeom>
          <a:ln w="9525">
            <a:solidFill>
              <a:srgbClr val="C9CCC0"/>
            </a:solidFill>
          </a:ln>
        </p:spPr>
      </p:pic>
      <p:sp>
        <p:nvSpPr>
          <p:cNvPr id="9" name="TextBox 8"/>
          <p:cNvSpPr txBox="1"/>
          <p:nvPr/>
        </p:nvSpPr>
        <p:spPr>
          <a:xfrm>
            <a:off x="7581900" y="2857500"/>
            <a:ext cx="39243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학교에 요청</a:t>
            </a:r>
          </a:p>
        </p:txBody>
      </p:sp>
      <p:sp>
        <p:nvSpPr>
          <p:cNvPr id="10" name="TextBox 9"/>
          <p:cNvSpPr txBox="1"/>
          <p:nvPr/>
        </p:nvSpPr>
        <p:spPr>
          <a:xfrm>
            <a:off x="7581900" y="3276600"/>
            <a:ext cx="392430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강의실 기자재 6건은</a:t>
            </a:r>
            <a:br/>
            <a:r>
              <a:rPr sz="1800" b="0" spc="-36" lang="ko-KR" altLang="en-US">
                <a:solidFill>
                  <a:srgbClr val="202921"/>
                </a:solidFill>
                <a:latin typeface="Noto Sans KR"/>
                <a:ea typeface="Noto Sans KR"/>
                <a:cs typeface="Noto Sans KR"/>
              </a:rPr>
              <a:t>약속하지 않고 뺐습니다</a:t>
            </a:r>
          </a:p>
        </p:txBody>
      </p:sp>
      <p:sp>
        <p:nvSpPr>
          <p:cNvPr id="11" name="TextBox 10"/>
          <p:cNvSpPr txBox="1"/>
          <p:nvPr/>
        </p:nvSpPr>
        <p:spPr>
          <a:xfrm>
            <a:off x="7581900" y="4286250"/>
            <a:ext cx="39243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LMS는 가정</a:t>
            </a:r>
          </a:p>
        </p:txBody>
      </p:sp>
      <p:sp>
        <p:nvSpPr>
          <p:cNvPr id="12" name="TextBox 11"/>
          <p:cNvSpPr txBox="1"/>
          <p:nvPr/>
        </p:nvSpPr>
        <p:spPr>
          <a:xfrm>
            <a:off x="7581900" y="4705350"/>
            <a:ext cx="392430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공지 채널은 실제로 쓰는</a:t>
            </a:r>
            <a:br/>
            <a:r>
              <a:rPr sz="1800" b="0" spc="-36" lang="ko-KR" altLang="en-US">
                <a:solidFill>
                  <a:srgbClr val="202921"/>
                </a:solidFill>
                <a:latin typeface="Noto Sans KR"/>
                <a:ea typeface="Noto Sans KR"/>
                <a:cs typeface="Noto Sans KR"/>
              </a:rPr>
              <a:t>곳으로 바꿉니다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2 · 정답 기준 · 101–105분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42</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정답 기준 · 해설 3-4</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개선점은 세 칸으로 나눠야 지킬 약속만 남습니다</a:t>
            </a:r>
          </a:p>
        </p:txBody>
      </p:sp>
      <p:sp>
        <p:nvSpPr>
          <p:cNvPr id="7" name="Rounded Rectangle 6"/>
          <p:cNvSpPr/>
          <p:nvPr/>
        </p:nvSpPr>
        <p:spPr>
          <a:xfrm>
            <a:off x="685800" y="1866900"/>
            <a:ext cx="3454400" cy="4191000"/>
          </a:xfrm>
          <a:prstGeom prst="roundRect">
            <a:avLst>
              <a:gd name="adj" fmla="val 1102"/>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1455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내가 바꿀 것</a:t>
            </a:r>
          </a:p>
        </p:txBody>
      </p:sp>
      <p:sp>
        <p:nvSpPr>
          <p:cNvPr id="9" name="TextBox 8"/>
          <p:cNvSpPr txBox="1"/>
          <p:nvPr/>
        </p:nvSpPr>
        <p:spPr>
          <a:xfrm>
            <a:off x="971550" y="27813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개인 기여 반영</a:t>
            </a:r>
          </a:p>
        </p:txBody>
      </p:sp>
      <p:sp>
        <p:nvSpPr>
          <p:cNvPr id="10" name="TextBox 9"/>
          <p:cNvSpPr txBox="1"/>
          <p:nvPr/>
        </p:nvSpPr>
        <p:spPr>
          <a:xfrm>
            <a:off x="3092450" y="27813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202921"/>
                </a:solidFill>
                <a:latin typeface="Noto Sans KR"/>
                <a:ea typeface="Noto Sans KR"/>
                <a:cs typeface="Noto Sans KR"/>
              </a:rPr>
              <a:t>14</a:t>
            </a:r>
          </a:p>
        </p:txBody>
      </p:sp>
      <p:sp>
        <p:nvSpPr>
          <p:cNvPr id="11" name="Rectangle 10"/>
          <p:cNvSpPr/>
          <p:nvPr/>
        </p:nvSpPr>
        <p:spPr>
          <a:xfrm>
            <a:off x="971550" y="3448050"/>
            <a:ext cx="28829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1550" y="35814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피드백 속도</a:t>
            </a:r>
          </a:p>
        </p:txBody>
      </p:sp>
      <p:sp>
        <p:nvSpPr>
          <p:cNvPr id="13" name="TextBox 12"/>
          <p:cNvSpPr txBox="1"/>
          <p:nvPr/>
        </p:nvSpPr>
        <p:spPr>
          <a:xfrm>
            <a:off x="3092450" y="35814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202921"/>
                </a:solidFill>
                <a:latin typeface="Noto Sans KR"/>
                <a:ea typeface="Noto Sans KR"/>
                <a:cs typeface="Noto Sans KR"/>
              </a:rPr>
              <a:t>12</a:t>
            </a:r>
          </a:p>
        </p:txBody>
      </p:sp>
      <p:sp>
        <p:nvSpPr>
          <p:cNvPr id="14" name="Rectangle 13"/>
          <p:cNvSpPr/>
          <p:nvPr/>
        </p:nvSpPr>
        <p:spPr>
          <a:xfrm>
            <a:off x="971550" y="4248150"/>
            <a:ext cx="28829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 y="43815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평가 기준 공개</a:t>
            </a:r>
          </a:p>
        </p:txBody>
      </p:sp>
      <p:sp>
        <p:nvSpPr>
          <p:cNvPr id="16" name="TextBox 15"/>
          <p:cNvSpPr txBox="1"/>
          <p:nvPr/>
        </p:nvSpPr>
        <p:spPr>
          <a:xfrm>
            <a:off x="3092450" y="43815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202921"/>
                </a:solidFill>
                <a:latin typeface="Noto Sans KR"/>
                <a:ea typeface="Noto Sans KR"/>
                <a:cs typeface="Noto Sans KR"/>
              </a:rPr>
              <a:t>9</a:t>
            </a:r>
          </a:p>
        </p:txBody>
      </p:sp>
      <p:sp>
        <p:nvSpPr>
          <p:cNvPr id="17" name="Rectangle 16"/>
          <p:cNvSpPr/>
          <p:nvPr/>
        </p:nvSpPr>
        <p:spPr>
          <a:xfrm>
            <a:off x="971550" y="5048250"/>
            <a:ext cx="28829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368800" y="1866900"/>
            <a:ext cx="3454400" cy="4191000"/>
          </a:xfrm>
          <a:prstGeom prst="roundRect">
            <a:avLst>
              <a:gd name="adj" fmla="val 1102"/>
            </a:avLst>
          </a:prstGeom>
          <a:solidFill>
            <a:srgbClr val="E6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54550" y="211455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학교에 요청할 것</a:t>
            </a:r>
          </a:p>
        </p:txBody>
      </p:sp>
      <p:sp>
        <p:nvSpPr>
          <p:cNvPr id="20" name="TextBox 19"/>
          <p:cNvSpPr txBox="1"/>
          <p:nvPr/>
        </p:nvSpPr>
        <p:spPr>
          <a:xfrm>
            <a:off x="4654550" y="27813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마이크·냉난방</a:t>
            </a:r>
            <a:br/>
            <a:r>
              <a:rPr sz="2100" b="0" spc="-42" lang="ko-KR" altLang="en-US">
                <a:solidFill>
                  <a:srgbClr val="202921"/>
                </a:solidFill>
                <a:latin typeface="Noto Sans KR"/>
                <a:ea typeface="Noto Sans KR"/>
                <a:cs typeface="Noto Sans KR"/>
              </a:rPr>
              <a:t>(모두 02분반)</a:t>
            </a:r>
          </a:p>
        </p:txBody>
      </p:sp>
      <p:sp>
        <p:nvSpPr>
          <p:cNvPr id="21" name="TextBox 20"/>
          <p:cNvSpPr txBox="1"/>
          <p:nvPr/>
        </p:nvSpPr>
        <p:spPr>
          <a:xfrm>
            <a:off x="6775450" y="27813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202921"/>
                </a:solidFill>
                <a:latin typeface="Noto Sans KR"/>
                <a:ea typeface="Noto Sans KR"/>
                <a:cs typeface="Noto Sans KR"/>
              </a:rPr>
              <a:t>6</a:t>
            </a:r>
          </a:p>
        </p:txBody>
      </p:sp>
      <p:sp>
        <p:nvSpPr>
          <p:cNvPr id="22" name="Rectangle 21"/>
          <p:cNvSpPr/>
          <p:nvPr/>
        </p:nvSpPr>
        <p:spPr>
          <a:xfrm>
            <a:off x="4654550" y="3448050"/>
            <a:ext cx="28829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051800" y="1866900"/>
            <a:ext cx="3454400" cy="4191000"/>
          </a:xfrm>
          <a:prstGeom prst="roundRect">
            <a:avLst>
              <a:gd name="adj" fmla="val 110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37550" y="2114550"/>
            <a:ext cx="2882900" cy="419100"/>
          </a:xfrm>
          <a:prstGeom prst="rect">
            <a:avLst/>
          </a:prstGeom>
          <a:noFill/>
        </p:spPr>
        <p:txBody>
          <a:bodyPr wrap="square" lIns="0" tIns="0" rIns="0" bIns="0" anchor="t"/>
          <a:lstStyle/>
          <a:p>
            <a:pPr algn="l" latinLnBrk="0" eaLnBrk="1">
              <a:lnSpc>
                <a:spcPct val="100000"/>
              </a:lnSpc>
            </a:pPr>
            <a:r>
              <a:rPr sz="2400" b="1" spc="-48" lang="ko-KR" altLang="en-US">
                <a:solidFill>
                  <a:srgbClr val="202921"/>
                </a:solidFill>
                <a:latin typeface="Noto Sans KR"/>
                <a:ea typeface="Noto Sans KR"/>
                <a:cs typeface="Noto Sans KR"/>
              </a:rPr>
              <a:t>그대로 둘 것</a:t>
            </a:r>
          </a:p>
        </p:txBody>
      </p:sp>
      <p:sp>
        <p:nvSpPr>
          <p:cNvPr id="25" name="TextBox 24"/>
          <p:cNvSpPr txBox="1"/>
          <p:nvPr/>
        </p:nvSpPr>
        <p:spPr>
          <a:xfrm>
            <a:off x="8337550" y="27813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실제 데이터 실습</a:t>
            </a:r>
          </a:p>
        </p:txBody>
      </p:sp>
      <p:sp>
        <p:nvSpPr>
          <p:cNvPr id="26" name="TextBox 25"/>
          <p:cNvSpPr txBox="1"/>
          <p:nvPr/>
        </p:nvSpPr>
        <p:spPr>
          <a:xfrm>
            <a:off x="10458450" y="27813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202921"/>
                </a:solidFill>
                <a:latin typeface="Noto Sans KR"/>
                <a:ea typeface="Noto Sans KR"/>
                <a:cs typeface="Noto Sans KR"/>
              </a:rPr>
              <a:t>26</a:t>
            </a:r>
          </a:p>
        </p:txBody>
      </p:sp>
      <p:sp>
        <p:nvSpPr>
          <p:cNvPr id="27" name="Rectangle 26"/>
          <p:cNvSpPr/>
          <p:nvPr/>
        </p:nvSpPr>
        <p:spPr>
          <a:xfrm>
            <a:off x="8337550" y="3448050"/>
            <a:ext cx="28829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37550" y="3581400"/>
            <a:ext cx="2216150" cy="571500"/>
          </a:xfrm>
          <a:prstGeom prst="rect">
            <a:avLst/>
          </a:prstGeom>
          <a:noFill/>
        </p:spPr>
        <p:txBody>
          <a:bodyPr wrap="square" lIns="0" tIns="0" rIns="0" bIns="0" anchor="ctr"/>
          <a:lstStyle/>
          <a:p>
            <a:pPr algn="l" latinLnBrk="0" eaLnBrk="1">
              <a:lnSpc>
                <a:spcPct val="100000"/>
              </a:lnSpc>
            </a:pPr>
            <a:r>
              <a:rPr sz="2100" b="0" spc="-42" lang="ko-KR" altLang="en-US">
                <a:solidFill>
                  <a:srgbClr val="202921"/>
                </a:solidFill>
                <a:latin typeface="Noto Sans KR"/>
                <a:ea typeface="Noto Sans KR"/>
                <a:cs typeface="Noto Sans KR"/>
              </a:rPr>
              <a:t>친절한 설명</a:t>
            </a:r>
          </a:p>
        </p:txBody>
      </p:sp>
      <p:sp>
        <p:nvSpPr>
          <p:cNvPr id="29" name="TextBox 28"/>
          <p:cNvSpPr txBox="1"/>
          <p:nvPr/>
        </p:nvSpPr>
        <p:spPr>
          <a:xfrm>
            <a:off x="10458450" y="3581400"/>
            <a:ext cx="762000" cy="571500"/>
          </a:xfrm>
          <a:prstGeom prst="rect">
            <a:avLst/>
          </a:prstGeom>
          <a:noFill/>
        </p:spPr>
        <p:txBody>
          <a:bodyPr wrap="square" lIns="0" tIns="0" rIns="0" bIns="0" anchor="ctr"/>
          <a:lstStyle/>
          <a:p>
            <a:pPr algn="r" latinLnBrk="0" eaLnBrk="1">
              <a:lnSpc>
                <a:spcPct val="100000"/>
              </a:lnSpc>
            </a:pPr>
            <a:r>
              <a:rPr sz="2550" b="1" spc="-51" lang="ko-KR" altLang="en-US">
                <a:solidFill>
                  <a:srgbClr val="202921"/>
                </a:solidFill>
                <a:latin typeface="Noto Sans KR"/>
                <a:ea typeface="Noto Sans KR"/>
                <a:cs typeface="Noto Sans KR"/>
              </a:rPr>
              <a:t>26</a:t>
            </a:r>
          </a:p>
        </p:txBody>
      </p:sp>
      <p:sp>
        <p:nvSpPr>
          <p:cNvPr id="30" name="Rectangle 29"/>
          <p:cNvSpPr/>
          <p:nvPr/>
        </p:nvSpPr>
        <p:spPr>
          <a:xfrm>
            <a:off x="8337550" y="4248150"/>
            <a:ext cx="2882900" cy="14288"/>
          </a:xfrm>
          <a:prstGeom prst="rect">
            <a:avLst/>
          </a:prstGeom>
          <a:solidFill>
            <a:srgbClr val="C9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A5936"/>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202921"/>
                </a:solidFill>
                <a:latin typeface="Noto Sans KR"/>
                <a:ea typeface="Noto Sans KR"/>
                <a:cs typeface="Noto Sans KR"/>
              </a:rPr>
              <a:t>휴식 · 105–115분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202921"/>
                </a:solidFill>
                <a:latin typeface="Noto Sans KR"/>
                <a:ea typeface="Noto Sans KR"/>
                <a:cs typeface="Noto Sans KR"/>
              </a:rPr>
              <a:t>43</a:t>
            </a:r>
          </a:p>
        </p:txBody>
      </p:sp>
      <p:sp>
        <p:nvSpPr>
          <p:cNvPr id="5" name="TextBox 4"/>
          <p:cNvSpPr txBox="1"/>
          <p:nvPr/>
        </p:nvSpPr>
        <p:spPr>
          <a:xfrm>
            <a:off x="685800" y="6096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202921"/>
                </a:solidFill>
                <a:latin typeface="Noto Sans KR"/>
                <a:ea typeface="Noto Sans KR"/>
                <a:cs typeface="Noto Sans KR"/>
              </a:rPr>
              <a:t>휴식 · 105–115분</a:t>
            </a:r>
          </a:p>
        </p:txBody>
      </p:sp>
      <p:sp>
        <p:nvSpPr>
          <p:cNvPr id="6" name="TextBox 5"/>
          <p:cNvSpPr txBox="1"/>
          <p:nvPr/>
        </p:nvSpPr>
        <p:spPr>
          <a:xfrm>
            <a:off x="685800" y="1905000"/>
            <a:ext cx="10820400" cy="1905000"/>
          </a:xfrm>
          <a:prstGeom prst="rect">
            <a:avLst/>
          </a:prstGeom>
          <a:noFill/>
        </p:spPr>
        <p:txBody>
          <a:bodyPr wrap="square" lIns="0" tIns="0" rIns="0" bIns="0" anchor="t"/>
          <a:lstStyle/>
          <a:p>
            <a:pPr algn="l" latinLnBrk="0" eaLnBrk="1">
              <a:lnSpc>
                <a:spcPct val="125000"/>
              </a:lnSpc>
            </a:pPr>
            <a:r>
              <a:rPr sz="4800" b="1" spc="-96" lang="ko-KR" altLang="en-US">
                <a:solidFill>
                  <a:srgbClr val="202921"/>
                </a:solidFill>
                <a:latin typeface="Noto Sans KR"/>
                <a:ea typeface="Noto Sans KR"/>
                <a:cs typeface="Noto Sans KR"/>
              </a:rPr>
              <a:t>10분 쉬고,</a:t>
            </a:r>
            <a:br/>
            <a:r>
              <a:rPr sz="4800" b="1" spc="-96" lang="ko-KR" altLang="en-US">
                <a:solidFill>
                  <a:srgbClr val="FFFDF7"/>
                </a:solidFill>
                <a:latin typeface="Noto Sans KR"/>
                <a:ea typeface="Noto Sans KR"/>
                <a:cs typeface="Noto Sans KR"/>
              </a:rPr>
              <a:t>Gemini</a:t>
            </a:r>
            <a:r>
              <a:rPr sz="4800" b="1" spc="-96" lang="ko-KR" altLang="en-US">
                <a:solidFill>
                  <a:srgbClr val="202921"/>
                </a:solidFill>
                <a:latin typeface="Noto Sans KR"/>
                <a:ea typeface="Noto Sans KR"/>
                <a:cs typeface="Noto Sans KR"/>
              </a:rPr>
              <a:t>로 강의계획서를 고칩니다</a:t>
            </a:r>
          </a:p>
        </p:txBody>
      </p:sp>
      <p:sp>
        <p:nvSpPr>
          <p:cNvPr id="7" name="TextBox 6"/>
          <p:cNvSpPr txBox="1"/>
          <p:nvPr/>
        </p:nvSpPr>
        <p:spPr>
          <a:xfrm>
            <a:off x="685800" y="4381500"/>
            <a:ext cx="10820400" cy="952500"/>
          </a:xfrm>
          <a:prstGeom prst="rect">
            <a:avLst/>
          </a:prstGeom>
          <a:noFill/>
        </p:spPr>
        <p:txBody>
          <a:bodyPr wrap="square" lIns="0" tIns="0" rIns="0" bIns="0" anchor="t"/>
          <a:lstStyle/>
          <a:p>
            <a:pPr algn="l" latinLnBrk="0" eaLnBrk="1">
              <a:lnSpc>
                <a:spcPct val="140000"/>
              </a:lnSpc>
            </a:pPr>
            <a:r>
              <a:rPr sz="2250" b="0" spc="-45" lang="ko-KR" altLang="en-US">
                <a:solidFill>
                  <a:srgbClr val="202921"/>
                </a:solidFill>
                <a:latin typeface="Noto Sans KR"/>
                <a:ea typeface="Noto Sans KR"/>
                <a:cs typeface="Noto Sans KR"/>
              </a:rPr>
              <a:t>쉬는 동안: Gemini에 로그인하고</a:t>
            </a:r>
            <a:br/>
            <a:r>
              <a:rPr sz="2250" b="0" spc="-45" lang="ko-KR" altLang="en-US">
                <a:solidFill>
                  <a:srgbClr val="202921"/>
                </a:solidFill>
                <a:latin typeface="Noto Sans KR"/>
                <a:ea typeface="Noto Sans KR"/>
                <a:cs typeface="Noto Sans KR"/>
              </a:rPr>
              <a:t>계획서와 학칙 파일을 내려받아 두세요.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02921"/>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C1C9BE"/>
                </a:solidFill>
                <a:latin typeface="Noto Sans KR"/>
                <a:ea typeface="Noto Sans KR"/>
                <a:cs typeface="Noto Sans KR"/>
              </a:rPr>
              <a:t>실습 3 · 115–150분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F4F1E9"/>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C1C9BE"/>
                </a:solidFill>
                <a:latin typeface="Noto Sans KR"/>
                <a:ea typeface="Noto Sans KR"/>
                <a:cs typeface="Noto Sans KR"/>
              </a:rPr>
              <a:t>44</a:t>
            </a:r>
          </a:p>
        </p:txBody>
      </p:sp>
      <p:sp>
        <p:nvSpPr>
          <p:cNvPr id="5" name="TextBox 4"/>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실습 3 · 115–150분 · 계획서·루브릭·답장</a:t>
            </a:r>
          </a:p>
        </p:txBody>
      </p:sp>
      <p:sp>
        <p:nvSpPr>
          <p:cNvPr id="6" name="TextBox 5"/>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DF7"/>
                </a:solidFill>
                <a:latin typeface="Noto Sans KR"/>
                <a:ea typeface="Noto Sans KR"/>
                <a:cs typeface="Noto Sans KR"/>
              </a:rPr>
              <a:t>Gemini</a:t>
            </a:r>
          </a:p>
        </p:txBody>
      </p:sp>
      <p:sp>
        <p:nvSpPr>
          <p:cNvPr id="7" name="TextBox 6"/>
          <p:cNvSpPr txBox="1"/>
          <p:nvPr/>
        </p:nvSpPr>
        <p:spPr>
          <a:xfrm>
            <a:off x="685800" y="28765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DF7"/>
                </a:solidFill>
                <a:latin typeface="Noto Sans KR"/>
                <a:ea typeface="Noto Sans KR"/>
                <a:cs typeface="Noto Sans KR"/>
              </a:rPr>
              <a:t>Google 문서·메일과 이어집니다.</a:t>
            </a:r>
            <a:br/>
            <a:r>
              <a:rPr sz="2250" b="0" spc="-45" lang="ko-KR" altLang="en-US">
                <a:solidFill>
                  <a:srgbClr val="FFFDF7"/>
                </a:solidFill>
                <a:latin typeface="Noto Sans KR"/>
                <a:ea typeface="Noto Sans KR"/>
                <a:cs typeface="Noto Sans KR"/>
              </a:rPr>
              <a:t>오늘은 파일을 올려 씁니다.</a:t>
            </a:r>
          </a:p>
        </p:txBody>
      </p:sp>
      <p:sp>
        <p:nvSpPr>
          <p:cNvPr id="8" name="Rounded Rectangle 7"/>
          <p:cNvSpPr/>
          <p:nvPr/>
        </p:nvSpPr>
        <p:spPr>
          <a:xfrm>
            <a:off x="7810500" y="1428750"/>
            <a:ext cx="3695700" cy="3619500"/>
          </a:xfrm>
          <a:prstGeom prst="roundRect">
            <a:avLst>
              <a:gd name="adj" fmla="val 105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이 시간에 할 일</a:t>
            </a:r>
          </a:p>
        </p:txBody>
      </p:sp>
      <p:sp>
        <p:nvSpPr>
          <p:cNvPr id="10" name="Oval 9"/>
          <p:cNvSpPr/>
          <p:nvPr/>
        </p:nvSpPr>
        <p:spPr>
          <a:xfrm>
            <a:off x="8115300" y="22860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1</a:t>
            </a:r>
          </a:p>
        </p:txBody>
      </p:sp>
      <p:sp>
        <p:nvSpPr>
          <p:cNvPr id="12" name="TextBox 11"/>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강의계획서 고치기</a:t>
            </a:r>
          </a:p>
        </p:txBody>
      </p:sp>
      <p:sp>
        <p:nvSpPr>
          <p:cNvPr id="13" name="Oval 12"/>
          <p:cNvSpPr/>
          <p:nvPr/>
        </p:nvSpPr>
        <p:spPr>
          <a:xfrm>
            <a:off x="8115300" y="32004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2</a:t>
            </a:r>
          </a:p>
        </p:txBody>
      </p:sp>
      <p:sp>
        <p:nvSpPr>
          <p:cNvPr id="15" name="TextBox 14"/>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기말 프로젝트 루브릭</a:t>
            </a:r>
          </a:p>
        </p:txBody>
      </p:sp>
      <p:sp>
        <p:nvSpPr>
          <p:cNvPr id="16" name="Oval 15"/>
          <p:cNvSpPr/>
          <p:nvPr/>
        </p:nvSpPr>
        <p:spPr>
          <a:xfrm>
            <a:off x="8115300" y="41148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3</a:t>
            </a:r>
          </a:p>
        </p:txBody>
      </p:sp>
      <p:sp>
        <p:nvSpPr>
          <p:cNvPr id="18" name="TextBox 17"/>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학칙 근거 답장</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Gemini · 115–150분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45</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실제 화면 · Gemini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활동마다 새 채팅을 열고 파일 두 개를 올립니다</a:t>
            </a:r>
          </a:p>
        </p:txBody>
      </p:sp>
      <p:pic>
        <p:nvPicPr>
          <p:cNvPr id="7" name="Picture 6" descr="gm-41-input.png"/>
          <p:cNvPicPr>
            <a:picLocks noChangeAspect="1"/>
          </p:cNvPicPr>
          <p:nvPr/>
        </p:nvPicPr>
        <p:blipFill>
          <a:blip r:embed="rId4"/>
          <a:stretch>
            <a:fillRect/>
          </a:stretch>
        </p:blipFill>
        <p:spPr>
          <a:xfrm>
            <a:off x="685800" y="1695450"/>
            <a:ext cx="5905500" cy="3459788"/>
          </a:xfrm>
          <a:prstGeom prst="rect">
            <a:avLst/>
          </a:prstGeom>
          <a:ln w="9525">
            <a:solidFill>
              <a:srgbClr val="C9CCC0"/>
            </a:solidFill>
          </a:ln>
        </p:spPr>
      </p:pic>
      <p:sp>
        <p:nvSpPr>
          <p:cNvPr id="8" name="Oval 7"/>
          <p:cNvSpPr/>
          <p:nvPr/>
        </p:nvSpPr>
        <p:spPr>
          <a:xfrm>
            <a:off x="7048500" y="1752600"/>
            <a:ext cx="419100" cy="41910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8500" y="1752600"/>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1</a:t>
            </a:r>
          </a:p>
        </p:txBody>
      </p:sp>
      <p:sp>
        <p:nvSpPr>
          <p:cNvPr id="10" name="TextBox 9"/>
          <p:cNvSpPr txBox="1"/>
          <p:nvPr/>
        </p:nvSpPr>
        <p:spPr>
          <a:xfrm>
            <a:off x="7639050" y="1733550"/>
            <a:ext cx="3867150" cy="381000"/>
          </a:xfrm>
          <a:prstGeom prst="rect">
            <a:avLst/>
          </a:prstGeom>
          <a:noFill/>
        </p:spPr>
        <p:txBody>
          <a:bodyPr wrap="square" lIns="0" tIns="0" rIns="0" bIns="0" anchor="t"/>
          <a:lstStyle/>
          <a:p>
            <a:pPr algn="l" latinLnBrk="0" eaLnBrk="1">
              <a:lnSpc>
                <a:spcPct val="110000"/>
              </a:lnSpc>
            </a:pPr>
            <a:r>
              <a:rPr sz="2100" b="1" spc="-42" lang="ko-KR" altLang="en-US">
                <a:solidFill>
                  <a:srgbClr val="202921"/>
                </a:solidFill>
                <a:latin typeface="Noto Sans KR"/>
                <a:ea typeface="Noto Sans KR"/>
                <a:cs typeface="Noto Sans KR"/>
              </a:rPr>
              <a:t>새 채팅</a:t>
            </a:r>
          </a:p>
        </p:txBody>
      </p:sp>
      <p:sp>
        <p:nvSpPr>
          <p:cNvPr id="11" name="TextBox 10"/>
          <p:cNvSpPr txBox="1"/>
          <p:nvPr/>
        </p:nvSpPr>
        <p:spPr>
          <a:xfrm>
            <a:off x="7639050" y="2133600"/>
            <a:ext cx="3867150" cy="666750"/>
          </a:xfrm>
          <a:prstGeom prst="rect">
            <a:avLst/>
          </a:prstGeom>
          <a:noFill/>
        </p:spPr>
        <p:txBody>
          <a:bodyPr wrap="square" lIns="0" tIns="0" rIns="0" bIns="0" anchor="t"/>
          <a:lstStyle/>
          <a:p>
            <a:pPr algn="l" latinLnBrk="0" eaLnBrk="1">
              <a:lnSpc>
                <a:spcPct val="130000"/>
              </a:lnSpc>
            </a:pPr>
            <a:r>
              <a:rPr sz="1800" b="0" spc="-36" lang="ko-KR" altLang="en-US">
                <a:solidFill>
                  <a:srgbClr val="586356"/>
                </a:solidFill>
                <a:latin typeface="Noto Sans KR"/>
                <a:ea typeface="Noto Sans KR"/>
                <a:cs typeface="Noto Sans KR"/>
              </a:rPr>
              <a:t>왼쪽 위 연필 아이콘</a:t>
            </a:r>
          </a:p>
        </p:txBody>
      </p:sp>
      <p:sp>
        <p:nvSpPr>
          <p:cNvPr id="12" name="Oval 11"/>
          <p:cNvSpPr/>
          <p:nvPr/>
        </p:nvSpPr>
        <p:spPr>
          <a:xfrm>
            <a:off x="7048500" y="2971800"/>
            <a:ext cx="419100" cy="41910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48500" y="2971800"/>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2</a:t>
            </a:r>
          </a:p>
        </p:txBody>
      </p:sp>
      <p:sp>
        <p:nvSpPr>
          <p:cNvPr id="14" name="TextBox 13"/>
          <p:cNvSpPr txBox="1"/>
          <p:nvPr/>
        </p:nvSpPr>
        <p:spPr>
          <a:xfrm>
            <a:off x="7639050" y="2952750"/>
            <a:ext cx="3867150" cy="381000"/>
          </a:xfrm>
          <a:prstGeom prst="rect">
            <a:avLst/>
          </a:prstGeom>
          <a:noFill/>
        </p:spPr>
        <p:txBody>
          <a:bodyPr wrap="square" lIns="0" tIns="0" rIns="0" bIns="0" anchor="t"/>
          <a:lstStyle/>
          <a:p>
            <a:pPr algn="l" latinLnBrk="0" eaLnBrk="1">
              <a:lnSpc>
                <a:spcPct val="110000"/>
              </a:lnSpc>
            </a:pPr>
            <a:r>
              <a:rPr sz="2100" b="1" spc="-42" lang="ko-KR" altLang="en-US">
                <a:solidFill>
                  <a:srgbClr val="202921"/>
                </a:solidFill>
                <a:latin typeface="Noto Sans KR"/>
                <a:ea typeface="Noto Sans KR"/>
                <a:cs typeface="Noto Sans KR"/>
              </a:rPr>
              <a:t>+ → 파일 업로드</a:t>
            </a:r>
          </a:p>
        </p:txBody>
      </p:sp>
      <p:sp>
        <p:nvSpPr>
          <p:cNvPr id="15" name="TextBox 14"/>
          <p:cNvSpPr txBox="1"/>
          <p:nvPr/>
        </p:nvSpPr>
        <p:spPr>
          <a:xfrm>
            <a:off x="7639050" y="3352800"/>
            <a:ext cx="3867150" cy="666750"/>
          </a:xfrm>
          <a:prstGeom prst="rect">
            <a:avLst/>
          </a:prstGeom>
          <a:noFill/>
        </p:spPr>
        <p:txBody>
          <a:bodyPr wrap="square" lIns="0" tIns="0" rIns="0" bIns="0" anchor="t"/>
          <a:lstStyle/>
          <a:p>
            <a:pPr algn="l" latinLnBrk="0" eaLnBrk="1">
              <a:lnSpc>
                <a:spcPct val="130000"/>
              </a:lnSpc>
            </a:pPr>
            <a:r>
              <a:rPr sz="1800" b="0" spc="-36" lang="ko-KR" altLang="en-US">
                <a:solidFill>
                  <a:srgbClr val="586356"/>
                </a:solidFill>
                <a:latin typeface="Noto Sans KR"/>
                <a:ea typeface="Noto Sans KR"/>
                <a:cs typeface="Noto Sans KR"/>
              </a:rPr>
              <a:t>계획서와 학칙 두 개</a:t>
            </a:r>
          </a:p>
        </p:txBody>
      </p:sp>
      <p:sp>
        <p:nvSpPr>
          <p:cNvPr id="16" name="Oval 15"/>
          <p:cNvSpPr/>
          <p:nvPr/>
        </p:nvSpPr>
        <p:spPr>
          <a:xfrm>
            <a:off x="7048500" y="4191000"/>
            <a:ext cx="419100" cy="41910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048500" y="4191000"/>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FFDF7"/>
                </a:solidFill>
                <a:latin typeface="Noto Sans KR"/>
                <a:ea typeface="Noto Sans KR"/>
                <a:cs typeface="Noto Sans KR"/>
              </a:rPr>
              <a:t>3</a:t>
            </a:r>
          </a:p>
        </p:txBody>
      </p:sp>
      <p:sp>
        <p:nvSpPr>
          <p:cNvPr id="18" name="TextBox 17"/>
          <p:cNvSpPr txBox="1"/>
          <p:nvPr/>
        </p:nvSpPr>
        <p:spPr>
          <a:xfrm>
            <a:off x="7639050" y="4171950"/>
            <a:ext cx="3867150" cy="381000"/>
          </a:xfrm>
          <a:prstGeom prst="rect">
            <a:avLst/>
          </a:prstGeom>
          <a:noFill/>
        </p:spPr>
        <p:txBody>
          <a:bodyPr wrap="square" lIns="0" tIns="0" rIns="0" bIns="0" anchor="t"/>
          <a:lstStyle/>
          <a:p>
            <a:pPr algn="l" latinLnBrk="0" eaLnBrk="1">
              <a:lnSpc>
                <a:spcPct val="110000"/>
              </a:lnSpc>
            </a:pPr>
            <a:r>
              <a:rPr sz="2100" b="1" spc="-42" lang="ko-KR" altLang="en-US">
                <a:solidFill>
                  <a:srgbClr val="202921"/>
                </a:solidFill>
                <a:latin typeface="Noto Sans KR"/>
                <a:ea typeface="Noto Sans KR"/>
                <a:cs typeface="Noto Sans KR"/>
              </a:rPr>
              <a:t>질문 4-1 붙여 넣기</a:t>
            </a:r>
          </a:p>
        </p:txBody>
      </p:sp>
      <p:sp>
        <p:nvSpPr>
          <p:cNvPr id="19" name="TextBox 18"/>
          <p:cNvSpPr txBox="1"/>
          <p:nvPr/>
        </p:nvSpPr>
        <p:spPr>
          <a:xfrm>
            <a:off x="7639050" y="4572000"/>
            <a:ext cx="3867150" cy="666750"/>
          </a:xfrm>
          <a:prstGeom prst="rect">
            <a:avLst/>
          </a:prstGeom>
          <a:noFill/>
        </p:spPr>
        <p:txBody>
          <a:bodyPr wrap="square" lIns="0" tIns="0" rIns="0" bIns="0" anchor="t"/>
          <a:lstStyle/>
          <a:p>
            <a:pPr algn="l" latinLnBrk="0" eaLnBrk="1">
              <a:lnSpc>
                <a:spcPct val="130000"/>
              </a:lnSpc>
            </a:pPr>
            <a:r>
              <a:rPr sz="1800" b="0" spc="-36" lang="ko-KR" altLang="en-US">
                <a:solidFill>
                  <a:srgbClr val="586356"/>
                </a:solidFill>
                <a:latin typeface="Noto Sans KR"/>
                <a:ea typeface="Noto Sans KR"/>
                <a:cs typeface="Noto Sans KR"/>
              </a:rPr>
              <a:t>파일이 입력칸 위에 보이면</a:t>
            </a:r>
          </a:p>
        </p:txBody>
      </p:sp>
      <p:sp>
        <p:nvSpPr>
          <p:cNvPr id="20" name="TextBox 19"/>
          <p:cNvSpPr txBox="1"/>
          <p:nvPr/>
        </p:nvSpPr>
        <p:spPr>
          <a:xfrm>
            <a:off x="685800" y="5715000"/>
            <a:ext cx="10820400" cy="381000"/>
          </a:xfrm>
          <a:prstGeom prst="rect">
            <a:avLst/>
          </a:prstGeom>
          <a:noFill/>
        </p:spPr>
        <p:txBody>
          <a:bodyPr wrap="square" lIns="0" tIns="0" rIns="0" bIns="0" anchor="t"/>
          <a:lstStyle/>
          <a:p>
            <a:pPr algn="l" latinLnBrk="0" eaLnBrk="1">
              <a:lnSpc>
                <a:spcPct val="100000"/>
              </a:lnSpc>
            </a:pPr>
            <a:r>
              <a:rPr sz="1950" b="0" spc="-39" lang="ko-KR" altLang="en-US">
                <a:solidFill>
                  <a:srgbClr val="586356"/>
                </a:solidFill>
                <a:latin typeface="Noto Sans KR"/>
                <a:ea typeface="Noto Sans KR"/>
                <a:cs typeface="Noto Sans KR"/>
              </a:rPr>
              <a:t>학교 Google 계정이 있으면 그 계정으로 씁니다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전체 질문은 사이트 #gemini-syllabus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46</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3-1 · 강의계획서</a:t>
            </a:r>
          </a:p>
        </p:txBody>
      </p:sp>
      <p:sp>
        <p:nvSpPr>
          <p:cNvPr id="7" name="Rounded Rectangle 6"/>
          <p:cNvSpPr/>
          <p:nvPr/>
        </p:nvSpPr>
        <p:spPr>
          <a:xfrm>
            <a:off x="9435084" y="219075"/>
            <a:ext cx="206692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587484"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816084" y="219075"/>
            <a:ext cx="160972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10분 · Gemini</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강의계획서 초안의 틀린 곳을 학칙과 맞춰 고칩니다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계획서·학칙 두 파일 올리기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질문 4-1 붙여 넣기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비율 더하기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강의계획서를 검토하는 동료 교수</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계획서 초안과 학칙 발췌만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위치·문제·고친 문장 표, 다음에 고친 계획서</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학칙과 다른 출석 기준 · 교수가 안 정한 값은 [확인 필요]로</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000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위치</a:t>
            </a:r>
          </a:p>
        </p:txBody>
      </p:sp>
      <p:sp>
        <p:nvSpPr>
          <p:cNvPr id="19" name="TextBox 18"/>
          <p:cNvSpPr txBox="1"/>
          <p:nvPr/>
        </p:nvSpPr>
        <p:spPr>
          <a:xfrm>
            <a:off x="7962900" y="28956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문제</a:t>
            </a:r>
          </a:p>
        </p:txBody>
      </p:sp>
      <p:sp>
        <p:nvSpPr>
          <p:cNvPr id="20" name="TextBox 19"/>
          <p:cNvSpPr txBox="1"/>
          <p:nvPr/>
        </p:nvSpPr>
        <p:spPr>
          <a:xfrm>
            <a:off x="9582150" y="2895600"/>
            <a:ext cx="16573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고친 문장</a:t>
            </a:r>
          </a:p>
        </p:txBody>
      </p:sp>
      <p:sp>
        <p:nvSpPr>
          <p:cNvPr id="21" name="Rectangle 20"/>
          <p:cNvSpPr/>
          <p:nvPr/>
        </p:nvSpPr>
        <p:spPr>
          <a:xfrm>
            <a:off x="6438900" y="36814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34150" y="329565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평가 방법</a:t>
            </a:r>
          </a:p>
        </p:txBody>
      </p:sp>
      <p:sp>
        <p:nvSpPr>
          <p:cNvPr id="23" name="TextBox 22"/>
          <p:cNvSpPr txBox="1"/>
          <p:nvPr/>
        </p:nvSpPr>
        <p:spPr>
          <a:xfrm>
            <a:off x="7962900" y="329565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4" name="TextBox 23"/>
          <p:cNvSpPr txBox="1"/>
          <p:nvPr/>
        </p:nvSpPr>
        <p:spPr>
          <a:xfrm>
            <a:off x="9582150" y="329565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5" name="Rectangle 24"/>
          <p:cNvSpPr/>
          <p:nvPr/>
        </p:nvSpPr>
        <p:spPr>
          <a:xfrm>
            <a:off x="6438900" y="40814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4150" y="369570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출석 기준</a:t>
            </a:r>
          </a:p>
        </p:txBody>
      </p:sp>
      <p:sp>
        <p:nvSpPr>
          <p:cNvPr id="27" name="TextBox 26"/>
          <p:cNvSpPr txBox="1"/>
          <p:nvPr/>
        </p:nvSpPr>
        <p:spPr>
          <a:xfrm>
            <a:off x="7962900" y="369570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8" name="TextBox 27"/>
          <p:cNvSpPr txBox="1"/>
          <p:nvPr/>
        </p:nvSpPr>
        <p:spPr>
          <a:xfrm>
            <a:off x="9582150" y="369570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9" name="Rectangle 28"/>
          <p:cNvSpPr/>
          <p:nvPr/>
        </p:nvSpPr>
        <p:spPr>
          <a:xfrm>
            <a:off x="6438900" y="4481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34150" y="409575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주차별 일정</a:t>
            </a:r>
          </a:p>
        </p:txBody>
      </p:sp>
      <p:sp>
        <p:nvSpPr>
          <p:cNvPr id="31" name="TextBox 30"/>
          <p:cNvSpPr txBox="1"/>
          <p:nvPr/>
        </p:nvSpPr>
        <p:spPr>
          <a:xfrm>
            <a:off x="7962900" y="409575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2" name="TextBox 31"/>
          <p:cNvSpPr txBox="1"/>
          <p:nvPr/>
        </p:nvSpPr>
        <p:spPr>
          <a:xfrm>
            <a:off x="9582150" y="409575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3" name="Rectangle 32"/>
          <p:cNvSpPr/>
          <p:nvPr/>
        </p:nvSpPr>
        <p:spPr>
          <a:xfrm>
            <a:off x="6438900" y="48815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34150" y="449580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a:t>
            </a:r>
          </a:p>
        </p:txBody>
      </p:sp>
      <p:sp>
        <p:nvSpPr>
          <p:cNvPr id="35" name="TextBox 34"/>
          <p:cNvSpPr txBox="1"/>
          <p:nvPr/>
        </p:nvSpPr>
        <p:spPr>
          <a:xfrm>
            <a:off x="7962900" y="4495800"/>
            <a:ext cx="1485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6" name="TextBox 35"/>
          <p:cNvSpPr txBox="1"/>
          <p:nvPr/>
        </p:nvSpPr>
        <p:spPr>
          <a:xfrm>
            <a:off x="9582150" y="449580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7" name="Rectangle 36"/>
          <p:cNvSpPr/>
          <p:nvPr/>
        </p:nvSpPr>
        <p:spPr>
          <a:xfrm>
            <a:off x="6438900" y="5281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34150" y="4895850"/>
            <a:ext cx="12954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고친 비율 합</a:t>
            </a:r>
          </a:p>
        </p:txBody>
      </p:sp>
      <p:sp>
        <p:nvSpPr>
          <p:cNvPr id="39" name="TextBox 38"/>
          <p:cNvSpPr txBox="1"/>
          <p:nvPr/>
        </p:nvSpPr>
        <p:spPr>
          <a:xfrm>
            <a:off x="7962900" y="4895850"/>
            <a:ext cx="1485900" cy="400050"/>
          </a:xfrm>
          <a:prstGeom prst="rect">
            <a:avLst/>
          </a:prstGeom>
          <a:noFill/>
        </p:spPr>
        <p:txBody>
          <a:bodyPr wrap="square" lIns="0" tIns="0" rIns="0" bIns="0" anchor="ctr"/>
          <a:lstStyle/>
          <a:p>
            <a:pPr algn="l" latinLnBrk="0" eaLnBrk="1">
              <a:lnSpc>
                <a:spcPct val="100000"/>
              </a:lnSpc>
            </a:pPr>
          </a:p>
        </p:txBody>
      </p:sp>
      <p:sp>
        <p:nvSpPr>
          <p:cNvPr id="40" name="TextBox 39"/>
          <p:cNvSpPr txBox="1"/>
          <p:nvPr/>
        </p:nvSpPr>
        <p:spPr>
          <a:xfrm>
            <a:off x="9582150" y="4895850"/>
            <a:ext cx="16573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100%?</a:t>
            </a:r>
          </a:p>
        </p:txBody>
      </p:sp>
      <p:sp>
        <p:nvSpPr>
          <p:cNvPr id="41" name="Rounded Rectangle 40"/>
          <p:cNvSpPr/>
          <p:nvPr/>
        </p:nvSpPr>
        <p:spPr>
          <a:xfrm>
            <a:off x="9505950" y="4924425"/>
            <a:ext cx="1752600" cy="342900"/>
          </a:xfrm>
          <a:prstGeom prst="roundRect">
            <a:avLst>
              <a:gd name="adj" fmla="val 11111"/>
            </a:avLst>
          </a:prstGeom>
          <a:noFill/>
          <a:ln w="33337">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고친 평가 비율의 합이 100%인가?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정답 기준 · 해설 4-1</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47</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정답 기준 · 12곳 중 핵심 4곳</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초안에는 고칠 곳이 열두 군데 숨어 있습니다</a:t>
            </a:r>
          </a:p>
        </p:txBody>
      </p:sp>
      <p:sp>
        <p:nvSpPr>
          <p:cNvPr id="7" name="TextBox 6"/>
          <p:cNvSpPr txBox="1"/>
          <p:nvPr/>
        </p:nvSpPr>
        <p:spPr>
          <a:xfrm>
            <a:off x="685800" y="1866900"/>
            <a:ext cx="4381500" cy="1809750"/>
          </a:xfrm>
          <a:prstGeom prst="rect">
            <a:avLst/>
          </a:prstGeom>
          <a:noFill/>
        </p:spPr>
        <p:txBody>
          <a:bodyPr wrap="square" lIns="0" tIns="0" rIns="0" bIns="0" anchor="t"/>
          <a:lstStyle/>
          <a:p>
            <a:pPr algn="l" latinLnBrk="0" eaLnBrk="1">
              <a:lnSpc>
                <a:spcPct val="100000"/>
              </a:lnSpc>
            </a:pPr>
            <a:r>
              <a:rPr sz="11250" b="1" spc="-225" lang="ko-KR" altLang="en-US">
                <a:solidFill>
                  <a:srgbClr val="C8431F"/>
                </a:solidFill>
                <a:latin typeface="Noto Sans KR"/>
                <a:ea typeface="Noto Sans KR"/>
                <a:cs typeface="Noto Sans KR"/>
              </a:rPr>
              <a:t>110%</a:t>
            </a:r>
          </a:p>
        </p:txBody>
      </p:sp>
      <p:sp>
        <p:nvSpPr>
          <p:cNvPr id="8" name="TextBox 7"/>
          <p:cNvSpPr txBox="1"/>
          <p:nvPr/>
        </p:nvSpPr>
        <p:spPr>
          <a:xfrm>
            <a:off x="685800" y="3619500"/>
            <a:ext cx="4191000" cy="857250"/>
          </a:xfrm>
          <a:prstGeom prst="rect">
            <a:avLst/>
          </a:prstGeom>
          <a:noFill/>
        </p:spPr>
        <p:txBody>
          <a:bodyPr wrap="square" lIns="0" tIns="0" rIns="0" bIns="0" anchor="t"/>
          <a:lstStyle/>
          <a:p>
            <a:pPr algn="l" latinLnBrk="0" eaLnBrk="1">
              <a:lnSpc>
                <a:spcPct val="130000"/>
              </a:lnSpc>
            </a:pPr>
            <a:r>
              <a:rPr sz="2100" b="1" spc="-42" lang="ko-KR" altLang="en-US">
                <a:solidFill>
                  <a:srgbClr val="586356"/>
                </a:solidFill>
                <a:latin typeface="Noto Sans KR"/>
                <a:ea typeface="Noto Sans KR"/>
                <a:cs typeface="Noto Sans KR"/>
              </a:rPr>
              <a:t>평가 비율의 합</a:t>
            </a:r>
            <a:br/>
            <a:r>
              <a:rPr sz="2100" b="1" spc="-42" lang="ko-KR" altLang="en-US">
                <a:solidFill>
                  <a:srgbClr val="586356"/>
                </a:solidFill>
                <a:latin typeface="Noto Sans KR"/>
                <a:ea typeface="Noto Sans KR"/>
                <a:cs typeface="Noto Sans KR"/>
              </a:rPr>
              <a:t>10+15+15+25+35+10</a:t>
            </a:r>
          </a:p>
        </p:txBody>
      </p:sp>
      <p:sp>
        <p:nvSpPr>
          <p:cNvPr id="9" name="Rounded Rectangle 8"/>
          <p:cNvSpPr/>
          <p:nvPr/>
        </p:nvSpPr>
        <p:spPr>
          <a:xfrm>
            <a:off x="5334000" y="1866900"/>
            <a:ext cx="6172200" cy="952500"/>
          </a:xfrm>
          <a:prstGeom prst="roundRect">
            <a:avLst>
              <a:gd name="adj" fmla="val 4000"/>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34000" y="1866900"/>
            <a:ext cx="95250" cy="952500"/>
          </a:xfrm>
          <a:prstGeom prst="rect">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76900" y="1866900"/>
            <a:ext cx="2857500" cy="952500"/>
          </a:xfrm>
          <a:prstGeom prst="rect">
            <a:avLst/>
          </a:prstGeom>
          <a:noFill/>
        </p:spPr>
        <p:txBody>
          <a:bodyPr wrap="square" lIns="0" tIns="0" rIns="0" bIns="0" anchor="ctr"/>
          <a:lstStyle/>
          <a:p>
            <a:pPr algn="l" latinLnBrk="0" eaLnBrk="1">
              <a:lnSpc>
                <a:spcPct val="110000"/>
              </a:lnSpc>
            </a:pPr>
            <a:r>
              <a:rPr sz="2100" b="1" spc="-42" lang="ko-KR" altLang="en-US">
                <a:solidFill>
                  <a:srgbClr val="202921"/>
                </a:solidFill>
                <a:latin typeface="Noto Sans KR"/>
                <a:ea typeface="Noto Sans KR"/>
                <a:cs typeface="Noto Sans KR"/>
              </a:rPr>
              <a:t>결석 5회 이상 F</a:t>
            </a:r>
          </a:p>
        </p:txBody>
      </p:sp>
      <p:sp>
        <p:nvSpPr>
          <p:cNvPr id="12" name="TextBox 11"/>
          <p:cNvSpPr txBox="1"/>
          <p:nvPr/>
        </p:nvSpPr>
        <p:spPr>
          <a:xfrm>
            <a:off x="8572500" y="1866900"/>
            <a:ext cx="2762250" cy="95250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 </a:t>
            </a:r>
            <a:r>
              <a:rPr sz="2100" b="0" spc="-42" lang="ko-KR" altLang="en-US">
                <a:solidFill>
                  <a:srgbClr val="586356"/>
                </a:solidFill>
                <a:latin typeface="Noto Sans KR"/>
                <a:ea typeface="Noto Sans KR"/>
                <a:cs typeface="Noto Sans KR"/>
              </a:rPr>
              <a:t>학칙은 8회부터 F</a:t>
            </a:r>
          </a:p>
        </p:txBody>
      </p:sp>
      <p:sp>
        <p:nvSpPr>
          <p:cNvPr id="13" name="Rounded Rectangle 12"/>
          <p:cNvSpPr/>
          <p:nvPr/>
        </p:nvSpPr>
        <p:spPr>
          <a:xfrm>
            <a:off x="5334000" y="2971800"/>
            <a:ext cx="6172200" cy="952500"/>
          </a:xfrm>
          <a:prstGeom prst="roundRect">
            <a:avLst>
              <a:gd name="adj" fmla="val 4000"/>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334000" y="2971800"/>
            <a:ext cx="95250" cy="952500"/>
          </a:xfrm>
          <a:prstGeom prst="rect">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76900" y="2971800"/>
            <a:ext cx="2857500" cy="952500"/>
          </a:xfrm>
          <a:prstGeom prst="rect">
            <a:avLst/>
          </a:prstGeom>
          <a:noFill/>
        </p:spPr>
        <p:txBody>
          <a:bodyPr wrap="square" lIns="0" tIns="0" rIns="0" bIns="0" anchor="ctr"/>
          <a:lstStyle/>
          <a:p>
            <a:pPr algn="l" latinLnBrk="0" eaLnBrk="1">
              <a:lnSpc>
                <a:spcPct val="110000"/>
              </a:lnSpc>
            </a:pPr>
            <a:r>
              <a:rPr sz="2100" b="1" spc="-42" lang="ko-KR" altLang="en-US">
                <a:solidFill>
                  <a:srgbClr val="202921"/>
                </a:solidFill>
                <a:latin typeface="Noto Sans KR"/>
                <a:ea typeface="Noto Sans KR"/>
                <a:cs typeface="Noto Sans KR"/>
              </a:rPr>
              <a:t>과제2 마감 10/20</a:t>
            </a:r>
          </a:p>
        </p:txBody>
      </p:sp>
      <p:sp>
        <p:nvSpPr>
          <p:cNvPr id="16" name="TextBox 15"/>
          <p:cNvSpPr txBox="1"/>
          <p:nvPr/>
        </p:nvSpPr>
        <p:spPr>
          <a:xfrm>
            <a:off x="8572500" y="2971800"/>
            <a:ext cx="2762250" cy="95250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 </a:t>
            </a:r>
            <a:r>
              <a:rPr sz="2100" b="0" spc="-42" lang="ko-KR" altLang="en-US">
                <a:solidFill>
                  <a:srgbClr val="586356"/>
                </a:solidFill>
                <a:latin typeface="Noto Sans KR"/>
                <a:ea typeface="Noto Sans KR"/>
                <a:cs typeface="Noto Sans KR"/>
              </a:rPr>
              <a:t>일정표에는 10/15</a:t>
            </a:r>
          </a:p>
        </p:txBody>
      </p:sp>
      <p:sp>
        <p:nvSpPr>
          <p:cNvPr id="17" name="Rounded Rectangle 16"/>
          <p:cNvSpPr/>
          <p:nvPr/>
        </p:nvSpPr>
        <p:spPr>
          <a:xfrm>
            <a:off x="5334000" y="4076700"/>
            <a:ext cx="6172200" cy="952500"/>
          </a:xfrm>
          <a:prstGeom prst="roundRect">
            <a:avLst>
              <a:gd name="adj" fmla="val 4000"/>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334000" y="4076700"/>
            <a:ext cx="95250" cy="952500"/>
          </a:xfrm>
          <a:prstGeom prst="rect">
            <a:avLst/>
          </a:prstGeom>
          <a:solidFill>
            <a:srgbClr val="C84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76900" y="4076700"/>
            <a:ext cx="2857500" cy="952500"/>
          </a:xfrm>
          <a:prstGeom prst="rect">
            <a:avLst/>
          </a:prstGeom>
          <a:noFill/>
        </p:spPr>
        <p:txBody>
          <a:bodyPr wrap="square" lIns="0" tIns="0" rIns="0" bIns="0" anchor="ctr"/>
          <a:lstStyle/>
          <a:p>
            <a:pPr algn="l" latinLnBrk="0" eaLnBrk="1">
              <a:lnSpc>
                <a:spcPct val="110000"/>
              </a:lnSpc>
            </a:pPr>
            <a:r>
              <a:rPr sz="2100" b="1" spc="-42" lang="ko-KR" altLang="en-US">
                <a:solidFill>
                  <a:srgbClr val="202921"/>
                </a:solidFill>
                <a:latin typeface="Noto Sans KR"/>
                <a:ea typeface="Noto Sans KR"/>
                <a:cs typeface="Noto Sans KR"/>
              </a:rPr>
              <a:t>9주차가 두 번</a:t>
            </a:r>
          </a:p>
        </p:txBody>
      </p:sp>
      <p:sp>
        <p:nvSpPr>
          <p:cNvPr id="20" name="TextBox 19"/>
          <p:cNvSpPr txBox="1"/>
          <p:nvPr/>
        </p:nvSpPr>
        <p:spPr>
          <a:xfrm>
            <a:off x="8572500" y="4076700"/>
            <a:ext cx="2762250" cy="95250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 </a:t>
            </a:r>
            <a:r>
              <a:rPr sz="2100" b="0" spc="-42" lang="ko-KR" altLang="en-US">
                <a:solidFill>
                  <a:srgbClr val="586356"/>
                </a:solidFill>
                <a:latin typeface="Noto Sans KR"/>
                <a:ea typeface="Noto Sans KR"/>
                <a:cs typeface="Noto Sans KR"/>
              </a:rPr>
              <a:t>13주차가 없음</a:t>
            </a:r>
          </a:p>
        </p:txBody>
      </p:sp>
      <p:sp>
        <p:nvSpPr>
          <p:cNvPr id="21" name="Rounded Rectangle 20"/>
          <p:cNvSpPr/>
          <p:nvPr/>
        </p:nvSpPr>
        <p:spPr>
          <a:xfrm>
            <a:off x="685800" y="5334000"/>
            <a:ext cx="10820400" cy="762000"/>
          </a:xfrm>
          <a:prstGeom prst="roundRect">
            <a:avLst>
              <a:gd name="adj" fmla="val 5000"/>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500" y="5334000"/>
            <a:ext cx="10287000" cy="762000"/>
          </a:xfrm>
          <a:prstGeom prst="rect">
            <a:avLst/>
          </a:prstGeom>
          <a:noFill/>
        </p:spPr>
        <p:txBody>
          <a:bodyPr wrap="square" lIns="0" tIns="0" rIns="0" bIns="0" anchor="ctr"/>
          <a:lstStyle/>
          <a:p>
            <a:pPr algn="l" latinLnBrk="0" eaLnBrk="1">
              <a:lnSpc>
                <a:spcPct val="120000"/>
              </a:lnSpc>
            </a:pPr>
            <a:r>
              <a:rPr sz="1950" b="0" spc="-39" lang="ko-KR" altLang="en-US">
                <a:solidFill>
                  <a:srgbClr val="586356"/>
                </a:solidFill>
                <a:latin typeface="Noto Sans KR"/>
                <a:ea typeface="Noto Sans KR"/>
                <a:cs typeface="Noto Sans KR"/>
              </a:rPr>
              <a:t>그 밖 8곳: 감점 기준, 평가 기준 '추후 안내', 면담 장소, 공지 채널, AI 원칙 등</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실제 화면 · 115–150분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48</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3 · 실제 화면 · Gemini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Gemini가 찾은 곳, 놓친 곳, 없는데 만든 곳</a:t>
            </a:r>
          </a:p>
        </p:txBody>
      </p:sp>
      <p:pic>
        <p:nvPicPr>
          <p:cNvPr id="7" name="Picture 6" descr="gm-41-table.png"/>
          <p:cNvPicPr>
            <a:picLocks noChangeAspect="1"/>
          </p:cNvPicPr>
          <p:nvPr/>
        </p:nvPicPr>
        <p:blipFill>
          <a:blip r:embed="rId4"/>
          <a:stretch>
            <a:fillRect/>
          </a:stretch>
        </p:blipFill>
        <p:spPr>
          <a:xfrm>
            <a:off x="685800" y="1619250"/>
            <a:ext cx="4572000" cy="4191000"/>
          </a:xfrm>
          <a:prstGeom prst="rect">
            <a:avLst/>
          </a:prstGeom>
          <a:ln w="9525">
            <a:solidFill>
              <a:srgbClr val="C9CCC0"/>
            </a:solidFill>
          </a:ln>
        </p:spPr>
      </p:pic>
      <p:sp>
        <p:nvSpPr>
          <p:cNvPr id="8" name="TextBox 7"/>
          <p:cNvSpPr txBox="1"/>
          <p:nvPr/>
        </p:nvSpPr>
        <p:spPr>
          <a:xfrm>
            <a:off x="5638800" y="1638300"/>
            <a:ext cx="58674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찾음 4곳</a:t>
            </a:r>
          </a:p>
        </p:txBody>
      </p:sp>
      <p:sp>
        <p:nvSpPr>
          <p:cNvPr id="9" name="TextBox 8"/>
          <p:cNvSpPr txBox="1"/>
          <p:nvPr/>
        </p:nvSpPr>
        <p:spPr>
          <a:xfrm>
            <a:off x="5638800" y="2057400"/>
            <a:ext cx="58674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비율 합 110%, 결석 기준,</a:t>
            </a:r>
            <a:br/>
            <a:r>
              <a:rPr sz="1800" b="0" spc="-36" lang="ko-KR" altLang="en-US">
                <a:solidFill>
                  <a:srgbClr val="202921"/>
                </a:solidFill>
                <a:latin typeface="Noto Sans KR"/>
                <a:ea typeface="Noto Sans KR"/>
                <a:cs typeface="Noto Sans KR"/>
              </a:rPr>
              <a:t>과제2 마감, 주차 번호</a:t>
            </a:r>
          </a:p>
        </p:txBody>
      </p:sp>
      <p:sp>
        <p:nvSpPr>
          <p:cNvPr id="10" name="TextBox 9"/>
          <p:cNvSpPr txBox="1"/>
          <p:nvPr/>
        </p:nvSpPr>
        <p:spPr>
          <a:xfrm>
            <a:off x="5638800" y="2971800"/>
            <a:ext cx="58674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놓침 2곳</a:t>
            </a:r>
          </a:p>
        </p:txBody>
      </p:sp>
      <p:sp>
        <p:nvSpPr>
          <p:cNvPr id="11" name="TextBox 10"/>
          <p:cNvSpPr txBox="1"/>
          <p:nvPr/>
        </p:nvSpPr>
        <p:spPr>
          <a:xfrm>
            <a:off x="5638800" y="3390900"/>
            <a:ext cx="58674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늦은 제출 감점 기준,</a:t>
            </a:r>
            <a:br/>
            <a:r>
              <a:rPr sz="1800" b="0" spc="-36" lang="ko-KR" altLang="en-US">
                <a:solidFill>
                  <a:srgbClr val="202921"/>
                </a:solidFill>
                <a:latin typeface="Noto Sans KR"/>
                <a:ea typeface="Noto Sans KR"/>
                <a:cs typeface="Noto Sans KR"/>
              </a:rPr>
              <a:t>기말 프로젝트 평가 기준</a:t>
            </a:r>
          </a:p>
        </p:txBody>
      </p:sp>
      <p:sp>
        <p:nvSpPr>
          <p:cNvPr id="12" name="TextBox 11"/>
          <p:cNvSpPr txBox="1"/>
          <p:nvPr/>
        </p:nvSpPr>
        <p:spPr>
          <a:xfrm>
            <a:off x="5638800" y="4305300"/>
            <a:ext cx="58674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없는 문제 1곳</a:t>
            </a:r>
          </a:p>
        </p:txBody>
      </p:sp>
      <p:sp>
        <p:nvSpPr>
          <p:cNvPr id="13" name="TextBox 12"/>
          <p:cNvSpPr txBox="1"/>
          <p:nvPr/>
        </p:nvSpPr>
        <p:spPr>
          <a:xfrm>
            <a:off x="5638800" y="4724400"/>
            <a:ext cx="5867400" cy="6286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'12/1·12/3 날짜가 꼬였다'</a:t>
            </a:r>
            <a:br/>
            <a:r>
              <a:rPr sz="1800" b="0" spc="-36" lang="ko-KR" altLang="en-US">
                <a:solidFill>
                  <a:srgbClr val="202921"/>
                </a:solidFill>
                <a:latin typeface="Noto Sans KR"/>
                <a:ea typeface="Noto Sans KR"/>
                <a:cs typeface="Noto Sans KR"/>
              </a:rPr>
              <a:t>→ 두 날짜는 화·목이 맞습니다</a:t>
            </a:r>
          </a:p>
        </p:txBody>
      </p:sp>
      <p:sp>
        <p:nvSpPr>
          <p:cNvPr id="14" name="TextBox 13"/>
          <p:cNvSpPr txBox="1"/>
          <p:nvPr/>
        </p:nvSpPr>
        <p:spPr>
          <a:xfrm>
            <a:off x="685800" y="5962650"/>
            <a:ext cx="10820400" cy="342900"/>
          </a:xfrm>
          <a:prstGeom prst="rect">
            <a:avLst/>
          </a:prstGeom>
          <a:noFill/>
        </p:spPr>
        <p:txBody>
          <a:bodyPr wrap="square" lIns="0" tIns="0" rIns="0" bIns="0" anchor="t"/>
          <a:lstStyle/>
          <a:p>
            <a:pPr algn="l" latinLnBrk="0" eaLnBrk="1">
              <a:lnSpc>
                <a:spcPct val="100000"/>
              </a:lnSpc>
            </a:pPr>
            <a:r>
              <a:rPr sz="1950" b="0" spc="-39" lang="ko-KR" altLang="en-US">
                <a:solidFill>
                  <a:srgbClr val="586356"/>
                </a:solidFill>
                <a:latin typeface="Noto Sans KR"/>
                <a:ea typeface="Noto Sans KR"/>
                <a:cs typeface="Noto Sans KR"/>
              </a:rPr>
              <a:t>110%는 스스로 고치지 않고 [확인 필요]로 남겼습니다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전체 질문은 사이트 #gemini-syllabus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49</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3-2 · 루브릭</a:t>
            </a:r>
          </a:p>
        </p:txBody>
      </p:sp>
      <p:sp>
        <p:nvSpPr>
          <p:cNvPr id="7" name="Rounded Rectangle 6"/>
          <p:cNvSpPr/>
          <p:nvPr/>
        </p:nvSpPr>
        <p:spPr>
          <a:xfrm>
            <a:off x="9576816" y="219075"/>
            <a:ext cx="1924050"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729216"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57816" y="219075"/>
            <a:ext cx="1466850"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5분 · Gemini</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기말 프로젝트 루브릭에 '개인 기여'를 넣습니다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같은 채팅에서 질문 4-2</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배점 더하기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'개인 기여' 확인</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같은 동료 교수</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계획서의 '기말 프로젝트'만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100점, 기준 5개 × 수준 4단계, '개인 기여' 포함</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'우수·미흡'만 쓰기, 계획서에 없는 제출물</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000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기준</a:t>
            </a:r>
          </a:p>
        </p:txBody>
      </p:sp>
      <p:sp>
        <p:nvSpPr>
          <p:cNvPr id="19" name="TextBox 18"/>
          <p:cNvSpPr txBox="1"/>
          <p:nvPr/>
        </p:nvSpPr>
        <p:spPr>
          <a:xfrm>
            <a:off x="8153400" y="2895600"/>
            <a:ext cx="723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배점</a:t>
            </a:r>
          </a:p>
        </p:txBody>
      </p:sp>
      <p:sp>
        <p:nvSpPr>
          <p:cNvPr id="20" name="TextBox 19"/>
          <p:cNvSpPr txBox="1"/>
          <p:nvPr/>
        </p:nvSpPr>
        <p:spPr>
          <a:xfrm>
            <a:off x="9010650" y="2895600"/>
            <a:ext cx="22288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수준 4단계</a:t>
            </a:r>
          </a:p>
        </p:txBody>
      </p:sp>
      <p:sp>
        <p:nvSpPr>
          <p:cNvPr id="21" name="Rectangle 20"/>
          <p:cNvSpPr/>
          <p:nvPr/>
        </p:nvSpPr>
        <p:spPr>
          <a:xfrm>
            <a:off x="6438900" y="36814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34150" y="329565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자료 수집</a:t>
            </a:r>
          </a:p>
        </p:txBody>
      </p:sp>
      <p:sp>
        <p:nvSpPr>
          <p:cNvPr id="23" name="TextBox 22"/>
          <p:cNvSpPr txBox="1"/>
          <p:nvPr/>
        </p:nvSpPr>
        <p:spPr>
          <a:xfrm>
            <a:off x="8153400" y="329565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__</a:t>
            </a:r>
          </a:p>
        </p:txBody>
      </p:sp>
      <p:sp>
        <p:nvSpPr>
          <p:cNvPr id="24" name="TextBox 23"/>
          <p:cNvSpPr txBox="1"/>
          <p:nvPr/>
        </p:nvSpPr>
        <p:spPr>
          <a:xfrm>
            <a:off x="9010650" y="329565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5" name="Rectangle 24"/>
          <p:cNvSpPr/>
          <p:nvPr/>
        </p:nvSpPr>
        <p:spPr>
          <a:xfrm>
            <a:off x="6438900" y="40814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4150" y="36957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분석</a:t>
            </a:r>
          </a:p>
        </p:txBody>
      </p:sp>
      <p:sp>
        <p:nvSpPr>
          <p:cNvPr id="27" name="TextBox 26"/>
          <p:cNvSpPr txBox="1"/>
          <p:nvPr/>
        </p:nvSpPr>
        <p:spPr>
          <a:xfrm>
            <a:off x="8153400" y="369570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__</a:t>
            </a:r>
          </a:p>
        </p:txBody>
      </p:sp>
      <p:sp>
        <p:nvSpPr>
          <p:cNvPr id="28" name="TextBox 27"/>
          <p:cNvSpPr txBox="1"/>
          <p:nvPr/>
        </p:nvSpPr>
        <p:spPr>
          <a:xfrm>
            <a:off x="9010650" y="369570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29" name="Rectangle 28"/>
          <p:cNvSpPr/>
          <p:nvPr/>
        </p:nvSpPr>
        <p:spPr>
          <a:xfrm>
            <a:off x="6438900" y="4481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34150" y="409575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개인 기여</a:t>
            </a:r>
          </a:p>
        </p:txBody>
      </p:sp>
      <p:sp>
        <p:nvSpPr>
          <p:cNvPr id="31" name="TextBox 30"/>
          <p:cNvSpPr txBox="1"/>
          <p:nvPr/>
        </p:nvSpPr>
        <p:spPr>
          <a:xfrm>
            <a:off x="8153400" y="409575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__</a:t>
            </a:r>
          </a:p>
        </p:txBody>
      </p:sp>
      <p:sp>
        <p:nvSpPr>
          <p:cNvPr id="32" name="TextBox 31"/>
          <p:cNvSpPr txBox="1"/>
          <p:nvPr/>
        </p:nvSpPr>
        <p:spPr>
          <a:xfrm>
            <a:off x="9010650" y="409575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조원 평가 반영</a:t>
            </a:r>
          </a:p>
        </p:txBody>
      </p:sp>
      <p:sp>
        <p:nvSpPr>
          <p:cNvPr id="33" name="Rectangle 32"/>
          <p:cNvSpPr/>
          <p:nvPr/>
        </p:nvSpPr>
        <p:spPr>
          <a:xfrm>
            <a:off x="6438900" y="48815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34150" y="449580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a:t>
            </a:r>
          </a:p>
        </p:txBody>
      </p:sp>
      <p:sp>
        <p:nvSpPr>
          <p:cNvPr id="35" name="TextBox 34"/>
          <p:cNvSpPr txBox="1"/>
          <p:nvPr/>
        </p:nvSpPr>
        <p:spPr>
          <a:xfrm>
            <a:off x="8153400" y="449580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6" name="TextBox 35"/>
          <p:cNvSpPr txBox="1"/>
          <p:nvPr/>
        </p:nvSpPr>
        <p:spPr>
          <a:xfrm>
            <a:off x="9010650" y="4495800"/>
            <a:ext cx="222885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37" name="Rectangle 36"/>
          <p:cNvSpPr/>
          <p:nvPr/>
        </p:nvSpPr>
        <p:spPr>
          <a:xfrm>
            <a:off x="6438900" y="5281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34150" y="4895850"/>
            <a:ext cx="1485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합계</a:t>
            </a:r>
          </a:p>
        </p:txBody>
      </p:sp>
      <p:sp>
        <p:nvSpPr>
          <p:cNvPr id="39" name="TextBox 38"/>
          <p:cNvSpPr txBox="1"/>
          <p:nvPr/>
        </p:nvSpPr>
        <p:spPr>
          <a:xfrm>
            <a:off x="8153400" y="4895850"/>
            <a:ext cx="723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100?</a:t>
            </a:r>
          </a:p>
        </p:txBody>
      </p:sp>
      <p:sp>
        <p:nvSpPr>
          <p:cNvPr id="40" name="Rounded Rectangle 39"/>
          <p:cNvSpPr/>
          <p:nvPr/>
        </p:nvSpPr>
        <p:spPr>
          <a:xfrm>
            <a:off x="8077200" y="4924425"/>
            <a:ext cx="819150" cy="342900"/>
          </a:xfrm>
          <a:prstGeom prst="roundRect">
            <a:avLst>
              <a:gd name="adj" fmla="val 11111"/>
            </a:avLst>
          </a:prstGeom>
          <a:noFill/>
          <a:ln w="33337">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10650" y="4895850"/>
            <a:ext cx="2228850" cy="400050"/>
          </a:xfrm>
          <a:prstGeom prst="rect">
            <a:avLst/>
          </a:prstGeom>
          <a:noFill/>
        </p:spPr>
        <p:txBody>
          <a:bodyPr wrap="square" lIns="0" tIns="0" rIns="0" bIns="0" anchor="ctr"/>
          <a:lstStyle/>
          <a:p>
            <a:pPr algn="l" latinLnBrk="0" eaLnBrk="1">
              <a:lnSpc>
                <a:spcPct val="100000"/>
              </a:lnSpc>
            </a:pPr>
          </a:p>
        </p:txBody>
      </p:sp>
      <p:sp>
        <p:nvSpPr>
          <p:cNvPr id="42" name="Rounded Rectangle 41"/>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기준별 배점을 더하면 100점인가?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전체 질문은 사이트 #gemini-syllabus</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50</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3-3 · 학칙 근거 답장</a:t>
            </a:r>
          </a:p>
        </p:txBody>
      </p:sp>
      <p:sp>
        <p:nvSpPr>
          <p:cNvPr id="7" name="Rounded Rectangle 6"/>
          <p:cNvSpPr/>
          <p:nvPr/>
        </p:nvSpPr>
        <p:spPr>
          <a:xfrm>
            <a:off x="9576816" y="219075"/>
            <a:ext cx="1924050"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729216" y="357188"/>
            <a:ext cx="133350" cy="1333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57816" y="219075"/>
            <a:ext cx="1466850"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8분 · Gemini</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학칙을 근거로 까다로운 메일 다섯 통에 답합니다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202921"/>
                </a:solidFill>
                <a:latin typeface="Noto Sans KR"/>
                <a:ea typeface="Noto Sans KR"/>
                <a:cs typeface="Noto Sans KR"/>
              </a:rPr>
              <a:t>① </a:t>
            </a:r>
            <a:r>
              <a:rPr sz="2025" b="0" spc="-40" lang="ko-KR" altLang="en-US">
                <a:solidFill>
                  <a:srgbClr val="202921"/>
                </a:solidFill>
                <a:latin typeface="Noto Sans KR"/>
                <a:ea typeface="Noto Sans KR"/>
                <a:cs typeface="Noto Sans KR"/>
              </a:rPr>
              <a:t>새 채팅에 학칙·메일 올리기</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② </a:t>
            </a:r>
            <a:r>
              <a:rPr sz="2025" b="0" spc="-40" lang="ko-KR" altLang="en-US">
                <a:solidFill>
                  <a:srgbClr val="202921"/>
                </a:solidFill>
                <a:latin typeface="Noto Sans KR"/>
                <a:ea typeface="Noto Sans KR"/>
                <a:cs typeface="Noto Sans KR"/>
              </a:rPr>
              <a:t>질문 4-3</a:t>
            </a:r>
            <a:r>
              <a:rPr sz="2025" b="1" spc="-40" lang="ko-KR" altLang="en-US">
                <a:solidFill>
                  <a:srgbClr val="202921"/>
                </a:solidFill>
                <a:latin typeface="Noto Sans KR"/>
                <a:ea typeface="Noto Sans KR"/>
                <a:cs typeface="Noto Sans KR"/>
              </a:rPr>
              <a:t>   →   </a:t>
            </a:r>
            <a:r>
              <a:rPr sz="2025" b="1" spc="-40" lang="ko-KR" altLang="en-US">
                <a:solidFill>
                  <a:srgbClr val="202921"/>
                </a:solidFill>
                <a:latin typeface="Noto Sans KR"/>
                <a:ea typeface="Noto Sans KR"/>
                <a:cs typeface="Noto Sans KR"/>
              </a:rPr>
              <a:t>③ </a:t>
            </a:r>
            <a:r>
              <a:rPr sz="2025" b="0" spc="-40" lang="ko-KR" altLang="en-US">
                <a:solidFill>
                  <a:srgbClr val="202921"/>
                </a:solidFill>
                <a:latin typeface="Noto Sans KR"/>
                <a:ea typeface="Noto Sans KR"/>
                <a:cs typeface="Noto Sans KR"/>
              </a:rPr>
              <a:t>M16 답장부터 읽기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답장 초안 조교, 오늘은 2026-10-19(월)</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학칙 발췌, M11·M16·M23·M33·M35</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메일마다 5문장 이내 + 근거 조항 번호</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학칙에 없는 예외, 보호자에게 학생 정보</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000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메일</a:t>
            </a:r>
          </a:p>
        </p:txBody>
      </p:sp>
      <p:sp>
        <p:nvSpPr>
          <p:cNvPr id="19" name="TextBox 18"/>
          <p:cNvSpPr txBox="1"/>
          <p:nvPr/>
        </p:nvSpPr>
        <p:spPr>
          <a:xfrm>
            <a:off x="7334250" y="2895600"/>
            <a:ext cx="26670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답장 요지</a:t>
            </a:r>
          </a:p>
        </p:txBody>
      </p:sp>
      <p:sp>
        <p:nvSpPr>
          <p:cNvPr id="20" name="TextBox 19"/>
          <p:cNvSpPr txBox="1"/>
          <p:nvPr/>
        </p:nvSpPr>
        <p:spPr>
          <a:xfrm>
            <a:off x="10134600" y="2895600"/>
            <a:ext cx="1104900" cy="40005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조항</a:t>
            </a:r>
          </a:p>
        </p:txBody>
      </p:sp>
      <p:sp>
        <p:nvSpPr>
          <p:cNvPr id="21" name="Rectangle 20"/>
          <p:cNvSpPr/>
          <p:nvPr/>
        </p:nvSpPr>
        <p:spPr>
          <a:xfrm>
            <a:off x="6438900" y="36814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34150" y="329565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M11</a:t>
            </a:r>
          </a:p>
        </p:txBody>
      </p:sp>
      <p:sp>
        <p:nvSpPr>
          <p:cNvPr id="23" name="TextBox 22"/>
          <p:cNvSpPr txBox="1"/>
          <p:nvPr/>
        </p:nvSpPr>
        <p:spPr>
          <a:xfrm>
            <a:off x="7334250" y="329565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외래 진료는 공결 아님</a:t>
            </a:r>
          </a:p>
        </p:txBody>
      </p:sp>
      <p:sp>
        <p:nvSpPr>
          <p:cNvPr id="24" name="TextBox 23"/>
          <p:cNvSpPr txBox="1"/>
          <p:nvPr/>
        </p:nvSpPr>
        <p:spPr>
          <a:xfrm>
            <a:off x="10134600" y="32956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13조 2항</a:t>
            </a:r>
          </a:p>
        </p:txBody>
      </p:sp>
      <p:sp>
        <p:nvSpPr>
          <p:cNvPr id="25" name="Rectangle 24"/>
          <p:cNvSpPr/>
          <p:nvPr/>
        </p:nvSpPr>
        <p:spPr>
          <a:xfrm>
            <a:off x="6438900" y="40814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4150" y="369570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M16</a:t>
            </a:r>
          </a:p>
        </p:txBody>
      </p:sp>
      <p:sp>
        <p:nvSpPr>
          <p:cNvPr id="27" name="TextBox 26"/>
          <p:cNvSpPr txBox="1"/>
          <p:nvPr/>
        </p:nvSpPr>
        <p:spPr>
          <a:xfrm>
            <a:off x="7334250" y="369570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한 번 더 결석하면 F?</a:t>
            </a:r>
          </a:p>
        </p:txBody>
      </p:sp>
      <p:sp>
        <p:nvSpPr>
          <p:cNvPr id="28" name="Rounded Rectangle 27"/>
          <p:cNvSpPr/>
          <p:nvPr/>
        </p:nvSpPr>
        <p:spPr>
          <a:xfrm>
            <a:off x="7258050" y="3724275"/>
            <a:ext cx="2762250" cy="342900"/>
          </a:xfrm>
          <a:prstGeom prst="roundRect">
            <a:avLst>
              <a:gd name="adj" fmla="val 11111"/>
            </a:avLst>
          </a:prstGeom>
          <a:noFill/>
          <a:ln w="33337">
            <a:solidFill>
              <a:srgbClr val="2029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34600" y="36957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12조</a:t>
            </a:r>
          </a:p>
        </p:txBody>
      </p:sp>
      <p:sp>
        <p:nvSpPr>
          <p:cNvPr id="30" name="Rectangle 29"/>
          <p:cNvSpPr/>
          <p:nvPr/>
        </p:nvSpPr>
        <p:spPr>
          <a:xfrm>
            <a:off x="6438900" y="4481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34150" y="409575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M23</a:t>
            </a:r>
          </a:p>
        </p:txBody>
      </p:sp>
      <p:sp>
        <p:nvSpPr>
          <p:cNvPr id="32" name="TextBox 31"/>
          <p:cNvSpPr txBox="1"/>
          <p:nvPr/>
        </p:nvSpPr>
        <p:spPr>
          <a:xfrm>
            <a:off x="7334250" y="409575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학과장 확인 필요</a:t>
            </a:r>
          </a:p>
        </p:txBody>
      </p:sp>
      <p:sp>
        <p:nvSpPr>
          <p:cNvPr id="33" name="TextBox 32"/>
          <p:cNvSpPr txBox="1"/>
          <p:nvPr/>
        </p:nvSpPr>
        <p:spPr>
          <a:xfrm>
            <a:off x="10134600" y="40957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13조 5항</a:t>
            </a:r>
          </a:p>
        </p:txBody>
      </p:sp>
      <p:sp>
        <p:nvSpPr>
          <p:cNvPr id="34" name="Rectangle 33"/>
          <p:cNvSpPr/>
          <p:nvPr/>
        </p:nvSpPr>
        <p:spPr>
          <a:xfrm>
            <a:off x="6438900" y="488156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534150" y="449580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M33</a:t>
            </a:r>
          </a:p>
        </p:txBody>
      </p:sp>
      <p:sp>
        <p:nvSpPr>
          <p:cNvPr id="36" name="TextBox 35"/>
          <p:cNvSpPr txBox="1"/>
          <p:nvPr/>
        </p:nvSpPr>
        <p:spPr>
          <a:xfrm>
            <a:off x="7334250" y="449580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대신 철회 못 함</a:t>
            </a:r>
          </a:p>
        </p:txBody>
      </p:sp>
      <p:sp>
        <p:nvSpPr>
          <p:cNvPr id="37" name="TextBox 36"/>
          <p:cNvSpPr txBox="1"/>
          <p:nvPr/>
        </p:nvSpPr>
        <p:spPr>
          <a:xfrm>
            <a:off x="10134600" y="449580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17조</a:t>
            </a:r>
          </a:p>
        </p:txBody>
      </p:sp>
      <p:sp>
        <p:nvSpPr>
          <p:cNvPr id="38" name="Rectangle 37"/>
          <p:cNvSpPr/>
          <p:nvPr/>
        </p:nvSpPr>
        <p:spPr>
          <a:xfrm>
            <a:off x="6438900" y="5281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534150" y="4895850"/>
            <a:ext cx="666750" cy="40005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M35</a:t>
            </a:r>
          </a:p>
        </p:txBody>
      </p:sp>
      <p:sp>
        <p:nvSpPr>
          <p:cNvPr id="40" name="TextBox 39"/>
          <p:cNvSpPr txBox="1"/>
          <p:nvPr/>
        </p:nvSpPr>
        <p:spPr>
          <a:xfrm>
            <a:off x="7334250" y="4895850"/>
            <a:ext cx="26670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본인 동의 없이 불가</a:t>
            </a:r>
          </a:p>
        </p:txBody>
      </p:sp>
      <p:sp>
        <p:nvSpPr>
          <p:cNvPr id="41" name="TextBox 40"/>
          <p:cNvSpPr txBox="1"/>
          <p:nvPr/>
        </p:nvSpPr>
        <p:spPr>
          <a:xfrm>
            <a:off x="10134600" y="4895850"/>
            <a:ext cx="1104900" cy="40005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19조</a:t>
            </a:r>
          </a:p>
        </p:txBody>
      </p:sp>
      <p:sp>
        <p:nvSpPr>
          <p:cNvPr id="42" name="Rounded Rectangle 41"/>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M16 답장이 '한 번 더 결석하면 F'라고 하는가?</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실제 화면 · 115–150분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51</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3 · 실제 화면 · Gemini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이번에는 M16을 맞게 계산했습니다</a:t>
            </a:r>
          </a:p>
        </p:txBody>
      </p:sp>
      <p:pic>
        <p:nvPicPr>
          <p:cNvPr id="7" name="Picture 6" descr="gm-43-m11m16.png"/>
          <p:cNvPicPr>
            <a:picLocks noChangeAspect="1"/>
          </p:cNvPicPr>
          <p:nvPr/>
        </p:nvPicPr>
        <p:blipFill>
          <a:blip r:embed="rId4"/>
          <a:stretch>
            <a:fillRect/>
          </a:stretch>
        </p:blipFill>
        <p:spPr>
          <a:xfrm>
            <a:off x="685800" y="1619250"/>
            <a:ext cx="6667500" cy="3580694"/>
          </a:xfrm>
          <a:prstGeom prst="rect">
            <a:avLst/>
          </a:prstGeom>
          <a:ln w="9525">
            <a:solidFill>
              <a:srgbClr val="C9CCC0"/>
            </a:solidFill>
          </a:ln>
        </p:spPr>
      </p:pic>
      <p:sp>
        <p:nvSpPr>
          <p:cNvPr id="8" name="TextBox 7"/>
          <p:cNvSpPr txBox="1"/>
          <p:nvPr/>
        </p:nvSpPr>
        <p:spPr>
          <a:xfrm>
            <a:off x="7734300" y="1638300"/>
            <a:ext cx="3771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M16 맞음</a:t>
            </a:r>
          </a:p>
        </p:txBody>
      </p:sp>
      <p:sp>
        <p:nvSpPr>
          <p:cNvPr id="9" name="TextBox 8"/>
          <p:cNvSpPr txBox="1"/>
          <p:nvPr/>
        </p:nvSpPr>
        <p:spPr>
          <a:xfrm>
            <a:off x="7734300" y="2057400"/>
            <a:ext cx="377190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지각 3회 = 결석 1회</a:t>
            </a:r>
            <a:br/>
            <a:r>
              <a:rPr sz="1800" b="0" spc="-36" lang="ko-KR" altLang="en-US">
                <a:solidFill>
                  <a:srgbClr val="202921"/>
                </a:solidFill>
                <a:latin typeface="Noto Sans KR"/>
                <a:ea typeface="Noto Sans KR"/>
                <a:cs typeface="Noto Sans KR"/>
              </a:rPr>
              <a:t>→ 지금 7회, 한 번 더면 F</a:t>
            </a:r>
          </a:p>
        </p:txBody>
      </p:sp>
      <p:sp>
        <p:nvSpPr>
          <p:cNvPr id="10" name="TextBox 9"/>
          <p:cNvSpPr txBox="1"/>
          <p:nvPr/>
        </p:nvSpPr>
        <p:spPr>
          <a:xfrm>
            <a:off x="7734300" y="3143250"/>
            <a:ext cx="3771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M23 남김</a:t>
            </a:r>
          </a:p>
        </p:txBody>
      </p:sp>
      <p:sp>
        <p:nvSpPr>
          <p:cNvPr id="11" name="TextBox 10"/>
          <p:cNvSpPr txBox="1"/>
          <p:nvPr/>
        </p:nvSpPr>
        <p:spPr>
          <a:xfrm>
            <a:off x="7734300" y="3562350"/>
            <a:ext cx="377190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'학과 확인 필요'로</a:t>
            </a:r>
            <a:br/>
            <a:r>
              <a:rPr sz="1800" b="0" spc="-36" lang="ko-KR" altLang="en-US">
                <a:solidFill>
                  <a:srgbClr val="202921"/>
                </a:solidFill>
                <a:latin typeface="Noto Sans KR"/>
                <a:ea typeface="Noto Sans KR"/>
                <a:cs typeface="Noto Sans KR"/>
              </a:rPr>
              <a:t>교수 혼자 정하지 않음</a:t>
            </a:r>
          </a:p>
        </p:txBody>
      </p:sp>
      <p:sp>
        <p:nvSpPr>
          <p:cNvPr id="12" name="TextBox 11"/>
          <p:cNvSpPr txBox="1"/>
          <p:nvPr/>
        </p:nvSpPr>
        <p:spPr>
          <a:xfrm>
            <a:off x="685800" y="5715000"/>
            <a:ext cx="10820400" cy="571500"/>
          </a:xfrm>
          <a:prstGeom prst="rect">
            <a:avLst/>
          </a:prstGeom>
          <a:noFill/>
        </p:spPr>
        <p:txBody>
          <a:bodyPr wrap="square" lIns="0" tIns="0" rIns="0" bIns="0" anchor="t"/>
          <a:lstStyle/>
          <a:p>
            <a:pPr algn="l" latinLnBrk="0" eaLnBrk="1">
              <a:lnSpc>
                <a:spcPct val="100000"/>
              </a:lnSpc>
            </a:pPr>
            <a:r>
              <a:rPr sz="2100" b="1" spc="-42" lang="ko-KR" altLang="en-US">
                <a:solidFill>
                  <a:srgbClr val="EA5936"/>
                </a:solidFill>
                <a:latin typeface="Noto Sans KR"/>
                <a:ea typeface="Noto Sans KR"/>
                <a:cs typeface="Noto Sans KR"/>
              </a:rPr>
              <a:t>→ </a:t>
            </a:r>
            <a:r>
              <a:rPr sz="2100" b="1" spc="-42" lang="ko-KR" altLang="en-US">
                <a:solidFill>
                  <a:srgbClr val="202921"/>
                </a:solidFill>
                <a:latin typeface="Noto Sans KR"/>
                <a:ea typeface="Noto Sans KR"/>
                <a:cs typeface="Noto Sans KR"/>
              </a:rPr>
              <a:t>이번에는 맞았지만, 계산이 든 답장은 직접 한 번 셉니다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Gemini · 115–150분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52</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C8431F"/>
                </a:solidFill>
                <a:latin typeface="Noto Sans KR"/>
                <a:ea typeface="Noto Sans KR"/>
                <a:cs typeface="Noto Sans KR"/>
              </a:rPr>
              <a:t>AI가 여기서 틀렸다 · 재현 예시</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지각을 결석으로 바꾸는 계산에서 AI가 틀립니다</a:t>
            </a:r>
          </a:p>
        </p:txBody>
      </p:sp>
      <p:sp>
        <p:nvSpPr>
          <p:cNvPr id="7" name="Rounded Rectangle 6"/>
          <p:cNvSpPr/>
          <p:nvPr/>
        </p:nvSpPr>
        <p:spPr>
          <a:xfrm>
            <a:off x="685800" y="1962150"/>
            <a:ext cx="5295900" cy="2971800"/>
          </a:xfrm>
          <a:prstGeom prst="roundRect">
            <a:avLst>
              <a:gd name="adj" fmla="val 128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답 · M16 답장</a:t>
            </a:r>
          </a:p>
        </p:txBody>
      </p:sp>
      <p:sp>
        <p:nvSpPr>
          <p:cNvPr id="9" name="TextBox 8"/>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지금 결석 6회이므로</a:t>
            </a:r>
            <a:br/>
            <a:r>
              <a:rPr sz="2100" b="1" spc="-42" lang="ko-KR" altLang="en-US">
                <a:solidFill>
                  <a:srgbClr val="202921"/>
                </a:solidFill>
                <a:highlight>
                  <a:srgbClr val="F6CDBE"/>
                </a:highlight>
                <a:latin typeface="Noto Sans KR"/>
                <a:ea typeface="Noto Sans KR"/>
                <a:cs typeface="Noto Sans KR"/>
              </a:rPr>
              <a:t>한 번 더 결석해도 F가 아닙니다.</a:t>
            </a:r>
          </a:p>
        </p:txBody>
      </p:sp>
      <p:sp>
        <p:nvSpPr>
          <p:cNvPr id="10" name="Rounded Rectangle 9"/>
          <p:cNvSpPr/>
          <p:nvPr/>
        </p:nvSpPr>
        <p:spPr>
          <a:xfrm>
            <a:off x="6210300" y="1962150"/>
            <a:ext cx="5295900" cy="2971800"/>
          </a:xfrm>
          <a:prstGeom prst="roundRect">
            <a:avLst>
              <a:gd name="adj" fmla="val 128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원문 · 학칙 제12조 · M16</a:t>
            </a:r>
          </a:p>
        </p:txBody>
      </p:sp>
      <p:sp>
        <p:nvSpPr>
          <p:cNvPr id="12" name="TextBox 11"/>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M16: 결석 6번, </a:t>
            </a:r>
            <a:r>
              <a:rPr sz="2100" b="0" spc="-42" lang="ko-KR" altLang="en-US">
                <a:solidFill>
                  <a:srgbClr val="202921"/>
                </a:solidFill>
                <a:highlight>
                  <a:srgbClr val="DCE3D3"/>
                </a:highlight>
                <a:latin typeface="Noto Sans KR"/>
                <a:ea typeface="Noto Sans KR"/>
                <a:cs typeface="Noto Sans KR"/>
              </a:rPr>
              <a:t>지각 3번</a:t>
            </a:r>
            <a:br/>
            <a:r>
              <a:rPr sz="2100" b="0" spc="-42" lang="ko-KR" altLang="en-US">
                <a:solidFill>
                  <a:srgbClr val="202921"/>
                </a:solidFill>
                <a:latin typeface="Noto Sans KR"/>
                <a:ea typeface="Noto Sans KR"/>
                <a:cs typeface="Noto Sans KR"/>
              </a:rPr>
              <a:t>제12조 3항: 지각 3회는 결석 1회</a:t>
            </a:r>
            <a:br/>
            <a:r>
              <a:rPr sz="2100" b="0" spc="-42" lang="ko-KR" altLang="en-US">
                <a:solidFill>
                  <a:srgbClr val="202921"/>
                </a:solidFill>
                <a:latin typeface="Noto Sans KR"/>
                <a:ea typeface="Noto Sans KR"/>
                <a:cs typeface="Noto Sans KR"/>
              </a:rPr>
              <a:t>2항: </a:t>
            </a:r>
            <a:r>
              <a:rPr sz="2100" b="0" spc="-42" lang="ko-KR" altLang="en-US">
                <a:solidFill>
                  <a:srgbClr val="202921"/>
                </a:solidFill>
                <a:highlight>
                  <a:srgbClr val="DCE3D3"/>
                </a:highlight>
                <a:latin typeface="Noto Sans KR"/>
                <a:ea typeface="Noto Sans KR"/>
                <a:cs typeface="Noto Sans KR"/>
              </a:rPr>
              <a:t>결석 8회가 되면 F</a:t>
            </a:r>
          </a:p>
        </p:txBody>
      </p:sp>
      <p:sp>
        <p:nvSpPr>
          <p:cNvPr id="13" name="TextBox 12"/>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C8431F"/>
                </a:solidFill>
                <a:latin typeface="Noto Sans KR"/>
                <a:ea typeface="Noto Sans KR"/>
                <a:cs typeface="Noto Sans KR"/>
              </a:rPr>
              <a:t>→ </a:t>
            </a:r>
            <a:r>
              <a:rPr sz="2400" b="1" spc="-48" lang="ko-KR" altLang="en-US">
                <a:solidFill>
                  <a:srgbClr val="202921"/>
                </a:solidFill>
                <a:latin typeface="Noto Sans KR"/>
                <a:ea typeface="Noto Sans KR"/>
                <a:cs typeface="Noto Sans KR"/>
              </a:rPr>
              <a:t>지금 이미 7회입니다. 계산이 든 답장은 직접 셉니다.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3 · 정답 기준 · 147–150분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53</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정답 기준 · 해설 1-4</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조항 번호로 답하고, 판단할 건은 학과장에게 넘깁니다</a:t>
            </a:r>
          </a:p>
        </p:txBody>
      </p:sp>
      <p:sp>
        <p:nvSpPr>
          <p:cNvPr id="7" name="Rounded Rectangle 6"/>
          <p:cNvSpPr/>
          <p:nvPr/>
        </p:nvSpPr>
        <p:spPr>
          <a:xfrm>
            <a:off x="685800" y="2038350"/>
            <a:ext cx="10820400" cy="895350"/>
          </a:xfrm>
          <a:prstGeom prst="roundRect">
            <a:avLst>
              <a:gd name="adj" fmla="val 4255"/>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95350" y="2247900"/>
            <a:ext cx="914400" cy="476250"/>
          </a:xfrm>
          <a:prstGeom prst="roundRect">
            <a:avLst>
              <a:gd name="adj" fmla="val 8000"/>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5350" y="22479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DF7"/>
                </a:solidFill>
                <a:latin typeface="Noto Sans KR"/>
                <a:ea typeface="Noto Sans KR"/>
                <a:cs typeface="Noto Sans KR"/>
              </a:rPr>
              <a:t>M23</a:t>
            </a:r>
          </a:p>
        </p:txBody>
      </p:sp>
      <p:sp>
        <p:nvSpPr>
          <p:cNvPr id="10" name="TextBox 9"/>
          <p:cNvSpPr txBox="1"/>
          <p:nvPr/>
        </p:nvSpPr>
        <p:spPr>
          <a:xfrm>
            <a:off x="2076450" y="20383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서류 기한이 지남 → 학과장 확인 필요</a:t>
            </a:r>
          </a:p>
        </p:txBody>
      </p:sp>
      <p:sp>
        <p:nvSpPr>
          <p:cNvPr id="11" name="TextBox 10"/>
          <p:cNvSpPr txBox="1"/>
          <p:nvPr/>
        </p:nvSpPr>
        <p:spPr>
          <a:xfrm>
            <a:off x="9410700" y="20383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202921"/>
                </a:solidFill>
                <a:latin typeface="Noto Sans KR"/>
                <a:ea typeface="Noto Sans KR"/>
                <a:cs typeface="Noto Sans KR"/>
              </a:rPr>
              <a:t>제13조 5항</a:t>
            </a:r>
          </a:p>
        </p:txBody>
      </p:sp>
      <p:sp>
        <p:nvSpPr>
          <p:cNvPr id="12" name="Rounded Rectangle 11"/>
          <p:cNvSpPr/>
          <p:nvPr/>
        </p:nvSpPr>
        <p:spPr>
          <a:xfrm>
            <a:off x="685800" y="3067050"/>
            <a:ext cx="10820400" cy="895350"/>
          </a:xfrm>
          <a:prstGeom prst="roundRect">
            <a:avLst>
              <a:gd name="adj" fmla="val 4255"/>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95350" y="3276600"/>
            <a:ext cx="914400" cy="476250"/>
          </a:xfrm>
          <a:prstGeom prst="roundRect">
            <a:avLst>
              <a:gd name="adj" fmla="val 8000"/>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5350" y="32766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DF7"/>
                </a:solidFill>
                <a:latin typeface="Noto Sans KR"/>
                <a:ea typeface="Noto Sans KR"/>
                <a:cs typeface="Noto Sans KR"/>
              </a:rPr>
              <a:t>M33</a:t>
            </a:r>
          </a:p>
        </p:txBody>
      </p:sp>
      <p:sp>
        <p:nvSpPr>
          <p:cNvPr id="15" name="TextBox 14"/>
          <p:cNvSpPr txBox="1"/>
          <p:nvPr/>
        </p:nvSpPr>
        <p:spPr>
          <a:xfrm>
            <a:off x="2076450" y="30670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철회 마감 뒤 → 교수가 대신 못 함</a:t>
            </a:r>
          </a:p>
        </p:txBody>
      </p:sp>
      <p:sp>
        <p:nvSpPr>
          <p:cNvPr id="16" name="TextBox 15"/>
          <p:cNvSpPr txBox="1"/>
          <p:nvPr/>
        </p:nvSpPr>
        <p:spPr>
          <a:xfrm>
            <a:off x="9410700" y="30670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202921"/>
                </a:solidFill>
                <a:latin typeface="Noto Sans KR"/>
                <a:ea typeface="Noto Sans KR"/>
                <a:cs typeface="Noto Sans KR"/>
              </a:rPr>
              <a:t>제17조</a:t>
            </a:r>
          </a:p>
        </p:txBody>
      </p:sp>
      <p:sp>
        <p:nvSpPr>
          <p:cNvPr id="17" name="Rounded Rectangle 16"/>
          <p:cNvSpPr/>
          <p:nvPr/>
        </p:nvSpPr>
        <p:spPr>
          <a:xfrm>
            <a:off x="685800" y="4095750"/>
            <a:ext cx="10820400" cy="895350"/>
          </a:xfrm>
          <a:prstGeom prst="roundRect">
            <a:avLst>
              <a:gd name="adj" fmla="val 4255"/>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95350" y="4305300"/>
            <a:ext cx="914400" cy="476250"/>
          </a:xfrm>
          <a:prstGeom prst="roundRect">
            <a:avLst>
              <a:gd name="adj" fmla="val 8000"/>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5350" y="43053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DF7"/>
                </a:solidFill>
                <a:latin typeface="Noto Sans KR"/>
                <a:ea typeface="Noto Sans KR"/>
                <a:cs typeface="Noto Sans KR"/>
              </a:rPr>
              <a:t>M35</a:t>
            </a:r>
          </a:p>
        </p:txBody>
      </p:sp>
      <p:sp>
        <p:nvSpPr>
          <p:cNvPr id="20" name="TextBox 19"/>
          <p:cNvSpPr txBox="1"/>
          <p:nvPr/>
        </p:nvSpPr>
        <p:spPr>
          <a:xfrm>
            <a:off x="2076450" y="40957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보호자 문의 → 본인 동의 없이 불가</a:t>
            </a:r>
          </a:p>
        </p:txBody>
      </p:sp>
      <p:sp>
        <p:nvSpPr>
          <p:cNvPr id="21" name="TextBox 20"/>
          <p:cNvSpPr txBox="1"/>
          <p:nvPr/>
        </p:nvSpPr>
        <p:spPr>
          <a:xfrm>
            <a:off x="9410700" y="40957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202921"/>
                </a:solidFill>
                <a:latin typeface="Noto Sans KR"/>
                <a:ea typeface="Noto Sans KR"/>
                <a:cs typeface="Noto Sans KR"/>
              </a:rPr>
              <a:t>제19조</a:t>
            </a:r>
          </a:p>
        </p:txBody>
      </p:sp>
      <p:sp>
        <p:nvSpPr>
          <p:cNvPr id="22" name="Rounded Rectangle 21"/>
          <p:cNvSpPr/>
          <p:nvPr/>
        </p:nvSpPr>
        <p:spPr>
          <a:xfrm>
            <a:off x="685800" y="5124450"/>
            <a:ext cx="10820400" cy="895350"/>
          </a:xfrm>
          <a:prstGeom prst="roundRect">
            <a:avLst>
              <a:gd name="adj" fmla="val 4255"/>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95350" y="5334000"/>
            <a:ext cx="914400" cy="476250"/>
          </a:xfrm>
          <a:prstGeom prst="roundRect">
            <a:avLst>
              <a:gd name="adj" fmla="val 8000"/>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5350" y="5334000"/>
            <a:ext cx="914400" cy="476250"/>
          </a:xfrm>
          <a:prstGeom prst="rect">
            <a:avLst/>
          </a:prstGeom>
          <a:noFill/>
        </p:spPr>
        <p:txBody>
          <a:bodyPr wrap="square" lIns="0" tIns="0" rIns="0" bIns="0" anchor="ctr"/>
          <a:lstStyle/>
          <a:p>
            <a:pPr algn="ctr" latinLnBrk="0" eaLnBrk="1">
              <a:lnSpc>
                <a:spcPct val="100000"/>
              </a:lnSpc>
            </a:pPr>
            <a:r>
              <a:rPr sz="1800" b="1" spc="-36" lang="ko-KR" altLang="en-US">
                <a:solidFill>
                  <a:srgbClr val="FFFDF7"/>
                </a:solidFill>
                <a:latin typeface="Noto Sans KR"/>
                <a:ea typeface="Noto Sans KR"/>
                <a:cs typeface="Noto Sans KR"/>
              </a:rPr>
              <a:t>M11</a:t>
            </a:r>
          </a:p>
        </p:txBody>
      </p:sp>
      <p:sp>
        <p:nvSpPr>
          <p:cNvPr id="25" name="TextBox 24"/>
          <p:cNvSpPr txBox="1"/>
          <p:nvPr/>
        </p:nvSpPr>
        <p:spPr>
          <a:xfrm>
            <a:off x="2076450" y="5124450"/>
            <a:ext cx="7239000" cy="895350"/>
          </a:xfrm>
          <a:prstGeom prst="rect">
            <a:avLst/>
          </a:prstGeom>
          <a:noFill/>
        </p:spPr>
        <p:txBody>
          <a:bodyPr wrap="square" lIns="0" tIns="0" rIns="0" bIns="0" anchor="ctr"/>
          <a:lstStyle/>
          <a:p>
            <a:pPr algn="l" latinLnBrk="0" eaLnBrk="1">
              <a:lnSpc>
                <a:spcPct val="110000"/>
              </a:lnSpc>
            </a:pPr>
            <a:r>
              <a:rPr sz="2100" b="0" spc="-42" lang="ko-KR" altLang="en-US">
                <a:solidFill>
                  <a:srgbClr val="202921"/>
                </a:solidFill>
                <a:latin typeface="Noto Sans KR"/>
                <a:ea typeface="Noto Sans KR"/>
                <a:cs typeface="Noto Sans KR"/>
              </a:rPr>
              <a:t>외래 진료 → 공결 아님, 사유 기록</a:t>
            </a:r>
          </a:p>
        </p:txBody>
      </p:sp>
      <p:sp>
        <p:nvSpPr>
          <p:cNvPr id="26" name="TextBox 25"/>
          <p:cNvSpPr txBox="1"/>
          <p:nvPr/>
        </p:nvSpPr>
        <p:spPr>
          <a:xfrm>
            <a:off x="9410700" y="5124450"/>
            <a:ext cx="1866900" cy="895350"/>
          </a:xfrm>
          <a:prstGeom prst="rect">
            <a:avLst/>
          </a:prstGeom>
          <a:noFill/>
        </p:spPr>
        <p:txBody>
          <a:bodyPr wrap="square" lIns="0" tIns="0" rIns="0" bIns="0" anchor="ctr"/>
          <a:lstStyle/>
          <a:p>
            <a:pPr algn="r" latinLnBrk="0" eaLnBrk="1">
              <a:lnSpc>
                <a:spcPct val="100000"/>
              </a:lnSpc>
            </a:pPr>
            <a:r>
              <a:rPr sz="1950" b="1" spc="-39" lang="ko-KR" altLang="en-US">
                <a:solidFill>
                  <a:srgbClr val="202921"/>
                </a:solidFill>
                <a:latin typeface="Noto Sans KR"/>
                <a:ea typeface="Noto Sans KR"/>
                <a:cs typeface="Noto Sans KR"/>
              </a:rPr>
              <a:t>제13조 2항</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02921"/>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C1C9BE"/>
                </a:solidFill>
                <a:latin typeface="Noto Sans KR"/>
                <a:ea typeface="Noto Sans KR"/>
                <a:cs typeface="Noto Sans KR"/>
              </a:rPr>
              <a:t>AI·표절 의심 과제 · 150–170분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F4F1E9"/>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C1C9BE"/>
                </a:solidFill>
                <a:latin typeface="Noto Sans KR"/>
                <a:ea typeface="Noto Sans KR"/>
                <a:cs typeface="Noto Sans KR"/>
              </a:rPr>
              <a:t>54</a:t>
            </a:r>
          </a:p>
        </p:txBody>
      </p:sp>
      <p:sp>
        <p:nvSpPr>
          <p:cNvPr id="5" name="TextBox 4"/>
          <p:cNvSpPr txBox="1"/>
          <p:nvPr/>
        </p:nvSpPr>
        <p:spPr>
          <a:xfrm>
            <a:off x="685800" y="609600"/>
            <a:ext cx="7239000" cy="34290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마지막 실습 · 150–170분 · 과제 검토</a:t>
            </a:r>
          </a:p>
        </p:txBody>
      </p:sp>
      <p:sp>
        <p:nvSpPr>
          <p:cNvPr id="6" name="TextBox 5"/>
          <p:cNvSpPr txBox="1"/>
          <p:nvPr/>
        </p:nvSpPr>
        <p:spPr>
          <a:xfrm>
            <a:off x="685800" y="1428750"/>
            <a:ext cx="7239000" cy="1047750"/>
          </a:xfrm>
          <a:prstGeom prst="rect">
            <a:avLst/>
          </a:prstGeom>
          <a:noFill/>
        </p:spPr>
        <p:txBody>
          <a:bodyPr wrap="square" lIns="0" tIns="0" rIns="0" bIns="0" anchor="t"/>
          <a:lstStyle/>
          <a:p>
            <a:pPr algn="l" latinLnBrk="0" eaLnBrk="1">
              <a:lnSpc>
                <a:spcPct val="100000"/>
              </a:lnSpc>
            </a:pPr>
            <a:r>
              <a:rPr sz="6600" b="1" spc="-132" lang="ko-KR" altLang="en-US">
                <a:solidFill>
                  <a:srgbClr val="FFFDF7"/>
                </a:solidFill>
                <a:latin typeface="Noto Sans KR"/>
                <a:ea typeface="Noto Sans KR"/>
                <a:cs typeface="Noto Sans KR"/>
              </a:rPr>
              <a:t>과제 검토</a:t>
            </a:r>
          </a:p>
        </p:txBody>
      </p:sp>
      <p:sp>
        <p:nvSpPr>
          <p:cNvPr id="7" name="TextBox 6"/>
          <p:cNvSpPr txBox="1"/>
          <p:nvPr/>
        </p:nvSpPr>
        <p:spPr>
          <a:xfrm>
            <a:off x="685800" y="2495550"/>
            <a:ext cx="7239000" cy="533400"/>
          </a:xfrm>
          <a:prstGeom prst="rect">
            <a:avLst/>
          </a:prstGeom>
          <a:noFill/>
        </p:spPr>
        <p:txBody>
          <a:bodyPr wrap="square" lIns="0" tIns="0" rIns="0" bIns="0" anchor="t"/>
          <a:lstStyle/>
          <a:p>
            <a:pPr algn="l" latinLnBrk="0" eaLnBrk="1">
              <a:lnSpc>
                <a:spcPct val="100000"/>
              </a:lnSpc>
            </a:pPr>
            <a:r>
              <a:rPr sz="3000" b="1" spc="-60" lang="ko-KR" altLang="en-US">
                <a:solidFill>
                  <a:srgbClr val="FFFDF7"/>
                </a:solidFill>
                <a:latin typeface="Noto Sans KR"/>
                <a:ea typeface="Noto Sans KR"/>
                <a:cs typeface="Noto Sans KR"/>
              </a:rPr>
              <a:t>AI·표절 의심 과제</a:t>
            </a:r>
          </a:p>
        </p:txBody>
      </p:sp>
      <p:sp>
        <p:nvSpPr>
          <p:cNvPr id="8" name="TextBox 7"/>
          <p:cNvSpPr txBox="1"/>
          <p:nvPr/>
        </p:nvSpPr>
        <p:spPr>
          <a:xfrm>
            <a:off x="685800" y="3409950"/>
            <a:ext cx="6286500" cy="1333500"/>
          </a:xfrm>
          <a:prstGeom prst="rect">
            <a:avLst/>
          </a:prstGeom>
          <a:noFill/>
        </p:spPr>
        <p:txBody>
          <a:bodyPr wrap="square" lIns="0" tIns="0" rIns="0" bIns="0" anchor="t"/>
          <a:lstStyle/>
          <a:p>
            <a:pPr algn="l" latinLnBrk="0" eaLnBrk="1">
              <a:lnSpc>
                <a:spcPct val="140000"/>
              </a:lnSpc>
            </a:pPr>
            <a:r>
              <a:rPr sz="2250" b="0" spc="-45" lang="ko-KR" altLang="en-US">
                <a:solidFill>
                  <a:srgbClr val="FFFDF7"/>
                </a:solidFill>
                <a:latin typeface="Noto Sans KR"/>
                <a:ea typeface="Noto Sans KR"/>
                <a:cs typeface="Noto Sans KR"/>
              </a:rPr>
              <a:t>점수 대신 근거를 모읍니다.</a:t>
            </a:r>
            <a:br/>
            <a:r>
              <a:rPr sz="2250" b="0" spc="-45" lang="ko-KR" altLang="en-US">
                <a:solidFill>
                  <a:srgbClr val="FFFDF7"/>
                </a:solidFill>
                <a:latin typeface="Noto Sans KR"/>
                <a:ea typeface="Noto Sans KR"/>
                <a:cs typeface="Noto Sans KR"/>
              </a:rPr>
              <a:t>판정은 교수님과 학교 절차가.</a:t>
            </a:r>
          </a:p>
        </p:txBody>
      </p:sp>
      <p:sp>
        <p:nvSpPr>
          <p:cNvPr id="9" name="Rounded Rectangle 8"/>
          <p:cNvSpPr/>
          <p:nvPr/>
        </p:nvSpPr>
        <p:spPr>
          <a:xfrm>
            <a:off x="7810500" y="1428750"/>
            <a:ext cx="3695700" cy="3619500"/>
          </a:xfrm>
          <a:prstGeom prst="roundRect">
            <a:avLst>
              <a:gd name="adj" fmla="val 1052"/>
            </a:avLst>
          </a:prstGeom>
          <a:solidFill>
            <a:srgbClr val="2C3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15300" y="1695450"/>
            <a:ext cx="3143250" cy="323850"/>
          </a:xfrm>
          <a:prstGeom prst="rect">
            <a:avLst/>
          </a:prstGeom>
          <a:noFill/>
        </p:spPr>
        <p:txBody>
          <a:bodyPr wrap="square" lIns="0" tIns="0" rIns="0" bIns="0" anchor="t"/>
          <a:lstStyle/>
          <a:p>
            <a:pPr algn="l" latinLnBrk="0" eaLnBrk="1">
              <a:lnSpc>
                <a:spcPct val="100000"/>
              </a:lnSpc>
            </a:pPr>
            <a:r>
              <a:rPr sz="1800" b="1" spc="-36" lang="ko-KR" altLang="en-US">
                <a:solidFill>
                  <a:srgbClr val="FFFDF7"/>
                </a:solidFill>
                <a:latin typeface="Noto Sans KR"/>
                <a:ea typeface="Noto Sans KR"/>
                <a:cs typeface="Noto Sans KR"/>
              </a:rPr>
              <a:t>이 시간에 할 일</a:t>
            </a:r>
          </a:p>
        </p:txBody>
      </p:sp>
      <p:sp>
        <p:nvSpPr>
          <p:cNvPr id="11" name="Oval 10"/>
          <p:cNvSpPr/>
          <p:nvPr/>
        </p:nvSpPr>
        <p:spPr>
          <a:xfrm>
            <a:off x="8115300" y="22860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15300" y="22860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1</a:t>
            </a:r>
          </a:p>
        </p:txBody>
      </p:sp>
      <p:sp>
        <p:nvSpPr>
          <p:cNvPr id="13" name="TextBox 12"/>
          <p:cNvSpPr txBox="1"/>
          <p:nvPr/>
        </p:nvSpPr>
        <p:spPr>
          <a:xfrm>
            <a:off x="8667750" y="22479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'AI가 썼나요?' 물어보기</a:t>
            </a:r>
          </a:p>
        </p:txBody>
      </p:sp>
      <p:sp>
        <p:nvSpPr>
          <p:cNvPr id="14" name="Oval 13"/>
          <p:cNvSpPr/>
          <p:nvPr/>
        </p:nvSpPr>
        <p:spPr>
          <a:xfrm>
            <a:off x="8115300" y="32004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15300" y="32004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2</a:t>
            </a:r>
          </a:p>
        </p:txBody>
      </p:sp>
      <p:sp>
        <p:nvSpPr>
          <p:cNvPr id="16" name="TextBox 15"/>
          <p:cNvSpPr txBox="1"/>
          <p:nvPr/>
        </p:nvSpPr>
        <p:spPr>
          <a:xfrm>
            <a:off x="8667750" y="31623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근거 대조표 만들기</a:t>
            </a:r>
          </a:p>
        </p:txBody>
      </p:sp>
      <p:sp>
        <p:nvSpPr>
          <p:cNvPr id="17" name="Oval 16"/>
          <p:cNvSpPr/>
          <p:nvPr/>
        </p:nvSpPr>
        <p:spPr>
          <a:xfrm>
            <a:off x="8115300" y="4114800"/>
            <a:ext cx="400050" cy="400050"/>
          </a:xfrm>
          <a:prstGeom prst="ellipse">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15300" y="4114800"/>
            <a:ext cx="400050" cy="400050"/>
          </a:xfrm>
          <a:prstGeom prst="rect">
            <a:avLst/>
          </a:prstGeom>
          <a:noFill/>
        </p:spPr>
        <p:txBody>
          <a:bodyPr wrap="square" lIns="0" tIns="0" rIns="0" bIns="0" anchor="ctr"/>
          <a:lstStyle/>
          <a:p>
            <a:pPr algn="ctr" latinLnBrk="0" eaLnBrk="1">
              <a:lnSpc>
                <a:spcPct val="100000"/>
              </a:lnSpc>
            </a:pPr>
            <a:r>
              <a:rPr sz="1800" b="1" spc="-36" lang="ko-KR" altLang="en-US">
                <a:solidFill>
                  <a:srgbClr val="202921"/>
                </a:solidFill>
                <a:latin typeface="Noto Sans KR"/>
                <a:ea typeface="Noto Sans KR"/>
                <a:cs typeface="Noto Sans KR"/>
              </a:rPr>
              <a:t>3</a:t>
            </a:r>
          </a:p>
        </p:txBody>
      </p:sp>
      <p:sp>
        <p:nvSpPr>
          <p:cNvPr id="19" name="TextBox 18"/>
          <p:cNvSpPr txBox="1"/>
          <p:nvPr/>
        </p:nvSpPr>
        <p:spPr>
          <a:xfrm>
            <a:off x="8667750" y="4076700"/>
            <a:ext cx="2667000" cy="857250"/>
          </a:xfrm>
          <a:prstGeom prst="rect">
            <a:avLst/>
          </a:prstGeom>
          <a:noFill/>
        </p:spPr>
        <p:txBody>
          <a:bodyPr wrap="square" lIns="0" tIns="0" rIns="0" bIns="0" anchor="t"/>
          <a:lstStyle/>
          <a:p>
            <a:pPr algn="l" latinLnBrk="0" eaLnBrk="1">
              <a:lnSpc>
                <a:spcPct val="120000"/>
              </a:lnSpc>
            </a:pPr>
            <a:r>
              <a:rPr sz="2100" b="1" spc="-42" lang="ko-KR" altLang="en-US">
                <a:solidFill>
                  <a:srgbClr val="FFFDF7"/>
                </a:solidFill>
                <a:latin typeface="Noto Sans KR"/>
                <a:ea typeface="Noto Sans KR"/>
                <a:cs typeface="Noto Sans KR"/>
              </a:rPr>
              <a:t>면담 메일 초안</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AI·표절 의심 과제 · 150–170분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55</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실제 자료 · AI 탐지 도구</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 탐지 점수는 판정 근거가 되기 어렵습니다</a:t>
            </a:r>
          </a:p>
        </p:txBody>
      </p:sp>
      <p:sp>
        <p:nvSpPr>
          <p:cNvPr id="7" name="Rounded Rectangle 6"/>
          <p:cNvSpPr/>
          <p:nvPr/>
        </p:nvSpPr>
        <p:spPr>
          <a:xfrm>
            <a:off x="685800" y="1809750"/>
            <a:ext cx="3454400" cy="3143250"/>
          </a:xfrm>
          <a:prstGeom prst="roundRect">
            <a:avLst>
              <a:gd name="adj" fmla="val 121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038350"/>
            <a:ext cx="2882900" cy="952500"/>
          </a:xfrm>
          <a:prstGeom prst="rect">
            <a:avLst/>
          </a:prstGeom>
          <a:noFill/>
        </p:spPr>
        <p:txBody>
          <a:bodyPr wrap="square" lIns="0" tIns="0" rIns="0" bIns="0" anchor="t"/>
          <a:lstStyle/>
          <a:p>
            <a:pPr algn="l" latinLnBrk="0" eaLnBrk="1">
              <a:lnSpc>
                <a:spcPct val="100000"/>
              </a:lnSpc>
            </a:pPr>
            <a:r>
              <a:rPr sz="5400" b="1" spc="-108" lang="ko-KR" altLang="en-US">
                <a:solidFill>
                  <a:srgbClr val="EA5936"/>
                </a:solidFill>
                <a:latin typeface="Noto Sans KR"/>
                <a:ea typeface="Noto Sans KR"/>
                <a:cs typeface="Noto Sans KR"/>
              </a:rPr>
              <a:t>26%</a:t>
            </a:r>
          </a:p>
        </p:txBody>
      </p:sp>
      <p:sp>
        <p:nvSpPr>
          <p:cNvPr id="9" name="TextBox 8"/>
          <p:cNvSpPr txBox="1"/>
          <p:nvPr/>
        </p:nvSpPr>
        <p:spPr>
          <a:xfrm>
            <a:off x="971550" y="3143250"/>
            <a:ext cx="2882900" cy="1619250"/>
          </a:xfrm>
          <a:prstGeom prst="rect">
            <a:avLst/>
          </a:prstGeom>
          <a:noFill/>
        </p:spPr>
        <p:txBody>
          <a:bodyPr wrap="square" lIns="0" tIns="0" rIns="0" bIns="0" anchor="t"/>
          <a:lstStyle/>
          <a:p>
            <a:pPr algn="l" latinLnBrk="0" eaLnBrk="1">
              <a:lnSpc>
                <a:spcPct val="140000"/>
              </a:lnSpc>
            </a:pPr>
            <a:r>
              <a:rPr sz="1950" b="0" spc="-39" lang="ko-KR" altLang="en-US">
                <a:solidFill>
                  <a:srgbClr val="586356"/>
                </a:solidFill>
                <a:latin typeface="Noto Sans KR"/>
                <a:ea typeface="Noto Sans KR"/>
                <a:cs typeface="Noto Sans KR"/>
              </a:rPr>
              <a:t>OpenAI 분류기가 잡은 AI 글.</a:t>
            </a:r>
            <a:br/>
            <a:r>
              <a:rPr sz="1950" b="0" spc="-39" lang="ko-KR" altLang="en-US">
                <a:solidFill>
                  <a:srgbClr val="586356"/>
                </a:solidFill>
                <a:latin typeface="Noto Sans KR"/>
                <a:ea typeface="Noto Sans KR"/>
                <a:cs typeface="Noto Sans KR"/>
              </a:rPr>
              <a:t>사람 글 9%는 AI로 판정.</a:t>
            </a:r>
            <a:br/>
            <a:r>
              <a:rPr sz="1950" b="0" spc="-39" lang="ko-KR" altLang="en-US">
                <a:solidFill>
                  <a:srgbClr val="586356"/>
                </a:solidFill>
                <a:latin typeface="Noto Sans KR"/>
                <a:ea typeface="Noto Sans KR"/>
                <a:cs typeface="Noto Sans KR"/>
              </a:rPr>
              <a:t>2023년 6개월 만에 중단</a:t>
            </a:r>
          </a:p>
        </p:txBody>
      </p:sp>
      <p:sp>
        <p:nvSpPr>
          <p:cNvPr id="10" name="Rounded Rectangle 9"/>
          <p:cNvSpPr/>
          <p:nvPr/>
        </p:nvSpPr>
        <p:spPr>
          <a:xfrm>
            <a:off x="4368800" y="1809750"/>
            <a:ext cx="3454400" cy="3143250"/>
          </a:xfrm>
          <a:prstGeom prst="roundRect">
            <a:avLst>
              <a:gd name="adj" fmla="val 121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54550" y="2038350"/>
            <a:ext cx="2882900" cy="952500"/>
          </a:xfrm>
          <a:prstGeom prst="rect">
            <a:avLst/>
          </a:prstGeom>
          <a:noFill/>
        </p:spPr>
        <p:txBody>
          <a:bodyPr wrap="square" lIns="0" tIns="0" rIns="0" bIns="0" anchor="t"/>
          <a:lstStyle/>
          <a:p>
            <a:pPr algn="l" latinLnBrk="0" eaLnBrk="1">
              <a:lnSpc>
                <a:spcPct val="100000"/>
              </a:lnSpc>
            </a:pPr>
            <a:r>
              <a:rPr sz="4500" b="1" spc="-90" lang="ko-KR" altLang="en-US">
                <a:solidFill>
                  <a:srgbClr val="202921"/>
                </a:solidFill>
                <a:latin typeface="Noto Sans KR"/>
                <a:ea typeface="Noto Sans KR"/>
                <a:cs typeface="Noto Sans KR"/>
              </a:rPr>
              <a:t>14개 모두</a:t>
            </a:r>
          </a:p>
        </p:txBody>
      </p:sp>
      <p:sp>
        <p:nvSpPr>
          <p:cNvPr id="12" name="TextBox 11"/>
          <p:cNvSpPr txBox="1"/>
          <p:nvPr/>
        </p:nvSpPr>
        <p:spPr>
          <a:xfrm>
            <a:off x="4654550" y="3143250"/>
            <a:ext cx="2882900" cy="1619250"/>
          </a:xfrm>
          <a:prstGeom prst="rect">
            <a:avLst/>
          </a:prstGeom>
          <a:noFill/>
        </p:spPr>
        <p:txBody>
          <a:bodyPr wrap="square" lIns="0" tIns="0" rIns="0" bIns="0" anchor="t"/>
          <a:lstStyle/>
          <a:p>
            <a:pPr algn="l" latinLnBrk="0" eaLnBrk="1">
              <a:lnSpc>
                <a:spcPct val="140000"/>
              </a:lnSpc>
            </a:pPr>
            <a:r>
              <a:rPr sz="1950" b="0" spc="-39" lang="ko-KR" altLang="en-US">
                <a:solidFill>
                  <a:srgbClr val="586356"/>
                </a:solidFill>
                <a:latin typeface="Noto Sans KR"/>
                <a:ea typeface="Noto Sans KR"/>
                <a:cs typeface="Noto Sans KR"/>
              </a:rPr>
              <a:t>시험한 탐지 도구 14개</a:t>
            </a:r>
            <a:br/>
            <a:r>
              <a:rPr sz="1950" b="0" spc="-39" lang="ko-KR" altLang="en-US">
                <a:solidFill>
                  <a:srgbClr val="586356"/>
                </a:solidFill>
                <a:latin typeface="Noto Sans KR"/>
                <a:ea typeface="Noto Sans KR"/>
                <a:cs typeface="Noto Sans KR"/>
              </a:rPr>
              <a:t>모두 정확도 80% 미만</a:t>
            </a:r>
            <a:br/>
            <a:r>
              <a:rPr sz="1950" b="0" spc="-39" lang="ko-KR" altLang="en-US">
                <a:solidFill>
                  <a:srgbClr val="586356"/>
                </a:solidFill>
                <a:latin typeface="Noto Sans KR"/>
                <a:ea typeface="Noto Sans KR"/>
                <a:cs typeface="Noto Sans KR"/>
              </a:rPr>
              <a:t>(Weber-Wulff 외 2023)</a:t>
            </a:r>
          </a:p>
        </p:txBody>
      </p:sp>
      <p:sp>
        <p:nvSpPr>
          <p:cNvPr id="13" name="Rounded Rectangle 12"/>
          <p:cNvSpPr/>
          <p:nvPr/>
        </p:nvSpPr>
        <p:spPr>
          <a:xfrm>
            <a:off x="8051800" y="1809750"/>
            <a:ext cx="3454400" cy="3143250"/>
          </a:xfrm>
          <a:prstGeom prst="roundRect">
            <a:avLst>
              <a:gd name="adj" fmla="val 121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37550" y="2038350"/>
            <a:ext cx="2882900" cy="952500"/>
          </a:xfrm>
          <a:prstGeom prst="rect">
            <a:avLst/>
          </a:prstGeom>
          <a:noFill/>
        </p:spPr>
        <p:txBody>
          <a:bodyPr wrap="square" lIns="0" tIns="0" rIns="0" bIns="0" anchor="t"/>
          <a:lstStyle/>
          <a:p>
            <a:pPr algn="l" latinLnBrk="0" eaLnBrk="1">
              <a:lnSpc>
                <a:spcPct val="100000"/>
              </a:lnSpc>
            </a:pPr>
            <a:r>
              <a:rPr sz="5400" b="1" spc="-108" lang="ko-KR" altLang="en-US">
                <a:solidFill>
                  <a:srgbClr val="202921"/>
                </a:solidFill>
                <a:latin typeface="Noto Sans KR"/>
                <a:ea typeface="Noto Sans KR"/>
                <a:cs typeface="Noto Sans KR"/>
              </a:rPr>
              <a:t>61.3%</a:t>
            </a:r>
          </a:p>
        </p:txBody>
      </p:sp>
      <p:sp>
        <p:nvSpPr>
          <p:cNvPr id="15" name="TextBox 14"/>
          <p:cNvSpPr txBox="1"/>
          <p:nvPr/>
        </p:nvSpPr>
        <p:spPr>
          <a:xfrm>
            <a:off x="8337550" y="3143250"/>
            <a:ext cx="2882900" cy="1619250"/>
          </a:xfrm>
          <a:prstGeom prst="rect">
            <a:avLst/>
          </a:prstGeom>
          <a:noFill/>
        </p:spPr>
        <p:txBody>
          <a:bodyPr wrap="square" lIns="0" tIns="0" rIns="0" bIns="0" anchor="t"/>
          <a:lstStyle/>
          <a:p>
            <a:pPr algn="l" latinLnBrk="0" eaLnBrk="1">
              <a:lnSpc>
                <a:spcPct val="140000"/>
              </a:lnSpc>
            </a:pPr>
            <a:r>
              <a:rPr sz="1950" b="0" spc="-39" lang="ko-KR" altLang="en-US">
                <a:solidFill>
                  <a:srgbClr val="586356"/>
                </a:solidFill>
                <a:latin typeface="Noto Sans KR"/>
                <a:ea typeface="Noto Sans KR"/>
                <a:cs typeface="Noto Sans KR"/>
              </a:rPr>
              <a:t>비원어민 TOEFL 에세이를</a:t>
            </a:r>
            <a:br/>
            <a:r>
              <a:rPr sz="1950" b="0" spc="-39" lang="ko-KR" altLang="en-US">
                <a:solidFill>
                  <a:srgbClr val="586356"/>
                </a:solidFill>
                <a:latin typeface="Noto Sans KR"/>
                <a:ea typeface="Noto Sans KR"/>
                <a:cs typeface="Noto Sans KR"/>
              </a:rPr>
              <a:t>AI 글로 잘못 판정</a:t>
            </a:r>
            <a:br/>
            <a:r>
              <a:rPr sz="1950" b="0" spc="-39" lang="ko-KR" altLang="en-US">
                <a:solidFill>
                  <a:srgbClr val="586356"/>
                </a:solidFill>
                <a:latin typeface="Noto Sans KR"/>
                <a:ea typeface="Noto Sans KR"/>
                <a:cs typeface="Noto Sans KR"/>
              </a:rPr>
              <a:t>(Liang 외 2023)</a:t>
            </a:r>
          </a:p>
        </p:txBody>
      </p:sp>
      <p:sp>
        <p:nvSpPr>
          <p:cNvPr id="16" name="Rounded Rectangle 15"/>
          <p:cNvSpPr/>
          <p:nvPr/>
        </p:nvSpPr>
        <p:spPr>
          <a:xfrm>
            <a:off x="685800" y="5143500"/>
            <a:ext cx="10820400" cy="1028700"/>
          </a:xfrm>
          <a:prstGeom prst="roundRect">
            <a:avLst>
              <a:gd name="adj" fmla="val 3703"/>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2500" y="5257800"/>
            <a:ext cx="10287000" cy="800100"/>
          </a:xfrm>
          <a:prstGeom prst="rect">
            <a:avLst/>
          </a:prstGeom>
          <a:noFill/>
        </p:spPr>
        <p:txBody>
          <a:bodyPr wrap="square" lIns="0" tIns="0" rIns="0" bIns="0" anchor="t"/>
          <a:lstStyle/>
          <a:p>
            <a:pPr algn="l" latinLnBrk="0" eaLnBrk="1">
              <a:lnSpc>
                <a:spcPct val="135000"/>
              </a:lnSpc>
            </a:pPr>
            <a:r>
              <a:rPr sz="1950" b="1" spc="-39" lang="ko-KR" altLang="en-US">
                <a:solidFill>
                  <a:srgbClr val="EA5936"/>
                </a:solidFill>
                <a:latin typeface="Noto Sans KR"/>
                <a:ea typeface="Noto Sans KR"/>
                <a:cs typeface="Noto Sans KR"/>
              </a:rPr>
              <a:t>Turnitin 안내  </a:t>
            </a:r>
            <a:r>
              <a:rPr sz="1950" b="1" spc="-39" lang="ko-KR" altLang="en-US">
                <a:solidFill>
                  <a:srgbClr val="202921"/>
                </a:solidFill>
                <a:latin typeface="Noto Sans KR"/>
                <a:ea typeface="Noto Sans KR"/>
                <a:cs typeface="Noto Sans KR"/>
              </a:rPr>
              <a:t>20% 미만 점수는 별표(*)로 '신뢰도 낮음' 표시.</a:t>
            </a:r>
          </a:p>
          <a:p>
            <a:pPr algn="l" latinLnBrk="0" eaLnBrk="1">
              <a:lnSpc>
                <a:spcPct val="135000"/>
              </a:lnSpc>
            </a:pPr>
            <a:r>
              <a:rPr sz="1950" b="0" spc="-39" lang="ko-KR" altLang="en-US">
                <a:solidFill>
                  <a:srgbClr val="586356"/>
                </a:solidFill>
                <a:latin typeface="Noto Sans KR"/>
                <a:ea typeface="Noto Sans KR"/>
                <a:cs typeface="Noto Sans KR"/>
              </a:rPr>
              <a:t>점수만으로 처벌하지 말라고 안내합니다.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AI·표절 의심 과제 · 150–170분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56</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4 · 실제 화면 · 질문 5-1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150" b="1" spc="-63" lang="ko-KR" altLang="en-US">
                <a:solidFill>
                  <a:srgbClr val="202921"/>
                </a:solidFill>
                <a:latin typeface="Noto Sans KR"/>
                <a:ea typeface="Noto Sans KR"/>
                <a:cs typeface="Noto Sans KR"/>
              </a:rPr>
              <a:t>같은 글, 같은 질문: 15%, 10%, 그리고 '말할 수 없다'</a:t>
            </a:r>
          </a:p>
        </p:txBody>
      </p:sp>
      <p:sp>
        <p:nvSpPr>
          <p:cNvPr id="7" name="TextBox 6"/>
          <p:cNvSpPr txBox="1"/>
          <p:nvPr/>
        </p:nvSpPr>
        <p:spPr>
          <a:xfrm>
            <a:off x="685800" y="1619250"/>
            <a:ext cx="6667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Gemini · 첫 대화</a:t>
            </a:r>
          </a:p>
        </p:txBody>
      </p:sp>
      <p:pic>
        <p:nvPicPr>
          <p:cNvPr id="8" name="Picture 7" descr="pct-gm-1.png"/>
          <p:cNvPicPr>
            <a:picLocks noChangeAspect="1"/>
          </p:cNvPicPr>
          <p:nvPr/>
        </p:nvPicPr>
        <p:blipFill>
          <a:blip r:embed="rId4"/>
          <a:stretch>
            <a:fillRect/>
          </a:stretch>
        </p:blipFill>
        <p:spPr>
          <a:xfrm>
            <a:off x="685800" y="1943100"/>
            <a:ext cx="6667500" cy="926042"/>
          </a:xfrm>
          <a:prstGeom prst="rect">
            <a:avLst/>
          </a:prstGeom>
          <a:ln w="9525">
            <a:solidFill>
              <a:srgbClr val="C9CCC0"/>
            </a:solidFill>
          </a:ln>
        </p:spPr>
      </p:pic>
      <p:sp>
        <p:nvSpPr>
          <p:cNvPr id="9" name="TextBox 8"/>
          <p:cNvSpPr txBox="1"/>
          <p:nvPr/>
        </p:nvSpPr>
        <p:spPr>
          <a:xfrm>
            <a:off x="685800" y="3040592"/>
            <a:ext cx="6667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Gemini · 새 대화</a:t>
            </a:r>
          </a:p>
        </p:txBody>
      </p:sp>
      <p:pic>
        <p:nvPicPr>
          <p:cNvPr id="10" name="Picture 9" descr="pct-gm-2.png"/>
          <p:cNvPicPr>
            <a:picLocks noChangeAspect="1"/>
          </p:cNvPicPr>
          <p:nvPr/>
        </p:nvPicPr>
        <p:blipFill>
          <a:blip r:embed="rId5"/>
          <a:stretch>
            <a:fillRect/>
          </a:stretch>
        </p:blipFill>
        <p:spPr>
          <a:xfrm>
            <a:off x="685800" y="3364442"/>
            <a:ext cx="6667500" cy="617361"/>
          </a:xfrm>
          <a:prstGeom prst="rect">
            <a:avLst/>
          </a:prstGeom>
          <a:ln w="9525">
            <a:solidFill>
              <a:srgbClr val="C9CCC0"/>
            </a:solidFill>
          </a:ln>
        </p:spPr>
      </p:pic>
      <p:sp>
        <p:nvSpPr>
          <p:cNvPr id="11" name="TextBox 10"/>
          <p:cNvSpPr txBox="1"/>
          <p:nvPr/>
        </p:nvSpPr>
        <p:spPr>
          <a:xfrm>
            <a:off x="685800" y="4153253"/>
            <a:ext cx="6667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Claude</a:t>
            </a:r>
          </a:p>
        </p:txBody>
      </p:sp>
      <p:pic>
        <p:nvPicPr>
          <p:cNvPr id="12" name="Picture 11" descr="pct-cl.png"/>
          <p:cNvPicPr>
            <a:picLocks noChangeAspect="1"/>
          </p:cNvPicPr>
          <p:nvPr/>
        </p:nvPicPr>
        <p:blipFill>
          <a:blip r:embed="rId6"/>
          <a:stretch>
            <a:fillRect/>
          </a:stretch>
        </p:blipFill>
        <p:spPr>
          <a:xfrm>
            <a:off x="685800" y="4477103"/>
            <a:ext cx="6667500" cy="712063"/>
          </a:xfrm>
          <a:prstGeom prst="rect">
            <a:avLst/>
          </a:prstGeom>
          <a:ln w="9525">
            <a:solidFill>
              <a:srgbClr val="C9CCC0"/>
            </a:solidFill>
          </a:ln>
        </p:spPr>
      </p:pic>
      <p:sp>
        <p:nvSpPr>
          <p:cNvPr id="13" name="TextBox 12"/>
          <p:cNvSpPr txBox="1"/>
          <p:nvPr/>
        </p:nvSpPr>
        <p:spPr>
          <a:xfrm>
            <a:off x="7734300" y="1638300"/>
            <a:ext cx="3771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15% → 10%</a:t>
            </a:r>
          </a:p>
        </p:txBody>
      </p:sp>
      <p:sp>
        <p:nvSpPr>
          <p:cNvPr id="14" name="TextBox 13"/>
          <p:cNvSpPr txBox="1"/>
          <p:nvPr/>
        </p:nvSpPr>
        <p:spPr>
          <a:xfrm>
            <a:off x="7734300" y="2057400"/>
            <a:ext cx="3771900" cy="53340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같은 Gemini, 새 대화</a:t>
            </a:r>
          </a:p>
        </p:txBody>
      </p:sp>
      <p:sp>
        <p:nvSpPr>
          <p:cNvPr id="15" name="TextBox 14"/>
          <p:cNvSpPr txBox="1"/>
          <p:nvPr/>
        </p:nvSpPr>
        <p:spPr>
          <a:xfrm>
            <a:off x="7734300" y="2781300"/>
            <a:ext cx="3771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숫자 없음</a:t>
            </a:r>
          </a:p>
        </p:txBody>
      </p:sp>
      <p:sp>
        <p:nvSpPr>
          <p:cNvPr id="16" name="TextBox 15"/>
          <p:cNvSpPr txBox="1"/>
          <p:nvPr/>
        </p:nvSpPr>
        <p:spPr>
          <a:xfrm>
            <a:off x="7734300" y="3200400"/>
            <a:ext cx="377190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Claude는 '퍼센트로</a:t>
            </a:r>
            <a:br/>
            <a:r>
              <a:rPr sz="1800" b="0" spc="-36" lang="ko-KR" altLang="en-US">
                <a:solidFill>
                  <a:srgbClr val="202921"/>
                </a:solidFill>
                <a:latin typeface="Noto Sans KR"/>
                <a:ea typeface="Noto Sans KR"/>
                <a:cs typeface="Noto Sans KR"/>
              </a:rPr>
              <a:t>말할 수 없다'</a:t>
            </a:r>
          </a:p>
        </p:txBody>
      </p:sp>
      <p:sp>
        <p:nvSpPr>
          <p:cNvPr id="17" name="TextBox 16"/>
          <p:cNvSpPr txBox="1"/>
          <p:nvPr/>
        </p:nvSpPr>
        <p:spPr>
          <a:xfrm>
            <a:off x="7734300" y="4210050"/>
            <a:ext cx="3771900" cy="381000"/>
          </a:xfrm>
          <a:prstGeom prst="rect">
            <a:avLst/>
          </a:prstGeom>
          <a:noFill/>
        </p:spPr>
        <p:txBody>
          <a:bodyPr wrap="square" lIns="0" tIns="0" rIns="0" bIns="0" anchor="t"/>
          <a:lstStyle/>
          <a:p>
            <a:pPr algn="l" latinLnBrk="0" eaLnBrk="1">
              <a:lnSpc>
                <a:spcPct val="100000"/>
              </a:lnSpc>
            </a:pPr>
            <a:r>
              <a:rPr sz="2250" b="1" spc="-45" lang="ko-KR" altLang="en-US">
                <a:solidFill>
                  <a:srgbClr val="EA5936"/>
                </a:solidFill>
                <a:latin typeface="Noto Sans KR"/>
                <a:ea typeface="Noto Sans KR"/>
                <a:cs typeface="Noto Sans KR"/>
              </a:rPr>
              <a:t>H03 95%</a:t>
            </a:r>
          </a:p>
        </p:txBody>
      </p:sp>
      <p:sp>
        <p:nvSpPr>
          <p:cNvPr id="18" name="TextBox 17"/>
          <p:cNvSpPr txBox="1"/>
          <p:nvPr/>
        </p:nvSpPr>
        <p:spPr>
          <a:xfrm>
            <a:off x="7734300" y="4629150"/>
            <a:ext cx="3771900" cy="819150"/>
          </a:xfrm>
          <a:prstGeom prst="rect">
            <a:avLst/>
          </a:prstGeom>
          <a:noFill/>
        </p:spPr>
        <p:txBody>
          <a:bodyPr wrap="square" lIns="0" tIns="0" rIns="0" bIns="0" anchor="t"/>
          <a:lstStyle/>
          <a:p>
            <a:pPr algn="l" latinLnBrk="0" eaLnBrk="1">
              <a:lnSpc>
                <a:spcPct val="130000"/>
              </a:lnSpc>
            </a:pPr>
            <a:r>
              <a:rPr sz="1800" b="0" spc="-36" lang="ko-KR" altLang="en-US">
                <a:solidFill>
                  <a:srgbClr val="202921"/>
                </a:solidFill>
                <a:latin typeface="Noto Sans KR"/>
                <a:ea typeface="Noto Sans KR"/>
                <a:cs typeface="Noto Sans KR"/>
              </a:rPr>
              <a:t>쓸 만한 근거는 표와 다른</a:t>
            </a:r>
            <a:br/>
            <a:r>
              <a:rPr sz="1800" b="0" spc="-36" lang="ko-KR" altLang="en-US">
                <a:solidFill>
                  <a:srgbClr val="202921"/>
                </a:solidFill>
                <a:latin typeface="Noto Sans KR"/>
                <a:ea typeface="Noto Sans KR"/>
                <a:cs typeface="Noto Sans KR"/>
              </a:rPr>
              <a:t>숫자, 없는 문헌뿐</a:t>
            </a:r>
          </a:p>
        </p:txBody>
      </p:sp>
      <p:sp>
        <p:nvSpPr>
          <p:cNvPr id="19" name="TextBox 18"/>
          <p:cNvSpPr txBox="1"/>
          <p:nvPr/>
        </p:nvSpPr>
        <p:spPr>
          <a:xfrm>
            <a:off x="685800" y="5829300"/>
            <a:ext cx="10820400" cy="476250"/>
          </a:xfrm>
          <a:prstGeom prst="rect">
            <a:avLst/>
          </a:prstGeom>
          <a:noFill/>
        </p:spPr>
        <p:txBody>
          <a:bodyPr wrap="square" lIns="0" tIns="0" rIns="0" bIns="0" anchor="t"/>
          <a:lstStyle/>
          <a:p>
            <a:pPr algn="l" latinLnBrk="0" eaLnBrk="1">
              <a:lnSpc>
                <a:spcPct val="100000"/>
              </a:lnSpc>
            </a:pPr>
            <a:r>
              <a:rPr sz="2100" b="1" spc="-42" lang="ko-KR" altLang="en-US">
                <a:solidFill>
                  <a:srgbClr val="EA5936"/>
                </a:solidFill>
                <a:latin typeface="Noto Sans KR"/>
                <a:ea typeface="Noto Sans KR"/>
                <a:cs typeface="Noto Sans KR"/>
              </a:rPr>
              <a:t>→ </a:t>
            </a:r>
            <a:r>
              <a:rPr sz="2100" b="1" spc="-42" lang="ko-KR" altLang="en-US">
                <a:solidFill>
                  <a:srgbClr val="202921"/>
                </a:solidFill>
                <a:latin typeface="Noto Sans KR"/>
                <a:ea typeface="Noto Sans KR"/>
                <a:cs typeface="Noto Sans KR"/>
              </a:rPr>
              <a:t>퍼센트 대신 원문과 대조할 수 있는 근거를 모읍니다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실습 4 · 전체 질문은 사이트 #assignment-review</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57</a:t>
            </a:r>
          </a:p>
        </p:txBody>
      </p:sp>
      <p:sp>
        <p:nvSpPr>
          <p:cNvPr id="5" name="Rectangle 4"/>
          <p:cNvSpPr/>
          <p:nvPr/>
        </p:nvSpPr>
        <p:spPr>
          <a:xfrm>
            <a:off x="0" y="0"/>
            <a:ext cx="12192000" cy="876300"/>
          </a:xfrm>
          <a:prstGeom prst="rect">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0"/>
            <a:ext cx="6667500" cy="87630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실습 4 · 근거 대조표</a:t>
            </a:r>
          </a:p>
        </p:txBody>
      </p:sp>
      <p:sp>
        <p:nvSpPr>
          <p:cNvPr id="7" name="Rounded Rectangle 6"/>
          <p:cNvSpPr/>
          <p:nvPr/>
        </p:nvSpPr>
        <p:spPr>
          <a:xfrm>
            <a:off x="8255508" y="219075"/>
            <a:ext cx="3248025" cy="409575"/>
          </a:xfrm>
          <a:prstGeom prst="roundRect">
            <a:avLst>
              <a:gd name="adj" fmla="val 9302"/>
            </a:avLst>
          </a:prstGeom>
          <a:solidFill>
            <a:srgbClr val="FFFDF7"/>
          </a:solidFill>
          <a:ln w="11429">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407908" y="357188"/>
            <a:ext cx="133350" cy="133350"/>
          </a:xfrm>
          <a:prstGeom prst="ellipse">
            <a:avLst/>
          </a:prstGeom>
          <a:solidFill>
            <a:srgbClr val="EA5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36508" y="219075"/>
            <a:ext cx="2790825" cy="409575"/>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7분 · Gemini 또는 Claude</a:t>
            </a:r>
          </a:p>
        </p:txBody>
      </p:sp>
      <p:sp>
        <p:nvSpPr>
          <p:cNvPr id="10" name="TextBox 9"/>
          <p:cNvSpPr txBox="1"/>
          <p:nvPr/>
        </p:nvSpPr>
        <p:spPr>
          <a:xfrm>
            <a:off x="685800" y="1066800"/>
            <a:ext cx="10820400" cy="571500"/>
          </a:xfrm>
          <a:prstGeom prst="rect">
            <a:avLst/>
          </a:prstGeom>
          <a:noFill/>
        </p:spPr>
        <p:txBody>
          <a:bodyPr wrap="square" lIns="0" tIns="0" rIns="0" bIns="0" anchor="t"/>
          <a:lstStyle/>
          <a:p>
            <a:pPr algn="l" latinLnBrk="0" eaLnBrk="1">
              <a:lnSpc>
                <a:spcPct val="120000"/>
              </a:lnSpc>
            </a:pPr>
            <a:r>
              <a:rPr sz="3000" b="1" spc="-60" lang="ko-KR" altLang="en-US">
                <a:solidFill>
                  <a:srgbClr val="202921"/>
                </a:solidFill>
                <a:latin typeface="Noto Sans KR"/>
                <a:ea typeface="Noto Sans KR"/>
                <a:cs typeface="Noto Sans KR"/>
              </a:rPr>
              <a:t>제출물 세 편을 제공자료와 대조합니다</a:t>
            </a:r>
          </a:p>
        </p:txBody>
      </p:sp>
      <p:sp>
        <p:nvSpPr>
          <p:cNvPr id="11" name="TextBox 10"/>
          <p:cNvSpPr txBox="1"/>
          <p:nvPr/>
        </p:nvSpPr>
        <p:spPr>
          <a:xfrm>
            <a:off x="685800" y="1752600"/>
            <a:ext cx="10820400" cy="419100"/>
          </a:xfrm>
          <a:prstGeom prst="rect">
            <a:avLst/>
          </a:prstGeom>
          <a:noFill/>
        </p:spPr>
        <p:txBody>
          <a:bodyPr wrap="square" lIns="0" tIns="0" rIns="0" bIns="0" anchor="t"/>
          <a:lstStyle/>
          <a:p>
            <a:pPr algn="l" latinLnBrk="0" eaLnBrk="1">
              <a:lnSpc>
                <a:spcPct val="100000"/>
              </a:lnSpc>
            </a:pPr>
            <a:r>
              <a:rPr sz="2025" b="1" spc="-40" lang="ko-KR" altLang="en-US">
                <a:solidFill>
                  <a:srgbClr val="EA5936"/>
                </a:solidFill>
                <a:latin typeface="Noto Sans KR"/>
                <a:ea typeface="Noto Sans KR"/>
                <a:cs typeface="Noto Sans KR"/>
              </a:rPr>
              <a:t>① </a:t>
            </a:r>
            <a:r>
              <a:rPr sz="2025" b="0" spc="-40" lang="ko-KR" altLang="en-US">
                <a:solidFill>
                  <a:srgbClr val="202921"/>
                </a:solidFill>
                <a:latin typeface="Noto Sans KR"/>
                <a:ea typeface="Noto Sans KR"/>
                <a:cs typeface="Noto Sans KR"/>
              </a:rPr>
              <a:t>07·08 두 파일 올리기</a:t>
            </a:r>
            <a:r>
              <a:rPr sz="2025" b="1" spc="-40" lang="ko-KR" altLang="en-US">
                <a:solidFill>
                  <a:srgbClr val="EA5936"/>
                </a:solidFill>
                <a:latin typeface="Noto Sans KR"/>
                <a:ea typeface="Noto Sans KR"/>
                <a:cs typeface="Noto Sans KR"/>
              </a:rPr>
              <a:t>   →   </a:t>
            </a:r>
            <a:r>
              <a:rPr sz="2025" b="1" spc="-40" lang="ko-KR" altLang="en-US">
                <a:solidFill>
                  <a:srgbClr val="EA5936"/>
                </a:solidFill>
                <a:latin typeface="Noto Sans KR"/>
                <a:ea typeface="Noto Sans KR"/>
                <a:cs typeface="Noto Sans KR"/>
              </a:rPr>
              <a:t>② </a:t>
            </a:r>
            <a:r>
              <a:rPr sz="2025" b="0" spc="-40" lang="ko-KR" altLang="en-US">
                <a:solidFill>
                  <a:srgbClr val="202921"/>
                </a:solidFill>
                <a:latin typeface="Noto Sans KR"/>
                <a:ea typeface="Noto Sans KR"/>
                <a:cs typeface="Noto Sans KR"/>
              </a:rPr>
              <a:t>질문 5-2</a:t>
            </a:r>
            <a:r>
              <a:rPr sz="2025" b="1" spc="-40" lang="ko-KR" altLang="en-US">
                <a:solidFill>
                  <a:srgbClr val="EA5936"/>
                </a:solidFill>
                <a:latin typeface="Noto Sans KR"/>
                <a:ea typeface="Noto Sans KR"/>
                <a:cs typeface="Noto Sans KR"/>
              </a:rPr>
              <a:t>   →   </a:t>
            </a:r>
            <a:r>
              <a:rPr sz="2025" b="1" spc="-40" lang="ko-KR" altLang="en-US">
                <a:solidFill>
                  <a:srgbClr val="EA5936"/>
                </a:solidFill>
                <a:latin typeface="Noto Sans KR"/>
                <a:ea typeface="Noto Sans KR"/>
                <a:cs typeface="Noto Sans KR"/>
              </a:rPr>
              <a:t>③ </a:t>
            </a:r>
            <a:r>
              <a:rPr sz="2025" b="0" spc="-40" lang="ko-KR" altLang="en-US">
                <a:solidFill>
                  <a:srgbClr val="202921"/>
                </a:solidFill>
                <a:latin typeface="Noto Sans KR"/>
                <a:ea typeface="Noto Sans KR"/>
                <a:cs typeface="Noto Sans KR"/>
              </a:rPr>
              <a:t>H03 숫자 하나 직접 계산</a:t>
            </a:r>
          </a:p>
        </p:txBody>
      </p:sp>
      <p:sp>
        <p:nvSpPr>
          <p:cNvPr id="12" name="Rounded Rectangle 11"/>
          <p:cNvSpPr/>
          <p:nvPr/>
        </p:nvSpPr>
        <p:spPr>
          <a:xfrm>
            <a:off x="685800" y="2324100"/>
            <a:ext cx="5334000" cy="3181350"/>
          </a:xfrm>
          <a:prstGeom prst="roundRect">
            <a:avLst>
              <a:gd name="adj" fmla="val 1197"/>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3450" y="2495550"/>
            <a:ext cx="3810000" cy="285750"/>
          </a:xfrm>
          <a:prstGeom prst="rect">
            <a:avLst/>
          </a:prstGeom>
          <a:noFill/>
        </p:spPr>
        <p:txBody>
          <a:bodyPr wrap="square" lIns="0" tIns="0" rIns="0" bIns="0" anchor="t"/>
          <a:lstStyle/>
          <a:p>
            <a:pPr algn="l" latinLnBrk="0" eaLnBrk="1">
              <a:lnSpc>
                <a:spcPct val="100000"/>
              </a:lnSpc>
            </a:pPr>
            <a:r>
              <a:rPr sz="1800" b="1" spc="-36" lang="ko-KR" altLang="en-US">
                <a:solidFill>
                  <a:srgbClr val="B5C1AF"/>
                </a:solidFill>
                <a:latin typeface="Noto Sans KR"/>
                <a:ea typeface="Noto Sans KR"/>
                <a:cs typeface="Noto Sans KR"/>
              </a:rPr>
              <a:t>복사할 질문 · 줄임</a:t>
            </a:r>
          </a:p>
        </p:txBody>
      </p:sp>
      <p:sp>
        <p:nvSpPr>
          <p:cNvPr id="14" name="TextBox 13"/>
          <p:cNvSpPr txBox="1"/>
          <p:nvPr/>
        </p:nvSpPr>
        <p:spPr>
          <a:xfrm>
            <a:off x="933450" y="2895600"/>
            <a:ext cx="4838700" cy="2495550"/>
          </a:xfrm>
          <a:prstGeom prst="rect">
            <a:avLst/>
          </a:prstGeom>
          <a:noFill/>
        </p:spPr>
        <p:txBody>
          <a:bodyPr wrap="square" lIns="0" tIns="0" rIns="0" bIns="0" anchor="t"/>
          <a:lstStyle/>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역할</a:t>
            </a:r>
            <a:r>
              <a:rPr sz="1875" b="0" spc="-37" lang="ko-KR" altLang="en-US">
                <a:solidFill>
                  <a:srgbClr val="F4F1E9"/>
                </a:solidFill>
                <a:latin typeface="Noto Sans KR"/>
                <a:ea typeface="Noto Sans KR"/>
                <a:cs typeface="Noto Sans KR"/>
              </a:rPr>
              <a:t>	과제 채점을 돕는 조교</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자료</a:t>
            </a:r>
            <a:r>
              <a:rPr sz="1875" b="0" spc="-37" lang="ko-KR" altLang="en-US">
                <a:solidFill>
                  <a:srgbClr val="F4F1E9"/>
                </a:solidFill>
                <a:latin typeface="Noto Sans KR"/>
                <a:ea typeface="Noto Sans KR"/>
                <a:cs typeface="Noto Sans KR"/>
              </a:rPr>
              <a:t>	제출물 H01~H03과 제공자료만</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형태</a:t>
            </a:r>
            <a:r>
              <a:rPr sz="1875" b="0" spc="-37" lang="ko-KR" altLang="en-US">
                <a:solidFill>
                  <a:srgbClr val="F4F1E9"/>
                </a:solidFill>
                <a:latin typeface="Noto Sans KR"/>
                <a:ea typeface="Noto Sans KR"/>
                <a:cs typeface="Noto Sans KR"/>
              </a:rPr>
              <a:t>	항목·문장·근거·판단 표, 제출물마다 면담 질문 3개</a:t>
            </a:r>
          </a:p>
          <a:p>
            <a:pPr algn="l" latinLnBrk="0" eaLnBrk="1" marL="666750" indent="-666750">
              <a:lnSpc>
                <a:spcPct val="130000"/>
              </a:lnSpc>
              <a:spcAft>
                <a:spcPts val="600"/>
              </a:spcAft>
              <a:tabLst>
                <a:tab pos="666750" algn="l"/>
              </a:tabLst>
            </a:pPr>
            <a:r>
              <a:rPr sz="1875" b="1" spc="-37" lang="ko-KR" altLang="en-US">
                <a:solidFill>
                  <a:srgbClr val="EA5936"/>
                </a:solidFill>
                <a:latin typeface="Noto Sans KR"/>
                <a:ea typeface="Noto Sans KR"/>
                <a:cs typeface="Noto Sans KR"/>
              </a:rPr>
              <a:t>금지</a:t>
            </a:r>
            <a:r>
              <a:rPr sz="1875" b="0" spc="-37" lang="ko-KR" altLang="en-US">
                <a:solidFill>
                  <a:srgbClr val="F4F1E9"/>
                </a:solidFill>
                <a:latin typeface="Noto Sans KR"/>
                <a:ea typeface="Noto Sans KR"/>
                <a:cs typeface="Noto Sans KR"/>
              </a:rPr>
              <a:t>	'AI가 썼다'·'표절' 단정, 점수·처벌</a:t>
            </a:r>
          </a:p>
        </p:txBody>
      </p:sp>
      <p:sp>
        <p:nvSpPr>
          <p:cNvPr id="15" name="Rounded Rectangle 14"/>
          <p:cNvSpPr/>
          <p:nvPr/>
        </p:nvSpPr>
        <p:spPr>
          <a:xfrm>
            <a:off x="6210300" y="2324100"/>
            <a:ext cx="5295900" cy="3181350"/>
          </a:xfrm>
          <a:prstGeom prst="roundRect">
            <a:avLst>
              <a:gd name="adj" fmla="val 1197"/>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8900" y="2476500"/>
            <a:ext cx="48387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결과 미리보기 · 동그라미를 확인</a:t>
            </a:r>
          </a:p>
        </p:txBody>
      </p:sp>
      <p:sp>
        <p:nvSpPr>
          <p:cNvPr id="17" name="Rectangle 16"/>
          <p:cNvSpPr/>
          <p:nvPr/>
        </p:nvSpPr>
        <p:spPr>
          <a:xfrm>
            <a:off x="6438900" y="2895600"/>
            <a:ext cx="4838700" cy="41910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34150" y="2895600"/>
            <a:ext cx="495300" cy="4191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항목</a:t>
            </a:r>
          </a:p>
        </p:txBody>
      </p:sp>
      <p:sp>
        <p:nvSpPr>
          <p:cNvPr id="19" name="TextBox 18"/>
          <p:cNvSpPr txBox="1"/>
          <p:nvPr/>
        </p:nvSpPr>
        <p:spPr>
          <a:xfrm>
            <a:off x="7162800" y="2895600"/>
            <a:ext cx="1504950" cy="4191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H03 문장</a:t>
            </a:r>
          </a:p>
        </p:txBody>
      </p:sp>
      <p:sp>
        <p:nvSpPr>
          <p:cNvPr id="20" name="TextBox 19"/>
          <p:cNvSpPr txBox="1"/>
          <p:nvPr/>
        </p:nvSpPr>
        <p:spPr>
          <a:xfrm>
            <a:off x="8801100" y="2895600"/>
            <a:ext cx="1390650" cy="4191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제공자료</a:t>
            </a:r>
          </a:p>
        </p:txBody>
      </p:sp>
      <p:sp>
        <p:nvSpPr>
          <p:cNvPr id="21" name="TextBox 20"/>
          <p:cNvSpPr txBox="1"/>
          <p:nvPr/>
        </p:nvSpPr>
        <p:spPr>
          <a:xfrm>
            <a:off x="10325100" y="2895600"/>
            <a:ext cx="914400" cy="419100"/>
          </a:xfrm>
          <a:prstGeom prst="rect">
            <a:avLst/>
          </a:prstGeom>
          <a:noFill/>
        </p:spPr>
        <p:txBody>
          <a:bodyPr wrap="square" lIns="0" tIns="0" rIns="0" bIns="0" anchor="ctr"/>
          <a:lstStyle/>
          <a:p>
            <a:pPr algn="l" latinLnBrk="0" eaLnBrk="1">
              <a:lnSpc>
                <a:spcPct val="100000"/>
              </a:lnSpc>
            </a:pPr>
            <a:r>
              <a:rPr sz="1800" b="1" spc="-36" lang="ko-KR" altLang="en-US">
                <a:solidFill>
                  <a:srgbClr val="F4F1E9"/>
                </a:solidFill>
                <a:latin typeface="Noto Sans KR"/>
                <a:ea typeface="Noto Sans KR"/>
                <a:cs typeface="Noto Sans KR"/>
              </a:rPr>
              <a:t>판단</a:t>
            </a:r>
          </a:p>
        </p:txBody>
      </p:sp>
      <p:sp>
        <p:nvSpPr>
          <p:cNvPr id="22" name="Rectangle 21"/>
          <p:cNvSpPr/>
          <p:nvPr/>
        </p:nvSpPr>
        <p:spPr>
          <a:xfrm>
            <a:off x="6438900" y="37195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34150" y="3314700"/>
            <a:ext cx="495300" cy="4191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숫자</a:t>
            </a:r>
          </a:p>
        </p:txBody>
      </p:sp>
      <p:sp>
        <p:nvSpPr>
          <p:cNvPr id="24" name="TextBox 23"/>
          <p:cNvSpPr txBox="1"/>
          <p:nvPr/>
        </p:nvSpPr>
        <p:spPr>
          <a:xfrm>
            <a:off x="7162800" y="3314700"/>
            <a:ext cx="15049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전체 36.8%</a:t>
            </a:r>
          </a:p>
        </p:txBody>
      </p:sp>
      <p:sp>
        <p:nvSpPr>
          <p:cNvPr id="25" name="TextBox 24"/>
          <p:cNvSpPr txBox="1"/>
          <p:nvPr/>
        </p:nvSpPr>
        <p:spPr>
          <a:xfrm>
            <a:off x="8801100" y="3314700"/>
            <a:ext cx="1390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표1 32.9%</a:t>
            </a:r>
          </a:p>
        </p:txBody>
      </p:sp>
      <p:sp>
        <p:nvSpPr>
          <p:cNvPr id="26" name="TextBox 25"/>
          <p:cNvSpPr txBox="1"/>
          <p:nvPr/>
        </p:nvSpPr>
        <p:spPr>
          <a:xfrm>
            <a:off x="10325100" y="3314700"/>
            <a:ext cx="91440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불일치</a:t>
            </a:r>
          </a:p>
        </p:txBody>
      </p:sp>
      <p:sp>
        <p:nvSpPr>
          <p:cNvPr id="27" name="Rectangle 26"/>
          <p:cNvSpPr/>
          <p:nvPr/>
        </p:nvSpPr>
        <p:spPr>
          <a:xfrm>
            <a:off x="6438900" y="41386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34150" y="3733800"/>
            <a:ext cx="495300" cy="4191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지역</a:t>
            </a:r>
          </a:p>
        </p:txBody>
      </p:sp>
      <p:sp>
        <p:nvSpPr>
          <p:cNvPr id="29" name="TextBox 28"/>
          <p:cNvSpPr txBox="1"/>
          <p:nvPr/>
        </p:nvSpPr>
        <p:spPr>
          <a:xfrm>
            <a:off x="7162800" y="3733800"/>
            <a:ext cx="15049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북구</a:t>
            </a:r>
          </a:p>
        </p:txBody>
      </p:sp>
      <p:sp>
        <p:nvSpPr>
          <p:cNvPr id="30" name="TextBox 29"/>
          <p:cNvSpPr txBox="1"/>
          <p:nvPr/>
        </p:nvSpPr>
        <p:spPr>
          <a:xfrm>
            <a:off x="8801100" y="3733800"/>
            <a:ext cx="1390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구는 5곳</a:t>
            </a:r>
          </a:p>
        </p:txBody>
      </p:sp>
      <p:sp>
        <p:nvSpPr>
          <p:cNvPr id="31" name="TextBox 30"/>
          <p:cNvSpPr txBox="1"/>
          <p:nvPr/>
        </p:nvSpPr>
        <p:spPr>
          <a:xfrm>
            <a:off x="10325100" y="3733800"/>
            <a:ext cx="91440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불일치</a:t>
            </a:r>
          </a:p>
        </p:txBody>
      </p:sp>
      <p:sp>
        <p:nvSpPr>
          <p:cNvPr id="32" name="Rectangle 31"/>
          <p:cNvSpPr/>
          <p:nvPr/>
        </p:nvSpPr>
        <p:spPr>
          <a:xfrm>
            <a:off x="6438900" y="45577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34150" y="4152900"/>
            <a:ext cx="495300" cy="4191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문헌</a:t>
            </a:r>
          </a:p>
        </p:txBody>
      </p:sp>
      <p:sp>
        <p:nvSpPr>
          <p:cNvPr id="34" name="TextBox 33"/>
          <p:cNvSpPr txBox="1"/>
          <p:nvPr/>
        </p:nvSpPr>
        <p:spPr>
          <a:xfrm>
            <a:off x="7162800" y="4152900"/>
            <a:ext cx="15049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박민수(2024)</a:t>
            </a:r>
          </a:p>
        </p:txBody>
      </p:sp>
      <p:sp>
        <p:nvSpPr>
          <p:cNvPr id="35" name="TextBox 34"/>
          <p:cNvSpPr txBox="1"/>
          <p:nvPr/>
        </p:nvSpPr>
        <p:spPr>
          <a:xfrm>
            <a:off x="8801100" y="4152900"/>
            <a:ext cx="1390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목록에 없음</a:t>
            </a:r>
          </a:p>
        </p:txBody>
      </p:sp>
      <p:sp>
        <p:nvSpPr>
          <p:cNvPr id="36" name="TextBox 35"/>
          <p:cNvSpPr txBox="1"/>
          <p:nvPr/>
        </p:nvSpPr>
        <p:spPr>
          <a:xfrm>
            <a:off x="10325100" y="4152900"/>
            <a:ext cx="91440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확인 필요</a:t>
            </a:r>
          </a:p>
        </p:txBody>
      </p:sp>
      <p:sp>
        <p:nvSpPr>
          <p:cNvPr id="37" name="Rectangle 36"/>
          <p:cNvSpPr/>
          <p:nvPr/>
        </p:nvSpPr>
        <p:spPr>
          <a:xfrm>
            <a:off x="6438900" y="4976812"/>
            <a:ext cx="4838700" cy="14288"/>
          </a:xfrm>
          <a:prstGeom prst="rect">
            <a:avLst/>
          </a:prstGeom>
          <a:solidFill>
            <a:srgbClr val="C9C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34150" y="4572000"/>
            <a:ext cx="495300" cy="419100"/>
          </a:xfrm>
          <a:prstGeom prst="rect">
            <a:avLst/>
          </a:prstGeom>
          <a:noFill/>
        </p:spPr>
        <p:txBody>
          <a:bodyPr wrap="square" lIns="0" tIns="0" rIns="0" bIns="0" anchor="ctr"/>
          <a:lstStyle/>
          <a:p>
            <a:pPr algn="l" latinLnBrk="0" eaLnBrk="1">
              <a:lnSpc>
                <a:spcPct val="100000"/>
              </a:lnSpc>
            </a:pPr>
            <a:r>
              <a:rPr sz="1800" b="1" spc="-36" lang="ko-KR" altLang="en-US">
                <a:solidFill>
                  <a:srgbClr val="202921"/>
                </a:solidFill>
                <a:latin typeface="Noto Sans KR"/>
                <a:ea typeface="Noto Sans KR"/>
                <a:cs typeface="Noto Sans KR"/>
              </a:rPr>
              <a:t>계산</a:t>
            </a:r>
          </a:p>
        </p:txBody>
      </p:sp>
      <p:sp>
        <p:nvSpPr>
          <p:cNvPr id="39" name="TextBox 38"/>
          <p:cNvSpPr txBox="1"/>
          <p:nvPr/>
        </p:nvSpPr>
        <p:spPr>
          <a:xfrm>
            <a:off x="7162800" y="4572000"/>
            <a:ext cx="15049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두 배 가까이</a:t>
            </a:r>
          </a:p>
        </p:txBody>
      </p:sp>
      <p:sp>
        <p:nvSpPr>
          <p:cNvPr id="40" name="TextBox 39"/>
          <p:cNvSpPr txBox="1"/>
          <p:nvPr/>
        </p:nvSpPr>
        <p:spPr>
          <a:xfrm>
            <a:off x="8801100" y="4572000"/>
            <a:ext cx="139065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19.5→29.8</a:t>
            </a:r>
          </a:p>
        </p:txBody>
      </p:sp>
      <p:sp>
        <p:nvSpPr>
          <p:cNvPr id="41" name="TextBox 40"/>
          <p:cNvSpPr txBox="1"/>
          <p:nvPr/>
        </p:nvSpPr>
        <p:spPr>
          <a:xfrm>
            <a:off x="10325100" y="4572000"/>
            <a:ext cx="914400" cy="419100"/>
          </a:xfrm>
          <a:prstGeom prst="rect">
            <a:avLst/>
          </a:prstGeom>
          <a:noFill/>
        </p:spPr>
        <p:txBody>
          <a:bodyPr wrap="square" lIns="0" tIns="0" rIns="0" bIns="0" anchor="ctr"/>
          <a:lstStyle/>
          <a:p>
            <a:pPr algn="l" latinLnBrk="0" eaLnBrk="1">
              <a:lnSpc>
                <a:spcPct val="100000"/>
              </a:lnSpc>
            </a:pPr>
            <a:r>
              <a:rPr sz="1800" b="0" spc="-36" lang="ko-KR" altLang="en-US">
                <a:solidFill>
                  <a:srgbClr val="202921"/>
                </a:solidFill>
                <a:latin typeface="Noto Sans KR"/>
                <a:ea typeface="Noto Sans KR"/>
                <a:cs typeface="Noto Sans KR"/>
              </a:rPr>
              <a:t>?</a:t>
            </a:r>
          </a:p>
        </p:txBody>
      </p:sp>
      <p:sp>
        <p:nvSpPr>
          <p:cNvPr id="42" name="Rounded Rectangle 41"/>
          <p:cNvSpPr/>
          <p:nvPr/>
        </p:nvSpPr>
        <p:spPr>
          <a:xfrm>
            <a:off x="10248900" y="4600575"/>
            <a:ext cx="1009650" cy="361950"/>
          </a:xfrm>
          <a:prstGeom prst="roundRect">
            <a:avLst>
              <a:gd name="adj" fmla="val 10526"/>
            </a:avLst>
          </a:prstGeom>
          <a:noFill/>
          <a:ln w="33337">
            <a:solidFill>
              <a:srgbClr val="C843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685800" y="5676900"/>
            <a:ext cx="10820400" cy="666750"/>
          </a:xfrm>
          <a:prstGeom prst="roundRect">
            <a:avLst>
              <a:gd name="adj" fmla="val 571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33450" y="5676900"/>
            <a:ext cx="10325100" cy="666750"/>
          </a:xfrm>
          <a:prstGeom prst="rect">
            <a:avLst/>
          </a:prstGeom>
          <a:noFill/>
        </p:spPr>
        <p:txBody>
          <a:bodyPr wrap="square" lIns="0" tIns="0" rIns="0" bIns="0" anchor="ctr"/>
          <a:lstStyle/>
          <a:p>
            <a:pPr algn="l" latinLnBrk="0" eaLnBrk="1">
              <a:lnSpc>
                <a:spcPct val="100000"/>
              </a:lnSpc>
            </a:pPr>
            <a:r>
              <a:rPr sz="2100" b="1" spc="-42" lang="ko-KR" altLang="en-US">
                <a:solidFill>
                  <a:srgbClr val="EA5936"/>
                </a:solidFill>
                <a:latin typeface="Noto Sans KR"/>
                <a:ea typeface="Noto Sans KR"/>
                <a:cs typeface="Noto Sans KR"/>
              </a:rPr>
              <a:t>확인할 한 곳  </a:t>
            </a:r>
            <a:r>
              <a:rPr sz="2100" b="1" spc="-42" lang="ko-KR" altLang="en-US">
                <a:solidFill>
                  <a:srgbClr val="202921"/>
                </a:solidFill>
                <a:latin typeface="Noto Sans KR"/>
                <a:ea typeface="Noto Sans KR"/>
                <a:cs typeface="Noto Sans KR"/>
              </a:rPr>
              <a:t>H03의 '가온시 전체 36.8%'가 표1과 맞는가?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AI·표절 의심 과제 · 150–170분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58</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실습 4 · 실제 화면 · Gemini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150" b="1" spc="-63" lang="ko-KR" altLang="en-US">
                <a:solidFill>
                  <a:srgbClr val="202921"/>
                </a:solidFill>
                <a:latin typeface="Noto Sans KR"/>
                <a:ea typeface="Noto Sans KR"/>
                <a:cs typeface="Noto Sans KR"/>
              </a:rPr>
              <a:t>대조표가 찾은 근거: 옮긴 문장, 없는 지역, 없는 문헌</a:t>
            </a:r>
          </a:p>
        </p:txBody>
      </p:sp>
      <p:sp>
        <p:nvSpPr>
          <p:cNvPr id="7" name="TextBox 6"/>
          <p:cNvSpPr txBox="1"/>
          <p:nvPr/>
        </p:nvSpPr>
        <p:spPr>
          <a:xfrm>
            <a:off x="685800" y="1619250"/>
            <a:ext cx="5143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H02 · 출처 없는 옮김</a:t>
            </a:r>
          </a:p>
        </p:txBody>
      </p:sp>
      <p:pic>
        <p:nvPicPr>
          <p:cNvPr id="8" name="Picture 7" descr="review-h02.png"/>
          <p:cNvPicPr>
            <a:picLocks noChangeAspect="1"/>
          </p:cNvPicPr>
          <p:nvPr/>
        </p:nvPicPr>
        <p:blipFill>
          <a:blip r:embed="rId4"/>
          <a:stretch>
            <a:fillRect/>
          </a:stretch>
        </p:blipFill>
        <p:spPr>
          <a:xfrm>
            <a:off x="685800" y="1962150"/>
            <a:ext cx="5143500" cy="2476500"/>
          </a:xfrm>
          <a:prstGeom prst="rect">
            <a:avLst/>
          </a:prstGeom>
          <a:ln w="9525">
            <a:solidFill>
              <a:srgbClr val="C9CCC0"/>
            </a:solidFill>
          </a:ln>
        </p:spPr>
      </p:pic>
      <p:sp>
        <p:nvSpPr>
          <p:cNvPr id="9" name="TextBox 8"/>
          <p:cNvSpPr txBox="1"/>
          <p:nvPr/>
        </p:nvSpPr>
        <p:spPr>
          <a:xfrm>
            <a:off x="685800" y="4667250"/>
            <a:ext cx="5143500" cy="1238250"/>
          </a:xfrm>
          <a:prstGeom prst="rect">
            <a:avLst/>
          </a:prstGeom>
          <a:noFill/>
        </p:spPr>
        <p:txBody>
          <a:bodyPr wrap="square" lIns="0" tIns="0" rIns="0" bIns="0" anchor="t"/>
          <a:lstStyle/>
          <a:p>
            <a:pPr algn="l" latinLnBrk="0" eaLnBrk="1">
              <a:lnSpc>
                <a:spcPct val="140000"/>
              </a:lnSpc>
            </a:pPr>
            <a:r>
              <a:rPr sz="1950" b="1" spc="-39" lang="ko-KR" altLang="en-US">
                <a:solidFill>
                  <a:srgbClr val="EA5936"/>
                </a:solidFill>
                <a:latin typeface="Noto Sans KR"/>
                <a:ea typeface="Noto Sans KR"/>
                <a:cs typeface="Noto Sans KR"/>
              </a:rPr>
              <a:t>R2 7쪽 다섯 문장</a:t>
            </a:r>
            <a:r>
              <a:rPr sz="1950" b="0" spc="-39" lang="ko-KR" altLang="en-US">
                <a:solidFill>
                  <a:srgbClr val="202921"/>
                </a:solidFill>
                <a:latin typeface="Noto Sans KR"/>
                <a:ea typeface="Noto Sans KR"/>
                <a:cs typeface="Noto Sans KR"/>
              </a:rPr>
              <a:t>을</a:t>
            </a:r>
            <a:br/>
            <a:r>
              <a:rPr sz="1950" b="0" spc="-39" lang="ko-KR" altLang="en-US">
                <a:solidFill>
                  <a:srgbClr val="202921"/>
                </a:solidFill>
                <a:latin typeface="Noto Sans KR"/>
                <a:ea typeface="Noto Sans KR"/>
                <a:cs typeface="Noto Sans KR"/>
              </a:rPr>
              <a:t>따옴표·출처 없이 옮김</a:t>
            </a:r>
          </a:p>
          <a:p>
            <a:pPr algn="l" latinLnBrk="0" eaLnBrk="1">
              <a:lnSpc>
                <a:spcPct val="140000"/>
              </a:lnSpc>
            </a:pPr>
            <a:r>
              <a:rPr sz="1950" b="0" spc="-39" lang="ko-KR" altLang="en-US">
                <a:solidFill>
                  <a:srgbClr val="586356"/>
                </a:solidFill>
                <a:latin typeface="Noto Sans KR"/>
                <a:ea typeface="Noto Sans KR"/>
                <a:cs typeface="Noto Sans KR"/>
              </a:rPr>
              <a:t>숫자는 표와 모두 맞음</a:t>
            </a:r>
          </a:p>
        </p:txBody>
      </p:sp>
      <p:sp>
        <p:nvSpPr>
          <p:cNvPr id="10" name="TextBox 9"/>
          <p:cNvSpPr txBox="1"/>
          <p:nvPr/>
        </p:nvSpPr>
        <p:spPr>
          <a:xfrm>
            <a:off x="6172200" y="1619250"/>
            <a:ext cx="53340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H03 · 표와 다른 숫자, 없는 지역·문헌</a:t>
            </a:r>
          </a:p>
        </p:txBody>
      </p:sp>
      <p:pic>
        <p:nvPicPr>
          <p:cNvPr id="11" name="Picture 10" descr="review-h03.png"/>
          <p:cNvPicPr>
            <a:picLocks noChangeAspect="1"/>
          </p:cNvPicPr>
          <p:nvPr/>
        </p:nvPicPr>
        <p:blipFill>
          <a:blip r:embed="rId5"/>
          <a:stretch>
            <a:fillRect/>
          </a:stretch>
        </p:blipFill>
        <p:spPr>
          <a:xfrm>
            <a:off x="6172200" y="1962150"/>
            <a:ext cx="5334000" cy="4049889"/>
          </a:xfrm>
          <a:prstGeom prst="rect">
            <a:avLst/>
          </a:prstGeom>
          <a:ln w="9525">
            <a:solidFill>
              <a:srgbClr val="C9CCC0"/>
            </a:solidFill>
          </a:ln>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AI·표절 의심 과제 · 150–170분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59</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C8431F"/>
                </a:solidFill>
                <a:latin typeface="Noto Sans KR"/>
                <a:ea typeface="Noto Sans KR"/>
                <a:cs typeface="Noto Sans KR"/>
              </a:rPr>
              <a:t>AI가 여기서 놓쳤다 · 실제 화면 · 2026-10-01 실행</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AI 대조표도 계산 하나는 놓쳤습니다</a:t>
            </a:r>
          </a:p>
        </p:txBody>
      </p:sp>
      <p:sp>
        <p:nvSpPr>
          <p:cNvPr id="7" name="Rounded Rectangle 6"/>
          <p:cNvSpPr/>
          <p:nvPr/>
        </p:nvSpPr>
        <p:spPr>
          <a:xfrm>
            <a:off x="685800" y="1962150"/>
            <a:ext cx="5295900" cy="2971800"/>
          </a:xfrm>
          <a:prstGeom prst="roundRect">
            <a:avLst>
              <a:gd name="adj" fmla="val 128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15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AI 대조표 · H03 강변구</a:t>
            </a:r>
          </a:p>
        </p:txBody>
      </p:sp>
      <p:sp>
        <p:nvSpPr>
          <p:cNvPr id="9" name="TextBox 8"/>
          <p:cNvSpPr txBox="1"/>
          <p:nvPr/>
        </p:nvSpPr>
        <p:spPr>
          <a:xfrm>
            <a:off x="9715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'19.5% → 29.8%,</a:t>
            </a:r>
            <a:br/>
            <a:r>
              <a:rPr sz="2100" b="0" spc="-42" lang="ko-KR" altLang="en-US">
                <a:solidFill>
                  <a:srgbClr val="202921"/>
                </a:solidFill>
                <a:latin typeface="Noto Sans KR"/>
                <a:ea typeface="Noto Sans KR"/>
                <a:cs typeface="Noto Sans KR"/>
              </a:rPr>
              <a:t>10년 사이 </a:t>
            </a:r>
            <a:r>
              <a:rPr sz="2100" b="1" spc="-42" lang="ko-KR" altLang="en-US">
                <a:solidFill>
                  <a:srgbClr val="202921"/>
                </a:solidFill>
                <a:highlight>
                  <a:srgbClr val="F6CDBE"/>
                </a:highlight>
                <a:latin typeface="Noto Sans KR"/>
                <a:ea typeface="Noto Sans KR"/>
                <a:cs typeface="Noto Sans KR"/>
              </a:rPr>
              <a:t>두 배 가까이</a:t>
            </a:r>
            <a:r>
              <a:rPr sz="2100" b="0" spc="-42" lang="ko-KR" altLang="en-US">
                <a:solidFill>
                  <a:srgbClr val="202921"/>
                </a:solidFill>
                <a:latin typeface="Noto Sans KR"/>
                <a:ea typeface="Noto Sans KR"/>
                <a:cs typeface="Noto Sans KR"/>
              </a:rPr>
              <a:t> 증가'</a:t>
            </a:r>
            <a:br/>
            <a:br/>
            <a:r>
              <a:rPr sz="2100" b="0" spc="-42" lang="ko-KR" altLang="en-US">
                <a:solidFill>
                  <a:srgbClr val="202921"/>
                </a:solidFill>
                <a:latin typeface="Noto Sans KR"/>
                <a:ea typeface="Noto Sans KR"/>
                <a:cs typeface="Noto Sans KR"/>
              </a:rPr>
              <a:t>판단 칸: 지적 없음</a:t>
            </a:r>
          </a:p>
        </p:txBody>
      </p:sp>
      <p:sp>
        <p:nvSpPr>
          <p:cNvPr id="10" name="Rounded Rectangle 9"/>
          <p:cNvSpPr/>
          <p:nvPr/>
        </p:nvSpPr>
        <p:spPr>
          <a:xfrm>
            <a:off x="6210300" y="1962150"/>
            <a:ext cx="5295900" cy="2971800"/>
          </a:xfrm>
          <a:prstGeom prst="roundRect">
            <a:avLst>
              <a:gd name="adj" fmla="val 1282"/>
            </a:avLst>
          </a:prstGeom>
          <a:solidFill>
            <a:srgbClr val="EA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6050" y="2171700"/>
            <a:ext cx="4762500" cy="28575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원문 · 표1 강변구</a:t>
            </a:r>
          </a:p>
        </p:txBody>
      </p:sp>
      <p:sp>
        <p:nvSpPr>
          <p:cNvPr id="12" name="TextBox 11"/>
          <p:cNvSpPr txBox="1"/>
          <p:nvPr/>
        </p:nvSpPr>
        <p:spPr>
          <a:xfrm>
            <a:off x="6496050" y="2590800"/>
            <a:ext cx="4762500" cy="2247900"/>
          </a:xfrm>
          <a:prstGeom prst="rect">
            <a:avLst/>
          </a:prstGeom>
          <a:noFill/>
        </p:spPr>
        <p:txBody>
          <a:bodyPr wrap="square" lIns="0" tIns="0" rIns="0" bIns="0" anchor="t"/>
          <a:lstStyle/>
          <a:p>
            <a:pPr algn="l" latinLnBrk="0" eaLnBrk="1">
              <a:lnSpc>
                <a:spcPct val="145000"/>
              </a:lnSpc>
            </a:pPr>
            <a:r>
              <a:rPr sz="2100" b="0" spc="-42" lang="ko-KR" altLang="en-US">
                <a:solidFill>
                  <a:srgbClr val="202921"/>
                </a:solidFill>
                <a:latin typeface="Noto Sans KR"/>
                <a:ea typeface="Noto Sans KR"/>
                <a:cs typeface="Noto Sans KR"/>
              </a:rPr>
              <a:t>2015년 19.5%, 2025년 29.8%</a:t>
            </a:r>
            <a:br/>
            <a:r>
              <a:rPr sz="2100" b="0" spc="-42" lang="ko-KR" altLang="en-US">
                <a:solidFill>
                  <a:srgbClr val="202921"/>
                </a:solidFill>
                <a:latin typeface="Noto Sans KR"/>
                <a:ea typeface="Noto Sans KR"/>
                <a:cs typeface="Noto Sans KR"/>
              </a:rPr>
              <a:t>29.8 ÷ 19.5 = </a:t>
            </a:r>
            <a:r>
              <a:rPr sz="2100" b="0" spc="-42" lang="ko-KR" altLang="en-US">
                <a:solidFill>
                  <a:srgbClr val="202921"/>
                </a:solidFill>
                <a:highlight>
                  <a:srgbClr val="DCE3D3"/>
                </a:highlight>
                <a:latin typeface="Noto Sans KR"/>
                <a:ea typeface="Noto Sans KR"/>
                <a:cs typeface="Noto Sans KR"/>
              </a:rPr>
              <a:t>1.53배</a:t>
            </a:r>
          </a:p>
        </p:txBody>
      </p:sp>
      <p:sp>
        <p:nvSpPr>
          <p:cNvPr id="13" name="TextBox 12"/>
          <p:cNvSpPr txBox="1"/>
          <p:nvPr/>
        </p:nvSpPr>
        <p:spPr>
          <a:xfrm>
            <a:off x="685800" y="5219700"/>
            <a:ext cx="10820400" cy="1047750"/>
          </a:xfrm>
          <a:prstGeom prst="rect">
            <a:avLst/>
          </a:prstGeom>
          <a:noFill/>
        </p:spPr>
        <p:txBody>
          <a:bodyPr wrap="square" lIns="0" tIns="0" rIns="0" bIns="0" anchor="t"/>
          <a:lstStyle/>
          <a:p>
            <a:pPr algn="l" latinLnBrk="0" eaLnBrk="1">
              <a:lnSpc>
                <a:spcPct val="125000"/>
              </a:lnSpc>
            </a:pPr>
            <a:r>
              <a:rPr sz="2400" b="1" spc="-48" lang="ko-KR" altLang="en-US">
                <a:solidFill>
                  <a:srgbClr val="C8431F"/>
                </a:solidFill>
                <a:latin typeface="Noto Sans KR"/>
                <a:ea typeface="Noto Sans KR"/>
                <a:cs typeface="Noto Sans KR"/>
              </a:rPr>
              <a:t>→ </a:t>
            </a:r>
            <a:r>
              <a:rPr sz="2400" b="1" spc="-48" lang="ko-KR" altLang="en-US">
                <a:solidFill>
                  <a:srgbClr val="202921"/>
                </a:solidFill>
                <a:latin typeface="Noto Sans KR"/>
                <a:ea typeface="Noto Sans KR"/>
                <a:cs typeface="Noto Sans KR"/>
              </a:rPr>
              <a:t>숫자 하나는 직접 계산합니다. 대조표도 검토 대상입니다.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AI·표절 의심 과제 · 150–170분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60</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정리 · 학교 도구와 절차</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의심이 들면 이 순서로: 점수가 아니라 절차로</a:t>
            </a:r>
          </a:p>
        </p:txBody>
      </p:sp>
      <p:sp>
        <p:nvSpPr>
          <p:cNvPr id="7" name="Rounded Rectangle 6"/>
          <p:cNvSpPr/>
          <p:nvPr/>
        </p:nvSpPr>
        <p:spPr>
          <a:xfrm>
            <a:off x="685800" y="1771650"/>
            <a:ext cx="10820400" cy="857250"/>
          </a:xfrm>
          <a:prstGeom prst="roundRect">
            <a:avLst>
              <a:gd name="adj" fmla="val 444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5350" y="1990725"/>
            <a:ext cx="419100" cy="41910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5350" y="1990725"/>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1</a:t>
            </a:r>
          </a:p>
        </p:txBody>
      </p:sp>
      <p:sp>
        <p:nvSpPr>
          <p:cNvPr id="10" name="TextBox 9"/>
          <p:cNvSpPr txBox="1"/>
          <p:nvPr/>
        </p:nvSpPr>
        <p:spPr>
          <a:xfrm>
            <a:off x="1543050" y="1771650"/>
            <a:ext cx="2381250" cy="8572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유사도 검사</a:t>
            </a:r>
          </a:p>
        </p:txBody>
      </p:sp>
      <p:sp>
        <p:nvSpPr>
          <p:cNvPr id="11" name="TextBox 10"/>
          <p:cNvSpPr txBox="1"/>
          <p:nvPr/>
        </p:nvSpPr>
        <p:spPr>
          <a:xfrm>
            <a:off x="3962400" y="1771650"/>
            <a:ext cx="5334000" cy="857250"/>
          </a:xfrm>
          <a:prstGeom prst="rect">
            <a:avLst/>
          </a:prstGeom>
          <a:noFill/>
        </p:spPr>
        <p:txBody>
          <a:bodyPr wrap="square" lIns="0" tIns="0" rIns="0" bIns="0" anchor="ctr"/>
          <a:lstStyle/>
          <a:p>
            <a:pPr algn="l" latinLnBrk="0" eaLnBrk="1">
              <a:lnSpc>
                <a:spcPct val="120000"/>
              </a:lnSpc>
            </a:pPr>
            <a:r>
              <a:rPr sz="1950" b="0" spc="-39" lang="ko-KR" altLang="en-US">
                <a:solidFill>
                  <a:srgbClr val="202921"/>
                </a:solidFill>
                <a:latin typeface="Noto Sans KR"/>
                <a:ea typeface="Noto Sans KR"/>
                <a:cs typeface="Noto Sans KR"/>
              </a:rPr>
              <a:t>카피킬러 캠퍼스(도서관) · KCI 유사도(무료)</a:t>
            </a:r>
          </a:p>
        </p:txBody>
      </p:sp>
      <p:sp>
        <p:nvSpPr>
          <p:cNvPr id="12" name="TextBox 11"/>
          <p:cNvSpPr txBox="1"/>
          <p:nvPr/>
        </p:nvSpPr>
        <p:spPr>
          <a:xfrm>
            <a:off x="9505950" y="1771650"/>
            <a:ext cx="1771650" cy="857250"/>
          </a:xfrm>
          <a:prstGeom prst="rect">
            <a:avLst/>
          </a:prstGeom>
          <a:noFill/>
        </p:spPr>
        <p:txBody>
          <a:bodyPr wrap="square" lIns="0" tIns="0" rIns="0" bIns="0" anchor="ctr"/>
          <a:lstStyle/>
          <a:p>
            <a:pPr algn="r" latinLnBrk="0" eaLnBrk="1">
              <a:lnSpc>
                <a:spcPct val="100000"/>
              </a:lnSpc>
            </a:pPr>
            <a:r>
              <a:rPr sz="1800" b="1" spc="-36" lang="ko-KR" altLang="en-US">
                <a:solidFill>
                  <a:srgbClr val="586356"/>
                </a:solidFill>
                <a:latin typeface="Noto Sans KR"/>
                <a:ea typeface="Noto Sans KR"/>
                <a:cs typeface="Noto Sans KR"/>
              </a:rPr>
              <a:t>옮긴 문장</a:t>
            </a:r>
          </a:p>
        </p:txBody>
      </p:sp>
      <p:sp>
        <p:nvSpPr>
          <p:cNvPr id="13" name="Rounded Rectangle 12"/>
          <p:cNvSpPr/>
          <p:nvPr/>
        </p:nvSpPr>
        <p:spPr>
          <a:xfrm>
            <a:off x="685800" y="2762250"/>
            <a:ext cx="10820400" cy="857250"/>
          </a:xfrm>
          <a:prstGeom prst="roundRect">
            <a:avLst>
              <a:gd name="adj" fmla="val 444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95350" y="2981325"/>
            <a:ext cx="419100" cy="41910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5350" y="2981325"/>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2</a:t>
            </a:r>
          </a:p>
        </p:txBody>
      </p:sp>
      <p:sp>
        <p:nvSpPr>
          <p:cNvPr id="16" name="TextBox 15"/>
          <p:cNvSpPr txBox="1"/>
          <p:nvPr/>
        </p:nvSpPr>
        <p:spPr>
          <a:xfrm>
            <a:off x="1543050" y="2762250"/>
            <a:ext cx="2381250" cy="8572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AI 근거 대조표</a:t>
            </a:r>
          </a:p>
        </p:txBody>
      </p:sp>
      <p:sp>
        <p:nvSpPr>
          <p:cNvPr id="17" name="TextBox 16"/>
          <p:cNvSpPr txBox="1"/>
          <p:nvPr/>
        </p:nvSpPr>
        <p:spPr>
          <a:xfrm>
            <a:off x="3962400" y="2762250"/>
            <a:ext cx="5334000" cy="857250"/>
          </a:xfrm>
          <a:prstGeom prst="rect">
            <a:avLst/>
          </a:prstGeom>
          <a:noFill/>
        </p:spPr>
        <p:txBody>
          <a:bodyPr wrap="square" lIns="0" tIns="0" rIns="0" bIns="0" anchor="ctr"/>
          <a:lstStyle/>
          <a:p>
            <a:pPr algn="l" latinLnBrk="0" eaLnBrk="1">
              <a:lnSpc>
                <a:spcPct val="120000"/>
              </a:lnSpc>
            </a:pPr>
            <a:r>
              <a:rPr sz="1950" b="0" spc="-39" lang="ko-KR" altLang="en-US">
                <a:solidFill>
                  <a:srgbClr val="202921"/>
                </a:solidFill>
                <a:latin typeface="Noto Sans KR"/>
                <a:ea typeface="Noto Sans KR"/>
                <a:cs typeface="Noto Sans KR"/>
              </a:rPr>
              <a:t>표와 다른 숫자, 없는 지역·문헌, 문체 차이</a:t>
            </a:r>
          </a:p>
        </p:txBody>
      </p:sp>
      <p:sp>
        <p:nvSpPr>
          <p:cNvPr id="18" name="TextBox 17"/>
          <p:cNvSpPr txBox="1"/>
          <p:nvPr/>
        </p:nvSpPr>
        <p:spPr>
          <a:xfrm>
            <a:off x="9505950" y="2762250"/>
            <a:ext cx="1771650" cy="857250"/>
          </a:xfrm>
          <a:prstGeom prst="rect">
            <a:avLst/>
          </a:prstGeom>
          <a:noFill/>
        </p:spPr>
        <p:txBody>
          <a:bodyPr wrap="square" lIns="0" tIns="0" rIns="0" bIns="0" anchor="ctr"/>
          <a:lstStyle/>
          <a:p>
            <a:pPr algn="r" latinLnBrk="0" eaLnBrk="1">
              <a:lnSpc>
                <a:spcPct val="100000"/>
              </a:lnSpc>
            </a:pPr>
            <a:r>
              <a:rPr sz="1800" b="1" spc="-36" lang="ko-KR" altLang="en-US">
                <a:solidFill>
                  <a:srgbClr val="586356"/>
                </a:solidFill>
                <a:latin typeface="Noto Sans KR"/>
                <a:ea typeface="Noto Sans KR"/>
                <a:cs typeface="Noto Sans KR"/>
              </a:rPr>
              <a:t>오늘 실습</a:t>
            </a:r>
          </a:p>
        </p:txBody>
      </p:sp>
      <p:sp>
        <p:nvSpPr>
          <p:cNvPr id="19" name="Rounded Rectangle 18"/>
          <p:cNvSpPr/>
          <p:nvPr/>
        </p:nvSpPr>
        <p:spPr>
          <a:xfrm>
            <a:off x="685800" y="3752850"/>
            <a:ext cx="10820400" cy="857250"/>
          </a:xfrm>
          <a:prstGeom prst="roundRect">
            <a:avLst>
              <a:gd name="adj" fmla="val 4444"/>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95350" y="3971925"/>
            <a:ext cx="419100" cy="41910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5350" y="3971925"/>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3</a:t>
            </a:r>
          </a:p>
        </p:txBody>
      </p:sp>
      <p:sp>
        <p:nvSpPr>
          <p:cNvPr id="22" name="TextBox 21"/>
          <p:cNvSpPr txBox="1"/>
          <p:nvPr/>
        </p:nvSpPr>
        <p:spPr>
          <a:xfrm>
            <a:off x="1543050" y="3752850"/>
            <a:ext cx="2381250" cy="8572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면담</a:t>
            </a:r>
          </a:p>
        </p:txBody>
      </p:sp>
      <p:sp>
        <p:nvSpPr>
          <p:cNvPr id="23" name="TextBox 22"/>
          <p:cNvSpPr txBox="1"/>
          <p:nvPr/>
        </p:nvSpPr>
        <p:spPr>
          <a:xfrm>
            <a:off x="3962400" y="3752850"/>
            <a:ext cx="5334000" cy="857250"/>
          </a:xfrm>
          <a:prstGeom prst="rect">
            <a:avLst/>
          </a:prstGeom>
          <a:noFill/>
        </p:spPr>
        <p:txBody>
          <a:bodyPr wrap="square" lIns="0" tIns="0" rIns="0" bIns="0" anchor="ctr"/>
          <a:lstStyle/>
          <a:p>
            <a:pPr algn="l" latinLnBrk="0" eaLnBrk="1">
              <a:lnSpc>
                <a:spcPct val="120000"/>
              </a:lnSpc>
            </a:pPr>
            <a:r>
              <a:rPr sz="1950" b="0" spc="-39" lang="ko-KR" altLang="en-US">
                <a:solidFill>
                  <a:srgbClr val="202921"/>
                </a:solidFill>
                <a:latin typeface="Noto Sans KR"/>
                <a:ea typeface="Noto Sans KR"/>
                <a:cs typeface="Noto Sans KR"/>
              </a:rPr>
              <a:t>사실만 적은 메일(질문 5-3), 출처를 직접 듣기</a:t>
            </a:r>
          </a:p>
        </p:txBody>
      </p:sp>
      <p:sp>
        <p:nvSpPr>
          <p:cNvPr id="24" name="TextBox 23"/>
          <p:cNvSpPr txBox="1"/>
          <p:nvPr/>
        </p:nvSpPr>
        <p:spPr>
          <a:xfrm>
            <a:off x="9505950" y="3752850"/>
            <a:ext cx="1771650" cy="857250"/>
          </a:xfrm>
          <a:prstGeom prst="rect">
            <a:avLst/>
          </a:prstGeom>
          <a:noFill/>
        </p:spPr>
        <p:txBody>
          <a:bodyPr wrap="square" lIns="0" tIns="0" rIns="0" bIns="0" anchor="ctr"/>
          <a:lstStyle/>
          <a:p>
            <a:pPr algn="r" latinLnBrk="0" eaLnBrk="1">
              <a:lnSpc>
                <a:spcPct val="100000"/>
              </a:lnSpc>
            </a:pPr>
            <a:r>
              <a:rPr sz="1800" b="1" spc="-36" lang="ko-KR" altLang="en-US">
                <a:solidFill>
                  <a:srgbClr val="586356"/>
                </a:solidFill>
                <a:latin typeface="Noto Sans KR"/>
                <a:ea typeface="Noto Sans KR"/>
                <a:cs typeface="Noto Sans KR"/>
              </a:rPr>
              <a:t>[시간 확인]</a:t>
            </a:r>
          </a:p>
        </p:txBody>
      </p:sp>
      <p:sp>
        <p:nvSpPr>
          <p:cNvPr id="25" name="Rounded Rectangle 24"/>
          <p:cNvSpPr/>
          <p:nvPr/>
        </p:nvSpPr>
        <p:spPr>
          <a:xfrm>
            <a:off x="685800" y="4743450"/>
            <a:ext cx="10820400" cy="857250"/>
          </a:xfrm>
          <a:prstGeom prst="roundRect">
            <a:avLst>
              <a:gd name="adj" fmla="val 4444"/>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95350" y="4962525"/>
            <a:ext cx="419100" cy="41910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5350" y="4962525"/>
            <a:ext cx="419100" cy="419100"/>
          </a:xfrm>
          <a:prstGeom prst="rect">
            <a:avLst/>
          </a:prstGeom>
          <a:noFill/>
        </p:spPr>
        <p:txBody>
          <a:bodyPr wrap="square" lIns="0" tIns="0" rIns="0" bIns="0" anchor="ctr"/>
          <a:lstStyle/>
          <a:p>
            <a:pPr algn="ctr" latinLnBrk="0" eaLnBrk="1">
              <a:lnSpc>
                <a:spcPct val="100000"/>
              </a:lnSpc>
            </a:pPr>
            <a:r>
              <a:rPr sz="1950" b="1" spc="-39" lang="ko-KR" altLang="en-US">
                <a:solidFill>
                  <a:srgbClr val="F4F1E9"/>
                </a:solidFill>
                <a:latin typeface="Noto Sans KR"/>
                <a:ea typeface="Noto Sans KR"/>
                <a:cs typeface="Noto Sans KR"/>
              </a:rPr>
              <a:t>4</a:t>
            </a:r>
          </a:p>
        </p:txBody>
      </p:sp>
      <p:sp>
        <p:nvSpPr>
          <p:cNvPr id="28" name="TextBox 27"/>
          <p:cNvSpPr txBox="1"/>
          <p:nvPr/>
        </p:nvSpPr>
        <p:spPr>
          <a:xfrm>
            <a:off x="1543050" y="4743450"/>
            <a:ext cx="2381250" cy="857250"/>
          </a:xfrm>
          <a:prstGeom prst="rect">
            <a:avLst/>
          </a:prstGeom>
          <a:noFill/>
        </p:spPr>
        <p:txBody>
          <a:bodyPr wrap="square" lIns="0" tIns="0" rIns="0" bIns="0" anchor="ctr"/>
          <a:lstStyle/>
          <a:p>
            <a:pPr algn="l" latinLnBrk="0" eaLnBrk="1">
              <a:lnSpc>
                <a:spcPct val="100000"/>
              </a:lnSpc>
            </a:pPr>
            <a:r>
              <a:rPr sz="2100" b="1" spc="-42" lang="ko-KR" altLang="en-US">
                <a:solidFill>
                  <a:srgbClr val="202921"/>
                </a:solidFill>
                <a:latin typeface="Noto Sans KR"/>
                <a:ea typeface="Noto Sans KR"/>
                <a:cs typeface="Noto Sans KR"/>
              </a:rPr>
              <a:t>학교 절차</a:t>
            </a:r>
          </a:p>
        </p:txBody>
      </p:sp>
      <p:sp>
        <p:nvSpPr>
          <p:cNvPr id="29" name="TextBox 28"/>
          <p:cNvSpPr txBox="1"/>
          <p:nvPr/>
        </p:nvSpPr>
        <p:spPr>
          <a:xfrm>
            <a:off x="3962400" y="4743450"/>
            <a:ext cx="5334000" cy="857250"/>
          </a:xfrm>
          <a:prstGeom prst="rect">
            <a:avLst/>
          </a:prstGeom>
          <a:noFill/>
        </p:spPr>
        <p:txBody>
          <a:bodyPr wrap="square" lIns="0" tIns="0" rIns="0" bIns="0" anchor="ctr"/>
          <a:lstStyle/>
          <a:p>
            <a:pPr algn="l" latinLnBrk="0" eaLnBrk="1">
              <a:lnSpc>
                <a:spcPct val="120000"/>
              </a:lnSpc>
            </a:pPr>
            <a:r>
              <a:rPr sz="1950" b="0" spc="-39" lang="ko-KR" altLang="en-US">
                <a:solidFill>
                  <a:srgbClr val="202921"/>
                </a:solidFill>
                <a:latin typeface="Noto Sans KR"/>
                <a:ea typeface="Noto Sans KR"/>
                <a:cs typeface="Noto Sans KR"/>
              </a:rPr>
              <a:t>학칙·연구윤리 규정, 학과와 상의</a:t>
            </a:r>
          </a:p>
        </p:txBody>
      </p:sp>
      <p:sp>
        <p:nvSpPr>
          <p:cNvPr id="30" name="TextBox 29"/>
          <p:cNvSpPr txBox="1"/>
          <p:nvPr/>
        </p:nvSpPr>
        <p:spPr>
          <a:xfrm>
            <a:off x="9505950" y="4743450"/>
            <a:ext cx="1771650" cy="857250"/>
          </a:xfrm>
          <a:prstGeom prst="rect">
            <a:avLst/>
          </a:prstGeom>
          <a:noFill/>
        </p:spPr>
        <p:txBody>
          <a:bodyPr wrap="square" lIns="0" tIns="0" rIns="0" bIns="0" anchor="ctr"/>
          <a:lstStyle/>
          <a:p>
            <a:pPr algn="r" latinLnBrk="0" eaLnBrk="1">
              <a:lnSpc>
                <a:spcPct val="100000"/>
              </a:lnSpc>
            </a:pPr>
            <a:r>
              <a:rPr sz="1800" b="1" spc="-36" lang="ko-KR" altLang="en-US">
                <a:solidFill>
                  <a:srgbClr val="586356"/>
                </a:solidFill>
                <a:latin typeface="Noto Sans KR"/>
                <a:ea typeface="Noto Sans KR"/>
                <a:cs typeface="Noto Sans KR"/>
              </a:rPr>
              <a:t>혼자 단정 금지</a:t>
            </a:r>
          </a:p>
        </p:txBody>
      </p:sp>
      <p:sp>
        <p:nvSpPr>
          <p:cNvPr id="31" name="TextBox 30"/>
          <p:cNvSpPr txBox="1"/>
          <p:nvPr/>
        </p:nvSpPr>
        <p:spPr>
          <a:xfrm>
            <a:off x="685800" y="5829300"/>
            <a:ext cx="10820400" cy="476250"/>
          </a:xfrm>
          <a:prstGeom prst="rect">
            <a:avLst/>
          </a:prstGeom>
          <a:noFill/>
        </p:spPr>
        <p:txBody>
          <a:bodyPr wrap="square" lIns="0" tIns="0" rIns="0" bIns="0" anchor="t"/>
          <a:lstStyle/>
          <a:p>
            <a:pPr algn="l" latinLnBrk="0" eaLnBrk="1">
              <a:lnSpc>
                <a:spcPct val="100000"/>
              </a:lnSpc>
            </a:pPr>
            <a:r>
              <a:rPr sz="2100" b="1" spc="-42" lang="ko-KR" altLang="en-US">
                <a:solidFill>
                  <a:srgbClr val="EA5936"/>
                </a:solidFill>
                <a:latin typeface="Noto Sans KR"/>
                <a:ea typeface="Noto Sans KR"/>
                <a:cs typeface="Noto Sans KR"/>
              </a:rPr>
              <a:t>→ </a:t>
            </a:r>
            <a:r>
              <a:rPr sz="2100" b="1" spc="-42" lang="ko-KR" altLang="en-US">
                <a:solidFill>
                  <a:srgbClr val="202921"/>
                </a:solidFill>
                <a:latin typeface="Noto Sans KR"/>
                <a:ea typeface="Noto Sans KR"/>
                <a:cs typeface="Noto Sans KR"/>
              </a:rPr>
              <a:t>AI 탐지 점수는 면담을 시작할 이유일 뿐, 판정 근거가 아닙니다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마치며 · 170–180분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61</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마치며</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내일 아침, 딱 하나만 해 보세요</a:t>
            </a:r>
          </a:p>
        </p:txBody>
      </p:sp>
      <p:sp>
        <p:nvSpPr>
          <p:cNvPr id="7" name="TextBox 6"/>
          <p:cNvSpPr txBox="1"/>
          <p:nvPr/>
        </p:nvSpPr>
        <p:spPr>
          <a:xfrm>
            <a:off x="685800" y="2038350"/>
            <a:ext cx="2286000" cy="571500"/>
          </a:xfrm>
          <a:prstGeom prst="rect">
            <a:avLst/>
          </a:prstGeom>
          <a:noFill/>
        </p:spPr>
        <p:txBody>
          <a:bodyPr wrap="square" lIns="0" tIns="0" rIns="0" bIns="0" anchor="b"/>
          <a:lstStyle/>
          <a:p>
            <a:pPr algn="l" latinLnBrk="0" eaLnBrk="1">
              <a:lnSpc>
                <a:spcPct val="100000"/>
              </a:lnSpc>
            </a:pPr>
            <a:r>
              <a:rPr sz="2400" b="1" spc="-48" lang="ko-KR" altLang="en-US">
                <a:solidFill>
                  <a:srgbClr val="202921"/>
                </a:solidFill>
                <a:latin typeface="Noto Sans KR"/>
                <a:ea typeface="Noto Sans KR"/>
                <a:cs typeface="Noto Sans KR"/>
              </a:rPr>
              <a:t>업무</a:t>
            </a:r>
          </a:p>
        </p:txBody>
      </p:sp>
      <p:sp>
        <p:nvSpPr>
          <p:cNvPr id="8" name="TextBox 7"/>
          <p:cNvSpPr txBox="1"/>
          <p:nvPr/>
        </p:nvSpPr>
        <p:spPr>
          <a:xfrm>
            <a:off x="3257550" y="2038350"/>
            <a:ext cx="8191500" cy="571500"/>
          </a:xfrm>
          <a:prstGeom prst="rect">
            <a:avLst/>
          </a:prstGeom>
          <a:noFill/>
        </p:spPr>
        <p:txBody>
          <a:bodyPr wrap="square" lIns="0" tIns="0" rIns="0" bIns="0" anchor="b"/>
          <a:lstStyle/>
          <a:p>
            <a:pPr algn="l" latinLnBrk="0" eaLnBrk="1">
              <a:lnSpc>
                <a:spcPct val="100000"/>
              </a:lnSpc>
            </a:pPr>
            <a:r>
              <a:rPr sz="2100" b="0" spc="-42" lang="ko-KR" altLang="en-US">
                <a:solidFill>
                  <a:srgbClr val="586356"/>
                </a:solidFill>
                <a:latin typeface="Noto Sans KR"/>
                <a:ea typeface="Noto Sans KR"/>
                <a:cs typeface="Noto Sans KR"/>
              </a:rPr>
              <a:t>예: 이번 주 학생 메일 정리</a:t>
            </a:r>
          </a:p>
        </p:txBody>
      </p:sp>
      <p:sp>
        <p:nvSpPr>
          <p:cNvPr id="9" name="Rectangle 8"/>
          <p:cNvSpPr/>
          <p:nvPr/>
        </p:nvSpPr>
        <p:spPr>
          <a:xfrm>
            <a:off x="3257550" y="2705100"/>
            <a:ext cx="8248650" cy="23812"/>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086100"/>
            <a:ext cx="2286000" cy="571500"/>
          </a:xfrm>
          <a:prstGeom prst="rect">
            <a:avLst/>
          </a:prstGeom>
          <a:noFill/>
        </p:spPr>
        <p:txBody>
          <a:bodyPr wrap="square" lIns="0" tIns="0" rIns="0" bIns="0" anchor="b"/>
          <a:lstStyle/>
          <a:p>
            <a:pPr algn="l" latinLnBrk="0" eaLnBrk="1">
              <a:lnSpc>
                <a:spcPct val="100000"/>
              </a:lnSpc>
            </a:pPr>
            <a:r>
              <a:rPr sz="2400" b="1" spc="-48" lang="ko-KR" altLang="en-US">
                <a:solidFill>
                  <a:srgbClr val="202921"/>
                </a:solidFill>
                <a:latin typeface="Noto Sans KR"/>
                <a:ea typeface="Noto Sans KR"/>
                <a:cs typeface="Noto Sans KR"/>
              </a:rPr>
              <a:t>도구</a:t>
            </a:r>
          </a:p>
        </p:txBody>
      </p:sp>
      <p:sp>
        <p:nvSpPr>
          <p:cNvPr id="11" name="TextBox 10"/>
          <p:cNvSpPr txBox="1"/>
          <p:nvPr/>
        </p:nvSpPr>
        <p:spPr>
          <a:xfrm>
            <a:off x="3257550" y="3086100"/>
            <a:ext cx="8191500" cy="571500"/>
          </a:xfrm>
          <a:prstGeom prst="rect">
            <a:avLst/>
          </a:prstGeom>
          <a:noFill/>
        </p:spPr>
        <p:txBody>
          <a:bodyPr wrap="square" lIns="0" tIns="0" rIns="0" bIns="0" anchor="b"/>
          <a:lstStyle/>
          <a:p>
            <a:pPr algn="l" latinLnBrk="0" eaLnBrk="1">
              <a:lnSpc>
                <a:spcPct val="100000"/>
              </a:lnSpc>
            </a:pPr>
            <a:r>
              <a:rPr sz="2100" b="0" spc="-42" lang="ko-KR" altLang="en-US">
                <a:solidFill>
                  <a:srgbClr val="586356"/>
                </a:solidFill>
                <a:latin typeface="Noto Sans KR"/>
                <a:ea typeface="Noto Sans KR"/>
                <a:cs typeface="Noto Sans KR"/>
              </a:rPr>
              <a:t>예: 학교 계정 도구 (없으면 개인 계정 + 학습 설정 끄기)</a:t>
            </a:r>
          </a:p>
        </p:txBody>
      </p:sp>
      <p:sp>
        <p:nvSpPr>
          <p:cNvPr id="12" name="Rectangle 11"/>
          <p:cNvSpPr/>
          <p:nvPr/>
        </p:nvSpPr>
        <p:spPr>
          <a:xfrm>
            <a:off x="3257550" y="3752850"/>
            <a:ext cx="8248650" cy="23812"/>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4133850"/>
            <a:ext cx="2286000" cy="571500"/>
          </a:xfrm>
          <a:prstGeom prst="rect">
            <a:avLst/>
          </a:prstGeom>
          <a:noFill/>
        </p:spPr>
        <p:txBody>
          <a:bodyPr wrap="square" lIns="0" tIns="0" rIns="0" bIns="0" anchor="b"/>
          <a:lstStyle/>
          <a:p>
            <a:pPr algn="l" latinLnBrk="0" eaLnBrk="1">
              <a:lnSpc>
                <a:spcPct val="100000"/>
              </a:lnSpc>
            </a:pPr>
            <a:r>
              <a:rPr sz="2400" b="1" spc="-48" lang="ko-KR" altLang="en-US">
                <a:solidFill>
                  <a:srgbClr val="202921"/>
                </a:solidFill>
                <a:latin typeface="Noto Sans KR"/>
                <a:ea typeface="Noto Sans KR"/>
                <a:cs typeface="Noto Sans KR"/>
              </a:rPr>
              <a:t>확인할 한 곳</a:t>
            </a:r>
          </a:p>
        </p:txBody>
      </p:sp>
      <p:sp>
        <p:nvSpPr>
          <p:cNvPr id="14" name="TextBox 13"/>
          <p:cNvSpPr txBox="1"/>
          <p:nvPr/>
        </p:nvSpPr>
        <p:spPr>
          <a:xfrm>
            <a:off x="3257550" y="4133850"/>
            <a:ext cx="8191500" cy="571500"/>
          </a:xfrm>
          <a:prstGeom prst="rect">
            <a:avLst/>
          </a:prstGeom>
          <a:noFill/>
        </p:spPr>
        <p:txBody>
          <a:bodyPr wrap="square" lIns="0" tIns="0" rIns="0" bIns="0" anchor="b"/>
          <a:lstStyle/>
          <a:p>
            <a:pPr algn="l" latinLnBrk="0" eaLnBrk="1">
              <a:lnSpc>
                <a:spcPct val="100000"/>
              </a:lnSpc>
            </a:pPr>
            <a:r>
              <a:rPr sz="2100" b="0" spc="-42" lang="ko-KR" altLang="en-US">
                <a:solidFill>
                  <a:srgbClr val="586356"/>
                </a:solidFill>
                <a:latin typeface="Noto Sans KR"/>
                <a:ea typeface="Noto Sans KR"/>
                <a:cs typeface="Noto Sans KR"/>
              </a:rPr>
              <a:t>예: 날짜와 숫자 하나를 원문과 대조</a:t>
            </a:r>
          </a:p>
        </p:txBody>
      </p:sp>
      <p:sp>
        <p:nvSpPr>
          <p:cNvPr id="15" name="Rectangle 14"/>
          <p:cNvSpPr/>
          <p:nvPr/>
        </p:nvSpPr>
        <p:spPr>
          <a:xfrm>
            <a:off x="3257550" y="4800600"/>
            <a:ext cx="8248650" cy="23812"/>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85800" y="5334000"/>
            <a:ext cx="10820400" cy="800100"/>
          </a:xfrm>
          <a:prstGeom prst="roundRect">
            <a:avLst>
              <a:gd name="adj" fmla="val 4761"/>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2500" y="5334000"/>
            <a:ext cx="10287000" cy="800100"/>
          </a:xfrm>
          <a:prstGeom prst="rect">
            <a:avLst/>
          </a:prstGeom>
          <a:noFill/>
        </p:spPr>
        <p:txBody>
          <a:bodyPr wrap="square" lIns="0" tIns="0" rIns="0" bIns="0" anchor="ctr"/>
          <a:lstStyle/>
          <a:p>
            <a:pPr algn="l" latinLnBrk="0" eaLnBrk="1">
              <a:lnSpc>
                <a:spcPct val="100000"/>
              </a:lnSpc>
            </a:pPr>
            <a:r>
              <a:rPr sz="1950" b="1" spc="-39" lang="ko-KR" altLang="en-US">
                <a:solidFill>
                  <a:srgbClr val="EA5936"/>
                </a:solidFill>
                <a:latin typeface="Noto Sans KR"/>
                <a:ea typeface="Noto Sans KR"/>
                <a:cs typeface="Noto Sans KR"/>
              </a:rPr>
              <a:t>질문은 네 줄로  </a:t>
            </a:r>
            <a:r>
              <a:rPr sz="1950" b="0" spc="-39" lang="ko-KR" altLang="en-US">
                <a:solidFill>
                  <a:srgbClr val="202921"/>
                </a:solidFill>
                <a:latin typeface="Noto Sans KR"/>
                <a:ea typeface="Noto Sans KR"/>
                <a:cs typeface="Noto Sans KR"/>
              </a:rPr>
              <a:t>역할 · 자료 · 형태 · 금지  →  사이트 질문 6을 복사해 쓰세요</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586356"/>
                </a:solidFill>
                <a:latin typeface="Noto Sans KR"/>
                <a:ea typeface="Noto Sans KR"/>
                <a:cs typeface="Noto Sans KR"/>
              </a:rPr>
              <a:t>마치며 · 무료 계정 안내</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202921"/>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586356"/>
                </a:solidFill>
                <a:latin typeface="Noto Sans KR"/>
                <a:ea typeface="Noto Sans KR"/>
                <a:cs typeface="Noto Sans KR"/>
              </a:rPr>
              <a:t>62</a:t>
            </a:r>
          </a:p>
        </p:txBody>
      </p:sp>
      <p:sp>
        <p:nvSpPr>
          <p:cNvPr id="5" name="TextBox 4"/>
          <p:cNvSpPr txBox="1"/>
          <p:nvPr/>
        </p:nvSpPr>
        <p:spPr>
          <a:xfrm>
            <a:off x="685800" y="4572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586356"/>
                </a:solidFill>
                <a:latin typeface="Noto Sans KR"/>
                <a:ea typeface="Noto Sans KR"/>
                <a:cs typeface="Noto Sans KR"/>
              </a:rPr>
              <a:t>무료 계정 안내 · 2026-09-27 확인</a:t>
            </a:r>
          </a:p>
        </p:txBody>
      </p:sp>
      <p:sp>
        <p:nvSpPr>
          <p:cNvPr id="6" name="TextBox 5"/>
          <p:cNvSpPr txBox="1"/>
          <p:nvPr/>
        </p:nvSpPr>
        <p:spPr>
          <a:xfrm>
            <a:off x="685800" y="800100"/>
            <a:ext cx="10820400" cy="1238250"/>
          </a:xfrm>
          <a:prstGeom prst="rect">
            <a:avLst/>
          </a:prstGeom>
          <a:noFill/>
        </p:spPr>
        <p:txBody>
          <a:bodyPr wrap="square" lIns="0" tIns="0" rIns="0" bIns="0" anchor="t"/>
          <a:lstStyle/>
          <a:p>
            <a:pPr algn="l" latinLnBrk="0" eaLnBrk="1">
              <a:lnSpc>
                <a:spcPct val="120000"/>
              </a:lnSpc>
            </a:pPr>
            <a:r>
              <a:rPr sz="3450" b="1" spc="-69" lang="ko-KR" altLang="en-US">
                <a:solidFill>
                  <a:srgbClr val="202921"/>
                </a:solidFill>
                <a:latin typeface="Noto Sans KR"/>
                <a:ea typeface="Noto Sans KR"/>
                <a:cs typeface="Noto Sans KR"/>
              </a:rPr>
              <a:t>세 도구 모두 무료 계정으로 다시 해 볼 수 있습니다</a:t>
            </a:r>
          </a:p>
        </p:txBody>
      </p:sp>
      <p:sp>
        <p:nvSpPr>
          <p:cNvPr id="7" name="Rounded Rectangle 6"/>
          <p:cNvSpPr/>
          <p:nvPr/>
        </p:nvSpPr>
        <p:spPr>
          <a:xfrm>
            <a:off x="685800" y="2038350"/>
            <a:ext cx="3454400" cy="3143250"/>
          </a:xfrm>
          <a:prstGeom prst="roundRect">
            <a:avLst>
              <a:gd name="adj" fmla="val 121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2038350"/>
            <a:ext cx="3454400" cy="95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1550" y="2457450"/>
            <a:ext cx="171450" cy="1714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57300" y="2343150"/>
            <a:ext cx="2692400" cy="4191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Gemini Notebook</a:t>
            </a:r>
          </a:p>
        </p:txBody>
      </p:sp>
      <p:sp>
        <p:nvSpPr>
          <p:cNvPr id="11" name="TextBox 10"/>
          <p:cNvSpPr txBox="1"/>
          <p:nvPr/>
        </p:nvSpPr>
        <p:spPr>
          <a:xfrm>
            <a:off x="971550" y="3028950"/>
            <a:ext cx="2882900" cy="2000250"/>
          </a:xfrm>
          <a:prstGeom prst="rect">
            <a:avLst/>
          </a:prstGeom>
          <a:noFill/>
        </p:spPr>
        <p:txBody>
          <a:bodyPr wrap="square" lIns="0" tIns="0" rIns="0" bIns="0" anchor="t"/>
          <a:lstStyle/>
          <a:p>
            <a:pPr algn="l" latinLnBrk="0" eaLnBrk="1">
              <a:lnSpc>
                <a:spcPct val="140000"/>
              </a:lnSpc>
            </a:pPr>
            <a:r>
              <a:rPr sz="2100" b="0" spc="-42" lang="ko-KR" altLang="en-US">
                <a:solidFill>
                  <a:srgbClr val="586356"/>
                </a:solidFill>
                <a:latin typeface="Noto Sans KR"/>
                <a:ea typeface="Noto Sans KR"/>
                <a:cs typeface="Noto Sans KR"/>
              </a:rPr>
              <a:t>개인 Google 계정</a:t>
            </a:r>
            <a:br/>
            <a:r>
              <a:rPr sz="2100" b="0" spc="-42" lang="ko-KR" altLang="en-US">
                <a:solidFill>
                  <a:srgbClr val="586356"/>
                </a:solidFill>
                <a:latin typeface="Noto Sans KR"/>
                <a:ea typeface="Noto Sans KR"/>
                <a:cs typeface="Noto Sans KR"/>
              </a:rPr>
              <a:t>무료 · 약 5시간마다</a:t>
            </a:r>
            <a:br/>
            <a:r>
              <a:rPr sz="2100" b="0" spc="-42" lang="ko-KR" altLang="en-US">
                <a:solidFill>
                  <a:srgbClr val="586356"/>
                </a:solidFill>
                <a:latin typeface="Noto Sans KR"/>
                <a:ea typeface="Noto Sans KR"/>
                <a:cs typeface="Noto Sans KR"/>
              </a:rPr>
              <a:t>사용량 갱신</a:t>
            </a:r>
          </a:p>
        </p:txBody>
      </p:sp>
      <p:sp>
        <p:nvSpPr>
          <p:cNvPr id="12" name="Rounded Rectangle 11"/>
          <p:cNvSpPr/>
          <p:nvPr/>
        </p:nvSpPr>
        <p:spPr>
          <a:xfrm>
            <a:off x="4368800" y="2038350"/>
            <a:ext cx="3454400" cy="3143250"/>
          </a:xfrm>
          <a:prstGeom prst="roundRect">
            <a:avLst>
              <a:gd name="adj" fmla="val 121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68800" y="2038350"/>
            <a:ext cx="3454400" cy="95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654550" y="2457450"/>
            <a:ext cx="171450" cy="1714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940300" y="2343150"/>
            <a:ext cx="2692400" cy="4191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Claude</a:t>
            </a:r>
          </a:p>
        </p:txBody>
      </p:sp>
      <p:sp>
        <p:nvSpPr>
          <p:cNvPr id="16" name="TextBox 15"/>
          <p:cNvSpPr txBox="1"/>
          <p:nvPr/>
        </p:nvSpPr>
        <p:spPr>
          <a:xfrm>
            <a:off x="4654550" y="3028950"/>
            <a:ext cx="2882900" cy="2000250"/>
          </a:xfrm>
          <a:prstGeom prst="rect">
            <a:avLst/>
          </a:prstGeom>
          <a:noFill/>
        </p:spPr>
        <p:txBody>
          <a:bodyPr wrap="square" lIns="0" tIns="0" rIns="0" bIns="0" anchor="t"/>
          <a:lstStyle/>
          <a:p>
            <a:pPr algn="l" latinLnBrk="0" eaLnBrk="1">
              <a:lnSpc>
                <a:spcPct val="140000"/>
              </a:lnSpc>
            </a:pPr>
            <a:r>
              <a:rPr sz="2100" b="0" spc="-42" lang="ko-KR" altLang="en-US">
                <a:solidFill>
                  <a:srgbClr val="586356"/>
                </a:solidFill>
                <a:latin typeface="Noto Sans KR"/>
                <a:ea typeface="Noto Sans KR"/>
                <a:cs typeface="Noto Sans KR"/>
              </a:rPr>
              <a:t>무료 계정 가능</a:t>
            </a:r>
            <a:br/>
            <a:r>
              <a:rPr sz="2100" b="0" spc="-42" lang="ko-KR" altLang="en-US">
                <a:solidFill>
                  <a:srgbClr val="586356"/>
                </a:solidFill>
                <a:latin typeface="Noto Sans KR"/>
                <a:ea typeface="Noto Sans KR"/>
                <a:cs typeface="Noto Sans KR"/>
              </a:rPr>
              <a:t>5시간 단위 한도</a:t>
            </a:r>
            <a:br/>
            <a:r>
              <a:rPr sz="2100" b="0" spc="-42" lang="ko-KR" altLang="en-US">
                <a:solidFill>
                  <a:srgbClr val="586356"/>
                </a:solidFill>
                <a:latin typeface="Noto Sans KR"/>
                <a:ea typeface="Noto Sans KR"/>
                <a:cs typeface="Noto Sans KR"/>
              </a:rPr>
              <a:t>학습 설정 확인</a:t>
            </a:r>
          </a:p>
        </p:txBody>
      </p:sp>
      <p:sp>
        <p:nvSpPr>
          <p:cNvPr id="17" name="Rounded Rectangle 16"/>
          <p:cNvSpPr/>
          <p:nvPr/>
        </p:nvSpPr>
        <p:spPr>
          <a:xfrm>
            <a:off x="8051800" y="2038350"/>
            <a:ext cx="3454400" cy="3143250"/>
          </a:xfrm>
          <a:prstGeom prst="roundRect">
            <a:avLst>
              <a:gd name="adj" fmla="val 1212"/>
            </a:avLst>
          </a:prstGeom>
          <a:solidFill>
            <a:srgbClr val="FFFDF7"/>
          </a:solidFill>
          <a:ln w="14287">
            <a:solidFill>
              <a:srgbClr val="C9CC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51800" y="2038350"/>
            <a:ext cx="3454400" cy="95250"/>
          </a:xfrm>
          <a:prstGeom prst="rect">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37550" y="2457450"/>
            <a:ext cx="171450" cy="171450"/>
          </a:xfrm>
          <a:prstGeom prst="ellipse">
            <a:avLst/>
          </a:prstGeom>
          <a:solidFill>
            <a:srgbClr val="2029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23300" y="2343150"/>
            <a:ext cx="2692400" cy="419100"/>
          </a:xfrm>
          <a:prstGeom prst="rect">
            <a:avLst/>
          </a:prstGeom>
          <a:noFill/>
        </p:spPr>
        <p:txBody>
          <a:bodyPr wrap="square" lIns="0" tIns="0" rIns="0" bIns="0" anchor="t"/>
          <a:lstStyle/>
          <a:p>
            <a:pPr algn="l" latinLnBrk="0" eaLnBrk="1">
              <a:lnSpc>
                <a:spcPct val="100000"/>
              </a:lnSpc>
            </a:pPr>
            <a:r>
              <a:rPr sz="2250" b="1" spc="-45" lang="ko-KR" altLang="en-US">
                <a:solidFill>
                  <a:srgbClr val="202921"/>
                </a:solidFill>
                <a:latin typeface="Noto Sans KR"/>
                <a:ea typeface="Noto Sans KR"/>
                <a:cs typeface="Noto Sans KR"/>
              </a:rPr>
              <a:t>Gemini</a:t>
            </a:r>
          </a:p>
        </p:txBody>
      </p:sp>
      <p:sp>
        <p:nvSpPr>
          <p:cNvPr id="21" name="TextBox 20"/>
          <p:cNvSpPr txBox="1"/>
          <p:nvPr/>
        </p:nvSpPr>
        <p:spPr>
          <a:xfrm>
            <a:off x="8337550" y="3028950"/>
            <a:ext cx="2882900" cy="2000250"/>
          </a:xfrm>
          <a:prstGeom prst="rect">
            <a:avLst/>
          </a:prstGeom>
          <a:noFill/>
        </p:spPr>
        <p:txBody>
          <a:bodyPr wrap="square" lIns="0" tIns="0" rIns="0" bIns="0" anchor="t"/>
          <a:lstStyle/>
          <a:p>
            <a:pPr algn="l" latinLnBrk="0" eaLnBrk="1">
              <a:lnSpc>
                <a:spcPct val="140000"/>
              </a:lnSpc>
            </a:pPr>
            <a:r>
              <a:rPr sz="2100" b="0" spc="-42" lang="ko-KR" altLang="en-US">
                <a:solidFill>
                  <a:srgbClr val="586356"/>
                </a:solidFill>
                <a:latin typeface="Noto Sans KR"/>
                <a:ea typeface="Noto Sans KR"/>
                <a:cs typeface="Noto Sans KR"/>
              </a:rPr>
              <a:t>개인 Google 계정</a:t>
            </a:r>
            <a:br/>
            <a:r>
              <a:rPr sz="2100" b="0" spc="-42" lang="ko-KR" altLang="en-US">
                <a:solidFill>
                  <a:srgbClr val="586356"/>
                </a:solidFill>
                <a:latin typeface="Noto Sans KR"/>
                <a:ea typeface="Noto Sans KR"/>
                <a:cs typeface="Noto Sans KR"/>
              </a:rPr>
              <a:t>무료 · 약 5시간마다</a:t>
            </a:r>
            <a:br/>
            <a:r>
              <a:rPr sz="2100" b="0" spc="-42" lang="ko-KR" altLang="en-US">
                <a:solidFill>
                  <a:srgbClr val="586356"/>
                </a:solidFill>
                <a:latin typeface="Noto Sans KR"/>
                <a:ea typeface="Noto Sans KR"/>
                <a:cs typeface="Noto Sans KR"/>
              </a:rPr>
              <a:t>갱신, 주간 한도</a:t>
            </a:r>
          </a:p>
        </p:txBody>
      </p:sp>
      <p:sp>
        <p:nvSpPr>
          <p:cNvPr id="22" name="Rounded Rectangle 21"/>
          <p:cNvSpPr/>
          <p:nvPr/>
        </p:nvSpPr>
        <p:spPr>
          <a:xfrm>
            <a:off x="685800" y="5410200"/>
            <a:ext cx="10820400" cy="723900"/>
          </a:xfrm>
          <a:prstGeom prst="roundRect">
            <a:avLst>
              <a:gd name="adj" fmla="val 5263"/>
            </a:avLst>
          </a:prstGeom>
          <a:solidFill>
            <a:srgbClr val="F7E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52500" y="5410200"/>
            <a:ext cx="10287000" cy="723900"/>
          </a:xfrm>
          <a:prstGeom prst="rect">
            <a:avLst/>
          </a:prstGeom>
          <a:noFill/>
        </p:spPr>
        <p:txBody>
          <a:bodyPr wrap="square" lIns="0" tIns="0" rIns="0" bIns="0" anchor="ctr"/>
          <a:lstStyle/>
          <a:p>
            <a:pPr algn="l" latinLnBrk="0" eaLnBrk="1">
              <a:lnSpc>
                <a:spcPct val="100000"/>
              </a:lnSpc>
            </a:pPr>
            <a:r>
              <a:rPr sz="1950" b="1" spc="-39" lang="ko-KR" altLang="en-US">
                <a:solidFill>
                  <a:srgbClr val="202921"/>
                </a:solidFill>
                <a:latin typeface="Noto Sans KR"/>
                <a:ea typeface="Noto Sans KR"/>
                <a:cs typeface="Noto Sans KR"/>
              </a:rPr>
              <a:t>학교 계정이 있으면 그 계정을 먼저 쓰세요. 자세한 안내는 사이트에.</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02921"/>
        </a:solidFill>
        <a:effectLst/>
      </p:bgPr>
    </p:bg>
    <p:spTree>
      <p:nvGrpSpPr>
        <p:cNvPr id="1" name=""/>
        <p:cNvGrpSpPr/>
        <p:nvPr/>
      </p:nvGrpSpPr>
      <p:grpSpPr/>
      <p:sp>
        <p:nvSpPr>
          <p:cNvPr id="2" name="TextBox 1"/>
          <p:cNvSpPr txBox="1"/>
          <p:nvPr/>
        </p:nvSpPr>
        <p:spPr>
          <a:xfrm>
            <a:off x="685800" y="6477000"/>
            <a:ext cx="7810500" cy="247650"/>
          </a:xfrm>
          <a:prstGeom prst="rect">
            <a:avLst/>
          </a:prstGeom>
          <a:noFill/>
        </p:spPr>
        <p:txBody>
          <a:bodyPr wrap="square" lIns="0" tIns="0" rIns="0" bIns="0" anchor="t"/>
          <a:lstStyle/>
          <a:p>
            <a:pPr algn="l" latinLnBrk="0" eaLnBrk="1">
              <a:lnSpc>
                <a:spcPct val="100000"/>
              </a:lnSpc>
            </a:pPr>
            <a:r>
              <a:rPr sz="1500" b="0" spc="-30" lang="ko-KR" altLang="en-US">
                <a:solidFill>
                  <a:srgbClr val="C1C9BE"/>
                </a:solidFill>
                <a:latin typeface="Noto Sans KR"/>
                <a:ea typeface="Noto Sans KR"/>
                <a:cs typeface="Noto Sans KR"/>
              </a:rPr>
              <a:t>마치며 · 178–180분</a:t>
            </a:r>
          </a:p>
        </p:txBody>
      </p:sp>
      <p:sp>
        <p:nvSpPr>
          <p:cNvPr id="3" name="TextBox 2">
            <a:hlinkClick r:id="rId2"/>
          </p:cNvPr>
          <p:cNvSpPr txBox="1"/>
          <p:nvPr/>
        </p:nvSpPr>
        <p:spPr>
          <a:xfrm>
            <a:off x="8648700" y="6477000"/>
            <a:ext cx="2190750" cy="266700"/>
          </a:xfrm>
          <a:prstGeom prst="rect">
            <a:avLst/>
          </a:prstGeom>
          <a:noFill/>
        </p:spPr>
        <p:txBody>
          <a:bodyPr wrap="square" lIns="0" tIns="0" rIns="0" bIns="0" anchor="t"/>
          <a:lstStyle/>
          <a:p>
            <a:pPr algn="r" latinLnBrk="0" eaLnBrk="1">
              <a:lnSpc>
                <a:spcPct val="100000"/>
              </a:lnSpc>
            </a:pPr>
            <a:r>
              <a:rPr sz="1725" b="1" spc="-34" lang="ko-KR" altLang="en-US" u="sng">
                <a:solidFill>
                  <a:srgbClr val="F4F1E9"/>
                </a:solidFill>
                <a:latin typeface="Noto Sans KR"/>
                <a:ea typeface="Noto Sans KR"/>
                <a:cs typeface="Noto Sans KR"/>
              </a:rPr>
              <a:t>웹 실습 열기</a:t>
            </a:r>
          </a:p>
        </p:txBody>
      </p:sp>
      <p:sp>
        <p:nvSpPr>
          <p:cNvPr id="4" name="TextBox 3"/>
          <p:cNvSpPr txBox="1"/>
          <p:nvPr/>
        </p:nvSpPr>
        <p:spPr>
          <a:xfrm>
            <a:off x="10934700" y="6477000"/>
            <a:ext cx="571500" cy="247650"/>
          </a:xfrm>
          <a:prstGeom prst="rect">
            <a:avLst/>
          </a:prstGeom>
          <a:noFill/>
        </p:spPr>
        <p:txBody>
          <a:bodyPr wrap="square" lIns="0" tIns="0" rIns="0" bIns="0" anchor="t"/>
          <a:lstStyle/>
          <a:p>
            <a:pPr algn="r" latinLnBrk="0" eaLnBrk="1">
              <a:lnSpc>
                <a:spcPct val="100000"/>
              </a:lnSpc>
            </a:pPr>
            <a:r>
              <a:rPr sz="1500" b="0" spc="-30" lang="ko-KR" altLang="en-US">
                <a:solidFill>
                  <a:srgbClr val="C1C9BE"/>
                </a:solidFill>
                <a:latin typeface="Noto Sans KR"/>
                <a:ea typeface="Noto Sans KR"/>
                <a:cs typeface="Noto Sans KR"/>
              </a:rPr>
              <a:t>63</a:t>
            </a:r>
          </a:p>
        </p:txBody>
      </p:sp>
      <p:sp>
        <p:nvSpPr>
          <p:cNvPr id="5" name="TextBox 4"/>
          <p:cNvSpPr txBox="1"/>
          <p:nvPr/>
        </p:nvSpPr>
        <p:spPr>
          <a:xfrm>
            <a:off x="685800" y="609600"/>
            <a:ext cx="10820400" cy="304800"/>
          </a:xfrm>
          <a:prstGeom prst="rect">
            <a:avLst/>
          </a:prstGeom>
          <a:noFill/>
        </p:spPr>
        <p:txBody>
          <a:bodyPr wrap="square" lIns="0" tIns="0" rIns="0" bIns="0" anchor="t"/>
          <a:lstStyle/>
          <a:p>
            <a:pPr algn="l" latinLnBrk="0" eaLnBrk="1">
              <a:lnSpc>
                <a:spcPct val="100000"/>
              </a:lnSpc>
            </a:pPr>
            <a:r>
              <a:rPr sz="1800" b="1" spc="-36" lang="ko-KR" altLang="en-US">
                <a:solidFill>
                  <a:srgbClr val="C1C9BE"/>
                </a:solidFill>
                <a:latin typeface="Noto Sans KR"/>
                <a:ea typeface="Noto Sans KR"/>
                <a:cs typeface="Noto Sans KR"/>
              </a:rPr>
              <a:t>마치며</a:t>
            </a:r>
          </a:p>
        </p:txBody>
      </p:sp>
      <p:sp>
        <p:nvSpPr>
          <p:cNvPr id="6" name="TextBox 5"/>
          <p:cNvSpPr txBox="1"/>
          <p:nvPr/>
        </p:nvSpPr>
        <p:spPr>
          <a:xfrm>
            <a:off x="685800" y="1619250"/>
            <a:ext cx="10820400" cy="1905000"/>
          </a:xfrm>
          <a:prstGeom prst="rect">
            <a:avLst/>
          </a:prstGeom>
          <a:noFill/>
        </p:spPr>
        <p:txBody>
          <a:bodyPr wrap="square" lIns="0" tIns="0" rIns="0" bIns="0" anchor="t"/>
          <a:lstStyle/>
          <a:p>
            <a:pPr algn="l" latinLnBrk="0" eaLnBrk="1">
              <a:lnSpc>
                <a:spcPct val="125000"/>
              </a:lnSpc>
            </a:pPr>
            <a:r>
              <a:rPr sz="5250" b="1" spc="-105" lang="ko-KR" altLang="en-US">
                <a:solidFill>
                  <a:srgbClr val="FFFDF7"/>
                </a:solidFill>
                <a:latin typeface="Noto Sans KR"/>
                <a:ea typeface="Noto Sans KR"/>
                <a:cs typeface="Noto Sans KR"/>
              </a:rPr>
              <a:t>AI는 초안을 쓰고,</a:t>
            </a:r>
            <a:br/>
            <a:r>
              <a:rPr sz="5250" b="1" spc="-105" lang="ko-KR" altLang="en-US">
                <a:solidFill>
                  <a:srgbClr val="EA5936"/>
                </a:solidFill>
                <a:latin typeface="Noto Sans KR"/>
                <a:ea typeface="Noto Sans KR"/>
                <a:cs typeface="Noto Sans KR"/>
              </a:rPr>
              <a:t>판단은 교수님이</a:t>
            </a:r>
            <a:r>
              <a:rPr sz="5250" b="1" spc="-105" lang="ko-KR" altLang="en-US">
                <a:solidFill>
                  <a:srgbClr val="FFFDF7"/>
                </a:solidFill>
                <a:latin typeface="Noto Sans KR"/>
                <a:ea typeface="Noto Sans KR"/>
                <a:cs typeface="Noto Sans KR"/>
              </a:rPr>
              <a:t> 합니다</a:t>
            </a:r>
          </a:p>
        </p:txBody>
      </p:sp>
      <p:sp>
        <p:nvSpPr>
          <p:cNvPr id="7" name="TextBox 6"/>
          <p:cNvSpPr txBox="1"/>
          <p:nvPr/>
        </p:nvSpPr>
        <p:spPr>
          <a:xfrm>
            <a:off x="685800" y="4286250"/>
            <a:ext cx="10820400" cy="381000"/>
          </a:xfrm>
          <a:prstGeom prst="rect">
            <a:avLst/>
          </a:prstGeom>
          <a:noFill/>
        </p:spPr>
        <p:txBody>
          <a:bodyPr wrap="square" lIns="0" tIns="0" rIns="0" bIns="0" anchor="t"/>
          <a:lstStyle/>
          <a:p>
            <a:pPr algn="l" latinLnBrk="0" eaLnBrk="1">
              <a:lnSpc>
                <a:spcPct val="100000"/>
              </a:lnSpc>
            </a:pPr>
            <a:r>
              <a:rPr sz="1950" b="1" spc="-39" lang="ko-KR" altLang="en-US">
                <a:solidFill>
                  <a:srgbClr val="C1C9BE"/>
                </a:solidFill>
                <a:latin typeface="Noto Sans KR"/>
                <a:ea typeface="Noto Sans KR"/>
                <a:cs typeface="Noto Sans KR"/>
              </a:rPr>
              <a:t>자료 · 복사할 질문 · 해설</a:t>
            </a:r>
          </a:p>
        </p:txBody>
      </p:sp>
      <p:sp>
        <p:nvSpPr>
          <p:cNvPr id="8" name="TextBox 7"/>
          <p:cNvSpPr txBox="1"/>
          <p:nvPr/>
        </p:nvSpPr>
        <p:spPr>
          <a:xfrm>
            <a:off x="685800" y="4724400"/>
            <a:ext cx="7620000" cy="476250"/>
          </a:xfrm>
          <a:prstGeom prst="rect">
            <a:avLst/>
          </a:prstGeom>
          <a:noFill/>
        </p:spPr>
        <p:txBody>
          <a:bodyPr wrap="square" lIns="0" tIns="0" rIns="0" bIns="0" anchor="t"/>
          <a:lstStyle/>
          <a:p>
            <a:pPr algn="l" latinLnBrk="0" eaLnBrk="1">
              <a:lnSpc>
                <a:spcPct val="100000"/>
              </a:lnSpc>
            </a:pPr>
            <a:r>
              <a:rPr sz="2400" b="1" spc="-48" lang="ko-KR" altLang="en-US">
                <a:solidFill>
                  <a:srgbClr val="FFFDF7"/>
                </a:solidFill>
                <a:latin typeface="Noto Sans KR"/>
                <a:ea typeface="Noto Sans KR"/>
                <a:cs typeface="Noto Sans KR"/>
              </a:rPr>
              <a:t>zeusk302-png.github.io/gyeongnam-ai-workshop</a:t>
            </a:r>
          </a:p>
        </p:txBody>
      </p:sp>
      <p:pic>
        <p:nvPicPr>
          <p:cNvPr id="9" name="Picture 8" descr="qr_202921_FFFDF7.png"/>
          <p:cNvPicPr>
            <a:picLocks noChangeAspect="1"/>
          </p:cNvPicPr>
          <p:nvPr/>
        </p:nvPicPr>
        <p:blipFill>
          <a:blip r:embed="rId4"/>
          <a:stretch>
            <a:fillRect/>
          </a:stretch>
        </p:blipFill>
        <p:spPr>
          <a:xfrm>
            <a:off x="9315450" y="3810000"/>
            <a:ext cx="2190750" cy="2190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